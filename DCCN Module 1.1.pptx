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heme/themeOverride1.xml" ContentType="application/vnd.openxmlformats-officedocument.themeOverride+xml"/>
  <Override PartName="/ppt/theme/themeOverride2.xml" ContentType="application/vnd.openxmlformats-officedocument.themeOverride+xml"/>
  <Override PartName="/ppt/theme/themeOverride3.xml" ContentType="application/vnd.openxmlformats-officedocument.themeOverride+xml"/>
  <Override PartName="/ppt/theme/themeOverride4.xml" ContentType="application/vnd.openxmlformats-officedocument.themeOverride+xml"/>
  <Override PartName="/ppt/theme/themeOverride5.xml" ContentType="application/vnd.openxmlformats-officedocument.themeOverride+xml"/>
  <Override PartName="/ppt/theme/themeOverride6.xml" ContentType="application/vnd.openxmlformats-officedocument.themeOverride+xml"/>
  <Override PartName="/ppt/theme/themeOverride7.xml" ContentType="application/vnd.openxmlformats-officedocument.themeOverride+xml"/>
  <Override PartName="/ppt/theme/themeOverride8.xml" ContentType="application/vnd.openxmlformats-officedocument.themeOverride+xml"/>
  <Override PartName="/ppt/theme/themeOverride9.xml" ContentType="application/vnd.openxmlformats-officedocument.themeOverride+xml"/>
  <Override PartName="/ppt/notesSlides/notesSlide1.xml" ContentType="application/vnd.openxmlformats-officedocument.presentationml.notesSlide+xml"/>
  <Override PartName="/ppt/theme/themeOverride10.xml" ContentType="application/vnd.openxmlformats-officedocument.themeOverride+xml"/>
  <Override PartName="/ppt/theme/themeOverride11.xml" ContentType="application/vnd.openxmlformats-officedocument.themeOverride+xml"/>
  <Override PartName="/ppt/theme/themeOverride12.xml" ContentType="application/vnd.openxmlformats-officedocument.themeOverride+xml"/>
  <Override PartName="/ppt/notesSlides/notesSlide2.xml" ContentType="application/vnd.openxmlformats-officedocument.presentationml.notesSlide+xml"/>
  <Override PartName="/ppt/theme/themeOverride13.xml" ContentType="application/vnd.openxmlformats-officedocument.themeOverride+xml"/>
  <Override PartName="/ppt/notesSlides/notesSlide3.xml" ContentType="application/vnd.openxmlformats-officedocument.presentationml.notesSlide+xml"/>
  <Override PartName="/ppt/theme/themeOverride14.xml" ContentType="application/vnd.openxmlformats-officedocument.themeOverride+xml"/>
  <Override PartName="/ppt/notesSlides/notesSlide4.xml" ContentType="application/vnd.openxmlformats-officedocument.presentationml.notesSlide+xml"/>
  <Override PartName="/ppt/theme/themeOverride15.xml" ContentType="application/vnd.openxmlformats-officedocument.themeOverride+xml"/>
  <Override PartName="/ppt/notesSlides/notesSlide5.xml" ContentType="application/vnd.openxmlformats-officedocument.presentationml.notesSlide+xml"/>
  <Override PartName="/ppt/theme/themeOverride16.xml" ContentType="application/vnd.openxmlformats-officedocument.themeOverride+xml"/>
  <Override PartName="/ppt/theme/themeOverride17.xml" ContentType="application/vnd.openxmlformats-officedocument.themeOverride+xml"/>
  <Override PartName="/ppt/theme/themeOverride18.xml" ContentType="application/vnd.openxmlformats-officedocument.themeOverride+xml"/>
  <Override PartName="/ppt/theme/themeOverride19.xml" ContentType="application/vnd.openxmlformats-officedocument.themeOverride+xml"/>
  <Override PartName="/ppt/theme/themeOverride20.xml" ContentType="application/vnd.openxmlformats-officedocument.themeOverride+xml"/>
  <Override PartName="/ppt/theme/themeOverride21.xml" ContentType="application/vnd.openxmlformats-officedocument.themeOverride+xml"/>
  <Override PartName="/ppt/theme/themeOverride22.xml" ContentType="application/vnd.openxmlformats-officedocument.themeOverride+xml"/>
  <Override PartName="/ppt/theme/themeOverride23.xml" ContentType="application/vnd.openxmlformats-officedocument.themeOverride+xml"/>
  <Override PartName="/ppt/theme/themeOverride24.xml" ContentType="application/vnd.openxmlformats-officedocument.themeOverride+xml"/>
  <Override PartName="/ppt/theme/themeOverride25.xml" ContentType="application/vnd.openxmlformats-officedocument.themeOverride+xml"/>
  <Override PartName="/ppt/theme/themeOverride26.xml" ContentType="application/vnd.openxmlformats-officedocument.themeOverride+xml"/>
  <Override PartName="/ppt/theme/themeOverride27.xml" ContentType="application/vnd.openxmlformats-officedocument.themeOverride+xml"/>
  <Override PartName="/ppt/theme/themeOverride28.xml" ContentType="application/vnd.openxmlformats-officedocument.themeOverride+xml"/>
  <Override PartName="/ppt/theme/themeOverride29.xml" ContentType="application/vnd.openxmlformats-officedocument.themeOverride+xml"/>
  <Override PartName="/ppt/theme/themeOverride30.xml" ContentType="application/vnd.openxmlformats-officedocument.themeOverride+xml"/>
  <Override PartName="/ppt/theme/themeOverride31.xml" ContentType="application/vnd.openxmlformats-officedocument.themeOverride+xml"/>
  <Override PartName="/ppt/theme/themeOverride32.xml" ContentType="application/vnd.openxmlformats-officedocument.themeOverride+xml"/>
  <Override PartName="/ppt/theme/themeOverride33.xml" ContentType="application/vnd.openxmlformats-officedocument.themeOverride+xml"/>
  <Override PartName="/ppt/notesSlides/notesSlide6.xml" ContentType="application/vnd.openxmlformats-officedocument.presentationml.notesSlide+xml"/>
  <Override PartName="/ppt/theme/themeOverride34.xml" ContentType="application/vnd.openxmlformats-officedocument.themeOverride+xml"/>
  <Override PartName="/ppt/notesSlides/notesSlide7.xml" ContentType="application/vnd.openxmlformats-officedocument.presentationml.notesSlide+xml"/>
  <Override PartName="/ppt/theme/themeOverride35.xml" ContentType="application/vnd.openxmlformats-officedocument.themeOverride+xml"/>
  <Override PartName="/ppt/theme/themeOverride36.xml" ContentType="application/vnd.openxmlformats-officedocument.themeOverride+xml"/>
  <Override PartName="/ppt/theme/themeOverride37.xml" ContentType="application/vnd.openxmlformats-officedocument.themeOverride+xml"/>
  <Override PartName="/ppt/theme/themeOverride38.xml" ContentType="application/vnd.openxmlformats-officedocument.themeOverride+xml"/>
  <Override PartName="/ppt/theme/themeOverride39.xml" ContentType="application/vnd.openxmlformats-officedocument.themeOverride+xml"/>
  <Override PartName="/ppt/theme/themeOverride40.xml" ContentType="application/vnd.openxmlformats-officedocument.themeOverride+xml"/>
  <Override PartName="/ppt/theme/themeOverride41.xml" ContentType="application/vnd.openxmlformats-officedocument.themeOverride+xml"/>
  <Override PartName="/ppt/theme/themeOverride42.xml" ContentType="application/vnd.openxmlformats-officedocument.themeOverride+xml"/>
  <Override PartName="/ppt/notesSlides/notesSlide8.xml" ContentType="application/vnd.openxmlformats-officedocument.presentationml.notesSlide+xml"/>
  <Override PartName="/ppt/theme/themeOverride43.xml" ContentType="application/vnd.openxmlformats-officedocument.themeOverride+xml"/>
  <Override PartName="/ppt/theme/themeOverride44.xml" ContentType="application/vnd.openxmlformats-officedocument.themeOverride+xml"/>
  <Override PartName="/ppt/theme/themeOverride45.xml" ContentType="application/vnd.openxmlformats-officedocument.themeOverride+xml"/>
  <Override PartName="/ppt/theme/themeOverride46.xml" ContentType="application/vnd.openxmlformats-officedocument.themeOverride+xml"/>
  <Override PartName="/ppt/theme/themeOverride47.xml" ContentType="application/vnd.openxmlformats-officedocument.themeOverride+xml"/>
  <Override PartName="/ppt/theme/themeOverride48.xml" ContentType="application/vnd.openxmlformats-officedocument.themeOverride+xml"/>
  <Override PartName="/ppt/theme/themeOverride49.xml" ContentType="application/vnd.openxmlformats-officedocument.themeOverride+xml"/>
  <Override PartName="/ppt/theme/themeOverride50.xml" ContentType="application/vnd.openxmlformats-officedocument.themeOverride+xml"/>
  <Override PartName="/ppt/theme/themeOverride51.xml" ContentType="application/vnd.openxmlformats-officedocument.themeOverride+xml"/>
  <Override PartName="/ppt/theme/themeOverride52.xml" ContentType="application/vnd.openxmlformats-officedocument.themeOverride+xml"/>
  <Override PartName="/ppt/theme/themeOverride53.xml" ContentType="application/vnd.openxmlformats-officedocument.themeOverride+xml"/>
  <Override PartName="/ppt/theme/themeOverride54.xml" ContentType="application/vnd.openxmlformats-officedocument.themeOverride+xml"/>
  <Override PartName="/ppt/theme/themeOverride55.xml" ContentType="application/vnd.openxmlformats-officedocument.themeOverride+xml"/>
  <Override PartName="/ppt/theme/themeOverride56.xml" ContentType="application/vnd.openxmlformats-officedocument.themeOverride+xml"/>
  <Override PartName="/ppt/theme/themeOverride57.xml" ContentType="application/vnd.openxmlformats-officedocument.themeOverride+xml"/>
  <Override PartName="/ppt/theme/themeOverride58.xml" ContentType="application/vnd.openxmlformats-officedocument.themeOverride+xml"/>
  <Override PartName="/ppt/theme/themeOverride59.xml" ContentType="application/vnd.openxmlformats-officedocument.themeOverride+xml"/>
  <Override PartName="/ppt/theme/themeOverride60.xml" ContentType="application/vnd.openxmlformats-officedocument.themeOverride+xml"/>
  <Override PartName="/ppt/theme/themeOverride61.xml" ContentType="application/vnd.openxmlformats-officedocument.themeOverride+xml"/>
  <Override PartName="/ppt/notesSlides/notesSlide9.xml" ContentType="application/vnd.openxmlformats-officedocument.presentationml.notesSlide+xml"/>
  <Override PartName="/ppt/theme/themeOverride62.xml" ContentType="application/vnd.openxmlformats-officedocument.themeOverride+xml"/>
  <Override PartName="/ppt/theme/themeOverride63.xml" ContentType="application/vnd.openxmlformats-officedocument.themeOverride+xml"/>
  <Override PartName="/ppt/theme/themeOverride64.xml" ContentType="application/vnd.openxmlformats-officedocument.themeOverride+xml"/>
  <Override PartName="/ppt/theme/themeOverride65.xml" ContentType="application/vnd.openxmlformats-officedocument.themeOverride+xml"/>
  <Override PartName="/ppt/theme/themeOverride66.xml" ContentType="application/vnd.openxmlformats-officedocument.themeOverr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75"/>
  </p:notesMasterIdLst>
  <p:sldIdLst>
    <p:sldId id="257" r:id="rId2"/>
    <p:sldId id="333"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330" r:id="rId25"/>
    <p:sldId id="331" r:id="rId26"/>
    <p:sldId id="332" r:id="rId27"/>
    <p:sldId id="279" r:id="rId28"/>
    <p:sldId id="280" r:id="rId29"/>
    <p:sldId id="281" r:id="rId30"/>
    <p:sldId id="282" r:id="rId31"/>
    <p:sldId id="283" r:id="rId32"/>
    <p:sldId id="284" r:id="rId33"/>
    <p:sldId id="288" r:id="rId34"/>
    <p:sldId id="289" r:id="rId35"/>
    <p:sldId id="290" r:id="rId36"/>
    <p:sldId id="291" r:id="rId37"/>
    <p:sldId id="292" r:id="rId38"/>
    <p:sldId id="293" r:id="rId39"/>
    <p:sldId id="294" r:id="rId40"/>
    <p:sldId id="296" r:id="rId41"/>
    <p:sldId id="297" r:id="rId42"/>
    <p:sldId id="298" r:id="rId43"/>
    <p:sldId id="299" r:id="rId44"/>
    <p:sldId id="300" r:id="rId45"/>
    <p:sldId id="301" r:id="rId46"/>
    <p:sldId id="302" r:id="rId47"/>
    <p:sldId id="303" r:id="rId48"/>
    <p:sldId id="304" r:id="rId49"/>
    <p:sldId id="305" r:id="rId50"/>
    <p:sldId id="306" r:id="rId51"/>
    <p:sldId id="307" r:id="rId52"/>
    <p:sldId id="308" r:id="rId53"/>
    <p:sldId id="309" r:id="rId54"/>
    <p:sldId id="310" r:id="rId55"/>
    <p:sldId id="311" r:id="rId56"/>
    <p:sldId id="312" r:id="rId57"/>
    <p:sldId id="313" r:id="rId58"/>
    <p:sldId id="314" r:id="rId59"/>
    <p:sldId id="315" r:id="rId60"/>
    <p:sldId id="316" r:id="rId61"/>
    <p:sldId id="317" r:id="rId62"/>
    <p:sldId id="318" r:id="rId63"/>
    <p:sldId id="319" r:id="rId64"/>
    <p:sldId id="320" r:id="rId65"/>
    <p:sldId id="323" r:id="rId66"/>
    <p:sldId id="321" r:id="rId67"/>
    <p:sldId id="322" r:id="rId68"/>
    <p:sldId id="324" r:id="rId69"/>
    <p:sldId id="325" r:id="rId70"/>
    <p:sldId id="326" r:id="rId71"/>
    <p:sldId id="327" r:id="rId72"/>
    <p:sldId id="328" r:id="rId73"/>
    <p:sldId id="329" r:id="rId74"/>
  </p:sldIdLst>
  <p:sldSz cx="9144000" cy="6858000" type="screen4x3"/>
  <p:notesSz cx="12192000" cy="6858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162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BF352EF-8EFD-5769-A8AB-2863DB1A6A9F}" v="1" dt="2025-09-01T13:25:04.310"/>
  </p1510:revLst>
</p1510:revInfo>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E3FDE45-AF77-4B5C-9715-49D594BDF05E}" styleName="浅色样式 1 - 强调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2880"/>
        <p:guide pos="1620"/>
      </p:guideLst>
    </p:cSldViewPr>
  </p:slide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microsoft.com/office/2016/11/relationships/changesInfo" Target="changesInfos/changesInfo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theme" Target="theme/theme1.xml"/><Relationship Id="rId81"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ees Ahmed" userId="c14e9af88585db90" providerId="LiveId" clId="{26CDBA5B-63F7-46D8-82C0-9FE6AD779EF4}"/>
    <pc:docChg chg="undo custSel addSld modSld">
      <pc:chgData name="Anees Ahmed" userId="c14e9af88585db90" providerId="LiveId" clId="{26CDBA5B-63F7-46D8-82C0-9FE6AD779EF4}" dt="2025-07-25T07:07:03.252" v="86" actId="1076"/>
      <pc:docMkLst>
        <pc:docMk/>
      </pc:docMkLst>
      <pc:sldChg chg="addSp delSp modSp mod">
        <pc:chgData name="Anees Ahmed" userId="c14e9af88585db90" providerId="LiveId" clId="{26CDBA5B-63F7-46D8-82C0-9FE6AD779EF4}" dt="2025-07-25T06:53:30.727" v="72" actId="207"/>
        <pc:sldMkLst>
          <pc:docMk/>
          <pc:sldMk cId="0" sldId="257"/>
        </pc:sldMkLst>
      </pc:sldChg>
      <pc:sldChg chg="modSp add mod">
        <pc:chgData name="Anees Ahmed" userId="c14e9af88585db90" providerId="LiveId" clId="{26CDBA5B-63F7-46D8-82C0-9FE6AD779EF4}" dt="2025-07-25T07:07:03.252" v="86" actId="1076"/>
        <pc:sldMkLst>
          <pc:docMk/>
          <pc:sldMk cId="1488278357" sldId="333"/>
        </pc:sldMkLst>
      </pc:sldChg>
    </pc:docChg>
  </pc:docChgLst>
  <pc:docChgLst>
    <pc:chgData name="Guest User" userId="S::urn:spo:tenantanon#bf93bb5e-ecf0-4e3d-be0e-79b5cc527a48::" providerId="AD" clId="Web-{0BF352EF-8EFD-5769-A8AB-2863DB1A6A9F}"/>
    <pc:docChg chg="modSld">
      <pc:chgData name="Guest User" userId="S::urn:spo:tenantanon#bf93bb5e-ecf0-4e3d-be0e-79b5cc527a48::" providerId="AD" clId="Web-{0BF352EF-8EFD-5769-A8AB-2863DB1A6A9F}" dt="2025-09-01T13:25:04.310" v="0" actId="1076"/>
      <pc:docMkLst>
        <pc:docMk/>
      </pc:docMkLst>
      <pc:sldChg chg="modSp">
        <pc:chgData name="Guest User" userId="S::urn:spo:tenantanon#bf93bb5e-ecf0-4e3d-be0e-79b5cc527a48::" providerId="AD" clId="Web-{0BF352EF-8EFD-5769-A8AB-2863DB1A6A9F}" dt="2025-09-01T13:25:04.310" v="0" actId="1076"/>
        <pc:sldMkLst>
          <pc:docMk/>
          <pc:sldMk cId="0" sldId="259"/>
        </pc:sldMkLst>
        <pc:picChg chg="mod">
          <ac:chgData name="Guest User" userId="S::urn:spo:tenantanon#bf93bb5e-ecf0-4e3d-be0e-79b5cc527a48::" providerId="AD" clId="Web-{0BF352EF-8EFD-5769-A8AB-2863DB1A6A9F}" dt="2025-09-01T13:25:04.310" v="0" actId="1076"/>
          <ac:picMkLst>
            <pc:docMk/>
            <pc:sldMk cId="0" sldId="259"/>
            <ac:picMk id="2097153" creationId="{00000000-0000-0000-0000-000000000000}"/>
          </ac:picMkLst>
        </pc:picChg>
      </pc:sldChg>
    </pc:docChg>
  </pc:docChgLst>
  <pc:docChgLst>
    <pc:chgData name="Guest User" userId="S::urn:spo:tenantanon#bf93bb5e-ecf0-4e3d-be0e-79b5cc527a48::" providerId="AD" clId="Web-{A783193D-AD09-B1FA-CAB6-744A50CD51B6}"/>
    <pc:docChg chg="addSld delSld">
      <pc:chgData name="Guest User" userId="S::urn:spo:tenantanon#bf93bb5e-ecf0-4e3d-be0e-79b5cc527a48::" providerId="AD" clId="Web-{A783193D-AD09-B1FA-CAB6-744A50CD51B6}" dt="2025-08-14T04:59:26.284" v="1"/>
      <pc:docMkLst>
        <pc:docMk/>
      </pc:docMkLst>
      <pc:sldChg chg="new del">
        <pc:chgData name="Guest User" userId="S::urn:spo:tenantanon#bf93bb5e-ecf0-4e3d-be0e-79b5cc527a48::" providerId="AD" clId="Web-{A783193D-AD09-B1FA-CAB6-744A50CD51B6}" dt="2025-08-14T04:59:26.284" v="1"/>
        <pc:sldMkLst>
          <pc:docMk/>
          <pc:sldMk cId="1879475906" sldId="334"/>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49412" name="Header Placeholder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n-IN"/>
          </a:p>
        </p:txBody>
      </p:sp>
      <p:sp>
        <p:nvSpPr>
          <p:cNvPr id="1049413" name="Date Placeholder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285028DE-5C91-4C6E-BA47-E2FEC5A0A5AE}" type="datetimeFigureOut">
              <a:rPr lang="en-IN" smtClean="0"/>
              <a:t>01-09-2025</a:t>
            </a:fld>
            <a:endParaRPr lang="en-IN"/>
          </a:p>
        </p:txBody>
      </p:sp>
      <p:sp>
        <p:nvSpPr>
          <p:cNvPr id="1049414" name="Slide Image Placeholder 3"/>
          <p:cNvSpPr>
            <a:spLocks noGrp="1" noRot="1" noChangeAspect="1"/>
          </p:cNvSpPr>
          <p:nvPr>
            <p:ph type="sldImg" idx="2"/>
          </p:nvPr>
        </p:nvSpPr>
        <p:spPr>
          <a:xfrm>
            <a:off x="4552950" y="857250"/>
            <a:ext cx="3086100" cy="2314575"/>
          </a:xfrm>
          <a:prstGeom prst="rect">
            <a:avLst/>
          </a:prstGeom>
          <a:noFill/>
          <a:ln w="12700">
            <a:solidFill>
              <a:prstClr val="black"/>
            </a:solidFill>
          </a:ln>
        </p:spPr>
        <p:txBody>
          <a:bodyPr vert="horz" lIns="91440" tIns="45720" rIns="91440" bIns="45720" rtlCol="0" anchor="ctr"/>
          <a:lstStyle/>
          <a:p>
            <a:endParaRPr lang="en-IN"/>
          </a:p>
        </p:txBody>
      </p:sp>
      <p:sp>
        <p:nvSpPr>
          <p:cNvPr id="1049415" name="Notes Placeholder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049416" name="Footer Placeholder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en-IN"/>
          </a:p>
        </p:txBody>
      </p:sp>
      <p:sp>
        <p:nvSpPr>
          <p:cNvPr id="1049417" name="Slide Number Placeholder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04D1F6DC-BC37-408D-812E-51F75D8D11DC}" type="slidenum">
              <a:rPr lang="en-IN" smtClean="0"/>
              <a:t>‹#›</a:t>
            </a:fld>
            <a:endParaRPr lang="en-IN"/>
          </a:p>
        </p:txBody>
      </p:sp>
    </p:spTree>
    <p:extLst>
      <p:ext uri="{BB962C8B-B14F-4D97-AF65-F5344CB8AC3E}">
        <p14:creationId xmlns:p14="http://schemas.microsoft.com/office/powerpoint/2010/main" val="24099970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6" name="Rectangle 6"/>
          <p:cNvSpPr>
            <a:spLocks noGrp="1" noChangeArrowheads="1"/>
          </p:cNvSpPr>
          <p:nvPr>
            <p:ph type="ftr" sz="quarter" idx="4"/>
          </p:nvPr>
        </p:nvSpPr>
        <p:spPr/>
        <p:txBody>
          <a:bodyPr/>
          <a:lstStyle/>
          <a:p>
            <a:r>
              <a:rPr lang="en-US"/>
              <a:t>1.#</a:t>
            </a:r>
          </a:p>
        </p:txBody>
      </p:sp>
      <p:sp>
        <p:nvSpPr>
          <p:cNvPr id="1048617" name="Rectangle 2"/>
          <p:cNvSpPr>
            <a:spLocks noGrp="1" noRot="1" noChangeAspect="1" noChangeArrowheads="1" noTextEdit="1"/>
          </p:cNvSpPr>
          <p:nvPr>
            <p:ph type="sldImg"/>
          </p:nvPr>
        </p:nvSpPr>
        <p:spPr/>
      </p:sp>
      <p:sp>
        <p:nvSpPr>
          <p:cNvPr id="1048618"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775089968"/>
      </p:ext>
    </p:extLst>
  </p:cSld>
  <p:clrMapOvr>
    <a:overrideClrMapping bg1="dk1" tx1="dk1" bg2="dk1" tx2="dk1" accent1="dk1" accent2="dk1" accent3="dk1" accent4="dk1" accent5="dk1" accent6="dk1" hlink="dk1" folHlink="dk1"/>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27" name="Rectangle 6"/>
          <p:cNvSpPr>
            <a:spLocks noGrp="1" noChangeArrowheads="1"/>
          </p:cNvSpPr>
          <p:nvPr>
            <p:ph type="ftr" sz="quarter" idx="4"/>
          </p:nvPr>
        </p:nvSpPr>
        <p:spPr/>
        <p:txBody>
          <a:bodyPr/>
          <a:lstStyle/>
          <a:p>
            <a:r>
              <a:rPr lang="en-US"/>
              <a:t>1.#</a:t>
            </a:r>
          </a:p>
        </p:txBody>
      </p:sp>
      <p:sp>
        <p:nvSpPr>
          <p:cNvPr id="1048628" name="Rectangle 2"/>
          <p:cNvSpPr>
            <a:spLocks noGrp="1" noRot="1" noChangeAspect="1" noChangeArrowheads="1" noTextEdit="1"/>
          </p:cNvSpPr>
          <p:nvPr>
            <p:ph type="sldImg"/>
          </p:nvPr>
        </p:nvSpPr>
        <p:spPr/>
      </p:sp>
      <p:sp>
        <p:nvSpPr>
          <p:cNvPr id="1048629"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326770903"/>
      </p:ext>
    </p:extLst>
  </p:cSld>
  <p:clrMapOvr>
    <a:overrideClrMapping bg1="dk1" tx1="dk1" bg2="dk1" tx2="dk1" accent1="dk1" accent2="dk1" accent3="dk1" accent4="dk1" accent5="dk1" accent6="dk1" hlink="dk1" folHlink="dk1"/>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34" name="Rectangle 6"/>
          <p:cNvSpPr>
            <a:spLocks noGrp="1" noChangeArrowheads="1"/>
          </p:cNvSpPr>
          <p:nvPr>
            <p:ph type="ftr" sz="quarter" idx="4"/>
          </p:nvPr>
        </p:nvSpPr>
        <p:spPr/>
        <p:txBody>
          <a:bodyPr/>
          <a:lstStyle/>
          <a:p>
            <a:r>
              <a:rPr lang="en-US"/>
              <a:t>1.#</a:t>
            </a:r>
          </a:p>
        </p:txBody>
      </p:sp>
      <p:sp>
        <p:nvSpPr>
          <p:cNvPr id="1048635" name="Rectangle 2"/>
          <p:cNvSpPr>
            <a:spLocks noGrp="1" noRot="1" noChangeAspect="1" noChangeArrowheads="1" noTextEdit="1"/>
          </p:cNvSpPr>
          <p:nvPr>
            <p:ph type="sldImg"/>
          </p:nvPr>
        </p:nvSpPr>
        <p:spPr/>
      </p:sp>
      <p:sp>
        <p:nvSpPr>
          <p:cNvPr id="1048636"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512692170"/>
      </p:ext>
    </p:extLst>
  </p:cSld>
  <p:clrMapOvr>
    <a:overrideClrMapping bg1="dk1" tx1="dk1" bg2="dk1" tx2="dk1" accent1="dk1" accent2="dk1" accent3="dk1" accent4="dk1" accent5="dk1" accent6="dk1" hlink="dk1" folHlink="dk1"/>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41" name="Rectangle 6"/>
          <p:cNvSpPr>
            <a:spLocks noGrp="1" noChangeArrowheads="1"/>
          </p:cNvSpPr>
          <p:nvPr>
            <p:ph type="ftr" sz="quarter" idx="4"/>
          </p:nvPr>
        </p:nvSpPr>
        <p:spPr/>
        <p:txBody>
          <a:bodyPr/>
          <a:lstStyle/>
          <a:p>
            <a:r>
              <a:rPr lang="en-US"/>
              <a:t>1.#</a:t>
            </a:r>
          </a:p>
        </p:txBody>
      </p:sp>
      <p:sp>
        <p:nvSpPr>
          <p:cNvPr id="1048642" name="Rectangle 2"/>
          <p:cNvSpPr>
            <a:spLocks noGrp="1" noRot="1" noChangeAspect="1" noChangeArrowheads="1" noTextEdit="1"/>
          </p:cNvSpPr>
          <p:nvPr>
            <p:ph type="sldImg"/>
          </p:nvPr>
        </p:nvSpPr>
        <p:spPr/>
      </p:sp>
      <p:sp>
        <p:nvSpPr>
          <p:cNvPr id="1048643"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1735093551"/>
      </p:ext>
    </p:extLst>
  </p:cSld>
  <p:clrMapOvr>
    <a:overrideClrMapping bg1="dk1" tx1="dk1" bg2="dk1" tx2="dk1" accent1="dk1" accent2="dk1" accent3="dk1" accent4="dk1" accent5="dk1" accent6="dk1" hlink="dk1" folHlink="dk1"/>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47" name="Rectangle 6"/>
          <p:cNvSpPr>
            <a:spLocks noGrp="1" noChangeArrowheads="1"/>
          </p:cNvSpPr>
          <p:nvPr>
            <p:ph type="ftr" sz="quarter" idx="4"/>
          </p:nvPr>
        </p:nvSpPr>
        <p:spPr/>
        <p:txBody>
          <a:bodyPr/>
          <a:lstStyle/>
          <a:p>
            <a:r>
              <a:rPr lang="en-US"/>
              <a:t>1.#</a:t>
            </a:r>
          </a:p>
        </p:txBody>
      </p:sp>
      <p:sp>
        <p:nvSpPr>
          <p:cNvPr id="1048648" name="Rectangle 2"/>
          <p:cNvSpPr>
            <a:spLocks noGrp="1" noRot="1" noChangeAspect="1" noChangeArrowheads="1" noTextEdit="1"/>
          </p:cNvSpPr>
          <p:nvPr>
            <p:ph type="sldImg"/>
          </p:nvPr>
        </p:nvSpPr>
        <p:spPr/>
      </p:sp>
      <p:sp>
        <p:nvSpPr>
          <p:cNvPr id="1048649"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3680194511"/>
      </p:ext>
    </p:extLst>
  </p:cSld>
  <p:clrMapOvr>
    <a:overrideClrMapping bg1="dk1" tx1="dk1" bg2="dk1" tx2="dk1" accent1="dk1" accent2="dk1" accent3="dk1" accent4="dk1" accent5="dk1" accent6="dk1" hlink="dk1" folHlink="dk1"/>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00" name="Rectangle 6"/>
          <p:cNvSpPr>
            <a:spLocks noGrp="1" noChangeArrowheads="1"/>
          </p:cNvSpPr>
          <p:nvPr>
            <p:ph type="ftr" sz="quarter" idx="4"/>
          </p:nvPr>
        </p:nvSpPr>
        <p:spPr/>
        <p:txBody>
          <a:bodyPr/>
          <a:lstStyle/>
          <a:p>
            <a:r>
              <a:rPr lang="en-US"/>
              <a:t>1.#</a:t>
            </a:r>
          </a:p>
        </p:txBody>
      </p:sp>
      <p:sp>
        <p:nvSpPr>
          <p:cNvPr id="1048701" name="Rectangle 2"/>
          <p:cNvSpPr>
            <a:spLocks noGrp="1" noRot="1" noChangeAspect="1" noChangeArrowheads="1" noTextEdit="1"/>
          </p:cNvSpPr>
          <p:nvPr>
            <p:ph type="sldImg"/>
          </p:nvPr>
        </p:nvSpPr>
        <p:spPr/>
      </p:sp>
      <p:sp>
        <p:nvSpPr>
          <p:cNvPr id="1048702"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4231926103"/>
      </p:ext>
    </p:extLst>
  </p:cSld>
  <p:clrMapOvr>
    <a:overrideClrMapping bg1="dk1" tx1="dk1" bg2="dk1" tx2="dk1" accent1="dk1" accent2="dk1" accent3="dk1" accent4="dk1" accent5="dk1" accent6="dk1" hlink="dk1" folHlink="dk1"/>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06" name="Rectangle 6"/>
          <p:cNvSpPr>
            <a:spLocks noGrp="1" noChangeArrowheads="1"/>
          </p:cNvSpPr>
          <p:nvPr>
            <p:ph type="ftr" sz="quarter" idx="4"/>
          </p:nvPr>
        </p:nvSpPr>
        <p:spPr/>
        <p:txBody>
          <a:bodyPr/>
          <a:lstStyle/>
          <a:p>
            <a:r>
              <a:rPr lang="en-US"/>
              <a:t>1.#</a:t>
            </a:r>
          </a:p>
        </p:txBody>
      </p:sp>
      <p:sp>
        <p:nvSpPr>
          <p:cNvPr id="1048707" name="Rectangle 2"/>
          <p:cNvSpPr>
            <a:spLocks noGrp="1" noRot="1" noChangeAspect="1" noChangeArrowheads="1" noTextEdit="1"/>
          </p:cNvSpPr>
          <p:nvPr>
            <p:ph type="sldImg"/>
          </p:nvPr>
        </p:nvSpPr>
        <p:spPr/>
      </p:sp>
      <p:sp>
        <p:nvSpPr>
          <p:cNvPr id="1048708"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4158814479"/>
      </p:ext>
    </p:extLst>
  </p:cSld>
  <p:clrMapOvr>
    <a:overrideClrMapping bg1="dk1" tx1="dk1" bg2="dk1" tx2="dk1" accent1="dk1" accent2="dk1" accent3="dk1" accent4="dk1" accent5="dk1" accent6="dk1" hlink="dk1" folHlink="dk1"/>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096" name="Rectangle 3"/>
          <p:cNvSpPr>
            <a:spLocks noGrp="1" noChangeArrowheads="1"/>
          </p:cNvSpPr>
          <p:nvPr>
            <p:ph type="dt" sz="quarter" idx="1"/>
          </p:nvPr>
        </p:nvSpPr>
        <p:spPr>
          <a:noFill/>
        </p:spPr>
        <p:txBody>
          <a:bodyPr/>
          <a:lstStyle>
            <a:lvl1pPr>
              <a:defRPr>
                <a:solidFill>
                  <a:schemeClr val="tx1"/>
                </a:solidFill>
                <a:latin typeface="Comic Sans MS" panose="030F0702030302020204" pitchFamily="66" charset="0"/>
              </a:defRPr>
            </a:lvl1pPr>
            <a:lvl2pPr marL="785495" indent="-302260">
              <a:defRPr>
                <a:solidFill>
                  <a:schemeClr val="tx1"/>
                </a:solidFill>
                <a:latin typeface="Comic Sans MS" panose="030F0702030302020204" pitchFamily="66" charset="0"/>
              </a:defRPr>
            </a:lvl2pPr>
            <a:lvl3pPr marL="1208405" indent="-241935">
              <a:defRPr>
                <a:solidFill>
                  <a:schemeClr val="tx1"/>
                </a:solidFill>
                <a:latin typeface="Comic Sans MS" panose="030F0702030302020204" pitchFamily="66" charset="0"/>
              </a:defRPr>
            </a:lvl3pPr>
            <a:lvl4pPr marL="1691640" indent="-241935">
              <a:defRPr>
                <a:solidFill>
                  <a:schemeClr val="tx1"/>
                </a:solidFill>
                <a:latin typeface="Comic Sans MS" panose="030F0702030302020204" pitchFamily="66" charset="0"/>
              </a:defRPr>
            </a:lvl4pPr>
            <a:lvl5pPr marL="2174875" indent="-241935">
              <a:defRPr>
                <a:solidFill>
                  <a:schemeClr val="tx1"/>
                </a:solidFill>
                <a:latin typeface="Comic Sans MS" panose="030F0702030302020204" pitchFamily="66" charset="0"/>
              </a:defRPr>
            </a:lvl5pPr>
            <a:lvl6pPr marL="2658110" indent="-241935" eaLnBrk="0" fontAlgn="base" hangingPunct="0">
              <a:spcBef>
                <a:spcPct val="0"/>
              </a:spcBef>
              <a:spcAft>
                <a:spcPct val="0"/>
              </a:spcAft>
              <a:defRPr>
                <a:solidFill>
                  <a:schemeClr val="tx1"/>
                </a:solidFill>
                <a:latin typeface="Comic Sans MS" panose="030F0702030302020204" pitchFamily="66" charset="0"/>
              </a:defRPr>
            </a:lvl6pPr>
            <a:lvl7pPr marL="3141345" indent="-241935" eaLnBrk="0" fontAlgn="base" hangingPunct="0">
              <a:spcBef>
                <a:spcPct val="0"/>
              </a:spcBef>
              <a:spcAft>
                <a:spcPct val="0"/>
              </a:spcAft>
              <a:defRPr>
                <a:solidFill>
                  <a:schemeClr val="tx1"/>
                </a:solidFill>
                <a:latin typeface="Comic Sans MS" panose="030F0702030302020204" pitchFamily="66" charset="0"/>
              </a:defRPr>
            </a:lvl7pPr>
            <a:lvl8pPr marL="3624580" indent="-241935" eaLnBrk="0" fontAlgn="base" hangingPunct="0">
              <a:spcBef>
                <a:spcPct val="0"/>
              </a:spcBef>
              <a:spcAft>
                <a:spcPct val="0"/>
              </a:spcAft>
              <a:defRPr>
                <a:solidFill>
                  <a:schemeClr val="tx1"/>
                </a:solidFill>
                <a:latin typeface="Comic Sans MS" panose="030F0702030302020204" pitchFamily="66" charset="0"/>
              </a:defRPr>
            </a:lvl8pPr>
            <a:lvl9pPr marL="4107815" indent="-241935" eaLnBrk="0" fontAlgn="base" hangingPunct="0">
              <a:spcBef>
                <a:spcPct val="0"/>
              </a:spcBef>
              <a:spcAft>
                <a:spcPct val="0"/>
              </a:spcAft>
              <a:defRPr>
                <a:solidFill>
                  <a:schemeClr val="tx1"/>
                </a:solidFill>
                <a:latin typeface="Comic Sans MS" panose="030F0702030302020204" pitchFamily="66" charset="0"/>
              </a:defRPr>
            </a:lvl9pPr>
          </a:lstStyle>
          <a:p>
            <a:fld id="{6487C24B-EE81-43AE-A92D-478A55029A90}" type="datetime1">
              <a:rPr lang="en-US" altLang="en-US">
                <a:solidFill>
                  <a:srgbClr val="000000"/>
                </a:solidFill>
                <a:latin typeface="Times New Roman" panose="02020603050405020304" pitchFamily="18" charset="0"/>
              </a:rPr>
              <a:t>9/1/2025</a:t>
            </a:fld>
            <a:endParaRPr lang="en-US" altLang="en-US">
              <a:solidFill>
                <a:srgbClr val="000000"/>
              </a:solidFill>
              <a:latin typeface="Times New Roman" panose="02020603050405020304" pitchFamily="18" charset="0"/>
            </a:endParaRPr>
          </a:p>
        </p:txBody>
      </p:sp>
      <p:sp>
        <p:nvSpPr>
          <p:cNvPr id="1049097" name="Rectangle 7"/>
          <p:cNvSpPr>
            <a:spLocks noGrp="1" noChangeArrowheads="1"/>
          </p:cNvSpPr>
          <p:nvPr>
            <p:ph type="sldNum" sz="quarter" idx="5"/>
          </p:nvPr>
        </p:nvSpPr>
        <p:spPr>
          <a:noFill/>
        </p:spPr>
        <p:txBody>
          <a:bodyPr/>
          <a:lstStyle>
            <a:lvl1pPr>
              <a:defRPr>
                <a:solidFill>
                  <a:schemeClr val="tx1"/>
                </a:solidFill>
                <a:latin typeface="Comic Sans MS" panose="030F0702030302020204" pitchFamily="66" charset="0"/>
              </a:defRPr>
            </a:lvl1pPr>
            <a:lvl2pPr marL="785495" indent="-302260">
              <a:defRPr>
                <a:solidFill>
                  <a:schemeClr val="tx1"/>
                </a:solidFill>
                <a:latin typeface="Comic Sans MS" panose="030F0702030302020204" pitchFamily="66" charset="0"/>
              </a:defRPr>
            </a:lvl2pPr>
            <a:lvl3pPr marL="1208405" indent="-241935">
              <a:defRPr>
                <a:solidFill>
                  <a:schemeClr val="tx1"/>
                </a:solidFill>
                <a:latin typeface="Comic Sans MS" panose="030F0702030302020204" pitchFamily="66" charset="0"/>
              </a:defRPr>
            </a:lvl3pPr>
            <a:lvl4pPr marL="1691640" indent="-241935">
              <a:defRPr>
                <a:solidFill>
                  <a:schemeClr val="tx1"/>
                </a:solidFill>
                <a:latin typeface="Comic Sans MS" panose="030F0702030302020204" pitchFamily="66" charset="0"/>
              </a:defRPr>
            </a:lvl4pPr>
            <a:lvl5pPr marL="2174875" indent="-241935">
              <a:defRPr>
                <a:solidFill>
                  <a:schemeClr val="tx1"/>
                </a:solidFill>
                <a:latin typeface="Comic Sans MS" panose="030F0702030302020204" pitchFamily="66" charset="0"/>
              </a:defRPr>
            </a:lvl5pPr>
            <a:lvl6pPr marL="2658110" indent="-241935" eaLnBrk="0" fontAlgn="base" hangingPunct="0">
              <a:spcBef>
                <a:spcPct val="0"/>
              </a:spcBef>
              <a:spcAft>
                <a:spcPct val="0"/>
              </a:spcAft>
              <a:defRPr>
                <a:solidFill>
                  <a:schemeClr val="tx1"/>
                </a:solidFill>
                <a:latin typeface="Comic Sans MS" panose="030F0702030302020204" pitchFamily="66" charset="0"/>
              </a:defRPr>
            </a:lvl6pPr>
            <a:lvl7pPr marL="3141345" indent="-241935" eaLnBrk="0" fontAlgn="base" hangingPunct="0">
              <a:spcBef>
                <a:spcPct val="0"/>
              </a:spcBef>
              <a:spcAft>
                <a:spcPct val="0"/>
              </a:spcAft>
              <a:defRPr>
                <a:solidFill>
                  <a:schemeClr val="tx1"/>
                </a:solidFill>
                <a:latin typeface="Comic Sans MS" panose="030F0702030302020204" pitchFamily="66" charset="0"/>
              </a:defRPr>
            </a:lvl7pPr>
            <a:lvl8pPr marL="3624580" indent="-241935" eaLnBrk="0" fontAlgn="base" hangingPunct="0">
              <a:spcBef>
                <a:spcPct val="0"/>
              </a:spcBef>
              <a:spcAft>
                <a:spcPct val="0"/>
              </a:spcAft>
              <a:defRPr>
                <a:solidFill>
                  <a:schemeClr val="tx1"/>
                </a:solidFill>
                <a:latin typeface="Comic Sans MS" panose="030F0702030302020204" pitchFamily="66" charset="0"/>
              </a:defRPr>
            </a:lvl8pPr>
            <a:lvl9pPr marL="4107815" indent="-241935" eaLnBrk="0" fontAlgn="base" hangingPunct="0">
              <a:spcBef>
                <a:spcPct val="0"/>
              </a:spcBef>
              <a:spcAft>
                <a:spcPct val="0"/>
              </a:spcAft>
              <a:defRPr>
                <a:solidFill>
                  <a:schemeClr val="tx1"/>
                </a:solidFill>
                <a:latin typeface="Comic Sans MS" panose="030F0702030302020204" pitchFamily="66" charset="0"/>
              </a:defRPr>
            </a:lvl9pPr>
          </a:lstStyle>
          <a:p>
            <a:fld id="{C00703D8-174D-4B2E-8E27-33D37D5E4E63}" type="slidenum">
              <a:rPr lang="en-US" altLang="en-US">
                <a:solidFill>
                  <a:srgbClr val="000000"/>
                </a:solidFill>
                <a:latin typeface="Times New Roman" panose="02020603050405020304" pitchFamily="18" charset="0"/>
              </a:rPr>
              <a:t>46</a:t>
            </a:fld>
            <a:endParaRPr lang="en-US" altLang="en-US">
              <a:solidFill>
                <a:srgbClr val="000000"/>
              </a:solidFill>
              <a:latin typeface="Times New Roman" panose="02020603050405020304" pitchFamily="18" charset="0"/>
            </a:endParaRPr>
          </a:p>
        </p:txBody>
      </p:sp>
      <p:sp>
        <p:nvSpPr>
          <p:cNvPr id="1049098" name="Rectangle 2"/>
          <p:cNvSpPr>
            <a:spLocks noGrp="1" noRot="1" noChangeAspect="1" noChangeArrowheads="1" noTextEdit="1"/>
          </p:cNvSpPr>
          <p:nvPr>
            <p:ph type="sldImg"/>
          </p:nvPr>
        </p:nvSpPr>
        <p:spPr>
          <a:xfrm>
            <a:off x="1262063" y="727075"/>
            <a:ext cx="4792662" cy="3594100"/>
          </a:xfrm>
        </p:spPr>
      </p:sp>
      <p:sp>
        <p:nvSpPr>
          <p:cNvPr id="1049099" name="Rectangle 3"/>
          <p:cNvSpPr>
            <a:spLocks noGrp="1" noChangeArrowheads="1"/>
          </p:cNvSpPr>
          <p:nvPr>
            <p:ph type="body" idx="1"/>
          </p:nvPr>
        </p:nvSpPr>
        <p:spPr>
          <a:xfrm>
            <a:off x="973668" y="4560570"/>
            <a:ext cx="5366173" cy="4320540"/>
          </a:xfrm>
          <a:noFill/>
        </p:spPr>
        <p:txBody>
          <a:bodyPr/>
          <a:lstStyle/>
          <a:p>
            <a:pPr eaLnBrk="1" hangingPunct="1"/>
            <a:endParaRPr lang="en-US" altLang="en-US"/>
          </a:p>
        </p:txBody>
      </p:sp>
    </p:spTree>
    <p:extLst>
      <p:ext uri="{BB962C8B-B14F-4D97-AF65-F5344CB8AC3E}">
        <p14:creationId xmlns:p14="http://schemas.microsoft.com/office/powerpoint/2010/main" val="1840137665"/>
      </p:ext>
    </p:extLst>
  </p:cSld>
  <p:clrMapOvr>
    <a:overrideClrMapping bg1="dk1" tx1="dk1" bg2="dk1" tx2="dk1" accent1="dk1" accent2="dk1" accent3="dk1" accent4="dk1" accent5="dk1" accent6="dk1" hlink="dk1" folHlink="dk1"/>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366"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fld id="{9A0DB2DC-4C9A-4742-B13C-FB6460FD3503}" type="slidenum">
              <a:rPr lang="en-US" altLang="en-US" sz="1200" b="0" dirty="0"/>
              <a:t>67</a:t>
            </a:fld>
            <a:endParaRPr lang="en-US" altLang="en-US" sz="1200" b="0"/>
          </a:p>
        </p:txBody>
      </p:sp>
      <p:sp>
        <p:nvSpPr>
          <p:cNvPr id="1049367" name="Rectangle 2"/>
          <p:cNvSpPr>
            <a:spLocks noGrp="1" noRot="1" noChangeAspect="1" noTextEdit="1"/>
          </p:cNvSpPr>
          <p:nvPr>
            <p:ph type="sldImg"/>
          </p:nvPr>
        </p:nvSpPr>
        <p:spPr/>
      </p:sp>
      <p:sp>
        <p:nvSpPr>
          <p:cNvPr id="1049368" name="Rectangle 3"/>
          <p:cNvSpPr>
            <a:spLocks noGrp="1"/>
          </p:cNvSpPr>
          <p:nvPr>
            <p:ph type="body" idx="1"/>
          </p:nvPr>
        </p:nvSpPr>
        <p:spPr/>
        <p:txBody>
          <a:bodyPr wrap="square" lIns="91440" tIns="45720" rIns="91440" bIns="45720" anchor="t" anchorCtr="0"/>
          <a:lstStyle/>
          <a:p>
            <a:pPr lvl="0" eaLnBrk="1" hangingPunct="1"/>
            <a:endParaRPr lang="en-US" altLang="en-US"/>
          </a:p>
        </p:txBody>
      </p:sp>
    </p:spTree>
    <p:extLst>
      <p:ext uri="{BB962C8B-B14F-4D97-AF65-F5344CB8AC3E}">
        <p14:creationId xmlns:p14="http://schemas.microsoft.com/office/powerpoint/2010/main" val="101267428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1048582" name="Holder 2"/>
          <p:cNvSpPr>
            <a:spLocks noGrp="1"/>
          </p:cNvSpPr>
          <p:nvPr>
            <p:ph type="ctrTitle"/>
          </p:nvPr>
        </p:nvSpPr>
        <p:spPr>
          <a:xfrm>
            <a:off x="3423095" y="2490928"/>
            <a:ext cx="2297810" cy="692497"/>
          </a:xfrm>
          <a:prstGeom prst="rect">
            <a:avLst/>
          </a:prstGeom>
        </p:spPr>
        <p:txBody>
          <a:bodyPr wrap="square" lIns="0" tIns="0" rIns="0" bIns="0">
            <a:spAutoFit/>
          </a:bodyPr>
          <a:lstStyle>
            <a:lvl1pPr>
              <a:defRPr sz="4500" b="0" i="0">
                <a:solidFill>
                  <a:srgbClr val="1F3863"/>
                </a:solidFill>
                <a:latin typeface="Caladea"/>
                <a:cs typeface="Caladea"/>
              </a:defRPr>
            </a:lvl1pPr>
          </a:lstStyle>
          <a:p>
            <a:endParaRPr/>
          </a:p>
        </p:txBody>
      </p:sp>
      <p:sp>
        <p:nvSpPr>
          <p:cNvPr id="1048583" name="Holder 3"/>
          <p:cNvSpPr>
            <a:spLocks noGrp="1"/>
          </p:cNvSpPr>
          <p:nvPr>
            <p:ph type="subTitle" idx="4"/>
          </p:nvPr>
        </p:nvSpPr>
        <p:spPr>
          <a:xfrm>
            <a:off x="1371600" y="3840480"/>
            <a:ext cx="6400800" cy="307777"/>
          </a:xfrm>
          <a:prstGeom prst="rect">
            <a:avLst/>
          </a:prstGeom>
        </p:spPr>
        <p:txBody>
          <a:bodyPr wrap="square" lIns="0" tIns="0" rIns="0" bIns="0">
            <a:spAutoFit/>
          </a:bodyPr>
          <a:lstStyle/>
          <a:p>
            <a:endParaRPr/>
          </a:p>
        </p:txBody>
      </p:sp>
      <p:sp>
        <p:nvSpPr>
          <p:cNvPr id="104858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104858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9/1/2025</a:t>
            </a:fld>
            <a:endParaRPr lang="en-US"/>
          </a:p>
        </p:txBody>
      </p:sp>
      <p:sp>
        <p:nvSpPr>
          <p:cNvPr id="1048586" name="Holder 6"/>
          <p:cNvSpPr>
            <a:spLocks noGrp="1"/>
          </p:cNvSpPr>
          <p:nvPr>
            <p:ph type="sldNum" sz="quarter" idx="7"/>
          </p:nvPr>
        </p:nvSpPr>
        <p:spPr/>
        <p:txBody>
          <a:bodyPr lIns="0" tIns="0" rIns="0" bIns="0"/>
          <a:lstStyle>
            <a:lvl1pPr>
              <a:defRPr sz="1050" b="1" i="0">
                <a:solidFill>
                  <a:schemeClr val="tx1"/>
                </a:solidFill>
                <a:latin typeface="Carlito"/>
                <a:cs typeface="Carlito"/>
              </a:defRPr>
            </a:lvl1pPr>
          </a:lstStyle>
          <a:p>
            <a:pPr marL="14605">
              <a:lnSpc>
                <a:spcPts val="1230"/>
              </a:lnSpc>
            </a:pPr>
            <a:fld id="{81D60167-4931-47E6-BA6A-407CBD079E47}" type="slidenum">
              <a:rPr lang="en-IN" spc="-4" smtClean="0">
                <a:latin typeface="Arial" panose="020B0604020202020204"/>
                <a:cs typeface="Arial" panose="020B0604020202020204"/>
              </a:rPr>
              <a:t>‹#›</a:t>
            </a:fld>
            <a:endParaRPr lang="en-IN" spc="-4">
              <a:latin typeface="Arial" panose="020B0604020202020204"/>
              <a:cs typeface="Arial" panose="020B0604020202020204"/>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1048591" name="Holder 2"/>
          <p:cNvSpPr>
            <a:spLocks noGrp="1"/>
          </p:cNvSpPr>
          <p:nvPr>
            <p:ph type="title"/>
          </p:nvPr>
        </p:nvSpPr>
        <p:spPr>
          <a:xfrm>
            <a:off x="1148811" y="31192"/>
            <a:ext cx="3522821" cy="415498"/>
          </a:xfrm>
        </p:spPr>
        <p:txBody>
          <a:bodyPr lIns="0" tIns="0" rIns="0" bIns="0"/>
          <a:lstStyle>
            <a:lvl1pPr>
              <a:defRPr sz="2700" b="0" i="0">
                <a:solidFill>
                  <a:srgbClr val="4471C4"/>
                </a:solidFill>
                <a:latin typeface="Caladea"/>
                <a:cs typeface="Caladea"/>
              </a:defRPr>
            </a:lvl1pPr>
          </a:lstStyle>
          <a:p>
            <a:endParaRPr/>
          </a:p>
        </p:txBody>
      </p:sp>
      <p:sp>
        <p:nvSpPr>
          <p:cNvPr id="1048592" name="Holder 3"/>
          <p:cNvSpPr>
            <a:spLocks noGrp="1"/>
          </p:cNvSpPr>
          <p:nvPr>
            <p:ph type="body" idx="1"/>
          </p:nvPr>
        </p:nvSpPr>
        <p:spPr>
          <a:xfrm>
            <a:off x="1831182" y="3108451"/>
            <a:ext cx="4995386" cy="230832"/>
          </a:xfrm>
        </p:spPr>
        <p:txBody>
          <a:bodyPr lIns="0" tIns="0" rIns="0" bIns="0"/>
          <a:lstStyle>
            <a:lvl1pPr>
              <a:defRPr sz="1500" b="0" i="0">
                <a:solidFill>
                  <a:srgbClr val="44536A"/>
                </a:solidFill>
                <a:latin typeface="Caladea"/>
                <a:cs typeface="Caladea"/>
              </a:defRPr>
            </a:lvl1pPr>
          </a:lstStyle>
          <a:p>
            <a:endParaRPr/>
          </a:p>
        </p:txBody>
      </p:sp>
      <p:sp>
        <p:nvSpPr>
          <p:cNvPr id="1048593"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1048594"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9/1/2025</a:t>
            </a:fld>
            <a:endParaRPr lang="en-US"/>
          </a:p>
        </p:txBody>
      </p:sp>
      <p:sp>
        <p:nvSpPr>
          <p:cNvPr id="1048595" name="Holder 6"/>
          <p:cNvSpPr>
            <a:spLocks noGrp="1"/>
          </p:cNvSpPr>
          <p:nvPr>
            <p:ph type="sldNum" sz="quarter" idx="7"/>
          </p:nvPr>
        </p:nvSpPr>
        <p:spPr/>
        <p:txBody>
          <a:bodyPr lIns="0" tIns="0" rIns="0" bIns="0"/>
          <a:lstStyle>
            <a:lvl1pPr>
              <a:defRPr sz="1050" b="1" i="0">
                <a:solidFill>
                  <a:schemeClr val="tx1"/>
                </a:solidFill>
                <a:latin typeface="Carlito"/>
                <a:cs typeface="Carlito"/>
              </a:defRPr>
            </a:lvl1pPr>
          </a:lstStyle>
          <a:p>
            <a:pPr marL="14605">
              <a:lnSpc>
                <a:spcPts val="1230"/>
              </a:lnSpc>
            </a:pPr>
            <a:fld id="{81D60167-4931-47E6-BA6A-407CBD079E47}" type="slidenum">
              <a:rPr lang="en-IN" spc="-4" smtClean="0">
                <a:latin typeface="Arial" panose="020B0604020202020204"/>
                <a:cs typeface="Arial" panose="020B0604020202020204"/>
              </a:rPr>
              <a:t>‹#›</a:t>
            </a:fld>
            <a:endParaRPr lang="en-IN" spc="-4">
              <a:latin typeface="Arial" panose="020B0604020202020204"/>
              <a:cs typeface="Arial" panose="020B0604020202020204"/>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1048662" name="Holder 2"/>
          <p:cNvSpPr>
            <a:spLocks noGrp="1"/>
          </p:cNvSpPr>
          <p:nvPr>
            <p:ph type="title"/>
          </p:nvPr>
        </p:nvSpPr>
        <p:spPr>
          <a:xfrm>
            <a:off x="1148811" y="31192"/>
            <a:ext cx="3522821" cy="415498"/>
          </a:xfrm>
        </p:spPr>
        <p:txBody>
          <a:bodyPr lIns="0" tIns="0" rIns="0" bIns="0"/>
          <a:lstStyle>
            <a:lvl1pPr>
              <a:defRPr sz="2700" b="0" i="0">
                <a:solidFill>
                  <a:srgbClr val="4471C4"/>
                </a:solidFill>
                <a:latin typeface="Caladea"/>
                <a:cs typeface="Caladea"/>
              </a:defRPr>
            </a:lvl1pPr>
          </a:lstStyle>
          <a:p>
            <a:endParaRPr/>
          </a:p>
        </p:txBody>
      </p:sp>
      <p:sp>
        <p:nvSpPr>
          <p:cNvPr id="1048663" name="Holder 3"/>
          <p:cNvSpPr>
            <a:spLocks noGrp="1"/>
          </p:cNvSpPr>
          <p:nvPr>
            <p:ph sz="half" idx="2"/>
          </p:nvPr>
        </p:nvSpPr>
        <p:spPr>
          <a:xfrm>
            <a:off x="457200" y="1577340"/>
            <a:ext cx="3977640" cy="307777"/>
          </a:xfrm>
          <a:prstGeom prst="rect">
            <a:avLst/>
          </a:prstGeom>
        </p:spPr>
        <p:txBody>
          <a:bodyPr wrap="square" lIns="0" tIns="0" rIns="0" bIns="0">
            <a:spAutoFit/>
          </a:bodyPr>
          <a:lstStyle/>
          <a:p>
            <a:endParaRPr/>
          </a:p>
        </p:txBody>
      </p:sp>
      <p:sp>
        <p:nvSpPr>
          <p:cNvPr id="1048664" name="Holder 4"/>
          <p:cNvSpPr>
            <a:spLocks noGrp="1"/>
          </p:cNvSpPr>
          <p:nvPr>
            <p:ph sz="half" idx="3"/>
          </p:nvPr>
        </p:nvSpPr>
        <p:spPr>
          <a:xfrm>
            <a:off x="4709160" y="1577340"/>
            <a:ext cx="3977640" cy="307777"/>
          </a:xfrm>
          <a:prstGeom prst="rect">
            <a:avLst/>
          </a:prstGeom>
        </p:spPr>
        <p:txBody>
          <a:bodyPr wrap="square" lIns="0" tIns="0" rIns="0" bIns="0">
            <a:spAutoFit/>
          </a:bodyPr>
          <a:lstStyle/>
          <a:p>
            <a:endParaRPr/>
          </a:p>
        </p:txBody>
      </p:sp>
      <p:sp>
        <p:nvSpPr>
          <p:cNvPr id="104866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104866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9/1/2025</a:t>
            </a:fld>
            <a:endParaRPr lang="en-US"/>
          </a:p>
        </p:txBody>
      </p:sp>
      <p:sp>
        <p:nvSpPr>
          <p:cNvPr id="1048667" name="Holder 7"/>
          <p:cNvSpPr>
            <a:spLocks noGrp="1"/>
          </p:cNvSpPr>
          <p:nvPr>
            <p:ph type="sldNum" sz="quarter" idx="7"/>
          </p:nvPr>
        </p:nvSpPr>
        <p:spPr/>
        <p:txBody>
          <a:bodyPr lIns="0" tIns="0" rIns="0" bIns="0"/>
          <a:lstStyle>
            <a:lvl1pPr>
              <a:defRPr sz="1050" b="1" i="0">
                <a:solidFill>
                  <a:schemeClr val="tx1"/>
                </a:solidFill>
                <a:latin typeface="Carlito"/>
                <a:cs typeface="Carlito"/>
              </a:defRPr>
            </a:lvl1pPr>
          </a:lstStyle>
          <a:p>
            <a:pPr marL="14605">
              <a:lnSpc>
                <a:spcPts val="1230"/>
              </a:lnSpc>
            </a:pPr>
            <a:fld id="{81D60167-4931-47E6-BA6A-407CBD079E47}" type="slidenum">
              <a:rPr lang="en-IN" spc="-4" smtClean="0">
                <a:latin typeface="Arial" panose="020B0604020202020204"/>
                <a:cs typeface="Arial" panose="020B0604020202020204"/>
              </a:rPr>
              <a:t>‹#›</a:t>
            </a:fld>
            <a:endParaRPr lang="en-IN" spc="-4">
              <a:latin typeface="Arial" panose="020B0604020202020204"/>
              <a:cs typeface="Arial" panose="020B0604020202020204"/>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1048657" name="Holder 2"/>
          <p:cNvSpPr>
            <a:spLocks noGrp="1"/>
          </p:cNvSpPr>
          <p:nvPr>
            <p:ph type="title"/>
          </p:nvPr>
        </p:nvSpPr>
        <p:spPr>
          <a:xfrm>
            <a:off x="1148811" y="31192"/>
            <a:ext cx="3522821" cy="415498"/>
          </a:xfrm>
        </p:spPr>
        <p:txBody>
          <a:bodyPr lIns="0" tIns="0" rIns="0" bIns="0"/>
          <a:lstStyle>
            <a:lvl1pPr>
              <a:defRPr sz="2700" b="0" i="0">
                <a:solidFill>
                  <a:srgbClr val="4471C4"/>
                </a:solidFill>
                <a:latin typeface="Caladea"/>
                <a:cs typeface="Caladea"/>
              </a:defRPr>
            </a:lvl1pPr>
          </a:lstStyle>
          <a:p>
            <a:endParaRPr/>
          </a:p>
        </p:txBody>
      </p:sp>
      <p:sp>
        <p:nvSpPr>
          <p:cNvPr id="1048658"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1048659"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9/1/2025</a:t>
            </a:fld>
            <a:endParaRPr lang="en-US"/>
          </a:p>
        </p:txBody>
      </p:sp>
      <p:sp>
        <p:nvSpPr>
          <p:cNvPr id="1048660" name="Holder 5"/>
          <p:cNvSpPr>
            <a:spLocks noGrp="1"/>
          </p:cNvSpPr>
          <p:nvPr>
            <p:ph type="sldNum" sz="quarter" idx="7"/>
          </p:nvPr>
        </p:nvSpPr>
        <p:spPr/>
        <p:txBody>
          <a:bodyPr lIns="0" tIns="0" rIns="0" bIns="0"/>
          <a:lstStyle>
            <a:lvl1pPr>
              <a:defRPr sz="1050" b="1" i="0">
                <a:solidFill>
                  <a:schemeClr val="tx1"/>
                </a:solidFill>
                <a:latin typeface="Carlito"/>
                <a:cs typeface="Carlito"/>
              </a:defRPr>
            </a:lvl1pPr>
          </a:lstStyle>
          <a:p>
            <a:pPr marL="14605">
              <a:lnSpc>
                <a:spcPts val="1230"/>
              </a:lnSpc>
            </a:pPr>
            <a:fld id="{81D60167-4931-47E6-BA6A-407CBD079E47}" type="slidenum">
              <a:rPr lang="en-IN" spc="-4" smtClean="0">
                <a:latin typeface="Arial" panose="020B0604020202020204"/>
                <a:cs typeface="Arial" panose="020B0604020202020204"/>
              </a:rPr>
              <a:t>‹#›</a:t>
            </a:fld>
            <a:endParaRPr lang="en-IN" spc="-4">
              <a:latin typeface="Arial" panose="020B0604020202020204"/>
              <a:cs typeface="Arial" panose="020B0604020202020204"/>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1048611"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1048612"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9/1/2025</a:t>
            </a:fld>
            <a:endParaRPr lang="en-US"/>
          </a:p>
        </p:txBody>
      </p:sp>
      <p:sp>
        <p:nvSpPr>
          <p:cNvPr id="1048613" name="Holder 4"/>
          <p:cNvSpPr>
            <a:spLocks noGrp="1"/>
          </p:cNvSpPr>
          <p:nvPr>
            <p:ph type="sldNum" sz="quarter" idx="7"/>
          </p:nvPr>
        </p:nvSpPr>
        <p:spPr/>
        <p:txBody>
          <a:bodyPr lIns="0" tIns="0" rIns="0" bIns="0"/>
          <a:lstStyle>
            <a:lvl1pPr>
              <a:defRPr sz="1050" b="1" i="0">
                <a:solidFill>
                  <a:schemeClr val="tx1"/>
                </a:solidFill>
                <a:latin typeface="Carlito"/>
                <a:cs typeface="Carlito"/>
              </a:defRPr>
            </a:lvl1pPr>
          </a:lstStyle>
          <a:p>
            <a:pPr marL="14605">
              <a:lnSpc>
                <a:spcPts val="1230"/>
              </a:lnSpc>
            </a:pPr>
            <a:fld id="{81D60167-4931-47E6-BA6A-407CBD079E47}" type="slidenum">
              <a:rPr lang="en-IN" spc="-4" smtClean="0">
                <a:latin typeface="Arial" panose="020B0604020202020204"/>
                <a:cs typeface="Arial" panose="020B0604020202020204"/>
              </a:rPr>
              <a:t>‹#›</a:t>
            </a:fld>
            <a:endParaRPr lang="en-IN" spc="-4">
              <a:latin typeface="Arial" panose="020B0604020202020204"/>
              <a:cs typeface="Arial" panose="020B0604020202020204"/>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jpe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48576" name="bg object 16"/>
          <p:cNvSpPr/>
          <p:nvPr/>
        </p:nvSpPr>
        <p:spPr>
          <a:xfrm>
            <a:off x="0" y="5173205"/>
            <a:ext cx="9144000" cy="1684793"/>
          </a:xfrm>
          <a:prstGeom prst="rect">
            <a:avLst/>
          </a:prstGeom>
          <a:blipFill>
            <a:blip r:embed="rId7" cstate="print"/>
            <a:stretch>
              <a:fillRect/>
            </a:stretch>
          </a:blipFill>
        </p:spPr>
        <p:txBody>
          <a:bodyPr wrap="square" lIns="0" tIns="0" rIns="0" bIns="0" rtlCol="0"/>
          <a:lstStyle/>
          <a:p>
            <a:endParaRPr sz="1350"/>
          </a:p>
        </p:txBody>
      </p:sp>
      <p:sp>
        <p:nvSpPr>
          <p:cNvPr id="1048577" name="Holder 2"/>
          <p:cNvSpPr>
            <a:spLocks noGrp="1"/>
          </p:cNvSpPr>
          <p:nvPr>
            <p:ph type="title"/>
          </p:nvPr>
        </p:nvSpPr>
        <p:spPr>
          <a:xfrm>
            <a:off x="1148811" y="31192"/>
            <a:ext cx="3522821" cy="574675"/>
          </a:xfrm>
          <a:prstGeom prst="rect">
            <a:avLst/>
          </a:prstGeom>
        </p:spPr>
        <p:txBody>
          <a:bodyPr wrap="square" lIns="0" tIns="0" rIns="0" bIns="0">
            <a:spAutoFit/>
          </a:bodyPr>
          <a:lstStyle>
            <a:lvl1pPr>
              <a:defRPr sz="3600" b="0" i="0">
                <a:solidFill>
                  <a:srgbClr val="4471C4"/>
                </a:solidFill>
                <a:latin typeface="Caladea"/>
                <a:cs typeface="Caladea"/>
              </a:defRPr>
            </a:lvl1pPr>
          </a:lstStyle>
          <a:p>
            <a:endParaRPr/>
          </a:p>
        </p:txBody>
      </p:sp>
      <p:sp>
        <p:nvSpPr>
          <p:cNvPr id="1048578" name="Holder 3"/>
          <p:cNvSpPr>
            <a:spLocks noGrp="1"/>
          </p:cNvSpPr>
          <p:nvPr>
            <p:ph type="body" idx="1"/>
          </p:nvPr>
        </p:nvSpPr>
        <p:spPr>
          <a:xfrm>
            <a:off x="1831182" y="3108451"/>
            <a:ext cx="4995386" cy="307777"/>
          </a:xfrm>
          <a:prstGeom prst="rect">
            <a:avLst/>
          </a:prstGeom>
        </p:spPr>
        <p:txBody>
          <a:bodyPr wrap="square" lIns="0" tIns="0" rIns="0" bIns="0">
            <a:spAutoFit/>
          </a:bodyPr>
          <a:lstStyle>
            <a:lvl1pPr>
              <a:defRPr sz="2000" b="0" i="0">
                <a:solidFill>
                  <a:srgbClr val="44536A"/>
                </a:solidFill>
                <a:latin typeface="Caladea"/>
                <a:cs typeface="Caladea"/>
              </a:defRPr>
            </a:lvl1pPr>
          </a:lstStyle>
          <a:p>
            <a:endParaRPr/>
          </a:p>
        </p:txBody>
      </p:sp>
      <p:sp>
        <p:nvSpPr>
          <p:cNvPr id="1048579" name="Holder 4"/>
          <p:cNvSpPr>
            <a:spLocks noGrp="1"/>
          </p:cNvSpPr>
          <p:nvPr>
            <p:ph type="ftr" sz="quarter" idx="5"/>
          </p:nvPr>
        </p:nvSpPr>
        <p:spPr>
          <a:xfrm>
            <a:off x="3108960" y="6377940"/>
            <a:ext cx="2926080" cy="276999"/>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1048580" name="Holder 5"/>
          <p:cNvSpPr>
            <a:spLocks noGrp="1"/>
          </p:cNvSpPr>
          <p:nvPr>
            <p:ph type="dt" sz="half" idx="6"/>
          </p:nvPr>
        </p:nvSpPr>
        <p:spPr>
          <a:xfrm>
            <a:off x="457200" y="6377940"/>
            <a:ext cx="2103120" cy="276999"/>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9/1/2025</a:t>
            </a:fld>
            <a:endParaRPr lang="en-US"/>
          </a:p>
        </p:txBody>
      </p:sp>
      <p:sp>
        <p:nvSpPr>
          <p:cNvPr id="1048581" name="Holder 6"/>
          <p:cNvSpPr>
            <a:spLocks noGrp="1"/>
          </p:cNvSpPr>
          <p:nvPr>
            <p:ph type="sldNum" sz="quarter" idx="7"/>
          </p:nvPr>
        </p:nvSpPr>
        <p:spPr>
          <a:xfrm>
            <a:off x="8890920" y="6530213"/>
            <a:ext cx="190024" cy="153888"/>
          </a:xfrm>
          <a:prstGeom prst="rect">
            <a:avLst/>
          </a:prstGeom>
        </p:spPr>
        <p:txBody>
          <a:bodyPr wrap="square" lIns="0" tIns="0" rIns="0" bIns="0">
            <a:spAutoFit/>
          </a:bodyPr>
          <a:lstStyle>
            <a:lvl1pPr>
              <a:defRPr sz="1050" b="1" i="0">
                <a:solidFill>
                  <a:schemeClr val="tx1"/>
                </a:solidFill>
                <a:latin typeface="Carlito"/>
                <a:cs typeface="Carlito"/>
              </a:defRPr>
            </a:lvl1pPr>
          </a:lstStyle>
          <a:p>
            <a:pPr marL="14605">
              <a:lnSpc>
                <a:spcPts val="1230"/>
              </a:lnSpc>
            </a:pPr>
            <a:fld id="{81D60167-4931-47E6-BA6A-407CBD079E47}" type="slidenum">
              <a:rPr lang="en-IN" spc="-4" smtClean="0">
                <a:latin typeface="Arial" panose="020B0604020202020204"/>
                <a:cs typeface="Arial" panose="020B0604020202020204"/>
              </a:rPr>
              <a:t>‹#›</a:t>
            </a:fld>
            <a:endParaRPr lang="en-IN" spc="-4">
              <a:latin typeface="Arial" panose="020B0604020202020204"/>
              <a:cs typeface="Arial" panose="020B0604020202020204"/>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txStyles>
    <p:titleStyle>
      <a:lvl1pPr>
        <a:defRPr>
          <a:latin typeface="+mj-lt"/>
          <a:ea typeface="+mj-ea"/>
          <a:cs typeface="+mj-cs"/>
        </a:defRPr>
      </a:lvl1pPr>
    </p:titleStyle>
    <p:bodyStyle>
      <a:lvl1pPr marL="0">
        <a:defRPr>
          <a:latin typeface="+mn-lt"/>
          <a:ea typeface="+mn-ea"/>
          <a:cs typeface="+mn-cs"/>
        </a:defRPr>
      </a:lvl1pPr>
      <a:lvl2pPr marL="342900">
        <a:defRPr>
          <a:latin typeface="+mn-lt"/>
          <a:ea typeface="+mn-ea"/>
          <a:cs typeface="+mn-cs"/>
        </a:defRPr>
      </a:lvl2pPr>
      <a:lvl3pPr marL="685800">
        <a:defRPr>
          <a:latin typeface="+mn-lt"/>
          <a:ea typeface="+mn-ea"/>
          <a:cs typeface="+mn-cs"/>
        </a:defRPr>
      </a:lvl3pPr>
      <a:lvl4pPr marL="1028700">
        <a:defRPr>
          <a:latin typeface="+mn-lt"/>
          <a:ea typeface="+mn-ea"/>
          <a:cs typeface="+mn-cs"/>
        </a:defRPr>
      </a:lvl4pPr>
      <a:lvl5pPr marL="1371600">
        <a:defRPr>
          <a:latin typeface="+mn-lt"/>
          <a:ea typeface="+mn-ea"/>
          <a:cs typeface="+mn-cs"/>
        </a:defRPr>
      </a:lvl5pPr>
      <a:lvl6pPr marL="1714500">
        <a:defRPr>
          <a:latin typeface="+mn-lt"/>
          <a:ea typeface="+mn-ea"/>
          <a:cs typeface="+mn-cs"/>
        </a:defRPr>
      </a:lvl6pPr>
      <a:lvl7pPr marL="2057400">
        <a:defRPr>
          <a:latin typeface="+mn-lt"/>
          <a:ea typeface="+mn-ea"/>
          <a:cs typeface="+mn-cs"/>
        </a:defRPr>
      </a:lvl7pPr>
      <a:lvl8pPr marL="2400300">
        <a:defRPr>
          <a:latin typeface="+mn-lt"/>
          <a:ea typeface="+mn-ea"/>
          <a:cs typeface="+mn-cs"/>
        </a:defRPr>
      </a:lvl8pPr>
      <a:lvl9pPr marL="2743200">
        <a:defRPr>
          <a:latin typeface="+mn-lt"/>
          <a:ea typeface="+mn-ea"/>
          <a:cs typeface="+mn-cs"/>
        </a:defRPr>
      </a:lvl9pPr>
    </p:bodyStyle>
    <p:otherStyle>
      <a:lvl1pPr marL="0">
        <a:defRPr>
          <a:latin typeface="+mn-lt"/>
          <a:ea typeface="+mn-ea"/>
          <a:cs typeface="+mn-cs"/>
        </a:defRPr>
      </a:lvl1pPr>
      <a:lvl2pPr marL="342900">
        <a:defRPr>
          <a:latin typeface="+mn-lt"/>
          <a:ea typeface="+mn-ea"/>
          <a:cs typeface="+mn-cs"/>
        </a:defRPr>
      </a:lvl2pPr>
      <a:lvl3pPr marL="685800">
        <a:defRPr>
          <a:latin typeface="+mn-lt"/>
          <a:ea typeface="+mn-ea"/>
          <a:cs typeface="+mn-cs"/>
        </a:defRPr>
      </a:lvl3pPr>
      <a:lvl4pPr marL="1028700">
        <a:defRPr>
          <a:latin typeface="+mn-lt"/>
          <a:ea typeface="+mn-ea"/>
          <a:cs typeface="+mn-cs"/>
        </a:defRPr>
      </a:lvl4pPr>
      <a:lvl5pPr marL="1371600">
        <a:defRPr>
          <a:latin typeface="+mn-lt"/>
          <a:ea typeface="+mn-ea"/>
          <a:cs typeface="+mn-cs"/>
        </a:defRPr>
      </a:lvl5pPr>
      <a:lvl6pPr marL="1714500">
        <a:defRPr>
          <a:latin typeface="+mn-lt"/>
          <a:ea typeface="+mn-ea"/>
          <a:cs typeface="+mn-cs"/>
        </a:defRPr>
      </a:lvl6pPr>
      <a:lvl7pPr marL="2057400">
        <a:defRPr>
          <a:latin typeface="+mn-lt"/>
          <a:ea typeface="+mn-ea"/>
          <a:cs typeface="+mn-cs"/>
        </a:defRPr>
      </a:lvl7pPr>
      <a:lvl8pPr marL="2400300">
        <a:defRPr>
          <a:latin typeface="+mn-lt"/>
          <a:ea typeface="+mn-ea"/>
          <a:cs typeface="+mn-cs"/>
        </a:defRPr>
      </a:lvl8pPr>
      <a:lvl9pPr marL="27432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hemeOverride" Target="../theme/themeOverride1.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hemeOverride" Target="../theme/themeOverride2.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3.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Layout" Target="../slideLayouts/slideLayout2.xml"/><Relationship Id="rId1" Type="http://schemas.openxmlformats.org/officeDocument/2006/relationships/themeOverride" Target="../theme/themeOverride4.xml"/><Relationship Id="rId4" Type="http://schemas.openxmlformats.org/officeDocument/2006/relationships/image" Target="../media/image3.jpeg"/></Relationships>
</file>

<file path=ppt/slides/_rels/slide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slideLayout" Target="../slideLayouts/slideLayout2.xml"/><Relationship Id="rId1" Type="http://schemas.openxmlformats.org/officeDocument/2006/relationships/themeOverride" Target="../theme/themeOverride5.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Layout" Target="../slideLayouts/slideLayout2.xml"/><Relationship Id="rId1" Type="http://schemas.openxmlformats.org/officeDocument/2006/relationships/themeOverride" Target="../theme/themeOverride6.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7.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slideLayout" Target="../slideLayouts/slideLayout2.xml"/><Relationship Id="rId1" Type="http://schemas.openxmlformats.org/officeDocument/2006/relationships/themeOverride" Target="../theme/themeOverride8.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5.xml"/><Relationship Id="rId1" Type="http://schemas.openxmlformats.org/officeDocument/2006/relationships/themeOverride" Target="../theme/themeOverride9.xml"/><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10.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11.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5.xml"/><Relationship Id="rId1" Type="http://schemas.openxmlformats.org/officeDocument/2006/relationships/themeOverride" Target="../theme/themeOverride12.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themeOverride" Target="../theme/themeOverride13.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themeOverride" Target="../theme/themeOverride14.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5.xml"/><Relationship Id="rId1" Type="http://schemas.openxmlformats.org/officeDocument/2006/relationships/themeOverride" Target="../theme/themeOverride15.xml"/><Relationship Id="rId4" Type="http://schemas.openxmlformats.org/officeDocument/2006/relationships/image" Target="../media/image9.png"/></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16.xml"/></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slideLayout" Target="../slideLayouts/slideLayout2.xml"/><Relationship Id="rId1" Type="http://schemas.openxmlformats.org/officeDocument/2006/relationships/themeOverride" Target="../theme/themeOverride17.xml"/></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18.xml"/></Relationships>
</file>

<file path=ppt/slides/_rels/slide1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slideLayout" Target="../slideLayouts/slideLayout4.xml"/><Relationship Id="rId1" Type="http://schemas.openxmlformats.org/officeDocument/2006/relationships/themeOverride" Target="../theme/themeOverride19.xml"/></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hemeOverride" Target="../theme/themeOverride20.xml"/></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themeOverride" Target="../theme/themeOverride21.xml"/></Relationships>
</file>

<file path=ppt/slides/_rels/slide2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slideLayout" Target="../slideLayouts/slideLayout5.xml"/><Relationship Id="rId1" Type="http://schemas.openxmlformats.org/officeDocument/2006/relationships/themeOverride" Target="../theme/themeOverride22.xml"/></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hemeOverride" Target="../theme/themeOverr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themeOverride" Target="../theme/themeOverride24.xml"/></Relationships>
</file>

<file path=ppt/slides/_rels/slide2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slideLayout" Target="../slideLayouts/slideLayout4.xml"/><Relationship Id="rId1" Type="http://schemas.openxmlformats.org/officeDocument/2006/relationships/themeOverride" Target="../theme/themeOverride25.xml"/></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themeOverride" Target="../theme/themeOverride26.xml"/></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themeOverride" Target="../theme/themeOverride27.xml"/></Relationships>
</file>

<file path=ppt/slides/_rels/slide3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slideLayout" Target="../slideLayouts/slideLayout4.xml"/><Relationship Id="rId1" Type="http://schemas.openxmlformats.org/officeDocument/2006/relationships/themeOverride" Target="../theme/themeOverride28.xml"/></Relationships>
</file>

<file path=ppt/slides/_rels/slide32.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hemeOverride" Target="../theme/themeOverride29.xml"/></Relationships>
</file>

<file path=ppt/slides/_rels/slide33.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themeOverride" Target="../theme/themeOverride30.xml"/></Relationships>
</file>

<file path=ppt/slides/_rels/slide3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slideLayout" Target="../slideLayouts/slideLayout4.xml"/><Relationship Id="rId1" Type="http://schemas.openxmlformats.org/officeDocument/2006/relationships/themeOverride" Target="../theme/themeOverride31.xml"/></Relationships>
</file>

<file path=ppt/slides/_rels/slide35.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themeOverride" Target="../theme/themeOverride32.xml"/></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5.xml"/><Relationship Id="rId1" Type="http://schemas.openxmlformats.org/officeDocument/2006/relationships/themeOverride" Target="../theme/themeOverride33.xml"/></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themeOverride" Target="../theme/themeOverride34.xml"/></Relationships>
</file>

<file path=ppt/slides/_rels/slide38.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hemeOverride" Target="../theme/themeOverride35.xml"/></Relationships>
</file>

<file path=ppt/slides/_rels/slide3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36.xml"/></Relationships>
</file>

<file path=ppt/slides/_rels/slide40.xml.rels><?xml version="1.0" encoding="UTF-8" standalone="yes"?>
<Relationships xmlns="http://schemas.openxmlformats.org/package/2006/relationships"><Relationship Id="rId3" Type="http://schemas.openxmlformats.org/officeDocument/2006/relationships/image" Target="../media/image17.wmf"/><Relationship Id="rId2" Type="http://schemas.openxmlformats.org/officeDocument/2006/relationships/slideLayout" Target="../slideLayouts/slideLayout2.xml"/><Relationship Id="rId1" Type="http://schemas.openxmlformats.org/officeDocument/2006/relationships/themeOverride" Target="../theme/themeOverride37.xml"/><Relationship Id="rId4" Type="http://schemas.openxmlformats.org/officeDocument/2006/relationships/image" Target="../media/image18.wmf"/></Relationships>
</file>

<file path=ppt/slides/_rels/slide41.xml.rels><?xml version="1.0" encoding="UTF-8" standalone="yes"?>
<Relationships xmlns="http://schemas.openxmlformats.org/package/2006/relationships"><Relationship Id="rId3" Type="http://schemas.openxmlformats.org/officeDocument/2006/relationships/image" Target="../media/image18.wmf"/><Relationship Id="rId7" Type="http://schemas.openxmlformats.org/officeDocument/2006/relationships/image" Target="../media/image22.wmf"/><Relationship Id="rId2" Type="http://schemas.openxmlformats.org/officeDocument/2006/relationships/image" Target="../media/image17.wmf"/><Relationship Id="rId1" Type="http://schemas.openxmlformats.org/officeDocument/2006/relationships/slideLayout" Target="../slideLayouts/slideLayout2.xml"/><Relationship Id="rId6" Type="http://schemas.openxmlformats.org/officeDocument/2006/relationships/image" Target="../media/image21.wmf"/><Relationship Id="rId5" Type="http://schemas.openxmlformats.org/officeDocument/2006/relationships/image" Target="../media/image20.wmf"/><Relationship Id="rId4" Type="http://schemas.openxmlformats.org/officeDocument/2006/relationships/image" Target="../media/image19.wmf"/></Relationships>
</file>

<file path=ppt/slides/_rels/slide4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38.xml"/></Relationships>
</file>

<file path=ppt/slides/_rels/slide4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39.xml"/></Relationships>
</file>

<file path=ppt/slides/_rels/slide4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40.xml"/></Relationships>
</file>

<file path=ppt/slides/_rels/slide4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41.xml"/></Relationships>
</file>

<file path=ppt/slides/_rels/slide46.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themeOverride" Target="../theme/themeOverride42.xml"/></Relationships>
</file>

<file path=ppt/slides/_rels/slide4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slideLayout" Target="../slideLayouts/slideLayout2.xml"/><Relationship Id="rId1" Type="http://schemas.openxmlformats.org/officeDocument/2006/relationships/themeOverride" Target="../theme/themeOverride43.xml"/></Relationships>
</file>

<file path=ppt/slides/_rels/slide4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44.xml"/></Relationships>
</file>

<file path=ppt/slides/_rels/slide4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slideLayout" Target="../slideLayouts/slideLayout2.xml"/><Relationship Id="rId1" Type="http://schemas.openxmlformats.org/officeDocument/2006/relationships/themeOverride" Target="../theme/themeOverride45.xml"/><Relationship Id="rId4" Type="http://schemas.openxmlformats.org/officeDocument/2006/relationships/image" Target="../media/image25.png"/></Relationships>
</file>

<file path=ppt/slides/_rels/slide5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46.xml"/></Relationships>
</file>

<file path=ppt/slides/_rels/slide5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47.xml"/></Relationships>
</file>

<file path=ppt/slides/_rels/slide5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48.xml"/></Relationships>
</file>

<file path=ppt/slides/_rels/slide5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49.xml"/></Relationships>
</file>

<file path=ppt/slides/_rels/slide5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50.xml"/></Relationships>
</file>

<file path=ppt/slides/_rels/slide5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51.xml"/></Relationships>
</file>

<file path=ppt/slides/_rels/slide5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52.xml"/></Relationships>
</file>

<file path=ppt/slides/_rels/slide5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53.xml"/></Relationships>
</file>

<file path=ppt/slides/_rels/slide5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54.xml"/></Relationships>
</file>

<file path=ppt/slides/_rels/slide5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55.xml"/></Relationships>
</file>

<file path=ppt/slides/_rels/slide6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56.xml"/></Relationships>
</file>

<file path=ppt/slides/_rels/slide6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slideLayout" Target="../slideLayouts/slideLayout2.xml"/><Relationship Id="rId1" Type="http://schemas.openxmlformats.org/officeDocument/2006/relationships/themeOverride" Target="../theme/themeOverride57.xml"/></Relationships>
</file>

<file path=ppt/slides/_rels/slide6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slideLayout" Target="../slideLayouts/slideLayout4.xml"/><Relationship Id="rId1" Type="http://schemas.openxmlformats.org/officeDocument/2006/relationships/themeOverride" Target="../theme/themeOverride58.xml"/></Relationships>
</file>

<file path=ppt/slides/_rels/slide6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59.xml"/></Relationships>
</file>

<file path=ppt/slides/_rels/slide6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60.xml"/></Relationships>
</file>

<file path=ppt/slides/_rels/slide65.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hemeOverride" Target="../theme/themeOverride61.xml"/></Relationships>
</file>

<file path=ppt/slides/_rels/slide66.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5.xml"/></Relationships>
</file>

<file path=ppt/slides/_rels/slide67.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6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62.xml"/></Relationships>
</file>

<file path=ppt/slides/_rels/slide6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63.xml"/></Relationships>
</file>

<file path=ppt/slides/_rels/slide7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64.xml"/></Relationships>
</file>

<file path=ppt/slides/_rels/slide71.xml.rels><?xml version="1.0" encoding="UTF-8" standalone="yes"?>
<Relationships xmlns="http://schemas.openxmlformats.org/package/2006/relationships"><Relationship Id="rId8" Type="http://schemas.openxmlformats.org/officeDocument/2006/relationships/image" Target="../media/image35.png"/><Relationship Id="rId13" Type="http://schemas.openxmlformats.org/officeDocument/2006/relationships/image" Target="../media/image40.png"/><Relationship Id="rId3" Type="http://schemas.openxmlformats.org/officeDocument/2006/relationships/image" Target="../media/image30.png"/><Relationship Id="rId7" Type="http://schemas.openxmlformats.org/officeDocument/2006/relationships/image" Target="../media/image34.png"/><Relationship Id="rId12" Type="http://schemas.openxmlformats.org/officeDocument/2006/relationships/image" Target="../media/image39.png"/><Relationship Id="rId2" Type="http://schemas.openxmlformats.org/officeDocument/2006/relationships/slideLayout" Target="../slideLayouts/slideLayout2.xml"/><Relationship Id="rId16" Type="http://schemas.openxmlformats.org/officeDocument/2006/relationships/image" Target="../media/image43.png"/><Relationship Id="rId1" Type="http://schemas.openxmlformats.org/officeDocument/2006/relationships/themeOverride" Target="../theme/themeOverride65.xml"/><Relationship Id="rId6" Type="http://schemas.openxmlformats.org/officeDocument/2006/relationships/image" Target="../media/image33.png"/><Relationship Id="rId11" Type="http://schemas.openxmlformats.org/officeDocument/2006/relationships/image" Target="../media/image38.png"/><Relationship Id="rId5" Type="http://schemas.openxmlformats.org/officeDocument/2006/relationships/image" Target="../media/image32.png"/><Relationship Id="rId15" Type="http://schemas.openxmlformats.org/officeDocument/2006/relationships/image" Target="../media/image42.png"/><Relationship Id="rId10" Type="http://schemas.openxmlformats.org/officeDocument/2006/relationships/image" Target="../media/image37.png"/><Relationship Id="rId4" Type="http://schemas.openxmlformats.org/officeDocument/2006/relationships/image" Target="../media/image31.png"/><Relationship Id="rId9" Type="http://schemas.openxmlformats.org/officeDocument/2006/relationships/image" Target="../media/image36.png"/><Relationship Id="rId14" Type="http://schemas.openxmlformats.org/officeDocument/2006/relationships/image" Target="../media/image41.png"/></Relationships>
</file>

<file path=ppt/slides/_rels/slide72.xml.rels><?xml version="1.0" encoding="UTF-8" standalone="yes"?>
<Relationships xmlns="http://schemas.openxmlformats.org/package/2006/relationships"><Relationship Id="rId3" Type="http://schemas.openxmlformats.org/officeDocument/2006/relationships/image" Target="../media/image44.jpeg"/><Relationship Id="rId2" Type="http://schemas.openxmlformats.org/officeDocument/2006/relationships/slideLayout" Target="../slideLayouts/slideLayout3.xml"/><Relationship Id="rId1" Type="http://schemas.openxmlformats.org/officeDocument/2006/relationships/themeOverride" Target="../theme/themeOverride66.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48587" name="object 2"/>
          <p:cNvSpPr txBox="1">
            <a:spLocks noGrp="1"/>
          </p:cNvSpPr>
          <p:nvPr>
            <p:ph type="ctrTitle"/>
          </p:nvPr>
        </p:nvSpPr>
        <p:spPr>
          <a:xfrm>
            <a:off x="4360599" y="4991965"/>
            <a:ext cx="4648200" cy="1317668"/>
          </a:xfrm>
          <a:prstGeom prst="rect">
            <a:avLst/>
          </a:prstGeom>
        </p:spPr>
        <p:txBody>
          <a:bodyPr vert="horz" wrap="square" lIns="0" tIns="9525" rIns="0" bIns="0" rtlCol="0">
            <a:spAutoFit/>
          </a:bodyPr>
          <a:lstStyle/>
          <a:p>
            <a:pPr marL="11430" algn="ctr">
              <a:spcBef>
                <a:spcPts val="75"/>
              </a:spcBef>
            </a:pPr>
            <a:r>
              <a:rPr lang="en-US" sz="4000" b="1" spc="-8">
                <a:solidFill>
                  <a:srgbClr val="FF0000"/>
                </a:solidFill>
              </a:rPr>
              <a:t>CSE 2251</a:t>
            </a:r>
            <a:br>
              <a:rPr lang="en-US" sz="4800" b="1"/>
            </a:br>
            <a:endParaRPr spc="-4"/>
          </a:p>
        </p:txBody>
      </p:sp>
      <p:sp>
        <p:nvSpPr>
          <p:cNvPr id="1048588" name="object 3"/>
          <p:cNvSpPr txBox="1"/>
          <p:nvPr/>
        </p:nvSpPr>
        <p:spPr>
          <a:xfrm>
            <a:off x="8974932" y="5677129"/>
            <a:ext cx="110014" cy="225901"/>
          </a:xfrm>
          <a:prstGeom prst="rect">
            <a:avLst/>
          </a:prstGeom>
        </p:spPr>
        <p:txBody>
          <a:bodyPr vert="horz" wrap="square" lIns="0" tIns="10001" rIns="0" bIns="0" rtlCol="0">
            <a:spAutoFit/>
          </a:bodyPr>
          <a:lstStyle/>
          <a:p>
            <a:pPr marL="9525">
              <a:spcBef>
                <a:spcPts val="80"/>
              </a:spcBef>
            </a:pPr>
            <a:r>
              <a:rPr sz="1200" b="1" spc="4">
                <a:solidFill>
                  <a:srgbClr val="FFFFFF"/>
                </a:solidFill>
                <a:latin typeface="Caladea"/>
                <a:cs typeface="Caladea"/>
              </a:rPr>
              <a:t>1</a:t>
            </a:r>
            <a:endParaRPr sz="1200">
              <a:latin typeface="Caladea"/>
              <a:cs typeface="Caladea"/>
            </a:endParaRPr>
          </a:p>
        </p:txBody>
      </p:sp>
      <p:sp>
        <p:nvSpPr>
          <p:cNvPr id="1048589" name="object 4"/>
          <p:cNvSpPr txBox="1"/>
          <p:nvPr/>
        </p:nvSpPr>
        <p:spPr>
          <a:xfrm>
            <a:off x="1238250" y="2971800"/>
            <a:ext cx="6515100" cy="1546417"/>
          </a:xfrm>
          <a:prstGeom prst="rect">
            <a:avLst/>
          </a:prstGeom>
        </p:spPr>
        <p:txBody>
          <a:bodyPr vert="horz" wrap="square" lIns="0" tIns="10001" rIns="0" bIns="0" rtlCol="0">
            <a:spAutoFit/>
          </a:bodyPr>
          <a:lstStyle/>
          <a:p>
            <a:pPr marL="9525" algn="ctr">
              <a:spcBef>
                <a:spcPts val="80"/>
              </a:spcBef>
            </a:pPr>
            <a:endParaRPr lang="en-US" sz="4950" b="1" spc="-4">
              <a:solidFill>
                <a:srgbClr val="EC7C30"/>
              </a:solidFill>
              <a:latin typeface="Times New Roman" panose="02020603050405020304" pitchFamily="18" charset="0"/>
              <a:cs typeface="Times New Roman" panose="02020603050405020304" pitchFamily="18" charset="0"/>
            </a:endParaRPr>
          </a:p>
          <a:p>
            <a:pPr marL="9525" algn="ctr">
              <a:spcBef>
                <a:spcPts val="80"/>
              </a:spcBef>
            </a:pPr>
            <a:endParaRPr lang="en-US" sz="4950" b="1" spc="-4">
              <a:solidFill>
                <a:srgbClr val="EC7C30"/>
              </a:solidFill>
              <a:latin typeface="Times New Roman" panose="02020603050405020304" pitchFamily="18" charset="0"/>
              <a:cs typeface="Times New Roman" panose="02020603050405020304" pitchFamily="18" charset="0"/>
            </a:endParaRPr>
          </a:p>
        </p:txBody>
      </p:sp>
      <p:sp>
        <p:nvSpPr>
          <p:cNvPr id="1048590" name="TextBox 7"/>
          <p:cNvSpPr txBox="1"/>
          <p:nvPr/>
        </p:nvSpPr>
        <p:spPr>
          <a:xfrm>
            <a:off x="914400" y="762000"/>
            <a:ext cx="7315200" cy="1077218"/>
          </a:xfrm>
          <a:prstGeom prst="rect">
            <a:avLst/>
          </a:prstGeom>
          <a:noFill/>
          <a:ln>
            <a:solidFill>
              <a:schemeClr val="bg2">
                <a:lumMod val="90000"/>
              </a:schemeClr>
            </a:solidFill>
          </a:ln>
        </p:spPr>
        <p:txBody>
          <a:bodyPr wrap="square">
            <a:spAutoFit/>
          </a:bodyPr>
          <a:lstStyle/>
          <a:p>
            <a:pPr algn="ctr"/>
            <a:r>
              <a:rPr lang="en-US" sz="3200" b="1" spc="-8">
                <a:solidFill>
                  <a:srgbClr val="FF0000"/>
                </a:solidFill>
              </a:rPr>
              <a:t>DATA COMMUNICATION AND COMPUTER NETWORKS</a:t>
            </a:r>
          </a:p>
        </p:txBody>
      </p:sp>
      <p:graphicFrame>
        <p:nvGraphicFramePr>
          <p:cNvPr id="4" name="Table 3">
            <a:extLst>
              <a:ext uri="{FF2B5EF4-FFF2-40B4-BE49-F238E27FC236}">
                <a16:creationId xmlns:a16="http://schemas.microsoft.com/office/drawing/2014/main" id="{4DFBDB0F-2540-46BD-E445-B7869D450643}"/>
              </a:ext>
            </a:extLst>
          </p:cNvPr>
          <p:cNvGraphicFramePr>
            <a:graphicFrameLocks noGrp="1"/>
          </p:cNvGraphicFramePr>
          <p:nvPr>
            <p:extLst>
              <p:ext uri="{D42A27DB-BD31-4B8C-83A1-F6EECF244321}">
                <p14:modId xmlns:p14="http://schemas.microsoft.com/office/powerpoint/2010/main" val="1064308498"/>
              </p:ext>
            </p:extLst>
          </p:nvPr>
        </p:nvGraphicFramePr>
        <p:xfrm>
          <a:off x="1524000" y="1981200"/>
          <a:ext cx="7086600" cy="2667000"/>
        </p:xfrm>
        <a:graphic>
          <a:graphicData uri="http://schemas.openxmlformats.org/drawingml/2006/table">
            <a:tbl>
              <a:tblPr>
                <a:tableStyleId>{5C22544A-7EE6-4342-B048-85BDC9FD1C3A}</a:tableStyleId>
              </a:tblPr>
              <a:tblGrid>
                <a:gridCol w="7086600">
                  <a:extLst>
                    <a:ext uri="{9D8B030D-6E8A-4147-A177-3AD203B41FA5}">
                      <a16:colId xmlns:a16="http://schemas.microsoft.com/office/drawing/2014/main" val="1577738178"/>
                    </a:ext>
                  </a:extLst>
                </a:gridCol>
              </a:tblGrid>
              <a:tr h="2667000">
                <a:tc>
                  <a:txBody>
                    <a:bodyPr/>
                    <a:lstStyle/>
                    <a:p>
                      <a:pPr marL="45720" indent="-12700" algn="l">
                        <a:lnSpc>
                          <a:spcPct val="107000"/>
                        </a:lnSpc>
                        <a:spcAft>
                          <a:spcPts val="800"/>
                        </a:spcAft>
                        <a:buNone/>
                      </a:pPr>
                      <a:endParaRPr lang="en-IN" sz="2000" kern="100">
                        <a:effectLst/>
                        <a:latin typeface="Times New Roman" panose="02020603050405020304" pitchFamily="18" charset="0"/>
                        <a:cs typeface="Times New Roman" panose="02020603050405020304" pitchFamily="18" charset="0"/>
                      </a:endParaRPr>
                    </a:p>
                    <a:p>
                      <a:pPr marL="45720" indent="-12700" algn="l">
                        <a:lnSpc>
                          <a:spcPct val="107000"/>
                        </a:lnSpc>
                        <a:spcAft>
                          <a:spcPts val="800"/>
                        </a:spcAft>
                        <a:buNone/>
                      </a:pPr>
                      <a:endParaRPr lang="en-IN" sz="2000" kern="100">
                        <a:effectLst/>
                        <a:latin typeface="Times New Roman" panose="02020603050405020304" pitchFamily="18" charset="0"/>
                        <a:cs typeface="Times New Roman" panose="02020603050405020304" pitchFamily="18" charset="0"/>
                      </a:endParaRPr>
                    </a:p>
                    <a:p>
                      <a:pPr marL="45720" indent="-12700" algn="l">
                        <a:lnSpc>
                          <a:spcPct val="107000"/>
                        </a:lnSpc>
                        <a:spcAft>
                          <a:spcPts val="800"/>
                        </a:spcAft>
                        <a:buNone/>
                      </a:pPr>
                      <a:r>
                        <a:rPr lang="en-IN" sz="2000" kern="100">
                          <a:solidFill>
                            <a:schemeClr val="accent2">
                              <a:lumMod val="75000"/>
                            </a:schemeClr>
                          </a:solidFill>
                          <a:effectLst/>
                          <a:latin typeface="Times New Roman" panose="02020603050405020304" pitchFamily="18" charset="0"/>
                          <a:cs typeface="Times New Roman" panose="02020603050405020304" pitchFamily="18" charset="0"/>
                        </a:rPr>
                        <a:t>T1. Behrouz A. Forouzan</a:t>
                      </a:r>
                      <a:r>
                        <a:rPr lang="en-IN" sz="2000" kern="100">
                          <a:effectLst/>
                          <a:latin typeface="Times New Roman" panose="02020603050405020304" pitchFamily="18" charset="0"/>
                          <a:cs typeface="Times New Roman" panose="02020603050405020304" pitchFamily="18" charset="0"/>
                        </a:rPr>
                        <a:t>, “Data Communications and Networking with TCP/IP Protocol Suite”, </a:t>
                      </a:r>
                      <a:r>
                        <a:rPr lang="en-IN" sz="2000" kern="100">
                          <a:solidFill>
                            <a:schemeClr val="accent2">
                              <a:lumMod val="75000"/>
                            </a:schemeClr>
                          </a:solidFill>
                          <a:effectLst/>
                          <a:latin typeface="Times New Roman" panose="02020603050405020304" pitchFamily="18" charset="0"/>
                          <a:cs typeface="Times New Roman" panose="02020603050405020304" pitchFamily="18" charset="0"/>
                        </a:rPr>
                        <a:t>6</a:t>
                      </a:r>
                      <a:r>
                        <a:rPr lang="en-IN" sz="2000" kern="100" baseline="30000">
                          <a:solidFill>
                            <a:schemeClr val="accent2">
                              <a:lumMod val="75000"/>
                            </a:schemeClr>
                          </a:solidFill>
                          <a:effectLst/>
                          <a:latin typeface="Times New Roman" panose="02020603050405020304" pitchFamily="18" charset="0"/>
                          <a:cs typeface="Times New Roman" panose="02020603050405020304" pitchFamily="18" charset="0"/>
                        </a:rPr>
                        <a:t>th</a:t>
                      </a:r>
                      <a:r>
                        <a:rPr lang="en-IN" sz="2000" kern="100">
                          <a:solidFill>
                            <a:schemeClr val="accent2">
                              <a:lumMod val="75000"/>
                            </a:schemeClr>
                          </a:solidFill>
                          <a:effectLst/>
                          <a:latin typeface="Times New Roman" panose="02020603050405020304" pitchFamily="18" charset="0"/>
                          <a:cs typeface="Times New Roman" panose="02020603050405020304" pitchFamily="18" charset="0"/>
                        </a:rPr>
                        <a:t> Edition</a:t>
                      </a:r>
                      <a:r>
                        <a:rPr lang="en-IN" sz="2000" kern="100">
                          <a:effectLst/>
                          <a:latin typeface="Times New Roman" panose="02020603050405020304" pitchFamily="18" charset="0"/>
                          <a:cs typeface="Times New Roman" panose="02020603050405020304" pitchFamily="18" charset="0"/>
                        </a:rPr>
                        <a:t>, Tata McGraw-Hill, 2021</a:t>
                      </a:r>
                      <a:endParaRPr lang="en-IN" sz="20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100336" marR="100336" marT="0" marB="0"/>
                </a:tc>
                <a:extLst>
                  <a:ext uri="{0D108BD9-81ED-4DB2-BD59-A6C34878D82A}">
                    <a16:rowId xmlns:a16="http://schemas.microsoft.com/office/drawing/2014/main" val="282521297"/>
                  </a:ext>
                </a:extLst>
              </a:tr>
            </a:tbl>
          </a:graphicData>
        </a:graphic>
      </p:graphicFrame>
    </p:spTree>
  </p:cSld>
  <p:clrMapOvr>
    <a:overrideClrMapping bg1="lt1" tx1="dk1" bg2="lt2" tx2="dk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B30D318-1D00-CF92-E175-98BCFA347B7D}"/>
            </a:ext>
          </a:extLst>
        </p:cNvPr>
        <p:cNvGrpSpPr/>
        <p:nvPr/>
      </p:nvGrpSpPr>
      <p:grpSpPr>
        <a:xfrm>
          <a:off x="0" y="0"/>
          <a:ext cx="0" cy="0"/>
          <a:chOff x="0" y="0"/>
          <a:chExt cx="0" cy="0"/>
        </a:xfrm>
      </p:grpSpPr>
      <p:sp>
        <p:nvSpPr>
          <p:cNvPr id="1048587" name="object 2">
            <a:extLst>
              <a:ext uri="{FF2B5EF4-FFF2-40B4-BE49-F238E27FC236}">
                <a16:creationId xmlns:a16="http://schemas.microsoft.com/office/drawing/2014/main" id="{7E3D3813-372F-CB79-6698-3FF90D6838F6}"/>
              </a:ext>
            </a:extLst>
          </p:cNvPr>
          <p:cNvSpPr txBox="1">
            <a:spLocks noGrp="1"/>
          </p:cNvSpPr>
          <p:nvPr>
            <p:ph type="ctrTitle"/>
          </p:nvPr>
        </p:nvSpPr>
        <p:spPr>
          <a:xfrm>
            <a:off x="1371600" y="2057401"/>
            <a:ext cx="5943600" cy="784224"/>
          </a:xfrm>
          <a:prstGeom prst="rect">
            <a:avLst/>
          </a:prstGeom>
        </p:spPr>
        <p:txBody>
          <a:bodyPr vert="horz" wrap="square" lIns="0" tIns="9525" rIns="0" bIns="0" rtlCol="0">
            <a:spAutoFit/>
          </a:bodyPr>
          <a:lstStyle/>
          <a:p>
            <a:pPr marL="11430" algn="ctr">
              <a:spcBef>
                <a:spcPts val="75"/>
              </a:spcBef>
            </a:pPr>
            <a:r>
              <a:rPr spc="-8"/>
              <a:t>Module</a:t>
            </a:r>
            <a:r>
              <a:rPr lang="en-GB" spc="-56"/>
              <a:t>-1.1</a:t>
            </a:r>
            <a:endParaRPr spc="-4"/>
          </a:p>
        </p:txBody>
      </p:sp>
      <p:sp>
        <p:nvSpPr>
          <p:cNvPr id="1048588" name="object 3">
            <a:extLst>
              <a:ext uri="{FF2B5EF4-FFF2-40B4-BE49-F238E27FC236}">
                <a16:creationId xmlns:a16="http://schemas.microsoft.com/office/drawing/2014/main" id="{F8C68EBE-2C18-8CE9-5CA1-C8013EB4754C}"/>
              </a:ext>
            </a:extLst>
          </p:cNvPr>
          <p:cNvSpPr txBox="1"/>
          <p:nvPr/>
        </p:nvSpPr>
        <p:spPr>
          <a:xfrm>
            <a:off x="8974932" y="5677129"/>
            <a:ext cx="110014" cy="225901"/>
          </a:xfrm>
          <a:prstGeom prst="rect">
            <a:avLst/>
          </a:prstGeom>
        </p:spPr>
        <p:txBody>
          <a:bodyPr vert="horz" wrap="square" lIns="0" tIns="10001" rIns="0" bIns="0" rtlCol="0">
            <a:spAutoFit/>
          </a:bodyPr>
          <a:lstStyle/>
          <a:p>
            <a:pPr marL="9525">
              <a:spcBef>
                <a:spcPts val="80"/>
              </a:spcBef>
            </a:pPr>
            <a:r>
              <a:rPr sz="1200" b="1" spc="4">
                <a:solidFill>
                  <a:srgbClr val="FFFFFF"/>
                </a:solidFill>
                <a:latin typeface="Caladea"/>
                <a:cs typeface="Caladea"/>
              </a:rPr>
              <a:t>1</a:t>
            </a:r>
            <a:endParaRPr sz="1200">
              <a:latin typeface="Caladea"/>
              <a:cs typeface="Caladea"/>
            </a:endParaRPr>
          </a:p>
        </p:txBody>
      </p:sp>
      <p:sp>
        <p:nvSpPr>
          <p:cNvPr id="1048589" name="object 4">
            <a:extLst>
              <a:ext uri="{FF2B5EF4-FFF2-40B4-BE49-F238E27FC236}">
                <a16:creationId xmlns:a16="http://schemas.microsoft.com/office/drawing/2014/main" id="{7759D423-03B7-E351-E163-22FBC8F723FA}"/>
              </a:ext>
            </a:extLst>
          </p:cNvPr>
          <p:cNvSpPr txBox="1"/>
          <p:nvPr/>
        </p:nvSpPr>
        <p:spPr>
          <a:xfrm>
            <a:off x="838200" y="2971800"/>
            <a:ext cx="7315200" cy="3082735"/>
          </a:xfrm>
          <a:prstGeom prst="rect">
            <a:avLst/>
          </a:prstGeom>
        </p:spPr>
        <p:txBody>
          <a:bodyPr vert="horz" wrap="square" lIns="0" tIns="10001" rIns="0" bIns="0" rtlCol="0">
            <a:spAutoFit/>
          </a:bodyPr>
          <a:lstStyle/>
          <a:p>
            <a:pPr marL="9525" algn="ctr">
              <a:spcBef>
                <a:spcPts val="80"/>
              </a:spcBef>
            </a:pPr>
            <a:r>
              <a:rPr lang="en-US" sz="4950" b="1" spc="-4">
                <a:solidFill>
                  <a:srgbClr val="EC7C30"/>
                </a:solidFill>
                <a:latin typeface="Times New Roman" panose="02020603050405020304" pitchFamily="18" charset="0"/>
                <a:cs typeface="Times New Roman" panose="02020603050405020304" pitchFamily="18" charset="0"/>
              </a:rPr>
              <a:t>Data Communication and Network Model </a:t>
            </a:r>
          </a:p>
          <a:p>
            <a:pPr marL="9525" algn="ctr">
              <a:spcBef>
                <a:spcPts val="80"/>
              </a:spcBef>
            </a:pPr>
            <a:endParaRPr lang="en-US" sz="4950" b="1" spc="-4">
              <a:solidFill>
                <a:srgbClr val="EC7C30"/>
              </a:solidFill>
              <a:latin typeface="Times New Roman" panose="02020603050405020304" pitchFamily="18" charset="0"/>
              <a:cs typeface="Times New Roman" panose="02020603050405020304" pitchFamily="18" charset="0"/>
            </a:endParaRPr>
          </a:p>
          <a:p>
            <a:pPr marL="9525" algn="ctr">
              <a:spcBef>
                <a:spcPts val="80"/>
              </a:spcBef>
            </a:pPr>
            <a:endParaRPr lang="en-US" sz="4950" b="1" spc="-4">
              <a:solidFill>
                <a:srgbClr val="EC7C30"/>
              </a:solidFill>
              <a:latin typeface="Times New Roman" panose="02020603050405020304" pitchFamily="18" charset="0"/>
              <a:cs typeface="Times New Roman" panose="02020603050405020304" pitchFamily="18" charset="0"/>
            </a:endParaRPr>
          </a:p>
        </p:txBody>
      </p:sp>
      <p:sp>
        <p:nvSpPr>
          <p:cNvPr id="1048590" name="TextBox 7">
            <a:extLst>
              <a:ext uri="{FF2B5EF4-FFF2-40B4-BE49-F238E27FC236}">
                <a16:creationId xmlns:a16="http://schemas.microsoft.com/office/drawing/2014/main" id="{84ECCA9B-5F3B-FB0D-3FAF-8CDD202C66A8}"/>
              </a:ext>
            </a:extLst>
          </p:cNvPr>
          <p:cNvSpPr txBox="1"/>
          <p:nvPr/>
        </p:nvSpPr>
        <p:spPr>
          <a:xfrm>
            <a:off x="838200" y="457200"/>
            <a:ext cx="7315200" cy="1569660"/>
          </a:xfrm>
          <a:prstGeom prst="rect">
            <a:avLst/>
          </a:prstGeom>
          <a:noFill/>
          <a:ln>
            <a:solidFill>
              <a:schemeClr val="bg2">
                <a:lumMod val="90000"/>
              </a:schemeClr>
            </a:solidFill>
          </a:ln>
        </p:spPr>
        <p:txBody>
          <a:bodyPr wrap="square">
            <a:spAutoFit/>
          </a:bodyPr>
          <a:lstStyle/>
          <a:p>
            <a:pPr algn="ctr"/>
            <a:r>
              <a:rPr lang="en-US" sz="3200" b="1" spc="-8"/>
              <a:t>  DATA COMMUNICATION AND COMPUTER NETWORKS</a:t>
            </a:r>
          </a:p>
          <a:p>
            <a:pPr algn="ctr"/>
            <a:r>
              <a:rPr lang="en-US" sz="3200" b="1" spc="-8"/>
              <a:t>CSE 2251</a:t>
            </a:r>
            <a:endParaRPr lang="en-US" sz="3200" b="1"/>
          </a:p>
        </p:txBody>
      </p:sp>
    </p:spTree>
    <p:extLst>
      <p:ext uri="{BB962C8B-B14F-4D97-AF65-F5344CB8AC3E}">
        <p14:creationId xmlns:p14="http://schemas.microsoft.com/office/powerpoint/2010/main" val="1488278357"/>
      </p:ext>
    </p:extLst>
  </p:cSld>
  <p:clrMapOvr>
    <a:overrideClrMapping bg1="lt1" tx1="dk1" bg2="lt2" tx2="dk2" accent1="accent1" accent2="accent2" accent3="accent3" accent4="accent4" accent5="accent5" accent6="accent6" hlink="hlink" folHlink="folHlink"/>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48596" name="Title 1"/>
          <p:cNvSpPr>
            <a:spLocks noGrp="1"/>
          </p:cNvSpPr>
          <p:nvPr>
            <p:ph type="title"/>
          </p:nvPr>
        </p:nvSpPr>
        <p:spPr>
          <a:xfrm>
            <a:off x="685800" y="381000"/>
            <a:ext cx="4378958" cy="939799"/>
          </a:xfrm>
        </p:spPr>
        <p:txBody>
          <a:bodyPr/>
          <a:lstStyle/>
          <a:p>
            <a:r>
              <a:rPr lang="en-US" b="1">
                <a:effectLst>
                  <a:outerShdw blurRad="38100" dist="38100" dir="2700000" algn="tl">
                    <a:srgbClr val="C0C0C0"/>
                  </a:outerShdw>
                </a:effectLst>
                <a:latin typeface="Times" panose="02020603050405020304" pitchFamily="18" charset="0"/>
              </a:rPr>
              <a:t>DATA COMMUNICATION</a:t>
            </a:r>
            <a:br>
              <a:rPr lang="en-US">
                <a:effectLst>
                  <a:outerShdw blurRad="38100" dist="38100" dir="2700000" algn="tl">
                    <a:srgbClr val="C0C0C0"/>
                  </a:outerShdw>
                </a:effectLst>
                <a:latin typeface="Times" panose="02020603050405020304" pitchFamily="18" charset="0"/>
              </a:rPr>
            </a:br>
            <a:endParaRPr lang="en-US"/>
          </a:p>
        </p:txBody>
      </p:sp>
      <p:sp>
        <p:nvSpPr>
          <p:cNvPr id="1048597" name="Text Placeholder 2"/>
          <p:cNvSpPr>
            <a:spLocks noGrp="1"/>
          </p:cNvSpPr>
          <p:nvPr>
            <p:ph type="body" idx="1"/>
          </p:nvPr>
        </p:nvSpPr>
        <p:spPr>
          <a:xfrm>
            <a:off x="599515" y="1211997"/>
            <a:ext cx="8153400" cy="5219700"/>
          </a:xfrm>
        </p:spPr>
        <p:txBody>
          <a:bodyPr/>
          <a:lstStyle/>
          <a:p>
            <a:pPr marL="342900" indent="-342900" algn="just">
              <a:buFont typeface="Arial" panose="020B0604020202020204" pitchFamily="34" charset="0"/>
              <a:buChar char="•"/>
            </a:pPr>
            <a:r>
              <a:rPr lang="en-US" sz="2000" b="1">
                <a:latin typeface="Times New Roman" panose="02020603050405020304" pitchFamily="18" charset="0"/>
                <a:cs typeface="Times New Roman" panose="02020603050405020304" pitchFamily="18" charset="0"/>
              </a:rPr>
              <a:t>Data communications and networking are changing today's world. Why wait for a week for some report from UK to arrive by post where you can receive </a:t>
            </a:r>
            <a:r>
              <a:rPr lang="en-US" sz="2000" b="1">
                <a:solidFill>
                  <a:srgbClr val="FF0000"/>
                </a:solidFill>
                <a:latin typeface="Times New Roman" panose="02020603050405020304" pitchFamily="18" charset="0"/>
                <a:cs typeface="Times New Roman" panose="02020603050405020304" pitchFamily="18" charset="0"/>
              </a:rPr>
              <a:t>instantaneously</a:t>
            </a:r>
            <a:r>
              <a:rPr lang="en-US" sz="2000" b="1">
                <a:latin typeface="Times New Roman" panose="02020603050405020304" pitchFamily="18" charset="0"/>
                <a:cs typeface="Times New Roman" panose="02020603050405020304" pitchFamily="18" charset="0"/>
              </a:rPr>
              <a:t> through computer networks?</a:t>
            </a:r>
          </a:p>
          <a:p>
            <a:pPr marL="342900" indent="-342900" algn="just">
              <a:buFont typeface="Arial" panose="020B0604020202020204" pitchFamily="34" charset="0"/>
              <a:buChar char="•"/>
            </a:pPr>
            <a:endParaRPr lang="en-US" sz="2000" b="1">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US" sz="2000" b="1">
                <a:effectLst>
                  <a:outerShdw blurRad="38100" dist="38100" dir="2700000" algn="tl">
                    <a:srgbClr val="C0C0C0"/>
                  </a:outerShdw>
                </a:effectLst>
                <a:latin typeface="Times New Roman" panose="02020603050405020304" pitchFamily="18" charset="0"/>
              </a:rPr>
              <a:t>The term </a:t>
            </a:r>
            <a:r>
              <a:rPr lang="en-US" sz="2000" b="1">
                <a:solidFill>
                  <a:schemeClr val="hlink"/>
                </a:solidFill>
                <a:effectLst>
                  <a:outerShdw blurRad="38100" dist="38100" dir="2700000" algn="tl">
                    <a:srgbClr val="C0C0C0"/>
                  </a:outerShdw>
                </a:effectLst>
                <a:latin typeface="Times New Roman" panose="02020603050405020304" pitchFamily="18" charset="0"/>
              </a:rPr>
              <a:t>telecommunication</a:t>
            </a:r>
            <a:r>
              <a:rPr lang="en-US" sz="2000" b="1">
                <a:effectLst>
                  <a:outerShdw blurRad="38100" dist="38100" dir="2700000" algn="tl">
                    <a:srgbClr val="C0C0C0"/>
                  </a:outerShdw>
                </a:effectLst>
                <a:latin typeface="Times New Roman" panose="02020603050405020304" pitchFamily="18" charset="0"/>
              </a:rPr>
              <a:t> means communication at a distance. </a:t>
            </a:r>
          </a:p>
          <a:p>
            <a:pPr marL="342900" indent="-342900" algn="just">
              <a:buFont typeface="Arial" panose="020B0604020202020204" pitchFamily="34" charset="0"/>
              <a:buChar char="•"/>
            </a:pPr>
            <a:endParaRPr lang="en-US" sz="2000" b="1">
              <a:effectLst>
                <a:outerShdw blurRad="38100" dist="38100" dir="2700000" algn="tl">
                  <a:srgbClr val="C0C0C0"/>
                </a:outerShdw>
              </a:effectLst>
              <a:latin typeface="Times New Roman" panose="02020603050405020304" pitchFamily="18" charset="0"/>
            </a:endParaRPr>
          </a:p>
          <a:p>
            <a:pPr marL="342900" indent="-342900" algn="just">
              <a:buFont typeface="Arial" panose="020B0604020202020204" pitchFamily="34" charset="0"/>
              <a:buChar char="•"/>
            </a:pPr>
            <a:r>
              <a:rPr lang="en-US" sz="2000" b="1">
                <a:effectLst>
                  <a:outerShdw blurRad="38100" dist="38100" dir="2700000" algn="tl">
                    <a:srgbClr val="C0C0C0"/>
                  </a:outerShdw>
                </a:effectLst>
                <a:latin typeface="Times New Roman" panose="02020603050405020304" pitchFamily="18" charset="0"/>
              </a:rPr>
              <a:t>The word </a:t>
            </a:r>
            <a:r>
              <a:rPr lang="en-US" sz="2000" b="1">
                <a:solidFill>
                  <a:schemeClr val="hlink"/>
                </a:solidFill>
                <a:effectLst>
                  <a:outerShdw blurRad="38100" dist="38100" dir="2700000" algn="tl">
                    <a:srgbClr val="C0C0C0"/>
                  </a:outerShdw>
                </a:effectLst>
                <a:latin typeface="Times New Roman" panose="02020603050405020304" pitchFamily="18" charset="0"/>
              </a:rPr>
              <a:t>data</a:t>
            </a:r>
            <a:r>
              <a:rPr lang="en-US" sz="2000" b="1">
                <a:effectLst>
                  <a:outerShdw blurRad="38100" dist="38100" dir="2700000" algn="tl">
                    <a:srgbClr val="C0C0C0"/>
                  </a:outerShdw>
                </a:effectLst>
                <a:latin typeface="Times New Roman" panose="02020603050405020304" pitchFamily="18" charset="0"/>
              </a:rPr>
              <a:t> refers to information presented in whatever form is agreed upon by the parties creating and using the data. </a:t>
            </a:r>
          </a:p>
          <a:p>
            <a:pPr marL="342900" indent="-342900" algn="just">
              <a:buFont typeface="Arial" panose="020B0604020202020204" pitchFamily="34" charset="0"/>
              <a:buChar char="•"/>
            </a:pPr>
            <a:endParaRPr lang="en-US" sz="2000" b="1">
              <a:solidFill>
                <a:schemeClr val="hlink"/>
              </a:solidFill>
              <a:effectLst>
                <a:outerShdw blurRad="38100" dist="38100" dir="2700000" algn="tl">
                  <a:srgbClr val="C0C0C0"/>
                </a:outerShdw>
              </a:effectLst>
              <a:latin typeface="Times New Roman" panose="02020603050405020304" pitchFamily="18" charset="0"/>
            </a:endParaRPr>
          </a:p>
          <a:p>
            <a:pPr marL="342900" indent="-342900" algn="just">
              <a:buFont typeface="Arial" panose="020B0604020202020204" pitchFamily="34" charset="0"/>
              <a:buChar char="•"/>
            </a:pPr>
            <a:r>
              <a:rPr lang="en-US" sz="2800" b="1">
                <a:solidFill>
                  <a:schemeClr val="hlink"/>
                </a:solidFill>
                <a:effectLst>
                  <a:outerShdw blurRad="38100" dist="38100" dir="2700000" algn="tl">
                    <a:srgbClr val="C0C0C0"/>
                  </a:outerShdw>
                </a:effectLst>
                <a:latin typeface="Times New Roman" panose="02020603050405020304" pitchFamily="18" charset="0"/>
              </a:rPr>
              <a:t>Data communications</a:t>
            </a:r>
            <a:r>
              <a:rPr lang="en-US" sz="2800" b="1">
                <a:effectLst>
                  <a:outerShdw blurRad="38100" dist="38100" dir="2700000" algn="tl">
                    <a:srgbClr val="C0C0C0"/>
                  </a:outerShdw>
                </a:effectLst>
                <a:latin typeface="Times New Roman" panose="02020603050405020304" pitchFamily="18" charset="0"/>
              </a:rPr>
              <a:t> are the exchange of data between two devices via some form of transmission medium such as a wire cable.</a:t>
            </a:r>
          </a:p>
          <a:p>
            <a:endParaRPr lang="en-US"/>
          </a:p>
        </p:txBody>
      </p:sp>
    </p:spTree>
  </p:cSld>
  <p:clrMapOvr>
    <a:overrideClrMapping bg1="lt1" tx1="dk1" bg2="lt2" tx2="dk2" accent1="accent1" accent2="accent2" accent3="accent3" accent4="accent4" accent5="accent5" accent6="accent6" hlink="hlink" folHlink="folHlink"/>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48598" name="Title 1"/>
          <p:cNvSpPr>
            <a:spLocks noGrp="1"/>
          </p:cNvSpPr>
          <p:nvPr>
            <p:ph type="title"/>
          </p:nvPr>
        </p:nvSpPr>
        <p:spPr>
          <a:xfrm>
            <a:off x="838200" y="680929"/>
            <a:ext cx="5791200" cy="939799"/>
          </a:xfrm>
        </p:spPr>
        <p:txBody>
          <a:bodyPr/>
          <a:lstStyle/>
          <a:p>
            <a:r>
              <a:rPr lang="en-US" b="1">
                <a:solidFill>
                  <a:srgbClr val="002060"/>
                </a:solidFill>
                <a:latin typeface="Times New Roman" panose="02020603050405020304" pitchFamily="18" charset="0"/>
                <a:cs typeface="Times New Roman" panose="02020603050405020304" pitchFamily="18" charset="0"/>
              </a:rPr>
              <a:t>CHARACTERISTICS OF DC  </a:t>
            </a:r>
            <a:br>
              <a:rPr lang="en-IN">
                <a:latin typeface="Arial" panose="020B0604020202020204" pitchFamily="34" charset="0"/>
              </a:rPr>
            </a:br>
            <a:endParaRPr lang="en-US"/>
          </a:p>
        </p:txBody>
      </p:sp>
      <p:sp>
        <p:nvSpPr>
          <p:cNvPr id="1048599" name="Content Placeholder 2"/>
          <p:cNvSpPr>
            <a:spLocks noGrp="1"/>
          </p:cNvSpPr>
          <p:nvPr>
            <p:ph type="body" idx="1"/>
          </p:nvPr>
        </p:nvSpPr>
        <p:spPr>
          <a:xfrm>
            <a:off x="611591" y="1437438"/>
            <a:ext cx="7886700" cy="2286000"/>
          </a:xfrm>
        </p:spPr>
        <p:txBody>
          <a:bodyPr/>
          <a:lstStyle/>
          <a:p>
            <a:r>
              <a:rPr lang="en-US" sz="2000">
                <a:latin typeface="Times New Roman" panose="02020603050405020304" pitchFamily="18" charset="0"/>
                <a:cs typeface="Times New Roman" panose="02020603050405020304" pitchFamily="18" charset="0"/>
              </a:rPr>
              <a:t>  </a:t>
            </a:r>
            <a:r>
              <a:rPr lang="en-IN" sz="2000" b="1" i="1">
                <a:solidFill>
                  <a:srgbClr val="002060"/>
                </a:solidFill>
                <a:latin typeface="Times New Roman" panose="02020603050405020304" pitchFamily="18" charset="0"/>
                <a:cs typeface="Times New Roman" panose="02020603050405020304" pitchFamily="18" charset="0"/>
              </a:rPr>
              <a:t>The four fundamental characteristics of data communications are:-</a:t>
            </a:r>
          </a:p>
          <a:p>
            <a:endParaRPr lang="en-IN" b="1">
              <a:solidFill>
                <a:srgbClr val="002060"/>
              </a:solidFill>
              <a:latin typeface="Times New Roman" panose="02020603050405020304" pitchFamily="18" charset="0"/>
              <a:cs typeface="Times New Roman" panose="02020603050405020304" pitchFamily="18" charset="0"/>
            </a:endParaRPr>
          </a:p>
          <a:p>
            <a:r>
              <a:rPr lang="en-IN" sz="1800" b="1">
                <a:solidFill>
                  <a:srgbClr val="FF0000"/>
                </a:solidFill>
                <a:latin typeface="Times New Roman" panose="02020603050405020304" pitchFamily="18" charset="0"/>
                <a:cs typeface="Times New Roman" panose="02020603050405020304" pitchFamily="18" charset="0"/>
              </a:rPr>
              <a:t>Delivery</a:t>
            </a:r>
            <a:r>
              <a:rPr lang="en-IN" sz="1800">
                <a:latin typeface="Times New Roman" panose="02020603050405020304" pitchFamily="18" charset="0"/>
                <a:cs typeface="Times New Roman" panose="02020603050405020304" pitchFamily="18" charset="0"/>
              </a:rPr>
              <a:t>: The system must deliver data to the correct destination. Data must be received by the intended device or user and </a:t>
            </a:r>
            <a:r>
              <a:rPr lang="en-IN" sz="1800" b="1" i="1">
                <a:solidFill>
                  <a:srgbClr val="0070C0"/>
                </a:solidFill>
                <a:latin typeface="Times New Roman" panose="02020603050405020304" pitchFamily="18" charset="0"/>
                <a:cs typeface="Times New Roman" panose="02020603050405020304" pitchFamily="18" charset="0"/>
              </a:rPr>
              <a:t>only</a:t>
            </a:r>
            <a:r>
              <a:rPr lang="en-IN" sz="1800">
                <a:latin typeface="Times New Roman" panose="02020603050405020304" pitchFamily="18" charset="0"/>
                <a:cs typeface="Times New Roman" panose="02020603050405020304" pitchFamily="18" charset="0"/>
              </a:rPr>
              <a:t> by that device or user.</a:t>
            </a:r>
          </a:p>
          <a:p>
            <a:endParaRPr lang="en-US">
              <a:latin typeface="Times New Roman" panose="02020603050405020304" pitchFamily="18" charset="0"/>
              <a:cs typeface="Times New Roman" panose="02020603050405020304" pitchFamily="18" charset="0"/>
            </a:endParaRPr>
          </a:p>
        </p:txBody>
      </p:sp>
      <p:pic>
        <p:nvPicPr>
          <p:cNvPr id="2097152" name="Picture 13"/>
          <p:cNvPicPr>
            <a:picLocks noChangeAspect="1" noChangeArrowheads="1"/>
          </p:cNvPicPr>
          <p:nvPr/>
        </p:nvPicPr>
        <p:blipFill>
          <a:blip r:embed="rId3"/>
          <a:srcRect/>
          <a:stretch>
            <a:fillRect/>
          </a:stretch>
        </p:blipFill>
        <p:spPr bwMode="auto">
          <a:xfrm>
            <a:off x="2538467" y="2618168"/>
            <a:ext cx="3643313" cy="1071563"/>
          </a:xfrm>
          <a:prstGeom prst="rect">
            <a:avLst/>
          </a:prstGeom>
          <a:noFill/>
          <a:ln>
            <a:noFill/>
          </a:ln>
        </p:spPr>
      </p:pic>
      <p:sp>
        <p:nvSpPr>
          <p:cNvPr id="1048600" name="Rectangle 7"/>
          <p:cNvSpPr/>
          <p:nvPr/>
        </p:nvSpPr>
        <p:spPr>
          <a:xfrm>
            <a:off x="628651" y="4002042"/>
            <a:ext cx="7991329" cy="701040"/>
          </a:xfrm>
          <a:prstGeom prst="rect">
            <a:avLst/>
          </a:prstGeom>
        </p:spPr>
        <p:txBody>
          <a:bodyPr wrap="square">
            <a:spAutoFit/>
          </a:bodyPr>
          <a:lstStyle/>
          <a:p>
            <a:pPr algn="just">
              <a:spcBef>
                <a:spcPct val="0"/>
              </a:spcBef>
            </a:pPr>
            <a:r>
              <a:rPr lang="en-IN" b="1">
                <a:solidFill>
                  <a:srgbClr val="FF0000"/>
                </a:solidFill>
                <a:latin typeface="Times New Roman" panose="02020603050405020304" pitchFamily="18" charset="0"/>
                <a:cs typeface="Times New Roman" panose="02020603050405020304" pitchFamily="18" charset="0"/>
              </a:rPr>
              <a:t>Accuracy</a:t>
            </a:r>
            <a:r>
              <a:rPr lang="en-IN">
                <a:latin typeface="Times New Roman" panose="02020603050405020304" pitchFamily="18" charset="0"/>
                <a:cs typeface="Times New Roman" panose="02020603050405020304" pitchFamily="18" charset="0"/>
              </a:rPr>
              <a:t>: The system must deliver the data accurately. Data that have been altered in transmission and left uncorrected are unusable.</a:t>
            </a:r>
          </a:p>
        </p:txBody>
      </p:sp>
      <p:pic>
        <p:nvPicPr>
          <p:cNvPr id="2097153" name="Picture 23"/>
          <p:cNvPicPr>
            <a:picLocks noChangeAspect="1" noChangeArrowheads="1"/>
          </p:cNvPicPr>
          <p:nvPr/>
        </p:nvPicPr>
        <p:blipFill>
          <a:blip r:embed="rId4"/>
          <a:srcRect/>
          <a:stretch>
            <a:fillRect/>
          </a:stretch>
        </p:blipFill>
        <p:spPr bwMode="auto">
          <a:xfrm>
            <a:off x="6124271" y="4343400"/>
            <a:ext cx="1928813" cy="1543050"/>
          </a:xfrm>
          <a:prstGeom prst="rect">
            <a:avLst/>
          </a:prstGeom>
          <a:noFill/>
          <a:ln>
            <a:noFill/>
          </a:ln>
        </p:spPr>
      </p:pic>
    </p:spTree>
  </p:cSld>
  <p:clrMapOvr>
    <a:overrideClrMapping bg1="lt1" tx1="dk1" bg2="lt2" tx2="dk2" accent1="accent1" accent2="accent2" accent3="accent3" accent4="accent4" accent5="accent5" accent6="accent6" hlink="hlink" folHlink="folHlink"/>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48601" name="Title 1"/>
          <p:cNvSpPr>
            <a:spLocks noGrp="1"/>
          </p:cNvSpPr>
          <p:nvPr>
            <p:ph type="title"/>
          </p:nvPr>
        </p:nvSpPr>
        <p:spPr>
          <a:xfrm>
            <a:off x="630925" y="678310"/>
            <a:ext cx="5769875" cy="939800"/>
          </a:xfrm>
        </p:spPr>
        <p:txBody>
          <a:bodyPr/>
          <a:lstStyle/>
          <a:p>
            <a:r>
              <a:rPr lang="en-US" b="1">
                <a:solidFill>
                  <a:srgbClr val="002060"/>
                </a:solidFill>
                <a:latin typeface="Times New Roman" panose="02020603050405020304" pitchFamily="18" charset="0"/>
                <a:cs typeface="Times New Roman" panose="02020603050405020304" pitchFamily="18" charset="0"/>
              </a:rPr>
              <a:t>CHARACTERISTICS OF DC</a:t>
            </a:r>
            <a:br>
              <a:rPr lang="en-IN">
                <a:latin typeface="Arial" panose="020B0604020202020204" pitchFamily="34" charset="0"/>
              </a:rPr>
            </a:br>
            <a:endParaRPr lang="en-US"/>
          </a:p>
        </p:txBody>
      </p:sp>
      <p:sp>
        <p:nvSpPr>
          <p:cNvPr id="1048602" name="Content Placeholder 2"/>
          <p:cNvSpPr>
            <a:spLocks noGrp="1"/>
          </p:cNvSpPr>
          <p:nvPr>
            <p:ph type="body" idx="1"/>
          </p:nvPr>
        </p:nvSpPr>
        <p:spPr>
          <a:xfrm>
            <a:off x="618415" y="1365672"/>
            <a:ext cx="7886700" cy="1142999"/>
          </a:xfrm>
        </p:spPr>
        <p:txBody>
          <a:bodyPr/>
          <a:lstStyle/>
          <a:p>
            <a:pPr algn="just"/>
            <a:r>
              <a:rPr lang="en-IN" sz="1800" b="1">
                <a:solidFill>
                  <a:srgbClr val="FF0000"/>
                </a:solidFill>
                <a:latin typeface="Times New Roman" panose="02020603050405020304" pitchFamily="18" charset="0"/>
                <a:cs typeface="Times New Roman" panose="02020603050405020304" pitchFamily="18" charset="0"/>
              </a:rPr>
              <a:t>Timeliness</a:t>
            </a:r>
            <a:r>
              <a:rPr lang="en-IN" sz="1800">
                <a:latin typeface="Times New Roman" panose="02020603050405020304" pitchFamily="18" charset="0"/>
                <a:cs typeface="Times New Roman" panose="02020603050405020304" pitchFamily="18" charset="0"/>
              </a:rPr>
              <a:t>: </a:t>
            </a:r>
            <a:r>
              <a:rPr lang="en-IN" sz="1650">
                <a:latin typeface="Times New Roman" panose="02020603050405020304" pitchFamily="18" charset="0"/>
                <a:cs typeface="Times New Roman" panose="02020603050405020304" pitchFamily="18" charset="0"/>
              </a:rPr>
              <a:t>The system must deliver data in a </a:t>
            </a:r>
            <a:r>
              <a:rPr lang="en-IN" sz="1650" b="1">
                <a:solidFill>
                  <a:srgbClr val="0070C0"/>
                </a:solidFill>
                <a:latin typeface="Times New Roman" panose="02020603050405020304" pitchFamily="18" charset="0"/>
                <a:cs typeface="Times New Roman" panose="02020603050405020304" pitchFamily="18" charset="0"/>
              </a:rPr>
              <a:t>timely </a:t>
            </a:r>
            <a:r>
              <a:rPr lang="en-IN" sz="1650" b="1" err="1">
                <a:solidFill>
                  <a:srgbClr val="0070C0"/>
                </a:solidFill>
                <a:latin typeface="Times New Roman" panose="02020603050405020304" pitchFamily="18" charset="0"/>
                <a:cs typeface="Times New Roman" panose="02020603050405020304" pitchFamily="18" charset="0"/>
              </a:rPr>
              <a:t>manner</a:t>
            </a:r>
            <a:r>
              <a:rPr lang="en-IN" sz="1650" err="1">
                <a:latin typeface="Times New Roman" panose="02020603050405020304" pitchFamily="18" charset="0"/>
                <a:cs typeface="Times New Roman" panose="02020603050405020304" pitchFamily="18" charset="0"/>
              </a:rPr>
              <a:t>.Data</a:t>
            </a:r>
            <a:r>
              <a:rPr lang="en-IN" sz="1650">
                <a:latin typeface="Times New Roman" panose="02020603050405020304" pitchFamily="18" charset="0"/>
                <a:cs typeface="Times New Roman" panose="02020603050405020304" pitchFamily="18" charset="0"/>
              </a:rPr>
              <a:t> delivered late are useless. In the case of video and audio, timely delivery means delivering data as they are produced, in the same order that they are produced, and without significant delay.</a:t>
            </a:r>
            <a:endParaRPr lang="en-US" sz="1650"/>
          </a:p>
        </p:txBody>
      </p:sp>
      <p:pic>
        <p:nvPicPr>
          <p:cNvPr id="2097154" name="Picture 2" descr="https://encrypted-tbn2.gstatic.com/images?q=tbn:ANd9GcSQk_kx-mHBudb0iMvv8jOpVTZMBxuHXerzh5VN4a6n9SZV2QcDeA"/>
          <p:cNvPicPr>
            <a:picLocks noChangeAspect="1" noChangeArrowheads="1"/>
          </p:cNvPicPr>
          <p:nvPr/>
        </p:nvPicPr>
        <p:blipFill>
          <a:blip r:embed="rId3"/>
          <a:srcRect/>
          <a:stretch>
            <a:fillRect/>
          </a:stretch>
        </p:blipFill>
        <p:spPr bwMode="auto">
          <a:xfrm>
            <a:off x="3527227" y="2502058"/>
            <a:ext cx="2089547" cy="964406"/>
          </a:xfrm>
          <a:prstGeom prst="rect">
            <a:avLst/>
          </a:prstGeom>
          <a:noFill/>
          <a:ln>
            <a:noFill/>
          </a:ln>
        </p:spPr>
      </p:pic>
      <p:sp>
        <p:nvSpPr>
          <p:cNvPr id="1048603" name="Rectangle 4"/>
          <p:cNvSpPr/>
          <p:nvPr/>
        </p:nvSpPr>
        <p:spPr>
          <a:xfrm>
            <a:off x="628651" y="3574540"/>
            <a:ext cx="8107387" cy="1209040"/>
          </a:xfrm>
          <a:prstGeom prst="rect">
            <a:avLst/>
          </a:prstGeom>
        </p:spPr>
        <p:txBody>
          <a:bodyPr wrap="square">
            <a:spAutoFit/>
          </a:bodyPr>
          <a:lstStyle/>
          <a:p>
            <a:pPr algn="just">
              <a:spcBef>
                <a:spcPct val="0"/>
              </a:spcBef>
            </a:pPr>
            <a:r>
              <a:rPr lang="en-IN" sz="1650" b="1">
                <a:solidFill>
                  <a:srgbClr val="FF0000"/>
                </a:solidFill>
                <a:latin typeface="Times New Roman" panose="02020603050405020304" pitchFamily="18" charset="0"/>
                <a:cs typeface="Times New Roman" panose="02020603050405020304" pitchFamily="18" charset="0"/>
              </a:rPr>
              <a:t>Jitter</a:t>
            </a:r>
            <a:r>
              <a:rPr lang="en-IN" sz="1650">
                <a:latin typeface="Times New Roman" panose="02020603050405020304" pitchFamily="18" charset="0"/>
                <a:cs typeface="Times New Roman" panose="02020603050405020304" pitchFamily="18" charset="0"/>
              </a:rPr>
              <a:t>: Jitter refers to the </a:t>
            </a:r>
            <a:r>
              <a:rPr lang="en-IN" sz="1650" b="1">
                <a:solidFill>
                  <a:srgbClr val="0070C0"/>
                </a:solidFill>
                <a:latin typeface="Times New Roman" panose="02020603050405020304" pitchFamily="18" charset="0"/>
                <a:cs typeface="Times New Roman" panose="02020603050405020304" pitchFamily="18" charset="0"/>
              </a:rPr>
              <a:t>variation</a:t>
            </a:r>
            <a:r>
              <a:rPr lang="en-IN" sz="1650">
                <a:latin typeface="Times New Roman" panose="02020603050405020304" pitchFamily="18" charset="0"/>
                <a:cs typeface="Times New Roman" panose="02020603050405020304" pitchFamily="18" charset="0"/>
              </a:rPr>
              <a:t> in the packet arrival time. It is the uneven delay in the delivery of audio or video packets. For example, let us assume that video packets are sent every 30ms. If some of the packets arrive with 30-ms delay and others with 40-ms delay, an uneven quality in the video is the result.</a:t>
            </a:r>
          </a:p>
        </p:txBody>
      </p:sp>
      <p:pic>
        <p:nvPicPr>
          <p:cNvPr id="2097155" name="Picture 4" descr="http://www.cisco.com/image/gif/paws/18902/18902_Fg1.gif"/>
          <p:cNvPicPr>
            <a:picLocks noChangeAspect="1" noChangeArrowheads="1"/>
          </p:cNvPicPr>
          <p:nvPr/>
        </p:nvPicPr>
        <p:blipFill>
          <a:blip r:embed="rId4"/>
          <a:srcRect/>
          <a:stretch>
            <a:fillRect/>
          </a:stretch>
        </p:blipFill>
        <p:spPr bwMode="auto">
          <a:xfrm>
            <a:off x="4084634" y="4489081"/>
            <a:ext cx="4018360" cy="1314450"/>
          </a:xfrm>
          <a:prstGeom prst="rect">
            <a:avLst/>
          </a:prstGeom>
          <a:noFill/>
          <a:ln>
            <a:noFill/>
          </a:ln>
        </p:spPr>
      </p:pic>
    </p:spTree>
  </p:cSld>
  <p:clrMapOvr>
    <a:overrideClrMapping bg1="lt1" tx1="dk1" bg2="lt2" tx2="dk2" accent1="accent1" accent2="accent2" accent3="accent3" accent4="accent4" accent5="accent5" accent6="accent6" hlink="hlink" folHlink="folHlink"/>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48604" name="Title 1"/>
          <p:cNvSpPr>
            <a:spLocks noGrp="1"/>
          </p:cNvSpPr>
          <p:nvPr>
            <p:ph type="title"/>
          </p:nvPr>
        </p:nvSpPr>
        <p:spPr>
          <a:xfrm>
            <a:off x="1049178" y="601667"/>
            <a:ext cx="5123022" cy="546100"/>
          </a:xfrm>
        </p:spPr>
        <p:txBody>
          <a:bodyPr/>
          <a:lstStyle/>
          <a:p>
            <a:r>
              <a:rPr lang="en-US" sz="3200" b="1">
                <a:latin typeface="Times New Roman" panose="02020603050405020304" pitchFamily="18" charset="0"/>
                <a:cs typeface="Times New Roman" panose="02020603050405020304" pitchFamily="18" charset="0"/>
              </a:rPr>
              <a:t>COMPONENTS OF DC</a:t>
            </a:r>
          </a:p>
        </p:txBody>
      </p:sp>
      <p:sp>
        <p:nvSpPr>
          <p:cNvPr id="1048605" name="Text Placeholder 2"/>
          <p:cNvSpPr>
            <a:spLocks noGrp="1"/>
          </p:cNvSpPr>
          <p:nvPr>
            <p:ph type="body" idx="1"/>
          </p:nvPr>
        </p:nvSpPr>
        <p:spPr/>
        <p:txBody>
          <a:bodyPr/>
          <a:lstStyle/>
          <a:p>
            <a:endParaRPr lang="en-US"/>
          </a:p>
        </p:txBody>
      </p:sp>
      <p:pic>
        <p:nvPicPr>
          <p:cNvPr id="2097156" name="Picture 3"/>
          <p:cNvPicPr>
            <a:picLocks noChangeAspect="1"/>
          </p:cNvPicPr>
          <p:nvPr/>
        </p:nvPicPr>
        <p:blipFill>
          <a:blip r:embed="rId3"/>
          <a:stretch>
            <a:fillRect/>
          </a:stretch>
        </p:blipFill>
        <p:spPr>
          <a:xfrm>
            <a:off x="609600" y="1790460"/>
            <a:ext cx="7848600" cy="3543540"/>
          </a:xfrm>
          <a:prstGeom prst="rect">
            <a:avLst/>
          </a:prstGeom>
        </p:spPr>
      </p:pic>
    </p:spTree>
  </p:cSld>
  <p:clrMapOvr>
    <a:overrideClrMapping bg1="lt1" tx1="dk1" bg2="lt2" tx2="dk2" accent1="accent1" accent2="accent2" accent3="accent3" accent4="accent4" accent5="accent5" accent6="accent6" hlink="hlink" folHlink="folHlink"/>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48606" name="Title 1"/>
          <p:cNvSpPr>
            <a:spLocks noGrp="1"/>
          </p:cNvSpPr>
          <p:nvPr>
            <p:ph type="title"/>
          </p:nvPr>
        </p:nvSpPr>
        <p:spPr>
          <a:xfrm>
            <a:off x="533400" y="609600"/>
            <a:ext cx="7886700" cy="411956"/>
          </a:xfrm>
        </p:spPr>
        <p:txBody>
          <a:bodyPr>
            <a:normAutofit fontScale="90000"/>
          </a:bodyPr>
          <a:lstStyle/>
          <a:p>
            <a:r>
              <a:rPr lang="en-US" sz="2800" b="1">
                <a:latin typeface="Times New Roman" panose="02020603050405020304" pitchFamily="18" charset="0"/>
                <a:cs typeface="Times New Roman" panose="02020603050405020304" pitchFamily="18" charset="0"/>
              </a:rPr>
              <a:t>COMPONENTS OF DC</a:t>
            </a:r>
            <a:endParaRPr lang="en-US"/>
          </a:p>
        </p:txBody>
      </p:sp>
      <p:sp>
        <p:nvSpPr>
          <p:cNvPr id="1048607" name="Content Placeholder 2"/>
          <p:cNvSpPr>
            <a:spLocks noGrp="1"/>
          </p:cNvSpPr>
          <p:nvPr>
            <p:ph type="body" idx="1"/>
          </p:nvPr>
        </p:nvSpPr>
        <p:spPr>
          <a:xfrm>
            <a:off x="542499" y="1219200"/>
            <a:ext cx="7886700" cy="4191000"/>
          </a:xfrm>
        </p:spPr>
        <p:txBody>
          <a:bodyPr>
            <a:normAutofit fontScale="85000" lnSpcReduction="10000"/>
          </a:bodyPr>
          <a:lstStyle/>
          <a:p>
            <a:r>
              <a:rPr lang="en-US" sz="2400" b="1" i="1">
                <a:solidFill>
                  <a:srgbClr val="002060"/>
                </a:solidFill>
                <a:latin typeface="Times New Roman" panose="02020603050405020304" pitchFamily="18" charset="0"/>
                <a:ea typeface="Calibri" panose="020F0502020204030204" pitchFamily="34" charset="0"/>
                <a:cs typeface="Times New Roman" panose="02020603050405020304" pitchFamily="18" charset="0"/>
              </a:rPr>
              <a:t>The five components of data communications are:</a:t>
            </a:r>
            <a:endParaRPr lang="en-US" sz="2400" b="1">
              <a:solidFill>
                <a:srgbClr val="002060"/>
              </a:solidFill>
              <a:latin typeface="Arial" panose="020B0604020202020204" pitchFamily="34" charset="0"/>
              <a:ea typeface="Calibri" panose="020F0502020204030204" pitchFamily="34" charset="0"/>
              <a:cs typeface="Times New Roman" panose="02020603050405020304" pitchFamily="18" charset="0"/>
            </a:endParaRPr>
          </a:p>
          <a:p>
            <a:r>
              <a:rPr lang="en-IN" sz="2400" b="1">
                <a:solidFill>
                  <a:srgbClr val="FF0000"/>
                </a:solidFill>
                <a:latin typeface="Times New Roman" panose="02020603050405020304" pitchFamily="18" charset="0"/>
                <a:cs typeface="Times New Roman" panose="02020603050405020304" pitchFamily="18" charset="0"/>
              </a:rPr>
              <a:t>Message</a:t>
            </a:r>
            <a:r>
              <a:rPr lang="en-IN" sz="2400">
                <a:latin typeface="Times New Roman" panose="02020603050405020304" pitchFamily="18" charset="0"/>
                <a:cs typeface="Times New Roman" panose="02020603050405020304" pitchFamily="18" charset="0"/>
              </a:rPr>
              <a:t>: The message is the information (data) to be communicated. Popular forms of information include text, numbers, pictures, audio, and video.</a:t>
            </a:r>
          </a:p>
          <a:p>
            <a:r>
              <a:rPr lang="en-IN" sz="2400" b="1">
                <a:solidFill>
                  <a:srgbClr val="FF0000"/>
                </a:solidFill>
                <a:latin typeface="Times New Roman" panose="02020603050405020304" pitchFamily="18" charset="0"/>
                <a:cs typeface="Times New Roman" panose="02020603050405020304" pitchFamily="18" charset="0"/>
              </a:rPr>
              <a:t>Sender</a:t>
            </a:r>
            <a:r>
              <a:rPr lang="en-IN" sz="2400">
                <a:latin typeface="Times New Roman" panose="02020603050405020304" pitchFamily="18" charset="0"/>
                <a:cs typeface="Times New Roman" panose="02020603050405020304" pitchFamily="18" charset="0"/>
              </a:rPr>
              <a:t>: The sender is the device that sends the data message. It can be a computer, workstation, telephone handset, mobile, and so on.</a:t>
            </a:r>
          </a:p>
          <a:p>
            <a:r>
              <a:rPr lang="en-IN" sz="2400" b="1">
                <a:solidFill>
                  <a:srgbClr val="FF0000"/>
                </a:solidFill>
                <a:latin typeface="Times New Roman" panose="02020603050405020304" pitchFamily="18" charset="0"/>
                <a:cs typeface="Times New Roman" panose="02020603050405020304" pitchFamily="18" charset="0"/>
              </a:rPr>
              <a:t>Receiver</a:t>
            </a:r>
            <a:r>
              <a:rPr lang="en-IN" sz="2400">
                <a:latin typeface="Times New Roman" panose="02020603050405020304" pitchFamily="18" charset="0"/>
                <a:cs typeface="Times New Roman" panose="02020603050405020304" pitchFamily="18" charset="0"/>
              </a:rPr>
              <a:t>: The receiver is the device that receives the message. It can be a computer, workstation, telephone handset, television, and so on.</a:t>
            </a:r>
          </a:p>
          <a:p>
            <a:r>
              <a:rPr lang="en-IN" sz="2400" b="1">
                <a:solidFill>
                  <a:srgbClr val="FF0000"/>
                </a:solidFill>
                <a:latin typeface="Times New Roman" panose="02020603050405020304" pitchFamily="18" charset="0"/>
                <a:cs typeface="Times New Roman" panose="02020603050405020304" pitchFamily="18" charset="0"/>
              </a:rPr>
              <a:t>Transmission medium</a:t>
            </a:r>
            <a:r>
              <a:rPr lang="en-IN" sz="2400">
                <a:latin typeface="Times New Roman" panose="02020603050405020304" pitchFamily="18" charset="0"/>
                <a:cs typeface="Times New Roman" panose="02020603050405020304" pitchFamily="18" charset="0"/>
              </a:rPr>
              <a:t>: The transmission medium is the physical path by which a message travels from sender to receiver. Some examples of transmission media include twisted-pair wire, coaxial cable, fibre-optic cable, and radio waves.</a:t>
            </a:r>
          </a:p>
          <a:p>
            <a:r>
              <a:rPr lang="en-IN" sz="2400" b="1">
                <a:solidFill>
                  <a:srgbClr val="FF0000"/>
                </a:solidFill>
                <a:latin typeface="Times New Roman" panose="02020603050405020304" pitchFamily="18" charset="0"/>
                <a:cs typeface="Times New Roman" panose="02020603050405020304" pitchFamily="18" charset="0"/>
              </a:rPr>
              <a:t>Protocol</a:t>
            </a:r>
            <a:r>
              <a:rPr lang="en-IN" sz="2400">
                <a:latin typeface="Times New Roman" panose="02020603050405020304" pitchFamily="18" charset="0"/>
                <a:cs typeface="Times New Roman" panose="02020603050405020304" pitchFamily="18" charset="0"/>
              </a:rPr>
              <a:t>: A protocol is a set of rules that govern data communications. It represents an agreement between the communicating devices. Without a protocol, two devices may be connected but not communicating.</a:t>
            </a:r>
          </a:p>
          <a:p>
            <a:endParaRPr lang="en-IN">
              <a:latin typeface="Times New Roman" panose="02020603050405020304" pitchFamily="18" charset="0"/>
              <a:cs typeface="Times New Roman" panose="02020603050405020304" pitchFamily="18" charset="0"/>
            </a:endParaRPr>
          </a:p>
          <a:p>
            <a:endParaRPr lang="en-US"/>
          </a:p>
        </p:txBody>
      </p:sp>
    </p:spTree>
  </p:cSld>
  <p:clrMapOvr>
    <a:overrideClrMapping bg1="lt1" tx1="dk1" bg2="lt2" tx2="dk2" accent1="accent1" accent2="accent2" accent3="accent3" accent4="accent4" accent5="accent5" accent6="accent6" hlink="hlink" folHlink="folHlink"/>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48608" name="Title 1"/>
          <p:cNvSpPr>
            <a:spLocks noGrp="1"/>
          </p:cNvSpPr>
          <p:nvPr>
            <p:ph type="title"/>
          </p:nvPr>
        </p:nvSpPr>
        <p:spPr>
          <a:xfrm>
            <a:off x="618414" y="457200"/>
            <a:ext cx="7886700" cy="570218"/>
          </a:xfrm>
        </p:spPr>
        <p:txBody>
          <a:bodyPr>
            <a:normAutofit fontScale="90000"/>
          </a:bodyPr>
          <a:lstStyle/>
          <a:p>
            <a:r>
              <a:rPr lang="en-US" b="1">
                <a:solidFill>
                  <a:schemeClr val="accent1">
                    <a:lumMod val="60000"/>
                    <a:lumOff val="40000"/>
                  </a:schemeClr>
                </a:solidFill>
                <a:latin typeface="Times New Roman" panose="02020603050405020304" pitchFamily="18" charset="0"/>
                <a:cs typeface="Times New Roman" panose="02020603050405020304" pitchFamily="18" charset="0"/>
              </a:rPr>
              <a:t>DATA REPRESENTATION</a:t>
            </a:r>
            <a:br>
              <a:rPr lang="en-IN" b="1">
                <a:solidFill>
                  <a:srgbClr val="002060"/>
                </a:solidFill>
                <a:latin typeface="Times New Roman" panose="02020603050405020304" pitchFamily="18" charset="0"/>
                <a:cs typeface="Times New Roman" panose="02020603050405020304" pitchFamily="18" charset="0"/>
              </a:rPr>
            </a:br>
            <a:endParaRPr lang="en-US"/>
          </a:p>
        </p:txBody>
      </p:sp>
      <p:sp>
        <p:nvSpPr>
          <p:cNvPr id="1048609" name="Content Placeholder 2"/>
          <p:cNvSpPr>
            <a:spLocks noGrp="1"/>
          </p:cNvSpPr>
          <p:nvPr>
            <p:ph type="body" idx="1"/>
          </p:nvPr>
        </p:nvSpPr>
        <p:spPr>
          <a:xfrm>
            <a:off x="619693" y="1192662"/>
            <a:ext cx="7886700" cy="800219"/>
          </a:xfrm>
        </p:spPr>
        <p:txBody>
          <a:bodyPr/>
          <a:lstStyle/>
          <a:p>
            <a:r>
              <a:rPr lang="en-US" sz="2400" b="1">
                <a:latin typeface="Times New Roman" panose="02020603050405020304" pitchFamily="18" charset="0"/>
                <a:cs typeface="Times New Roman" panose="02020603050405020304" pitchFamily="18" charset="0"/>
              </a:rPr>
              <a:t>Information today comes in different forms such as :</a:t>
            </a:r>
            <a:endParaRPr lang="en-IN" sz="4400" b="1">
              <a:latin typeface="Times New Roman" panose="02020603050405020304" pitchFamily="18" charset="0"/>
              <a:cs typeface="Times New Roman" panose="02020603050405020304" pitchFamily="18" charset="0"/>
            </a:endParaRPr>
          </a:p>
          <a:p>
            <a:endParaRPr lang="en-US" sz="2800"/>
          </a:p>
        </p:txBody>
      </p:sp>
      <p:sp>
        <p:nvSpPr>
          <p:cNvPr id="1048610" name="TextBox 8"/>
          <p:cNvSpPr txBox="1">
            <a:spLocks noChangeArrowheads="1"/>
          </p:cNvSpPr>
          <p:nvPr/>
        </p:nvSpPr>
        <p:spPr bwMode="auto">
          <a:xfrm>
            <a:off x="618414" y="1940069"/>
            <a:ext cx="1250342" cy="2862322"/>
          </a:xfrm>
          <a:prstGeom prst="rect">
            <a:avLst/>
          </a:prstGeom>
          <a:noFill/>
          <a:ln>
            <a:noFill/>
          </a:ln>
        </p:spPr>
        <p:txBody>
          <a:bodyPr wrap="none">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lnSpc>
                <a:spcPct val="200000"/>
              </a:lnSpc>
              <a:spcBef>
                <a:spcPct val="0"/>
              </a:spcBef>
              <a:buClrTx/>
              <a:buSzTx/>
              <a:buFontTx/>
              <a:buBlip>
                <a:blip r:embed="rId3"/>
              </a:buBlip>
            </a:pPr>
            <a:r>
              <a:rPr lang="en-US" sz="1800">
                <a:latin typeface="Times New Roman" panose="02020603050405020304" pitchFamily="18" charset="0"/>
                <a:cs typeface="Times New Roman" panose="02020603050405020304" pitchFamily="18" charset="0"/>
              </a:rPr>
              <a:t> Text</a:t>
            </a:r>
          </a:p>
          <a:p>
            <a:pPr eaLnBrk="1" hangingPunct="1">
              <a:lnSpc>
                <a:spcPct val="200000"/>
              </a:lnSpc>
              <a:spcBef>
                <a:spcPct val="0"/>
              </a:spcBef>
              <a:buClrTx/>
              <a:buSzTx/>
              <a:buFontTx/>
              <a:buBlip>
                <a:blip r:embed="rId3"/>
              </a:buBlip>
            </a:pPr>
            <a:r>
              <a:rPr lang="en-US" sz="1800">
                <a:latin typeface="Times New Roman" panose="02020603050405020304" pitchFamily="18" charset="0"/>
                <a:cs typeface="Times New Roman" panose="02020603050405020304" pitchFamily="18" charset="0"/>
              </a:rPr>
              <a:t> Numbers</a:t>
            </a:r>
          </a:p>
          <a:p>
            <a:pPr eaLnBrk="1" hangingPunct="1">
              <a:lnSpc>
                <a:spcPct val="200000"/>
              </a:lnSpc>
              <a:spcBef>
                <a:spcPct val="0"/>
              </a:spcBef>
              <a:buClrTx/>
              <a:buSzTx/>
              <a:buFontTx/>
              <a:buBlip>
                <a:blip r:embed="rId3"/>
              </a:buBlip>
            </a:pPr>
            <a:r>
              <a:rPr lang="en-US" sz="1800">
                <a:latin typeface="Times New Roman" panose="02020603050405020304" pitchFamily="18" charset="0"/>
                <a:cs typeface="Times New Roman" panose="02020603050405020304" pitchFamily="18" charset="0"/>
              </a:rPr>
              <a:t> Images</a:t>
            </a:r>
          </a:p>
          <a:p>
            <a:pPr eaLnBrk="1" hangingPunct="1">
              <a:lnSpc>
                <a:spcPct val="200000"/>
              </a:lnSpc>
              <a:spcBef>
                <a:spcPct val="0"/>
              </a:spcBef>
              <a:buClrTx/>
              <a:buSzTx/>
              <a:buFontTx/>
              <a:buBlip>
                <a:blip r:embed="rId3"/>
              </a:buBlip>
            </a:pPr>
            <a:r>
              <a:rPr lang="en-US" sz="1800">
                <a:latin typeface="Times New Roman" panose="02020603050405020304" pitchFamily="18" charset="0"/>
                <a:cs typeface="Times New Roman" panose="02020603050405020304" pitchFamily="18" charset="0"/>
              </a:rPr>
              <a:t> Audio</a:t>
            </a:r>
          </a:p>
          <a:p>
            <a:pPr eaLnBrk="1" hangingPunct="1">
              <a:lnSpc>
                <a:spcPct val="200000"/>
              </a:lnSpc>
              <a:spcBef>
                <a:spcPct val="0"/>
              </a:spcBef>
              <a:buClrTx/>
              <a:buSzTx/>
              <a:buFontTx/>
              <a:buBlip>
                <a:blip r:embed="rId3"/>
              </a:buBlip>
            </a:pPr>
            <a:r>
              <a:rPr lang="en-US" sz="1800">
                <a:latin typeface="Times New Roman" panose="02020603050405020304" pitchFamily="18" charset="0"/>
                <a:cs typeface="Times New Roman" panose="02020603050405020304" pitchFamily="18" charset="0"/>
              </a:rPr>
              <a:t> Video</a:t>
            </a:r>
            <a:endParaRPr lang="en-IN" sz="1800">
              <a:latin typeface="Times New Roman" panose="02020603050405020304" pitchFamily="18" charset="0"/>
              <a:cs typeface="Times New Roman" panose="02020603050405020304" pitchFamily="18" charset="0"/>
            </a:endParaRPr>
          </a:p>
        </p:txBody>
      </p:sp>
    </p:spTree>
  </p:cSld>
  <p:clrMapOvr>
    <a:overrideClrMapping bg1="lt1" tx1="dk1" bg2="lt2" tx2="dk2" accent1="accent1" accent2="accent2" accent3="accent3" accent4="accent4" accent5="accent5" accent6="accent6" hlink="hlink" folHlink="folHlink"/>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48614" name="Line 3"/>
          <p:cNvSpPr>
            <a:spLocks noChangeShapeType="1"/>
          </p:cNvSpPr>
          <p:nvPr/>
        </p:nvSpPr>
        <p:spPr bwMode="auto">
          <a:xfrm>
            <a:off x="152400" y="990600"/>
            <a:ext cx="8763000" cy="0"/>
          </a:xfrm>
          <a:prstGeom prst="line">
            <a:avLst/>
          </a:prstGeom>
          <a:noFill/>
          <a:ln w="19050">
            <a:solidFill>
              <a:schemeClr val="hlink"/>
            </a:solidFill>
            <a:round/>
          </a:ln>
          <a:effectLst/>
        </p:spPr>
        <p:txBody>
          <a:bodyPr/>
          <a:lstStyle/>
          <a:p>
            <a:endParaRPr lang="en-US"/>
          </a:p>
        </p:txBody>
      </p:sp>
      <p:sp>
        <p:nvSpPr>
          <p:cNvPr id="1048615" name="Text Box 4"/>
          <p:cNvSpPr txBox="1">
            <a:spLocks noChangeArrowheads="1"/>
          </p:cNvSpPr>
          <p:nvPr/>
        </p:nvSpPr>
        <p:spPr bwMode="auto">
          <a:xfrm>
            <a:off x="118281" y="312846"/>
            <a:ext cx="9140387" cy="461665"/>
          </a:xfrm>
          <a:prstGeom prst="rect">
            <a:avLst/>
          </a:prstGeom>
          <a:noFill/>
          <a:ln>
            <a:noFill/>
          </a:ln>
          <a:effectLst/>
        </p:spPr>
        <p:txBody>
          <a:bodyPr wrap="none">
            <a:spAutoFit/>
          </a:bodyPr>
          <a:lstStyle/>
          <a:p>
            <a:r>
              <a:rPr lang="en-US" sz="2400" b="1">
                <a:solidFill>
                  <a:schemeClr val="accent1">
                    <a:lumMod val="60000"/>
                    <a:lumOff val="40000"/>
                  </a:schemeClr>
                </a:solidFill>
                <a:latin typeface="Times New Roman" panose="02020603050405020304" pitchFamily="18" charset="0"/>
              </a:rPr>
              <a:t>DATA FLOW (SIMPLEX, HALF-DUPLEX, AND FULL-DUPLEX)</a:t>
            </a:r>
          </a:p>
        </p:txBody>
      </p:sp>
      <p:pic>
        <p:nvPicPr>
          <p:cNvPr id="2097157" name="Picture 6"/>
          <p:cNvPicPr>
            <a:picLocks noChangeAspect="1" noChangeArrowheads="1"/>
          </p:cNvPicPr>
          <p:nvPr/>
        </p:nvPicPr>
        <p:blipFill>
          <a:blip r:embed="rId4"/>
          <a:srcRect/>
          <a:stretch>
            <a:fillRect/>
          </a:stretch>
        </p:blipFill>
        <p:spPr bwMode="auto">
          <a:xfrm>
            <a:off x="1219200" y="1171575"/>
            <a:ext cx="6489700" cy="4238625"/>
          </a:xfrm>
          <a:prstGeom prst="rect">
            <a:avLst/>
          </a:prstGeom>
          <a:noFill/>
          <a:ln>
            <a:noFill/>
          </a:ln>
          <a:effectLst/>
        </p:spPr>
      </p:pic>
    </p:spTree>
  </p:cSld>
  <p:clrMapOvr>
    <a:overrideClrMapping bg1="lt1" tx1="dk1" bg2="lt2" tx2="dk2" accent1="accent1" accent2="accent2" accent3="accent3" accent4="accent4" accent5="accent5" accent6="accent6" hlink="hlink" folHlink="folHlink"/>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48619" name="Title 1"/>
          <p:cNvSpPr>
            <a:spLocks noGrp="1"/>
          </p:cNvSpPr>
          <p:nvPr>
            <p:ph type="title"/>
          </p:nvPr>
        </p:nvSpPr>
        <p:spPr>
          <a:xfrm>
            <a:off x="628650" y="381000"/>
            <a:ext cx="7886700" cy="422507"/>
          </a:xfrm>
        </p:spPr>
        <p:txBody>
          <a:bodyPr>
            <a:normAutofit/>
          </a:bodyPr>
          <a:lstStyle/>
          <a:p>
            <a:r>
              <a:rPr lang="en-US" b="1"/>
              <a:t>DATA FLOW(CNTD)</a:t>
            </a:r>
          </a:p>
        </p:txBody>
      </p:sp>
      <p:sp>
        <p:nvSpPr>
          <p:cNvPr id="1048620" name="Content Placeholder 2"/>
          <p:cNvSpPr>
            <a:spLocks noGrp="1"/>
          </p:cNvSpPr>
          <p:nvPr>
            <p:ph type="body" idx="1"/>
          </p:nvPr>
        </p:nvSpPr>
        <p:spPr>
          <a:xfrm>
            <a:off x="628650" y="803507"/>
            <a:ext cx="7886700" cy="5478423"/>
          </a:xfrm>
        </p:spPr>
        <p:txBody>
          <a:bodyPr/>
          <a:lstStyle/>
          <a:p>
            <a:r>
              <a:rPr lang="en-IN" sz="2000">
                <a:latin typeface="Times New Roman" panose="02020603050405020304" pitchFamily="18" charset="0"/>
                <a:cs typeface="Times New Roman" panose="02020603050405020304" pitchFamily="18" charset="0"/>
              </a:rPr>
              <a:t>Communication between two devices can be </a:t>
            </a:r>
            <a:r>
              <a:rPr lang="en-IN" sz="2000" b="1">
                <a:solidFill>
                  <a:schemeClr val="accent1"/>
                </a:solidFill>
                <a:latin typeface="Times New Roman" panose="02020603050405020304" pitchFamily="18" charset="0"/>
                <a:cs typeface="Times New Roman" panose="02020603050405020304" pitchFamily="18" charset="0"/>
              </a:rPr>
              <a:t>simplex</a:t>
            </a:r>
            <a:r>
              <a:rPr lang="en-IN" sz="2000">
                <a:latin typeface="Times New Roman" panose="02020603050405020304" pitchFamily="18" charset="0"/>
                <a:cs typeface="Times New Roman" panose="02020603050405020304" pitchFamily="18" charset="0"/>
              </a:rPr>
              <a:t>, </a:t>
            </a:r>
            <a:r>
              <a:rPr lang="en-IN" sz="2000" b="1">
                <a:solidFill>
                  <a:srgbClr val="00B050"/>
                </a:solidFill>
                <a:latin typeface="Times New Roman" panose="02020603050405020304" pitchFamily="18" charset="0"/>
                <a:cs typeface="Times New Roman" panose="02020603050405020304" pitchFamily="18" charset="0"/>
              </a:rPr>
              <a:t>half-duplex</a:t>
            </a:r>
            <a:r>
              <a:rPr lang="en-IN" sz="2000">
                <a:latin typeface="Times New Roman" panose="02020603050405020304" pitchFamily="18" charset="0"/>
                <a:cs typeface="Times New Roman" panose="02020603050405020304" pitchFamily="18" charset="0"/>
              </a:rPr>
              <a:t>, or </a:t>
            </a:r>
            <a:r>
              <a:rPr lang="en-IN" sz="2000" b="1">
                <a:solidFill>
                  <a:srgbClr val="7030A0"/>
                </a:solidFill>
                <a:latin typeface="Times New Roman" panose="02020603050405020304" pitchFamily="18" charset="0"/>
                <a:cs typeface="Times New Roman" panose="02020603050405020304" pitchFamily="18" charset="0"/>
              </a:rPr>
              <a:t>full-duplex</a:t>
            </a:r>
            <a:r>
              <a:rPr lang="en-IN" sz="2000">
                <a:latin typeface="Times New Roman" panose="02020603050405020304" pitchFamily="18" charset="0"/>
                <a:cs typeface="Times New Roman" panose="02020603050405020304" pitchFamily="18" charset="0"/>
              </a:rPr>
              <a:t> as shown in figure above.</a:t>
            </a:r>
          </a:p>
          <a:p>
            <a:pPr algn="ctr"/>
            <a:r>
              <a:rPr lang="en-US" sz="2000" b="1" u="sng">
                <a:solidFill>
                  <a:schemeClr val="accent1"/>
                </a:solidFill>
                <a:latin typeface="Times New Roman" panose="02020603050405020304" pitchFamily="18" charset="0"/>
                <a:cs typeface="Times New Roman" panose="02020603050405020304" pitchFamily="18" charset="0"/>
              </a:rPr>
              <a:t>Simplex</a:t>
            </a:r>
            <a:endParaRPr lang="en-IN" sz="2000" b="1" u="sng">
              <a:solidFill>
                <a:schemeClr val="accent1"/>
              </a:solidFill>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IN" sz="2000">
                <a:latin typeface="Times New Roman" panose="02020603050405020304" pitchFamily="18" charset="0"/>
                <a:cs typeface="Times New Roman" panose="02020603050405020304" pitchFamily="18" charset="0"/>
              </a:rPr>
              <a:t>In simplex mode, the communication is </a:t>
            </a:r>
            <a:r>
              <a:rPr lang="en-IN" sz="2000" b="1">
                <a:solidFill>
                  <a:srgbClr val="FF0000"/>
                </a:solidFill>
                <a:latin typeface="Times New Roman" panose="02020603050405020304" pitchFamily="18" charset="0"/>
                <a:cs typeface="Times New Roman" panose="02020603050405020304" pitchFamily="18" charset="0"/>
              </a:rPr>
              <a:t>unidirectional</a:t>
            </a:r>
            <a:r>
              <a:rPr lang="en-IN" sz="2000">
                <a:latin typeface="Times New Roman" panose="02020603050405020304" pitchFamily="18" charset="0"/>
                <a:cs typeface="Times New Roman" panose="02020603050405020304" pitchFamily="18" charset="0"/>
              </a:rPr>
              <a:t>, as on a one-way </a:t>
            </a:r>
            <a:r>
              <a:rPr lang="en-IN" sz="2000" err="1">
                <a:latin typeface="Times New Roman" panose="02020603050405020304" pitchFamily="18" charset="0"/>
                <a:cs typeface="Times New Roman" panose="02020603050405020304" pitchFamily="18" charset="0"/>
              </a:rPr>
              <a:t>street.Only</a:t>
            </a:r>
            <a:r>
              <a:rPr lang="en-IN" sz="2000">
                <a:latin typeface="Times New Roman" panose="02020603050405020304" pitchFamily="18" charset="0"/>
                <a:cs typeface="Times New Roman" panose="02020603050405020304" pitchFamily="18" charset="0"/>
              </a:rPr>
              <a:t> one of the two devices on a link can transmit; the other can only receive.</a:t>
            </a:r>
          </a:p>
          <a:p>
            <a:pPr marL="342900" indent="-342900" algn="just">
              <a:buFont typeface="Arial" panose="020B0604020202020204" pitchFamily="34" charset="0"/>
              <a:buChar char="•"/>
            </a:pPr>
            <a:r>
              <a:rPr lang="en-IN" sz="2000">
                <a:latin typeface="Times New Roman" panose="02020603050405020304" pitchFamily="18" charset="0"/>
                <a:cs typeface="Times New Roman" panose="02020603050405020304" pitchFamily="18" charset="0"/>
              </a:rPr>
              <a:t>                             </a:t>
            </a:r>
            <a:r>
              <a:rPr lang="en-IN" sz="2000" err="1">
                <a:latin typeface="Times New Roman" panose="02020603050405020304" pitchFamily="18" charset="0"/>
                <a:cs typeface="Times New Roman" panose="02020603050405020304" pitchFamily="18" charset="0"/>
              </a:rPr>
              <a:t>Example:Keyboards</a:t>
            </a:r>
            <a:r>
              <a:rPr lang="en-IN" sz="2000">
                <a:latin typeface="Times New Roman" panose="02020603050405020304" pitchFamily="18" charset="0"/>
                <a:cs typeface="Times New Roman" panose="02020603050405020304" pitchFamily="18" charset="0"/>
              </a:rPr>
              <a:t> and traditional monitors</a:t>
            </a:r>
          </a:p>
          <a:p>
            <a:pPr marL="342900" indent="-342900" algn="just">
              <a:buFont typeface="Arial" panose="020B0604020202020204" pitchFamily="34" charset="0"/>
              <a:buChar char="•"/>
            </a:pPr>
            <a:endParaRPr lang="en-US" sz="1600" b="1" u="sng">
              <a:solidFill>
                <a:srgbClr val="00B050"/>
              </a:solidFill>
              <a:latin typeface="Times New Roman" panose="02020603050405020304" pitchFamily="18" charset="0"/>
              <a:cs typeface="Times New Roman" panose="02020603050405020304" pitchFamily="18" charset="0"/>
            </a:endParaRPr>
          </a:p>
          <a:p>
            <a:pPr algn="ctr"/>
            <a:r>
              <a:rPr lang="en-US" sz="2000" b="1" u="sng">
                <a:solidFill>
                  <a:srgbClr val="00B050"/>
                </a:solidFill>
                <a:latin typeface="Times New Roman" panose="02020603050405020304" pitchFamily="18" charset="0"/>
                <a:cs typeface="Times New Roman" panose="02020603050405020304" pitchFamily="18" charset="0"/>
              </a:rPr>
              <a:t>Half-Duplex</a:t>
            </a:r>
            <a:endParaRPr lang="en-IN" sz="2000" b="1" u="sng">
              <a:solidFill>
                <a:srgbClr val="00B050"/>
              </a:solidFill>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IN" sz="2000">
                <a:latin typeface="Times New Roman" panose="02020603050405020304" pitchFamily="18" charset="0"/>
                <a:cs typeface="Times New Roman" panose="02020603050405020304" pitchFamily="18" charset="0"/>
              </a:rPr>
              <a:t>In half-duplex mode, each station can both transmit and receive, </a:t>
            </a:r>
            <a:r>
              <a:rPr lang="en-IN" sz="2000" b="1">
                <a:solidFill>
                  <a:srgbClr val="FF0000"/>
                </a:solidFill>
                <a:latin typeface="Times New Roman" panose="02020603050405020304" pitchFamily="18" charset="0"/>
                <a:cs typeface="Times New Roman" panose="02020603050405020304" pitchFamily="18" charset="0"/>
              </a:rPr>
              <a:t>but not at the same time</a:t>
            </a:r>
            <a:r>
              <a:rPr lang="en-IN" sz="2000">
                <a:latin typeface="Times New Roman" panose="02020603050405020304" pitchFamily="18" charset="0"/>
                <a:cs typeface="Times New Roman" panose="02020603050405020304" pitchFamily="18" charset="0"/>
              </a:rPr>
              <a:t>. When one device is sending, the other can only receive, and vice versa.</a:t>
            </a:r>
          </a:p>
          <a:p>
            <a:pPr marL="342900" indent="-342900">
              <a:buFont typeface="Arial" panose="020B0604020202020204" pitchFamily="34" charset="0"/>
              <a:buChar char="•"/>
            </a:pPr>
            <a:r>
              <a:rPr lang="en-IN" sz="2000">
                <a:latin typeface="Times New Roman" panose="02020603050405020304" pitchFamily="18" charset="0"/>
                <a:cs typeface="Times New Roman" panose="02020603050405020304" pitchFamily="18" charset="0"/>
              </a:rPr>
              <a:t>In a half-duplex transmission, the entire capacity of a channel is taken over by whichever of the two devices is transmitting at the time.</a:t>
            </a:r>
          </a:p>
          <a:p>
            <a:pPr algn="ctr">
              <a:lnSpc>
                <a:spcPct val="150000"/>
              </a:lnSpc>
            </a:pPr>
            <a:r>
              <a:rPr lang="en-US" sz="2000" b="1">
                <a:solidFill>
                  <a:schemeClr val="accent6">
                    <a:lumMod val="75000"/>
                  </a:schemeClr>
                </a:solidFill>
                <a:latin typeface="Times New Roman" panose="02020603050405020304" pitchFamily="18" charset="0"/>
                <a:cs typeface="Times New Roman" panose="02020603050405020304" pitchFamily="18" charset="0"/>
              </a:rPr>
              <a:t>Example: </a:t>
            </a:r>
            <a:r>
              <a:rPr lang="en-US" sz="2000">
                <a:latin typeface="Times New Roman" panose="02020603050405020304" pitchFamily="18" charset="0"/>
                <a:cs typeface="Times New Roman" panose="02020603050405020304" pitchFamily="18" charset="0"/>
              </a:rPr>
              <a:t>Walkie-Talkie</a:t>
            </a:r>
            <a:endParaRPr lang="en-IN" sz="200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endParaRPr lang="en-IN" sz="2000">
              <a:latin typeface="Times New Roman" panose="02020603050405020304" pitchFamily="18" charset="0"/>
              <a:cs typeface="Times New Roman" panose="02020603050405020304" pitchFamily="18" charset="0"/>
            </a:endParaRPr>
          </a:p>
          <a:p>
            <a:endParaRPr lang="en-US"/>
          </a:p>
          <a:p>
            <a:endParaRPr lang="en-US"/>
          </a:p>
        </p:txBody>
      </p:sp>
    </p:spTree>
  </p:cSld>
  <p:clrMapOvr>
    <a:overrideClrMapping bg1="lt1" tx1="dk1" bg2="lt2" tx2="dk2" accent1="accent1" accent2="accent2" accent3="accent3" accent4="accent4" accent5="accent5" accent6="accent6" hlink="hlink" folHlink="folHlink"/>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48621" name="Title 1"/>
          <p:cNvSpPr>
            <a:spLocks noGrp="1"/>
          </p:cNvSpPr>
          <p:nvPr>
            <p:ph type="title"/>
          </p:nvPr>
        </p:nvSpPr>
        <p:spPr>
          <a:xfrm>
            <a:off x="304800" y="533400"/>
            <a:ext cx="7886700" cy="415498"/>
          </a:xfrm>
        </p:spPr>
        <p:txBody>
          <a:bodyPr/>
          <a:lstStyle/>
          <a:p>
            <a:r>
              <a:rPr lang="en-US" b="1"/>
              <a:t>DATA FLOW(CNTD)</a:t>
            </a:r>
            <a:endParaRPr lang="en-US"/>
          </a:p>
        </p:txBody>
      </p:sp>
      <p:sp>
        <p:nvSpPr>
          <p:cNvPr id="1048622" name="TextBox 8"/>
          <p:cNvSpPr txBox="1">
            <a:spLocks noChangeArrowheads="1"/>
          </p:cNvSpPr>
          <p:nvPr/>
        </p:nvSpPr>
        <p:spPr bwMode="auto">
          <a:xfrm>
            <a:off x="3581400" y="1752600"/>
            <a:ext cx="1757212" cy="461665"/>
          </a:xfrm>
          <a:prstGeom prst="rect">
            <a:avLst/>
          </a:prstGeom>
          <a:noFill/>
          <a:ln>
            <a:noFill/>
          </a:ln>
        </p:spPr>
        <p:txBody>
          <a:bodyPr wrap="none">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r>
              <a:rPr lang="en-US" sz="2400" b="1" u="sng">
                <a:solidFill>
                  <a:srgbClr val="7030A0"/>
                </a:solidFill>
                <a:latin typeface="Times New Roman" panose="02020603050405020304" pitchFamily="18" charset="0"/>
                <a:cs typeface="Times New Roman" panose="02020603050405020304" pitchFamily="18" charset="0"/>
              </a:rPr>
              <a:t>Full-Duplex</a:t>
            </a:r>
            <a:endParaRPr lang="en-IN" sz="2400" b="1" u="sng">
              <a:solidFill>
                <a:srgbClr val="7030A0"/>
              </a:solidFill>
              <a:latin typeface="Times New Roman" panose="02020603050405020304" pitchFamily="18" charset="0"/>
              <a:cs typeface="Times New Roman" panose="02020603050405020304" pitchFamily="18" charset="0"/>
            </a:endParaRPr>
          </a:p>
        </p:txBody>
      </p:sp>
      <p:sp>
        <p:nvSpPr>
          <p:cNvPr id="1048623" name="Rectangle 4"/>
          <p:cNvSpPr/>
          <p:nvPr/>
        </p:nvSpPr>
        <p:spPr>
          <a:xfrm>
            <a:off x="609600" y="2514600"/>
            <a:ext cx="7886700" cy="2816156"/>
          </a:xfrm>
          <a:prstGeom prst="rect">
            <a:avLst/>
          </a:prstGeom>
        </p:spPr>
        <p:txBody>
          <a:bodyPr wrap="square">
            <a:spAutoFit/>
          </a:bodyPr>
          <a:lstStyle/>
          <a:p>
            <a:pPr marL="285750" indent="-285750" algn="just">
              <a:lnSpc>
                <a:spcPct val="150000"/>
              </a:lnSpc>
              <a:spcBef>
                <a:spcPct val="0"/>
              </a:spcBef>
              <a:buFont typeface="Arial" panose="020B0604020202020204" pitchFamily="34" charset="0"/>
              <a:buChar char="•"/>
            </a:pPr>
            <a:r>
              <a:rPr lang="en-IN" sz="2000">
                <a:latin typeface="Times New Roman" panose="02020603050405020304" pitchFamily="18" charset="0"/>
                <a:cs typeface="Times New Roman" panose="02020603050405020304" pitchFamily="18" charset="0"/>
              </a:rPr>
              <a:t>In full-duplex mode (also called duplex), both stations can transmit and receive </a:t>
            </a:r>
            <a:r>
              <a:rPr lang="en-IN" sz="2000" b="1">
                <a:solidFill>
                  <a:srgbClr val="FF0000"/>
                </a:solidFill>
                <a:latin typeface="Times New Roman" panose="02020603050405020304" pitchFamily="18" charset="0"/>
                <a:cs typeface="Times New Roman" panose="02020603050405020304" pitchFamily="18" charset="0"/>
              </a:rPr>
              <a:t>simultaneously</a:t>
            </a:r>
            <a:r>
              <a:rPr lang="en-IN" sz="2000" b="1">
                <a:latin typeface="Times New Roman" panose="02020603050405020304" pitchFamily="18" charset="0"/>
                <a:cs typeface="Times New Roman" panose="02020603050405020304" pitchFamily="18" charset="0"/>
              </a:rPr>
              <a:t>.</a:t>
            </a:r>
          </a:p>
          <a:p>
            <a:pPr marL="285750" indent="-285750" algn="just">
              <a:lnSpc>
                <a:spcPct val="150000"/>
              </a:lnSpc>
              <a:spcBef>
                <a:spcPct val="0"/>
              </a:spcBef>
              <a:buFont typeface="Arial" panose="020B0604020202020204" pitchFamily="34" charset="0"/>
              <a:buChar char="•"/>
            </a:pPr>
            <a:r>
              <a:rPr lang="en-IN" sz="2000">
                <a:latin typeface="Times New Roman" panose="02020603050405020304" pitchFamily="18" charset="0"/>
                <a:cs typeface="Times New Roman" panose="02020603050405020304" pitchFamily="18" charset="0"/>
              </a:rPr>
              <a:t>In full-duplex mode, signals going in one direction share the capacity of the link with signals going in the other direction.</a:t>
            </a:r>
          </a:p>
          <a:p>
            <a:pPr algn="ctr">
              <a:lnSpc>
                <a:spcPct val="150000"/>
              </a:lnSpc>
              <a:spcBef>
                <a:spcPct val="0"/>
              </a:spcBef>
            </a:pPr>
            <a:r>
              <a:rPr lang="en-US" sz="2000" b="1">
                <a:solidFill>
                  <a:schemeClr val="accent6">
                    <a:lumMod val="75000"/>
                  </a:schemeClr>
                </a:solidFill>
                <a:latin typeface="Times New Roman" panose="02020603050405020304" pitchFamily="18" charset="0"/>
                <a:cs typeface="Times New Roman" panose="02020603050405020304" pitchFamily="18" charset="0"/>
              </a:rPr>
              <a:t>Example: </a:t>
            </a:r>
            <a:r>
              <a:rPr lang="en-US" sz="2000">
                <a:latin typeface="Times New Roman" panose="02020603050405020304" pitchFamily="18" charset="0"/>
                <a:cs typeface="Times New Roman" panose="02020603050405020304" pitchFamily="18" charset="0"/>
              </a:rPr>
              <a:t>Telephone</a:t>
            </a:r>
            <a:endParaRPr lang="en-IN" sz="2000">
              <a:latin typeface="Times New Roman" panose="02020603050405020304" pitchFamily="18" charset="0"/>
              <a:cs typeface="Times New Roman" panose="02020603050405020304" pitchFamily="18" charset="0"/>
            </a:endParaRPr>
          </a:p>
          <a:p>
            <a:pPr algn="just">
              <a:lnSpc>
                <a:spcPct val="150000"/>
              </a:lnSpc>
              <a:spcBef>
                <a:spcPct val="0"/>
              </a:spcBef>
            </a:pPr>
            <a:endParaRPr lang="en-IN" b="1">
              <a:latin typeface="Times New Roman" panose="02020603050405020304" pitchFamily="18" charset="0"/>
              <a:cs typeface="Times New Roman" panose="02020603050405020304" pitchFamily="18" charset="0"/>
            </a:endParaRPr>
          </a:p>
        </p:txBody>
      </p:sp>
    </p:spTree>
  </p:cSld>
  <p:clrMapOvr>
    <a:overrideClrMapping bg1="lt1" tx1="dk1" bg2="lt2" tx2="dk2" accent1="accent1" accent2="accent2" accent3="accent3" accent4="accent4" accent5="accent5" accent6="accent6" hlink="hlink" folHlink="folHlink"/>
  </p:clrMapOvr>
</p:sld>
</file>

<file path=ppt/slides/slide12.xml><?xml version="1.0" encoding="utf-8"?>
<p:sld xmlns:a="http://schemas.openxmlformats.org/drawingml/2006/main" xmlns:r="http://schemas.openxmlformats.org/officeDocument/2006/relationships" xmlns:p="http://schemas.openxmlformats.org/presentationml/2006/main" showMasterPhAnim="0">
  <p:cSld>
    <p:bg>
      <p:bgPr>
        <a:solidFill>
          <a:schemeClr val="bg1"/>
        </a:solidFill>
        <a:effectLst/>
      </p:bgPr>
    </p:bg>
    <p:spTree>
      <p:nvGrpSpPr>
        <p:cNvPr id="1" name=""/>
        <p:cNvGrpSpPr/>
        <p:nvPr/>
      </p:nvGrpSpPr>
      <p:grpSpPr>
        <a:xfrm>
          <a:off x="0" y="0"/>
          <a:ext cx="0" cy="0"/>
          <a:chOff x="0" y="0"/>
          <a:chExt cx="0" cy="0"/>
        </a:xfrm>
      </p:grpSpPr>
      <p:sp>
        <p:nvSpPr>
          <p:cNvPr id="1048624" name="Text Box 3"/>
          <p:cNvSpPr txBox="1">
            <a:spLocks noChangeArrowheads="1"/>
          </p:cNvSpPr>
          <p:nvPr/>
        </p:nvSpPr>
        <p:spPr bwMode="auto">
          <a:xfrm>
            <a:off x="304800" y="457200"/>
            <a:ext cx="5638800" cy="510539"/>
          </a:xfrm>
          <a:prstGeom prst="rect">
            <a:avLst/>
          </a:prstGeom>
          <a:noFill/>
          <a:ln>
            <a:noFill/>
          </a:ln>
          <a:effectLst/>
        </p:spPr>
        <p:txBody>
          <a:bodyPr wrap="square">
            <a:spAutoFit/>
          </a:bodyPr>
          <a:lstStyle/>
          <a:p>
            <a:r>
              <a:rPr lang="en-US" sz="2400" b="1">
                <a:solidFill>
                  <a:schemeClr val="accent1">
                    <a:lumMod val="75000"/>
                  </a:schemeClr>
                </a:solidFill>
                <a:effectLst>
                  <a:outerShdw blurRad="38100" dist="38100" dir="2700000" algn="tl">
                    <a:srgbClr val="C0C0C0"/>
                  </a:outerShdw>
                </a:effectLst>
                <a:latin typeface="Times" panose="02020603050405020304" pitchFamily="18" charset="0"/>
              </a:rPr>
              <a:t>INTRODUCTION TO NETWORKS</a:t>
            </a:r>
          </a:p>
        </p:txBody>
      </p:sp>
      <p:sp>
        <p:nvSpPr>
          <p:cNvPr id="1048625" name="Text Box 4"/>
          <p:cNvSpPr txBox="1">
            <a:spLocks noChangeArrowheads="1"/>
          </p:cNvSpPr>
          <p:nvPr/>
        </p:nvSpPr>
        <p:spPr bwMode="auto">
          <a:xfrm>
            <a:off x="8229600" y="6400800"/>
            <a:ext cx="182880" cy="396239"/>
          </a:xfrm>
          <a:prstGeom prst="rect">
            <a:avLst/>
          </a:prstGeom>
          <a:noFill/>
          <a:ln>
            <a:noFill/>
          </a:ln>
          <a:effectLst/>
        </p:spPr>
        <p:txBody>
          <a:bodyPr wrap="none">
            <a:spAutoFit/>
          </a:bodyPr>
          <a:lstStyle/>
          <a:p>
            <a:endParaRPr lang="en-US" sz="1800">
              <a:latin typeface="Times New Roman" panose="02020603050405020304" pitchFamily="18" charset="0"/>
            </a:endParaRPr>
          </a:p>
        </p:txBody>
      </p:sp>
      <p:sp>
        <p:nvSpPr>
          <p:cNvPr id="1048626" name="Rectangle 6"/>
          <p:cNvSpPr>
            <a:spLocks noChangeArrowheads="1"/>
          </p:cNvSpPr>
          <p:nvPr/>
        </p:nvSpPr>
        <p:spPr bwMode="auto">
          <a:xfrm>
            <a:off x="152400" y="593239"/>
            <a:ext cx="8610600" cy="4917440"/>
          </a:xfrm>
          <a:prstGeom prst="rect">
            <a:avLst/>
          </a:prstGeom>
          <a:noFill/>
          <a:ln>
            <a:noFill/>
          </a:ln>
          <a:effectLst/>
        </p:spPr>
        <p:txBody>
          <a:bodyPr anchor="ctr">
            <a:spAutoFit/>
          </a:bodyPr>
          <a:lstStyle/>
          <a:p>
            <a:pPr algn="just" eaLnBrk="1" hangingPunct="1"/>
            <a:r>
              <a:rPr lang="en-US" sz="2800" b="1">
                <a:effectLst>
                  <a:outerShdw blurRad="38100" dist="38100" dir="2700000" algn="tl">
                    <a:srgbClr val="C0C0C0"/>
                  </a:outerShdw>
                </a:effectLst>
                <a:latin typeface="Times New Roman" panose="02020603050405020304" pitchFamily="18" charset="0"/>
              </a:rPr>
              <a:t>A </a:t>
            </a:r>
            <a:r>
              <a:rPr lang="en-US" sz="2800" b="1">
                <a:solidFill>
                  <a:schemeClr val="hlink"/>
                </a:solidFill>
                <a:effectLst>
                  <a:outerShdw blurRad="38100" dist="38100" dir="2700000" algn="tl">
                    <a:srgbClr val="C0C0C0"/>
                  </a:outerShdw>
                </a:effectLst>
                <a:latin typeface="Times New Roman" panose="02020603050405020304" pitchFamily="18" charset="0"/>
              </a:rPr>
              <a:t>network</a:t>
            </a:r>
            <a:r>
              <a:rPr lang="en-US" sz="2800" b="1">
                <a:effectLst>
                  <a:outerShdw blurRad="38100" dist="38100" dir="2700000" algn="tl">
                    <a:srgbClr val="C0C0C0"/>
                  </a:outerShdw>
                </a:effectLst>
                <a:latin typeface="Times New Roman" panose="02020603050405020304" pitchFamily="18" charset="0"/>
              </a:rPr>
              <a:t> is a set of devices (often referred to as </a:t>
            </a:r>
            <a:r>
              <a:rPr lang="en-US" sz="2800" b="1">
                <a:solidFill>
                  <a:schemeClr val="hlink"/>
                </a:solidFill>
                <a:effectLst>
                  <a:outerShdw blurRad="38100" dist="38100" dir="2700000" algn="tl">
                    <a:srgbClr val="C0C0C0"/>
                  </a:outerShdw>
                </a:effectLst>
                <a:latin typeface="Times New Roman" panose="02020603050405020304" pitchFamily="18" charset="0"/>
              </a:rPr>
              <a:t>nodes</a:t>
            </a:r>
            <a:r>
              <a:rPr lang="en-US" sz="2800" b="1">
                <a:effectLst>
                  <a:outerShdw blurRad="38100" dist="38100" dir="2700000" algn="tl">
                    <a:srgbClr val="C0C0C0"/>
                  </a:outerShdw>
                </a:effectLst>
                <a:latin typeface="Times New Roman" panose="02020603050405020304" pitchFamily="18" charset="0"/>
              </a:rPr>
              <a:t>) connected by communication </a:t>
            </a:r>
            <a:r>
              <a:rPr lang="en-US" sz="2800" b="1">
                <a:solidFill>
                  <a:schemeClr val="hlink"/>
                </a:solidFill>
                <a:effectLst>
                  <a:outerShdw blurRad="38100" dist="38100" dir="2700000" algn="tl">
                    <a:srgbClr val="C0C0C0"/>
                  </a:outerShdw>
                </a:effectLst>
                <a:latin typeface="Times New Roman" panose="02020603050405020304" pitchFamily="18" charset="0"/>
              </a:rPr>
              <a:t>links</a:t>
            </a:r>
            <a:r>
              <a:rPr lang="en-US" sz="2800" b="1">
                <a:effectLst>
                  <a:outerShdw blurRad="38100" dist="38100" dir="2700000" algn="tl">
                    <a:srgbClr val="C0C0C0"/>
                  </a:outerShdw>
                </a:effectLst>
                <a:latin typeface="Times New Roman" panose="02020603050405020304" pitchFamily="18" charset="0"/>
              </a:rPr>
              <a:t>. </a:t>
            </a:r>
          </a:p>
          <a:p>
            <a:pPr algn="just" eaLnBrk="1" hangingPunct="1"/>
            <a:endParaRPr lang="en-US" sz="2800" b="1">
              <a:effectLst>
                <a:outerShdw blurRad="38100" dist="38100" dir="2700000" algn="tl">
                  <a:srgbClr val="C0C0C0"/>
                </a:outerShdw>
              </a:effectLst>
              <a:latin typeface="Times New Roman" panose="02020603050405020304" pitchFamily="18" charset="0"/>
            </a:endParaRPr>
          </a:p>
          <a:p>
            <a:pPr algn="just" eaLnBrk="1" hangingPunct="1"/>
            <a:r>
              <a:rPr lang="en-US" sz="2800" b="1">
                <a:effectLst>
                  <a:outerShdw blurRad="38100" dist="38100" dir="2700000" algn="tl">
                    <a:srgbClr val="C0C0C0"/>
                  </a:outerShdw>
                </a:effectLst>
                <a:latin typeface="Times New Roman" panose="02020603050405020304" pitchFamily="18" charset="0"/>
              </a:rPr>
              <a:t>A node can be a computer, printer, or any other device capable of sending and/or receiving data generated by other nodes on the network. </a:t>
            </a:r>
          </a:p>
          <a:p>
            <a:pPr algn="just" eaLnBrk="1" hangingPunct="1"/>
            <a:endParaRPr lang="en-US" sz="2800" b="1">
              <a:effectLst>
                <a:outerShdw blurRad="38100" dist="38100" dir="2700000" algn="tl">
                  <a:srgbClr val="C0C0C0"/>
                </a:outerShdw>
              </a:effectLst>
              <a:latin typeface="Times New Roman" panose="02020603050405020304" pitchFamily="18" charset="0"/>
            </a:endParaRPr>
          </a:p>
          <a:p>
            <a:pPr algn="just" eaLnBrk="1" hangingPunct="1"/>
            <a:r>
              <a:rPr lang="en-US" sz="2800" b="1">
                <a:effectLst>
                  <a:outerShdw blurRad="38100" dist="38100" dir="2700000" algn="tl">
                    <a:srgbClr val="C0C0C0"/>
                  </a:outerShdw>
                </a:effectLst>
                <a:latin typeface="Times New Roman" panose="02020603050405020304" pitchFamily="18" charset="0"/>
              </a:rPr>
              <a:t>A link can be a cable, air, optical fiber, or any medium which can transport a signal carrying information.</a:t>
            </a:r>
          </a:p>
        </p:txBody>
      </p:sp>
    </p:spTree>
  </p:cSld>
  <p:clrMapOvr>
    <a:overrideClrMapping bg1="lt1" tx1="dk1" bg2="lt2" tx2="dk2" accent1="accent1" accent2="accent2" accent3="accent3" accent4="accent4" accent5="accent5" accent6="accent6" hlink="hlink" folHlink="folHlink"/>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48630" name="Line 3"/>
          <p:cNvSpPr>
            <a:spLocks noChangeShapeType="1"/>
          </p:cNvSpPr>
          <p:nvPr/>
        </p:nvSpPr>
        <p:spPr bwMode="auto">
          <a:xfrm>
            <a:off x="152400" y="1066800"/>
            <a:ext cx="8763000" cy="0"/>
          </a:xfrm>
          <a:prstGeom prst="line">
            <a:avLst/>
          </a:prstGeom>
          <a:noFill/>
          <a:ln w="19050">
            <a:solidFill>
              <a:schemeClr val="hlink"/>
            </a:solidFill>
            <a:round/>
          </a:ln>
          <a:effectLst/>
        </p:spPr>
        <p:txBody>
          <a:bodyPr/>
          <a:lstStyle/>
          <a:p>
            <a:endParaRPr lang="en-US"/>
          </a:p>
        </p:txBody>
      </p:sp>
      <p:sp>
        <p:nvSpPr>
          <p:cNvPr id="1048631" name="Text Box 4"/>
          <p:cNvSpPr txBox="1">
            <a:spLocks noChangeArrowheads="1"/>
          </p:cNvSpPr>
          <p:nvPr/>
        </p:nvSpPr>
        <p:spPr bwMode="auto">
          <a:xfrm>
            <a:off x="609600" y="566133"/>
            <a:ext cx="3769787" cy="574039"/>
          </a:xfrm>
          <a:prstGeom prst="rect">
            <a:avLst/>
          </a:prstGeom>
          <a:noFill/>
          <a:ln>
            <a:noFill/>
          </a:ln>
          <a:effectLst/>
        </p:spPr>
        <p:txBody>
          <a:bodyPr wrap="none">
            <a:spAutoFit/>
          </a:bodyPr>
          <a:lstStyle/>
          <a:p>
            <a:r>
              <a:rPr lang="en-US" sz="2800" b="1">
                <a:solidFill>
                  <a:schemeClr val="accent1">
                    <a:lumMod val="75000"/>
                  </a:schemeClr>
                </a:solidFill>
                <a:latin typeface="Times New Roman" panose="02020603050405020304" pitchFamily="18" charset="0"/>
              </a:rPr>
              <a:t>NETWORK CRITERIA</a:t>
            </a:r>
            <a:endParaRPr lang="en-US" sz="3200" b="1" i="1">
              <a:solidFill>
                <a:schemeClr val="accent1">
                  <a:lumMod val="75000"/>
                </a:schemeClr>
              </a:solidFill>
              <a:latin typeface="Times New Roman" panose="02020603050405020304" pitchFamily="18" charset="0"/>
            </a:endParaRPr>
          </a:p>
        </p:txBody>
      </p:sp>
      <p:sp>
        <p:nvSpPr>
          <p:cNvPr id="1048632" name="Text Box 7"/>
          <p:cNvSpPr txBox="1">
            <a:spLocks noChangeArrowheads="1"/>
          </p:cNvSpPr>
          <p:nvPr/>
        </p:nvSpPr>
        <p:spPr bwMode="auto">
          <a:xfrm>
            <a:off x="457200" y="1524000"/>
            <a:ext cx="7315200" cy="396240"/>
          </a:xfrm>
          <a:prstGeom prst="rect">
            <a:avLst/>
          </a:prstGeom>
          <a:noFill/>
          <a:ln>
            <a:noFill/>
          </a:ln>
          <a:effectLst/>
        </p:spPr>
        <p:txBody>
          <a:bodyPr>
            <a:spAutoFit/>
          </a:bodyPr>
          <a:lstStyle/>
          <a:p>
            <a:endParaRPr lang="en-US"/>
          </a:p>
        </p:txBody>
      </p:sp>
      <p:sp>
        <p:nvSpPr>
          <p:cNvPr id="1048633" name="Rectangle 9"/>
          <p:cNvSpPr>
            <a:spLocks noGrp="1" noChangeArrowheads="1"/>
          </p:cNvSpPr>
          <p:nvPr>
            <p:ph type="body" idx="1"/>
          </p:nvPr>
        </p:nvSpPr>
        <p:spPr bwMode="auto">
          <a:xfrm>
            <a:off x="457200" y="1371600"/>
            <a:ext cx="7772400" cy="4663440"/>
          </a:xfrm>
          <a:noFill/>
        </p:spPr>
        <p:txBody>
          <a:bodyPr vert="horz" wrap="square" lIns="91440" tIns="45720" rIns="91440" bIns="45720" numCol="1" anchor="t" anchorCtr="0" compatLnSpc="1"/>
          <a:lstStyle/>
          <a:p>
            <a:r>
              <a:rPr lang="en-US" sz="2800" b="1">
                <a:solidFill>
                  <a:schemeClr val="accent6">
                    <a:lumMod val="75000"/>
                  </a:schemeClr>
                </a:solidFill>
                <a:latin typeface="Times New Roman" panose="02020603050405020304" pitchFamily="18" charset="0"/>
              </a:rPr>
              <a:t>Performance</a:t>
            </a:r>
          </a:p>
          <a:p>
            <a:pPr marL="685800" lvl="1" indent="-342900">
              <a:buFont typeface="Arial" panose="020B0604020202020204" pitchFamily="34" charset="0"/>
              <a:buChar char="•"/>
            </a:pPr>
            <a:r>
              <a:rPr lang="en-US" sz="2400">
                <a:solidFill>
                  <a:schemeClr val="tx1"/>
                </a:solidFill>
                <a:latin typeface="Times New Roman" panose="02020603050405020304" pitchFamily="18" charset="0"/>
              </a:rPr>
              <a:t>Depends on Network Elements</a:t>
            </a:r>
          </a:p>
          <a:p>
            <a:pPr marL="685800" lvl="1" indent="-342900">
              <a:buFont typeface="Arial" panose="020B0604020202020204" pitchFamily="34" charset="0"/>
              <a:buChar char="•"/>
            </a:pPr>
            <a:r>
              <a:rPr lang="en-US" sz="2400">
                <a:solidFill>
                  <a:schemeClr val="tx1"/>
                </a:solidFill>
                <a:latin typeface="Times New Roman" panose="02020603050405020304" pitchFamily="18" charset="0"/>
              </a:rPr>
              <a:t>Measured in terms of Delay and Throughput</a:t>
            </a:r>
          </a:p>
          <a:p>
            <a:r>
              <a:rPr lang="en-US" sz="2800" b="1">
                <a:solidFill>
                  <a:schemeClr val="accent6">
                    <a:lumMod val="75000"/>
                  </a:schemeClr>
                </a:solidFill>
                <a:latin typeface="Times New Roman" panose="02020603050405020304" pitchFamily="18" charset="0"/>
              </a:rPr>
              <a:t>Reliability</a:t>
            </a:r>
          </a:p>
          <a:p>
            <a:pPr marL="685800" lvl="1" indent="-342900">
              <a:buFont typeface="Arial" panose="020B0604020202020204" pitchFamily="34" charset="0"/>
              <a:buChar char="•"/>
            </a:pPr>
            <a:r>
              <a:rPr lang="en-US" sz="2400">
                <a:solidFill>
                  <a:schemeClr val="tx1"/>
                </a:solidFill>
                <a:latin typeface="Times New Roman" panose="02020603050405020304" pitchFamily="18" charset="0"/>
              </a:rPr>
              <a:t>Failure rate of network components</a:t>
            </a:r>
          </a:p>
          <a:p>
            <a:pPr marL="685800" lvl="1" indent="-342900">
              <a:buFont typeface="Arial" panose="020B0604020202020204" pitchFamily="34" charset="0"/>
              <a:buChar char="•"/>
            </a:pPr>
            <a:r>
              <a:rPr lang="en-US" sz="2400">
                <a:solidFill>
                  <a:schemeClr val="tx1"/>
                </a:solidFill>
                <a:latin typeface="Times New Roman" panose="02020603050405020304" pitchFamily="18" charset="0"/>
              </a:rPr>
              <a:t>Measured in terms of availability/robustness</a:t>
            </a:r>
          </a:p>
          <a:p>
            <a:r>
              <a:rPr lang="en-US" sz="2800" b="1">
                <a:solidFill>
                  <a:schemeClr val="accent6">
                    <a:lumMod val="75000"/>
                  </a:schemeClr>
                </a:solidFill>
                <a:latin typeface="Times New Roman" panose="02020603050405020304" pitchFamily="18" charset="0"/>
              </a:rPr>
              <a:t>Security</a:t>
            </a:r>
          </a:p>
          <a:p>
            <a:pPr marL="685800" lvl="1" indent="-342900">
              <a:buFont typeface="Arial" panose="020B0604020202020204" pitchFamily="34" charset="0"/>
              <a:buChar char="•"/>
            </a:pPr>
            <a:r>
              <a:rPr lang="en-US" sz="2400">
                <a:solidFill>
                  <a:schemeClr val="tx1"/>
                </a:solidFill>
                <a:latin typeface="Times New Roman" panose="02020603050405020304" pitchFamily="18" charset="0"/>
              </a:rPr>
              <a:t>Data protection against corruption/loss of data due to:</a:t>
            </a:r>
          </a:p>
          <a:p>
            <a:pPr marL="1314450" lvl="3" indent="-285750">
              <a:buFont typeface="Arial" panose="020B0604020202020204" pitchFamily="34" charset="0"/>
              <a:buChar char="•"/>
            </a:pPr>
            <a:r>
              <a:rPr lang="en-US">
                <a:solidFill>
                  <a:schemeClr val="tx1"/>
                </a:solidFill>
                <a:latin typeface="Times New Roman" panose="02020603050405020304" pitchFamily="18" charset="0"/>
              </a:rPr>
              <a:t>Errors</a:t>
            </a:r>
          </a:p>
          <a:p>
            <a:pPr marL="1314450" lvl="3" indent="-285750">
              <a:buFont typeface="Arial" panose="020B0604020202020204" pitchFamily="34" charset="0"/>
              <a:buChar char="•"/>
            </a:pPr>
            <a:r>
              <a:rPr lang="en-US">
                <a:solidFill>
                  <a:schemeClr val="tx1"/>
                </a:solidFill>
                <a:latin typeface="Times New Roman" panose="02020603050405020304" pitchFamily="18" charset="0"/>
              </a:rPr>
              <a:t>Malicious users</a:t>
            </a:r>
          </a:p>
        </p:txBody>
      </p:sp>
    </p:spTree>
  </p:cSld>
  <p:clrMapOvr>
    <a:overrideClrMapping bg1="lt1" tx1="dk1" bg2="lt2" tx2="dk2" accent1="accent1" accent2="accent2" accent3="accent3" accent4="accent4" accent5="accent5" accent6="accent6" hlink="hlink" folHlink="folHlink"/>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48637" name="Line 3"/>
          <p:cNvSpPr>
            <a:spLocks noChangeShapeType="1"/>
          </p:cNvSpPr>
          <p:nvPr/>
        </p:nvSpPr>
        <p:spPr bwMode="auto">
          <a:xfrm>
            <a:off x="152400" y="1066800"/>
            <a:ext cx="8763000" cy="0"/>
          </a:xfrm>
          <a:prstGeom prst="line">
            <a:avLst/>
          </a:prstGeom>
          <a:noFill/>
          <a:ln w="19050">
            <a:solidFill>
              <a:schemeClr val="hlink"/>
            </a:solidFill>
            <a:round/>
          </a:ln>
          <a:effectLst/>
        </p:spPr>
        <p:txBody>
          <a:bodyPr/>
          <a:lstStyle/>
          <a:p>
            <a:endParaRPr lang="en-US"/>
          </a:p>
        </p:txBody>
      </p:sp>
      <p:sp>
        <p:nvSpPr>
          <p:cNvPr id="1048638" name="Text Box 4"/>
          <p:cNvSpPr txBox="1">
            <a:spLocks noChangeArrowheads="1"/>
          </p:cNvSpPr>
          <p:nvPr/>
        </p:nvSpPr>
        <p:spPr bwMode="auto">
          <a:xfrm>
            <a:off x="304800" y="361950"/>
            <a:ext cx="4472554" cy="574039"/>
          </a:xfrm>
          <a:prstGeom prst="rect">
            <a:avLst/>
          </a:prstGeom>
          <a:noFill/>
          <a:ln>
            <a:noFill/>
          </a:ln>
          <a:effectLst/>
        </p:spPr>
        <p:txBody>
          <a:bodyPr wrap="none">
            <a:spAutoFit/>
          </a:bodyPr>
          <a:lstStyle/>
          <a:p>
            <a:r>
              <a:rPr lang="en-US" sz="2800" b="1">
                <a:solidFill>
                  <a:schemeClr val="tx2">
                    <a:lumMod val="60000"/>
                    <a:lumOff val="40000"/>
                  </a:schemeClr>
                </a:solidFill>
                <a:latin typeface="Times New Roman" panose="02020603050405020304" pitchFamily="18" charset="0"/>
              </a:rPr>
              <a:t>PHYSICAL STRUCTURES</a:t>
            </a:r>
            <a:endParaRPr lang="en-US" sz="2000" b="1" i="1">
              <a:solidFill>
                <a:schemeClr val="tx2">
                  <a:lumMod val="60000"/>
                  <a:lumOff val="40000"/>
                </a:schemeClr>
              </a:solidFill>
              <a:latin typeface="Times New Roman" panose="02020603050405020304" pitchFamily="18" charset="0"/>
            </a:endParaRPr>
          </a:p>
        </p:txBody>
      </p:sp>
      <p:sp>
        <p:nvSpPr>
          <p:cNvPr id="1048639" name="Text Box 6"/>
          <p:cNvSpPr txBox="1">
            <a:spLocks noChangeArrowheads="1"/>
          </p:cNvSpPr>
          <p:nvPr/>
        </p:nvSpPr>
        <p:spPr bwMode="auto">
          <a:xfrm>
            <a:off x="457200" y="1524000"/>
            <a:ext cx="7315200" cy="396240"/>
          </a:xfrm>
          <a:prstGeom prst="rect">
            <a:avLst/>
          </a:prstGeom>
          <a:noFill/>
          <a:ln>
            <a:noFill/>
          </a:ln>
          <a:effectLst/>
        </p:spPr>
        <p:txBody>
          <a:bodyPr>
            <a:spAutoFit/>
          </a:bodyPr>
          <a:lstStyle/>
          <a:p>
            <a:endParaRPr lang="en-US"/>
          </a:p>
        </p:txBody>
      </p:sp>
      <p:sp>
        <p:nvSpPr>
          <p:cNvPr id="1048640" name="Rectangle 7"/>
          <p:cNvSpPr>
            <a:spLocks noGrp="1" noChangeArrowheads="1"/>
          </p:cNvSpPr>
          <p:nvPr>
            <p:ph type="body" idx="1"/>
          </p:nvPr>
        </p:nvSpPr>
        <p:spPr bwMode="auto">
          <a:xfrm>
            <a:off x="457200" y="1511241"/>
            <a:ext cx="7772400" cy="2862322"/>
          </a:xfrm>
          <a:noFill/>
        </p:spPr>
        <p:txBody>
          <a:bodyPr vert="horz" wrap="square" lIns="91440" tIns="45720" rIns="91440" bIns="45720" numCol="1" anchor="t" anchorCtr="0" compatLnSpc="1"/>
          <a:lstStyle/>
          <a:p>
            <a:r>
              <a:rPr lang="en-US" sz="2800" b="1">
                <a:solidFill>
                  <a:schemeClr val="tx1"/>
                </a:solidFill>
                <a:latin typeface="Times New Roman" panose="02020603050405020304" pitchFamily="18" charset="0"/>
              </a:rPr>
              <a:t>Type of Connection</a:t>
            </a:r>
          </a:p>
          <a:p>
            <a:pPr marL="685800" lvl="1" indent="-342900">
              <a:buFont typeface="Arial" panose="020B0604020202020204" pitchFamily="34" charset="0"/>
              <a:buChar char="•"/>
            </a:pPr>
            <a:r>
              <a:rPr lang="en-US" sz="2400">
                <a:solidFill>
                  <a:schemeClr val="tx1"/>
                </a:solidFill>
                <a:latin typeface="Times New Roman" panose="02020603050405020304" pitchFamily="18" charset="0"/>
              </a:rPr>
              <a:t>Point to Point - single transmitter and receiver</a:t>
            </a:r>
          </a:p>
          <a:p>
            <a:pPr marL="685800" lvl="1" indent="-342900">
              <a:buFont typeface="Arial" panose="020B0604020202020204" pitchFamily="34" charset="0"/>
              <a:buChar char="•"/>
            </a:pPr>
            <a:r>
              <a:rPr lang="en-US" sz="2400">
                <a:solidFill>
                  <a:schemeClr val="tx1"/>
                </a:solidFill>
                <a:latin typeface="Times New Roman" panose="02020603050405020304" pitchFamily="18" charset="0"/>
              </a:rPr>
              <a:t>Multipoint - multiple recipients of single transmission</a:t>
            </a:r>
          </a:p>
          <a:p>
            <a:endParaRPr lang="en-US" sz="2800" b="1">
              <a:solidFill>
                <a:schemeClr val="tx1"/>
              </a:solidFill>
              <a:latin typeface="Times New Roman" panose="02020603050405020304" pitchFamily="18" charset="0"/>
            </a:endParaRPr>
          </a:p>
          <a:p>
            <a:r>
              <a:rPr lang="en-US" sz="2800" b="1">
                <a:solidFill>
                  <a:schemeClr val="tx1"/>
                </a:solidFill>
                <a:latin typeface="Times New Roman" panose="02020603050405020304" pitchFamily="18" charset="0"/>
              </a:rPr>
              <a:t>Physical Topology</a:t>
            </a:r>
          </a:p>
          <a:p>
            <a:pPr marL="685800" lvl="1" indent="-342900">
              <a:buFont typeface="Arial" panose="020B0604020202020204" pitchFamily="34" charset="0"/>
              <a:buChar char="•"/>
            </a:pPr>
            <a:r>
              <a:rPr lang="en-US" sz="2400">
                <a:solidFill>
                  <a:schemeClr val="tx1"/>
                </a:solidFill>
                <a:latin typeface="Times New Roman" panose="02020603050405020304" pitchFamily="18" charset="0"/>
              </a:rPr>
              <a:t>Connection of devices</a:t>
            </a:r>
          </a:p>
          <a:p>
            <a:pPr marL="685800" lvl="1" indent="-342900">
              <a:buFont typeface="Arial" panose="020B0604020202020204" pitchFamily="34" charset="0"/>
              <a:buChar char="•"/>
            </a:pPr>
            <a:r>
              <a:rPr lang="en-US" sz="2400">
                <a:solidFill>
                  <a:schemeClr val="tx1"/>
                </a:solidFill>
                <a:latin typeface="Times New Roman" panose="02020603050405020304" pitchFamily="18" charset="0"/>
              </a:rPr>
              <a:t>Type of transmission - unicast, multicast, broadcast</a:t>
            </a:r>
          </a:p>
        </p:txBody>
      </p:sp>
    </p:spTree>
  </p:cSld>
  <p:clrMapOvr>
    <a:overrideClrMapping bg1="lt1" tx1="dk1" bg2="lt2" tx2="dk2" accent1="accent1" accent2="accent2" accent3="accent3" accent4="accent4" accent5="accent5" accent6="accent6" hlink="hlink" folHlink="folHlink"/>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48644" name="Line 2"/>
          <p:cNvSpPr>
            <a:spLocks noChangeShapeType="1"/>
          </p:cNvSpPr>
          <p:nvPr/>
        </p:nvSpPr>
        <p:spPr bwMode="auto">
          <a:xfrm>
            <a:off x="152400" y="228600"/>
            <a:ext cx="8763000" cy="0"/>
          </a:xfrm>
          <a:prstGeom prst="line">
            <a:avLst/>
          </a:prstGeom>
          <a:noFill/>
          <a:ln w="76200">
            <a:solidFill>
              <a:schemeClr val="hlink"/>
            </a:solidFill>
            <a:round/>
          </a:ln>
          <a:effectLst/>
        </p:spPr>
        <p:txBody>
          <a:bodyPr/>
          <a:lstStyle/>
          <a:p>
            <a:endParaRPr lang="en-US"/>
          </a:p>
        </p:txBody>
      </p:sp>
      <p:sp>
        <p:nvSpPr>
          <p:cNvPr id="1048645" name="Line 3"/>
          <p:cNvSpPr>
            <a:spLocks noChangeShapeType="1"/>
          </p:cNvSpPr>
          <p:nvPr/>
        </p:nvSpPr>
        <p:spPr bwMode="auto">
          <a:xfrm>
            <a:off x="152400" y="1066800"/>
            <a:ext cx="8763000" cy="0"/>
          </a:xfrm>
          <a:prstGeom prst="line">
            <a:avLst/>
          </a:prstGeom>
          <a:noFill/>
          <a:ln w="19050">
            <a:solidFill>
              <a:schemeClr val="hlink"/>
            </a:solidFill>
            <a:round/>
          </a:ln>
          <a:effectLst/>
        </p:spPr>
        <p:txBody>
          <a:bodyPr/>
          <a:lstStyle/>
          <a:p>
            <a:endParaRPr lang="en-US"/>
          </a:p>
        </p:txBody>
      </p:sp>
      <p:sp>
        <p:nvSpPr>
          <p:cNvPr id="1048646" name="Text Box 4"/>
          <p:cNvSpPr txBox="1">
            <a:spLocks noChangeArrowheads="1"/>
          </p:cNvSpPr>
          <p:nvPr/>
        </p:nvSpPr>
        <p:spPr bwMode="auto">
          <a:xfrm>
            <a:off x="304800" y="457200"/>
            <a:ext cx="7256582" cy="510539"/>
          </a:xfrm>
          <a:prstGeom prst="rect">
            <a:avLst/>
          </a:prstGeom>
          <a:noFill/>
          <a:ln>
            <a:noFill/>
          </a:ln>
          <a:effectLst/>
        </p:spPr>
        <p:txBody>
          <a:bodyPr wrap="none">
            <a:spAutoFit/>
          </a:bodyPr>
          <a:lstStyle/>
          <a:p>
            <a:r>
              <a:rPr lang="en-US" sz="2400" b="1">
                <a:solidFill>
                  <a:schemeClr val="accent1">
                    <a:lumMod val="60000"/>
                    <a:lumOff val="40000"/>
                  </a:schemeClr>
                </a:solidFill>
                <a:latin typeface="Times New Roman" panose="02020603050405020304" pitchFamily="18" charset="0"/>
              </a:rPr>
              <a:t>Types of connections: point-to-point and multipoint</a:t>
            </a:r>
          </a:p>
        </p:txBody>
      </p:sp>
      <p:pic>
        <p:nvPicPr>
          <p:cNvPr id="2097158" name="Picture 6"/>
          <p:cNvPicPr>
            <a:picLocks noChangeAspect="1" noChangeArrowheads="1"/>
          </p:cNvPicPr>
          <p:nvPr/>
        </p:nvPicPr>
        <p:blipFill>
          <a:blip r:embed="rId4"/>
          <a:srcRect/>
          <a:stretch>
            <a:fillRect/>
          </a:stretch>
        </p:blipFill>
        <p:spPr bwMode="auto">
          <a:xfrm>
            <a:off x="990600" y="1214736"/>
            <a:ext cx="6827837" cy="3997325"/>
          </a:xfrm>
          <a:prstGeom prst="rect">
            <a:avLst/>
          </a:prstGeom>
          <a:noFill/>
          <a:ln>
            <a:noFill/>
          </a:ln>
          <a:effectLst/>
        </p:spPr>
      </p:pic>
    </p:spTree>
  </p:cSld>
  <p:clrMapOvr>
    <a:overrideClrMapping bg1="lt1" tx1="dk1" bg2="lt2" tx2="dk2" accent1="accent1" accent2="accent2" accent3="accent3" accent4="accent4" accent5="accent5" accent6="accent6" hlink="hlink" folHlink="folHlink"/>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48650" name="Title 1"/>
          <p:cNvSpPr>
            <a:spLocks noGrp="1"/>
          </p:cNvSpPr>
          <p:nvPr>
            <p:ph type="title"/>
          </p:nvPr>
        </p:nvSpPr>
        <p:spPr>
          <a:xfrm>
            <a:off x="457200" y="914400"/>
            <a:ext cx="8229600" cy="469900"/>
          </a:xfrm>
        </p:spPr>
        <p:txBody>
          <a:bodyPr/>
          <a:lstStyle/>
          <a:p>
            <a:pPr algn="l"/>
            <a:r>
              <a:rPr lang="en-US" b="1">
                <a:latin typeface="Times New Roman" panose="02020603050405020304" pitchFamily="18" charset="0"/>
                <a:cs typeface="Times New Roman" panose="02020603050405020304" pitchFamily="18" charset="0"/>
              </a:rPr>
              <a:t>NETWORK  TOPOLOGY</a:t>
            </a:r>
          </a:p>
        </p:txBody>
      </p:sp>
      <p:sp>
        <p:nvSpPr>
          <p:cNvPr id="1048651" name="Content Placeholder 2"/>
          <p:cNvSpPr>
            <a:spLocks noGrp="1"/>
          </p:cNvSpPr>
          <p:nvPr>
            <p:ph type="body" idx="1"/>
          </p:nvPr>
        </p:nvSpPr>
        <p:spPr>
          <a:xfrm>
            <a:off x="685800" y="1981200"/>
            <a:ext cx="8229600" cy="2616200"/>
          </a:xfrm>
        </p:spPr>
        <p:txBody>
          <a:bodyPr/>
          <a:lstStyle/>
          <a:p>
            <a:pPr marL="0" indent="0" algn="just">
              <a:buNone/>
            </a:pPr>
            <a:r>
              <a:rPr lang="en-US" sz="2800" b="1">
                <a:latin typeface="Times New Roman" panose="02020603050405020304" pitchFamily="18" charset="0"/>
                <a:cs typeface="Times New Roman" panose="02020603050405020304" pitchFamily="18" charset="0"/>
              </a:rPr>
              <a:t>Network Topology is the schematic description of a network arrangement, connecting various nodes(sender and receiver) through lines of connection.</a:t>
            </a:r>
          </a:p>
          <a:p>
            <a:pPr marL="0" indent="0" algn="just">
              <a:buNone/>
            </a:pPr>
            <a:endParaRPr lang="en-US">
              <a:latin typeface="Baskerville Old Face" panose="02020602080505020303" pitchFamily="18" charset="0"/>
            </a:endParaRPr>
          </a:p>
          <a:p>
            <a:pPr marL="0" indent="0" algn="just">
              <a:buNone/>
            </a:pPr>
            <a:endParaRPr lang="en-US">
              <a:latin typeface="Baskerville Old Face" panose="02020602080505020303" pitchFamily="18" charset="0"/>
            </a:endParaRPr>
          </a:p>
        </p:txBody>
      </p:sp>
    </p:spTree>
  </p:cSld>
  <p:clrMapOvr>
    <a:overrideClrMapping bg1="lt1" tx1="dk1" bg2="lt2" tx2="dk2" accent1="accent1" accent2="accent2" accent3="accent3" accent4="accent4" accent5="accent5" accent6="accent6" hlink="hlink" folHlink="folHlink"/>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48652" name="Title 1"/>
          <p:cNvSpPr>
            <a:spLocks noGrp="1"/>
          </p:cNvSpPr>
          <p:nvPr>
            <p:ph type="title"/>
          </p:nvPr>
        </p:nvSpPr>
        <p:spPr>
          <a:xfrm>
            <a:off x="457200" y="457200"/>
            <a:ext cx="8229600" cy="627889"/>
          </a:xfrm>
        </p:spPr>
        <p:txBody>
          <a:bodyPr>
            <a:noAutofit/>
          </a:bodyPr>
          <a:lstStyle/>
          <a:p>
            <a:pPr algn="l"/>
            <a:r>
              <a:rPr lang="en-US" sz="3200" b="1">
                <a:latin typeface="Times New Roman" panose="02020603050405020304" pitchFamily="18" charset="0"/>
                <a:cs typeface="Times New Roman" panose="02020603050405020304" pitchFamily="18" charset="0"/>
              </a:rPr>
              <a:t>TYPES OF NETWORK TOPOLOGIES</a:t>
            </a:r>
            <a:endParaRPr lang="en-IN" sz="3200" b="1">
              <a:latin typeface="Times New Roman" panose="02020603050405020304" pitchFamily="18" charset="0"/>
              <a:cs typeface="Times New Roman" panose="02020603050405020304" pitchFamily="18" charset="0"/>
            </a:endParaRPr>
          </a:p>
        </p:txBody>
      </p:sp>
      <p:sp>
        <p:nvSpPr>
          <p:cNvPr id="1048653" name="Content Placeholder 3"/>
          <p:cNvSpPr>
            <a:spLocks noGrp="1"/>
          </p:cNvSpPr>
          <p:nvPr>
            <p:ph type="body" idx="1"/>
          </p:nvPr>
        </p:nvSpPr>
        <p:spPr>
          <a:xfrm>
            <a:off x="914400" y="3065060"/>
            <a:ext cx="5715000" cy="2514600"/>
          </a:xfrm>
        </p:spPr>
        <p:txBody>
          <a:bodyPr/>
          <a:lstStyle/>
          <a:p>
            <a:pPr marL="457200" indent="-457200">
              <a:buFont typeface="+mj-lt"/>
              <a:buAutoNum type="arabicPeriod"/>
            </a:pPr>
            <a:r>
              <a:rPr lang="en-US" sz="2400" b="1">
                <a:latin typeface="Times New Roman" panose="02020603050405020304" pitchFamily="18" charset="0"/>
                <a:cs typeface="Times New Roman" panose="02020603050405020304" pitchFamily="18" charset="0"/>
              </a:rPr>
              <a:t>Bus Topology</a:t>
            </a:r>
          </a:p>
          <a:p>
            <a:pPr marL="457200" indent="-457200">
              <a:buFont typeface="+mj-lt"/>
              <a:buAutoNum type="arabicPeriod"/>
            </a:pPr>
            <a:r>
              <a:rPr lang="en-US" sz="2400" b="1">
                <a:latin typeface="Times New Roman" panose="02020603050405020304" pitchFamily="18" charset="0"/>
                <a:cs typeface="Times New Roman" panose="02020603050405020304" pitchFamily="18" charset="0"/>
              </a:rPr>
              <a:t>Ring Topology</a:t>
            </a:r>
          </a:p>
          <a:p>
            <a:pPr marL="457200" indent="-457200">
              <a:buFont typeface="+mj-lt"/>
              <a:buAutoNum type="arabicPeriod"/>
            </a:pPr>
            <a:r>
              <a:rPr lang="en-US" sz="2400" b="1">
                <a:latin typeface="Times New Roman" panose="02020603050405020304" pitchFamily="18" charset="0"/>
                <a:cs typeface="Times New Roman" panose="02020603050405020304" pitchFamily="18" charset="0"/>
              </a:rPr>
              <a:t>Star Topology</a:t>
            </a:r>
          </a:p>
          <a:p>
            <a:pPr marL="457200" indent="-457200">
              <a:buFont typeface="+mj-lt"/>
              <a:buAutoNum type="arabicPeriod"/>
            </a:pPr>
            <a:r>
              <a:rPr lang="en-US" sz="2400" b="1">
                <a:latin typeface="Times New Roman" panose="02020603050405020304" pitchFamily="18" charset="0"/>
                <a:cs typeface="Times New Roman" panose="02020603050405020304" pitchFamily="18" charset="0"/>
              </a:rPr>
              <a:t>Mesh Topology</a:t>
            </a:r>
          </a:p>
          <a:p>
            <a:pPr marL="457200" indent="-457200">
              <a:buFont typeface="+mj-lt"/>
              <a:buAutoNum type="arabicPeriod"/>
            </a:pPr>
            <a:r>
              <a:rPr lang="en-US" sz="2400" b="1">
                <a:latin typeface="Times New Roman" panose="02020603050405020304" pitchFamily="18" charset="0"/>
                <a:cs typeface="Times New Roman" panose="02020603050405020304" pitchFamily="18" charset="0"/>
              </a:rPr>
              <a:t>Tree Topology</a:t>
            </a:r>
          </a:p>
          <a:p>
            <a:pPr marL="457200" indent="-457200">
              <a:buFont typeface="+mj-lt"/>
              <a:buAutoNum type="arabicPeriod"/>
            </a:pPr>
            <a:r>
              <a:rPr lang="en-US" sz="2400" b="1">
                <a:latin typeface="Times New Roman" panose="02020603050405020304" pitchFamily="18" charset="0"/>
                <a:cs typeface="Times New Roman" panose="02020603050405020304" pitchFamily="18" charset="0"/>
              </a:rPr>
              <a:t>Hybrid Topology</a:t>
            </a:r>
            <a:endParaRPr lang="en-IN" sz="2400" b="1">
              <a:latin typeface="Times New Roman" panose="02020603050405020304" pitchFamily="18" charset="0"/>
              <a:cs typeface="Times New Roman" panose="02020603050405020304" pitchFamily="18" charset="0"/>
            </a:endParaRPr>
          </a:p>
        </p:txBody>
      </p:sp>
      <p:pic>
        <p:nvPicPr>
          <p:cNvPr id="2097159" name="Picture 5"/>
          <p:cNvPicPr>
            <a:picLocks noChangeAspect="1"/>
          </p:cNvPicPr>
          <p:nvPr/>
        </p:nvPicPr>
        <p:blipFill rotWithShape="1">
          <a:blip r:embed="rId3"/>
          <a:srcRect b="15000"/>
          <a:stretch>
            <a:fillRect/>
          </a:stretch>
        </p:blipFill>
        <p:spPr>
          <a:xfrm>
            <a:off x="1638300" y="1085089"/>
            <a:ext cx="6057900" cy="1962911"/>
          </a:xfrm>
          <a:prstGeom prst="rect">
            <a:avLst/>
          </a:prstGeom>
        </p:spPr>
      </p:pic>
    </p:spTree>
  </p:cSld>
  <p:clrMapOvr>
    <a:overrideClrMapping bg1="lt1" tx1="dk1" bg2="lt2" tx2="dk2" accent1="accent1" accent2="accent2" accent3="accent3" accent4="accent4" accent5="accent5" accent6="accent6" hlink="hlink" folHlink="folHlink"/>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48654" name="Title 14"/>
          <p:cNvSpPr>
            <a:spLocks noGrp="1"/>
          </p:cNvSpPr>
          <p:nvPr>
            <p:ph type="title"/>
          </p:nvPr>
        </p:nvSpPr>
        <p:spPr>
          <a:xfrm>
            <a:off x="304800" y="381000"/>
            <a:ext cx="8458200" cy="698500"/>
          </a:xfrm>
        </p:spPr>
        <p:txBody>
          <a:bodyPr/>
          <a:lstStyle/>
          <a:p>
            <a:pPr algn="ctr"/>
            <a:r>
              <a:rPr lang="en-US" sz="4000" b="1">
                <a:latin typeface="Times New Roman" panose="02020603050405020304" pitchFamily="18" charset="0"/>
                <a:cs typeface="Times New Roman" panose="02020603050405020304" pitchFamily="18" charset="0"/>
              </a:rPr>
              <a:t>BUS TOPOLOGY</a:t>
            </a:r>
          </a:p>
        </p:txBody>
      </p:sp>
      <p:sp>
        <p:nvSpPr>
          <p:cNvPr id="1048655" name="Rectangle 13"/>
          <p:cNvSpPr>
            <a:spLocks noChangeArrowheads="1"/>
          </p:cNvSpPr>
          <p:nvPr/>
        </p:nvSpPr>
        <p:spPr bwMode="auto">
          <a:xfrm>
            <a:off x="152400" y="1057811"/>
            <a:ext cx="8458200" cy="1920240"/>
          </a:xfrm>
          <a:prstGeom prst="rect">
            <a:avLst/>
          </a:prstGeom>
          <a:noFill/>
          <a:ln w="9525">
            <a:noFill/>
            <a:miter lim="800000"/>
          </a:ln>
          <a:effectLst/>
        </p:spPr>
        <p:txBody>
          <a:bodyPr vert="horz" wrap="square" lIns="91440" tIns="45720" rIns="91440" bIns="45720" numCol="1" anchor="ctr" anchorCtr="0" compatLnSpc="1">
            <a:spAutoFit/>
          </a:bodyPr>
          <a:lstStyle/>
          <a:p>
            <a:pPr marL="0" marR="0" lvl="0" indent="0" algn="just" defTabSz="914400" rtl="0" eaLnBrk="1" fontAlgn="base" latinLnBrk="0" hangingPunct="1">
              <a:lnSpc>
                <a:spcPct val="100000"/>
              </a:lnSpc>
              <a:spcBef>
                <a:spcPct val="0"/>
              </a:spcBef>
              <a:spcAft>
                <a:spcPct val="0"/>
              </a:spcAft>
              <a:buClrTx/>
              <a:buSzTx/>
              <a:buFontTx/>
              <a:buNone/>
            </a:pPr>
            <a:r>
              <a:rPr kumimoji="0" lang="en-US" sz="2600" b="0" i="0" u="none" strike="noStrike" cap="none" normalizeH="0" baseline="0">
                <a:ln>
                  <a:noFill/>
                </a:ln>
                <a:solidFill>
                  <a:srgbClr val="333333"/>
                </a:solidFill>
                <a:effectLst/>
                <a:latin typeface="Times New Roman" panose="02020603050405020304" pitchFamily="18" charset="0"/>
                <a:cs typeface="Times New Roman" panose="02020603050405020304" pitchFamily="18" charset="0"/>
              </a:rPr>
              <a:t>Bus topology is a network type in which every computer and network device connected to single cable. When it has exactly two endpoints, then it is called </a:t>
            </a:r>
            <a:r>
              <a:rPr kumimoji="0" lang="en-US" sz="2600" b="1" i="0" u="none" strike="noStrike" cap="none" normalizeH="0" baseline="0">
                <a:ln>
                  <a:noFill/>
                </a:ln>
                <a:solidFill>
                  <a:srgbClr val="333333"/>
                </a:solidFill>
                <a:effectLst/>
                <a:latin typeface="Times New Roman" panose="02020603050405020304" pitchFamily="18" charset="0"/>
                <a:cs typeface="Times New Roman" panose="02020603050405020304" pitchFamily="18" charset="0"/>
              </a:rPr>
              <a:t>Linear Bus topology</a:t>
            </a:r>
            <a:r>
              <a:rPr kumimoji="0" lang="en-US" sz="2600" b="0" i="0" u="none" strike="noStrike" cap="none" normalizeH="0" baseline="0">
                <a:ln>
                  <a:noFill/>
                </a:ln>
                <a:solidFill>
                  <a:srgbClr val="333333"/>
                </a:solidFill>
                <a:effectLst/>
                <a:latin typeface="Times New Roman" panose="02020603050405020304" pitchFamily="18" charset="0"/>
                <a:cs typeface="Times New Roman" panose="02020603050405020304" pitchFamily="18" charset="0"/>
              </a:rPr>
              <a:t>.  </a:t>
            </a:r>
          </a:p>
        </p:txBody>
      </p:sp>
      <p:sp>
        <p:nvSpPr>
          <p:cNvPr id="1048656" name="Rectangle 5"/>
          <p:cNvSpPr/>
          <p:nvPr/>
        </p:nvSpPr>
        <p:spPr>
          <a:xfrm>
            <a:off x="381000" y="3236485"/>
            <a:ext cx="8458200" cy="1463039"/>
          </a:xfrm>
          <a:prstGeom prst="rect">
            <a:avLst/>
          </a:prstGeom>
        </p:spPr>
        <p:txBody>
          <a:bodyPr wrap="square">
            <a:spAutoFit/>
          </a:bodyPr>
          <a:lstStyle/>
          <a:p>
            <a:r>
              <a:rPr lang="en-US" sz="2600" b="1">
                <a:latin typeface="Times New Roman" panose="02020603050405020304" pitchFamily="18" charset="0"/>
                <a:cs typeface="Times New Roman" panose="02020603050405020304" pitchFamily="18" charset="0"/>
              </a:rPr>
              <a:t>Features of Bus Topology</a:t>
            </a:r>
          </a:p>
          <a:p>
            <a:pPr marL="457200" indent="-457200">
              <a:buFont typeface="Arial" panose="020B0604020202020204" pitchFamily="34" charset="0"/>
              <a:buChar char="•"/>
            </a:pPr>
            <a:r>
              <a:rPr lang="en-US" sz="2600">
                <a:latin typeface="Times New Roman" panose="02020603050405020304" pitchFamily="18" charset="0"/>
                <a:cs typeface="Times New Roman" panose="02020603050405020304" pitchFamily="18" charset="0"/>
              </a:rPr>
              <a:t>It transmits data only in one direction.</a:t>
            </a:r>
          </a:p>
          <a:p>
            <a:pPr marL="457200" indent="-457200">
              <a:buFont typeface="Arial" panose="020B0604020202020204" pitchFamily="34" charset="0"/>
              <a:buChar char="•"/>
            </a:pPr>
            <a:r>
              <a:rPr lang="en-US" sz="2600">
                <a:latin typeface="Times New Roman" panose="02020603050405020304" pitchFamily="18" charset="0"/>
                <a:cs typeface="Times New Roman" panose="02020603050405020304" pitchFamily="18" charset="0"/>
              </a:rPr>
              <a:t>Every device is connected to a single cable</a:t>
            </a:r>
          </a:p>
        </p:txBody>
      </p:sp>
    </p:spTree>
  </p:cSld>
  <p:clrMapOvr>
    <a:overrideClrMapping bg1="lt1" tx1="dk1" bg2="lt2" tx2="dk2" accent1="accent1" accent2="accent2" accent3="accent3" accent4="accent4" accent5="accent5" accent6="accent6" hlink="hlink" folHlink="folHlink"/>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48661" name="Title 2"/>
          <p:cNvSpPr>
            <a:spLocks noGrp="1"/>
          </p:cNvSpPr>
          <p:nvPr>
            <p:ph type="title"/>
          </p:nvPr>
        </p:nvSpPr>
        <p:spPr>
          <a:xfrm>
            <a:off x="380999" y="4419600"/>
            <a:ext cx="8305800" cy="704850"/>
          </a:xfrm>
        </p:spPr>
        <p:txBody>
          <a:bodyPr>
            <a:normAutofit/>
          </a:bodyPr>
          <a:lstStyle/>
          <a:p>
            <a:pPr algn="ctr"/>
            <a:r>
              <a:rPr lang="en-US" sz="3200">
                <a:latin typeface="Baskerville Old Face" panose="02020602080505020303" pitchFamily="18" charset="0"/>
              </a:rPr>
              <a:t>Bus Topology</a:t>
            </a:r>
            <a:endParaRPr lang="en-IN" sz="3200">
              <a:latin typeface="Baskerville Old Face" panose="02020602080505020303" pitchFamily="18" charset="0"/>
            </a:endParaRPr>
          </a:p>
        </p:txBody>
      </p:sp>
      <p:pic>
        <p:nvPicPr>
          <p:cNvPr id="2097160" name="Picture 6"/>
          <p:cNvPicPr>
            <a:picLocks noChangeAspect="1" noChangeArrowheads="1"/>
          </p:cNvPicPr>
          <p:nvPr/>
        </p:nvPicPr>
        <p:blipFill>
          <a:blip r:embed="rId3"/>
          <a:srcRect/>
          <a:stretch>
            <a:fillRect/>
          </a:stretch>
        </p:blipFill>
        <p:spPr bwMode="auto">
          <a:xfrm>
            <a:off x="589756" y="1905000"/>
            <a:ext cx="7888287" cy="1668463"/>
          </a:xfrm>
          <a:prstGeom prst="rect">
            <a:avLst/>
          </a:prstGeom>
          <a:noFill/>
          <a:ln>
            <a:noFill/>
          </a:ln>
          <a:effectLst/>
        </p:spPr>
      </p:pic>
    </p:spTree>
  </p:cSld>
  <p:clrMapOvr>
    <a:overrideClrMapping bg1="lt1" tx1="dk1" bg2="lt2" tx2="dk2" accent1="accent1" accent2="accent2" accent3="accent3" accent4="accent4" accent5="accent5" accent6="accent6" hlink="hlink" folHlink="folHlink"/>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48668" name="Content Placeholder 3"/>
          <p:cNvSpPr>
            <a:spLocks noGrp="1"/>
          </p:cNvSpPr>
          <p:nvPr>
            <p:ph sz="half" idx="2"/>
          </p:nvPr>
        </p:nvSpPr>
        <p:spPr>
          <a:xfrm>
            <a:off x="4876800" y="990600"/>
            <a:ext cx="4038600" cy="4953000"/>
          </a:xfrm>
        </p:spPr>
        <p:txBody>
          <a:bodyPr>
            <a:normAutofit fontScale="25000" lnSpcReduction="20000"/>
          </a:bodyPr>
          <a:lstStyle/>
          <a:p>
            <a:pPr marL="0" indent="0">
              <a:buNone/>
            </a:pPr>
            <a:r>
              <a:rPr lang="en-US" sz="10400" b="1">
                <a:latin typeface="Times New Roman" panose="02020603050405020304" pitchFamily="18" charset="0"/>
                <a:cs typeface="Times New Roman" panose="02020603050405020304" pitchFamily="18" charset="0"/>
              </a:rPr>
              <a:t>Disadvantages of Bus Topology</a:t>
            </a:r>
          </a:p>
          <a:p>
            <a:pPr lvl="1"/>
            <a:r>
              <a:rPr lang="en-US" sz="10200">
                <a:latin typeface="Times New Roman" panose="02020603050405020304" pitchFamily="18" charset="0"/>
                <a:cs typeface="Times New Roman" panose="02020603050405020304" pitchFamily="18" charset="0"/>
              </a:rPr>
              <a:t>Cables fails then whole network fails.</a:t>
            </a:r>
          </a:p>
          <a:p>
            <a:pPr lvl="1"/>
            <a:endParaRPr lang="en-US" sz="10200">
              <a:latin typeface="Times New Roman" panose="02020603050405020304" pitchFamily="18" charset="0"/>
              <a:cs typeface="Times New Roman" panose="02020603050405020304" pitchFamily="18" charset="0"/>
            </a:endParaRPr>
          </a:p>
          <a:p>
            <a:pPr lvl="1"/>
            <a:r>
              <a:rPr lang="en-US" sz="10200">
                <a:latin typeface="Times New Roman" panose="02020603050405020304" pitchFamily="18" charset="0"/>
                <a:cs typeface="Times New Roman" panose="02020603050405020304" pitchFamily="18" charset="0"/>
              </a:rPr>
              <a:t>If network traffic is heavy or nodes are more the performance of the network decreases.</a:t>
            </a:r>
          </a:p>
          <a:p>
            <a:pPr lvl="1"/>
            <a:endParaRPr lang="en-US" sz="10200">
              <a:latin typeface="Times New Roman" panose="02020603050405020304" pitchFamily="18" charset="0"/>
              <a:cs typeface="Times New Roman" panose="02020603050405020304" pitchFamily="18" charset="0"/>
            </a:endParaRPr>
          </a:p>
          <a:p>
            <a:pPr lvl="1"/>
            <a:r>
              <a:rPr lang="en-US" sz="10200">
                <a:latin typeface="Times New Roman" panose="02020603050405020304" pitchFamily="18" charset="0"/>
                <a:cs typeface="Times New Roman" panose="02020603050405020304" pitchFamily="18" charset="0"/>
              </a:rPr>
              <a:t>Cable has a limited length.</a:t>
            </a:r>
          </a:p>
          <a:p>
            <a:pPr lvl="1"/>
            <a:r>
              <a:rPr lang="en-US" sz="10200">
                <a:latin typeface="Times New Roman" panose="02020603050405020304" pitchFamily="18" charset="0"/>
                <a:cs typeface="Times New Roman" panose="02020603050405020304" pitchFamily="18" charset="0"/>
              </a:rPr>
              <a:t>It is slower than the ring topology.</a:t>
            </a:r>
            <a:br>
              <a:rPr lang="en-US" sz="10200"/>
            </a:br>
            <a:endParaRPr lang="en-US" sz="10200"/>
          </a:p>
          <a:p>
            <a:pPr lvl="1"/>
            <a:endParaRPr lang="en-IN"/>
          </a:p>
        </p:txBody>
      </p:sp>
      <p:sp>
        <p:nvSpPr>
          <p:cNvPr id="1048669" name="Content Placeholder 2"/>
          <p:cNvSpPr>
            <a:spLocks noGrp="1"/>
          </p:cNvSpPr>
          <p:nvPr>
            <p:ph sz="half" idx="3"/>
          </p:nvPr>
        </p:nvSpPr>
        <p:spPr>
          <a:xfrm>
            <a:off x="304800" y="990600"/>
            <a:ext cx="4038600" cy="4953000"/>
          </a:xfrm>
          <a:prstGeom prst="rect">
            <a:avLst/>
          </a:prstGeom>
        </p:spPr>
        <p:txBody>
          <a:bodyPr>
            <a:normAutofit fontScale="25000" lnSpcReduction="20000"/>
          </a:bodyPr>
          <a:lstStyle/>
          <a:p>
            <a:pPr marL="0" indent="0">
              <a:buNone/>
            </a:pPr>
            <a:r>
              <a:rPr lang="en-US" sz="10400" b="1">
                <a:latin typeface="Times New Roman" panose="02020603050405020304" pitchFamily="18" charset="0"/>
                <a:cs typeface="Times New Roman" panose="02020603050405020304" pitchFamily="18" charset="0"/>
              </a:rPr>
              <a:t>Advantages of Bus Topology</a:t>
            </a:r>
          </a:p>
          <a:p>
            <a:pPr lvl="1"/>
            <a:r>
              <a:rPr lang="en-US" sz="10400">
                <a:latin typeface="Times New Roman" panose="02020603050405020304" pitchFamily="18" charset="0"/>
                <a:cs typeface="Times New Roman" panose="02020603050405020304" pitchFamily="18" charset="0"/>
              </a:rPr>
              <a:t>It is cost effective and used in small networks.</a:t>
            </a:r>
          </a:p>
          <a:p>
            <a:pPr lvl="1"/>
            <a:endParaRPr lang="en-US" sz="10400">
              <a:latin typeface="Times New Roman" panose="02020603050405020304" pitchFamily="18" charset="0"/>
              <a:cs typeface="Times New Roman" panose="02020603050405020304" pitchFamily="18" charset="0"/>
            </a:endParaRPr>
          </a:p>
          <a:p>
            <a:pPr lvl="1"/>
            <a:r>
              <a:rPr lang="en-US" sz="10400">
                <a:latin typeface="Times New Roman" panose="02020603050405020304" pitchFamily="18" charset="0"/>
                <a:cs typeface="Times New Roman" panose="02020603050405020304" pitchFamily="18" charset="0"/>
              </a:rPr>
              <a:t>It is easy to understand.</a:t>
            </a:r>
          </a:p>
          <a:p>
            <a:pPr lvl="1"/>
            <a:r>
              <a:rPr lang="en-US" sz="10400">
                <a:latin typeface="Times New Roman" panose="02020603050405020304" pitchFamily="18" charset="0"/>
                <a:cs typeface="Times New Roman" panose="02020603050405020304" pitchFamily="18" charset="0"/>
              </a:rPr>
              <a:t>Easy to expand joining two cables together.</a:t>
            </a:r>
          </a:p>
          <a:p>
            <a:pPr lvl="1"/>
            <a:endParaRPr lang="en-US" sz="10400">
              <a:latin typeface="Times New Roman" panose="02020603050405020304" pitchFamily="18" charset="0"/>
              <a:cs typeface="Times New Roman" panose="02020603050405020304" pitchFamily="18" charset="0"/>
            </a:endParaRPr>
          </a:p>
          <a:p>
            <a:pPr lvl="1"/>
            <a:r>
              <a:rPr lang="en-US" sz="10400">
                <a:latin typeface="Times New Roman" panose="02020603050405020304" pitchFamily="18" charset="0"/>
                <a:cs typeface="Times New Roman" panose="02020603050405020304" pitchFamily="18" charset="0"/>
              </a:rPr>
              <a:t>Cable required is least compared to other network topology.</a:t>
            </a:r>
          </a:p>
          <a:p>
            <a:endParaRPr lang="en-US" sz="8600" b="1"/>
          </a:p>
        </p:txBody>
      </p:sp>
    </p:spTree>
  </p:cSld>
  <p:clrMapOvr>
    <a:overrideClrMapping bg1="lt1" tx1="dk1" bg2="lt2" tx2="dk2" accent1="accent1" accent2="accent2" accent3="accent3" accent4="accent4" accent5="accent5" accent6="accent6" hlink="hlink" folHlink="folHlink"/>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48670" name="Rectangle 5"/>
          <p:cNvSpPr/>
          <p:nvPr/>
        </p:nvSpPr>
        <p:spPr>
          <a:xfrm>
            <a:off x="357187" y="762000"/>
            <a:ext cx="8482013" cy="2308324"/>
          </a:xfrm>
          <a:prstGeom prst="rect">
            <a:avLst/>
          </a:prstGeom>
        </p:spPr>
        <p:txBody>
          <a:bodyPr wrap="square">
            <a:spAutoFit/>
          </a:bodyPr>
          <a:lstStyle/>
          <a:p>
            <a:pPr algn="ctr"/>
            <a:r>
              <a:rPr lang="en-US" sz="4000" b="1">
                <a:solidFill>
                  <a:schemeClr val="tx2">
                    <a:lumMod val="60000"/>
                    <a:lumOff val="40000"/>
                  </a:schemeClr>
                </a:solidFill>
                <a:latin typeface="Times New Roman" panose="02020603050405020304" pitchFamily="18" charset="0"/>
                <a:ea typeface="+mj-ea"/>
                <a:cs typeface="Times New Roman" panose="02020603050405020304" pitchFamily="18" charset="0"/>
              </a:rPr>
              <a:t>RING</a:t>
            </a:r>
            <a:r>
              <a:rPr lang="en-US" sz="4000" b="1">
                <a:solidFill>
                  <a:schemeClr val="tx2">
                    <a:lumMod val="60000"/>
                    <a:lumOff val="40000"/>
                  </a:schemeClr>
                </a:solidFill>
                <a:latin typeface="Times New Roman" panose="02020603050405020304" pitchFamily="18" charset="0"/>
                <a:cs typeface="Times New Roman" panose="02020603050405020304" pitchFamily="18" charset="0"/>
              </a:rPr>
              <a:t> </a:t>
            </a:r>
            <a:r>
              <a:rPr lang="en-US" sz="4000" b="1">
                <a:solidFill>
                  <a:schemeClr val="tx2">
                    <a:lumMod val="60000"/>
                    <a:lumOff val="40000"/>
                  </a:schemeClr>
                </a:solidFill>
                <a:latin typeface="Times New Roman" panose="02020603050405020304" pitchFamily="18" charset="0"/>
                <a:ea typeface="+mj-ea"/>
                <a:cs typeface="Times New Roman" panose="02020603050405020304" pitchFamily="18" charset="0"/>
              </a:rPr>
              <a:t>TOPOLOGY</a:t>
            </a:r>
          </a:p>
          <a:p>
            <a:pPr algn="just"/>
            <a:endParaRPr lang="en-US" sz="2600">
              <a:latin typeface="Baskerville Old Face" panose="02020602080505020303" pitchFamily="18" charset="0"/>
            </a:endParaRPr>
          </a:p>
          <a:p>
            <a:pPr algn="just"/>
            <a:r>
              <a:rPr lang="en-US" sz="2600">
                <a:latin typeface="Times New Roman" panose="02020603050405020304" pitchFamily="18" charset="0"/>
                <a:cs typeface="Times New Roman" panose="02020603050405020304" pitchFamily="18" charset="0"/>
              </a:rPr>
              <a:t>It is called ring topology because it forms a ring as each computer is connected to another computer, with the last one connected to the first. Exactly two neighbors for each device.</a:t>
            </a:r>
          </a:p>
        </p:txBody>
      </p:sp>
      <p:sp>
        <p:nvSpPr>
          <p:cNvPr id="1048671" name="Rectangle 4"/>
          <p:cNvSpPr/>
          <p:nvPr/>
        </p:nvSpPr>
        <p:spPr>
          <a:xfrm>
            <a:off x="357187" y="3224213"/>
            <a:ext cx="7924800" cy="2123658"/>
          </a:xfrm>
          <a:prstGeom prst="rect">
            <a:avLst/>
          </a:prstGeom>
        </p:spPr>
        <p:txBody>
          <a:bodyPr wrap="square">
            <a:spAutoFit/>
          </a:bodyPr>
          <a:lstStyle/>
          <a:p>
            <a:pPr algn="just"/>
            <a:r>
              <a:rPr lang="en-US" sz="2800" b="1">
                <a:latin typeface="Times New Roman" panose="02020603050405020304" pitchFamily="18" charset="0"/>
                <a:cs typeface="Times New Roman" panose="02020603050405020304" pitchFamily="18" charset="0"/>
              </a:rPr>
              <a:t>Features of Ring Topology</a:t>
            </a:r>
          </a:p>
          <a:p>
            <a:pPr marL="457200" indent="-457200" algn="just">
              <a:buFont typeface="Arial" panose="020B0604020202020204" pitchFamily="34" charset="0"/>
              <a:buChar char="•"/>
            </a:pPr>
            <a:r>
              <a:rPr lang="en-US" sz="2600">
                <a:latin typeface="Times New Roman" panose="02020603050405020304" pitchFamily="18" charset="0"/>
                <a:cs typeface="Times New Roman" panose="02020603050405020304" pitchFamily="18" charset="0"/>
              </a:rPr>
              <a:t>The transmission is unidirectional</a:t>
            </a:r>
          </a:p>
          <a:p>
            <a:pPr marL="457200" indent="-457200" algn="just">
              <a:buFont typeface="Arial" panose="020B0604020202020204" pitchFamily="34" charset="0"/>
              <a:buChar char="•"/>
            </a:pPr>
            <a:r>
              <a:rPr lang="en-US" sz="2600">
                <a:latin typeface="Times New Roman" panose="02020603050405020304" pitchFamily="18" charset="0"/>
                <a:cs typeface="Times New Roman" panose="02020603050405020304" pitchFamily="18" charset="0"/>
              </a:rPr>
              <a:t>Data is transferred in a sequential manner that is bit by bit. Data transmitted, has to pass through each node of the network, till the destination node.</a:t>
            </a:r>
          </a:p>
        </p:txBody>
      </p:sp>
    </p:spTree>
  </p:cSld>
  <p:clrMapOvr>
    <a:overrideClrMapping bg1="lt1" tx1="dk1" bg2="lt2" tx2="dk2" accent1="accent1" accent2="accent2" accent3="accent3" accent4="accent4" accent5="accent5" accent6="accent6" hlink="hlink" folHlink="folHlink"/>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48672" name="Title 2"/>
          <p:cNvSpPr txBox="1"/>
          <p:nvPr/>
        </p:nvSpPr>
        <p:spPr>
          <a:xfrm>
            <a:off x="228600" y="228600"/>
            <a:ext cx="8305800" cy="704850"/>
          </a:xfrm>
          <a:prstGeom prst="rect">
            <a:avLst/>
          </a:prstGeom>
        </p:spPr>
        <p:txBody>
          <a:bodyPr>
            <a:normAutofit/>
          </a:bodyPr>
          <a:lstStyle>
            <a:lvl1pPr algn="l" rtl="0" eaLnBrk="1" latinLnBrk="0" hangingPunct="1">
              <a:spcBef>
                <a:spcPct val="0"/>
              </a:spcBef>
              <a:buNone/>
              <a:defRPr kumimoji="0" sz="5000" b="0" kern="1200">
                <a:ln>
                  <a:noFill/>
                </a:ln>
                <a:solidFill>
                  <a:schemeClr val="tx2"/>
                </a:solidFill>
                <a:effectLst/>
                <a:latin typeface="+mj-lt"/>
                <a:ea typeface="+mj-ea"/>
                <a:cs typeface="+mj-cs"/>
              </a:defRPr>
            </a:lvl1pPr>
          </a:lstStyle>
          <a:p>
            <a:pPr algn="ctr"/>
            <a:r>
              <a:rPr lang="en-US" sz="3200">
                <a:latin typeface="Baskerville Old Face" panose="02020602080505020303" pitchFamily="18" charset="0"/>
              </a:rPr>
              <a:t>Ring Topology</a:t>
            </a:r>
            <a:endParaRPr lang="en-IN" sz="3200">
              <a:latin typeface="Baskerville Old Face" panose="02020602080505020303" pitchFamily="18" charset="0"/>
            </a:endParaRPr>
          </a:p>
        </p:txBody>
      </p:sp>
      <p:pic>
        <p:nvPicPr>
          <p:cNvPr id="2097161" name="Picture 7"/>
          <p:cNvPicPr>
            <a:picLocks noChangeAspect="1" noChangeArrowheads="1"/>
          </p:cNvPicPr>
          <p:nvPr/>
        </p:nvPicPr>
        <p:blipFill>
          <a:blip r:embed="rId3"/>
          <a:srcRect/>
          <a:stretch>
            <a:fillRect/>
          </a:stretch>
        </p:blipFill>
        <p:spPr bwMode="auto">
          <a:xfrm>
            <a:off x="246063" y="1219200"/>
            <a:ext cx="8593137" cy="3800475"/>
          </a:xfrm>
          <a:prstGeom prst="rect">
            <a:avLst/>
          </a:prstGeom>
          <a:noFill/>
          <a:ln>
            <a:noFill/>
          </a:ln>
          <a:effectLst/>
        </p:spPr>
      </p:pic>
    </p:spTree>
  </p:cSld>
  <p:clrMapOvr>
    <a:overrideClrMapping bg1="lt1" tx1="dk1" bg2="lt2" tx2="dk2" accent1="accent1" accent2="accent2" accent3="accent3" accent4="accent4" accent5="accent5" accent6="accent6" hlink="hlink" folHlink="folHlink"/>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48673" name="Rectangle 2"/>
          <p:cNvSpPr/>
          <p:nvPr/>
        </p:nvSpPr>
        <p:spPr>
          <a:xfrm>
            <a:off x="228600" y="533400"/>
            <a:ext cx="3962400" cy="5120640"/>
          </a:xfrm>
          <a:prstGeom prst="rect">
            <a:avLst/>
          </a:prstGeom>
        </p:spPr>
        <p:txBody>
          <a:bodyPr wrap="square">
            <a:spAutoFit/>
          </a:bodyPr>
          <a:lstStyle/>
          <a:p>
            <a:pPr lvl="0" fontAlgn="base">
              <a:spcBef>
                <a:spcPct val="0"/>
              </a:spcBef>
              <a:spcAft>
                <a:spcPct val="0"/>
              </a:spcAft>
            </a:pPr>
            <a:r>
              <a:rPr lang="en-US" sz="2600" b="1">
                <a:solidFill>
                  <a:srgbClr val="333333"/>
                </a:solidFill>
                <a:latin typeface="Times New Roman" panose="02020603050405020304" pitchFamily="18" charset="0"/>
                <a:cs typeface="Times New Roman" panose="02020603050405020304" pitchFamily="18" charset="0"/>
              </a:rPr>
              <a:t>Advantages of Ring Topology</a:t>
            </a:r>
          </a:p>
          <a:p>
            <a:pPr marL="514350" lvl="0" indent="-514350" algn="just" eaLnBrk="0" fontAlgn="base" hangingPunct="0">
              <a:spcBef>
                <a:spcPct val="0"/>
              </a:spcBef>
              <a:spcAft>
                <a:spcPct val="0"/>
              </a:spcAft>
              <a:buFont typeface="Arial" panose="020B0604020202020204" pitchFamily="34" charset="0"/>
              <a:buChar char="•"/>
            </a:pPr>
            <a:r>
              <a:rPr lang="en-US" sz="2600">
                <a:solidFill>
                  <a:srgbClr val="333333"/>
                </a:solidFill>
                <a:latin typeface="Times New Roman" panose="02020603050405020304" pitchFamily="18" charset="0"/>
                <a:cs typeface="Times New Roman" panose="02020603050405020304" pitchFamily="18" charset="0"/>
              </a:rPr>
              <a:t>Transmitting network is not affected by high traffic or by adding more nodes, as only the nodes having tokens can transmit data.</a:t>
            </a:r>
          </a:p>
          <a:p>
            <a:pPr marL="514350" lvl="0" indent="-514350" algn="just" eaLnBrk="0" fontAlgn="base" hangingPunct="0">
              <a:spcBef>
                <a:spcPct val="0"/>
              </a:spcBef>
              <a:spcAft>
                <a:spcPct val="0"/>
              </a:spcAft>
              <a:buFont typeface="Arial" panose="020B0604020202020204" pitchFamily="34" charset="0"/>
              <a:buChar char="•"/>
            </a:pPr>
            <a:r>
              <a:rPr lang="en-US" sz="2600">
                <a:solidFill>
                  <a:srgbClr val="333333"/>
                </a:solidFill>
                <a:latin typeface="Times New Roman" panose="02020603050405020304" pitchFamily="18" charset="0"/>
                <a:cs typeface="Times New Roman" panose="02020603050405020304" pitchFamily="18" charset="0"/>
              </a:rPr>
              <a:t>Cheap to install and expand</a:t>
            </a:r>
            <a:endParaRPr lang="en-US" sz="2600">
              <a:latin typeface="Times New Roman" panose="02020603050405020304" pitchFamily="18" charset="0"/>
              <a:cs typeface="Times New Roman" panose="02020603050405020304" pitchFamily="18" charset="0"/>
            </a:endParaRPr>
          </a:p>
        </p:txBody>
      </p:sp>
      <p:sp>
        <p:nvSpPr>
          <p:cNvPr id="1048674" name="Content Placeholder 5"/>
          <p:cNvSpPr>
            <a:spLocks noGrp="1"/>
          </p:cNvSpPr>
          <p:nvPr>
            <p:ph sz="half" idx="2"/>
          </p:nvPr>
        </p:nvSpPr>
        <p:spPr>
          <a:xfrm>
            <a:off x="4495800" y="624161"/>
            <a:ext cx="4191000" cy="4002667"/>
          </a:xfrm>
        </p:spPr>
        <p:txBody>
          <a:bodyPr>
            <a:normAutofit fontScale="96786" lnSpcReduction="10000"/>
          </a:bodyPr>
          <a:lstStyle/>
          <a:p>
            <a:pPr marL="0" lvl="0" indent="0" eaLnBrk="0" fontAlgn="base" hangingPunct="0">
              <a:spcBef>
                <a:spcPct val="0"/>
              </a:spcBef>
              <a:spcAft>
                <a:spcPct val="0"/>
              </a:spcAft>
              <a:buNone/>
            </a:pPr>
            <a:r>
              <a:rPr lang="en-US" sz="2800" b="1">
                <a:solidFill>
                  <a:srgbClr val="333333"/>
                </a:solidFill>
                <a:latin typeface="Times New Roman" panose="02020603050405020304" pitchFamily="18" charset="0"/>
                <a:cs typeface="Times New Roman" panose="02020603050405020304" pitchFamily="18" charset="0"/>
              </a:rPr>
              <a:t>Disadvantages of Ring Topology</a:t>
            </a:r>
          </a:p>
          <a:p>
            <a:pPr marL="457200" lvl="0" indent="-457200" algn="just" eaLnBrk="0" fontAlgn="base" hangingPunct="0">
              <a:spcBef>
                <a:spcPct val="0"/>
              </a:spcBef>
              <a:spcAft>
                <a:spcPct val="0"/>
              </a:spcAft>
              <a:buFont typeface="Arial" panose="020B0604020202020204" pitchFamily="34" charset="0"/>
              <a:buChar char="•"/>
            </a:pPr>
            <a:r>
              <a:rPr lang="en-US" sz="2800">
                <a:solidFill>
                  <a:srgbClr val="333333"/>
                </a:solidFill>
                <a:latin typeface="Times New Roman" panose="02020603050405020304" pitchFamily="18" charset="0"/>
                <a:cs typeface="Times New Roman" panose="02020603050405020304" pitchFamily="18" charset="0"/>
              </a:rPr>
              <a:t>Troubleshooting is difficult in ring topology.</a:t>
            </a:r>
          </a:p>
          <a:p>
            <a:pPr marL="457200" lvl="0" indent="-457200" algn="just" eaLnBrk="0" fontAlgn="base" hangingPunct="0">
              <a:spcBef>
                <a:spcPct val="0"/>
              </a:spcBef>
              <a:spcAft>
                <a:spcPct val="0"/>
              </a:spcAft>
              <a:buFont typeface="Arial" panose="020B0604020202020204" pitchFamily="34" charset="0"/>
              <a:buChar char="•"/>
            </a:pPr>
            <a:r>
              <a:rPr lang="en-US" sz="2800">
                <a:solidFill>
                  <a:srgbClr val="333333"/>
                </a:solidFill>
                <a:latin typeface="Times New Roman" panose="02020603050405020304" pitchFamily="18" charset="0"/>
                <a:cs typeface="Times New Roman" panose="02020603050405020304" pitchFamily="18" charset="0"/>
              </a:rPr>
              <a:t>Adding or deleting the computers disturbs the network activity.</a:t>
            </a:r>
          </a:p>
          <a:p>
            <a:pPr marL="457200" lvl="0" indent="-457200" algn="just" eaLnBrk="0" fontAlgn="base" hangingPunct="0">
              <a:spcBef>
                <a:spcPct val="0"/>
              </a:spcBef>
              <a:spcAft>
                <a:spcPct val="0"/>
              </a:spcAft>
              <a:buFont typeface="Arial" panose="020B0604020202020204" pitchFamily="34" charset="0"/>
              <a:buChar char="•"/>
            </a:pPr>
            <a:r>
              <a:rPr lang="en-US" sz="2800">
                <a:solidFill>
                  <a:srgbClr val="333333"/>
                </a:solidFill>
                <a:latin typeface="Times New Roman" panose="02020603050405020304" pitchFamily="18" charset="0"/>
                <a:cs typeface="Times New Roman" panose="02020603050405020304" pitchFamily="18" charset="0"/>
              </a:rPr>
              <a:t>Failure of one computer disturbs the whole network.</a:t>
            </a:r>
          </a:p>
        </p:txBody>
      </p:sp>
    </p:spTree>
  </p:cSld>
  <p:clrMapOvr>
    <a:overrideClrMapping bg1="lt1" tx1="dk1" bg2="lt2" tx2="dk2" accent1="accent1" accent2="accent2" accent3="accent3" accent4="accent4" accent5="accent5" accent6="accent6" hlink="hlink" folHlink="folHlink"/>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85" name="Rectangle 3"/>
          <p:cNvSpPr/>
          <p:nvPr/>
        </p:nvSpPr>
        <p:spPr>
          <a:xfrm>
            <a:off x="457200" y="838200"/>
            <a:ext cx="8153400" cy="2987040"/>
          </a:xfrm>
          <a:prstGeom prst="rect">
            <a:avLst/>
          </a:prstGeom>
        </p:spPr>
        <p:txBody>
          <a:bodyPr wrap="square">
            <a:spAutoFit/>
          </a:bodyPr>
          <a:lstStyle/>
          <a:p>
            <a:pPr algn="ctr" fontAlgn="base">
              <a:spcBef>
                <a:spcPct val="0"/>
              </a:spcBef>
              <a:spcAft>
                <a:spcPct val="0"/>
              </a:spcAft>
            </a:pPr>
            <a:r>
              <a:rPr lang="en-US" sz="4400" b="1">
                <a:solidFill>
                  <a:schemeClr val="tx2"/>
                </a:solidFill>
                <a:latin typeface="Times New Roman" panose="02020603050405020304" pitchFamily="18" charset="0"/>
                <a:ea typeface="+mj-ea"/>
                <a:cs typeface="Times New Roman" panose="02020603050405020304" pitchFamily="18" charset="0"/>
              </a:rPr>
              <a:t>STAR TOPOLOGY</a:t>
            </a:r>
          </a:p>
          <a:p>
            <a:pPr algn="just"/>
            <a:endParaRPr lang="en-US"/>
          </a:p>
          <a:p>
            <a:pPr algn="just"/>
            <a:r>
              <a:rPr lang="en-US" sz="2600">
                <a:latin typeface="Times New Roman" panose="02020603050405020304" pitchFamily="18" charset="0"/>
                <a:cs typeface="Times New Roman" panose="02020603050405020304" pitchFamily="18" charset="0"/>
              </a:rPr>
              <a:t>In this type of topology all the computers are connected to a single hub through a cable. This hub is the central node and all others nodes are connected to the central node.</a:t>
            </a:r>
          </a:p>
        </p:txBody>
      </p:sp>
      <p:sp>
        <p:nvSpPr>
          <p:cNvPr id="1048686" name="Rectangle 5"/>
          <p:cNvSpPr/>
          <p:nvPr/>
        </p:nvSpPr>
        <p:spPr>
          <a:xfrm>
            <a:off x="304800" y="3352800"/>
            <a:ext cx="8730668" cy="2860040"/>
          </a:xfrm>
          <a:prstGeom prst="rect">
            <a:avLst/>
          </a:prstGeom>
        </p:spPr>
        <p:txBody>
          <a:bodyPr wrap="square">
            <a:spAutoFit/>
          </a:bodyPr>
          <a:lstStyle/>
          <a:p>
            <a:pPr algn="just"/>
            <a:r>
              <a:rPr lang="en-US" sz="2800" b="1">
                <a:latin typeface="Times New Roman" panose="02020603050405020304" pitchFamily="18" charset="0"/>
                <a:cs typeface="Times New Roman" panose="02020603050405020304" pitchFamily="18" charset="0"/>
              </a:rPr>
              <a:t>Features of Star Topology</a:t>
            </a:r>
          </a:p>
          <a:p>
            <a:pPr marL="457200" indent="-457200" algn="just">
              <a:buFont typeface="Arial" panose="020B0604020202020204" pitchFamily="34" charset="0"/>
              <a:buChar char="•"/>
            </a:pPr>
            <a:r>
              <a:rPr lang="en-US" sz="2600">
                <a:latin typeface="Times New Roman" panose="02020603050405020304" pitchFamily="18" charset="0"/>
                <a:cs typeface="Times New Roman" panose="02020603050405020304" pitchFamily="18" charset="0"/>
              </a:rPr>
              <a:t>Every node has its own dedicated connection to the hub.</a:t>
            </a:r>
          </a:p>
          <a:p>
            <a:pPr marL="457200" indent="-457200" algn="just">
              <a:buFont typeface="Arial" panose="020B0604020202020204" pitchFamily="34" charset="0"/>
              <a:buChar char="•"/>
            </a:pPr>
            <a:r>
              <a:rPr lang="en-US" sz="2600">
                <a:latin typeface="Times New Roman" panose="02020603050405020304" pitchFamily="18" charset="0"/>
                <a:cs typeface="Times New Roman" panose="02020603050405020304" pitchFamily="18" charset="0"/>
              </a:rPr>
              <a:t>Hub acts as a repeater for data flow.</a:t>
            </a:r>
          </a:p>
          <a:p>
            <a:pPr marL="457200" indent="-457200" algn="just">
              <a:buFont typeface="Arial" panose="020B0604020202020204" pitchFamily="34" charset="0"/>
              <a:buChar char="•"/>
            </a:pPr>
            <a:r>
              <a:rPr lang="en-US" sz="2600">
                <a:latin typeface="Times New Roman" panose="02020603050405020304" pitchFamily="18" charset="0"/>
                <a:cs typeface="Times New Roman" panose="02020603050405020304" pitchFamily="18" charset="0"/>
              </a:rPr>
              <a:t>Can be used with twisted pair, Optical Fiber or coaxial cable.</a:t>
            </a:r>
          </a:p>
        </p:txBody>
      </p:sp>
    </p:spTree>
    <p:extLst>
      <p:ext uri="{BB962C8B-B14F-4D97-AF65-F5344CB8AC3E}">
        <p14:creationId xmlns:p14="http://schemas.microsoft.com/office/powerpoint/2010/main" val="241942910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87" name="Title 1"/>
          <p:cNvSpPr>
            <a:spLocks noGrp="1"/>
          </p:cNvSpPr>
          <p:nvPr>
            <p:ph type="title"/>
          </p:nvPr>
        </p:nvSpPr>
        <p:spPr>
          <a:xfrm>
            <a:off x="533400" y="4724400"/>
            <a:ext cx="8305800" cy="627888"/>
          </a:xfrm>
        </p:spPr>
        <p:txBody>
          <a:bodyPr>
            <a:normAutofit/>
          </a:bodyPr>
          <a:lstStyle/>
          <a:p>
            <a:pPr algn="ctr"/>
            <a:r>
              <a:rPr lang="en-US" sz="3600">
                <a:latin typeface="+mn-lt"/>
              </a:rPr>
              <a:t>Star Topology</a:t>
            </a:r>
            <a:endParaRPr lang="en-IN" sz="3600">
              <a:latin typeface="+mn-lt"/>
            </a:endParaRPr>
          </a:p>
        </p:txBody>
      </p:sp>
      <p:pic>
        <p:nvPicPr>
          <p:cNvPr id="2097164" name="Picture 6"/>
          <p:cNvPicPr>
            <a:picLocks noChangeAspect="1" noChangeArrowheads="1"/>
          </p:cNvPicPr>
          <p:nvPr/>
        </p:nvPicPr>
        <p:blipFill>
          <a:blip r:embed="rId2"/>
          <a:srcRect/>
          <a:stretch>
            <a:fillRect/>
          </a:stretch>
        </p:blipFill>
        <p:spPr bwMode="auto">
          <a:xfrm>
            <a:off x="1600200" y="990600"/>
            <a:ext cx="5905500" cy="3148012"/>
          </a:xfrm>
          <a:prstGeom prst="rect">
            <a:avLst/>
          </a:prstGeom>
          <a:noFill/>
          <a:ln>
            <a:noFill/>
          </a:ln>
          <a:effectLst/>
        </p:spPr>
      </p:pic>
    </p:spTree>
    <p:extLst>
      <p:ext uri="{BB962C8B-B14F-4D97-AF65-F5344CB8AC3E}">
        <p14:creationId xmlns:p14="http://schemas.microsoft.com/office/powerpoint/2010/main" val="371371402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88" name="Rectangle 1"/>
          <p:cNvSpPr>
            <a:spLocks noChangeArrowheads="1"/>
          </p:cNvSpPr>
          <p:nvPr/>
        </p:nvSpPr>
        <p:spPr bwMode="auto">
          <a:xfrm>
            <a:off x="308212" y="-721791"/>
            <a:ext cx="4245266" cy="7216661"/>
          </a:xfrm>
          <a:prstGeom prst="rect">
            <a:avLst/>
          </a:prstGeom>
          <a:noFill/>
          <a:ln w="9525">
            <a:noFill/>
            <a:miter lim="800000"/>
          </a:ln>
          <a:effectLst/>
        </p:spPr>
        <p:txBody>
          <a:bodyPr vert="horz" wrap="square" lIns="91440" tIns="179331" rIns="91440" bIns="179331" numCol="1" anchor="ctr"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sz="2600" b="1" i="0" u="none" strike="noStrike" cap="none" normalizeH="0" baseline="0">
                <a:ln>
                  <a:noFill/>
                </a:ln>
                <a:solidFill>
                  <a:srgbClr val="333333"/>
                </a:solidFill>
                <a:effectLst/>
                <a:latin typeface="Times New Roman" panose="02020603050405020304" pitchFamily="18" charset="0"/>
                <a:cs typeface="Times New Roman" panose="02020603050405020304" pitchFamily="18" charset="0"/>
              </a:rPr>
              <a:t>Advantages of Star Topology</a:t>
            </a:r>
          </a:p>
          <a:p>
            <a:pPr marL="457200" marR="0" lvl="0" indent="-457200" algn="just" defTabSz="914400" rtl="0" eaLnBrk="0" fontAlgn="base" latinLnBrk="0" hangingPunct="0">
              <a:lnSpc>
                <a:spcPct val="100000"/>
              </a:lnSpc>
              <a:spcBef>
                <a:spcPct val="0"/>
              </a:spcBef>
              <a:spcAft>
                <a:spcPct val="0"/>
              </a:spcAft>
              <a:buClrTx/>
              <a:buSzTx/>
              <a:buFont typeface="Arial" panose="020B0604020202020204" pitchFamily="34" charset="0"/>
              <a:buChar char="•"/>
            </a:pPr>
            <a:r>
              <a:rPr kumimoji="0" lang="en-US" sz="2600" b="0" i="0" u="none" strike="noStrike" cap="none" normalizeH="0" baseline="0">
                <a:ln>
                  <a:noFill/>
                </a:ln>
                <a:solidFill>
                  <a:srgbClr val="333333"/>
                </a:solidFill>
                <a:effectLst/>
                <a:latin typeface="Times New Roman" panose="02020603050405020304" pitchFamily="18" charset="0"/>
                <a:cs typeface="Times New Roman" panose="02020603050405020304" pitchFamily="18" charset="0"/>
              </a:rPr>
              <a:t>Fast performance with few nodes and low network traffic.</a:t>
            </a:r>
          </a:p>
          <a:p>
            <a:pPr marL="457200" marR="0" lvl="0" indent="-457200" algn="just" defTabSz="914400" rtl="0" eaLnBrk="0" fontAlgn="base" latinLnBrk="0" hangingPunct="0">
              <a:lnSpc>
                <a:spcPct val="100000"/>
              </a:lnSpc>
              <a:spcBef>
                <a:spcPct val="0"/>
              </a:spcBef>
              <a:spcAft>
                <a:spcPct val="0"/>
              </a:spcAft>
              <a:buClrTx/>
              <a:buSzTx/>
              <a:buFont typeface="Arial" panose="020B0604020202020204" pitchFamily="34" charset="0"/>
              <a:buChar char="•"/>
            </a:pPr>
            <a:r>
              <a:rPr kumimoji="0" lang="en-US" sz="2600" b="0" i="0" u="none" strike="noStrike" cap="none" normalizeH="0" baseline="0">
                <a:ln>
                  <a:noFill/>
                </a:ln>
                <a:solidFill>
                  <a:srgbClr val="333333"/>
                </a:solidFill>
                <a:effectLst/>
                <a:latin typeface="Times New Roman" panose="02020603050405020304" pitchFamily="18" charset="0"/>
                <a:cs typeface="Times New Roman" panose="02020603050405020304" pitchFamily="18" charset="0"/>
              </a:rPr>
              <a:t>Hub can be upgraded easily.</a:t>
            </a:r>
          </a:p>
          <a:p>
            <a:pPr marL="457200" marR="0" lvl="0" indent="-457200" algn="just" defTabSz="914400" rtl="0" eaLnBrk="0" fontAlgn="base" latinLnBrk="0" hangingPunct="0">
              <a:lnSpc>
                <a:spcPct val="100000"/>
              </a:lnSpc>
              <a:spcBef>
                <a:spcPct val="0"/>
              </a:spcBef>
              <a:spcAft>
                <a:spcPct val="0"/>
              </a:spcAft>
              <a:buClrTx/>
              <a:buSzTx/>
              <a:buFont typeface="Arial" panose="020B0604020202020204" pitchFamily="34" charset="0"/>
              <a:buChar char="•"/>
            </a:pPr>
            <a:r>
              <a:rPr kumimoji="0" lang="en-US" sz="2600" b="0" i="0" u="none" strike="noStrike" cap="none" normalizeH="0" baseline="0">
                <a:ln>
                  <a:noFill/>
                </a:ln>
                <a:solidFill>
                  <a:srgbClr val="333333"/>
                </a:solidFill>
                <a:effectLst/>
                <a:latin typeface="Times New Roman" panose="02020603050405020304" pitchFamily="18" charset="0"/>
                <a:cs typeface="Times New Roman" panose="02020603050405020304" pitchFamily="18" charset="0"/>
              </a:rPr>
              <a:t>Easy to troubleshoot.</a:t>
            </a:r>
          </a:p>
          <a:p>
            <a:pPr marL="457200" marR="0" lvl="0" indent="-457200" algn="just" defTabSz="914400" rtl="0" eaLnBrk="0" fontAlgn="base" latinLnBrk="0" hangingPunct="0">
              <a:lnSpc>
                <a:spcPct val="100000"/>
              </a:lnSpc>
              <a:spcBef>
                <a:spcPct val="0"/>
              </a:spcBef>
              <a:spcAft>
                <a:spcPct val="0"/>
              </a:spcAft>
              <a:buClrTx/>
              <a:buSzTx/>
              <a:buFont typeface="Arial" panose="020B0604020202020204" pitchFamily="34" charset="0"/>
              <a:buChar char="•"/>
            </a:pPr>
            <a:r>
              <a:rPr kumimoji="0" lang="en-US" sz="2600" b="0" i="0" u="none" strike="noStrike" cap="none" normalizeH="0" baseline="0">
                <a:ln>
                  <a:noFill/>
                </a:ln>
                <a:solidFill>
                  <a:srgbClr val="333333"/>
                </a:solidFill>
                <a:effectLst/>
                <a:latin typeface="Times New Roman" panose="02020603050405020304" pitchFamily="18" charset="0"/>
                <a:cs typeface="Times New Roman" panose="02020603050405020304" pitchFamily="18" charset="0"/>
              </a:rPr>
              <a:t>Easy to setup and modify.</a:t>
            </a:r>
          </a:p>
          <a:p>
            <a:pPr marL="457200" marR="0" lvl="0" indent="-457200" algn="just" defTabSz="914400" rtl="0" eaLnBrk="0" fontAlgn="base" latinLnBrk="0" hangingPunct="0">
              <a:lnSpc>
                <a:spcPct val="100000"/>
              </a:lnSpc>
              <a:spcBef>
                <a:spcPct val="0"/>
              </a:spcBef>
              <a:spcAft>
                <a:spcPct val="0"/>
              </a:spcAft>
              <a:buClrTx/>
              <a:buSzTx/>
              <a:buFont typeface="Arial" panose="020B0604020202020204" pitchFamily="34" charset="0"/>
              <a:buChar char="•"/>
            </a:pPr>
            <a:r>
              <a:rPr kumimoji="0" lang="en-US" sz="2600" b="0" i="0" u="none" strike="noStrike" cap="none" normalizeH="0" baseline="0">
                <a:ln>
                  <a:noFill/>
                </a:ln>
                <a:solidFill>
                  <a:srgbClr val="333333"/>
                </a:solidFill>
                <a:effectLst/>
                <a:latin typeface="Times New Roman" panose="02020603050405020304" pitchFamily="18" charset="0"/>
                <a:cs typeface="Times New Roman" panose="02020603050405020304" pitchFamily="18" charset="0"/>
              </a:rPr>
              <a:t>Only that node is affected which has failed, rest of the nodes can work smoothly.</a:t>
            </a:r>
          </a:p>
        </p:txBody>
      </p:sp>
      <p:sp>
        <p:nvSpPr>
          <p:cNvPr id="1048689" name="Rectangle 3"/>
          <p:cNvSpPr>
            <a:spLocks noChangeArrowheads="1"/>
          </p:cNvSpPr>
          <p:nvPr/>
        </p:nvSpPr>
        <p:spPr bwMode="auto">
          <a:xfrm>
            <a:off x="0" y="-29845"/>
            <a:ext cx="182880" cy="1005840"/>
          </a:xfrm>
          <a:prstGeom prst="rect">
            <a:avLst/>
          </a:prstGeom>
          <a:noFill/>
          <a:ln w="9525">
            <a:noFill/>
            <a:miter lim="800000"/>
          </a:ln>
          <a:effectLst/>
        </p:spPr>
        <p:txBody>
          <a:bodyPr vert="horz" wrap="none" lIns="91440" tIns="45720" rIns="91440" bIns="45720" numCol="1" anchor="ctr"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pPr>
            <a:br>
              <a:rPr kumimoji="0" lang="en-US" sz="2600" b="0" i="0" u="none" strike="noStrike" cap="none" normalizeH="0" baseline="0">
                <a:ln>
                  <a:noFill/>
                </a:ln>
                <a:solidFill>
                  <a:schemeClr val="tx1"/>
                </a:solidFill>
                <a:effectLst/>
                <a:latin typeface="Baskerville Old Face" panose="02020602080505020303" pitchFamily="18" charset="0"/>
                <a:cs typeface="Arial" panose="020B0604020202020204" pitchFamily="34" charset="0"/>
              </a:rPr>
            </a:br>
            <a:endParaRPr kumimoji="0" lang="en-US" sz="2600" b="0" i="0" u="none" strike="noStrike" cap="none" normalizeH="0" baseline="0">
              <a:ln>
                <a:noFill/>
              </a:ln>
              <a:solidFill>
                <a:schemeClr val="tx1"/>
              </a:solidFill>
              <a:effectLst/>
              <a:latin typeface="Baskerville Old Face" panose="02020602080505020303" pitchFamily="18" charset="0"/>
              <a:cs typeface="Arial" panose="020B0604020202020204" pitchFamily="34" charset="0"/>
            </a:endParaRPr>
          </a:p>
        </p:txBody>
      </p:sp>
      <p:sp>
        <p:nvSpPr>
          <p:cNvPr id="1048690" name="Rectangle 1"/>
          <p:cNvSpPr>
            <a:spLocks noChangeArrowheads="1"/>
          </p:cNvSpPr>
          <p:nvPr/>
        </p:nvSpPr>
        <p:spPr bwMode="auto">
          <a:xfrm>
            <a:off x="4667860" y="-607877"/>
            <a:ext cx="4245266" cy="6759461"/>
          </a:xfrm>
          <a:prstGeom prst="rect">
            <a:avLst/>
          </a:prstGeom>
          <a:noFill/>
          <a:ln w="9525">
            <a:noFill/>
            <a:miter lim="800000"/>
          </a:ln>
          <a:effectLst/>
        </p:spPr>
        <p:txBody>
          <a:bodyPr vert="horz" wrap="square" lIns="91440" tIns="179331" rIns="91440" bIns="179331" numCol="1" anchor="ctr" anchorCtr="0" compatLnSpc="1">
            <a:spAutoFit/>
          </a:bodyPr>
          <a:lstStyle/>
          <a:p>
            <a:pPr lvl="0" eaLnBrk="0" fontAlgn="base" hangingPunct="0">
              <a:spcBef>
                <a:spcPct val="0"/>
              </a:spcBef>
              <a:spcAft>
                <a:spcPct val="0"/>
              </a:spcAft>
            </a:pPr>
            <a:r>
              <a:rPr lang="en-US" sz="2600" b="1">
                <a:solidFill>
                  <a:srgbClr val="333333"/>
                </a:solidFill>
                <a:latin typeface="Times New Roman" panose="02020603050405020304" pitchFamily="18" charset="0"/>
                <a:cs typeface="Times New Roman" panose="02020603050405020304" pitchFamily="18" charset="0"/>
              </a:rPr>
              <a:t>Disadvantages of Star Topology</a:t>
            </a:r>
          </a:p>
          <a:p>
            <a:pPr marL="457200" indent="-457200" algn="just" eaLnBrk="0" fontAlgn="base" hangingPunct="0">
              <a:spcBef>
                <a:spcPct val="0"/>
              </a:spcBef>
              <a:spcAft>
                <a:spcPct val="0"/>
              </a:spcAft>
              <a:buClrTx/>
              <a:buSzTx/>
              <a:buFont typeface="Arial" panose="020B0604020202020204" pitchFamily="34" charset="0"/>
              <a:buChar char="•"/>
            </a:pPr>
            <a:r>
              <a:rPr lang="en-US" sz="2600">
                <a:solidFill>
                  <a:srgbClr val="333333"/>
                </a:solidFill>
                <a:latin typeface="Times New Roman" panose="02020603050405020304" pitchFamily="18" charset="0"/>
                <a:cs typeface="Times New Roman" panose="02020603050405020304" pitchFamily="18" charset="0"/>
              </a:rPr>
              <a:t>Cost of installation is high.</a:t>
            </a:r>
          </a:p>
          <a:p>
            <a:pPr marL="457200" indent="-457200" algn="just" eaLnBrk="0" fontAlgn="base" hangingPunct="0">
              <a:spcBef>
                <a:spcPct val="0"/>
              </a:spcBef>
              <a:spcAft>
                <a:spcPct val="0"/>
              </a:spcAft>
              <a:buClrTx/>
              <a:buSzTx/>
              <a:buFont typeface="Arial" panose="020B0604020202020204" pitchFamily="34" charset="0"/>
              <a:buChar char="•"/>
            </a:pPr>
            <a:r>
              <a:rPr lang="en-US" sz="2600">
                <a:solidFill>
                  <a:srgbClr val="333333"/>
                </a:solidFill>
                <a:latin typeface="Times New Roman" panose="02020603050405020304" pitchFamily="18" charset="0"/>
                <a:cs typeface="Times New Roman" panose="02020603050405020304" pitchFamily="18" charset="0"/>
              </a:rPr>
              <a:t>Expensive to use.</a:t>
            </a:r>
          </a:p>
          <a:p>
            <a:pPr marL="457200" indent="-457200" algn="just" eaLnBrk="0" fontAlgn="base" hangingPunct="0">
              <a:spcBef>
                <a:spcPct val="0"/>
              </a:spcBef>
              <a:spcAft>
                <a:spcPct val="0"/>
              </a:spcAft>
              <a:buClrTx/>
              <a:buSzTx/>
              <a:buFont typeface="Arial" panose="020B0604020202020204" pitchFamily="34" charset="0"/>
              <a:buChar char="•"/>
            </a:pPr>
            <a:r>
              <a:rPr lang="en-US" sz="2600">
                <a:solidFill>
                  <a:srgbClr val="333333"/>
                </a:solidFill>
                <a:latin typeface="Times New Roman" panose="02020603050405020304" pitchFamily="18" charset="0"/>
                <a:cs typeface="Times New Roman" panose="02020603050405020304" pitchFamily="18" charset="0"/>
              </a:rPr>
              <a:t>If the hub fails then the whole network is stopped because all the nodes depend on the hub.</a:t>
            </a:r>
          </a:p>
          <a:p>
            <a:pPr marL="457200" indent="-457200" algn="just" eaLnBrk="0" fontAlgn="base" hangingPunct="0">
              <a:spcBef>
                <a:spcPct val="0"/>
              </a:spcBef>
              <a:spcAft>
                <a:spcPct val="0"/>
              </a:spcAft>
              <a:buClrTx/>
              <a:buSzTx/>
              <a:buFont typeface="Arial" panose="020B0604020202020204" pitchFamily="34" charset="0"/>
              <a:buChar char="•"/>
            </a:pPr>
            <a:r>
              <a:rPr lang="en-US" sz="2600">
                <a:solidFill>
                  <a:srgbClr val="333333"/>
                </a:solidFill>
                <a:latin typeface="Times New Roman" panose="02020603050405020304" pitchFamily="18" charset="0"/>
                <a:cs typeface="Times New Roman" panose="02020603050405020304" pitchFamily="18" charset="0"/>
              </a:rPr>
              <a:t>Performance is based on the hub that is it depends on its capacity</a:t>
            </a:r>
          </a:p>
        </p:txBody>
      </p:sp>
    </p:spTree>
    <p:extLst>
      <p:ext uri="{BB962C8B-B14F-4D97-AF65-F5344CB8AC3E}">
        <p14:creationId xmlns:p14="http://schemas.microsoft.com/office/powerpoint/2010/main" val="324216145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48675" name="Rectangle 1"/>
          <p:cNvSpPr/>
          <p:nvPr/>
        </p:nvSpPr>
        <p:spPr>
          <a:xfrm>
            <a:off x="533400" y="814387"/>
            <a:ext cx="8229600" cy="3202940"/>
          </a:xfrm>
          <a:prstGeom prst="rect">
            <a:avLst/>
          </a:prstGeom>
        </p:spPr>
        <p:txBody>
          <a:bodyPr wrap="square">
            <a:spAutoFit/>
          </a:bodyPr>
          <a:lstStyle/>
          <a:p>
            <a:pPr lvl="0" algn="ctr" fontAlgn="base">
              <a:spcBef>
                <a:spcPct val="0"/>
              </a:spcBef>
              <a:spcAft>
                <a:spcPct val="0"/>
              </a:spcAft>
            </a:pPr>
            <a:r>
              <a:rPr lang="en-US" sz="4800" b="1">
                <a:solidFill>
                  <a:schemeClr val="tx2"/>
                </a:solidFill>
                <a:ea typeface="+mj-ea"/>
                <a:cs typeface="+mj-cs"/>
              </a:rPr>
              <a:t>MESH TOPOLOGY</a:t>
            </a:r>
          </a:p>
          <a:p>
            <a:pPr lvl="0" algn="just" eaLnBrk="0" fontAlgn="base" hangingPunct="0">
              <a:spcBef>
                <a:spcPct val="0"/>
              </a:spcBef>
              <a:spcAft>
                <a:spcPct val="0"/>
              </a:spcAft>
            </a:pPr>
            <a:endParaRPr lang="en-US" sz="2600">
              <a:solidFill>
                <a:srgbClr val="333333"/>
              </a:solidFill>
              <a:latin typeface="Baskerville Old Face" panose="02020602080505020303" pitchFamily="18" charset="0"/>
              <a:cs typeface="Arial" panose="020B0604020202020204" pitchFamily="34" charset="0"/>
            </a:endParaRPr>
          </a:p>
          <a:p>
            <a:pPr lvl="0" algn="just" eaLnBrk="0" fontAlgn="base" hangingPunct="0">
              <a:spcBef>
                <a:spcPct val="0"/>
              </a:spcBef>
              <a:spcAft>
                <a:spcPct val="0"/>
              </a:spcAft>
            </a:pPr>
            <a:r>
              <a:rPr lang="en-US" sz="2600">
                <a:solidFill>
                  <a:srgbClr val="333333"/>
                </a:solidFill>
                <a:latin typeface="Times" panose="02020603050405020304" pitchFamily="18" charset="0"/>
                <a:cs typeface="Times" panose="02020603050405020304" pitchFamily="18" charset="0"/>
              </a:rPr>
              <a:t>It is a point-to-point connection to other nodes or devices. All the network nodes are connected to each other. Mesh has </a:t>
            </a:r>
            <a:r>
              <a:rPr lang="en-US" sz="2600">
                <a:solidFill>
                  <a:srgbClr val="C7254E"/>
                </a:solidFill>
                <a:latin typeface="Times" panose="02020603050405020304" pitchFamily="18" charset="0"/>
                <a:cs typeface="Times" panose="02020603050405020304" pitchFamily="18" charset="0"/>
              </a:rPr>
              <a:t>n(n-1)/2</a:t>
            </a:r>
            <a:r>
              <a:rPr lang="en-US" sz="2600">
                <a:solidFill>
                  <a:srgbClr val="333333"/>
                </a:solidFill>
                <a:latin typeface="Times" panose="02020603050405020304" pitchFamily="18" charset="0"/>
                <a:cs typeface="Times" panose="02020603050405020304" pitchFamily="18" charset="0"/>
              </a:rPr>
              <a:t> physical channels to link </a:t>
            </a:r>
            <a:r>
              <a:rPr lang="en-US" sz="2600">
                <a:solidFill>
                  <a:srgbClr val="C7254E"/>
                </a:solidFill>
                <a:latin typeface="Times" panose="02020603050405020304" pitchFamily="18" charset="0"/>
                <a:cs typeface="Times" panose="02020603050405020304" pitchFamily="18" charset="0"/>
              </a:rPr>
              <a:t>n</a:t>
            </a:r>
            <a:r>
              <a:rPr lang="en-US" sz="2600">
                <a:solidFill>
                  <a:srgbClr val="333333"/>
                </a:solidFill>
                <a:latin typeface="Times" panose="02020603050405020304" pitchFamily="18" charset="0"/>
                <a:cs typeface="Times" panose="02020603050405020304" pitchFamily="18" charset="0"/>
              </a:rPr>
              <a:t> devices.</a:t>
            </a:r>
            <a:endParaRPr lang="en-US" sz="2600">
              <a:latin typeface="Times" panose="02020603050405020304" pitchFamily="18" charset="0"/>
              <a:cs typeface="Times" panose="02020603050405020304" pitchFamily="18" charset="0"/>
            </a:endParaRPr>
          </a:p>
        </p:txBody>
      </p:sp>
      <p:sp>
        <p:nvSpPr>
          <p:cNvPr id="1048676" name="Rectangle 6"/>
          <p:cNvSpPr/>
          <p:nvPr/>
        </p:nvSpPr>
        <p:spPr>
          <a:xfrm>
            <a:off x="609600" y="3429000"/>
            <a:ext cx="8077200" cy="1945640"/>
          </a:xfrm>
          <a:prstGeom prst="rect">
            <a:avLst/>
          </a:prstGeom>
        </p:spPr>
        <p:txBody>
          <a:bodyPr wrap="square">
            <a:spAutoFit/>
          </a:bodyPr>
          <a:lstStyle/>
          <a:p>
            <a:r>
              <a:rPr lang="en-US" sz="2800" b="1">
                <a:latin typeface="Times" panose="02020603050405020304" pitchFamily="18" charset="0"/>
                <a:cs typeface="Times" panose="02020603050405020304" pitchFamily="18" charset="0"/>
              </a:rPr>
              <a:t>Features of Mesh Topology</a:t>
            </a:r>
          </a:p>
          <a:p>
            <a:pPr marL="285750" indent="-285750">
              <a:buFont typeface="Arial" panose="020B0604020202020204" pitchFamily="34" charset="0"/>
              <a:buChar char="•"/>
            </a:pPr>
            <a:r>
              <a:rPr lang="en-US" sz="2600">
                <a:latin typeface="Times" panose="02020603050405020304" pitchFamily="18" charset="0"/>
                <a:cs typeface="Times" panose="02020603050405020304" pitchFamily="18" charset="0"/>
              </a:rPr>
              <a:t>Fully connected</a:t>
            </a:r>
          </a:p>
          <a:p>
            <a:pPr marL="285750" indent="-285750">
              <a:buFont typeface="Arial" panose="020B0604020202020204" pitchFamily="34" charset="0"/>
              <a:buChar char="•"/>
            </a:pPr>
            <a:r>
              <a:rPr lang="en-US" sz="2600">
                <a:latin typeface="Times" panose="02020603050405020304" pitchFamily="18" charset="0"/>
                <a:cs typeface="Times" panose="02020603050405020304" pitchFamily="18" charset="0"/>
              </a:rPr>
              <a:t>Robust.</a:t>
            </a:r>
          </a:p>
          <a:p>
            <a:pPr marL="285750" indent="-285750">
              <a:buFont typeface="Arial" panose="020B0604020202020204" pitchFamily="34" charset="0"/>
              <a:buChar char="•"/>
            </a:pPr>
            <a:r>
              <a:rPr lang="en-US" sz="2600">
                <a:latin typeface="Times" panose="02020603050405020304" pitchFamily="18" charset="0"/>
                <a:cs typeface="Times" panose="02020603050405020304" pitchFamily="18" charset="0"/>
              </a:rPr>
              <a:t>Not flexible.</a:t>
            </a:r>
          </a:p>
        </p:txBody>
      </p:sp>
    </p:spTree>
  </p:cSld>
  <p:clrMapOvr>
    <a:overrideClrMapping bg1="lt1" tx1="dk1" bg2="lt2" tx2="dk2" accent1="accent1" accent2="accent2" accent3="accent3" accent4="accent4" accent5="accent5" accent6="accent6" hlink="hlink" folHlink="folHlink"/>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48677" name="Title 1"/>
          <p:cNvSpPr>
            <a:spLocks noGrp="1"/>
          </p:cNvSpPr>
          <p:nvPr>
            <p:ph type="title"/>
          </p:nvPr>
        </p:nvSpPr>
        <p:spPr>
          <a:xfrm>
            <a:off x="457200" y="4495800"/>
            <a:ext cx="8305800" cy="1143000"/>
          </a:xfrm>
        </p:spPr>
        <p:txBody>
          <a:bodyPr>
            <a:noAutofit/>
          </a:bodyPr>
          <a:lstStyle/>
          <a:p>
            <a:pPr algn="ctr"/>
            <a:r>
              <a:rPr lang="en-US" sz="3600">
                <a:latin typeface="Baskerville Old Face" panose="02020602080505020303" pitchFamily="18" charset="0"/>
              </a:rPr>
              <a:t>Mesh Topology</a:t>
            </a:r>
            <a:endParaRPr lang="en-IN" sz="3600">
              <a:latin typeface="Baskerville Old Face" panose="02020602080505020303" pitchFamily="18" charset="0"/>
            </a:endParaRPr>
          </a:p>
        </p:txBody>
      </p:sp>
      <p:pic>
        <p:nvPicPr>
          <p:cNvPr id="2097162" name="Picture 3" descr="Mesh topology in computer networks"/>
          <p:cNvPicPr>
            <a:picLocks noChangeAspect="1" noChangeArrowheads="1"/>
          </p:cNvPicPr>
          <p:nvPr/>
        </p:nvPicPr>
        <p:blipFill>
          <a:blip r:embed="rId3" cstate="print"/>
          <a:srcRect/>
          <a:stretch>
            <a:fillRect/>
          </a:stretch>
        </p:blipFill>
        <p:spPr bwMode="auto">
          <a:xfrm>
            <a:off x="609600" y="304800"/>
            <a:ext cx="7315200" cy="4024675"/>
          </a:xfrm>
          <a:prstGeom prst="rect">
            <a:avLst/>
          </a:prstGeom>
          <a:noFill/>
        </p:spPr>
      </p:pic>
    </p:spTree>
  </p:cSld>
  <p:clrMapOvr>
    <a:overrideClrMapping bg1="lt1" tx1="dk1" bg2="lt2" tx2="dk2" accent1="accent1" accent2="accent2" accent3="accent3" accent4="accent4" accent5="accent5" accent6="accent6" hlink="hlink" folHlink="folHlink"/>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48678" name="Rectangle 1"/>
          <p:cNvSpPr>
            <a:spLocks noChangeArrowheads="1"/>
          </p:cNvSpPr>
          <p:nvPr/>
        </p:nvSpPr>
        <p:spPr bwMode="auto">
          <a:xfrm>
            <a:off x="304800" y="563935"/>
            <a:ext cx="4572000" cy="4016261"/>
          </a:xfrm>
          <a:prstGeom prst="rect">
            <a:avLst/>
          </a:prstGeom>
          <a:noFill/>
          <a:ln w="9525">
            <a:noFill/>
            <a:miter lim="800000"/>
          </a:ln>
          <a:effectLst/>
        </p:spPr>
        <p:txBody>
          <a:bodyPr vert="horz" wrap="square" lIns="91440" tIns="179331" rIns="91440" bIns="179331" numCol="1" anchor="ctr" anchorCtr="0" compatLnSpc="1">
            <a:spAutoFit/>
          </a:bodyPr>
          <a:lstStyle/>
          <a:p>
            <a:pPr marL="0" marR="0" lvl="0" indent="0" defTabSz="914400" rtl="0" eaLnBrk="1" fontAlgn="base" latinLnBrk="0" hangingPunct="1">
              <a:lnSpc>
                <a:spcPct val="100000"/>
              </a:lnSpc>
              <a:spcBef>
                <a:spcPct val="0"/>
              </a:spcBef>
              <a:spcAft>
                <a:spcPct val="0"/>
              </a:spcAft>
              <a:buClrTx/>
              <a:buSzTx/>
              <a:buFontTx/>
              <a:buNone/>
            </a:pPr>
            <a:r>
              <a:rPr kumimoji="0" lang="en-US" sz="2600" b="1" i="0" u="none" strike="noStrike" cap="none" normalizeH="0" baseline="0">
                <a:ln>
                  <a:noFill/>
                </a:ln>
                <a:solidFill>
                  <a:srgbClr val="333333"/>
                </a:solidFill>
                <a:effectLst/>
                <a:latin typeface="Times New Roman" panose="02020603050405020304" pitchFamily="18" charset="0"/>
                <a:cs typeface="Times New Roman" panose="02020603050405020304" pitchFamily="18" charset="0"/>
              </a:rPr>
              <a:t>Advantages of Mesh Topology</a:t>
            </a:r>
          </a:p>
          <a:p>
            <a:pPr marL="457200" marR="0" lvl="0" indent="-457200" algn="just" defTabSz="914400" rtl="0" eaLnBrk="0" fontAlgn="base" latinLnBrk="0" hangingPunct="0">
              <a:lnSpc>
                <a:spcPct val="100000"/>
              </a:lnSpc>
              <a:spcBef>
                <a:spcPct val="0"/>
              </a:spcBef>
              <a:spcAft>
                <a:spcPct val="0"/>
              </a:spcAft>
              <a:buClrTx/>
              <a:buSzTx/>
              <a:buFont typeface="Arial" panose="020B0604020202020204" pitchFamily="34" charset="0"/>
              <a:buChar char="•"/>
            </a:pPr>
            <a:r>
              <a:rPr kumimoji="0" lang="en-US" sz="2600" b="0" i="0" u="none" strike="noStrike" cap="none" normalizeH="0" baseline="0">
                <a:ln>
                  <a:noFill/>
                </a:ln>
                <a:solidFill>
                  <a:srgbClr val="333333"/>
                </a:solidFill>
                <a:effectLst/>
                <a:latin typeface="Times New Roman" panose="02020603050405020304" pitchFamily="18" charset="0"/>
                <a:cs typeface="Times New Roman" panose="02020603050405020304" pitchFamily="18" charset="0"/>
              </a:rPr>
              <a:t>Each connection can carry its own data load.</a:t>
            </a:r>
          </a:p>
          <a:p>
            <a:pPr marL="457200" marR="0" lvl="0" indent="-457200" algn="just" defTabSz="914400" rtl="0" eaLnBrk="0" fontAlgn="base" latinLnBrk="0" hangingPunct="0">
              <a:lnSpc>
                <a:spcPct val="100000"/>
              </a:lnSpc>
              <a:spcBef>
                <a:spcPct val="0"/>
              </a:spcBef>
              <a:spcAft>
                <a:spcPct val="0"/>
              </a:spcAft>
              <a:buClrTx/>
              <a:buSzTx/>
              <a:buFont typeface="Arial" panose="020B0604020202020204" pitchFamily="34" charset="0"/>
              <a:buChar char="•"/>
            </a:pPr>
            <a:r>
              <a:rPr kumimoji="0" lang="en-US" sz="2600" b="0" i="0" u="none" strike="noStrike" cap="none" normalizeH="0" baseline="0">
                <a:ln>
                  <a:noFill/>
                </a:ln>
                <a:solidFill>
                  <a:srgbClr val="333333"/>
                </a:solidFill>
                <a:effectLst/>
                <a:latin typeface="Times New Roman" panose="02020603050405020304" pitchFamily="18" charset="0"/>
                <a:cs typeface="Times New Roman" panose="02020603050405020304" pitchFamily="18" charset="0"/>
              </a:rPr>
              <a:t>It is robust.</a:t>
            </a:r>
          </a:p>
          <a:p>
            <a:pPr marL="457200" marR="0" lvl="0" indent="-457200" algn="just" defTabSz="914400" rtl="0" eaLnBrk="0" fontAlgn="base" latinLnBrk="0" hangingPunct="0">
              <a:lnSpc>
                <a:spcPct val="100000"/>
              </a:lnSpc>
              <a:spcBef>
                <a:spcPct val="0"/>
              </a:spcBef>
              <a:spcAft>
                <a:spcPct val="0"/>
              </a:spcAft>
              <a:buClrTx/>
              <a:buSzTx/>
              <a:buFont typeface="Arial" panose="020B0604020202020204" pitchFamily="34" charset="0"/>
              <a:buChar char="•"/>
            </a:pPr>
            <a:r>
              <a:rPr kumimoji="0" lang="en-US" sz="2600" b="0" i="0" u="none" strike="noStrike" cap="none" normalizeH="0" baseline="0">
                <a:ln>
                  <a:noFill/>
                </a:ln>
                <a:solidFill>
                  <a:srgbClr val="333333"/>
                </a:solidFill>
                <a:effectLst/>
                <a:latin typeface="Times New Roman" panose="02020603050405020304" pitchFamily="18" charset="0"/>
                <a:cs typeface="Times New Roman" panose="02020603050405020304" pitchFamily="18" charset="0"/>
              </a:rPr>
              <a:t>Fault is diagnosed easily.</a:t>
            </a:r>
          </a:p>
          <a:p>
            <a:pPr marL="457200" marR="0" lvl="0" indent="-457200" algn="just" defTabSz="914400" rtl="0" eaLnBrk="0" fontAlgn="base" latinLnBrk="0" hangingPunct="0">
              <a:lnSpc>
                <a:spcPct val="100000"/>
              </a:lnSpc>
              <a:spcBef>
                <a:spcPct val="0"/>
              </a:spcBef>
              <a:spcAft>
                <a:spcPct val="0"/>
              </a:spcAft>
              <a:buClrTx/>
              <a:buSzTx/>
              <a:buFont typeface="Arial" panose="020B0604020202020204" pitchFamily="34" charset="0"/>
              <a:buChar char="•"/>
            </a:pPr>
            <a:r>
              <a:rPr kumimoji="0" lang="en-US" sz="2600" b="0" i="0" u="none" strike="noStrike" cap="none" normalizeH="0" baseline="0">
                <a:ln>
                  <a:noFill/>
                </a:ln>
                <a:solidFill>
                  <a:srgbClr val="333333"/>
                </a:solidFill>
                <a:effectLst/>
                <a:latin typeface="Times New Roman" panose="02020603050405020304" pitchFamily="18" charset="0"/>
                <a:cs typeface="Times New Roman" panose="02020603050405020304" pitchFamily="18" charset="0"/>
              </a:rPr>
              <a:t>Provides security and privacy.</a:t>
            </a:r>
          </a:p>
        </p:txBody>
      </p:sp>
      <p:sp>
        <p:nvSpPr>
          <p:cNvPr id="1048679" name="Rectangle 1"/>
          <p:cNvSpPr>
            <a:spLocks noChangeArrowheads="1"/>
          </p:cNvSpPr>
          <p:nvPr/>
        </p:nvSpPr>
        <p:spPr bwMode="auto">
          <a:xfrm>
            <a:off x="5029200" y="816419"/>
            <a:ext cx="4343400" cy="3559061"/>
          </a:xfrm>
          <a:prstGeom prst="rect">
            <a:avLst/>
          </a:prstGeom>
          <a:noFill/>
          <a:ln w="9525">
            <a:noFill/>
            <a:miter lim="800000"/>
          </a:ln>
          <a:effectLst/>
        </p:spPr>
        <p:txBody>
          <a:bodyPr vert="horz" wrap="square" lIns="91440" tIns="179331" rIns="91440" bIns="179331"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r>
              <a:rPr lang="en-US" sz="2600" b="1">
                <a:solidFill>
                  <a:srgbClr val="333333"/>
                </a:solidFill>
                <a:latin typeface="Times New Roman" panose="02020603050405020304" pitchFamily="18" charset="0"/>
                <a:cs typeface="Times New Roman" panose="02020603050405020304" pitchFamily="18" charset="0"/>
              </a:rPr>
              <a:t>Disa</a:t>
            </a:r>
            <a:r>
              <a:rPr kumimoji="0" lang="en-US" sz="2600" b="1" i="0" u="none" strike="noStrike" cap="none" normalizeH="0" baseline="0">
                <a:ln>
                  <a:noFill/>
                </a:ln>
                <a:solidFill>
                  <a:srgbClr val="333333"/>
                </a:solidFill>
                <a:effectLst/>
                <a:latin typeface="Times New Roman" panose="02020603050405020304" pitchFamily="18" charset="0"/>
                <a:cs typeface="Times New Roman" panose="02020603050405020304" pitchFamily="18" charset="0"/>
              </a:rPr>
              <a:t>dvantages of Mesh Topology</a:t>
            </a:r>
          </a:p>
          <a:p>
            <a:pPr marL="457200" marR="0" lvl="0" indent="-457200" algn="l" defTabSz="914400" rtl="0" eaLnBrk="0" fontAlgn="base" latinLnBrk="0" hangingPunct="0">
              <a:lnSpc>
                <a:spcPct val="100000"/>
              </a:lnSpc>
              <a:spcBef>
                <a:spcPct val="0"/>
              </a:spcBef>
              <a:spcAft>
                <a:spcPct val="0"/>
              </a:spcAft>
              <a:buClrTx/>
              <a:buSzTx/>
              <a:buFont typeface="Arial" panose="020B0604020202020204" pitchFamily="34" charset="0"/>
              <a:buChar char="•"/>
            </a:pPr>
            <a:r>
              <a:rPr kumimoji="0" lang="en-US" sz="2600" b="0" i="0" u="none" strike="noStrike" cap="none" normalizeH="0" baseline="0">
                <a:ln>
                  <a:noFill/>
                </a:ln>
                <a:solidFill>
                  <a:srgbClr val="333333"/>
                </a:solidFill>
                <a:effectLst/>
                <a:latin typeface="Times New Roman" panose="02020603050405020304" pitchFamily="18" charset="0"/>
                <a:cs typeface="Times New Roman" panose="02020603050405020304" pitchFamily="18" charset="0"/>
              </a:rPr>
              <a:t>Installation and configuration is difficult.</a:t>
            </a:r>
          </a:p>
          <a:p>
            <a:pPr marL="457200" marR="0" lvl="0" indent="-457200" algn="l" defTabSz="914400" rtl="0" eaLnBrk="0" fontAlgn="base" latinLnBrk="0" hangingPunct="0">
              <a:lnSpc>
                <a:spcPct val="100000"/>
              </a:lnSpc>
              <a:spcBef>
                <a:spcPct val="0"/>
              </a:spcBef>
              <a:spcAft>
                <a:spcPct val="0"/>
              </a:spcAft>
              <a:buClrTx/>
              <a:buSzTx/>
              <a:buFont typeface="Arial" panose="020B0604020202020204" pitchFamily="34" charset="0"/>
              <a:buChar char="•"/>
            </a:pPr>
            <a:r>
              <a:rPr kumimoji="0" lang="en-US" sz="2600" b="0" i="0" u="none" strike="noStrike" cap="none" normalizeH="0" baseline="0">
                <a:ln>
                  <a:noFill/>
                </a:ln>
                <a:solidFill>
                  <a:srgbClr val="333333"/>
                </a:solidFill>
                <a:effectLst/>
                <a:latin typeface="Times New Roman" panose="02020603050405020304" pitchFamily="18" charset="0"/>
                <a:cs typeface="Times New Roman" panose="02020603050405020304" pitchFamily="18" charset="0"/>
              </a:rPr>
              <a:t>Cabling cost is more.</a:t>
            </a:r>
          </a:p>
          <a:p>
            <a:pPr marL="457200" marR="0" lvl="0" indent="-457200" algn="l" defTabSz="914400" rtl="0" eaLnBrk="0" fontAlgn="base" latinLnBrk="0" hangingPunct="0">
              <a:lnSpc>
                <a:spcPct val="100000"/>
              </a:lnSpc>
              <a:spcBef>
                <a:spcPct val="0"/>
              </a:spcBef>
              <a:spcAft>
                <a:spcPct val="0"/>
              </a:spcAft>
              <a:buClrTx/>
              <a:buSzTx/>
              <a:buFont typeface="Arial" panose="020B0604020202020204" pitchFamily="34" charset="0"/>
              <a:buChar char="•"/>
            </a:pPr>
            <a:r>
              <a:rPr kumimoji="0" lang="en-US" sz="2600" b="0" i="0" u="none" strike="noStrike" cap="none" normalizeH="0" baseline="0">
                <a:ln>
                  <a:noFill/>
                </a:ln>
                <a:solidFill>
                  <a:srgbClr val="333333"/>
                </a:solidFill>
                <a:effectLst/>
                <a:latin typeface="Times New Roman" panose="02020603050405020304" pitchFamily="18" charset="0"/>
                <a:cs typeface="Times New Roman" panose="02020603050405020304" pitchFamily="18" charset="0"/>
              </a:rPr>
              <a:t>Bulk wiring is required.</a:t>
            </a:r>
          </a:p>
          <a:p>
            <a:pPr marL="0" marR="0" lvl="0" indent="0" algn="l" defTabSz="914400" rtl="0" eaLnBrk="0" fontAlgn="base" latinLnBrk="0" hangingPunct="0">
              <a:lnSpc>
                <a:spcPct val="100000"/>
              </a:lnSpc>
              <a:spcBef>
                <a:spcPct val="0"/>
              </a:spcBef>
              <a:spcAft>
                <a:spcPct val="0"/>
              </a:spcAft>
              <a:buClrTx/>
              <a:buSzTx/>
              <a:buFontTx/>
              <a:buNone/>
            </a:pPr>
            <a:endParaRPr kumimoji="0" lang="en-US" sz="2600" b="0" i="0" u="none" strike="noStrike" cap="none" normalizeH="0" baseline="0">
              <a:ln>
                <a:noFill/>
              </a:ln>
              <a:solidFill>
                <a:schemeClr val="tx1"/>
              </a:solidFill>
              <a:effectLst/>
              <a:latin typeface="Baskerville Old Face" panose="02020602080505020303" pitchFamily="18" charset="0"/>
              <a:cs typeface="Arial" panose="020B0604020202020204" pitchFamily="34" charset="0"/>
            </a:endParaRPr>
          </a:p>
        </p:txBody>
      </p:sp>
    </p:spTree>
  </p:cSld>
  <p:clrMapOvr>
    <a:overrideClrMapping bg1="lt1" tx1="dk1" bg2="lt2" tx2="dk2" accent1="accent1" accent2="accent2" accent3="accent3" accent4="accent4" accent5="accent5" accent6="accent6" hlink="hlink" folHlink="folHlink"/>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48680" name="Rectangle 1"/>
          <p:cNvSpPr/>
          <p:nvPr/>
        </p:nvSpPr>
        <p:spPr>
          <a:xfrm>
            <a:off x="457200" y="609600"/>
            <a:ext cx="8382000" cy="2567940"/>
          </a:xfrm>
          <a:prstGeom prst="rect">
            <a:avLst/>
          </a:prstGeom>
        </p:spPr>
        <p:txBody>
          <a:bodyPr wrap="square">
            <a:spAutoFit/>
          </a:bodyPr>
          <a:lstStyle/>
          <a:p>
            <a:pPr algn="ctr" fontAlgn="base">
              <a:spcBef>
                <a:spcPct val="0"/>
              </a:spcBef>
              <a:spcAft>
                <a:spcPct val="0"/>
              </a:spcAft>
            </a:pPr>
            <a:r>
              <a:rPr lang="en-US" sz="4400" b="1">
                <a:solidFill>
                  <a:schemeClr val="tx2"/>
                </a:solidFill>
                <a:latin typeface="Times New Roman" panose="02020603050405020304" pitchFamily="18" charset="0"/>
                <a:ea typeface="+mj-ea"/>
                <a:cs typeface="Times New Roman" panose="02020603050405020304" pitchFamily="18" charset="0"/>
              </a:rPr>
              <a:t>TREE TOPOLOGY</a:t>
            </a:r>
          </a:p>
          <a:p>
            <a:endParaRPr lang="en-US" sz="2600" b="1">
              <a:latin typeface="Baskerville Old Face" panose="02020602080505020303" pitchFamily="18" charset="0"/>
            </a:endParaRPr>
          </a:p>
          <a:p>
            <a:r>
              <a:rPr lang="en-US" sz="2400">
                <a:latin typeface="Times New Roman" panose="02020603050405020304" pitchFamily="18" charset="0"/>
                <a:cs typeface="Times New Roman" panose="02020603050405020304" pitchFamily="18" charset="0"/>
              </a:rPr>
              <a:t>It has a root node and all other nodes are connected to it forming a hierarchy. It is also called hierarchical topology. It should at least have three levels to the hierarchy.</a:t>
            </a:r>
          </a:p>
        </p:txBody>
      </p:sp>
      <p:sp>
        <p:nvSpPr>
          <p:cNvPr id="1048681" name="Rectangle 7"/>
          <p:cNvSpPr/>
          <p:nvPr/>
        </p:nvSpPr>
        <p:spPr>
          <a:xfrm>
            <a:off x="473122" y="3276600"/>
            <a:ext cx="7848600" cy="1920240"/>
          </a:xfrm>
          <a:prstGeom prst="rect">
            <a:avLst/>
          </a:prstGeom>
        </p:spPr>
        <p:txBody>
          <a:bodyPr wrap="square">
            <a:spAutoFit/>
          </a:bodyPr>
          <a:lstStyle/>
          <a:p>
            <a:r>
              <a:rPr lang="en-US" sz="2600" b="1">
                <a:latin typeface="Times New Roman" panose="02020603050405020304" pitchFamily="18" charset="0"/>
                <a:cs typeface="Times New Roman" panose="02020603050405020304" pitchFamily="18" charset="0"/>
              </a:rPr>
              <a:t>Features of Tree Topology</a:t>
            </a:r>
          </a:p>
          <a:p>
            <a:pPr marL="457200" indent="-457200">
              <a:buFont typeface="Arial" panose="020B0604020202020204" pitchFamily="34" charset="0"/>
              <a:buChar char="•"/>
            </a:pPr>
            <a:r>
              <a:rPr lang="en-US" sz="2600">
                <a:latin typeface="Times New Roman" panose="02020603050405020304" pitchFamily="18" charset="0"/>
                <a:cs typeface="Times New Roman" panose="02020603050405020304" pitchFamily="18" charset="0"/>
              </a:rPr>
              <a:t>Used in Wide Area Network.</a:t>
            </a:r>
          </a:p>
          <a:p>
            <a:pPr marL="457200" indent="-457200">
              <a:buFont typeface="Arial" panose="020B0604020202020204" pitchFamily="34" charset="0"/>
              <a:buChar char="•"/>
            </a:pPr>
            <a:r>
              <a:rPr lang="en-US" sz="2600">
                <a:latin typeface="Times New Roman" panose="02020603050405020304" pitchFamily="18" charset="0"/>
                <a:cs typeface="Times New Roman" panose="02020603050405020304" pitchFamily="18" charset="0"/>
              </a:rPr>
              <a:t>Expansion of nodes is possible and easy.</a:t>
            </a:r>
          </a:p>
          <a:p>
            <a:endParaRPr lang="en-US" sz="2600">
              <a:latin typeface="Baskerville Old Face" panose="02020602080505020303" pitchFamily="18" charset="0"/>
            </a:endParaRPr>
          </a:p>
        </p:txBody>
      </p:sp>
    </p:spTree>
  </p:cSld>
  <p:clrMapOvr>
    <a:overrideClrMapping bg1="lt1" tx1="dk1" bg2="lt2" tx2="dk2" accent1="accent1" accent2="accent2" accent3="accent3" accent4="accent4" accent5="accent5" accent6="accent6" hlink="hlink" folHlink="folHlink"/>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097163" name="Picture 4" descr="Tree topology in computer networks"/>
          <p:cNvPicPr>
            <a:picLocks noChangeAspect="1" noChangeArrowheads="1"/>
          </p:cNvPicPr>
          <p:nvPr/>
        </p:nvPicPr>
        <p:blipFill>
          <a:blip r:embed="rId3" cstate="print"/>
          <a:srcRect/>
          <a:stretch>
            <a:fillRect/>
          </a:stretch>
        </p:blipFill>
        <p:spPr bwMode="auto">
          <a:xfrm>
            <a:off x="580030" y="381000"/>
            <a:ext cx="8077200" cy="4210051"/>
          </a:xfrm>
          <a:prstGeom prst="rect">
            <a:avLst/>
          </a:prstGeom>
          <a:noFill/>
        </p:spPr>
      </p:pic>
      <p:sp>
        <p:nvSpPr>
          <p:cNvPr id="1048682" name="Title 2"/>
          <p:cNvSpPr>
            <a:spLocks noGrp="1"/>
          </p:cNvSpPr>
          <p:nvPr>
            <p:ph type="title"/>
          </p:nvPr>
        </p:nvSpPr>
        <p:spPr>
          <a:xfrm>
            <a:off x="381000" y="5029200"/>
            <a:ext cx="8305800" cy="1143000"/>
          </a:xfrm>
        </p:spPr>
        <p:txBody>
          <a:bodyPr>
            <a:normAutofit/>
          </a:bodyPr>
          <a:lstStyle/>
          <a:p>
            <a:pPr algn="ctr"/>
            <a:r>
              <a:rPr lang="en-US" sz="3600"/>
              <a:t>Tree Topology</a:t>
            </a:r>
            <a:endParaRPr lang="en-IN" sz="3600"/>
          </a:p>
        </p:txBody>
      </p:sp>
    </p:spTree>
  </p:cSld>
  <p:clrMapOvr>
    <a:overrideClrMapping bg1="lt1" tx1="dk1" bg2="lt2" tx2="dk2" accent1="accent1" accent2="accent2" accent3="accent3" accent4="accent4" accent5="accent5" accent6="accent6" hlink="hlink" folHlink="folHlink"/>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48683" name="Content Placeholder 5"/>
          <p:cNvSpPr>
            <a:spLocks noGrp="1"/>
          </p:cNvSpPr>
          <p:nvPr>
            <p:ph sz="half" idx="2"/>
          </p:nvPr>
        </p:nvSpPr>
        <p:spPr>
          <a:xfrm>
            <a:off x="381000" y="1040640"/>
            <a:ext cx="3810000" cy="3812739"/>
          </a:xfrm>
        </p:spPr>
        <p:txBody>
          <a:bodyPr>
            <a:normAutofit lnSpcReduction="10000"/>
          </a:bodyPr>
          <a:lstStyle/>
          <a:p>
            <a:pPr marL="0" indent="0">
              <a:buNone/>
            </a:pPr>
            <a:r>
              <a:rPr lang="en-US" sz="3000" b="1">
                <a:solidFill>
                  <a:schemeClr val="tx1"/>
                </a:solidFill>
                <a:latin typeface="Times New Roman" panose="02020603050405020304" pitchFamily="18" charset="0"/>
                <a:cs typeface="Times New Roman" panose="02020603050405020304" pitchFamily="18" charset="0"/>
              </a:rPr>
              <a:t>Advantages of Tree Topology</a:t>
            </a:r>
          </a:p>
          <a:p>
            <a:pPr marL="342900" indent="-342900" algn="just">
              <a:buFont typeface="Arial" panose="020B0604020202020204" pitchFamily="34" charset="0"/>
              <a:buChar char="•"/>
            </a:pPr>
            <a:r>
              <a:rPr lang="en-US" sz="2400">
                <a:solidFill>
                  <a:schemeClr val="tx1"/>
                </a:solidFill>
                <a:latin typeface="Times New Roman" panose="02020603050405020304" pitchFamily="18" charset="0"/>
                <a:cs typeface="Times New Roman" panose="02020603050405020304" pitchFamily="18" charset="0"/>
              </a:rPr>
              <a:t>Extension of bus and star topologies.</a:t>
            </a:r>
          </a:p>
          <a:p>
            <a:pPr marL="342900" indent="-342900" algn="just">
              <a:buFont typeface="Arial" panose="020B0604020202020204" pitchFamily="34" charset="0"/>
              <a:buChar char="•"/>
            </a:pPr>
            <a:r>
              <a:rPr lang="en-US" sz="2400">
                <a:solidFill>
                  <a:schemeClr val="tx1"/>
                </a:solidFill>
                <a:latin typeface="Times New Roman" panose="02020603050405020304" pitchFamily="18" charset="0"/>
                <a:cs typeface="Times New Roman" panose="02020603050405020304" pitchFamily="18" charset="0"/>
              </a:rPr>
              <a:t>Expansion of nodes is possible and easy.</a:t>
            </a:r>
          </a:p>
          <a:p>
            <a:pPr marL="342900" indent="-342900" algn="just">
              <a:buFont typeface="Arial" panose="020B0604020202020204" pitchFamily="34" charset="0"/>
              <a:buChar char="•"/>
            </a:pPr>
            <a:r>
              <a:rPr lang="en-US" sz="2400">
                <a:solidFill>
                  <a:schemeClr val="tx1"/>
                </a:solidFill>
                <a:latin typeface="Times New Roman" panose="02020603050405020304" pitchFamily="18" charset="0"/>
                <a:cs typeface="Times New Roman" panose="02020603050405020304" pitchFamily="18" charset="0"/>
              </a:rPr>
              <a:t>Easily managed and maintained.</a:t>
            </a:r>
          </a:p>
          <a:p>
            <a:pPr marL="342900" indent="-342900" algn="just">
              <a:buFont typeface="Arial" panose="020B0604020202020204" pitchFamily="34" charset="0"/>
              <a:buChar char="•"/>
            </a:pPr>
            <a:r>
              <a:rPr lang="en-US" sz="2400">
                <a:solidFill>
                  <a:schemeClr val="tx1"/>
                </a:solidFill>
                <a:latin typeface="Times New Roman" panose="02020603050405020304" pitchFamily="18" charset="0"/>
                <a:cs typeface="Times New Roman" panose="02020603050405020304" pitchFamily="18" charset="0"/>
              </a:rPr>
              <a:t>Error detection is easily done.</a:t>
            </a:r>
          </a:p>
          <a:p>
            <a:pPr algn="just"/>
            <a:endParaRPr lang="en-IN">
              <a:latin typeface="Baskerville Old Face" panose="02020602080505020303" pitchFamily="18" charset="0"/>
            </a:endParaRPr>
          </a:p>
        </p:txBody>
      </p:sp>
      <p:sp>
        <p:nvSpPr>
          <p:cNvPr id="1048684" name="Content Placeholder 4"/>
          <p:cNvSpPr>
            <a:spLocks noGrp="1"/>
          </p:cNvSpPr>
          <p:nvPr>
            <p:ph sz="half" idx="3"/>
          </p:nvPr>
        </p:nvSpPr>
        <p:spPr>
          <a:xfrm>
            <a:off x="4419600" y="1040640"/>
            <a:ext cx="4533900" cy="3203137"/>
          </a:xfrm>
          <a:prstGeom prst="rect">
            <a:avLst/>
          </a:prstGeom>
        </p:spPr>
        <p:txBody>
          <a:bodyPr>
            <a:normAutofit/>
          </a:bodyPr>
          <a:lstStyle/>
          <a:p>
            <a:pPr marL="0" indent="0">
              <a:buNone/>
            </a:pPr>
            <a:r>
              <a:rPr lang="en-US" sz="3000" b="1">
                <a:solidFill>
                  <a:schemeClr val="tx1"/>
                </a:solidFill>
                <a:latin typeface="Times New Roman" panose="02020603050405020304" pitchFamily="18" charset="0"/>
                <a:cs typeface="Times New Roman" panose="02020603050405020304" pitchFamily="18" charset="0"/>
              </a:rPr>
              <a:t>Disadvantages of Tree Topology</a:t>
            </a:r>
          </a:p>
          <a:p>
            <a:pPr marL="342900" indent="-342900" algn="just">
              <a:buFont typeface="Arial" panose="020B0604020202020204" pitchFamily="34" charset="0"/>
              <a:buChar char="•"/>
            </a:pPr>
            <a:r>
              <a:rPr lang="en-US" sz="2400">
                <a:solidFill>
                  <a:schemeClr val="tx1"/>
                </a:solidFill>
                <a:latin typeface="Times New Roman" panose="02020603050405020304" pitchFamily="18" charset="0"/>
                <a:cs typeface="Times New Roman" panose="02020603050405020304" pitchFamily="18" charset="0"/>
              </a:rPr>
              <a:t>Heavily cabled.</a:t>
            </a:r>
          </a:p>
          <a:p>
            <a:pPr marL="342900" indent="-342900" algn="just">
              <a:buFont typeface="Arial" panose="020B0604020202020204" pitchFamily="34" charset="0"/>
              <a:buChar char="•"/>
            </a:pPr>
            <a:r>
              <a:rPr lang="en-US" sz="2400">
                <a:solidFill>
                  <a:schemeClr val="tx1"/>
                </a:solidFill>
                <a:latin typeface="Times New Roman" panose="02020603050405020304" pitchFamily="18" charset="0"/>
                <a:cs typeface="Times New Roman" panose="02020603050405020304" pitchFamily="18" charset="0"/>
              </a:rPr>
              <a:t>Costly.</a:t>
            </a:r>
          </a:p>
          <a:p>
            <a:pPr marL="342900" indent="-342900" algn="just">
              <a:buFont typeface="Arial" panose="020B0604020202020204" pitchFamily="34" charset="0"/>
              <a:buChar char="•"/>
            </a:pPr>
            <a:r>
              <a:rPr lang="en-US" sz="2400">
                <a:solidFill>
                  <a:schemeClr val="tx1"/>
                </a:solidFill>
                <a:latin typeface="Times New Roman" panose="02020603050405020304" pitchFamily="18" charset="0"/>
                <a:cs typeface="Times New Roman" panose="02020603050405020304" pitchFamily="18" charset="0"/>
              </a:rPr>
              <a:t>If more nodes are added maintenance is difficult.</a:t>
            </a:r>
          </a:p>
          <a:p>
            <a:pPr marL="342900" indent="-342900" algn="just">
              <a:buFont typeface="Arial" panose="020B0604020202020204" pitchFamily="34" charset="0"/>
              <a:buChar char="•"/>
            </a:pPr>
            <a:r>
              <a:rPr lang="en-US" sz="2400">
                <a:solidFill>
                  <a:schemeClr val="tx1"/>
                </a:solidFill>
                <a:latin typeface="Times New Roman" panose="02020603050405020304" pitchFamily="18" charset="0"/>
                <a:cs typeface="Times New Roman" panose="02020603050405020304" pitchFamily="18" charset="0"/>
              </a:rPr>
              <a:t>Central hub fails, network fails.</a:t>
            </a:r>
          </a:p>
          <a:p>
            <a:pPr algn="just"/>
            <a:endParaRPr lang="en-IN">
              <a:latin typeface="Baskerville Old Face" panose="02020602080505020303" pitchFamily="18" charset="0"/>
            </a:endParaRPr>
          </a:p>
        </p:txBody>
      </p:sp>
    </p:spTree>
  </p:cSld>
  <p:clrMapOvr>
    <a:overrideClrMapping bg1="lt1" tx1="dk1" bg2="lt2" tx2="dk2" accent1="accent1" accent2="accent2" accent3="accent3" accent4="accent4" accent5="accent5" accent6="accent6" hlink="hlink" folHlink="folHlink"/>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48691" name="Rectangle 1"/>
          <p:cNvSpPr/>
          <p:nvPr/>
        </p:nvSpPr>
        <p:spPr>
          <a:xfrm>
            <a:off x="457200" y="670679"/>
            <a:ext cx="8305800" cy="3901439"/>
          </a:xfrm>
          <a:prstGeom prst="rect">
            <a:avLst/>
          </a:prstGeom>
        </p:spPr>
        <p:txBody>
          <a:bodyPr wrap="square">
            <a:spAutoFit/>
          </a:bodyPr>
          <a:lstStyle/>
          <a:p>
            <a:pPr algn="ctr"/>
            <a:r>
              <a:rPr lang="en-US" sz="4400" b="1">
                <a:solidFill>
                  <a:schemeClr val="tx2"/>
                </a:solidFill>
                <a:latin typeface="Times New Roman" panose="02020603050405020304" pitchFamily="18" charset="0"/>
                <a:ea typeface="+mj-ea"/>
                <a:cs typeface="Times New Roman" panose="02020603050405020304" pitchFamily="18" charset="0"/>
              </a:rPr>
              <a:t>HYBRID TOPOLOGY</a:t>
            </a:r>
          </a:p>
          <a:p>
            <a:pPr algn="just"/>
            <a:endParaRPr lang="en-US"/>
          </a:p>
          <a:p>
            <a:pPr marL="457200" indent="-457200" algn="just">
              <a:buFont typeface="Arial" panose="020B0604020202020204" pitchFamily="34" charset="0"/>
              <a:buChar char="•"/>
            </a:pPr>
            <a:r>
              <a:rPr lang="en-US" sz="2600">
                <a:latin typeface="Times New Roman" panose="02020603050405020304" pitchFamily="18" charset="0"/>
                <a:cs typeface="Times New Roman" panose="02020603050405020304" pitchFamily="18" charset="0"/>
              </a:rPr>
              <a:t>It is different type of topology which is a mixture of two or more topologies.</a:t>
            </a:r>
          </a:p>
          <a:p>
            <a:pPr marL="457200" indent="-457200" algn="just">
              <a:buFont typeface="Arial" panose="020B0604020202020204" pitchFamily="34" charset="0"/>
              <a:buChar char="•"/>
            </a:pPr>
            <a:r>
              <a:rPr lang="en-US" sz="2600">
                <a:latin typeface="Times New Roman" panose="02020603050405020304" pitchFamily="18" charset="0"/>
                <a:cs typeface="Times New Roman" panose="02020603050405020304" pitchFamily="18" charset="0"/>
              </a:rPr>
              <a:t> For example if in an office in one department ring topology is used and in another star topology is used, connecting these topologies will result in Hybrid Topology (ring topology and star topology).</a:t>
            </a:r>
          </a:p>
        </p:txBody>
      </p:sp>
      <p:sp>
        <p:nvSpPr>
          <p:cNvPr id="1048692" name="Rectangle 2"/>
          <p:cNvSpPr/>
          <p:nvPr/>
        </p:nvSpPr>
        <p:spPr>
          <a:xfrm>
            <a:off x="434454" y="4090481"/>
            <a:ext cx="8458200" cy="1920240"/>
          </a:xfrm>
          <a:prstGeom prst="rect">
            <a:avLst/>
          </a:prstGeom>
        </p:spPr>
        <p:txBody>
          <a:bodyPr wrap="square">
            <a:spAutoFit/>
          </a:bodyPr>
          <a:lstStyle/>
          <a:p>
            <a:r>
              <a:rPr lang="en-US" sz="2600" b="1">
                <a:latin typeface="Times New Roman" panose="02020603050405020304" pitchFamily="18" charset="0"/>
                <a:cs typeface="Times New Roman" panose="02020603050405020304" pitchFamily="18" charset="0"/>
              </a:rPr>
              <a:t>Features of Hybrid Topology</a:t>
            </a:r>
          </a:p>
          <a:p>
            <a:pPr marL="457200" indent="-457200">
              <a:buFont typeface="Arial" panose="020B0604020202020204" pitchFamily="34" charset="0"/>
              <a:buChar char="•"/>
            </a:pPr>
            <a:r>
              <a:rPr lang="en-US" sz="2600">
                <a:latin typeface="Times New Roman" panose="02020603050405020304" pitchFamily="18" charset="0"/>
                <a:cs typeface="Times New Roman" panose="02020603050405020304" pitchFamily="18" charset="0"/>
              </a:rPr>
              <a:t>It is a combination of two or topologies</a:t>
            </a:r>
          </a:p>
          <a:p>
            <a:pPr marL="457200" indent="-457200">
              <a:buFont typeface="Arial" panose="020B0604020202020204" pitchFamily="34" charset="0"/>
              <a:buChar char="•"/>
            </a:pPr>
            <a:r>
              <a:rPr lang="en-US" sz="2600">
                <a:latin typeface="Times New Roman" panose="02020603050405020304" pitchFamily="18" charset="0"/>
                <a:cs typeface="Times New Roman" panose="02020603050405020304" pitchFamily="18" charset="0"/>
              </a:rPr>
              <a:t>Inherits the advantages and disadvantages of the topologies included</a:t>
            </a:r>
          </a:p>
        </p:txBody>
      </p:sp>
    </p:spTree>
  </p:cSld>
  <p:clrMapOvr>
    <a:overrideClrMapping bg1="lt1" tx1="dk1" bg2="lt2" tx2="dk2" accent1="accent1" accent2="accent2" accent3="accent3" accent4="accent4" accent5="accent5" accent6="accent6" hlink="hlink" folHlink="folHlink"/>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48693" name="Title 2"/>
          <p:cNvSpPr>
            <a:spLocks noGrp="1"/>
          </p:cNvSpPr>
          <p:nvPr>
            <p:ph type="title"/>
          </p:nvPr>
        </p:nvSpPr>
        <p:spPr>
          <a:xfrm>
            <a:off x="381000" y="5181600"/>
            <a:ext cx="8305800" cy="762000"/>
          </a:xfrm>
        </p:spPr>
        <p:txBody>
          <a:bodyPr>
            <a:normAutofit/>
          </a:bodyPr>
          <a:lstStyle/>
          <a:p>
            <a:pPr algn="ctr"/>
            <a:r>
              <a:rPr lang="en-US" sz="3600">
                <a:latin typeface="Baskerville Old Face" panose="02020602080505020303" pitchFamily="18" charset="0"/>
              </a:rPr>
              <a:t>Hybrid Topology</a:t>
            </a:r>
            <a:endParaRPr lang="en-IN" sz="3600">
              <a:latin typeface="Baskerville Old Face" panose="02020602080505020303" pitchFamily="18" charset="0"/>
            </a:endParaRPr>
          </a:p>
        </p:txBody>
      </p:sp>
      <p:pic>
        <p:nvPicPr>
          <p:cNvPr id="2097165" name="Picture 6"/>
          <p:cNvPicPr>
            <a:picLocks noChangeAspect="1" noChangeArrowheads="1"/>
          </p:cNvPicPr>
          <p:nvPr/>
        </p:nvPicPr>
        <p:blipFill>
          <a:blip r:embed="rId3"/>
          <a:srcRect/>
          <a:stretch>
            <a:fillRect/>
          </a:stretch>
        </p:blipFill>
        <p:spPr bwMode="auto">
          <a:xfrm>
            <a:off x="762000" y="609600"/>
            <a:ext cx="6883400" cy="4148137"/>
          </a:xfrm>
          <a:prstGeom prst="rect">
            <a:avLst/>
          </a:prstGeom>
          <a:noFill/>
          <a:ln>
            <a:noFill/>
          </a:ln>
          <a:effectLst/>
        </p:spPr>
      </p:pic>
    </p:spTree>
  </p:cSld>
  <p:clrMapOvr>
    <a:overrideClrMapping bg1="lt1" tx1="dk1" bg2="lt2" tx2="dk2" accent1="accent1" accent2="accent2" accent3="accent3" accent4="accent4" accent5="accent5" accent6="accent6" hlink="hlink" folHlink="folHlink"/>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48694" name="Rectangle 1"/>
          <p:cNvSpPr/>
          <p:nvPr/>
        </p:nvSpPr>
        <p:spPr>
          <a:xfrm>
            <a:off x="304800" y="1066800"/>
            <a:ext cx="4267200" cy="4206240"/>
          </a:xfrm>
          <a:prstGeom prst="rect">
            <a:avLst/>
          </a:prstGeom>
        </p:spPr>
        <p:txBody>
          <a:bodyPr wrap="square">
            <a:spAutoFit/>
          </a:bodyPr>
          <a:lstStyle/>
          <a:p>
            <a:r>
              <a:rPr lang="en-US" sz="2600" b="1">
                <a:latin typeface="Times New Roman" panose="02020603050405020304" pitchFamily="18" charset="0"/>
                <a:cs typeface="Times New Roman" panose="02020603050405020304" pitchFamily="18" charset="0"/>
              </a:rPr>
              <a:t>Advantages of Hybrid Topology</a:t>
            </a:r>
          </a:p>
          <a:p>
            <a:pPr marL="457200" indent="-457200" algn="just">
              <a:buFont typeface="Arial" panose="020B0604020202020204" pitchFamily="34" charset="0"/>
              <a:buChar char="•"/>
            </a:pPr>
            <a:r>
              <a:rPr lang="en-US" sz="2600">
                <a:latin typeface="Times New Roman" panose="02020603050405020304" pitchFamily="18" charset="0"/>
                <a:cs typeface="Times New Roman" panose="02020603050405020304" pitchFamily="18" charset="0"/>
              </a:rPr>
              <a:t>Reliable as Error detecting and trouble shooting is easy.</a:t>
            </a:r>
          </a:p>
          <a:p>
            <a:pPr marL="457200" indent="-457200" algn="just">
              <a:buFont typeface="Arial" panose="020B0604020202020204" pitchFamily="34" charset="0"/>
              <a:buChar char="•"/>
            </a:pPr>
            <a:r>
              <a:rPr lang="en-US" sz="2600">
                <a:latin typeface="Times New Roman" panose="02020603050405020304" pitchFamily="18" charset="0"/>
                <a:cs typeface="Times New Roman" panose="02020603050405020304" pitchFamily="18" charset="0"/>
              </a:rPr>
              <a:t>Effective</a:t>
            </a:r>
          </a:p>
          <a:p>
            <a:pPr marL="457200" indent="-457200" algn="just">
              <a:buFont typeface="Arial" panose="020B0604020202020204" pitchFamily="34" charset="0"/>
              <a:buChar char="•"/>
            </a:pPr>
            <a:r>
              <a:rPr lang="en-US" sz="2600">
                <a:latin typeface="Times New Roman" panose="02020603050405020304" pitchFamily="18" charset="0"/>
                <a:cs typeface="Times New Roman" panose="02020603050405020304" pitchFamily="18" charset="0"/>
              </a:rPr>
              <a:t>Scalable as size can be increased easily.</a:t>
            </a:r>
          </a:p>
          <a:p>
            <a:pPr marL="457200" indent="-457200" algn="just">
              <a:buFont typeface="Arial" panose="020B0604020202020204" pitchFamily="34" charset="0"/>
              <a:buChar char="•"/>
            </a:pPr>
            <a:r>
              <a:rPr lang="en-US" sz="2600">
                <a:latin typeface="Times New Roman" panose="02020603050405020304" pitchFamily="18" charset="0"/>
                <a:cs typeface="Times New Roman" panose="02020603050405020304" pitchFamily="18" charset="0"/>
              </a:rPr>
              <a:t>Flexible</a:t>
            </a:r>
          </a:p>
        </p:txBody>
      </p:sp>
      <p:sp>
        <p:nvSpPr>
          <p:cNvPr id="1048695" name="Rectangle 2"/>
          <p:cNvSpPr/>
          <p:nvPr/>
        </p:nvSpPr>
        <p:spPr>
          <a:xfrm>
            <a:off x="5029200" y="1072487"/>
            <a:ext cx="3886200" cy="2377439"/>
          </a:xfrm>
          <a:prstGeom prst="rect">
            <a:avLst/>
          </a:prstGeom>
        </p:spPr>
        <p:txBody>
          <a:bodyPr wrap="square">
            <a:spAutoFit/>
          </a:bodyPr>
          <a:lstStyle/>
          <a:p>
            <a:r>
              <a:rPr lang="en-US" sz="2600" b="1">
                <a:latin typeface="Times New Roman" panose="02020603050405020304" pitchFamily="18" charset="0"/>
                <a:cs typeface="Times New Roman" panose="02020603050405020304" pitchFamily="18" charset="0"/>
              </a:rPr>
              <a:t>Disadvantages of Hybrid Topology</a:t>
            </a:r>
          </a:p>
          <a:p>
            <a:pPr marL="457200" indent="-457200">
              <a:buFont typeface="Arial" panose="020B0604020202020204" pitchFamily="34" charset="0"/>
              <a:buChar char="•"/>
            </a:pPr>
            <a:r>
              <a:rPr lang="en-US" sz="2600">
                <a:latin typeface="Times New Roman" panose="02020603050405020304" pitchFamily="18" charset="0"/>
                <a:cs typeface="Times New Roman" panose="02020603050405020304" pitchFamily="18" charset="0"/>
              </a:rPr>
              <a:t>Complex in design.</a:t>
            </a:r>
          </a:p>
          <a:p>
            <a:pPr marL="457200" indent="-457200">
              <a:buFont typeface="Arial" panose="020B0604020202020204" pitchFamily="34" charset="0"/>
              <a:buChar char="•"/>
            </a:pPr>
            <a:r>
              <a:rPr lang="en-US" sz="2600">
                <a:latin typeface="Times New Roman" panose="02020603050405020304" pitchFamily="18" charset="0"/>
                <a:cs typeface="Times New Roman" panose="02020603050405020304" pitchFamily="18" charset="0"/>
              </a:rPr>
              <a:t>Costly</a:t>
            </a:r>
          </a:p>
          <a:p>
            <a:endParaRPr lang="en-US" sz="2600">
              <a:latin typeface="Baskerville Old Face" panose="02020602080505020303" pitchFamily="18" charset="0"/>
            </a:endParaRPr>
          </a:p>
        </p:txBody>
      </p:sp>
    </p:spTree>
  </p:cSld>
  <p:clrMapOvr>
    <a:overrideClrMapping bg1="lt1" tx1="dk1" bg2="lt2" tx2="dk2" accent1="accent1" accent2="accent2" accent3="accent3" accent4="accent4" accent5="accent5" accent6="accent6" hlink="hlink" folHlink="folHlink"/>
  </p:clrMapOvr>
</p:sld>
</file>

<file path=ppt/slides/slide36.xml><?xml version="1.0" encoding="utf-8"?>
<p:sld xmlns:a="http://schemas.openxmlformats.org/drawingml/2006/main" xmlns:r="http://schemas.openxmlformats.org/officeDocument/2006/relationships" xmlns:p="http://schemas.openxmlformats.org/presentationml/2006/main" showMasterPhAnim="0">
  <p:cSld>
    <p:bg>
      <p:bgPr>
        <a:solidFill>
          <a:schemeClr val="bg1"/>
        </a:solidFill>
        <a:effectLst/>
      </p:bgPr>
    </p:bg>
    <p:spTree>
      <p:nvGrpSpPr>
        <p:cNvPr id="1" name=""/>
        <p:cNvGrpSpPr/>
        <p:nvPr/>
      </p:nvGrpSpPr>
      <p:grpSpPr>
        <a:xfrm>
          <a:off x="0" y="0"/>
          <a:ext cx="0" cy="0"/>
          <a:chOff x="0" y="0"/>
          <a:chExt cx="0" cy="0"/>
        </a:xfrm>
      </p:grpSpPr>
      <p:sp>
        <p:nvSpPr>
          <p:cNvPr id="1048696" name="Slide Number Placeholder 1"/>
          <p:cNvSpPr>
            <a:spLocks noGrp="1"/>
          </p:cNvSpPr>
          <p:nvPr>
            <p:ph type="sldNum" sz="quarter" idx="7"/>
          </p:nvPr>
        </p:nvSpPr>
        <p:spPr>
          <a:xfrm>
            <a:off x="0" y="6400800"/>
            <a:ext cx="1905000" cy="177800"/>
          </a:xfrm>
          <a:prstGeom prst="rect">
            <a:avLst/>
          </a:prstGeom>
        </p:spPr>
        <p:txBody>
          <a:bodyPr/>
          <a:lstStyle/>
          <a:p>
            <a:r>
              <a:rPr lang="en-US"/>
              <a:t>1.</a:t>
            </a:r>
            <a:fld id="{ED040489-BC1A-414C-82FB-14EB54C99A5C}" type="slidenum">
              <a:rPr lang="en-US"/>
              <a:t>36</a:t>
            </a:fld>
            <a:endParaRPr lang="en-US"/>
          </a:p>
        </p:txBody>
      </p:sp>
      <p:sp>
        <p:nvSpPr>
          <p:cNvPr id="1048697" name="Text Box 3"/>
          <p:cNvSpPr txBox="1">
            <a:spLocks noChangeArrowheads="1"/>
          </p:cNvSpPr>
          <p:nvPr/>
        </p:nvSpPr>
        <p:spPr bwMode="auto">
          <a:xfrm>
            <a:off x="-83686" y="430213"/>
            <a:ext cx="3277066" cy="637539"/>
          </a:xfrm>
          <a:prstGeom prst="rect">
            <a:avLst/>
          </a:prstGeom>
          <a:noFill/>
          <a:ln>
            <a:noFill/>
          </a:ln>
          <a:effectLst/>
        </p:spPr>
        <p:txBody>
          <a:bodyPr wrap="none">
            <a:spAutoFit/>
          </a:bodyPr>
          <a:lstStyle/>
          <a:p>
            <a:r>
              <a:rPr lang="en-US">
                <a:effectLst>
                  <a:outerShdw blurRad="38100" dist="38100" dir="2700000" algn="tl">
                    <a:srgbClr val="C0C0C0"/>
                  </a:outerShdw>
                </a:effectLst>
                <a:latin typeface="Times" panose="02020603050405020304" pitchFamily="18" charset="0"/>
              </a:rPr>
              <a:t>        </a:t>
            </a:r>
            <a:r>
              <a:rPr lang="en-US" sz="3200" b="1">
                <a:effectLst>
                  <a:outerShdw blurRad="38100" dist="38100" dir="2700000" algn="tl">
                    <a:srgbClr val="C0C0C0"/>
                  </a:outerShdw>
                </a:effectLst>
                <a:latin typeface="Times New Roman" panose="02020603050405020304" pitchFamily="18" charset="0"/>
                <a:cs typeface="Times New Roman" panose="02020603050405020304" pitchFamily="18" charset="0"/>
              </a:rPr>
              <a:t>PROTOCOLS</a:t>
            </a:r>
          </a:p>
        </p:txBody>
      </p:sp>
      <p:sp>
        <p:nvSpPr>
          <p:cNvPr id="1048698" name="Text Box 4"/>
          <p:cNvSpPr txBox="1">
            <a:spLocks noChangeArrowheads="1"/>
          </p:cNvSpPr>
          <p:nvPr/>
        </p:nvSpPr>
        <p:spPr bwMode="auto">
          <a:xfrm>
            <a:off x="8229600" y="6400800"/>
            <a:ext cx="182880" cy="396239"/>
          </a:xfrm>
          <a:prstGeom prst="rect">
            <a:avLst/>
          </a:prstGeom>
          <a:noFill/>
          <a:ln>
            <a:noFill/>
          </a:ln>
          <a:effectLst/>
        </p:spPr>
        <p:txBody>
          <a:bodyPr wrap="none">
            <a:spAutoFit/>
          </a:bodyPr>
          <a:lstStyle/>
          <a:p>
            <a:endParaRPr lang="en-US" sz="1800">
              <a:latin typeface="Times New Roman" panose="02020603050405020304" pitchFamily="18" charset="0"/>
            </a:endParaRPr>
          </a:p>
        </p:txBody>
      </p:sp>
      <p:sp>
        <p:nvSpPr>
          <p:cNvPr id="1048699" name="Rectangle 5"/>
          <p:cNvSpPr>
            <a:spLocks noChangeArrowheads="1"/>
          </p:cNvSpPr>
          <p:nvPr/>
        </p:nvSpPr>
        <p:spPr bwMode="auto">
          <a:xfrm>
            <a:off x="381000" y="1525112"/>
            <a:ext cx="8686800" cy="2987039"/>
          </a:xfrm>
          <a:prstGeom prst="rect">
            <a:avLst/>
          </a:prstGeom>
          <a:noFill/>
          <a:ln>
            <a:noFill/>
          </a:ln>
          <a:effectLst/>
        </p:spPr>
        <p:txBody>
          <a:bodyPr anchor="ctr">
            <a:spAutoFit/>
          </a:bodyPr>
          <a:lstStyle/>
          <a:p>
            <a:pPr algn="just" eaLnBrk="1" hangingPunct="1"/>
            <a:r>
              <a:rPr lang="en-US" sz="2800" b="1" i="1">
                <a:effectLst>
                  <a:outerShdw blurRad="38100" dist="38100" dir="2700000" algn="tl">
                    <a:srgbClr val="C0C0C0"/>
                  </a:outerShdw>
                </a:effectLst>
                <a:latin typeface="Times New Roman" panose="02020603050405020304" pitchFamily="18" charset="0"/>
              </a:rPr>
              <a:t>A protocol is synonymous with rule. It consists of a set of rules that govern data communications. It determines what is communicated, how it is communicated and when it is communicated. The key elements of a protocol are syntax, semantics and timing.</a:t>
            </a:r>
          </a:p>
        </p:txBody>
      </p:sp>
    </p:spTree>
  </p:cSld>
  <p:clrMapOvr>
    <a:overrideClrMapping bg1="lt1" tx1="dk1" bg2="lt2" tx2="dk2" accent1="accent1" accent2="accent2" accent3="accent3" accent4="accent4" accent5="accent5" accent6="accent6" hlink="hlink" folHlink="folHlink"/>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48703" name="Text Box 4"/>
          <p:cNvSpPr txBox="1">
            <a:spLocks noChangeArrowheads="1"/>
          </p:cNvSpPr>
          <p:nvPr/>
        </p:nvSpPr>
        <p:spPr bwMode="auto">
          <a:xfrm>
            <a:off x="457200" y="578643"/>
            <a:ext cx="5944066" cy="637539"/>
          </a:xfrm>
          <a:prstGeom prst="rect">
            <a:avLst/>
          </a:prstGeom>
          <a:noFill/>
          <a:ln>
            <a:noFill/>
          </a:ln>
          <a:effectLst/>
        </p:spPr>
        <p:txBody>
          <a:bodyPr wrap="none">
            <a:spAutoFit/>
          </a:bodyPr>
          <a:lstStyle/>
          <a:p>
            <a:r>
              <a:rPr lang="en-US" sz="3200" b="1">
                <a:latin typeface="Times New Roman" panose="02020603050405020304" pitchFamily="18" charset="0"/>
              </a:rPr>
              <a:t>ELEMENTS OF A PROTOCOL</a:t>
            </a:r>
            <a:endParaRPr lang="en-US" sz="3200" b="1" i="1">
              <a:latin typeface="Times New Roman" panose="02020603050405020304" pitchFamily="18" charset="0"/>
            </a:endParaRPr>
          </a:p>
        </p:txBody>
      </p:sp>
      <p:sp>
        <p:nvSpPr>
          <p:cNvPr id="1048704" name="Text Box 6"/>
          <p:cNvSpPr txBox="1">
            <a:spLocks noChangeArrowheads="1"/>
          </p:cNvSpPr>
          <p:nvPr/>
        </p:nvSpPr>
        <p:spPr bwMode="auto">
          <a:xfrm>
            <a:off x="457200" y="1524000"/>
            <a:ext cx="7315200" cy="396240"/>
          </a:xfrm>
          <a:prstGeom prst="rect">
            <a:avLst/>
          </a:prstGeom>
          <a:noFill/>
          <a:ln>
            <a:noFill/>
          </a:ln>
          <a:effectLst/>
        </p:spPr>
        <p:txBody>
          <a:bodyPr>
            <a:spAutoFit/>
          </a:bodyPr>
          <a:lstStyle/>
          <a:p>
            <a:endParaRPr lang="en-US"/>
          </a:p>
        </p:txBody>
      </p:sp>
      <p:sp>
        <p:nvSpPr>
          <p:cNvPr id="1048705" name="Rectangle 7"/>
          <p:cNvSpPr>
            <a:spLocks noGrp="1" noChangeArrowheads="1"/>
          </p:cNvSpPr>
          <p:nvPr>
            <p:ph type="body" idx="1"/>
          </p:nvPr>
        </p:nvSpPr>
        <p:spPr bwMode="auto">
          <a:xfrm>
            <a:off x="457200" y="1371600"/>
            <a:ext cx="7772400" cy="4472940"/>
          </a:xfrm>
          <a:noFill/>
        </p:spPr>
        <p:txBody>
          <a:bodyPr vert="horz" wrap="square" lIns="91440" tIns="45720" rIns="91440" bIns="45720" numCol="1" anchor="t" anchorCtr="0" compatLnSpc="1"/>
          <a:lstStyle/>
          <a:p>
            <a:r>
              <a:rPr lang="en-US" sz="2800" b="1">
                <a:solidFill>
                  <a:schemeClr val="accent3">
                    <a:lumMod val="75000"/>
                  </a:schemeClr>
                </a:solidFill>
                <a:latin typeface="Times New Roman" panose="02020603050405020304" pitchFamily="18" charset="0"/>
              </a:rPr>
              <a:t>Syntax</a:t>
            </a:r>
          </a:p>
          <a:p>
            <a:pPr marL="685800" lvl="1" indent="-342900">
              <a:buFont typeface="Arial" panose="020B0604020202020204" pitchFamily="34" charset="0"/>
              <a:buChar char="•"/>
            </a:pPr>
            <a:r>
              <a:rPr lang="en-US" sz="2400">
                <a:solidFill>
                  <a:schemeClr val="tx1"/>
                </a:solidFill>
                <a:latin typeface="Times New Roman" panose="02020603050405020304" pitchFamily="18" charset="0"/>
              </a:rPr>
              <a:t>Structure or format of the data</a:t>
            </a:r>
          </a:p>
          <a:p>
            <a:pPr marL="685800" lvl="1" indent="-342900">
              <a:buFont typeface="Arial" panose="020B0604020202020204" pitchFamily="34" charset="0"/>
              <a:buChar char="•"/>
            </a:pPr>
            <a:r>
              <a:rPr lang="en-US" sz="2400">
                <a:solidFill>
                  <a:schemeClr val="tx1"/>
                </a:solidFill>
                <a:latin typeface="Times New Roman" panose="02020603050405020304" pitchFamily="18" charset="0"/>
              </a:rPr>
              <a:t>Indicates how to read the bits - field delineation</a:t>
            </a:r>
          </a:p>
          <a:p>
            <a:r>
              <a:rPr lang="en-US" sz="2800" b="1">
                <a:solidFill>
                  <a:schemeClr val="accent3">
                    <a:lumMod val="75000"/>
                  </a:schemeClr>
                </a:solidFill>
                <a:latin typeface="Times New Roman" panose="02020603050405020304" pitchFamily="18" charset="0"/>
              </a:rPr>
              <a:t>Semantics</a:t>
            </a:r>
          </a:p>
          <a:p>
            <a:pPr marL="685800" lvl="1" indent="-342900">
              <a:buFont typeface="Arial" panose="020B0604020202020204" pitchFamily="34" charset="0"/>
              <a:buChar char="•"/>
            </a:pPr>
            <a:r>
              <a:rPr lang="en-US" sz="2400">
                <a:solidFill>
                  <a:schemeClr val="tx1"/>
                </a:solidFill>
                <a:latin typeface="Times New Roman" panose="02020603050405020304" pitchFamily="18" charset="0"/>
              </a:rPr>
              <a:t>Interprets the meaning of the bits</a:t>
            </a:r>
          </a:p>
          <a:p>
            <a:pPr marL="685800" lvl="1" indent="-342900">
              <a:buFont typeface="Arial" panose="020B0604020202020204" pitchFamily="34" charset="0"/>
              <a:buChar char="•"/>
            </a:pPr>
            <a:r>
              <a:rPr lang="en-US" sz="2400">
                <a:solidFill>
                  <a:schemeClr val="tx1"/>
                </a:solidFill>
                <a:latin typeface="Times New Roman" panose="02020603050405020304" pitchFamily="18" charset="0"/>
              </a:rPr>
              <a:t>Knows which fields define what action</a:t>
            </a:r>
          </a:p>
          <a:p>
            <a:r>
              <a:rPr lang="en-US" sz="2800" b="1">
                <a:solidFill>
                  <a:schemeClr val="accent3">
                    <a:lumMod val="75000"/>
                  </a:schemeClr>
                </a:solidFill>
                <a:latin typeface="Times New Roman" panose="02020603050405020304" pitchFamily="18" charset="0"/>
              </a:rPr>
              <a:t>Timing</a:t>
            </a:r>
          </a:p>
          <a:p>
            <a:pPr marL="685800" lvl="1" indent="-342900">
              <a:buFont typeface="Arial" panose="020B0604020202020204" pitchFamily="34" charset="0"/>
              <a:buChar char="•"/>
            </a:pPr>
            <a:r>
              <a:rPr lang="en-US" sz="2400">
                <a:solidFill>
                  <a:schemeClr val="tx1"/>
                </a:solidFill>
                <a:latin typeface="Times New Roman" panose="02020603050405020304" pitchFamily="18" charset="0"/>
              </a:rPr>
              <a:t>When data should be sent and what</a:t>
            </a:r>
          </a:p>
          <a:p>
            <a:pPr marL="685800" lvl="1" indent="-342900">
              <a:buFont typeface="Arial" panose="020B0604020202020204" pitchFamily="34" charset="0"/>
              <a:buChar char="•"/>
            </a:pPr>
            <a:r>
              <a:rPr lang="en-US" sz="2400">
                <a:solidFill>
                  <a:schemeClr val="tx1"/>
                </a:solidFill>
                <a:latin typeface="Times New Roman" panose="02020603050405020304" pitchFamily="18" charset="0"/>
              </a:rPr>
              <a:t>Speed at which data should be sent or speed at which it is being received.</a:t>
            </a:r>
          </a:p>
        </p:txBody>
      </p:sp>
    </p:spTree>
  </p:cSld>
  <p:clrMapOvr>
    <a:overrideClrMapping bg1="lt1" tx1="dk1" bg2="lt2" tx2="dk2" accent1="accent1" accent2="accent2" accent3="accent3" accent4="accent4" accent5="accent5" accent6="accent6" hlink="hlink" folHlink="folHlink"/>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48709" name="Title 1"/>
          <p:cNvSpPr>
            <a:spLocks noGrp="1"/>
          </p:cNvSpPr>
          <p:nvPr>
            <p:ph type="ctrTitle"/>
          </p:nvPr>
        </p:nvSpPr>
        <p:spPr>
          <a:xfrm>
            <a:off x="2438400" y="2514600"/>
            <a:ext cx="4419600" cy="622301"/>
          </a:xfrm>
        </p:spPr>
        <p:txBody>
          <a:bodyPr/>
          <a:lstStyle/>
          <a:p>
            <a:r>
              <a:rPr lang="en-US" sz="3600" b="1">
                <a:latin typeface="Times" panose="02020603050405020304" pitchFamily="18" charset="0"/>
                <a:cs typeface="Times" panose="02020603050405020304" pitchFamily="18" charset="0"/>
              </a:rPr>
              <a:t>NETWORK MODEL</a:t>
            </a:r>
          </a:p>
        </p:txBody>
      </p:sp>
    </p:spTree>
  </p:cSld>
  <p:clrMapOvr>
    <a:overrideClrMapping bg1="lt1" tx1="dk1" bg2="lt2" tx2="dk2" accent1="accent1" accent2="accent2" accent3="accent3" accent4="accent4" accent5="accent5" accent6="accent6" hlink="hlink" folHlink="folHlink"/>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48710" name="Rectangle 2"/>
          <p:cNvSpPr>
            <a:spLocks noGrp="1" noChangeArrowheads="1"/>
          </p:cNvSpPr>
          <p:nvPr>
            <p:ph type="title"/>
          </p:nvPr>
        </p:nvSpPr>
        <p:spPr>
          <a:xfrm>
            <a:off x="943409" y="381000"/>
            <a:ext cx="3522821" cy="492443"/>
          </a:xfrm>
        </p:spPr>
        <p:txBody>
          <a:bodyPr>
            <a:normAutofit/>
          </a:bodyPr>
          <a:lstStyle/>
          <a:p>
            <a:pPr eaLnBrk="1" hangingPunct="1"/>
            <a:r>
              <a:rPr lang="en-US" sz="2400" b="1">
                <a:latin typeface="Times New Roman" panose="02020603050405020304" pitchFamily="18" charset="0"/>
                <a:cs typeface="Times New Roman" panose="02020603050405020304" pitchFamily="18" charset="0"/>
              </a:rPr>
              <a:t>LAYERED TASKS</a:t>
            </a:r>
          </a:p>
        </p:txBody>
      </p:sp>
      <p:sp>
        <p:nvSpPr>
          <p:cNvPr id="1048711" name="Rectangle 3"/>
          <p:cNvSpPr>
            <a:spLocks noGrp="1" noChangeArrowheads="1"/>
          </p:cNvSpPr>
          <p:nvPr>
            <p:ph type="body" idx="1"/>
          </p:nvPr>
        </p:nvSpPr>
        <p:spPr>
          <a:xfrm>
            <a:off x="1037229" y="851946"/>
            <a:ext cx="6858000" cy="1538883"/>
          </a:xfrm>
        </p:spPr>
        <p:txBody>
          <a:bodyPr>
            <a:normAutofit fontScale="95000"/>
          </a:bodyPr>
          <a:lstStyle/>
          <a:p>
            <a:pPr marL="342900" indent="-342900" eaLnBrk="1" hangingPunct="1">
              <a:buFont typeface="Arial" panose="020B0604020202020204" pitchFamily="34" charset="0"/>
              <a:buChar char="•"/>
            </a:pPr>
            <a:r>
              <a:rPr lang="en-US" sz="2000">
                <a:latin typeface="Times New Roman" panose="02020603050405020304" pitchFamily="18" charset="0"/>
                <a:cs typeface="Times New Roman" panose="02020603050405020304" pitchFamily="18" charset="0"/>
              </a:rPr>
              <a:t>Computer networks are complex systems</a:t>
            </a:r>
          </a:p>
          <a:p>
            <a:pPr lvl="1" eaLnBrk="1" hangingPunct="1"/>
            <a:r>
              <a:rPr lang="en-US" sz="2000">
                <a:latin typeface="Times New Roman" panose="02020603050405020304" pitchFamily="18" charset="0"/>
                <a:cs typeface="Times New Roman" panose="02020603050405020304" pitchFamily="18" charset="0"/>
              </a:rPr>
              <a:t>Tasks involve varieties of hardware and software components, and protocols</a:t>
            </a:r>
          </a:p>
          <a:p>
            <a:pPr marL="342900" indent="-342900" eaLnBrk="1" hangingPunct="1">
              <a:buFont typeface="Arial" panose="020B0604020202020204" pitchFamily="34" charset="0"/>
              <a:buChar char="•"/>
            </a:pPr>
            <a:r>
              <a:rPr lang="en-US" sz="2000">
                <a:latin typeface="Times New Roman" panose="02020603050405020304" pitchFamily="18" charset="0"/>
                <a:cs typeface="Times New Roman" panose="02020603050405020304" pitchFamily="18" charset="0"/>
              </a:rPr>
              <a:t>Networking task is divided into several </a:t>
            </a:r>
            <a:r>
              <a:rPr lang="en-US" sz="2000">
                <a:solidFill>
                  <a:srgbClr val="C00000"/>
                </a:solidFill>
                <a:latin typeface="Times New Roman" panose="02020603050405020304" pitchFamily="18" charset="0"/>
                <a:cs typeface="Times New Roman" panose="02020603050405020304" pitchFamily="18" charset="0"/>
              </a:rPr>
              <a:t>subtasks, or layers.</a:t>
            </a:r>
          </a:p>
        </p:txBody>
      </p:sp>
      <p:sp>
        <p:nvSpPr>
          <p:cNvPr id="1048712" name="Slide Number Placeholder 5"/>
          <p:cNvSpPr>
            <a:spLocks noGrp="1"/>
          </p:cNvSpPr>
          <p:nvPr>
            <p:ph type="sldNum" sz="quarter" idx="7"/>
          </p:nvPr>
        </p:nvSpPr>
        <p:spPr/>
        <p:txBody>
          <a:bodyPr/>
          <a:lstStyle/>
          <a:p>
            <a:fld id="{A0E033F2-F4AD-41EE-8B07-564F0DCC5426}" type="slidenum">
              <a:rPr lang="en-US"/>
              <a:t>39</a:t>
            </a:fld>
            <a:endParaRPr lang="en-US"/>
          </a:p>
        </p:txBody>
      </p:sp>
      <p:sp>
        <p:nvSpPr>
          <p:cNvPr id="1048713" name="Rectangle 2"/>
          <p:cNvSpPr txBox="1">
            <a:spLocks noChangeArrowheads="1"/>
          </p:cNvSpPr>
          <p:nvPr/>
        </p:nvSpPr>
        <p:spPr>
          <a:xfrm>
            <a:off x="938859" y="2390829"/>
            <a:ext cx="3522821" cy="419100"/>
          </a:xfrm>
          <a:prstGeom prst="rect">
            <a:avLst/>
          </a:prstGeom>
        </p:spPr>
        <p:txBody>
          <a:bodyPr wrap="square" lIns="0" tIns="0" rIns="0" bIns="0">
            <a:spAutoFit/>
          </a:bodyPr>
          <a:lstStyle>
            <a:lvl1pPr>
              <a:defRPr sz="2700" b="0" i="0">
                <a:solidFill>
                  <a:srgbClr val="4471C4"/>
                </a:solidFill>
                <a:latin typeface="Caladea"/>
                <a:ea typeface="+mj-ea"/>
                <a:cs typeface="Caladea"/>
              </a:defRPr>
            </a:lvl1pPr>
          </a:lstStyle>
          <a:p>
            <a:r>
              <a:rPr lang="en-US" altLang="en-US" sz="2400" b="1" kern="0">
                <a:latin typeface="Times New Roman" panose="02020603050405020304" pitchFamily="18" charset="0"/>
                <a:cs typeface="Times New Roman" panose="02020603050405020304" pitchFamily="18" charset="0"/>
              </a:rPr>
              <a:t>WHY LAYERING?</a:t>
            </a:r>
          </a:p>
        </p:txBody>
      </p:sp>
      <p:sp>
        <p:nvSpPr>
          <p:cNvPr id="1048714" name="Rectangle 1"/>
          <p:cNvSpPr/>
          <p:nvPr/>
        </p:nvSpPr>
        <p:spPr>
          <a:xfrm>
            <a:off x="979802" y="2971800"/>
            <a:ext cx="6354732" cy="2834640"/>
          </a:xfrm>
          <a:prstGeom prst="rect">
            <a:avLst/>
          </a:prstGeom>
        </p:spPr>
        <p:txBody>
          <a:bodyPr wrap="square">
            <a:spAutoFit/>
          </a:bodyPr>
          <a:lstStyle/>
          <a:p>
            <a:pPr marL="285750" indent="-285750">
              <a:buFont typeface="Arial" panose="020B0604020202020204" pitchFamily="34" charset="0"/>
              <a:buChar char="•"/>
            </a:pPr>
            <a:r>
              <a:rPr lang="en-US" altLang="en-US" sz="2000">
                <a:latin typeface="Times New Roman" panose="02020603050405020304" pitchFamily="18" charset="0"/>
                <a:cs typeface="Times New Roman" panose="02020603050405020304" pitchFamily="18" charset="0"/>
              </a:rPr>
              <a:t>Networks are complex!  </a:t>
            </a:r>
            <a:endParaRPr lang="en-US" altLang="en-US" sz="320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altLang="en-US" sz="2000">
                <a:latin typeface="Times New Roman" panose="02020603050405020304" pitchFamily="18" charset="0"/>
                <a:cs typeface="Times New Roman" panose="02020603050405020304" pitchFamily="18" charset="0"/>
              </a:rPr>
              <a:t>We need a way to organize the structure of network functionalities and </a:t>
            </a:r>
            <a:r>
              <a:rPr lang="en-US" altLang="en-US" sz="2000" b="1">
                <a:latin typeface="Times New Roman" panose="02020603050405020304" pitchFamily="18" charset="0"/>
                <a:cs typeface="Times New Roman" panose="02020603050405020304" pitchFamily="18" charset="0"/>
              </a:rPr>
              <a:t>to reduce the design complexities</a:t>
            </a:r>
          </a:p>
          <a:p>
            <a:pPr marL="285750" indent="-285750">
              <a:buFont typeface="Arial" panose="020B0604020202020204" pitchFamily="34" charset="0"/>
              <a:buChar char="•"/>
            </a:pPr>
            <a:r>
              <a:rPr lang="en-US" altLang="en-US" sz="2000">
                <a:latin typeface="Times New Roman" panose="02020603050405020304" pitchFamily="18" charset="0"/>
                <a:cs typeface="Times New Roman" panose="02020603050405020304" pitchFamily="18" charset="0"/>
              </a:rPr>
              <a:t>Benefits of  layering</a:t>
            </a:r>
          </a:p>
          <a:p>
            <a:pPr marL="742950" lvl="1" indent="-285750">
              <a:buFont typeface="Wingdings" panose="05000000000000000000" pitchFamily="2" charset="2"/>
              <a:buChar char="ü"/>
            </a:pPr>
            <a:r>
              <a:rPr lang="en-US" altLang="en-US" sz="2000">
                <a:latin typeface="Times New Roman" panose="02020603050405020304" pitchFamily="18" charset="0"/>
                <a:cs typeface="Times New Roman" panose="02020603050405020304" pitchFamily="18" charset="0"/>
              </a:rPr>
              <a:t>Interoperability</a:t>
            </a:r>
          </a:p>
          <a:p>
            <a:pPr marL="742950" lvl="1" indent="-285750">
              <a:buFont typeface="Wingdings" panose="05000000000000000000" pitchFamily="2" charset="2"/>
              <a:buChar char="ü"/>
            </a:pPr>
            <a:r>
              <a:rPr lang="en-US" altLang="en-US" sz="2000">
                <a:latin typeface="Times New Roman" panose="02020603050405020304" pitchFamily="18" charset="0"/>
                <a:cs typeface="Times New Roman" panose="02020603050405020304" pitchFamily="18" charset="0"/>
              </a:rPr>
              <a:t>Reuse</a:t>
            </a:r>
          </a:p>
          <a:p>
            <a:pPr marL="742950" lvl="1" indent="-285750">
              <a:buFont typeface="Wingdings" panose="05000000000000000000" pitchFamily="2" charset="2"/>
              <a:buChar char="ü"/>
            </a:pPr>
            <a:r>
              <a:rPr lang="en-US" altLang="en-US" sz="2000">
                <a:latin typeface="Times New Roman" panose="02020603050405020304" pitchFamily="18" charset="0"/>
                <a:cs typeface="Times New Roman" panose="02020603050405020304" pitchFamily="18" charset="0"/>
              </a:rPr>
              <a:t>Hiding underlying details</a:t>
            </a:r>
          </a:p>
        </p:txBody>
      </p:sp>
    </p:spTree>
  </p:cSld>
  <p:clrMapOvr>
    <a:overrideClrMapping bg1="lt1" tx1="dk1" bg2="lt2" tx2="dk2" accent1="accent1" accent2="accent2" accent3="accent3" accent4="accent4" accent5="accent5" accent6="accent6" hlink="hlink" folHlink="folHlink"/>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48721" name="Rectangle 2"/>
          <p:cNvSpPr>
            <a:spLocks noGrp="1" noChangeArrowheads="1"/>
          </p:cNvSpPr>
          <p:nvPr>
            <p:ph type="title"/>
          </p:nvPr>
        </p:nvSpPr>
        <p:spPr>
          <a:xfrm>
            <a:off x="1036373" y="762000"/>
            <a:ext cx="4315090" cy="469900"/>
          </a:xfrm>
        </p:spPr>
        <p:txBody>
          <a:bodyPr/>
          <a:lstStyle/>
          <a:p>
            <a:pPr eaLnBrk="1" hangingPunct="1"/>
            <a:r>
              <a:rPr lang="en-US" b="1"/>
              <a:t>REAL WORLD EXAMPLE</a:t>
            </a:r>
          </a:p>
        </p:txBody>
      </p:sp>
      <p:sp>
        <p:nvSpPr>
          <p:cNvPr id="1048722" name="Rectangle 3"/>
          <p:cNvSpPr>
            <a:spLocks noGrp="1" noChangeArrowheads="1"/>
          </p:cNvSpPr>
          <p:nvPr>
            <p:ph type="body" idx="1"/>
          </p:nvPr>
        </p:nvSpPr>
        <p:spPr>
          <a:xfrm>
            <a:off x="1567338" y="1971739"/>
            <a:ext cx="6052661" cy="304800"/>
          </a:xfrm>
        </p:spPr>
        <p:txBody>
          <a:bodyPr/>
          <a:lstStyle/>
          <a:p>
            <a:pPr eaLnBrk="1" hangingPunct="1"/>
            <a:r>
              <a:rPr lang="en-US" sz="1800" b="1"/>
              <a:t>Communication between managers of two companies</a:t>
            </a:r>
          </a:p>
        </p:txBody>
      </p:sp>
      <p:sp>
        <p:nvSpPr>
          <p:cNvPr id="1048723" name="Slide Number Placeholder 5"/>
          <p:cNvSpPr>
            <a:spLocks noGrp="1"/>
          </p:cNvSpPr>
          <p:nvPr>
            <p:ph type="sldNum" sz="quarter" idx="7"/>
          </p:nvPr>
        </p:nvSpPr>
        <p:spPr/>
        <p:txBody>
          <a:bodyPr/>
          <a:lstStyle/>
          <a:p>
            <a:fld id="{144F95F5-A6B7-4FA1-A292-EC4BB82C0334}" type="slidenum">
              <a:rPr lang="en-US"/>
              <a:t>40</a:t>
            </a:fld>
            <a:endParaRPr lang="en-US"/>
          </a:p>
        </p:txBody>
      </p:sp>
      <p:pic>
        <p:nvPicPr>
          <p:cNvPr id="2097166" name="Picture 4" descr="j0213019"/>
          <p:cNvPicPr>
            <a:picLocks noChangeAspect="1" noChangeArrowheads="1"/>
          </p:cNvPicPr>
          <p:nvPr/>
        </p:nvPicPr>
        <p:blipFill>
          <a:blip r:embed="rId3" cstate="print"/>
          <a:srcRect/>
          <a:stretch>
            <a:fillRect/>
          </a:stretch>
        </p:blipFill>
        <p:spPr bwMode="auto">
          <a:xfrm>
            <a:off x="5715000" y="3124200"/>
            <a:ext cx="1695450" cy="1344613"/>
          </a:xfrm>
          <a:prstGeom prst="rect">
            <a:avLst/>
          </a:prstGeom>
          <a:noFill/>
          <a:ln w="9525">
            <a:noFill/>
            <a:miter lim="800000"/>
            <a:headEnd/>
            <a:tailEnd/>
          </a:ln>
        </p:spPr>
      </p:pic>
      <p:pic>
        <p:nvPicPr>
          <p:cNvPr id="2097167" name="Picture 5" descr="j0332528"/>
          <p:cNvPicPr>
            <a:picLocks noChangeAspect="1" noChangeArrowheads="1"/>
          </p:cNvPicPr>
          <p:nvPr/>
        </p:nvPicPr>
        <p:blipFill>
          <a:blip r:embed="rId4" cstate="print"/>
          <a:srcRect/>
          <a:stretch>
            <a:fillRect/>
          </a:stretch>
        </p:blipFill>
        <p:spPr bwMode="auto">
          <a:xfrm flipH="1">
            <a:off x="1447800" y="3124200"/>
            <a:ext cx="2057400" cy="1387475"/>
          </a:xfrm>
          <a:prstGeom prst="rect">
            <a:avLst/>
          </a:prstGeom>
          <a:noFill/>
          <a:ln w="9525">
            <a:noFill/>
            <a:miter lim="800000"/>
            <a:headEnd/>
            <a:tailEnd/>
          </a:ln>
        </p:spPr>
      </p:pic>
      <p:sp>
        <p:nvSpPr>
          <p:cNvPr id="1048724" name="Line 6"/>
          <p:cNvSpPr>
            <a:spLocks noChangeShapeType="1"/>
          </p:cNvSpPr>
          <p:nvPr/>
        </p:nvSpPr>
        <p:spPr bwMode="auto">
          <a:xfrm flipV="1">
            <a:off x="3581400" y="3810000"/>
            <a:ext cx="2057400" cy="0"/>
          </a:xfrm>
          <a:prstGeom prst="line">
            <a:avLst/>
          </a:prstGeom>
          <a:noFill/>
          <a:ln w="57150">
            <a:solidFill>
              <a:schemeClr val="folHlink"/>
            </a:solidFill>
            <a:round/>
            <a:headEnd type="triangle" w="med" len="med"/>
            <a:tailEnd type="triangle" w="med" len="med"/>
          </a:ln>
        </p:spPr>
        <p:txBody>
          <a:bodyPr/>
          <a:lstStyle/>
          <a:p>
            <a:pPr fontAlgn="base">
              <a:spcBef>
                <a:spcPct val="0"/>
              </a:spcBef>
              <a:spcAft>
                <a:spcPct val="0"/>
              </a:spcAft>
            </a:pPr>
            <a:endParaRPr lang="en-US">
              <a:solidFill>
                <a:prstClr val="black"/>
              </a:solidFill>
              <a:latin typeface="Tahoma" panose="020B0604030504040204" pitchFamily="34" charset="0"/>
              <a:cs typeface="Arial" panose="020B0604020202020204" pitchFamily="34" charset="0"/>
            </a:endParaRPr>
          </a:p>
        </p:txBody>
      </p:sp>
      <p:sp>
        <p:nvSpPr>
          <p:cNvPr id="1048725" name="Text Box 10"/>
          <p:cNvSpPr txBox="1">
            <a:spLocks noChangeArrowheads="1"/>
          </p:cNvSpPr>
          <p:nvPr/>
        </p:nvSpPr>
        <p:spPr bwMode="auto">
          <a:xfrm>
            <a:off x="3794125" y="3460750"/>
            <a:ext cx="1642139" cy="396240"/>
          </a:xfrm>
          <a:prstGeom prst="rect">
            <a:avLst/>
          </a:prstGeom>
          <a:noFill/>
          <a:ln w="9525">
            <a:noFill/>
            <a:miter lim="800000"/>
          </a:ln>
        </p:spPr>
        <p:txBody>
          <a:bodyPr wrap="none">
            <a:spAutoFit/>
          </a:bodyPr>
          <a:lstStyle/>
          <a:p>
            <a:pPr fontAlgn="base">
              <a:spcBef>
                <a:spcPct val="0"/>
              </a:spcBef>
              <a:spcAft>
                <a:spcPct val="0"/>
              </a:spcAft>
            </a:pPr>
            <a:r>
              <a:rPr lang="en-US">
                <a:solidFill>
                  <a:prstClr val="black"/>
                </a:solidFill>
                <a:latin typeface="Tahoma" panose="020B0604030504040204" pitchFamily="34" charset="0"/>
                <a:cs typeface="Arial" panose="020B0604020202020204" pitchFamily="34" charset="0"/>
              </a:rPr>
              <a:t>Communicate</a:t>
            </a:r>
          </a:p>
        </p:txBody>
      </p:sp>
    </p:spTree>
  </p:cSld>
  <p:clrMapOvr>
    <a:overrideClrMapping bg1="lt1" tx1="dk1" bg2="lt2" tx2="dk2" accent1="accent1" accent2="accent2" accent3="accent3" accent4="accent4" accent5="accent5" accent6="accent6" hlink="hlink" folHlink="folHlink"/>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26" name="Rectangle 2"/>
          <p:cNvSpPr>
            <a:spLocks noGrp="1" noChangeArrowheads="1"/>
          </p:cNvSpPr>
          <p:nvPr>
            <p:ph type="title"/>
          </p:nvPr>
        </p:nvSpPr>
        <p:spPr>
          <a:xfrm>
            <a:off x="457200" y="685800"/>
            <a:ext cx="8229600" cy="482600"/>
          </a:xfrm>
        </p:spPr>
        <p:txBody>
          <a:bodyPr/>
          <a:lstStyle/>
          <a:p>
            <a:pPr eaLnBrk="1" hangingPunct="1"/>
            <a:r>
              <a:rPr lang="en-US" sz="2800" b="1">
                <a:latin typeface="Times New Roman" panose="02020603050405020304" pitchFamily="18" charset="0"/>
                <a:cs typeface="Times New Roman" panose="02020603050405020304" pitchFamily="18" charset="0"/>
              </a:rPr>
              <a:t>LOGICAL CONNECTION</a:t>
            </a:r>
          </a:p>
        </p:txBody>
      </p:sp>
      <p:sp>
        <p:nvSpPr>
          <p:cNvPr id="1048727" name="Rectangle 3"/>
          <p:cNvSpPr>
            <a:spLocks noGrp="1" noChangeArrowheads="1"/>
          </p:cNvSpPr>
          <p:nvPr>
            <p:ph idx="1"/>
          </p:nvPr>
        </p:nvSpPr>
        <p:spPr>
          <a:xfrm>
            <a:off x="659063" y="1145698"/>
            <a:ext cx="8229600" cy="482600"/>
          </a:xfrm>
        </p:spPr>
        <p:txBody>
          <a:bodyPr/>
          <a:lstStyle/>
          <a:p>
            <a:pPr eaLnBrk="1" hangingPunct="1"/>
            <a:r>
              <a:rPr lang="en-US" sz="2800"/>
              <a:t>Communication takes place through many layers</a:t>
            </a:r>
          </a:p>
        </p:txBody>
      </p:sp>
      <p:grpSp>
        <p:nvGrpSpPr>
          <p:cNvPr id="143" name="Group 335"/>
          <p:cNvGrpSpPr/>
          <p:nvPr/>
        </p:nvGrpSpPr>
        <p:grpSpPr bwMode="auto">
          <a:xfrm>
            <a:off x="1752600" y="5791200"/>
            <a:ext cx="2362200" cy="152400"/>
            <a:chOff x="1104" y="3648"/>
            <a:chExt cx="1488" cy="96"/>
          </a:xfrm>
        </p:grpSpPr>
        <p:sp>
          <p:nvSpPr>
            <p:cNvPr id="1048728" name="Line 332"/>
            <p:cNvSpPr>
              <a:spLocks noChangeShapeType="1"/>
            </p:cNvSpPr>
            <p:nvPr/>
          </p:nvSpPr>
          <p:spPr bwMode="auto">
            <a:xfrm>
              <a:off x="1152" y="3648"/>
              <a:ext cx="1440" cy="96"/>
            </a:xfrm>
            <a:prstGeom prst="line">
              <a:avLst/>
            </a:prstGeom>
            <a:noFill/>
            <a:ln w="76200">
              <a:solidFill>
                <a:srgbClr val="080808"/>
              </a:solidFill>
              <a:round/>
            </a:ln>
          </p:spPr>
          <p:txBody>
            <a:bodyPr/>
            <a:lstStyle/>
            <a:p>
              <a:endParaRPr lang="en-US"/>
            </a:p>
          </p:txBody>
        </p:sp>
        <p:sp>
          <p:nvSpPr>
            <p:cNvPr id="1048729" name="Line 329"/>
            <p:cNvSpPr>
              <a:spLocks noChangeShapeType="1"/>
            </p:cNvSpPr>
            <p:nvPr/>
          </p:nvSpPr>
          <p:spPr bwMode="auto">
            <a:xfrm>
              <a:off x="1104" y="3648"/>
              <a:ext cx="1440" cy="96"/>
            </a:xfrm>
            <a:prstGeom prst="line">
              <a:avLst/>
            </a:prstGeom>
            <a:noFill/>
            <a:ln w="9525">
              <a:solidFill>
                <a:schemeClr val="tx1"/>
              </a:solidFill>
              <a:prstDash val="dash"/>
              <a:round/>
            </a:ln>
          </p:spPr>
          <p:txBody>
            <a:bodyPr/>
            <a:lstStyle/>
            <a:p>
              <a:endParaRPr lang="en-US"/>
            </a:p>
          </p:txBody>
        </p:sp>
      </p:grpSp>
      <p:grpSp>
        <p:nvGrpSpPr>
          <p:cNvPr id="144" name="Group 336"/>
          <p:cNvGrpSpPr/>
          <p:nvPr/>
        </p:nvGrpSpPr>
        <p:grpSpPr bwMode="auto">
          <a:xfrm>
            <a:off x="4038600" y="5562600"/>
            <a:ext cx="1905000" cy="457200"/>
            <a:chOff x="2544" y="3504"/>
            <a:chExt cx="1200" cy="288"/>
          </a:xfrm>
        </p:grpSpPr>
        <p:sp>
          <p:nvSpPr>
            <p:cNvPr id="1048730" name="Line 333"/>
            <p:cNvSpPr>
              <a:spLocks noChangeShapeType="1"/>
            </p:cNvSpPr>
            <p:nvPr/>
          </p:nvSpPr>
          <p:spPr bwMode="auto">
            <a:xfrm flipV="1">
              <a:off x="2592" y="3504"/>
              <a:ext cx="1152" cy="288"/>
            </a:xfrm>
            <a:prstGeom prst="line">
              <a:avLst/>
            </a:prstGeom>
            <a:noFill/>
            <a:ln w="76200">
              <a:solidFill>
                <a:srgbClr val="080808"/>
              </a:solidFill>
              <a:round/>
            </a:ln>
          </p:spPr>
          <p:txBody>
            <a:bodyPr/>
            <a:lstStyle/>
            <a:p>
              <a:endParaRPr lang="en-US"/>
            </a:p>
          </p:txBody>
        </p:sp>
        <p:sp>
          <p:nvSpPr>
            <p:cNvPr id="1048731" name="Line 330"/>
            <p:cNvSpPr>
              <a:spLocks noChangeShapeType="1"/>
            </p:cNvSpPr>
            <p:nvPr/>
          </p:nvSpPr>
          <p:spPr bwMode="auto">
            <a:xfrm flipV="1">
              <a:off x="2544" y="3504"/>
              <a:ext cx="1152" cy="288"/>
            </a:xfrm>
            <a:prstGeom prst="line">
              <a:avLst/>
            </a:prstGeom>
            <a:noFill/>
            <a:ln w="9525">
              <a:solidFill>
                <a:schemeClr val="tx1"/>
              </a:solidFill>
              <a:prstDash val="dash"/>
              <a:round/>
            </a:ln>
          </p:spPr>
          <p:txBody>
            <a:bodyPr/>
            <a:lstStyle/>
            <a:p>
              <a:endParaRPr lang="en-US"/>
            </a:p>
          </p:txBody>
        </p:sp>
      </p:grpSp>
      <p:grpSp>
        <p:nvGrpSpPr>
          <p:cNvPr id="145" name="Group 337"/>
          <p:cNvGrpSpPr/>
          <p:nvPr/>
        </p:nvGrpSpPr>
        <p:grpSpPr bwMode="auto">
          <a:xfrm>
            <a:off x="5867400" y="5562600"/>
            <a:ext cx="1981200" cy="304800"/>
            <a:chOff x="3696" y="3504"/>
            <a:chExt cx="1248" cy="192"/>
          </a:xfrm>
        </p:grpSpPr>
        <p:sp>
          <p:nvSpPr>
            <p:cNvPr id="1048732" name="Line 334"/>
            <p:cNvSpPr>
              <a:spLocks noChangeShapeType="1"/>
            </p:cNvSpPr>
            <p:nvPr/>
          </p:nvSpPr>
          <p:spPr bwMode="auto">
            <a:xfrm>
              <a:off x="3744" y="3504"/>
              <a:ext cx="1200" cy="192"/>
            </a:xfrm>
            <a:prstGeom prst="line">
              <a:avLst/>
            </a:prstGeom>
            <a:noFill/>
            <a:ln w="76200">
              <a:solidFill>
                <a:srgbClr val="080808"/>
              </a:solidFill>
              <a:round/>
            </a:ln>
          </p:spPr>
          <p:txBody>
            <a:bodyPr/>
            <a:lstStyle/>
            <a:p>
              <a:endParaRPr lang="en-US"/>
            </a:p>
          </p:txBody>
        </p:sp>
        <p:sp>
          <p:nvSpPr>
            <p:cNvPr id="1048733" name="Line 331"/>
            <p:cNvSpPr>
              <a:spLocks noChangeShapeType="1"/>
            </p:cNvSpPr>
            <p:nvPr/>
          </p:nvSpPr>
          <p:spPr bwMode="auto">
            <a:xfrm>
              <a:off x="3696" y="3504"/>
              <a:ext cx="1200" cy="192"/>
            </a:xfrm>
            <a:prstGeom prst="line">
              <a:avLst/>
            </a:prstGeom>
            <a:noFill/>
            <a:ln w="9525">
              <a:solidFill>
                <a:schemeClr val="tx1"/>
              </a:solidFill>
              <a:prstDash val="dash"/>
              <a:round/>
            </a:ln>
          </p:spPr>
          <p:txBody>
            <a:bodyPr/>
            <a:lstStyle/>
            <a:p>
              <a:endParaRPr lang="en-US"/>
            </a:p>
          </p:txBody>
        </p:sp>
      </p:grpSp>
      <p:pic>
        <p:nvPicPr>
          <p:cNvPr id="2097168" name="Picture 4" descr="j0213019"/>
          <p:cNvPicPr>
            <a:picLocks noChangeAspect="1" noChangeArrowheads="1"/>
          </p:cNvPicPr>
          <p:nvPr/>
        </p:nvPicPr>
        <p:blipFill>
          <a:blip r:embed="rId2" cstate="print"/>
          <a:srcRect/>
          <a:stretch>
            <a:fillRect/>
          </a:stretch>
        </p:blipFill>
        <p:spPr bwMode="auto">
          <a:xfrm>
            <a:off x="7391400" y="1752600"/>
            <a:ext cx="1066800" cy="846138"/>
          </a:xfrm>
          <a:prstGeom prst="rect">
            <a:avLst/>
          </a:prstGeom>
          <a:noFill/>
          <a:ln w="9525">
            <a:noFill/>
            <a:miter lim="800000"/>
            <a:headEnd/>
            <a:tailEnd/>
          </a:ln>
        </p:spPr>
      </p:pic>
      <p:pic>
        <p:nvPicPr>
          <p:cNvPr id="2097169" name="Picture 5" descr="j0332528"/>
          <p:cNvPicPr>
            <a:picLocks noChangeAspect="1" noChangeArrowheads="1"/>
          </p:cNvPicPr>
          <p:nvPr/>
        </p:nvPicPr>
        <p:blipFill>
          <a:blip r:embed="rId3" cstate="print"/>
          <a:srcRect/>
          <a:stretch>
            <a:fillRect/>
          </a:stretch>
        </p:blipFill>
        <p:spPr bwMode="auto">
          <a:xfrm flipH="1">
            <a:off x="1143000" y="1752600"/>
            <a:ext cx="1295400" cy="873125"/>
          </a:xfrm>
          <a:prstGeom prst="rect">
            <a:avLst/>
          </a:prstGeom>
          <a:noFill/>
          <a:ln w="9525">
            <a:noFill/>
            <a:miter lim="800000"/>
            <a:headEnd/>
            <a:tailEnd/>
          </a:ln>
        </p:spPr>
      </p:pic>
      <p:sp>
        <p:nvSpPr>
          <p:cNvPr id="1048734" name="Line 6"/>
          <p:cNvSpPr>
            <a:spLocks noChangeShapeType="1"/>
          </p:cNvSpPr>
          <p:nvPr/>
        </p:nvSpPr>
        <p:spPr bwMode="auto">
          <a:xfrm>
            <a:off x="2514600" y="2286000"/>
            <a:ext cx="4800600" cy="0"/>
          </a:xfrm>
          <a:prstGeom prst="line">
            <a:avLst/>
          </a:prstGeom>
          <a:noFill/>
          <a:ln w="57150">
            <a:solidFill>
              <a:schemeClr val="folHlink"/>
            </a:solidFill>
            <a:prstDash val="sysDot"/>
            <a:round/>
            <a:tailEnd type="triangle" w="med" len="med"/>
          </a:ln>
        </p:spPr>
        <p:txBody>
          <a:bodyPr/>
          <a:lstStyle/>
          <a:p>
            <a:endParaRPr lang="en-US"/>
          </a:p>
        </p:txBody>
      </p:sp>
      <p:pic>
        <p:nvPicPr>
          <p:cNvPr id="2097170" name="Picture 7" descr="PE02209_"/>
          <p:cNvPicPr>
            <a:picLocks noChangeAspect="1" noChangeArrowheads="1"/>
          </p:cNvPicPr>
          <p:nvPr/>
        </p:nvPicPr>
        <p:blipFill>
          <a:blip r:embed="rId4" cstate="print"/>
          <a:srcRect/>
          <a:stretch>
            <a:fillRect/>
          </a:stretch>
        </p:blipFill>
        <p:spPr bwMode="auto">
          <a:xfrm>
            <a:off x="7467600" y="2895600"/>
            <a:ext cx="735013" cy="914400"/>
          </a:xfrm>
          <a:prstGeom prst="rect">
            <a:avLst/>
          </a:prstGeom>
          <a:noFill/>
          <a:ln w="9525">
            <a:noFill/>
            <a:miter lim="800000"/>
            <a:headEnd/>
            <a:tailEnd/>
          </a:ln>
        </p:spPr>
      </p:pic>
      <p:pic>
        <p:nvPicPr>
          <p:cNvPr id="2097171" name="Picture 9" descr="PE02209_"/>
          <p:cNvPicPr>
            <a:picLocks noChangeAspect="1" noChangeArrowheads="1"/>
          </p:cNvPicPr>
          <p:nvPr/>
        </p:nvPicPr>
        <p:blipFill>
          <a:blip r:embed="rId4" cstate="print"/>
          <a:srcRect/>
          <a:stretch>
            <a:fillRect/>
          </a:stretch>
        </p:blipFill>
        <p:spPr bwMode="auto">
          <a:xfrm flipH="1">
            <a:off x="1371600" y="2895600"/>
            <a:ext cx="735013" cy="914400"/>
          </a:xfrm>
          <a:prstGeom prst="rect">
            <a:avLst/>
          </a:prstGeom>
          <a:noFill/>
          <a:ln w="9525">
            <a:noFill/>
            <a:miter lim="800000"/>
            <a:headEnd/>
            <a:tailEnd/>
          </a:ln>
        </p:spPr>
      </p:pic>
      <p:sp>
        <p:nvSpPr>
          <p:cNvPr id="1048735" name="Text Box 10"/>
          <p:cNvSpPr txBox="1">
            <a:spLocks noChangeArrowheads="1"/>
          </p:cNvSpPr>
          <p:nvPr/>
        </p:nvSpPr>
        <p:spPr bwMode="auto">
          <a:xfrm>
            <a:off x="3621088" y="1860550"/>
            <a:ext cx="2618898" cy="396239"/>
          </a:xfrm>
          <a:prstGeom prst="rect">
            <a:avLst/>
          </a:prstGeom>
          <a:noFill/>
          <a:ln w="9525">
            <a:noFill/>
            <a:miter lim="800000"/>
          </a:ln>
        </p:spPr>
        <p:txBody>
          <a:bodyPr wrap="none">
            <a:spAutoFit/>
          </a:bodyPr>
          <a:lstStyle/>
          <a:p>
            <a:r>
              <a:rPr lang="en-US"/>
              <a:t>Logical communication</a:t>
            </a:r>
          </a:p>
        </p:txBody>
      </p:sp>
      <p:grpSp>
        <p:nvGrpSpPr>
          <p:cNvPr id="146" name="Group 89"/>
          <p:cNvGrpSpPr/>
          <p:nvPr/>
        </p:nvGrpSpPr>
        <p:grpSpPr bwMode="auto">
          <a:xfrm rot="296180">
            <a:off x="2590800" y="5424488"/>
            <a:ext cx="533400" cy="442912"/>
            <a:chOff x="2112" y="3600"/>
            <a:chExt cx="560" cy="465"/>
          </a:xfrm>
        </p:grpSpPr>
        <p:sp>
          <p:nvSpPr>
            <p:cNvPr id="1048736" name="AutoShape 23"/>
            <p:cNvSpPr>
              <a:spLocks noChangeAspect="1" noChangeArrowheads="1" noTextEdit="1"/>
            </p:cNvSpPr>
            <p:nvPr/>
          </p:nvSpPr>
          <p:spPr bwMode="auto">
            <a:xfrm>
              <a:off x="2112" y="3600"/>
              <a:ext cx="560" cy="465"/>
            </a:xfrm>
            <a:prstGeom prst="rect">
              <a:avLst/>
            </a:prstGeom>
            <a:noFill/>
            <a:ln w="9525">
              <a:noFill/>
              <a:miter lim="800000"/>
            </a:ln>
          </p:spPr>
          <p:txBody>
            <a:bodyPr/>
            <a:lstStyle/>
            <a:p>
              <a:endParaRPr lang="en-US"/>
            </a:p>
          </p:txBody>
        </p:sp>
        <p:sp>
          <p:nvSpPr>
            <p:cNvPr id="1048737" name="Freeform 27"/>
            <p:cNvSpPr/>
            <p:nvPr/>
          </p:nvSpPr>
          <p:spPr bwMode="auto">
            <a:xfrm>
              <a:off x="2130" y="3699"/>
              <a:ext cx="542" cy="301"/>
            </a:xfrm>
            <a:custGeom>
              <a:avLst/>
              <a:gdLst>
                <a:gd name="T0" fmla="*/ 383 w 1083"/>
                <a:gd name="T1" fmla="*/ 253 h 602"/>
                <a:gd name="T2" fmla="*/ 387 w 1083"/>
                <a:gd name="T3" fmla="*/ 267 h 602"/>
                <a:gd name="T4" fmla="*/ 398 w 1083"/>
                <a:gd name="T5" fmla="*/ 284 h 602"/>
                <a:gd name="T6" fmla="*/ 421 w 1083"/>
                <a:gd name="T7" fmla="*/ 298 h 602"/>
                <a:gd name="T8" fmla="*/ 456 w 1083"/>
                <a:gd name="T9" fmla="*/ 298 h 602"/>
                <a:gd name="T10" fmla="*/ 480 w 1083"/>
                <a:gd name="T11" fmla="*/ 284 h 602"/>
                <a:gd name="T12" fmla="*/ 491 w 1083"/>
                <a:gd name="T13" fmla="*/ 267 h 602"/>
                <a:gd name="T14" fmla="*/ 495 w 1083"/>
                <a:gd name="T15" fmla="*/ 253 h 602"/>
                <a:gd name="T16" fmla="*/ 497 w 1083"/>
                <a:gd name="T17" fmla="*/ 251 h 602"/>
                <a:gd name="T18" fmla="*/ 509 w 1083"/>
                <a:gd name="T19" fmla="*/ 251 h 602"/>
                <a:gd name="T20" fmla="*/ 527 w 1083"/>
                <a:gd name="T21" fmla="*/ 248 h 602"/>
                <a:gd name="T22" fmla="*/ 539 w 1083"/>
                <a:gd name="T23" fmla="*/ 237 h 602"/>
                <a:gd name="T24" fmla="*/ 542 w 1083"/>
                <a:gd name="T25" fmla="*/ 226 h 602"/>
                <a:gd name="T26" fmla="*/ 542 w 1083"/>
                <a:gd name="T27" fmla="*/ 224 h 602"/>
                <a:gd name="T28" fmla="*/ 542 w 1083"/>
                <a:gd name="T29" fmla="*/ 220 h 602"/>
                <a:gd name="T30" fmla="*/ 541 w 1083"/>
                <a:gd name="T31" fmla="*/ 212 h 602"/>
                <a:gd name="T32" fmla="*/ 537 w 1083"/>
                <a:gd name="T33" fmla="*/ 205 h 602"/>
                <a:gd name="T34" fmla="*/ 529 w 1083"/>
                <a:gd name="T35" fmla="*/ 199 h 602"/>
                <a:gd name="T36" fmla="*/ 524 w 1083"/>
                <a:gd name="T37" fmla="*/ 135 h 602"/>
                <a:gd name="T38" fmla="*/ 523 w 1083"/>
                <a:gd name="T39" fmla="*/ 132 h 602"/>
                <a:gd name="T40" fmla="*/ 520 w 1083"/>
                <a:gd name="T41" fmla="*/ 124 h 602"/>
                <a:gd name="T42" fmla="*/ 511 w 1083"/>
                <a:gd name="T43" fmla="*/ 115 h 602"/>
                <a:gd name="T44" fmla="*/ 495 w 1083"/>
                <a:gd name="T45" fmla="*/ 107 h 602"/>
                <a:gd name="T46" fmla="*/ 471 w 1083"/>
                <a:gd name="T47" fmla="*/ 90 h 602"/>
                <a:gd name="T48" fmla="*/ 445 w 1083"/>
                <a:gd name="T49" fmla="*/ 61 h 602"/>
                <a:gd name="T50" fmla="*/ 423 w 1083"/>
                <a:gd name="T51" fmla="*/ 31 h 602"/>
                <a:gd name="T52" fmla="*/ 411 w 1083"/>
                <a:gd name="T53" fmla="*/ 14 h 602"/>
                <a:gd name="T54" fmla="*/ 403 w 1083"/>
                <a:gd name="T55" fmla="*/ 8 h 602"/>
                <a:gd name="T56" fmla="*/ 390 w 1083"/>
                <a:gd name="T57" fmla="*/ 3 h 602"/>
                <a:gd name="T58" fmla="*/ 373 w 1083"/>
                <a:gd name="T59" fmla="*/ 1 h 602"/>
                <a:gd name="T60" fmla="*/ 353 w 1083"/>
                <a:gd name="T61" fmla="*/ 0 h 602"/>
                <a:gd name="T62" fmla="*/ 334 w 1083"/>
                <a:gd name="T63" fmla="*/ 0 h 602"/>
                <a:gd name="T64" fmla="*/ 296 w 1083"/>
                <a:gd name="T65" fmla="*/ 0 h 602"/>
                <a:gd name="T66" fmla="*/ 246 w 1083"/>
                <a:gd name="T67" fmla="*/ 0 h 602"/>
                <a:gd name="T68" fmla="*/ 190 w 1083"/>
                <a:gd name="T69" fmla="*/ 0 h 602"/>
                <a:gd name="T70" fmla="*/ 135 w 1083"/>
                <a:gd name="T71" fmla="*/ 0 h 602"/>
                <a:gd name="T72" fmla="*/ 88 w 1083"/>
                <a:gd name="T73" fmla="*/ 0 h 602"/>
                <a:gd name="T74" fmla="*/ 54 w 1083"/>
                <a:gd name="T75" fmla="*/ 0 h 602"/>
                <a:gd name="T76" fmla="*/ 42 w 1083"/>
                <a:gd name="T77" fmla="*/ 0 h 602"/>
                <a:gd name="T78" fmla="*/ 37 w 1083"/>
                <a:gd name="T79" fmla="*/ 1 h 602"/>
                <a:gd name="T80" fmla="*/ 27 w 1083"/>
                <a:gd name="T81" fmla="*/ 4 h 602"/>
                <a:gd name="T82" fmla="*/ 17 w 1083"/>
                <a:gd name="T83" fmla="*/ 13 h 602"/>
                <a:gd name="T84" fmla="*/ 12 w 1083"/>
                <a:gd name="T85" fmla="*/ 31 h 602"/>
                <a:gd name="T86" fmla="*/ 10 w 1083"/>
                <a:gd name="T87" fmla="*/ 193 h 602"/>
                <a:gd name="T88" fmla="*/ 1 w 1083"/>
                <a:gd name="T89" fmla="*/ 208 h 602"/>
                <a:gd name="T90" fmla="*/ 1 w 1083"/>
                <a:gd name="T91" fmla="*/ 229 h 602"/>
                <a:gd name="T92" fmla="*/ 4 w 1083"/>
                <a:gd name="T93" fmla="*/ 238 h 602"/>
                <a:gd name="T94" fmla="*/ 9 w 1083"/>
                <a:gd name="T95" fmla="*/ 246 h 602"/>
                <a:gd name="T96" fmla="*/ 17 w 1083"/>
                <a:gd name="T97" fmla="*/ 252 h 602"/>
                <a:gd name="T98" fmla="*/ 57 w 1083"/>
                <a:gd name="T99" fmla="*/ 254 h 602"/>
                <a:gd name="T100" fmla="*/ 59 w 1083"/>
                <a:gd name="T101" fmla="*/ 262 h 602"/>
                <a:gd name="T102" fmla="*/ 68 w 1083"/>
                <a:gd name="T103" fmla="*/ 278 h 602"/>
                <a:gd name="T104" fmla="*/ 86 w 1083"/>
                <a:gd name="T105" fmla="*/ 294 h 602"/>
                <a:gd name="T106" fmla="*/ 115 w 1083"/>
                <a:gd name="T107" fmla="*/ 301 h 602"/>
                <a:gd name="T108" fmla="*/ 124 w 1083"/>
                <a:gd name="T109" fmla="*/ 301 h 602"/>
                <a:gd name="T110" fmla="*/ 142 w 1083"/>
                <a:gd name="T111" fmla="*/ 297 h 602"/>
                <a:gd name="T112" fmla="*/ 162 w 1083"/>
                <a:gd name="T113" fmla="*/ 282 h 602"/>
                <a:gd name="T114" fmla="*/ 174 w 1083"/>
                <a:gd name="T115" fmla="*/ 251 h 602"/>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1083"/>
                <a:gd name="T175" fmla="*/ 0 h 602"/>
                <a:gd name="T176" fmla="*/ 1083 w 1083"/>
                <a:gd name="T177" fmla="*/ 602 h 602"/>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1083" h="602">
                  <a:moveTo>
                    <a:pt x="765" y="502"/>
                  </a:moveTo>
                  <a:lnTo>
                    <a:pt x="765" y="506"/>
                  </a:lnTo>
                  <a:lnTo>
                    <a:pt x="767" y="516"/>
                  </a:lnTo>
                  <a:lnTo>
                    <a:pt x="773" y="533"/>
                  </a:lnTo>
                  <a:lnTo>
                    <a:pt x="781" y="550"/>
                  </a:lnTo>
                  <a:lnTo>
                    <a:pt x="795" y="568"/>
                  </a:lnTo>
                  <a:lnTo>
                    <a:pt x="815" y="584"/>
                  </a:lnTo>
                  <a:lnTo>
                    <a:pt x="842" y="595"/>
                  </a:lnTo>
                  <a:lnTo>
                    <a:pt x="877" y="599"/>
                  </a:lnTo>
                  <a:lnTo>
                    <a:pt x="912" y="595"/>
                  </a:lnTo>
                  <a:lnTo>
                    <a:pt x="939" y="584"/>
                  </a:lnTo>
                  <a:lnTo>
                    <a:pt x="960" y="568"/>
                  </a:lnTo>
                  <a:lnTo>
                    <a:pt x="972" y="550"/>
                  </a:lnTo>
                  <a:lnTo>
                    <a:pt x="982" y="533"/>
                  </a:lnTo>
                  <a:lnTo>
                    <a:pt x="986" y="516"/>
                  </a:lnTo>
                  <a:lnTo>
                    <a:pt x="989" y="506"/>
                  </a:lnTo>
                  <a:lnTo>
                    <a:pt x="989" y="502"/>
                  </a:lnTo>
                  <a:lnTo>
                    <a:pt x="993" y="502"/>
                  </a:lnTo>
                  <a:lnTo>
                    <a:pt x="1003" y="503"/>
                  </a:lnTo>
                  <a:lnTo>
                    <a:pt x="1018" y="503"/>
                  </a:lnTo>
                  <a:lnTo>
                    <a:pt x="1036" y="502"/>
                  </a:lnTo>
                  <a:lnTo>
                    <a:pt x="1053" y="496"/>
                  </a:lnTo>
                  <a:lnTo>
                    <a:pt x="1068" y="488"/>
                  </a:lnTo>
                  <a:lnTo>
                    <a:pt x="1078" y="474"/>
                  </a:lnTo>
                  <a:lnTo>
                    <a:pt x="1083" y="453"/>
                  </a:lnTo>
                  <a:lnTo>
                    <a:pt x="1083" y="452"/>
                  </a:lnTo>
                  <a:lnTo>
                    <a:pt x="1083" y="451"/>
                  </a:lnTo>
                  <a:lnTo>
                    <a:pt x="1083" y="449"/>
                  </a:lnTo>
                  <a:lnTo>
                    <a:pt x="1083" y="446"/>
                  </a:lnTo>
                  <a:lnTo>
                    <a:pt x="1083" y="440"/>
                  </a:lnTo>
                  <a:lnTo>
                    <a:pt x="1082" y="434"/>
                  </a:lnTo>
                  <a:lnTo>
                    <a:pt x="1081" y="425"/>
                  </a:lnTo>
                  <a:lnTo>
                    <a:pt x="1077" y="419"/>
                  </a:lnTo>
                  <a:lnTo>
                    <a:pt x="1073" y="410"/>
                  </a:lnTo>
                  <a:lnTo>
                    <a:pt x="1067" y="404"/>
                  </a:lnTo>
                  <a:lnTo>
                    <a:pt x="1058" y="398"/>
                  </a:lnTo>
                  <a:lnTo>
                    <a:pt x="1047" y="394"/>
                  </a:lnTo>
                  <a:lnTo>
                    <a:pt x="1047" y="270"/>
                  </a:lnTo>
                  <a:lnTo>
                    <a:pt x="1047" y="268"/>
                  </a:lnTo>
                  <a:lnTo>
                    <a:pt x="1046" y="263"/>
                  </a:lnTo>
                  <a:lnTo>
                    <a:pt x="1044" y="256"/>
                  </a:lnTo>
                  <a:lnTo>
                    <a:pt x="1039" y="248"/>
                  </a:lnTo>
                  <a:lnTo>
                    <a:pt x="1032" y="239"/>
                  </a:lnTo>
                  <a:lnTo>
                    <a:pt x="1022" y="230"/>
                  </a:lnTo>
                  <a:lnTo>
                    <a:pt x="1007" y="221"/>
                  </a:lnTo>
                  <a:lnTo>
                    <a:pt x="989" y="215"/>
                  </a:lnTo>
                  <a:lnTo>
                    <a:pt x="965" y="203"/>
                  </a:lnTo>
                  <a:lnTo>
                    <a:pt x="941" y="181"/>
                  </a:lnTo>
                  <a:lnTo>
                    <a:pt x="915" y="153"/>
                  </a:lnTo>
                  <a:lnTo>
                    <a:pt x="889" y="122"/>
                  </a:lnTo>
                  <a:lnTo>
                    <a:pt x="865" y="90"/>
                  </a:lnTo>
                  <a:lnTo>
                    <a:pt x="846" y="62"/>
                  </a:lnTo>
                  <a:lnTo>
                    <a:pt x="830" y="41"/>
                  </a:lnTo>
                  <a:lnTo>
                    <a:pt x="821" y="28"/>
                  </a:lnTo>
                  <a:lnTo>
                    <a:pt x="816" y="22"/>
                  </a:lnTo>
                  <a:lnTo>
                    <a:pt x="805" y="16"/>
                  </a:lnTo>
                  <a:lnTo>
                    <a:pt x="794" y="12"/>
                  </a:lnTo>
                  <a:lnTo>
                    <a:pt x="780" y="7"/>
                  </a:lnTo>
                  <a:lnTo>
                    <a:pt x="764" y="5"/>
                  </a:lnTo>
                  <a:lnTo>
                    <a:pt x="745" y="3"/>
                  </a:lnTo>
                  <a:lnTo>
                    <a:pt x="727" y="0"/>
                  </a:lnTo>
                  <a:lnTo>
                    <a:pt x="706" y="0"/>
                  </a:lnTo>
                  <a:lnTo>
                    <a:pt x="692" y="0"/>
                  </a:lnTo>
                  <a:lnTo>
                    <a:pt x="668" y="0"/>
                  </a:lnTo>
                  <a:lnTo>
                    <a:pt x="634" y="0"/>
                  </a:lnTo>
                  <a:lnTo>
                    <a:pt x="592" y="0"/>
                  </a:lnTo>
                  <a:lnTo>
                    <a:pt x="544" y="0"/>
                  </a:lnTo>
                  <a:lnTo>
                    <a:pt x="491" y="0"/>
                  </a:lnTo>
                  <a:lnTo>
                    <a:pt x="435" y="0"/>
                  </a:lnTo>
                  <a:lnTo>
                    <a:pt x="379" y="0"/>
                  </a:lnTo>
                  <a:lnTo>
                    <a:pt x="324" y="0"/>
                  </a:lnTo>
                  <a:lnTo>
                    <a:pt x="270" y="0"/>
                  </a:lnTo>
                  <a:lnTo>
                    <a:pt x="219" y="0"/>
                  </a:lnTo>
                  <a:lnTo>
                    <a:pt x="175" y="0"/>
                  </a:lnTo>
                  <a:lnTo>
                    <a:pt x="137" y="0"/>
                  </a:lnTo>
                  <a:lnTo>
                    <a:pt x="108" y="0"/>
                  </a:lnTo>
                  <a:lnTo>
                    <a:pt x="90" y="0"/>
                  </a:lnTo>
                  <a:lnTo>
                    <a:pt x="83" y="0"/>
                  </a:lnTo>
                  <a:lnTo>
                    <a:pt x="81" y="0"/>
                  </a:lnTo>
                  <a:lnTo>
                    <a:pt x="74" y="1"/>
                  </a:lnTo>
                  <a:lnTo>
                    <a:pt x="64" y="4"/>
                  </a:lnTo>
                  <a:lnTo>
                    <a:pt x="54" y="8"/>
                  </a:lnTo>
                  <a:lnTo>
                    <a:pt x="43" y="15"/>
                  </a:lnTo>
                  <a:lnTo>
                    <a:pt x="33" y="27"/>
                  </a:lnTo>
                  <a:lnTo>
                    <a:pt x="26" y="42"/>
                  </a:lnTo>
                  <a:lnTo>
                    <a:pt x="24" y="62"/>
                  </a:lnTo>
                  <a:lnTo>
                    <a:pt x="24" y="384"/>
                  </a:lnTo>
                  <a:lnTo>
                    <a:pt x="19" y="386"/>
                  </a:lnTo>
                  <a:lnTo>
                    <a:pt x="11" y="397"/>
                  </a:lnTo>
                  <a:lnTo>
                    <a:pt x="2" y="417"/>
                  </a:lnTo>
                  <a:lnTo>
                    <a:pt x="0" y="450"/>
                  </a:lnTo>
                  <a:lnTo>
                    <a:pt x="1" y="459"/>
                  </a:lnTo>
                  <a:lnTo>
                    <a:pt x="3" y="468"/>
                  </a:lnTo>
                  <a:lnTo>
                    <a:pt x="7" y="477"/>
                  </a:lnTo>
                  <a:lnTo>
                    <a:pt x="11" y="484"/>
                  </a:lnTo>
                  <a:lnTo>
                    <a:pt x="17" y="492"/>
                  </a:lnTo>
                  <a:lnTo>
                    <a:pt x="25" y="498"/>
                  </a:lnTo>
                  <a:lnTo>
                    <a:pt x="34" y="504"/>
                  </a:lnTo>
                  <a:lnTo>
                    <a:pt x="45" y="508"/>
                  </a:lnTo>
                  <a:lnTo>
                    <a:pt x="113" y="508"/>
                  </a:lnTo>
                  <a:lnTo>
                    <a:pt x="114" y="512"/>
                  </a:lnTo>
                  <a:lnTo>
                    <a:pt x="117" y="523"/>
                  </a:lnTo>
                  <a:lnTo>
                    <a:pt x="125" y="538"/>
                  </a:lnTo>
                  <a:lnTo>
                    <a:pt x="136" y="555"/>
                  </a:lnTo>
                  <a:lnTo>
                    <a:pt x="152" y="572"/>
                  </a:lnTo>
                  <a:lnTo>
                    <a:pt x="172" y="587"/>
                  </a:lnTo>
                  <a:lnTo>
                    <a:pt x="198" y="598"/>
                  </a:lnTo>
                  <a:lnTo>
                    <a:pt x="230" y="602"/>
                  </a:lnTo>
                  <a:lnTo>
                    <a:pt x="235" y="602"/>
                  </a:lnTo>
                  <a:lnTo>
                    <a:pt x="248" y="602"/>
                  </a:lnTo>
                  <a:lnTo>
                    <a:pt x="265" y="599"/>
                  </a:lnTo>
                  <a:lnTo>
                    <a:pt x="284" y="593"/>
                  </a:lnTo>
                  <a:lnTo>
                    <a:pt x="305" y="582"/>
                  </a:lnTo>
                  <a:lnTo>
                    <a:pt x="324" y="564"/>
                  </a:lnTo>
                  <a:lnTo>
                    <a:pt x="339" y="537"/>
                  </a:lnTo>
                  <a:lnTo>
                    <a:pt x="347" y="502"/>
                  </a:lnTo>
                  <a:lnTo>
                    <a:pt x="765" y="502"/>
                  </a:lnTo>
                  <a:close/>
                </a:path>
              </a:pathLst>
            </a:custGeom>
            <a:solidFill>
              <a:srgbClr val="FFFFFF"/>
            </a:solidFill>
            <a:ln w="9525">
              <a:noFill/>
              <a:round/>
            </a:ln>
          </p:spPr>
          <p:txBody>
            <a:bodyPr/>
            <a:lstStyle/>
            <a:p>
              <a:endParaRPr lang="en-US"/>
            </a:p>
          </p:txBody>
        </p:sp>
        <p:sp>
          <p:nvSpPr>
            <p:cNvPr id="1048738" name="Freeform 28"/>
            <p:cNvSpPr/>
            <p:nvPr/>
          </p:nvSpPr>
          <p:spPr bwMode="auto">
            <a:xfrm>
              <a:off x="2148" y="3713"/>
              <a:ext cx="511" cy="226"/>
            </a:xfrm>
            <a:custGeom>
              <a:avLst/>
              <a:gdLst>
                <a:gd name="T0" fmla="*/ 13 w 1022"/>
                <a:gd name="T1" fmla="*/ 226 h 453"/>
                <a:gd name="T2" fmla="*/ 6 w 1022"/>
                <a:gd name="T3" fmla="*/ 223 h 453"/>
                <a:gd name="T4" fmla="*/ 2 w 1022"/>
                <a:gd name="T5" fmla="*/ 219 h 453"/>
                <a:gd name="T6" fmla="*/ 1 w 1022"/>
                <a:gd name="T7" fmla="*/ 214 h 453"/>
                <a:gd name="T8" fmla="*/ 0 w 1022"/>
                <a:gd name="T9" fmla="*/ 209 h 453"/>
                <a:gd name="T10" fmla="*/ 1 w 1022"/>
                <a:gd name="T11" fmla="*/ 200 h 453"/>
                <a:gd name="T12" fmla="*/ 5 w 1022"/>
                <a:gd name="T13" fmla="*/ 194 h 453"/>
                <a:gd name="T14" fmla="*/ 8 w 1022"/>
                <a:gd name="T15" fmla="*/ 191 h 453"/>
                <a:gd name="T16" fmla="*/ 10 w 1022"/>
                <a:gd name="T17" fmla="*/ 190 h 453"/>
                <a:gd name="T18" fmla="*/ 10 w 1022"/>
                <a:gd name="T19" fmla="*/ 20 h 453"/>
                <a:gd name="T20" fmla="*/ 12 w 1022"/>
                <a:gd name="T21" fmla="*/ 9 h 453"/>
                <a:gd name="T22" fmla="*/ 18 w 1022"/>
                <a:gd name="T23" fmla="*/ 3 h 453"/>
                <a:gd name="T24" fmla="*/ 24 w 1022"/>
                <a:gd name="T25" fmla="*/ 0 h 453"/>
                <a:gd name="T26" fmla="*/ 26 w 1022"/>
                <a:gd name="T27" fmla="*/ 0 h 453"/>
                <a:gd name="T28" fmla="*/ 354 w 1022"/>
                <a:gd name="T29" fmla="*/ 0 h 453"/>
                <a:gd name="T30" fmla="*/ 369 w 1022"/>
                <a:gd name="T31" fmla="*/ 1 h 453"/>
                <a:gd name="T32" fmla="*/ 372 w 1022"/>
                <a:gd name="T33" fmla="*/ 1 h 453"/>
                <a:gd name="T34" fmla="*/ 376 w 1022"/>
                <a:gd name="T35" fmla="*/ 3 h 453"/>
                <a:gd name="T36" fmla="*/ 379 w 1022"/>
                <a:gd name="T37" fmla="*/ 5 h 453"/>
                <a:gd name="T38" fmla="*/ 383 w 1022"/>
                <a:gd name="T39" fmla="*/ 9 h 453"/>
                <a:gd name="T40" fmla="*/ 391 w 1022"/>
                <a:gd name="T41" fmla="*/ 19 h 453"/>
                <a:gd name="T42" fmla="*/ 400 w 1022"/>
                <a:gd name="T43" fmla="*/ 30 h 453"/>
                <a:gd name="T44" fmla="*/ 410 w 1022"/>
                <a:gd name="T45" fmla="*/ 43 h 453"/>
                <a:gd name="T46" fmla="*/ 419 w 1022"/>
                <a:gd name="T47" fmla="*/ 55 h 453"/>
                <a:gd name="T48" fmla="*/ 427 w 1022"/>
                <a:gd name="T49" fmla="*/ 67 h 453"/>
                <a:gd name="T50" fmla="*/ 433 w 1022"/>
                <a:gd name="T51" fmla="*/ 76 h 453"/>
                <a:gd name="T52" fmla="*/ 437 w 1022"/>
                <a:gd name="T53" fmla="*/ 82 h 453"/>
                <a:gd name="T54" fmla="*/ 439 w 1022"/>
                <a:gd name="T55" fmla="*/ 84 h 453"/>
                <a:gd name="T56" fmla="*/ 440 w 1022"/>
                <a:gd name="T57" fmla="*/ 86 h 453"/>
                <a:gd name="T58" fmla="*/ 441 w 1022"/>
                <a:gd name="T59" fmla="*/ 88 h 453"/>
                <a:gd name="T60" fmla="*/ 443 w 1022"/>
                <a:gd name="T61" fmla="*/ 90 h 453"/>
                <a:gd name="T62" fmla="*/ 447 w 1022"/>
                <a:gd name="T63" fmla="*/ 92 h 453"/>
                <a:gd name="T64" fmla="*/ 451 w 1022"/>
                <a:gd name="T65" fmla="*/ 95 h 453"/>
                <a:gd name="T66" fmla="*/ 456 w 1022"/>
                <a:gd name="T67" fmla="*/ 99 h 453"/>
                <a:gd name="T68" fmla="*/ 464 w 1022"/>
                <a:gd name="T69" fmla="*/ 102 h 453"/>
                <a:gd name="T70" fmla="*/ 474 w 1022"/>
                <a:gd name="T71" fmla="*/ 106 h 453"/>
                <a:gd name="T72" fmla="*/ 481 w 1022"/>
                <a:gd name="T73" fmla="*/ 109 h 453"/>
                <a:gd name="T74" fmla="*/ 486 w 1022"/>
                <a:gd name="T75" fmla="*/ 113 h 453"/>
                <a:gd name="T76" fmla="*/ 490 w 1022"/>
                <a:gd name="T77" fmla="*/ 116 h 453"/>
                <a:gd name="T78" fmla="*/ 492 w 1022"/>
                <a:gd name="T79" fmla="*/ 118 h 453"/>
                <a:gd name="T80" fmla="*/ 493 w 1022"/>
                <a:gd name="T81" fmla="*/ 121 h 453"/>
                <a:gd name="T82" fmla="*/ 494 w 1022"/>
                <a:gd name="T83" fmla="*/ 122 h 453"/>
                <a:gd name="T84" fmla="*/ 494 w 1022"/>
                <a:gd name="T85" fmla="*/ 124 h 453"/>
                <a:gd name="T86" fmla="*/ 494 w 1022"/>
                <a:gd name="T87" fmla="*/ 124 h 453"/>
                <a:gd name="T88" fmla="*/ 494 w 1022"/>
                <a:gd name="T89" fmla="*/ 196 h 453"/>
                <a:gd name="T90" fmla="*/ 494 w 1022"/>
                <a:gd name="T91" fmla="*/ 196 h 453"/>
                <a:gd name="T92" fmla="*/ 497 w 1022"/>
                <a:gd name="T93" fmla="*/ 196 h 453"/>
                <a:gd name="T94" fmla="*/ 499 w 1022"/>
                <a:gd name="T95" fmla="*/ 196 h 453"/>
                <a:gd name="T96" fmla="*/ 502 w 1022"/>
                <a:gd name="T97" fmla="*/ 196 h 453"/>
                <a:gd name="T98" fmla="*/ 506 w 1022"/>
                <a:gd name="T99" fmla="*/ 197 h 453"/>
                <a:gd name="T100" fmla="*/ 508 w 1022"/>
                <a:gd name="T101" fmla="*/ 200 h 453"/>
                <a:gd name="T102" fmla="*/ 510 w 1022"/>
                <a:gd name="T103" fmla="*/ 203 h 453"/>
                <a:gd name="T104" fmla="*/ 511 w 1022"/>
                <a:gd name="T105" fmla="*/ 208 h 453"/>
                <a:gd name="T106" fmla="*/ 510 w 1022"/>
                <a:gd name="T107" fmla="*/ 213 h 453"/>
                <a:gd name="T108" fmla="*/ 508 w 1022"/>
                <a:gd name="T109" fmla="*/ 217 h 453"/>
                <a:gd name="T110" fmla="*/ 506 w 1022"/>
                <a:gd name="T111" fmla="*/ 220 h 453"/>
                <a:gd name="T112" fmla="*/ 502 w 1022"/>
                <a:gd name="T113" fmla="*/ 223 h 453"/>
                <a:gd name="T114" fmla="*/ 499 w 1022"/>
                <a:gd name="T115" fmla="*/ 224 h 453"/>
                <a:gd name="T116" fmla="*/ 497 w 1022"/>
                <a:gd name="T117" fmla="*/ 226 h 453"/>
                <a:gd name="T118" fmla="*/ 494 w 1022"/>
                <a:gd name="T119" fmla="*/ 226 h 453"/>
                <a:gd name="T120" fmla="*/ 494 w 1022"/>
                <a:gd name="T121" fmla="*/ 226 h 453"/>
                <a:gd name="T122" fmla="*/ 13 w 1022"/>
                <a:gd name="T123" fmla="*/ 226 h 453"/>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w 1022"/>
                <a:gd name="T187" fmla="*/ 0 h 453"/>
                <a:gd name="T188" fmla="*/ 1022 w 1022"/>
                <a:gd name="T189" fmla="*/ 453 h 453"/>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T186" t="T187" r="T188" b="T189"/>
              <a:pathLst>
                <a:path w="1022" h="453">
                  <a:moveTo>
                    <a:pt x="25" y="453"/>
                  </a:moveTo>
                  <a:lnTo>
                    <a:pt x="12" y="447"/>
                  </a:lnTo>
                  <a:lnTo>
                    <a:pt x="4" y="438"/>
                  </a:lnTo>
                  <a:lnTo>
                    <a:pt x="1" y="429"/>
                  </a:lnTo>
                  <a:lnTo>
                    <a:pt x="0" y="419"/>
                  </a:lnTo>
                  <a:lnTo>
                    <a:pt x="2" y="401"/>
                  </a:lnTo>
                  <a:lnTo>
                    <a:pt x="9" y="388"/>
                  </a:lnTo>
                  <a:lnTo>
                    <a:pt x="16" y="382"/>
                  </a:lnTo>
                  <a:lnTo>
                    <a:pt x="19" y="380"/>
                  </a:lnTo>
                  <a:lnTo>
                    <a:pt x="19" y="40"/>
                  </a:lnTo>
                  <a:lnTo>
                    <a:pt x="24" y="19"/>
                  </a:lnTo>
                  <a:lnTo>
                    <a:pt x="35" y="7"/>
                  </a:lnTo>
                  <a:lnTo>
                    <a:pt x="47" y="1"/>
                  </a:lnTo>
                  <a:lnTo>
                    <a:pt x="51" y="0"/>
                  </a:lnTo>
                  <a:lnTo>
                    <a:pt x="707" y="0"/>
                  </a:lnTo>
                  <a:lnTo>
                    <a:pt x="738" y="2"/>
                  </a:lnTo>
                  <a:lnTo>
                    <a:pt x="743" y="3"/>
                  </a:lnTo>
                  <a:lnTo>
                    <a:pt x="751" y="7"/>
                  </a:lnTo>
                  <a:lnTo>
                    <a:pt x="758" y="11"/>
                  </a:lnTo>
                  <a:lnTo>
                    <a:pt x="766" y="18"/>
                  </a:lnTo>
                  <a:lnTo>
                    <a:pt x="782" y="38"/>
                  </a:lnTo>
                  <a:lnTo>
                    <a:pt x="800" y="61"/>
                  </a:lnTo>
                  <a:lnTo>
                    <a:pt x="819" y="86"/>
                  </a:lnTo>
                  <a:lnTo>
                    <a:pt x="837" y="111"/>
                  </a:lnTo>
                  <a:lnTo>
                    <a:pt x="853" y="134"/>
                  </a:lnTo>
                  <a:lnTo>
                    <a:pt x="866" y="152"/>
                  </a:lnTo>
                  <a:lnTo>
                    <a:pt x="874" y="165"/>
                  </a:lnTo>
                  <a:lnTo>
                    <a:pt x="878" y="169"/>
                  </a:lnTo>
                  <a:lnTo>
                    <a:pt x="880" y="173"/>
                  </a:lnTo>
                  <a:lnTo>
                    <a:pt x="882" y="176"/>
                  </a:lnTo>
                  <a:lnTo>
                    <a:pt x="886" y="181"/>
                  </a:lnTo>
                  <a:lnTo>
                    <a:pt x="893" y="185"/>
                  </a:lnTo>
                  <a:lnTo>
                    <a:pt x="901" y="191"/>
                  </a:lnTo>
                  <a:lnTo>
                    <a:pt x="912" y="198"/>
                  </a:lnTo>
                  <a:lnTo>
                    <a:pt x="928" y="205"/>
                  </a:lnTo>
                  <a:lnTo>
                    <a:pt x="948" y="213"/>
                  </a:lnTo>
                  <a:lnTo>
                    <a:pt x="962" y="219"/>
                  </a:lnTo>
                  <a:lnTo>
                    <a:pt x="972" y="226"/>
                  </a:lnTo>
                  <a:lnTo>
                    <a:pt x="979" y="232"/>
                  </a:lnTo>
                  <a:lnTo>
                    <a:pt x="984" y="237"/>
                  </a:lnTo>
                  <a:lnTo>
                    <a:pt x="986" y="242"/>
                  </a:lnTo>
                  <a:lnTo>
                    <a:pt x="987" y="245"/>
                  </a:lnTo>
                  <a:lnTo>
                    <a:pt x="987" y="248"/>
                  </a:lnTo>
                  <a:lnTo>
                    <a:pt x="987" y="249"/>
                  </a:lnTo>
                  <a:lnTo>
                    <a:pt x="987" y="392"/>
                  </a:lnTo>
                  <a:lnTo>
                    <a:pt x="988" y="392"/>
                  </a:lnTo>
                  <a:lnTo>
                    <a:pt x="993" y="392"/>
                  </a:lnTo>
                  <a:lnTo>
                    <a:pt x="997" y="392"/>
                  </a:lnTo>
                  <a:lnTo>
                    <a:pt x="1004" y="393"/>
                  </a:lnTo>
                  <a:lnTo>
                    <a:pt x="1011" y="395"/>
                  </a:lnTo>
                  <a:lnTo>
                    <a:pt x="1016" y="400"/>
                  </a:lnTo>
                  <a:lnTo>
                    <a:pt x="1020" y="407"/>
                  </a:lnTo>
                  <a:lnTo>
                    <a:pt x="1022" y="417"/>
                  </a:lnTo>
                  <a:lnTo>
                    <a:pt x="1020" y="427"/>
                  </a:lnTo>
                  <a:lnTo>
                    <a:pt x="1016" y="435"/>
                  </a:lnTo>
                  <a:lnTo>
                    <a:pt x="1011" y="441"/>
                  </a:lnTo>
                  <a:lnTo>
                    <a:pt x="1004" y="446"/>
                  </a:lnTo>
                  <a:lnTo>
                    <a:pt x="997" y="449"/>
                  </a:lnTo>
                  <a:lnTo>
                    <a:pt x="993" y="452"/>
                  </a:lnTo>
                  <a:lnTo>
                    <a:pt x="988" y="453"/>
                  </a:lnTo>
                  <a:lnTo>
                    <a:pt x="987" y="453"/>
                  </a:lnTo>
                  <a:lnTo>
                    <a:pt x="25" y="453"/>
                  </a:lnTo>
                  <a:close/>
                </a:path>
              </a:pathLst>
            </a:custGeom>
            <a:solidFill>
              <a:srgbClr val="000000"/>
            </a:solidFill>
            <a:ln w="9525">
              <a:noFill/>
              <a:round/>
            </a:ln>
          </p:spPr>
          <p:txBody>
            <a:bodyPr/>
            <a:lstStyle/>
            <a:p>
              <a:endParaRPr lang="en-US"/>
            </a:p>
          </p:txBody>
        </p:sp>
        <p:sp>
          <p:nvSpPr>
            <p:cNvPr id="1048739" name="Freeform 29"/>
            <p:cNvSpPr/>
            <p:nvPr/>
          </p:nvSpPr>
          <p:spPr bwMode="auto">
            <a:xfrm>
              <a:off x="2488" y="3723"/>
              <a:ext cx="141" cy="117"/>
            </a:xfrm>
            <a:custGeom>
              <a:avLst/>
              <a:gdLst>
                <a:gd name="T0" fmla="*/ 115 w 283"/>
                <a:gd name="T1" fmla="*/ 101 h 234"/>
                <a:gd name="T2" fmla="*/ 102 w 283"/>
                <a:gd name="T3" fmla="*/ 95 h 234"/>
                <a:gd name="T4" fmla="*/ 94 w 283"/>
                <a:gd name="T5" fmla="*/ 89 h 234"/>
                <a:gd name="T6" fmla="*/ 88 w 283"/>
                <a:gd name="T7" fmla="*/ 84 h 234"/>
                <a:gd name="T8" fmla="*/ 83 w 283"/>
                <a:gd name="T9" fmla="*/ 83 h 234"/>
                <a:gd name="T10" fmla="*/ 80 w 283"/>
                <a:gd name="T11" fmla="*/ 84 h 234"/>
                <a:gd name="T12" fmla="*/ 76 w 283"/>
                <a:gd name="T13" fmla="*/ 84 h 234"/>
                <a:gd name="T14" fmla="*/ 70 w 283"/>
                <a:gd name="T15" fmla="*/ 84 h 234"/>
                <a:gd name="T16" fmla="*/ 58 w 283"/>
                <a:gd name="T17" fmla="*/ 80 h 234"/>
                <a:gd name="T18" fmla="*/ 44 w 283"/>
                <a:gd name="T19" fmla="*/ 66 h 234"/>
                <a:gd name="T20" fmla="*/ 33 w 283"/>
                <a:gd name="T21" fmla="*/ 48 h 234"/>
                <a:gd name="T22" fmla="*/ 26 w 283"/>
                <a:gd name="T23" fmla="*/ 31 h 234"/>
                <a:gd name="T24" fmla="*/ 24 w 283"/>
                <a:gd name="T25" fmla="*/ 17 h 234"/>
                <a:gd name="T26" fmla="*/ 25 w 283"/>
                <a:gd name="T27" fmla="*/ 7 h 234"/>
                <a:gd name="T28" fmla="*/ 25 w 283"/>
                <a:gd name="T29" fmla="*/ 2 h 234"/>
                <a:gd name="T30" fmla="*/ 16 w 283"/>
                <a:gd name="T31" fmla="*/ 1 h 234"/>
                <a:gd name="T32" fmla="*/ 11 w 283"/>
                <a:gd name="T33" fmla="*/ 0 h 234"/>
                <a:gd name="T34" fmla="*/ 5 w 283"/>
                <a:gd name="T35" fmla="*/ 0 h 234"/>
                <a:gd name="T36" fmla="*/ 4 w 283"/>
                <a:gd name="T37" fmla="*/ 2 h 234"/>
                <a:gd name="T38" fmla="*/ 9 w 283"/>
                <a:gd name="T39" fmla="*/ 6 h 234"/>
                <a:gd name="T40" fmla="*/ 8 w 283"/>
                <a:gd name="T41" fmla="*/ 13 h 234"/>
                <a:gd name="T42" fmla="*/ 12 w 283"/>
                <a:gd name="T43" fmla="*/ 28 h 234"/>
                <a:gd name="T44" fmla="*/ 21 w 283"/>
                <a:gd name="T45" fmla="*/ 48 h 234"/>
                <a:gd name="T46" fmla="*/ 29 w 283"/>
                <a:gd name="T47" fmla="*/ 67 h 234"/>
                <a:gd name="T48" fmla="*/ 36 w 283"/>
                <a:gd name="T49" fmla="*/ 81 h 234"/>
                <a:gd name="T50" fmla="*/ 43 w 283"/>
                <a:gd name="T51" fmla="*/ 94 h 234"/>
                <a:gd name="T52" fmla="*/ 57 w 283"/>
                <a:gd name="T53" fmla="*/ 105 h 234"/>
                <a:gd name="T54" fmla="*/ 81 w 283"/>
                <a:gd name="T55" fmla="*/ 111 h 234"/>
                <a:gd name="T56" fmla="*/ 106 w 283"/>
                <a:gd name="T57" fmla="*/ 112 h 234"/>
                <a:gd name="T58" fmla="*/ 119 w 283"/>
                <a:gd name="T59" fmla="*/ 112 h 234"/>
                <a:gd name="T60" fmla="*/ 130 w 283"/>
                <a:gd name="T61" fmla="*/ 114 h 234"/>
                <a:gd name="T62" fmla="*/ 138 w 283"/>
                <a:gd name="T63" fmla="*/ 116 h 234"/>
                <a:gd name="T64" fmla="*/ 140 w 283"/>
                <a:gd name="T65" fmla="*/ 115 h 234"/>
                <a:gd name="T66" fmla="*/ 138 w 283"/>
                <a:gd name="T67" fmla="*/ 112 h 234"/>
                <a:gd name="T68" fmla="*/ 134 w 283"/>
                <a:gd name="T69" fmla="*/ 108 h 234"/>
                <a:gd name="T70" fmla="*/ 128 w 283"/>
                <a:gd name="T71" fmla="*/ 105 h 234"/>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283"/>
                <a:gd name="T109" fmla="*/ 0 h 234"/>
                <a:gd name="T110" fmla="*/ 283 w 283"/>
                <a:gd name="T111" fmla="*/ 234 h 234"/>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283" h="234">
                  <a:moveTo>
                    <a:pt x="247" y="207"/>
                  </a:moveTo>
                  <a:lnTo>
                    <a:pt x="230" y="201"/>
                  </a:lnTo>
                  <a:lnTo>
                    <a:pt x="217" y="196"/>
                  </a:lnTo>
                  <a:lnTo>
                    <a:pt x="205" y="190"/>
                  </a:lnTo>
                  <a:lnTo>
                    <a:pt x="197" y="184"/>
                  </a:lnTo>
                  <a:lnTo>
                    <a:pt x="189" y="178"/>
                  </a:lnTo>
                  <a:lnTo>
                    <a:pt x="183" y="172"/>
                  </a:lnTo>
                  <a:lnTo>
                    <a:pt x="177" y="168"/>
                  </a:lnTo>
                  <a:lnTo>
                    <a:pt x="170" y="164"/>
                  </a:lnTo>
                  <a:lnTo>
                    <a:pt x="167" y="166"/>
                  </a:lnTo>
                  <a:lnTo>
                    <a:pt x="164" y="167"/>
                  </a:lnTo>
                  <a:lnTo>
                    <a:pt x="160" y="167"/>
                  </a:lnTo>
                  <a:lnTo>
                    <a:pt x="157" y="168"/>
                  </a:lnTo>
                  <a:lnTo>
                    <a:pt x="152" y="168"/>
                  </a:lnTo>
                  <a:lnTo>
                    <a:pt x="147" y="168"/>
                  </a:lnTo>
                  <a:lnTo>
                    <a:pt x="140" y="167"/>
                  </a:lnTo>
                  <a:lnTo>
                    <a:pt x="133" y="166"/>
                  </a:lnTo>
                  <a:lnTo>
                    <a:pt x="117" y="160"/>
                  </a:lnTo>
                  <a:lnTo>
                    <a:pt x="102" y="147"/>
                  </a:lnTo>
                  <a:lnTo>
                    <a:pt x="88" y="132"/>
                  </a:lnTo>
                  <a:lnTo>
                    <a:pt x="76" y="114"/>
                  </a:lnTo>
                  <a:lnTo>
                    <a:pt x="66" y="95"/>
                  </a:lnTo>
                  <a:lnTo>
                    <a:pt x="59" y="77"/>
                  </a:lnTo>
                  <a:lnTo>
                    <a:pt x="53" y="62"/>
                  </a:lnTo>
                  <a:lnTo>
                    <a:pt x="50" y="49"/>
                  </a:lnTo>
                  <a:lnTo>
                    <a:pt x="48" y="34"/>
                  </a:lnTo>
                  <a:lnTo>
                    <a:pt x="49" y="23"/>
                  </a:lnTo>
                  <a:lnTo>
                    <a:pt x="51" y="15"/>
                  </a:lnTo>
                  <a:lnTo>
                    <a:pt x="56" y="8"/>
                  </a:lnTo>
                  <a:lnTo>
                    <a:pt x="50" y="4"/>
                  </a:lnTo>
                  <a:lnTo>
                    <a:pt x="42" y="2"/>
                  </a:lnTo>
                  <a:lnTo>
                    <a:pt x="33" y="1"/>
                  </a:lnTo>
                  <a:lnTo>
                    <a:pt x="26" y="0"/>
                  </a:lnTo>
                  <a:lnTo>
                    <a:pt x="23" y="0"/>
                  </a:lnTo>
                  <a:lnTo>
                    <a:pt x="19" y="0"/>
                  </a:lnTo>
                  <a:lnTo>
                    <a:pt x="11" y="0"/>
                  </a:lnTo>
                  <a:lnTo>
                    <a:pt x="0" y="0"/>
                  </a:lnTo>
                  <a:lnTo>
                    <a:pt x="8" y="3"/>
                  </a:lnTo>
                  <a:lnTo>
                    <a:pt x="15" y="8"/>
                  </a:lnTo>
                  <a:lnTo>
                    <a:pt x="18" y="11"/>
                  </a:lnTo>
                  <a:lnTo>
                    <a:pt x="18" y="16"/>
                  </a:lnTo>
                  <a:lnTo>
                    <a:pt x="16" y="25"/>
                  </a:lnTo>
                  <a:lnTo>
                    <a:pt x="19" y="39"/>
                  </a:lnTo>
                  <a:lnTo>
                    <a:pt x="24" y="56"/>
                  </a:lnTo>
                  <a:lnTo>
                    <a:pt x="33" y="76"/>
                  </a:lnTo>
                  <a:lnTo>
                    <a:pt x="42" y="96"/>
                  </a:lnTo>
                  <a:lnTo>
                    <a:pt x="51" y="116"/>
                  </a:lnTo>
                  <a:lnTo>
                    <a:pt x="59" y="134"/>
                  </a:lnTo>
                  <a:lnTo>
                    <a:pt x="66" y="148"/>
                  </a:lnTo>
                  <a:lnTo>
                    <a:pt x="72" y="161"/>
                  </a:lnTo>
                  <a:lnTo>
                    <a:pt x="79" y="174"/>
                  </a:lnTo>
                  <a:lnTo>
                    <a:pt x="87" y="187"/>
                  </a:lnTo>
                  <a:lnTo>
                    <a:pt x="98" y="199"/>
                  </a:lnTo>
                  <a:lnTo>
                    <a:pt x="114" y="209"/>
                  </a:lnTo>
                  <a:lnTo>
                    <a:pt x="135" y="217"/>
                  </a:lnTo>
                  <a:lnTo>
                    <a:pt x="162" y="222"/>
                  </a:lnTo>
                  <a:lnTo>
                    <a:pt x="196" y="223"/>
                  </a:lnTo>
                  <a:lnTo>
                    <a:pt x="212" y="223"/>
                  </a:lnTo>
                  <a:lnTo>
                    <a:pt x="226" y="223"/>
                  </a:lnTo>
                  <a:lnTo>
                    <a:pt x="239" y="223"/>
                  </a:lnTo>
                  <a:lnTo>
                    <a:pt x="250" y="224"/>
                  </a:lnTo>
                  <a:lnTo>
                    <a:pt x="260" y="227"/>
                  </a:lnTo>
                  <a:lnTo>
                    <a:pt x="269" y="229"/>
                  </a:lnTo>
                  <a:lnTo>
                    <a:pt x="276" y="231"/>
                  </a:lnTo>
                  <a:lnTo>
                    <a:pt x="283" y="234"/>
                  </a:lnTo>
                  <a:lnTo>
                    <a:pt x="281" y="230"/>
                  </a:lnTo>
                  <a:lnTo>
                    <a:pt x="279" y="227"/>
                  </a:lnTo>
                  <a:lnTo>
                    <a:pt x="277" y="223"/>
                  </a:lnTo>
                  <a:lnTo>
                    <a:pt x="273" y="220"/>
                  </a:lnTo>
                  <a:lnTo>
                    <a:pt x="269" y="216"/>
                  </a:lnTo>
                  <a:lnTo>
                    <a:pt x="263" y="213"/>
                  </a:lnTo>
                  <a:lnTo>
                    <a:pt x="256" y="209"/>
                  </a:lnTo>
                  <a:lnTo>
                    <a:pt x="247" y="207"/>
                  </a:lnTo>
                  <a:close/>
                </a:path>
              </a:pathLst>
            </a:custGeom>
            <a:solidFill>
              <a:srgbClr val="FFD877"/>
            </a:solidFill>
            <a:ln w="9525">
              <a:noFill/>
              <a:round/>
            </a:ln>
          </p:spPr>
          <p:txBody>
            <a:bodyPr/>
            <a:lstStyle/>
            <a:p>
              <a:endParaRPr lang="en-US"/>
            </a:p>
          </p:txBody>
        </p:sp>
        <p:sp>
          <p:nvSpPr>
            <p:cNvPr id="1048740" name="Freeform 30"/>
            <p:cNvSpPr/>
            <p:nvPr/>
          </p:nvSpPr>
          <p:spPr bwMode="auto">
            <a:xfrm>
              <a:off x="2171" y="3724"/>
              <a:ext cx="159" cy="203"/>
            </a:xfrm>
            <a:custGeom>
              <a:avLst/>
              <a:gdLst>
                <a:gd name="T0" fmla="*/ 0 w 317"/>
                <a:gd name="T1" fmla="*/ 17 h 404"/>
                <a:gd name="T2" fmla="*/ 0 w 317"/>
                <a:gd name="T3" fmla="*/ 178 h 404"/>
                <a:gd name="T4" fmla="*/ 0 w 317"/>
                <a:gd name="T5" fmla="*/ 180 h 404"/>
                <a:gd name="T6" fmla="*/ 1 w 317"/>
                <a:gd name="T7" fmla="*/ 186 h 404"/>
                <a:gd name="T8" fmla="*/ 3 w 317"/>
                <a:gd name="T9" fmla="*/ 194 h 404"/>
                <a:gd name="T10" fmla="*/ 8 w 317"/>
                <a:gd name="T11" fmla="*/ 203 h 404"/>
                <a:gd name="T12" fmla="*/ 159 w 317"/>
                <a:gd name="T13" fmla="*/ 203 h 404"/>
                <a:gd name="T14" fmla="*/ 12 w 317"/>
                <a:gd name="T15" fmla="*/ 0 h 404"/>
                <a:gd name="T16" fmla="*/ 8 w 317"/>
                <a:gd name="T17" fmla="*/ 2 h 404"/>
                <a:gd name="T18" fmla="*/ 4 w 317"/>
                <a:gd name="T19" fmla="*/ 5 h 404"/>
                <a:gd name="T20" fmla="*/ 1 w 317"/>
                <a:gd name="T21" fmla="*/ 11 h 404"/>
                <a:gd name="T22" fmla="*/ 0 w 317"/>
                <a:gd name="T23" fmla="*/ 17 h 404"/>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17"/>
                <a:gd name="T37" fmla="*/ 0 h 404"/>
                <a:gd name="T38" fmla="*/ 317 w 317"/>
                <a:gd name="T39" fmla="*/ 404 h 404"/>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17" h="404">
                  <a:moveTo>
                    <a:pt x="0" y="34"/>
                  </a:moveTo>
                  <a:lnTo>
                    <a:pt x="0" y="355"/>
                  </a:lnTo>
                  <a:lnTo>
                    <a:pt x="0" y="359"/>
                  </a:lnTo>
                  <a:lnTo>
                    <a:pt x="1" y="371"/>
                  </a:lnTo>
                  <a:lnTo>
                    <a:pt x="5" y="386"/>
                  </a:lnTo>
                  <a:lnTo>
                    <a:pt x="15" y="404"/>
                  </a:lnTo>
                  <a:lnTo>
                    <a:pt x="317" y="404"/>
                  </a:lnTo>
                  <a:lnTo>
                    <a:pt x="23" y="0"/>
                  </a:lnTo>
                  <a:lnTo>
                    <a:pt x="16" y="3"/>
                  </a:lnTo>
                  <a:lnTo>
                    <a:pt x="8" y="10"/>
                  </a:lnTo>
                  <a:lnTo>
                    <a:pt x="2" y="21"/>
                  </a:lnTo>
                  <a:lnTo>
                    <a:pt x="0" y="34"/>
                  </a:lnTo>
                  <a:close/>
                </a:path>
              </a:pathLst>
            </a:custGeom>
            <a:solidFill>
              <a:srgbClr val="FFC126"/>
            </a:solidFill>
            <a:ln w="9525">
              <a:noFill/>
              <a:round/>
            </a:ln>
          </p:spPr>
          <p:txBody>
            <a:bodyPr/>
            <a:lstStyle/>
            <a:p>
              <a:endParaRPr lang="en-US"/>
            </a:p>
          </p:txBody>
        </p:sp>
        <p:sp>
          <p:nvSpPr>
            <p:cNvPr id="1048741" name="Freeform 31"/>
            <p:cNvSpPr/>
            <p:nvPr/>
          </p:nvSpPr>
          <p:spPr bwMode="auto">
            <a:xfrm>
              <a:off x="2214" y="3723"/>
              <a:ext cx="417" cy="204"/>
            </a:xfrm>
            <a:custGeom>
              <a:avLst/>
              <a:gdLst>
                <a:gd name="T0" fmla="*/ 372 w 833"/>
                <a:gd name="T1" fmla="*/ 112 h 406"/>
                <a:gd name="T2" fmla="*/ 355 w 833"/>
                <a:gd name="T3" fmla="*/ 112 h 406"/>
                <a:gd name="T4" fmla="*/ 341 w 833"/>
                <a:gd name="T5" fmla="*/ 109 h 406"/>
                <a:gd name="T6" fmla="*/ 331 w 833"/>
                <a:gd name="T7" fmla="*/ 105 h 406"/>
                <a:gd name="T8" fmla="*/ 323 w 833"/>
                <a:gd name="T9" fmla="*/ 100 h 406"/>
                <a:gd name="T10" fmla="*/ 317 w 833"/>
                <a:gd name="T11" fmla="*/ 94 h 406"/>
                <a:gd name="T12" fmla="*/ 313 w 833"/>
                <a:gd name="T13" fmla="*/ 87 h 406"/>
                <a:gd name="T14" fmla="*/ 310 w 833"/>
                <a:gd name="T15" fmla="*/ 81 h 406"/>
                <a:gd name="T16" fmla="*/ 307 w 833"/>
                <a:gd name="T17" fmla="*/ 74 h 406"/>
                <a:gd name="T18" fmla="*/ 303 w 833"/>
                <a:gd name="T19" fmla="*/ 67 h 406"/>
                <a:gd name="T20" fmla="*/ 299 w 833"/>
                <a:gd name="T21" fmla="*/ 58 h 406"/>
                <a:gd name="T22" fmla="*/ 295 w 833"/>
                <a:gd name="T23" fmla="*/ 48 h 406"/>
                <a:gd name="T24" fmla="*/ 290 w 833"/>
                <a:gd name="T25" fmla="*/ 38 h 406"/>
                <a:gd name="T26" fmla="*/ 286 w 833"/>
                <a:gd name="T27" fmla="*/ 28 h 406"/>
                <a:gd name="T28" fmla="*/ 283 w 833"/>
                <a:gd name="T29" fmla="*/ 20 h 406"/>
                <a:gd name="T30" fmla="*/ 282 w 833"/>
                <a:gd name="T31" fmla="*/ 13 h 406"/>
                <a:gd name="T32" fmla="*/ 283 w 833"/>
                <a:gd name="T33" fmla="*/ 8 h 406"/>
                <a:gd name="T34" fmla="*/ 283 w 833"/>
                <a:gd name="T35" fmla="*/ 6 h 406"/>
                <a:gd name="T36" fmla="*/ 281 w 833"/>
                <a:gd name="T37" fmla="*/ 4 h 406"/>
                <a:gd name="T38" fmla="*/ 278 w 833"/>
                <a:gd name="T39" fmla="*/ 2 h 406"/>
                <a:gd name="T40" fmla="*/ 274 w 833"/>
                <a:gd name="T41" fmla="*/ 0 h 406"/>
                <a:gd name="T42" fmla="*/ 264 w 833"/>
                <a:gd name="T43" fmla="*/ 0 h 406"/>
                <a:gd name="T44" fmla="*/ 251 w 833"/>
                <a:gd name="T45" fmla="*/ 0 h 406"/>
                <a:gd name="T46" fmla="*/ 236 w 833"/>
                <a:gd name="T47" fmla="*/ 0 h 406"/>
                <a:gd name="T48" fmla="*/ 220 w 833"/>
                <a:gd name="T49" fmla="*/ 0 h 406"/>
                <a:gd name="T50" fmla="*/ 202 w 833"/>
                <a:gd name="T51" fmla="*/ 0 h 406"/>
                <a:gd name="T52" fmla="*/ 183 w 833"/>
                <a:gd name="T53" fmla="*/ 0 h 406"/>
                <a:gd name="T54" fmla="*/ 164 w 833"/>
                <a:gd name="T55" fmla="*/ 0 h 406"/>
                <a:gd name="T56" fmla="*/ 144 w 833"/>
                <a:gd name="T57" fmla="*/ 0 h 406"/>
                <a:gd name="T58" fmla="*/ 124 w 833"/>
                <a:gd name="T59" fmla="*/ 0 h 406"/>
                <a:gd name="T60" fmla="*/ 103 w 833"/>
                <a:gd name="T61" fmla="*/ 0 h 406"/>
                <a:gd name="T62" fmla="*/ 83 w 833"/>
                <a:gd name="T63" fmla="*/ 0 h 406"/>
                <a:gd name="T64" fmla="*/ 64 w 833"/>
                <a:gd name="T65" fmla="*/ 0 h 406"/>
                <a:gd name="T66" fmla="*/ 46 w 833"/>
                <a:gd name="T67" fmla="*/ 0 h 406"/>
                <a:gd name="T68" fmla="*/ 28 w 833"/>
                <a:gd name="T69" fmla="*/ 0 h 406"/>
                <a:gd name="T70" fmla="*/ 13 w 833"/>
                <a:gd name="T71" fmla="*/ 0 h 406"/>
                <a:gd name="T72" fmla="*/ 0 w 833"/>
                <a:gd name="T73" fmla="*/ 0 h 406"/>
                <a:gd name="T74" fmla="*/ 243 w 833"/>
                <a:gd name="T75" fmla="*/ 204 h 406"/>
                <a:gd name="T76" fmla="*/ 401 w 833"/>
                <a:gd name="T77" fmla="*/ 204 h 406"/>
                <a:gd name="T78" fmla="*/ 404 w 833"/>
                <a:gd name="T79" fmla="*/ 203 h 406"/>
                <a:gd name="T80" fmla="*/ 409 w 833"/>
                <a:gd name="T81" fmla="*/ 201 h 406"/>
                <a:gd name="T82" fmla="*/ 414 w 833"/>
                <a:gd name="T83" fmla="*/ 196 h 406"/>
                <a:gd name="T84" fmla="*/ 417 w 833"/>
                <a:gd name="T85" fmla="*/ 187 h 406"/>
                <a:gd name="T86" fmla="*/ 417 w 833"/>
                <a:gd name="T87" fmla="*/ 184 h 406"/>
                <a:gd name="T88" fmla="*/ 416 w 833"/>
                <a:gd name="T89" fmla="*/ 181 h 406"/>
                <a:gd name="T90" fmla="*/ 416 w 833"/>
                <a:gd name="T91" fmla="*/ 180 h 406"/>
                <a:gd name="T92" fmla="*/ 416 w 833"/>
                <a:gd name="T93" fmla="*/ 179 h 406"/>
                <a:gd name="T94" fmla="*/ 416 w 833"/>
                <a:gd name="T95" fmla="*/ 120 h 406"/>
                <a:gd name="T96" fmla="*/ 416 w 833"/>
                <a:gd name="T97" fmla="*/ 120 h 406"/>
                <a:gd name="T98" fmla="*/ 416 w 833"/>
                <a:gd name="T99" fmla="*/ 120 h 406"/>
                <a:gd name="T100" fmla="*/ 416 w 833"/>
                <a:gd name="T101" fmla="*/ 119 h 406"/>
                <a:gd name="T102" fmla="*/ 415 w 833"/>
                <a:gd name="T103" fmla="*/ 118 h 406"/>
                <a:gd name="T104" fmla="*/ 412 w 833"/>
                <a:gd name="T105" fmla="*/ 116 h 406"/>
                <a:gd name="T106" fmla="*/ 408 w 833"/>
                <a:gd name="T107" fmla="*/ 115 h 406"/>
                <a:gd name="T108" fmla="*/ 404 w 833"/>
                <a:gd name="T109" fmla="*/ 114 h 406"/>
                <a:gd name="T110" fmla="*/ 399 w 833"/>
                <a:gd name="T111" fmla="*/ 113 h 406"/>
                <a:gd name="T112" fmla="*/ 393 w 833"/>
                <a:gd name="T113" fmla="*/ 112 h 406"/>
                <a:gd name="T114" fmla="*/ 387 w 833"/>
                <a:gd name="T115" fmla="*/ 112 h 406"/>
                <a:gd name="T116" fmla="*/ 380 w 833"/>
                <a:gd name="T117" fmla="*/ 112 h 406"/>
                <a:gd name="T118" fmla="*/ 372 w 833"/>
                <a:gd name="T119" fmla="*/ 112 h 40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w 833"/>
                <a:gd name="T181" fmla="*/ 0 h 406"/>
                <a:gd name="T182" fmla="*/ 833 w 833"/>
                <a:gd name="T183" fmla="*/ 406 h 406"/>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T180" t="T181" r="T182" b="T183"/>
              <a:pathLst>
                <a:path w="833" h="406">
                  <a:moveTo>
                    <a:pt x="743" y="223"/>
                  </a:moveTo>
                  <a:lnTo>
                    <a:pt x="709" y="222"/>
                  </a:lnTo>
                  <a:lnTo>
                    <a:pt x="682" y="217"/>
                  </a:lnTo>
                  <a:lnTo>
                    <a:pt x="661" y="209"/>
                  </a:lnTo>
                  <a:lnTo>
                    <a:pt x="645" y="199"/>
                  </a:lnTo>
                  <a:lnTo>
                    <a:pt x="634" y="187"/>
                  </a:lnTo>
                  <a:lnTo>
                    <a:pt x="626" y="174"/>
                  </a:lnTo>
                  <a:lnTo>
                    <a:pt x="619" y="161"/>
                  </a:lnTo>
                  <a:lnTo>
                    <a:pt x="613" y="148"/>
                  </a:lnTo>
                  <a:lnTo>
                    <a:pt x="606" y="134"/>
                  </a:lnTo>
                  <a:lnTo>
                    <a:pt x="598" y="116"/>
                  </a:lnTo>
                  <a:lnTo>
                    <a:pt x="589" y="96"/>
                  </a:lnTo>
                  <a:lnTo>
                    <a:pt x="580" y="76"/>
                  </a:lnTo>
                  <a:lnTo>
                    <a:pt x="571" y="56"/>
                  </a:lnTo>
                  <a:lnTo>
                    <a:pt x="566" y="39"/>
                  </a:lnTo>
                  <a:lnTo>
                    <a:pt x="563" y="25"/>
                  </a:lnTo>
                  <a:lnTo>
                    <a:pt x="565" y="16"/>
                  </a:lnTo>
                  <a:lnTo>
                    <a:pt x="565" y="11"/>
                  </a:lnTo>
                  <a:lnTo>
                    <a:pt x="562" y="8"/>
                  </a:lnTo>
                  <a:lnTo>
                    <a:pt x="555" y="3"/>
                  </a:lnTo>
                  <a:lnTo>
                    <a:pt x="547" y="0"/>
                  </a:lnTo>
                  <a:lnTo>
                    <a:pt x="527" y="0"/>
                  </a:lnTo>
                  <a:lnTo>
                    <a:pt x="502" y="0"/>
                  </a:lnTo>
                  <a:lnTo>
                    <a:pt x="472" y="0"/>
                  </a:lnTo>
                  <a:lnTo>
                    <a:pt x="440" y="0"/>
                  </a:lnTo>
                  <a:lnTo>
                    <a:pt x="404" y="0"/>
                  </a:lnTo>
                  <a:lnTo>
                    <a:pt x="366" y="0"/>
                  </a:lnTo>
                  <a:lnTo>
                    <a:pt x="327" y="0"/>
                  </a:lnTo>
                  <a:lnTo>
                    <a:pt x="287" y="0"/>
                  </a:lnTo>
                  <a:lnTo>
                    <a:pt x="247" y="0"/>
                  </a:lnTo>
                  <a:lnTo>
                    <a:pt x="205" y="0"/>
                  </a:lnTo>
                  <a:lnTo>
                    <a:pt x="166" y="0"/>
                  </a:lnTo>
                  <a:lnTo>
                    <a:pt x="127" y="0"/>
                  </a:lnTo>
                  <a:lnTo>
                    <a:pt x="91" y="0"/>
                  </a:lnTo>
                  <a:lnTo>
                    <a:pt x="56" y="0"/>
                  </a:lnTo>
                  <a:lnTo>
                    <a:pt x="26" y="0"/>
                  </a:lnTo>
                  <a:lnTo>
                    <a:pt x="0" y="0"/>
                  </a:lnTo>
                  <a:lnTo>
                    <a:pt x="485" y="406"/>
                  </a:lnTo>
                  <a:lnTo>
                    <a:pt x="802" y="406"/>
                  </a:lnTo>
                  <a:lnTo>
                    <a:pt x="807" y="405"/>
                  </a:lnTo>
                  <a:lnTo>
                    <a:pt x="818" y="400"/>
                  </a:lnTo>
                  <a:lnTo>
                    <a:pt x="828" y="390"/>
                  </a:lnTo>
                  <a:lnTo>
                    <a:pt x="833" y="373"/>
                  </a:lnTo>
                  <a:lnTo>
                    <a:pt x="833" y="367"/>
                  </a:lnTo>
                  <a:lnTo>
                    <a:pt x="832" y="361"/>
                  </a:lnTo>
                  <a:lnTo>
                    <a:pt x="831" y="358"/>
                  </a:lnTo>
                  <a:lnTo>
                    <a:pt x="831" y="357"/>
                  </a:lnTo>
                  <a:lnTo>
                    <a:pt x="831" y="239"/>
                  </a:lnTo>
                  <a:lnTo>
                    <a:pt x="831" y="238"/>
                  </a:lnTo>
                  <a:lnTo>
                    <a:pt x="831" y="236"/>
                  </a:lnTo>
                  <a:lnTo>
                    <a:pt x="830" y="234"/>
                  </a:lnTo>
                  <a:lnTo>
                    <a:pt x="823" y="231"/>
                  </a:lnTo>
                  <a:lnTo>
                    <a:pt x="816" y="229"/>
                  </a:lnTo>
                  <a:lnTo>
                    <a:pt x="807" y="227"/>
                  </a:lnTo>
                  <a:lnTo>
                    <a:pt x="797" y="224"/>
                  </a:lnTo>
                  <a:lnTo>
                    <a:pt x="786" y="223"/>
                  </a:lnTo>
                  <a:lnTo>
                    <a:pt x="773" y="223"/>
                  </a:lnTo>
                  <a:lnTo>
                    <a:pt x="759" y="223"/>
                  </a:lnTo>
                  <a:lnTo>
                    <a:pt x="743" y="223"/>
                  </a:lnTo>
                  <a:close/>
                </a:path>
              </a:pathLst>
            </a:custGeom>
            <a:solidFill>
              <a:srgbClr val="FFC126"/>
            </a:solidFill>
            <a:ln w="9525">
              <a:noFill/>
              <a:round/>
            </a:ln>
          </p:spPr>
          <p:txBody>
            <a:bodyPr/>
            <a:lstStyle/>
            <a:p>
              <a:endParaRPr lang="en-US"/>
            </a:p>
          </p:txBody>
        </p:sp>
        <p:sp>
          <p:nvSpPr>
            <p:cNvPr id="1048742" name="Freeform 32"/>
            <p:cNvSpPr/>
            <p:nvPr/>
          </p:nvSpPr>
          <p:spPr bwMode="auto">
            <a:xfrm>
              <a:off x="2611" y="3908"/>
              <a:ext cx="43" cy="29"/>
            </a:xfrm>
            <a:custGeom>
              <a:avLst/>
              <a:gdLst>
                <a:gd name="T0" fmla="*/ 29 w 85"/>
                <a:gd name="T1" fmla="*/ 29 h 56"/>
                <a:gd name="T2" fmla="*/ 34 w 85"/>
                <a:gd name="T3" fmla="*/ 28 h 56"/>
                <a:gd name="T4" fmla="*/ 39 w 85"/>
                <a:gd name="T5" fmla="*/ 25 h 56"/>
                <a:gd name="T6" fmla="*/ 42 w 85"/>
                <a:gd name="T7" fmla="*/ 20 h 56"/>
                <a:gd name="T8" fmla="*/ 43 w 85"/>
                <a:gd name="T9" fmla="*/ 14 h 56"/>
                <a:gd name="T10" fmla="*/ 43 w 85"/>
                <a:gd name="T11" fmla="*/ 14 h 56"/>
                <a:gd name="T12" fmla="*/ 42 w 85"/>
                <a:gd name="T13" fmla="*/ 9 h 56"/>
                <a:gd name="T14" fmla="*/ 39 w 85"/>
                <a:gd name="T15" fmla="*/ 4 h 56"/>
                <a:gd name="T16" fmla="*/ 34 w 85"/>
                <a:gd name="T17" fmla="*/ 1 h 56"/>
                <a:gd name="T18" fmla="*/ 29 w 85"/>
                <a:gd name="T19" fmla="*/ 0 h 56"/>
                <a:gd name="T20" fmla="*/ 15 w 85"/>
                <a:gd name="T21" fmla="*/ 0 h 56"/>
                <a:gd name="T22" fmla="*/ 9 w 85"/>
                <a:gd name="T23" fmla="*/ 1 h 56"/>
                <a:gd name="T24" fmla="*/ 4 w 85"/>
                <a:gd name="T25" fmla="*/ 4 h 56"/>
                <a:gd name="T26" fmla="*/ 1 w 85"/>
                <a:gd name="T27" fmla="*/ 9 h 56"/>
                <a:gd name="T28" fmla="*/ 0 w 85"/>
                <a:gd name="T29" fmla="*/ 14 h 56"/>
                <a:gd name="T30" fmla="*/ 0 w 85"/>
                <a:gd name="T31" fmla="*/ 14 h 56"/>
                <a:gd name="T32" fmla="*/ 1 w 85"/>
                <a:gd name="T33" fmla="*/ 20 h 56"/>
                <a:gd name="T34" fmla="*/ 4 w 85"/>
                <a:gd name="T35" fmla="*/ 25 h 56"/>
                <a:gd name="T36" fmla="*/ 9 w 85"/>
                <a:gd name="T37" fmla="*/ 28 h 56"/>
                <a:gd name="T38" fmla="*/ 15 w 85"/>
                <a:gd name="T39" fmla="*/ 29 h 56"/>
                <a:gd name="T40" fmla="*/ 29 w 85"/>
                <a:gd name="T41" fmla="*/ 29 h 5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85"/>
                <a:gd name="T64" fmla="*/ 0 h 56"/>
                <a:gd name="T65" fmla="*/ 85 w 85"/>
                <a:gd name="T66" fmla="*/ 56 h 5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85" h="56">
                  <a:moveTo>
                    <a:pt x="57" y="56"/>
                  </a:moveTo>
                  <a:lnTo>
                    <a:pt x="68" y="54"/>
                  </a:lnTo>
                  <a:lnTo>
                    <a:pt x="77" y="48"/>
                  </a:lnTo>
                  <a:lnTo>
                    <a:pt x="83" y="39"/>
                  </a:lnTo>
                  <a:lnTo>
                    <a:pt x="85" y="27"/>
                  </a:lnTo>
                  <a:lnTo>
                    <a:pt x="83" y="17"/>
                  </a:lnTo>
                  <a:lnTo>
                    <a:pt x="77" y="8"/>
                  </a:lnTo>
                  <a:lnTo>
                    <a:pt x="68" y="2"/>
                  </a:lnTo>
                  <a:lnTo>
                    <a:pt x="57" y="0"/>
                  </a:lnTo>
                  <a:lnTo>
                    <a:pt x="29" y="0"/>
                  </a:lnTo>
                  <a:lnTo>
                    <a:pt x="17" y="2"/>
                  </a:lnTo>
                  <a:lnTo>
                    <a:pt x="8" y="8"/>
                  </a:lnTo>
                  <a:lnTo>
                    <a:pt x="2" y="17"/>
                  </a:lnTo>
                  <a:lnTo>
                    <a:pt x="0" y="27"/>
                  </a:lnTo>
                  <a:lnTo>
                    <a:pt x="2" y="39"/>
                  </a:lnTo>
                  <a:lnTo>
                    <a:pt x="8" y="48"/>
                  </a:lnTo>
                  <a:lnTo>
                    <a:pt x="17" y="54"/>
                  </a:lnTo>
                  <a:lnTo>
                    <a:pt x="29" y="56"/>
                  </a:lnTo>
                  <a:lnTo>
                    <a:pt x="57" y="56"/>
                  </a:lnTo>
                  <a:close/>
                </a:path>
              </a:pathLst>
            </a:custGeom>
            <a:solidFill>
              <a:srgbClr val="000000"/>
            </a:solidFill>
            <a:ln w="9525">
              <a:noFill/>
              <a:round/>
            </a:ln>
          </p:spPr>
          <p:txBody>
            <a:bodyPr/>
            <a:lstStyle/>
            <a:p>
              <a:endParaRPr lang="en-US"/>
            </a:p>
          </p:txBody>
        </p:sp>
        <p:sp>
          <p:nvSpPr>
            <p:cNvPr id="1048743" name="Freeform 33"/>
            <p:cNvSpPr/>
            <p:nvPr/>
          </p:nvSpPr>
          <p:spPr bwMode="auto">
            <a:xfrm>
              <a:off x="2155" y="3907"/>
              <a:ext cx="43" cy="28"/>
            </a:xfrm>
            <a:custGeom>
              <a:avLst/>
              <a:gdLst>
                <a:gd name="T0" fmla="*/ 29 w 87"/>
                <a:gd name="T1" fmla="*/ 28 h 57"/>
                <a:gd name="T2" fmla="*/ 35 w 87"/>
                <a:gd name="T3" fmla="*/ 27 h 57"/>
                <a:gd name="T4" fmla="*/ 39 w 87"/>
                <a:gd name="T5" fmla="*/ 24 h 57"/>
                <a:gd name="T6" fmla="*/ 42 w 87"/>
                <a:gd name="T7" fmla="*/ 19 h 57"/>
                <a:gd name="T8" fmla="*/ 43 w 87"/>
                <a:gd name="T9" fmla="*/ 14 h 57"/>
                <a:gd name="T10" fmla="*/ 43 w 87"/>
                <a:gd name="T11" fmla="*/ 14 h 57"/>
                <a:gd name="T12" fmla="*/ 42 w 87"/>
                <a:gd name="T13" fmla="*/ 9 h 57"/>
                <a:gd name="T14" fmla="*/ 39 w 87"/>
                <a:gd name="T15" fmla="*/ 4 h 57"/>
                <a:gd name="T16" fmla="*/ 35 w 87"/>
                <a:gd name="T17" fmla="*/ 1 h 57"/>
                <a:gd name="T18" fmla="*/ 29 w 87"/>
                <a:gd name="T19" fmla="*/ 0 h 57"/>
                <a:gd name="T20" fmla="*/ 14 w 87"/>
                <a:gd name="T21" fmla="*/ 0 h 57"/>
                <a:gd name="T22" fmla="*/ 9 w 87"/>
                <a:gd name="T23" fmla="*/ 1 h 57"/>
                <a:gd name="T24" fmla="*/ 4 w 87"/>
                <a:gd name="T25" fmla="*/ 4 h 57"/>
                <a:gd name="T26" fmla="*/ 1 w 87"/>
                <a:gd name="T27" fmla="*/ 9 h 57"/>
                <a:gd name="T28" fmla="*/ 0 w 87"/>
                <a:gd name="T29" fmla="*/ 14 h 57"/>
                <a:gd name="T30" fmla="*/ 0 w 87"/>
                <a:gd name="T31" fmla="*/ 14 h 57"/>
                <a:gd name="T32" fmla="*/ 1 w 87"/>
                <a:gd name="T33" fmla="*/ 19 h 57"/>
                <a:gd name="T34" fmla="*/ 4 w 87"/>
                <a:gd name="T35" fmla="*/ 24 h 57"/>
                <a:gd name="T36" fmla="*/ 9 w 87"/>
                <a:gd name="T37" fmla="*/ 27 h 57"/>
                <a:gd name="T38" fmla="*/ 14 w 87"/>
                <a:gd name="T39" fmla="*/ 28 h 57"/>
                <a:gd name="T40" fmla="*/ 29 w 87"/>
                <a:gd name="T41" fmla="*/ 28 h 57"/>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87"/>
                <a:gd name="T64" fmla="*/ 0 h 57"/>
                <a:gd name="T65" fmla="*/ 87 w 87"/>
                <a:gd name="T66" fmla="*/ 57 h 57"/>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87" h="57">
                  <a:moveTo>
                    <a:pt x="58" y="57"/>
                  </a:moveTo>
                  <a:lnTo>
                    <a:pt x="70" y="54"/>
                  </a:lnTo>
                  <a:lnTo>
                    <a:pt x="79" y="49"/>
                  </a:lnTo>
                  <a:lnTo>
                    <a:pt x="85" y="39"/>
                  </a:lnTo>
                  <a:lnTo>
                    <a:pt x="87" y="29"/>
                  </a:lnTo>
                  <a:lnTo>
                    <a:pt x="85" y="18"/>
                  </a:lnTo>
                  <a:lnTo>
                    <a:pt x="79" y="8"/>
                  </a:lnTo>
                  <a:lnTo>
                    <a:pt x="70" y="3"/>
                  </a:lnTo>
                  <a:lnTo>
                    <a:pt x="58" y="0"/>
                  </a:lnTo>
                  <a:lnTo>
                    <a:pt x="29" y="0"/>
                  </a:lnTo>
                  <a:lnTo>
                    <a:pt x="18" y="3"/>
                  </a:lnTo>
                  <a:lnTo>
                    <a:pt x="8" y="8"/>
                  </a:lnTo>
                  <a:lnTo>
                    <a:pt x="3" y="18"/>
                  </a:lnTo>
                  <a:lnTo>
                    <a:pt x="0" y="29"/>
                  </a:lnTo>
                  <a:lnTo>
                    <a:pt x="3" y="39"/>
                  </a:lnTo>
                  <a:lnTo>
                    <a:pt x="8" y="49"/>
                  </a:lnTo>
                  <a:lnTo>
                    <a:pt x="18" y="54"/>
                  </a:lnTo>
                  <a:lnTo>
                    <a:pt x="29" y="57"/>
                  </a:lnTo>
                  <a:lnTo>
                    <a:pt x="58" y="57"/>
                  </a:lnTo>
                  <a:close/>
                </a:path>
              </a:pathLst>
            </a:custGeom>
            <a:solidFill>
              <a:srgbClr val="000000"/>
            </a:solidFill>
            <a:ln w="9525">
              <a:noFill/>
              <a:round/>
            </a:ln>
          </p:spPr>
          <p:txBody>
            <a:bodyPr/>
            <a:lstStyle/>
            <a:p>
              <a:endParaRPr lang="en-US"/>
            </a:p>
          </p:txBody>
        </p:sp>
        <p:sp>
          <p:nvSpPr>
            <p:cNvPr id="1048744" name="Freeform 34"/>
            <p:cNvSpPr/>
            <p:nvPr/>
          </p:nvSpPr>
          <p:spPr bwMode="auto">
            <a:xfrm>
              <a:off x="2183" y="3723"/>
              <a:ext cx="274" cy="204"/>
            </a:xfrm>
            <a:custGeom>
              <a:avLst/>
              <a:gdLst>
                <a:gd name="T0" fmla="*/ 4 w 547"/>
                <a:gd name="T1" fmla="*/ 0 h 406"/>
                <a:gd name="T2" fmla="*/ 3 w 547"/>
                <a:gd name="T3" fmla="*/ 0 h 406"/>
                <a:gd name="T4" fmla="*/ 2 w 547"/>
                <a:gd name="T5" fmla="*/ 0 h 406"/>
                <a:gd name="T6" fmla="*/ 1 w 547"/>
                <a:gd name="T7" fmla="*/ 1 h 406"/>
                <a:gd name="T8" fmla="*/ 0 w 547"/>
                <a:gd name="T9" fmla="*/ 1 h 406"/>
                <a:gd name="T10" fmla="*/ 147 w 547"/>
                <a:gd name="T11" fmla="*/ 204 h 406"/>
                <a:gd name="T12" fmla="*/ 274 w 547"/>
                <a:gd name="T13" fmla="*/ 204 h 406"/>
                <a:gd name="T14" fmla="*/ 31 w 547"/>
                <a:gd name="T15" fmla="*/ 0 h 406"/>
                <a:gd name="T16" fmla="*/ 25 w 547"/>
                <a:gd name="T17" fmla="*/ 0 h 406"/>
                <a:gd name="T18" fmla="*/ 20 w 547"/>
                <a:gd name="T19" fmla="*/ 0 h 406"/>
                <a:gd name="T20" fmla="*/ 15 w 547"/>
                <a:gd name="T21" fmla="*/ 0 h 406"/>
                <a:gd name="T22" fmla="*/ 11 w 547"/>
                <a:gd name="T23" fmla="*/ 0 h 406"/>
                <a:gd name="T24" fmla="*/ 8 w 547"/>
                <a:gd name="T25" fmla="*/ 0 h 406"/>
                <a:gd name="T26" fmla="*/ 5 w 547"/>
                <a:gd name="T27" fmla="*/ 0 h 406"/>
                <a:gd name="T28" fmla="*/ 4 w 547"/>
                <a:gd name="T29" fmla="*/ 0 h 406"/>
                <a:gd name="T30" fmla="*/ 4 w 547"/>
                <a:gd name="T31" fmla="*/ 0 h 40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547"/>
                <a:gd name="T49" fmla="*/ 0 h 406"/>
                <a:gd name="T50" fmla="*/ 547 w 547"/>
                <a:gd name="T51" fmla="*/ 406 h 40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547" h="406">
                  <a:moveTo>
                    <a:pt x="7" y="0"/>
                  </a:moveTo>
                  <a:lnTo>
                    <a:pt x="5" y="0"/>
                  </a:lnTo>
                  <a:lnTo>
                    <a:pt x="4" y="0"/>
                  </a:lnTo>
                  <a:lnTo>
                    <a:pt x="2" y="1"/>
                  </a:lnTo>
                  <a:lnTo>
                    <a:pt x="0" y="2"/>
                  </a:lnTo>
                  <a:lnTo>
                    <a:pt x="294" y="406"/>
                  </a:lnTo>
                  <a:lnTo>
                    <a:pt x="547" y="406"/>
                  </a:lnTo>
                  <a:lnTo>
                    <a:pt x="62" y="0"/>
                  </a:lnTo>
                  <a:lnTo>
                    <a:pt x="49" y="0"/>
                  </a:lnTo>
                  <a:lnTo>
                    <a:pt x="39" y="0"/>
                  </a:lnTo>
                  <a:lnTo>
                    <a:pt x="30" y="0"/>
                  </a:lnTo>
                  <a:lnTo>
                    <a:pt x="22" y="0"/>
                  </a:lnTo>
                  <a:lnTo>
                    <a:pt x="15" y="0"/>
                  </a:lnTo>
                  <a:lnTo>
                    <a:pt x="10" y="0"/>
                  </a:lnTo>
                  <a:lnTo>
                    <a:pt x="8" y="0"/>
                  </a:lnTo>
                  <a:lnTo>
                    <a:pt x="7" y="0"/>
                  </a:lnTo>
                  <a:close/>
                </a:path>
              </a:pathLst>
            </a:custGeom>
            <a:solidFill>
              <a:srgbClr val="FFDB82"/>
            </a:solidFill>
            <a:ln w="9525">
              <a:noFill/>
              <a:round/>
            </a:ln>
          </p:spPr>
          <p:txBody>
            <a:bodyPr/>
            <a:lstStyle/>
            <a:p>
              <a:endParaRPr lang="en-US"/>
            </a:p>
          </p:txBody>
        </p:sp>
        <p:sp>
          <p:nvSpPr>
            <p:cNvPr id="1048745" name="Freeform 35"/>
            <p:cNvSpPr/>
            <p:nvPr/>
          </p:nvSpPr>
          <p:spPr bwMode="auto">
            <a:xfrm>
              <a:off x="2512" y="3727"/>
              <a:ext cx="68" cy="88"/>
            </a:xfrm>
            <a:custGeom>
              <a:avLst/>
              <a:gdLst>
                <a:gd name="T0" fmla="*/ 9 w 136"/>
                <a:gd name="T1" fmla="*/ 0 h 175"/>
                <a:gd name="T2" fmla="*/ 8 w 136"/>
                <a:gd name="T3" fmla="*/ 1 h 175"/>
                <a:gd name="T4" fmla="*/ 3 w 136"/>
                <a:gd name="T5" fmla="*/ 4 h 175"/>
                <a:gd name="T6" fmla="*/ 0 w 136"/>
                <a:gd name="T7" fmla="*/ 11 h 175"/>
                <a:gd name="T8" fmla="*/ 0 w 136"/>
                <a:gd name="T9" fmla="*/ 23 h 175"/>
                <a:gd name="T10" fmla="*/ 1 w 136"/>
                <a:gd name="T11" fmla="*/ 31 h 175"/>
                <a:gd name="T12" fmla="*/ 4 w 136"/>
                <a:gd name="T13" fmla="*/ 39 h 175"/>
                <a:gd name="T14" fmla="*/ 6 w 136"/>
                <a:gd name="T15" fmla="*/ 48 h 175"/>
                <a:gd name="T16" fmla="*/ 10 w 136"/>
                <a:gd name="T17" fmla="*/ 56 h 175"/>
                <a:gd name="T18" fmla="*/ 13 w 136"/>
                <a:gd name="T19" fmla="*/ 64 h 175"/>
                <a:gd name="T20" fmla="*/ 18 w 136"/>
                <a:gd name="T21" fmla="*/ 71 h 175"/>
                <a:gd name="T22" fmla="*/ 22 w 136"/>
                <a:gd name="T23" fmla="*/ 77 h 175"/>
                <a:gd name="T24" fmla="*/ 26 w 136"/>
                <a:gd name="T25" fmla="*/ 81 h 175"/>
                <a:gd name="T26" fmla="*/ 30 w 136"/>
                <a:gd name="T27" fmla="*/ 83 h 175"/>
                <a:gd name="T28" fmla="*/ 36 w 136"/>
                <a:gd name="T29" fmla="*/ 85 h 175"/>
                <a:gd name="T30" fmla="*/ 42 w 136"/>
                <a:gd name="T31" fmla="*/ 87 h 175"/>
                <a:gd name="T32" fmla="*/ 49 w 136"/>
                <a:gd name="T33" fmla="*/ 88 h 175"/>
                <a:gd name="T34" fmla="*/ 54 w 136"/>
                <a:gd name="T35" fmla="*/ 88 h 175"/>
                <a:gd name="T36" fmla="*/ 60 w 136"/>
                <a:gd name="T37" fmla="*/ 87 h 175"/>
                <a:gd name="T38" fmla="*/ 65 w 136"/>
                <a:gd name="T39" fmla="*/ 84 h 175"/>
                <a:gd name="T40" fmla="*/ 68 w 136"/>
                <a:gd name="T41" fmla="*/ 81 h 175"/>
                <a:gd name="T42" fmla="*/ 66 w 136"/>
                <a:gd name="T43" fmla="*/ 78 h 175"/>
                <a:gd name="T44" fmla="*/ 61 w 136"/>
                <a:gd name="T45" fmla="*/ 69 h 175"/>
                <a:gd name="T46" fmla="*/ 54 w 136"/>
                <a:gd name="T47" fmla="*/ 58 h 175"/>
                <a:gd name="T48" fmla="*/ 45 w 136"/>
                <a:gd name="T49" fmla="*/ 44 h 175"/>
                <a:gd name="T50" fmla="*/ 35 w 136"/>
                <a:gd name="T51" fmla="*/ 29 h 175"/>
                <a:gd name="T52" fmla="*/ 26 w 136"/>
                <a:gd name="T53" fmla="*/ 16 h 175"/>
                <a:gd name="T54" fmla="*/ 17 w 136"/>
                <a:gd name="T55" fmla="*/ 6 h 175"/>
                <a:gd name="T56" fmla="*/ 9 w 136"/>
                <a:gd name="T57" fmla="*/ 0 h 175"/>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136"/>
                <a:gd name="T88" fmla="*/ 0 h 175"/>
                <a:gd name="T89" fmla="*/ 136 w 136"/>
                <a:gd name="T90" fmla="*/ 175 h 175"/>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136" h="175">
                  <a:moveTo>
                    <a:pt x="19" y="0"/>
                  </a:moveTo>
                  <a:lnTo>
                    <a:pt x="16" y="1"/>
                  </a:lnTo>
                  <a:lnTo>
                    <a:pt x="7" y="8"/>
                  </a:lnTo>
                  <a:lnTo>
                    <a:pt x="0" y="22"/>
                  </a:lnTo>
                  <a:lnTo>
                    <a:pt x="0" y="46"/>
                  </a:lnTo>
                  <a:lnTo>
                    <a:pt x="3" y="62"/>
                  </a:lnTo>
                  <a:lnTo>
                    <a:pt x="8" y="78"/>
                  </a:lnTo>
                  <a:lnTo>
                    <a:pt x="13" y="95"/>
                  </a:lnTo>
                  <a:lnTo>
                    <a:pt x="20" y="111"/>
                  </a:lnTo>
                  <a:lnTo>
                    <a:pt x="27" y="128"/>
                  </a:lnTo>
                  <a:lnTo>
                    <a:pt x="37" y="141"/>
                  </a:lnTo>
                  <a:lnTo>
                    <a:pt x="45" y="153"/>
                  </a:lnTo>
                  <a:lnTo>
                    <a:pt x="53" y="161"/>
                  </a:lnTo>
                  <a:lnTo>
                    <a:pt x="61" y="166"/>
                  </a:lnTo>
                  <a:lnTo>
                    <a:pt x="72" y="170"/>
                  </a:lnTo>
                  <a:lnTo>
                    <a:pt x="84" y="174"/>
                  </a:lnTo>
                  <a:lnTo>
                    <a:pt x="98" y="175"/>
                  </a:lnTo>
                  <a:lnTo>
                    <a:pt x="109" y="175"/>
                  </a:lnTo>
                  <a:lnTo>
                    <a:pt x="121" y="173"/>
                  </a:lnTo>
                  <a:lnTo>
                    <a:pt x="130" y="168"/>
                  </a:lnTo>
                  <a:lnTo>
                    <a:pt x="136" y="161"/>
                  </a:lnTo>
                  <a:lnTo>
                    <a:pt x="132" y="155"/>
                  </a:lnTo>
                  <a:lnTo>
                    <a:pt x="122" y="138"/>
                  </a:lnTo>
                  <a:lnTo>
                    <a:pt x="108" y="115"/>
                  </a:lnTo>
                  <a:lnTo>
                    <a:pt x="90" y="87"/>
                  </a:lnTo>
                  <a:lnTo>
                    <a:pt x="71" y="58"/>
                  </a:lnTo>
                  <a:lnTo>
                    <a:pt x="52" y="32"/>
                  </a:lnTo>
                  <a:lnTo>
                    <a:pt x="34" y="11"/>
                  </a:lnTo>
                  <a:lnTo>
                    <a:pt x="19" y="0"/>
                  </a:lnTo>
                  <a:close/>
                </a:path>
              </a:pathLst>
            </a:custGeom>
            <a:solidFill>
              <a:srgbClr val="000000"/>
            </a:solidFill>
            <a:ln w="9525">
              <a:noFill/>
              <a:round/>
            </a:ln>
          </p:spPr>
          <p:txBody>
            <a:bodyPr/>
            <a:lstStyle/>
            <a:p>
              <a:endParaRPr lang="en-US"/>
            </a:p>
          </p:txBody>
        </p:sp>
        <p:sp>
          <p:nvSpPr>
            <p:cNvPr id="1048746" name="Freeform 36"/>
            <p:cNvSpPr/>
            <p:nvPr/>
          </p:nvSpPr>
          <p:spPr bwMode="auto">
            <a:xfrm>
              <a:off x="2525" y="3898"/>
              <a:ext cx="89" cy="90"/>
            </a:xfrm>
            <a:custGeom>
              <a:avLst/>
              <a:gdLst>
                <a:gd name="T0" fmla="*/ 44 w 179"/>
                <a:gd name="T1" fmla="*/ 90 h 180"/>
                <a:gd name="T2" fmla="*/ 53 w 179"/>
                <a:gd name="T3" fmla="*/ 89 h 180"/>
                <a:gd name="T4" fmla="*/ 61 w 179"/>
                <a:gd name="T5" fmla="*/ 87 h 180"/>
                <a:gd name="T6" fmla="*/ 70 w 179"/>
                <a:gd name="T7" fmla="*/ 83 h 180"/>
                <a:gd name="T8" fmla="*/ 76 w 179"/>
                <a:gd name="T9" fmla="*/ 77 h 180"/>
                <a:gd name="T10" fmla="*/ 82 w 179"/>
                <a:gd name="T11" fmla="*/ 70 h 180"/>
                <a:gd name="T12" fmla="*/ 86 w 179"/>
                <a:gd name="T13" fmla="*/ 62 h 180"/>
                <a:gd name="T14" fmla="*/ 88 w 179"/>
                <a:gd name="T15" fmla="*/ 54 h 180"/>
                <a:gd name="T16" fmla="*/ 89 w 179"/>
                <a:gd name="T17" fmla="*/ 45 h 180"/>
                <a:gd name="T18" fmla="*/ 88 w 179"/>
                <a:gd name="T19" fmla="*/ 36 h 180"/>
                <a:gd name="T20" fmla="*/ 86 w 179"/>
                <a:gd name="T21" fmla="*/ 27 h 180"/>
                <a:gd name="T22" fmla="*/ 82 w 179"/>
                <a:gd name="T23" fmla="*/ 20 h 180"/>
                <a:gd name="T24" fmla="*/ 76 w 179"/>
                <a:gd name="T25" fmla="*/ 13 h 180"/>
                <a:gd name="T26" fmla="*/ 70 w 179"/>
                <a:gd name="T27" fmla="*/ 7 h 180"/>
                <a:gd name="T28" fmla="*/ 61 w 179"/>
                <a:gd name="T29" fmla="*/ 3 h 180"/>
                <a:gd name="T30" fmla="*/ 53 w 179"/>
                <a:gd name="T31" fmla="*/ 1 h 180"/>
                <a:gd name="T32" fmla="*/ 44 w 179"/>
                <a:gd name="T33" fmla="*/ 0 h 180"/>
                <a:gd name="T34" fmla="*/ 35 w 179"/>
                <a:gd name="T35" fmla="*/ 1 h 180"/>
                <a:gd name="T36" fmla="*/ 27 w 179"/>
                <a:gd name="T37" fmla="*/ 3 h 180"/>
                <a:gd name="T38" fmla="*/ 19 w 179"/>
                <a:gd name="T39" fmla="*/ 7 h 180"/>
                <a:gd name="T40" fmla="*/ 13 w 179"/>
                <a:gd name="T41" fmla="*/ 13 h 180"/>
                <a:gd name="T42" fmla="*/ 7 w 179"/>
                <a:gd name="T43" fmla="*/ 20 h 180"/>
                <a:gd name="T44" fmla="*/ 3 w 179"/>
                <a:gd name="T45" fmla="*/ 27 h 180"/>
                <a:gd name="T46" fmla="*/ 1 w 179"/>
                <a:gd name="T47" fmla="*/ 36 h 180"/>
                <a:gd name="T48" fmla="*/ 0 w 179"/>
                <a:gd name="T49" fmla="*/ 45 h 180"/>
                <a:gd name="T50" fmla="*/ 1 w 179"/>
                <a:gd name="T51" fmla="*/ 54 h 180"/>
                <a:gd name="T52" fmla="*/ 3 w 179"/>
                <a:gd name="T53" fmla="*/ 62 h 180"/>
                <a:gd name="T54" fmla="*/ 7 w 179"/>
                <a:gd name="T55" fmla="*/ 70 h 180"/>
                <a:gd name="T56" fmla="*/ 13 w 179"/>
                <a:gd name="T57" fmla="*/ 77 h 180"/>
                <a:gd name="T58" fmla="*/ 19 w 179"/>
                <a:gd name="T59" fmla="*/ 83 h 180"/>
                <a:gd name="T60" fmla="*/ 27 w 179"/>
                <a:gd name="T61" fmla="*/ 87 h 180"/>
                <a:gd name="T62" fmla="*/ 35 w 179"/>
                <a:gd name="T63" fmla="*/ 89 h 180"/>
                <a:gd name="T64" fmla="*/ 44 w 179"/>
                <a:gd name="T65" fmla="*/ 90 h 180"/>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79"/>
                <a:gd name="T100" fmla="*/ 0 h 180"/>
                <a:gd name="T101" fmla="*/ 179 w 179"/>
                <a:gd name="T102" fmla="*/ 180 h 180"/>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79" h="180">
                  <a:moveTo>
                    <a:pt x="89" y="180"/>
                  </a:moveTo>
                  <a:lnTo>
                    <a:pt x="107" y="177"/>
                  </a:lnTo>
                  <a:lnTo>
                    <a:pt x="123" y="173"/>
                  </a:lnTo>
                  <a:lnTo>
                    <a:pt x="140" y="165"/>
                  </a:lnTo>
                  <a:lnTo>
                    <a:pt x="152" y="153"/>
                  </a:lnTo>
                  <a:lnTo>
                    <a:pt x="164" y="140"/>
                  </a:lnTo>
                  <a:lnTo>
                    <a:pt x="172" y="124"/>
                  </a:lnTo>
                  <a:lnTo>
                    <a:pt x="176" y="108"/>
                  </a:lnTo>
                  <a:lnTo>
                    <a:pt x="179" y="90"/>
                  </a:lnTo>
                  <a:lnTo>
                    <a:pt x="176" y="71"/>
                  </a:lnTo>
                  <a:lnTo>
                    <a:pt x="172" y="55"/>
                  </a:lnTo>
                  <a:lnTo>
                    <a:pt x="164" y="39"/>
                  </a:lnTo>
                  <a:lnTo>
                    <a:pt x="152" y="26"/>
                  </a:lnTo>
                  <a:lnTo>
                    <a:pt x="140" y="15"/>
                  </a:lnTo>
                  <a:lnTo>
                    <a:pt x="123" y="7"/>
                  </a:lnTo>
                  <a:lnTo>
                    <a:pt x="107" y="2"/>
                  </a:lnTo>
                  <a:lnTo>
                    <a:pt x="89" y="0"/>
                  </a:lnTo>
                  <a:lnTo>
                    <a:pt x="70" y="2"/>
                  </a:lnTo>
                  <a:lnTo>
                    <a:pt x="54" y="7"/>
                  </a:lnTo>
                  <a:lnTo>
                    <a:pt x="39" y="15"/>
                  </a:lnTo>
                  <a:lnTo>
                    <a:pt x="26" y="26"/>
                  </a:lnTo>
                  <a:lnTo>
                    <a:pt x="15" y="39"/>
                  </a:lnTo>
                  <a:lnTo>
                    <a:pt x="7" y="55"/>
                  </a:lnTo>
                  <a:lnTo>
                    <a:pt x="2" y="71"/>
                  </a:lnTo>
                  <a:lnTo>
                    <a:pt x="0" y="90"/>
                  </a:lnTo>
                  <a:lnTo>
                    <a:pt x="2" y="108"/>
                  </a:lnTo>
                  <a:lnTo>
                    <a:pt x="7" y="124"/>
                  </a:lnTo>
                  <a:lnTo>
                    <a:pt x="15" y="140"/>
                  </a:lnTo>
                  <a:lnTo>
                    <a:pt x="26" y="153"/>
                  </a:lnTo>
                  <a:lnTo>
                    <a:pt x="39" y="165"/>
                  </a:lnTo>
                  <a:lnTo>
                    <a:pt x="54" y="173"/>
                  </a:lnTo>
                  <a:lnTo>
                    <a:pt x="70" y="177"/>
                  </a:lnTo>
                  <a:lnTo>
                    <a:pt x="89" y="180"/>
                  </a:lnTo>
                  <a:close/>
                </a:path>
              </a:pathLst>
            </a:custGeom>
            <a:solidFill>
              <a:srgbClr val="000000"/>
            </a:solidFill>
            <a:ln w="9525">
              <a:noFill/>
              <a:round/>
            </a:ln>
          </p:spPr>
          <p:txBody>
            <a:bodyPr/>
            <a:lstStyle/>
            <a:p>
              <a:endParaRPr lang="en-US"/>
            </a:p>
          </p:txBody>
        </p:sp>
        <p:sp>
          <p:nvSpPr>
            <p:cNvPr id="1048747" name="Freeform 37"/>
            <p:cNvSpPr/>
            <p:nvPr/>
          </p:nvSpPr>
          <p:spPr bwMode="auto">
            <a:xfrm>
              <a:off x="2201" y="3898"/>
              <a:ext cx="90" cy="90"/>
            </a:xfrm>
            <a:custGeom>
              <a:avLst/>
              <a:gdLst>
                <a:gd name="T0" fmla="*/ 45 w 179"/>
                <a:gd name="T1" fmla="*/ 90 h 180"/>
                <a:gd name="T2" fmla="*/ 54 w 179"/>
                <a:gd name="T3" fmla="*/ 89 h 180"/>
                <a:gd name="T4" fmla="*/ 62 w 179"/>
                <a:gd name="T5" fmla="*/ 87 h 180"/>
                <a:gd name="T6" fmla="*/ 70 w 179"/>
                <a:gd name="T7" fmla="*/ 83 h 180"/>
                <a:gd name="T8" fmla="*/ 77 w 179"/>
                <a:gd name="T9" fmla="*/ 77 h 180"/>
                <a:gd name="T10" fmla="*/ 82 w 179"/>
                <a:gd name="T11" fmla="*/ 70 h 180"/>
                <a:gd name="T12" fmla="*/ 86 w 179"/>
                <a:gd name="T13" fmla="*/ 62 h 180"/>
                <a:gd name="T14" fmla="*/ 89 w 179"/>
                <a:gd name="T15" fmla="*/ 54 h 180"/>
                <a:gd name="T16" fmla="*/ 90 w 179"/>
                <a:gd name="T17" fmla="*/ 45 h 180"/>
                <a:gd name="T18" fmla="*/ 89 w 179"/>
                <a:gd name="T19" fmla="*/ 36 h 180"/>
                <a:gd name="T20" fmla="*/ 86 w 179"/>
                <a:gd name="T21" fmla="*/ 27 h 180"/>
                <a:gd name="T22" fmla="*/ 82 w 179"/>
                <a:gd name="T23" fmla="*/ 20 h 180"/>
                <a:gd name="T24" fmla="*/ 77 w 179"/>
                <a:gd name="T25" fmla="*/ 13 h 180"/>
                <a:gd name="T26" fmla="*/ 70 w 179"/>
                <a:gd name="T27" fmla="*/ 7 h 180"/>
                <a:gd name="T28" fmla="*/ 62 w 179"/>
                <a:gd name="T29" fmla="*/ 3 h 180"/>
                <a:gd name="T30" fmla="*/ 54 w 179"/>
                <a:gd name="T31" fmla="*/ 1 h 180"/>
                <a:gd name="T32" fmla="*/ 45 w 179"/>
                <a:gd name="T33" fmla="*/ 0 h 180"/>
                <a:gd name="T34" fmla="*/ 36 w 179"/>
                <a:gd name="T35" fmla="*/ 1 h 180"/>
                <a:gd name="T36" fmla="*/ 28 w 179"/>
                <a:gd name="T37" fmla="*/ 3 h 180"/>
                <a:gd name="T38" fmla="*/ 20 w 179"/>
                <a:gd name="T39" fmla="*/ 7 h 180"/>
                <a:gd name="T40" fmla="*/ 13 w 179"/>
                <a:gd name="T41" fmla="*/ 13 h 180"/>
                <a:gd name="T42" fmla="*/ 8 w 179"/>
                <a:gd name="T43" fmla="*/ 20 h 180"/>
                <a:gd name="T44" fmla="*/ 4 w 179"/>
                <a:gd name="T45" fmla="*/ 27 h 180"/>
                <a:gd name="T46" fmla="*/ 1 w 179"/>
                <a:gd name="T47" fmla="*/ 36 h 180"/>
                <a:gd name="T48" fmla="*/ 0 w 179"/>
                <a:gd name="T49" fmla="*/ 45 h 180"/>
                <a:gd name="T50" fmla="*/ 1 w 179"/>
                <a:gd name="T51" fmla="*/ 54 h 180"/>
                <a:gd name="T52" fmla="*/ 4 w 179"/>
                <a:gd name="T53" fmla="*/ 62 h 180"/>
                <a:gd name="T54" fmla="*/ 8 w 179"/>
                <a:gd name="T55" fmla="*/ 70 h 180"/>
                <a:gd name="T56" fmla="*/ 13 w 179"/>
                <a:gd name="T57" fmla="*/ 77 h 180"/>
                <a:gd name="T58" fmla="*/ 20 w 179"/>
                <a:gd name="T59" fmla="*/ 83 h 180"/>
                <a:gd name="T60" fmla="*/ 28 w 179"/>
                <a:gd name="T61" fmla="*/ 87 h 180"/>
                <a:gd name="T62" fmla="*/ 36 w 179"/>
                <a:gd name="T63" fmla="*/ 89 h 180"/>
                <a:gd name="T64" fmla="*/ 45 w 179"/>
                <a:gd name="T65" fmla="*/ 90 h 180"/>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79"/>
                <a:gd name="T100" fmla="*/ 0 h 180"/>
                <a:gd name="T101" fmla="*/ 179 w 179"/>
                <a:gd name="T102" fmla="*/ 180 h 180"/>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79" h="180">
                  <a:moveTo>
                    <a:pt x="89" y="180"/>
                  </a:moveTo>
                  <a:lnTo>
                    <a:pt x="108" y="177"/>
                  </a:lnTo>
                  <a:lnTo>
                    <a:pt x="124" y="173"/>
                  </a:lnTo>
                  <a:lnTo>
                    <a:pt x="140" y="165"/>
                  </a:lnTo>
                  <a:lnTo>
                    <a:pt x="153" y="153"/>
                  </a:lnTo>
                  <a:lnTo>
                    <a:pt x="164" y="140"/>
                  </a:lnTo>
                  <a:lnTo>
                    <a:pt x="172" y="124"/>
                  </a:lnTo>
                  <a:lnTo>
                    <a:pt x="177" y="108"/>
                  </a:lnTo>
                  <a:lnTo>
                    <a:pt x="179" y="90"/>
                  </a:lnTo>
                  <a:lnTo>
                    <a:pt x="177" y="71"/>
                  </a:lnTo>
                  <a:lnTo>
                    <a:pt x="172" y="55"/>
                  </a:lnTo>
                  <a:lnTo>
                    <a:pt x="164" y="39"/>
                  </a:lnTo>
                  <a:lnTo>
                    <a:pt x="153" y="26"/>
                  </a:lnTo>
                  <a:lnTo>
                    <a:pt x="140" y="15"/>
                  </a:lnTo>
                  <a:lnTo>
                    <a:pt x="124" y="7"/>
                  </a:lnTo>
                  <a:lnTo>
                    <a:pt x="108" y="2"/>
                  </a:lnTo>
                  <a:lnTo>
                    <a:pt x="89" y="0"/>
                  </a:lnTo>
                  <a:lnTo>
                    <a:pt x="71" y="2"/>
                  </a:lnTo>
                  <a:lnTo>
                    <a:pt x="55" y="7"/>
                  </a:lnTo>
                  <a:lnTo>
                    <a:pt x="39" y="15"/>
                  </a:lnTo>
                  <a:lnTo>
                    <a:pt x="26" y="26"/>
                  </a:lnTo>
                  <a:lnTo>
                    <a:pt x="15" y="39"/>
                  </a:lnTo>
                  <a:lnTo>
                    <a:pt x="7" y="55"/>
                  </a:lnTo>
                  <a:lnTo>
                    <a:pt x="2" y="71"/>
                  </a:lnTo>
                  <a:lnTo>
                    <a:pt x="0" y="90"/>
                  </a:lnTo>
                  <a:lnTo>
                    <a:pt x="2" y="108"/>
                  </a:lnTo>
                  <a:lnTo>
                    <a:pt x="7" y="124"/>
                  </a:lnTo>
                  <a:lnTo>
                    <a:pt x="15" y="140"/>
                  </a:lnTo>
                  <a:lnTo>
                    <a:pt x="26" y="153"/>
                  </a:lnTo>
                  <a:lnTo>
                    <a:pt x="39" y="165"/>
                  </a:lnTo>
                  <a:lnTo>
                    <a:pt x="55" y="173"/>
                  </a:lnTo>
                  <a:lnTo>
                    <a:pt x="71" y="177"/>
                  </a:lnTo>
                  <a:lnTo>
                    <a:pt x="89" y="180"/>
                  </a:lnTo>
                  <a:close/>
                </a:path>
              </a:pathLst>
            </a:custGeom>
            <a:solidFill>
              <a:srgbClr val="000000"/>
            </a:solidFill>
            <a:ln w="9525">
              <a:noFill/>
              <a:round/>
            </a:ln>
          </p:spPr>
          <p:txBody>
            <a:bodyPr/>
            <a:lstStyle/>
            <a:p>
              <a:endParaRPr lang="en-US"/>
            </a:p>
          </p:txBody>
        </p:sp>
        <p:sp>
          <p:nvSpPr>
            <p:cNvPr id="1048748" name="Freeform 38"/>
            <p:cNvSpPr/>
            <p:nvPr/>
          </p:nvSpPr>
          <p:spPr bwMode="auto">
            <a:xfrm>
              <a:off x="2227" y="3924"/>
              <a:ext cx="38" cy="37"/>
            </a:xfrm>
            <a:custGeom>
              <a:avLst/>
              <a:gdLst>
                <a:gd name="T0" fmla="*/ 19 w 75"/>
                <a:gd name="T1" fmla="*/ 37 h 75"/>
                <a:gd name="T2" fmla="*/ 24 w 75"/>
                <a:gd name="T3" fmla="*/ 36 h 75"/>
                <a:gd name="T4" fmla="*/ 27 w 75"/>
                <a:gd name="T5" fmla="*/ 36 h 75"/>
                <a:gd name="T6" fmla="*/ 30 w 75"/>
                <a:gd name="T7" fmla="*/ 34 h 75"/>
                <a:gd name="T8" fmla="*/ 33 w 75"/>
                <a:gd name="T9" fmla="*/ 32 h 75"/>
                <a:gd name="T10" fmla="*/ 35 w 75"/>
                <a:gd name="T11" fmla="*/ 29 h 75"/>
                <a:gd name="T12" fmla="*/ 37 w 75"/>
                <a:gd name="T13" fmla="*/ 26 h 75"/>
                <a:gd name="T14" fmla="*/ 37 w 75"/>
                <a:gd name="T15" fmla="*/ 23 h 75"/>
                <a:gd name="T16" fmla="*/ 38 w 75"/>
                <a:gd name="T17" fmla="*/ 19 h 75"/>
                <a:gd name="T18" fmla="*/ 37 w 75"/>
                <a:gd name="T19" fmla="*/ 15 h 75"/>
                <a:gd name="T20" fmla="*/ 37 w 75"/>
                <a:gd name="T21" fmla="*/ 11 h 75"/>
                <a:gd name="T22" fmla="*/ 35 w 75"/>
                <a:gd name="T23" fmla="*/ 8 h 75"/>
                <a:gd name="T24" fmla="*/ 33 w 75"/>
                <a:gd name="T25" fmla="*/ 5 h 75"/>
                <a:gd name="T26" fmla="*/ 30 w 75"/>
                <a:gd name="T27" fmla="*/ 3 h 75"/>
                <a:gd name="T28" fmla="*/ 27 w 75"/>
                <a:gd name="T29" fmla="*/ 1 h 75"/>
                <a:gd name="T30" fmla="*/ 24 w 75"/>
                <a:gd name="T31" fmla="*/ 0 h 75"/>
                <a:gd name="T32" fmla="*/ 19 w 75"/>
                <a:gd name="T33" fmla="*/ 0 h 75"/>
                <a:gd name="T34" fmla="*/ 15 w 75"/>
                <a:gd name="T35" fmla="*/ 0 h 75"/>
                <a:gd name="T36" fmla="*/ 12 w 75"/>
                <a:gd name="T37" fmla="*/ 1 h 75"/>
                <a:gd name="T38" fmla="*/ 9 w 75"/>
                <a:gd name="T39" fmla="*/ 3 h 75"/>
                <a:gd name="T40" fmla="*/ 6 w 75"/>
                <a:gd name="T41" fmla="*/ 5 h 75"/>
                <a:gd name="T42" fmla="*/ 4 w 75"/>
                <a:gd name="T43" fmla="*/ 8 h 75"/>
                <a:gd name="T44" fmla="*/ 2 w 75"/>
                <a:gd name="T45" fmla="*/ 11 h 75"/>
                <a:gd name="T46" fmla="*/ 1 w 75"/>
                <a:gd name="T47" fmla="*/ 15 h 75"/>
                <a:gd name="T48" fmla="*/ 0 w 75"/>
                <a:gd name="T49" fmla="*/ 19 h 75"/>
                <a:gd name="T50" fmla="*/ 1 w 75"/>
                <a:gd name="T51" fmla="*/ 23 h 75"/>
                <a:gd name="T52" fmla="*/ 2 w 75"/>
                <a:gd name="T53" fmla="*/ 26 h 75"/>
                <a:gd name="T54" fmla="*/ 4 w 75"/>
                <a:gd name="T55" fmla="*/ 29 h 75"/>
                <a:gd name="T56" fmla="*/ 6 w 75"/>
                <a:gd name="T57" fmla="*/ 32 h 75"/>
                <a:gd name="T58" fmla="*/ 9 w 75"/>
                <a:gd name="T59" fmla="*/ 34 h 75"/>
                <a:gd name="T60" fmla="*/ 12 w 75"/>
                <a:gd name="T61" fmla="*/ 36 h 75"/>
                <a:gd name="T62" fmla="*/ 15 w 75"/>
                <a:gd name="T63" fmla="*/ 36 h 75"/>
                <a:gd name="T64" fmla="*/ 19 w 75"/>
                <a:gd name="T65" fmla="*/ 37 h 75"/>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75"/>
                <a:gd name="T100" fmla="*/ 0 h 75"/>
                <a:gd name="T101" fmla="*/ 75 w 75"/>
                <a:gd name="T102" fmla="*/ 75 h 75"/>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75" h="75">
                  <a:moveTo>
                    <a:pt x="38" y="75"/>
                  </a:moveTo>
                  <a:lnTo>
                    <a:pt x="47" y="73"/>
                  </a:lnTo>
                  <a:lnTo>
                    <a:pt x="53" y="72"/>
                  </a:lnTo>
                  <a:lnTo>
                    <a:pt x="59" y="69"/>
                  </a:lnTo>
                  <a:lnTo>
                    <a:pt x="65" y="64"/>
                  </a:lnTo>
                  <a:lnTo>
                    <a:pt x="70" y="58"/>
                  </a:lnTo>
                  <a:lnTo>
                    <a:pt x="73" y="53"/>
                  </a:lnTo>
                  <a:lnTo>
                    <a:pt x="74" y="46"/>
                  </a:lnTo>
                  <a:lnTo>
                    <a:pt x="75" y="38"/>
                  </a:lnTo>
                  <a:lnTo>
                    <a:pt x="74" y="30"/>
                  </a:lnTo>
                  <a:lnTo>
                    <a:pt x="73" y="23"/>
                  </a:lnTo>
                  <a:lnTo>
                    <a:pt x="70" y="17"/>
                  </a:lnTo>
                  <a:lnTo>
                    <a:pt x="65" y="11"/>
                  </a:lnTo>
                  <a:lnTo>
                    <a:pt x="59" y="7"/>
                  </a:lnTo>
                  <a:lnTo>
                    <a:pt x="53" y="3"/>
                  </a:lnTo>
                  <a:lnTo>
                    <a:pt x="47" y="1"/>
                  </a:lnTo>
                  <a:lnTo>
                    <a:pt x="38" y="0"/>
                  </a:lnTo>
                  <a:lnTo>
                    <a:pt x="30" y="1"/>
                  </a:lnTo>
                  <a:lnTo>
                    <a:pt x="23" y="3"/>
                  </a:lnTo>
                  <a:lnTo>
                    <a:pt x="18" y="7"/>
                  </a:lnTo>
                  <a:lnTo>
                    <a:pt x="12" y="11"/>
                  </a:lnTo>
                  <a:lnTo>
                    <a:pt x="7" y="17"/>
                  </a:lnTo>
                  <a:lnTo>
                    <a:pt x="4" y="23"/>
                  </a:lnTo>
                  <a:lnTo>
                    <a:pt x="2" y="30"/>
                  </a:lnTo>
                  <a:lnTo>
                    <a:pt x="0" y="38"/>
                  </a:lnTo>
                  <a:lnTo>
                    <a:pt x="2" y="46"/>
                  </a:lnTo>
                  <a:lnTo>
                    <a:pt x="4" y="53"/>
                  </a:lnTo>
                  <a:lnTo>
                    <a:pt x="7" y="58"/>
                  </a:lnTo>
                  <a:lnTo>
                    <a:pt x="12" y="64"/>
                  </a:lnTo>
                  <a:lnTo>
                    <a:pt x="18" y="69"/>
                  </a:lnTo>
                  <a:lnTo>
                    <a:pt x="23" y="72"/>
                  </a:lnTo>
                  <a:lnTo>
                    <a:pt x="30" y="73"/>
                  </a:lnTo>
                  <a:lnTo>
                    <a:pt x="38" y="75"/>
                  </a:lnTo>
                  <a:close/>
                </a:path>
              </a:pathLst>
            </a:custGeom>
            <a:solidFill>
              <a:srgbClr val="7FFFFF"/>
            </a:solidFill>
            <a:ln w="9525">
              <a:noFill/>
              <a:round/>
            </a:ln>
          </p:spPr>
          <p:txBody>
            <a:bodyPr/>
            <a:lstStyle/>
            <a:p>
              <a:endParaRPr lang="en-US"/>
            </a:p>
          </p:txBody>
        </p:sp>
        <p:sp>
          <p:nvSpPr>
            <p:cNvPr id="1048749" name="Freeform 39"/>
            <p:cNvSpPr/>
            <p:nvPr/>
          </p:nvSpPr>
          <p:spPr bwMode="auto">
            <a:xfrm>
              <a:off x="2238" y="3935"/>
              <a:ext cx="16" cy="16"/>
            </a:xfrm>
            <a:custGeom>
              <a:avLst/>
              <a:gdLst>
                <a:gd name="T0" fmla="*/ 8 w 33"/>
                <a:gd name="T1" fmla="*/ 16 h 32"/>
                <a:gd name="T2" fmla="*/ 11 w 33"/>
                <a:gd name="T3" fmla="*/ 15 h 32"/>
                <a:gd name="T4" fmla="*/ 14 w 33"/>
                <a:gd name="T5" fmla="*/ 13 h 32"/>
                <a:gd name="T6" fmla="*/ 15 w 33"/>
                <a:gd name="T7" fmla="*/ 11 h 32"/>
                <a:gd name="T8" fmla="*/ 16 w 33"/>
                <a:gd name="T9" fmla="*/ 8 h 32"/>
                <a:gd name="T10" fmla="*/ 15 w 33"/>
                <a:gd name="T11" fmla="*/ 4 h 32"/>
                <a:gd name="T12" fmla="*/ 14 w 33"/>
                <a:gd name="T13" fmla="*/ 2 h 32"/>
                <a:gd name="T14" fmla="*/ 11 w 33"/>
                <a:gd name="T15" fmla="*/ 1 h 32"/>
                <a:gd name="T16" fmla="*/ 8 w 33"/>
                <a:gd name="T17" fmla="*/ 0 h 32"/>
                <a:gd name="T18" fmla="*/ 5 w 33"/>
                <a:gd name="T19" fmla="*/ 1 h 32"/>
                <a:gd name="T20" fmla="*/ 2 w 33"/>
                <a:gd name="T21" fmla="*/ 2 h 32"/>
                <a:gd name="T22" fmla="*/ 0 w 33"/>
                <a:gd name="T23" fmla="*/ 4 h 32"/>
                <a:gd name="T24" fmla="*/ 0 w 33"/>
                <a:gd name="T25" fmla="*/ 8 h 32"/>
                <a:gd name="T26" fmla="*/ 0 w 33"/>
                <a:gd name="T27" fmla="*/ 11 h 32"/>
                <a:gd name="T28" fmla="*/ 2 w 33"/>
                <a:gd name="T29" fmla="*/ 13 h 32"/>
                <a:gd name="T30" fmla="*/ 5 w 33"/>
                <a:gd name="T31" fmla="*/ 15 h 32"/>
                <a:gd name="T32" fmla="*/ 8 w 33"/>
                <a:gd name="T33" fmla="*/ 16 h 32"/>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33"/>
                <a:gd name="T52" fmla="*/ 0 h 32"/>
                <a:gd name="T53" fmla="*/ 33 w 33"/>
                <a:gd name="T54" fmla="*/ 32 h 32"/>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33" h="32">
                  <a:moveTo>
                    <a:pt x="16" y="32"/>
                  </a:moveTo>
                  <a:lnTo>
                    <a:pt x="23" y="31"/>
                  </a:lnTo>
                  <a:lnTo>
                    <a:pt x="28" y="27"/>
                  </a:lnTo>
                  <a:lnTo>
                    <a:pt x="31" y="23"/>
                  </a:lnTo>
                  <a:lnTo>
                    <a:pt x="33" y="16"/>
                  </a:lnTo>
                  <a:lnTo>
                    <a:pt x="31" y="9"/>
                  </a:lnTo>
                  <a:lnTo>
                    <a:pt x="28" y="4"/>
                  </a:lnTo>
                  <a:lnTo>
                    <a:pt x="23" y="1"/>
                  </a:lnTo>
                  <a:lnTo>
                    <a:pt x="16" y="0"/>
                  </a:lnTo>
                  <a:lnTo>
                    <a:pt x="10" y="1"/>
                  </a:lnTo>
                  <a:lnTo>
                    <a:pt x="5" y="4"/>
                  </a:lnTo>
                  <a:lnTo>
                    <a:pt x="1" y="9"/>
                  </a:lnTo>
                  <a:lnTo>
                    <a:pt x="0" y="16"/>
                  </a:lnTo>
                  <a:lnTo>
                    <a:pt x="1" y="23"/>
                  </a:lnTo>
                  <a:lnTo>
                    <a:pt x="5" y="27"/>
                  </a:lnTo>
                  <a:lnTo>
                    <a:pt x="10" y="31"/>
                  </a:lnTo>
                  <a:lnTo>
                    <a:pt x="16" y="32"/>
                  </a:lnTo>
                  <a:close/>
                </a:path>
              </a:pathLst>
            </a:custGeom>
            <a:solidFill>
              <a:srgbClr val="000000"/>
            </a:solidFill>
            <a:ln w="9525">
              <a:noFill/>
              <a:round/>
            </a:ln>
          </p:spPr>
          <p:txBody>
            <a:bodyPr/>
            <a:lstStyle/>
            <a:p>
              <a:endParaRPr lang="en-US"/>
            </a:p>
          </p:txBody>
        </p:sp>
        <p:sp>
          <p:nvSpPr>
            <p:cNvPr id="1048750" name="Freeform 40"/>
            <p:cNvSpPr/>
            <p:nvPr/>
          </p:nvSpPr>
          <p:spPr bwMode="auto">
            <a:xfrm>
              <a:off x="2552" y="3924"/>
              <a:ext cx="37" cy="37"/>
            </a:xfrm>
            <a:custGeom>
              <a:avLst/>
              <a:gdLst>
                <a:gd name="T0" fmla="*/ 19 w 75"/>
                <a:gd name="T1" fmla="*/ 37 h 75"/>
                <a:gd name="T2" fmla="*/ 23 w 75"/>
                <a:gd name="T3" fmla="*/ 36 h 75"/>
                <a:gd name="T4" fmla="*/ 26 w 75"/>
                <a:gd name="T5" fmla="*/ 36 h 75"/>
                <a:gd name="T6" fmla="*/ 29 w 75"/>
                <a:gd name="T7" fmla="*/ 34 h 75"/>
                <a:gd name="T8" fmla="*/ 32 w 75"/>
                <a:gd name="T9" fmla="*/ 32 h 75"/>
                <a:gd name="T10" fmla="*/ 34 w 75"/>
                <a:gd name="T11" fmla="*/ 29 h 75"/>
                <a:gd name="T12" fmla="*/ 36 w 75"/>
                <a:gd name="T13" fmla="*/ 26 h 75"/>
                <a:gd name="T14" fmla="*/ 37 w 75"/>
                <a:gd name="T15" fmla="*/ 23 h 75"/>
                <a:gd name="T16" fmla="*/ 37 w 75"/>
                <a:gd name="T17" fmla="*/ 19 h 75"/>
                <a:gd name="T18" fmla="*/ 37 w 75"/>
                <a:gd name="T19" fmla="*/ 15 h 75"/>
                <a:gd name="T20" fmla="*/ 36 w 75"/>
                <a:gd name="T21" fmla="*/ 11 h 75"/>
                <a:gd name="T22" fmla="*/ 34 w 75"/>
                <a:gd name="T23" fmla="*/ 8 h 75"/>
                <a:gd name="T24" fmla="*/ 32 w 75"/>
                <a:gd name="T25" fmla="*/ 5 h 75"/>
                <a:gd name="T26" fmla="*/ 29 w 75"/>
                <a:gd name="T27" fmla="*/ 3 h 75"/>
                <a:gd name="T28" fmla="*/ 26 w 75"/>
                <a:gd name="T29" fmla="*/ 1 h 75"/>
                <a:gd name="T30" fmla="*/ 23 w 75"/>
                <a:gd name="T31" fmla="*/ 0 h 75"/>
                <a:gd name="T32" fmla="*/ 19 w 75"/>
                <a:gd name="T33" fmla="*/ 0 h 75"/>
                <a:gd name="T34" fmla="*/ 15 w 75"/>
                <a:gd name="T35" fmla="*/ 0 h 75"/>
                <a:gd name="T36" fmla="*/ 11 w 75"/>
                <a:gd name="T37" fmla="*/ 1 h 75"/>
                <a:gd name="T38" fmla="*/ 8 w 75"/>
                <a:gd name="T39" fmla="*/ 3 h 75"/>
                <a:gd name="T40" fmla="*/ 6 w 75"/>
                <a:gd name="T41" fmla="*/ 5 h 75"/>
                <a:gd name="T42" fmla="*/ 3 w 75"/>
                <a:gd name="T43" fmla="*/ 8 h 75"/>
                <a:gd name="T44" fmla="*/ 2 w 75"/>
                <a:gd name="T45" fmla="*/ 11 h 75"/>
                <a:gd name="T46" fmla="*/ 0 w 75"/>
                <a:gd name="T47" fmla="*/ 15 h 75"/>
                <a:gd name="T48" fmla="*/ 0 w 75"/>
                <a:gd name="T49" fmla="*/ 19 h 75"/>
                <a:gd name="T50" fmla="*/ 0 w 75"/>
                <a:gd name="T51" fmla="*/ 23 h 75"/>
                <a:gd name="T52" fmla="*/ 2 w 75"/>
                <a:gd name="T53" fmla="*/ 26 h 75"/>
                <a:gd name="T54" fmla="*/ 3 w 75"/>
                <a:gd name="T55" fmla="*/ 29 h 75"/>
                <a:gd name="T56" fmla="*/ 6 w 75"/>
                <a:gd name="T57" fmla="*/ 32 h 75"/>
                <a:gd name="T58" fmla="*/ 8 w 75"/>
                <a:gd name="T59" fmla="*/ 34 h 75"/>
                <a:gd name="T60" fmla="*/ 11 w 75"/>
                <a:gd name="T61" fmla="*/ 36 h 75"/>
                <a:gd name="T62" fmla="*/ 15 w 75"/>
                <a:gd name="T63" fmla="*/ 36 h 75"/>
                <a:gd name="T64" fmla="*/ 19 w 75"/>
                <a:gd name="T65" fmla="*/ 37 h 75"/>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75"/>
                <a:gd name="T100" fmla="*/ 0 h 75"/>
                <a:gd name="T101" fmla="*/ 75 w 75"/>
                <a:gd name="T102" fmla="*/ 75 h 75"/>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75" h="75">
                  <a:moveTo>
                    <a:pt x="38" y="75"/>
                  </a:moveTo>
                  <a:lnTo>
                    <a:pt x="46" y="73"/>
                  </a:lnTo>
                  <a:lnTo>
                    <a:pt x="53" y="72"/>
                  </a:lnTo>
                  <a:lnTo>
                    <a:pt x="59" y="69"/>
                  </a:lnTo>
                  <a:lnTo>
                    <a:pt x="65" y="64"/>
                  </a:lnTo>
                  <a:lnTo>
                    <a:pt x="69" y="58"/>
                  </a:lnTo>
                  <a:lnTo>
                    <a:pt x="73" y="53"/>
                  </a:lnTo>
                  <a:lnTo>
                    <a:pt x="74" y="46"/>
                  </a:lnTo>
                  <a:lnTo>
                    <a:pt x="75" y="38"/>
                  </a:lnTo>
                  <a:lnTo>
                    <a:pt x="74" y="30"/>
                  </a:lnTo>
                  <a:lnTo>
                    <a:pt x="73" y="23"/>
                  </a:lnTo>
                  <a:lnTo>
                    <a:pt x="69" y="17"/>
                  </a:lnTo>
                  <a:lnTo>
                    <a:pt x="65" y="11"/>
                  </a:lnTo>
                  <a:lnTo>
                    <a:pt x="59" y="7"/>
                  </a:lnTo>
                  <a:lnTo>
                    <a:pt x="53" y="3"/>
                  </a:lnTo>
                  <a:lnTo>
                    <a:pt x="46" y="1"/>
                  </a:lnTo>
                  <a:lnTo>
                    <a:pt x="38" y="0"/>
                  </a:lnTo>
                  <a:lnTo>
                    <a:pt x="30" y="1"/>
                  </a:lnTo>
                  <a:lnTo>
                    <a:pt x="23" y="3"/>
                  </a:lnTo>
                  <a:lnTo>
                    <a:pt x="17" y="7"/>
                  </a:lnTo>
                  <a:lnTo>
                    <a:pt x="12" y="11"/>
                  </a:lnTo>
                  <a:lnTo>
                    <a:pt x="7" y="17"/>
                  </a:lnTo>
                  <a:lnTo>
                    <a:pt x="4" y="23"/>
                  </a:lnTo>
                  <a:lnTo>
                    <a:pt x="1" y="30"/>
                  </a:lnTo>
                  <a:lnTo>
                    <a:pt x="0" y="38"/>
                  </a:lnTo>
                  <a:lnTo>
                    <a:pt x="1" y="46"/>
                  </a:lnTo>
                  <a:lnTo>
                    <a:pt x="4" y="53"/>
                  </a:lnTo>
                  <a:lnTo>
                    <a:pt x="7" y="58"/>
                  </a:lnTo>
                  <a:lnTo>
                    <a:pt x="12" y="64"/>
                  </a:lnTo>
                  <a:lnTo>
                    <a:pt x="17" y="69"/>
                  </a:lnTo>
                  <a:lnTo>
                    <a:pt x="23" y="72"/>
                  </a:lnTo>
                  <a:lnTo>
                    <a:pt x="30" y="73"/>
                  </a:lnTo>
                  <a:lnTo>
                    <a:pt x="38" y="75"/>
                  </a:lnTo>
                  <a:close/>
                </a:path>
              </a:pathLst>
            </a:custGeom>
            <a:solidFill>
              <a:srgbClr val="7FFFFF"/>
            </a:solidFill>
            <a:ln w="9525">
              <a:noFill/>
              <a:round/>
            </a:ln>
          </p:spPr>
          <p:txBody>
            <a:bodyPr/>
            <a:lstStyle/>
            <a:p>
              <a:endParaRPr lang="en-US"/>
            </a:p>
          </p:txBody>
        </p:sp>
        <p:sp>
          <p:nvSpPr>
            <p:cNvPr id="1048751" name="Freeform 41"/>
            <p:cNvSpPr/>
            <p:nvPr/>
          </p:nvSpPr>
          <p:spPr bwMode="auto">
            <a:xfrm>
              <a:off x="2563" y="3935"/>
              <a:ext cx="16" cy="16"/>
            </a:xfrm>
            <a:custGeom>
              <a:avLst/>
              <a:gdLst>
                <a:gd name="T0" fmla="*/ 8 w 32"/>
                <a:gd name="T1" fmla="*/ 16 h 32"/>
                <a:gd name="T2" fmla="*/ 11 w 32"/>
                <a:gd name="T3" fmla="*/ 15 h 32"/>
                <a:gd name="T4" fmla="*/ 14 w 32"/>
                <a:gd name="T5" fmla="*/ 13 h 32"/>
                <a:gd name="T6" fmla="*/ 15 w 32"/>
                <a:gd name="T7" fmla="*/ 11 h 32"/>
                <a:gd name="T8" fmla="*/ 16 w 32"/>
                <a:gd name="T9" fmla="*/ 8 h 32"/>
                <a:gd name="T10" fmla="*/ 15 w 32"/>
                <a:gd name="T11" fmla="*/ 4 h 32"/>
                <a:gd name="T12" fmla="*/ 14 w 32"/>
                <a:gd name="T13" fmla="*/ 2 h 32"/>
                <a:gd name="T14" fmla="*/ 11 w 32"/>
                <a:gd name="T15" fmla="*/ 1 h 32"/>
                <a:gd name="T16" fmla="*/ 8 w 32"/>
                <a:gd name="T17" fmla="*/ 0 h 32"/>
                <a:gd name="T18" fmla="*/ 4 w 32"/>
                <a:gd name="T19" fmla="*/ 1 h 32"/>
                <a:gd name="T20" fmla="*/ 2 w 32"/>
                <a:gd name="T21" fmla="*/ 2 h 32"/>
                <a:gd name="T22" fmla="*/ 1 w 32"/>
                <a:gd name="T23" fmla="*/ 4 h 32"/>
                <a:gd name="T24" fmla="*/ 0 w 32"/>
                <a:gd name="T25" fmla="*/ 8 h 32"/>
                <a:gd name="T26" fmla="*/ 1 w 32"/>
                <a:gd name="T27" fmla="*/ 11 h 32"/>
                <a:gd name="T28" fmla="*/ 2 w 32"/>
                <a:gd name="T29" fmla="*/ 13 h 32"/>
                <a:gd name="T30" fmla="*/ 4 w 32"/>
                <a:gd name="T31" fmla="*/ 15 h 32"/>
                <a:gd name="T32" fmla="*/ 8 w 32"/>
                <a:gd name="T33" fmla="*/ 16 h 32"/>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32"/>
                <a:gd name="T52" fmla="*/ 0 h 32"/>
                <a:gd name="T53" fmla="*/ 32 w 32"/>
                <a:gd name="T54" fmla="*/ 32 h 32"/>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32" h="32">
                  <a:moveTo>
                    <a:pt x="16" y="32"/>
                  </a:moveTo>
                  <a:lnTo>
                    <a:pt x="23" y="31"/>
                  </a:lnTo>
                  <a:lnTo>
                    <a:pt x="28" y="27"/>
                  </a:lnTo>
                  <a:lnTo>
                    <a:pt x="31" y="23"/>
                  </a:lnTo>
                  <a:lnTo>
                    <a:pt x="32" y="16"/>
                  </a:lnTo>
                  <a:lnTo>
                    <a:pt x="31" y="9"/>
                  </a:lnTo>
                  <a:lnTo>
                    <a:pt x="28" y="4"/>
                  </a:lnTo>
                  <a:lnTo>
                    <a:pt x="23" y="1"/>
                  </a:lnTo>
                  <a:lnTo>
                    <a:pt x="16" y="0"/>
                  </a:lnTo>
                  <a:lnTo>
                    <a:pt x="9" y="1"/>
                  </a:lnTo>
                  <a:lnTo>
                    <a:pt x="5" y="4"/>
                  </a:lnTo>
                  <a:lnTo>
                    <a:pt x="1" y="9"/>
                  </a:lnTo>
                  <a:lnTo>
                    <a:pt x="0" y="16"/>
                  </a:lnTo>
                  <a:lnTo>
                    <a:pt x="1" y="23"/>
                  </a:lnTo>
                  <a:lnTo>
                    <a:pt x="5" y="27"/>
                  </a:lnTo>
                  <a:lnTo>
                    <a:pt x="9" y="31"/>
                  </a:lnTo>
                  <a:lnTo>
                    <a:pt x="16" y="32"/>
                  </a:lnTo>
                  <a:close/>
                </a:path>
              </a:pathLst>
            </a:custGeom>
            <a:solidFill>
              <a:srgbClr val="000000"/>
            </a:solidFill>
            <a:ln w="9525">
              <a:noFill/>
              <a:round/>
            </a:ln>
          </p:spPr>
          <p:txBody>
            <a:bodyPr/>
            <a:lstStyle/>
            <a:p>
              <a:endParaRPr lang="en-US"/>
            </a:p>
          </p:txBody>
        </p:sp>
        <p:sp>
          <p:nvSpPr>
            <p:cNvPr id="1048752" name="Freeform 42"/>
            <p:cNvSpPr/>
            <p:nvPr/>
          </p:nvSpPr>
          <p:spPr bwMode="auto">
            <a:xfrm>
              <a:off x="2616" y="3843"/>
              <a:ext cx="24" cy="39"/>
            </a:xfrm>
            <a:custGeom>
              <a:avLst/>
              <a:gdLst>
                <a:gd name="T0" fmla="*/ 12 w 47"/>
                <a:gd name="T1" fmla="*/ 39 h 78"/>
                <a:gd name="T2" fmla="*/ 17 w 47"/>
                <a:gd name="T3" fmla="*/ 37 h 78"/>
                <a:gd name="T4" fmla="*/ 21 w 47"/>
                <a:gd name="T5" fmla="*/ 33 h 78"/>
                <a:gd name="T6" fmla="*/ 23 w 47"/>
                <a:gd name="T7" fmla="*/ 26 h 78"/>
                <a:gd name="T8" fmla="*/ 24 w 47"/>
                <a:gd name="T9" fmla="*/ 19 h 78"/>
                <a:gd name="T10" fmla="*/ 23 w 47"/>
                <a:gd name="T11" fmla="*/ 11 h 78"/>
                <a:gd name="T12" fmla="*/ 21 w 47"/>
                <a:gd name="T13" fmla="*/ 6 h 78"/>
                <a:gd name="T14" fmla="*/ 17 w 47"/>
                <a:gd name="T15" fmla="*/ 2 h 78"/>
                <a:gd name="T16" fmla="*/ 12 w 47"/>
                <a:gd name="T17" fmla="*/ 0 h 78"/>
                <a:gd name="T18" fmla="*/ 8 w 47"/>
                <a:gd name="T19" fmla="*/ 2 h 78"/>
                <a:gd name="T20" fmla="*/ 4 w 47"/>
                <a:gd name="T21" fmla="*/ 6 h 78"/>
                <a:gd name="T22" fmla="*/ 2 w 47"/>
                <a:gd name="T23" fmla="*/ 11 h 78"/>
                <a:gd name="T24" fmla="*/ 0 w 47"/>
                <a:gd name="T25" fmla="*/ 19 h 78"/>
                <a:gd name="T26" fmla="*/ 2 w 47"/>
                <a:gd name="T27" fmla="*/ 26 h 78"/>
                <a:gd name="T28" fmla="*/ 4 w 47"/>
                <a:gd name="T29" fmla="*/ 33 h 78"/>
                <a:gd name="T30" fmla="*/ 8 w 47"/>
                <a:gd name="T31" fmla="*/ 37 h 78"/>
                <a:gd name="T32" fmla="*/ 12 w 47"/>
                <a:gd name="T33" fmla="*/ 39 h 78"/>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47"/>
                <a:gd name="T52" fmla="*/ 0 h 78"/>
                <a:gd name="T53" fmla="*/ 47 w 47"/>
                <a:gd name="T54" fmla="*/ 78 h 78"/>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47" h="78">
                  <a:moveTo>
                    <a:pt x="24" y="78"/>
                  </a:moveTo>
                  <a:lnTo>
                    <a:pt x="34" y="74"/>
                  </a:lnTo>
                  <a:lnTo>
                    <a:pt x="41" y="66"/>
                  </a:lnTo>
                  <a:lnTo>
                    <a:pt x="45" y="53"/>
                  </a:lnTo>
                  <a:lnTo>
                    <a:pt x="47" y="38"/>
                  </a:lnTo>
                  <a:lnTo>
                    <a:pt x="45" y="23"/>
                  </a:lnTo>
                  <a:lnTo>
                    <a:pt x="41" y="12"/>
                  </a:lnTo>
                  <a:lnTo>
                    <a:pt x="34" y="4"/>
                  </a:lnTo>
                  <a:lnTo>
                    <a:pt x="24" y="0"/>
                  </a:lnTo>
                  <a:lnTo>
                    <a:pt x="15" y="4"/>
                  </a:lnTo>
                  <a:lnTo>
                    <a:pt x="7" y="12"/>
                  </a:lnTo>
                  <a:lnTo>
                    <a:pt x="3" y="23"/>
                  </a:lnTo>
                  <a:lnTo>
                    <a:pt x="0" y="38"/>
                  </a:lnTo>
                  <a:lnTo>
                    <a:pt x="3" y="53"/>
                  </a:lnTo>
                  <a:lnTo>
                    <a:pt x="7" y="66"/>
                  </a:lnTo>
                  <a:lnTo>
                    <a:pt x="15" y="74"/>
                  </a:lnTo>
                  <a:lnTo>
                    <a:pt x="24" y="78"/>
                  </a:lnTo>
                  <a:close/>
                </a:path>
              </a:pathLst>
            </a:custGeom>
            <a:solidFill>
              <a:srgbClr val="000000"/>
            </a:solidFill>
            <a:ln w="9525">
              <a:noFill/>
              <a:round/>
            </a:ln>
          </p:spPr>
          <p:txBody>
            <a:bodyPr/>
            <a:lstStyle/>
            <a:p>
              <a:endParaRPr lang="en-US"/>
            </a:p>
          </p:txBody>
        </p:sp>
        <p:sp>
          <p:nvSpPr>
            <p:cNvPr id="1048753" name="Freeform 43"/>
            <p:cNvSpPr/>
            <p:nvPr/>
          </p:nvSpPr>
          <p:spPr bwMode="auto">
            <a:xfrm>
              <a:off x="2625" y="3852"/>
              <a:ext cx="10" cy="21"/>
            </a:xfrm>
            <a:custGeom>
              <a:avLst/>
              <a:gdLst>
                <a:gd name="T0" fmla="*/ 5 w 18"/>
                <a:gd name="T1" fmla="*/ 21 h 40"/>
                <a:gd name="T2" fmla="*/ 7 w 18"/>
                <a:gd name="T3" fmla="*/ 20 h 40"/>
                <a:gd name="T4" fmla="*/ 9 w 18"/>
                <a:gd name="T5" fmla="*/ 18 h 40"/>
                <a:gd name="T6" fmla="*/ 9 w 18"/>
                <a:gd name="T7" fmla="*/ 14 h 40"/>
                <a:gd name="T8" fmla="*/ 10 w 18"/>
                <a:gd name="T9" fmla="*/ 10 h 40"/>
                <a:gd name="T10" fmla="*/ 9 w 18"/>
                <a:gd name="T11" fmla="*/ 6 h 40"/>
                <a:gd name="T12" fmla="*/ 9 w 18"/>
                <a:gd name="T13" fmla="*/ 3 h 40"/>
                <a:gd name="T14" fmla="*/ 7 w 18"/>
                <a:gd name="T15" fmla="*/ 1 h 40"/>
                <a:gd name="T16" fmla="*/ 5 w 18"/>
                <a:gd name="T17" fmla="*/ 0 h 40"/>
                <a:gd name="T18" fmla="*/ 3 w 18"/>
                <a:gd name="T19" fmla="*/ 1 h 40"/>
                <a:gd name="T20" fmla="*/ 2 w 18"/>
                <a:gd name="T21" fmla="*/ 3 h 40"/>
                <a:gd name="T22" fmla="*/ 1 w 18"/>
                <a:gd name="T23" fmla="*/ 6 h 40"/>
                <a:gd name="T24" fmla="*/ 0 w 18"/>
                <a:gd name="T25" fmla="*/ 10 h 40"/>
                <a:gd name="T26" fmla="*/ 1 w 18"/>
                <a:gd name="T27" fmla="*/ 14 h 40"/>
                <a:gd name="T28" fmla="*/ 2 w 18"/>
                <a:gd name="T29" fmla="*/ 18 h 40"/>
                <a:gd name="T30" fmla="*/ 3 w 18"/>
                <a:gd name="T31" fmla="*/ 20 h 40"/>
                <a:gd name="T32" fmla="*/ 5 w 18"/>
                <a:gd name="T33" fmla="*/ 21 h 40"/>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8"/>
                <a:gd name="T52" fmla="*/ 0 h 40"/>
                <a:gd name="T53" fmla="*/ 18 w 18"/>
                <a:gd name="T54" fmla="*/ 40 h 40"/>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8" h="40">
                  <a:moveTo>
                    <a:pt x="9" y="40"/>
                  </a:moveTo>
                  <a:lnTo>
                    <a:pt x="12" y="39"/>
                  </a:lnTo>
                  <a:lnTo>
                    <a:pt x="16" y="34"/>
                  </a:lnTo>
                  <a:lnTo>
                    <a:pt x="17" y="27"/>
                  </a:lnTo>
                  <a:lnTo>
                    <a:pt x="18" y="19"/>
                  </a:lnTo>
                  <a:lnTo>
                    <a:pt x="17" y="12"/>
                  </a:lnTo>
                  <a:lnTo>
                    <a:pt x="16" y="6"/>
                  </a:lnTo>
                  <a:lnTo>
                    <a:pt x="12" y="1"/>
                  </a:lnTo>
                  <a:lnTo>
                    <a:pt x="9" y="0"/>
                  </a:lnTo>
                  <a:lnTo>
                    <a:pt x="5" y="1"/>
                  </a:lnTo>
                  <a:lnTo>
                    <a:pt x="3" y="6"/>
                  </a:lnTo>
                  <a:lnTo>
                    <a:pt x="1" y="12"/>
                  </a:lnTo>
                  <a:lnTo>
                    <a:pt x="0" y="19"/>
                  </a:lnTo>
                  <a:lnTo>
                    <a:pt x="1" y="27"/>
                  </a:lnTo>
                  <a:lnTo>
                    <a:pt x="3" y="34"/>
                  </a:lnTo>
                  <a:lnTo>
                    <a:pt x="5" y="39"/>
                  </a:lnTo>
                  <a:lnTo>
                    <a:pt x="9" y="40"/>
                  </a:lnTo>
                  <a:close/>
                </a:path>
              </a:pathLst>
            </a:custGeom>
            <a:solidFill>
              <a:srgbClr val="FFF477"/>
            </a:solidFill>
            <a:ln w="9525">
              <a:noFill/>
              <a:round/>
            </a:ln>
          </p:spPr>
          <p:txBody>
            <a:bodyPr/>
            <a:lstStyle/>
            <a:p>
              <a:endParaRPr lang="en-US"/>
            </a:p>
          </p:txBody>
        </p:sp>
        <p:sp>
          <p:nvSpPr>
            <p:cNvPr id="1048754" name="Freeform 44"/>
            <p:cNvSpPr/>
            <p:nvPr/>
          </p:nvSpPr>
          <p:spPr bwMode="auto">
            <a:xfrm>
              <a:off x="2520" y="3880"/>
              <a:ext cx="63" cy="39"/>
            </a:xfrm>
            <a:custGeom>
              <a:avLst/>
              <a:gdLst>
                <a:gd name="T0" fmla="*/ 63 w 124"/>
                <a:gd name="T1" fmla="*/ 7 h 77"/>
                <a:gd name="T2" fmla="*/ 61 w 124"/>
                <a:gd name="T3" fmla="*/ 7 h 77"/>
                <a:gd name="T4" fmla="*/ 55 w 124"/>
                <a:gd name="T5" fmla="*/ 6 h 77"/>
                <a:gd name="T6" fmla="*/ 48 w 124"/>
                <a:gd name="T7" fmla="*/ 6 h 77"/>
                <a:gd name="T8" fmla="*/ 38 w 124"/>
                <a:gd name="T9" fmla="*/ 7 h 77"/>
                <a:gd name="T10" fmla="*/ 27 w 124"/>
                <a:gd name="T11" fmla="*/ 11 h 77"/>
                <a:gd name="T12" fmla="*/ 18 w 124"/>
                <a:gd name="T13" fmla="*/ 16 h 77"/>
                <a:gd name="T14" fmla="*/ 8 w 124"/>
                <a:gd name="T15" fmla="*/ 26 h 77"/>
                <a:gd name="T16" fmla="*/ 0 w 124"/>
                <a:gd name="T17" fmla="*/ 39 h 77"/>
                <a:gd name="T18" fmla="*/ 0 w 124"/>
                <a:gd name="T19" fmla="*/ 37 h 77"/>
                <a:gd name="T20" fmla="*/ 2 w 124"/>
                <a:gd name="T21" fmla="*/ 30 h 77"/>
                <a:gd name="T22" fmla="*/ 4 w 124"/>
                <a:gd name="T23" fmla="*/ 22 h 77"/>
                <a:gd name="T24" fmla="*/ 9 w 124"/>
                <a:gd name="T25" fmla="*/ 12 h 77"/>
                <a:gd name="T26" fmla="*/ 17 w 124"/>
                <a:gd name="T27" fmla="*/ 5 h 77"/>
                <a:gd name="T28" fmla="*/ 28 w 124"/>
                <a:gd name="T29" fmla="*/ 0 h 77"/>
                <a:gd name="T30" fmla="*/ 43 w 124"/>
                <a:gd name="T31" fmla="*/ 1 h 77"/>
                <a:gd name="T32" fmla="*/ 63 w 124"/>
                <a:gd name="T33" fmla="*/ 7 h 7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24"/>
                <a:gd name="T52" fmla="*/ 0 h 77"/>
                <a:gd name="T53" fmla="*/ 124 w 124"/>
                <a:gd name="T54" fmla="*/ 77 h 77"/>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24" h="77">
                  <a:moveTo>
                    <a:pt x="124" y="14"/>
                  </a:moveTo>
                  <a:lnTo>
                    <a:pt x="121" y="13"/>
                  </a:lnTo>
                  <a:lnTo>
                    <a:pt x="109" y="12"/>
                  </a:lnTo>
                  <a:lnTo>
                    <a:pt x="94" y="12"/>
                  </a:lnTo>
                  <a:lnTo>
                    <a:pt x="75" y="14"/>
                  </a:lnTo>
                  <a:lnTo>
                    <a:pt x="54" y="21"/>
                  </a:lnTo>
                  <a:lnTo>
                    <a:pt x="35" y="32"/>
                  </a:lnTo>
                  <a:lnTo>
                    <a:pt x="15" y="51"/>
                  </a:lnTo>
                  <a:lnTo>
                    <a:pt x="0" y="77"/>
                  </a:lnTo>
                  <a:lnTo>
                    <a:pt x="0" y="73"/>
                  </a:lnTo>
                  <a:lnTo>
                    <a:pt x="3" y="60"/>
                  </a:lnTo>
                  <a:lnTo>
                    <a:pt x="8" y="43"/>
                  </a:lnTo>
                  <a:lnTo>
                    <a:pt x="18" y="24"/>
                  </a:lnTo>
                  <a:lnTo>
                    <a:pt x="33" y="9"/>
                  </a:lnTo>
                  <a:lnTo>
                    <a:pt x="55" y="0"/>
                  </a:lnTo>
                  <a:lnTo>
                    <a:pt x="85" y="1"/>
                  </a:lnTo>
                  <a:lnTo>
                    <a:pt x="124" y="14"/>
                  </a:lnTo>
                  <a:close/>
                </a:path>
              </a:pathLst>
            </a:custGeom>
            <a:solidFill>
              <a:srgbClr val="FFE29B"/>
            </a:solidFill>
            <a:ln w="9525">
              <a:noFill/>
              <a:round/>
            </a:ln>
          </p:spPr>
          <p:txBody>
            <a:bodyPr/>
            <a:lstStyle/>
            <a:p>
              <a:endParaRPr lang="en-US"/>
            </a:p>
          </p:txBody>
        </p:sp>
        <p:sp>
          <p:nvSpPr>
            <p:cNvPr id="1048755" name="Freeform 45"/>
            <p:cNvSpPr/>
            <p:nvPr/>
          </p:nvSpPr>
          <p:spPr bwMode="auto">
            <a:xfrm>
              <a:off x="2198" y="3880"/>
              <a:ext cx="59" cy="32"/>
            </a:xfrm>
            <a:custGeom>
              <a:avLst/>
              <a:gdLst>
                <a:gd name="T0" fmla="*/ 59 w 117"/>
                <a:gd name="T1" fmla="*/ 7 h 65"/>
                <a:gd name="T2" fmla="*/ 57 w 117"/>
                <a:gd name="T3" fmla="*/ 6 h 65"/>
                <a:gd name="T4" fmla="*/ 52 w 117"/>
                <a:gd name="T5" fmla="*/ 6 h 65"/>
                <a:gd name="T6" fmla="*/ 45 w 117"/>
                <a:gd name="T7" fmla="*/ 6 h 65"/>
                <a:gd name="T8" fmla="*/ 36 w 117"/>
                <a:gd name="T9" fmla="*/ 6 h 65"/>
                <a:gd name="T10" fmla="*/ 27 w 117"/>
                <a:gd name="T11" fmla="*/ 8 h 65"/>
                <a:gd name="T12" fmla="*/ 17 w 117"/>
                <a:gd name="T13" fmla="*/ 13 h 65"/>
                <a:gd name="T14" fmla="*/ 8 w 117"/>
                <a:gd name="T15" fmla="*/ 21 h 65"/>
                <a:gd name="T16" fmla="*/ 0 w 117"/>
                <a:gd name="T17" fmla="*/ 32 h 65"/>
                <a:gd name="T18" fmla="*/ 1 w 117"/>
                <a:gd name="T19" fmla="*/ 30 h 65"/>
                <a:gd name="T20" fmla="*/ 2 w 117"/>
                <a:gd name="T21" fmla="*/ 25 h 65"/>
                <a:gd name="T22" fmla="*/ 5 w 117"/>
                <a:gd name="T23" fmla="*/ 17 h 65"/>
                <a:gd name="T24" fmla="*/ 10 w 117"/>
                <a:gd name="T25" fmla="*/ 10 h 65"/>
                <a:gd name="T26" fmla="*/ 17 w 117"/>
                <a:gd name="T27" fmla="*/ 3 h 65"/>
                <a:gd name="T28" fmla="*/ 28 w 117"/>
                <a:gd name="T29" fmla="*/ 0 h 65"/>
                <a:gd name="T30" fmla="*/ 41 w 117"/>
                <a:gd name="T31" fmla="*/ 0 h 65"/>
                <a:gd name="T32" fmla="*/ 59 w 117"/>
                <a:gd name="T33" fmla="*/ 7 h 65"/>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17"/>
                <a:gd name="T52" fmla="*/ 0 h 65"/>
                <a:gd name="T53" fmla="*/ 117 w 117"/>
                <a:gd name="T54" fmla="*/ 65 h 65"/>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17" h="65">
                  <a:moveTo>
                    <a:pt x="117" y="14"/>
                  </a:moveTo>
                  <a:lnTo>
                    <a:pt x="114" y="13"/>
                  </a:lnTo>
                  <a:lnTo>
                    <a:pt x="104" y="12"/>
                  </a:lnTo>
                  <a:lnTo>
                    <a:pt x="90" y="12"/>
                  </a:lnTo>
                  <a:lnTo>
                    <a:pt x="72" y="13"/>
                  </a:lnTo>
                  <a:lnTo>
                    <a:pt x="53" y="17"/>
                  </a:lnTo>
                  <a:lnTo>
                    <a:pt x="33" y="27"/>
                  </a:lnTo>
                  <a:lnTo>
                    <a:pt x="15" y="42"/>
                  </a:lnTo>
                  <a:lnTo>
                    <a:pt x="0" y="65"/>
                  </a:lnTo>
                  <a:lnTo>
                    <a:pt x="1" y="60"/>
                  </a:lnTo>
                  <a:lnTo>
                    <a:pt x="3" y="50"/>
                  </a:lnTo>
                  <a:lnTo>
                    <a:pt x="9" y="35"/>
                  </a:lnTo>
                  <a:lnTo>
                    <a:pt x="19" y="20"/>
                  </a:lnTo>
                  <a:lnTo>
                    <a:pt x="34" y="7"/>
                  </a:lnTo>
                  <a:lnTo>
                    <a:pt x="55" y="0"/>
                  </a:lnTo>
                  <a:lnTo>
                    <a:pt x="82" y="1"/>
                  </a:lnTo>
                  <a:lnTo>
                    <a:pt x="117" y="14"/>
                  </a:lnTo>
                  <a:close/>
                </a:path>
              </a:pathLst>
            </a:custGeom>
            <a:solidFill>
              <a:srgbClr val="FFE29B"/>
            </a:solidFill>
            <a:ln w="9525">
              <a:noFill/>
              <a:round/>
            </a:ln>
          </p:spPr>
          <p:txBody>
            <a:bodyPr/>
            <a:lstStyle/>
            <a:p>
              <a:endParaRPr lang="en-US"/>
            </a:p>
          </p:txBody>
        </p:sp>
        <p:sp>
          <p:nvSpPr>
            <p:cNvPr id="1048756" name="Freeform 46"/>
            <p:cNvSpPr/>
            <p:nvPr/>
          </p:nvSpPr>
          <p:spPr bwMode="auto">
            <a:xfrm>
              <a:off x="2520" y="3735"/>
              <a:ext cx="40" cy="72"/>
            </a:xfrm>
            <a:custGeom>
              <a:avLst/>
              <a:gdLst>
                <a:gd name="T0" fmla="*/ 8 w 79"/>
                <a:gd name="T1" fmla="*/ 6 h 145"/>
                <a:gd name="T2" fmla="*/ 7 w 79"/>
                <a:gd name="T3" fmla="*/ 4 h 145"/>
                <a:gd name="T4" fmla="*/ 6 w 79"/>
                <a:gd name="T5" fmla="*/ 2 h 145"/>
                <a:gd name="T6" fmla="*/ 5 w 79"/>
                <a:gd name="T7" fmla="*/ 1 h 145"/>
                <a:gd name="T8" fmla="*/ 4 w 79"/>
                <a:gd name="T9" fmla="*/ 0 h 145"/>
                <a:gd name="T10" fmla="*/ 2 w 79"/>
                <a:gd name="T11" fmla="*/ 2 h 145"/>
                <a:gd name="T12" fmla="*/ 1 w 79"/>
                <a:gd name="T13" fmla="*/ 5 h 145"/>
                <a:gd name="T14" fmla="*/ 0 w 79"/>
                <a:gd name="T15" fmla="*/ 11 h 145"/>
                <a:gd name="T16" fmla="*/ 1 w 79"/>
                <a:gd name="T17" fmla="*/ 17 h 145"/>
                <a:gd name="T18" fmla="*/ 2 w 79"/>
                <a:gd name="T19" fmla="*/ 23 h 145"/>
                <a:gd name="T20" fmla="*/ 4 w 79"/>
                <a:gd name="T21" fmla="*/ 31 h 145"/>
                <a:gd name="T22" fmla="*/ 7 w 79"/>
                <a:gd name="T23" fmla="*/ 39 h 145"/>
                <a:gd name="T24" fmla="*/ 11 w 79"/>
                <a:gd name="T25" fmla="*/ 47 h 145"/>
                <a:gd name="T26" fmla="*/ 15 w 79"/>
                <a:gd name="T27" fmla="*/ 55 h 145"/>
                <a:gd name="T28" fmla="*/ 20 w 79"/>
                <a:gd name="T29" fmla="*/ 62 h 145"/>
                <a:gd name="T30" fmla="*/ 27 w 79"/>
                <a:gd name="T31" fmla="*/ 68 h 145"/>
                <a:gd name="T32" fmla="*/ 34 w 79"/>
                <a:gd name="T33" fmla="*/ 71 h 145"/>
                <a:gd name="T34" fmla="*/ 36 w 79"/>
                <a:gd name="T35" fmla="*/ 72 h 145"/>
                <a:gd name="T36" fmla="*/ 37 w 79"/>
                <a:gd name="T37" fmla="*/ 72 h 145"/>
                <a:gd name="T38" fmla="*/ 39 w 79"/>
                <a:gd name="T39" fmla="*/ 72 h 145"/>
                <a:gd name="T40" fmla="*/ 40 w 79"/>
                <a:gd name="T41" fmla="*/ 72 h 145"/>
                <a:gd name="T42" fmla="*/ 32 w 79"/>
                <a:gd name="T43" fmla="*/ 65 h 145"/>
                <a:gd name="T44" fmla="*/ 27 w 79"/>
                <a:gd name="T45" fmla="*/ 57 h 145"/>
                <a:gd name="T46" fmla="*/ 22 w 79"/>
                <a:gd name="T47" fmla="*/ 48 h 145"/>
                <a:gd name="T48" fmla="*/ 18 w 79"/>
                <a:gd name="T49" fmla="*/ 39 h 145"/>
                <a:gd name="T50" fmla="*/ 14 w 79"/>
                <a:gd name="T51" fmla="*/ 30 h 145"/>
                <a:gd name="T52" fmla="*/ 12 w 79"/>
                <a:gd name="T53" fmla="*/ 21 h 145"/>
                <a:gd name="T54" fmla="*/ 9 w 79"/>
                <a:gd name="T55" fmla="*/ 13 h 145"/>
                <a:gd name="T56" fmla="*/ 8 w 79"/>
                <a:gd name="T57" fmla="*/ 6 h 145"/>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79"/>
                <a:gd name="T88" fmla="*/ 0 h 145"/>
                <a:gd name="T89" fmla="*/ 79 w 79"/>
                <a:gd name="T90" fmla="*/ 145 h 145"/>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79" h="145">
                  <a:moveTo>
                    <a:pt x="16" y="12"/>
                  </a:moveTo>
                  <a:lnTo>
                    <a:pt x="14" y="9"/>
                  </a:lnTo>
                  <a:lnTo>
                    <a:pt x="11" y="5"/>
                  </a:lnTo>
                  <a:lnTo>
                    <a:pt x="9" y="2"/>
                  </a:lnTo>
                  <a:lnTo>
                    <a:pt x="7" y="0"/>
                  </a:lnTo>
                  <a:lnTo>
                    <a:pt x="3" y="5"/>
                  </a:lnTo>
                  <a:lnTo>
                    <a:pt x="1" y="11"/>
                  </a:lnTo>
                  <a:lnTo>
                    <a:pt x="0" y="22"/>
                  </a:lnTo>
                  <a:lnTo>
                    <a:pt x="1" y="35"/>
                  </a:lnTo>
                  <a:lnTo>
                    <a:pt x="3" y="47"/>
                  </a:lnTo>
                  <a:lnTo>
                    <a:pt x="8" y="62"/>
                  </a:lnTo>
                  <a:lnTo>
                    <a:pt x="13" y="78"/>
                  </a:lnTo>
                  <a:lnTo>
                    <a:pt x="21" y="94"/>
                  </a:lnTo>
                  <a:lnTo>
                    <a:pt x="29" y="110"/>
                  </a:lnTo>
                  <a:lnTo>
                    <a:pt x="40" y="125"/>
                  </a:lnTo>
                  <a:lnTo>
                    <a:pt x="53" y="136"/>
                  </a:lnTo>
                  <a:lnTo>
                    <a:pt x="68" y="143"/>
                  </a:lnTo>
                  <a:lnTo>
                    <a:pt x="71" y="144"/>
                  </a:lnTo>
                  <a:lnTo>
                    <a:pt x="74" y="144"/>
                  </a:lnTo>
                  <a:lnTo>
                    <a:pt x="77" y="145"/>
                  </a:lnTo>
                  <a:lnTo>
                    <a:pt x="79" y="145"/>
                  </a:lnTo>
                  <a:lnTo>
                    <a:pt x="64" y="130"/>
                  </a:lnTo>
                  <a:lnTo>
                    <a:pt x="53" y="114"/>
                  </a:lnTo>
                  <a:lnTo>
                    <a:pt x="43" y="96"/>
                  </a:lnTo>
                  <a:lnTo>
                    <a:pt x="35" y="78"/>
                  </a:lnTo>
                  <a:lnTo>
                    <a:pt x="28" y="60"/>
                  </a:lnTo>
                  <a:lnTo>
                    <a:pt x="23" y="42"/>
                  </a:lnTo>
                  <a:lnTo>
                    <a:pt x="18" y="26"/>
                  </a:lnTo>
                  <a:lnTo>
                    <a:pt x="16" y="12"/>
                  </a:lnTo>
                  <a:close/>
                </a:path>
              </a:pathLst>
            </a:custGeom>
            <a:solidFill>
              <a:srgbClr val="3FFFFF"/>
            </a:solidFill>
            <a:ln w="9525">
              <a:noFill/>
              <a:round/>
            </a:ln>
          </p:spPr>
          <p:txBody>
            <a:bodyPr/>
            <a:lstStyle/>
            <a:p>
              <a:endParaRPr lang="en-US"/>
            </a:p>
          </p:txBody>
        </p:sp>
        <p:sp>
          <p:nvSpPr>
            <p:cNvPr id="1048757" name="Freeform 47"/>
            <p:cNvSpPr/>
            <p:nvPr/>
          </p:nvSpPr>
          <p:spPr bwMode="auto">
            <a:xfrm>
              <a:off x="2529" y="3741"/>
              <a:ext cx="40" cy="66"/>
            </a:xfrm>
            <a:custGeom>
              <a:avLst/>
              <a:gdLst>
                <a:gd name="T0" fmla="*/ 40 w 82"/>
                <a:gd name="T1" fmla="*/ 64 h 133"/>
                <a:gd name="T2" fmla="*/ 40 w 82"/>
                <a:gd name="T3" fmla="*/ 64 h 133"/>
                <a:gd name="T4" fmla="*/ 40 w 82"/>
                <a:gd name="T5" fmla="*/ 64 h 133"/>
                <a:gd name="T6" fmla="*/ 39 w 82"/>
                <a:gd name="T7" fmla="*/ 64 h 133"/>
                <a:gd name="T8" fmla="*/ 38 w 82"/>
                <a:gd name="T9" fmla="*/ 63 h 133"/>
                <a:gd name="T10" fmla="*/ 37 w 82"/>
                <a:gd name="T11" fmla="*/ 62 h 133"/>
                <a:gd name="T12" fmla="*/ 34 w 82"/>
                <a:gd name="T13" fmla="*/ 56 h 133"/>
                <a:gd name="T14" fmla="*/ 30 w 82"/>
                <a:gd name="T15" fmla="*/ 49 h 133"/>
                <a:gd name="T16" fmla="*/ 25 w 82"/>
                <a:gd name="T17" fmla="*/ 39 h 133"/>
                <a:gd name="T18" fmla="*/ 19 w 82"/>
                <a:gd name="T19" fmla="*/ 29 h 133"/>
                <a:gd name="T20" fmla="*/ 12 w 82"/>
                <a:gd name="T21" fmla="*/ 18 h 133"/>
                <a:gd name="T22" fmla="*/ 6 w 82"/>
                <a:gd name="T23" fmla="*/ 9 h 133"/>
                <a:gd name="T24" fmla="*/ 0 w 82"/>
                <a:gd name="T25" fmla="*/ 0 h 133"/>
                <a:gd name="T26" fmla="*/ 1 w 82"/>
                <a:gd name="T27" fmla="*/ 7 h 133"/>
                <a:gd name="T28" fmla="*/ 3 w 82"/>
                <a:gd name="T29" fmla="*/ 15 h 133"/>
                <a:gd name="T30" fmla="*/ 6 w 82"/>
                <a:gd name="T31" fmla="*/ 24 h 133"/>
                <a:gd name="T32" fmla="*/ 9 w 82"/>
                <a:gd name="T33" fmla="*/ 33 h 133"/>
                <a:gd name="T34" fmla="*/ 13 w 82"/>
                <a:gd name="T35" fmla="*/ 42 h 133"/>
                <a:gd name="T36" fmla="*/ 18 w 82"/>
                <a:gd name="T37" fmla="*/ 51 h 133"/>
                <a:gd name="T38" fmla="*/ 23 w 82"/>
                <a:gd name="T39" fmla="*/ 59 h 133"/>
                <a:gd name="T40" fmla="*/ 31 w 82"/>
                <a:gd name="T41" fmla="*/ 66 h 133"/>
                <a:gd name="T42" fmla="*/ 34 w 82"/>
                <a:gd name="T43" fmla="*/ 66 h 133"/>
                <a:gd name="T44" fmla="*/ 37 w 82"/>
                <a:gd name="T45" fmla="*/ 66 h 133"/>
                <a:gd name="T46" fmla="*/ 38 w 82"/>
                <a:gd name="T47" fmla="*/ 65 h 133"/>
                <a:gd name="T48" fmla="*/ 40 w 82"/>
                <a:gd name="T49" fmla="*/ 64 h 133"/>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82"/>
                <a:gd name="T76" fmla="*/ 0 h 133"/>
                <a:gd name="T77" fmla="*/ 82 w 82"/>
                <a:gd name="T78" fmla="*/ 133 h 133"/>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82" h="133">
                  <a:moveTo>
                    <a:pt x="82" y="129"/>
                  </a:moveTo>
                  <a:lnTo>
                    <a:pt x="81" y="128"/>
                  </a:lnTo>
                  <a:lnTo>
                    <a:pt x="80" y="128"/>
                  </a:lnTo>
                  <a:lnTo>
                    <a:pt x="78" y="127"/>
                  </a:lnTo>
                  <a:lnTo>
                    <a:pt x="76" y="124"/>
                  </a:lnTo>
                  <a:lnTo>
                    <a:pt x="70" y="113"/>
                  </a:lnTo>
                  <a:lnTo>
                    <a:pt x="61" y="98"/>
                  </a:lnTo>
                  <a:lnTo>
                    <a:pt x="51" y="79"/>
                  </a:lnTo>
                  <a:lnTo>
                    <a:pt x="38" y="59"/>
                  </a:lnTo>
                  <a:lnTo>
                    <a:pt x="25" y="37"/>
                  </a:lnTo>
                  <a:lnTo>
                    <a:pt x="12" y="18"/>
                  </a:lnTo>
                  <a:lnTo>
                    <a:pt x="0" y="0"/>
                  </a:lnTo>
                  <a:lnTo>
                    <a:pt x="2" y="14"/>
                  </a:lnTo>
                  <a:lnTo>
                    <a:pt x="7" y="30"/>
                  </a:lnTo>
                  <a:lnTo>
                    <a:pt x="12" y="48"/>
                  </a:lnTo>
                  <a:lnTo>
                    <a:pt x="19" y="66"/>
                  </a:lnTo>
                  <a:lnTo>
                    <a:pt x="27" y="84"/>
                  </a:lnTo>
                  <a:lnTo>
                    <a:pt x="37" y="102"/>
                  </a:lnTo>
                  <a:lnTo>
                    <a:pt x="48" y="118"/>
                  </a:lnTo>
                  <a:lnTo>
                    <a:pt x="63" y="133"/>
                  </a:lnTo>
                  <a:lnTo>
                    <a:pt x="69" y="133"/>
                  </a:lnTo>
                  <a:lnTo>
                    <a:pt x="75" y="133"/>
                  </a:lnTo>
                  <a:lnTo>
                    <a:pt x="78" y="131"/>
                  </a:lnTo>
                  <a:lnTo>
                    <a:pt x="82" y="129"/>
                  </a:lnTo>
                  <a:close/>
                </a:path>
              </a:pathLst>
            </a:custGeom>
            <a:solidFill>
              <a:srgbClr val="BFFFFF"/>
            </a:solidFill>
            <a:ln w="9525">
              <a:noFill/>
              <a:round/>
            </a:ln>
          </p:spPr>
          <p:txBody>
            <a:bodyPr/>
            <a:lstStyle/>
            <a:p>
              <a:endParaRPr lang="en-US"/>
            </a:p>
          </p:txBody>
        </p:sp>
        <p:sp>
          <p:nvSpPr>
            <p:cNvPr id="1048758" name="Freeform 48"/>
            <p:cNvSpPr/>
            <p:nvPr/>
          </p:nvSpPr>
          <p:spPr bwMode="auto">
            <a:xfrm>
              <a:off x="2534" y="3764"/>
              <a:ext cx="8" cy="9"/>
            </a:xfrm>
            <a:custGeom>
              <a:avLst/>
              <a:gdLst>
                <a:gd name="T0" fmla="*/ 4 w 17"/>
                <a:gd name="T1" fmla="*/ 9 h 19"/>
                <a:gd name="T2" fmla="*/ 6 w 17"/>
                <a:gd name="T3" fmla="*/ 9 h 19"/>
                <a:gd name="T4" fmla="*/ 7 w 17"/>
                <a:gd name="T5" fmla="*/ 7 h 19"/>
                <a:gd name="T6" fmla="*/ 7 w 17"/>
                <a:gd name="T7" fmla="*/ 6 h 19"/>
                <a:gd name="T8" fmla="*/ 8 w 17"/>
                <a:gd name="T9" fmla="*/ 5 h 19"/>
                <a:gd name="T10" fmla="*/ 7 w 17"/>
                <a:gd name="T11" fmla="*/ 3 h 19"/>
                <a:gd name="T12" fmla="*/ 7 w 17"/>
                <a:gd name="T13" fmla="*/ 1 h 19"/>
                <a:gd name="T14" fmla="*/ 6 w 17"/>
                <a:gd name="T15" fmla="*/ 1 h 19"/>
                <a:gd name="T16" fmla="*/ 4 w 17"/>
                <a:gd name="T17" fmla="*/ 0 h 19"/>
                <a:gd name="T18" fmla="*/ 2 w 17"/>
                <a:gd name="T19" fmla="*/ 1 h 19"/>
                <a:gd name="T20" fmla="*/ 1 w 17"/>
                <a:gd name="T21" fmla="*/ 1 h 19"/>
                <a:gd name="T22" fmla="*/ 1 w 17"/>
                <a:gd name="T23" fmla="*/ 3 h 19"/>
                <a:gd name="T24" fmla="*/ 0 w 17"/>
                <a:gd name="T25" fmla="*/ 5 h 19"/>
                <a:gd name="T26" fmla="*/ 1 w 17"/>
                <a:gd name="T27" fmla="*/ 6 h 19"/>
                <a:gd name="T28" fmla="*/ 1 w 17"/>
                <a:gd name="T29" fmla="*/ 7 h 19"/>
                <a:gd name="T30" fmla="*/ 2 w 17"/>
                <a:gd name="T31" fmla="*/ 9 h 19"/>
                <a:gd name="T32" fmla="*/ 4 w 17"/>
                <a:gd name="T33" fmla="*/ 9 h 19"/>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7"/>
                <a:gd name="T52" fmla="*/ 0 h 19"/>
                <a:gd name="T53" fmla="*/ 17 w 17"/>
                <a:gd name="T54" fmla="*/ 19 h 19"/>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7" h="19">
                  <a:moveTo>
                    <a:pt x="9" y="19"/>
                  </a:moveTo>
                  <a:lnTo>
                    <a:pt x="12" y="18"/>
                  </a:lnTo>
                  <a:lnTo>
                    <a:pt x="14" y="15"/>
                  </a:lnTo>
                  <a:lnTo>
                    <a:pt x="15" y="13"/>
                  </a:lnTo>
                  <a:lnTo>
                    <a:pt x="17" y="10"/>
                  </a:lnTo>
                  <a:lnTo>
                    <a:pt x="15" y="6"/>
                  </a:lnTo>
                  <a:lnTo>
                    <a:pt x="14" y="3"/>
                  </a:lnTo>
                  <a:lnTo>
                    <a:pt x="12" y="2"/>
                  </a:lnTo>
                  <a:lnTo>
                    <a:pt x="9" y="0"/>
                  </a:lnTo>
                  <a:lnTo>
                    <a:pt x="5" y="2"/>
                  </a:lnTo>
                  <a:lnTo>
                    <a:pt x="3" y="3"/>
                  </a:lnTo>
                  <a:lnTo>
                    <a:pt x="2" y="6"/>
                  </a:lnTo>
                  <a:lnTo>
                    <a:pt x="0" y="10"/>
                  </a:lnTo>
                  <a:lnTo>
                    <a:pt x="2" y="13"/>
                  </a:lnTo>
                  <a:lnTo>
                    <a:pt x="3" y="15"/>
                  </a:lnTo>
                  <a:lnTo>
                    <a:pt x="5" y="18"/>
                  </a:lnTo>
                  <a:lnTo>
                    <a:pt x="9" y="19"/>
                  </a:lnTo>
                  <a:close/>
                </a:path>
              </a:pathLst>
            </a:custGeom>
            <a:solidFill>
              <a:srgbClr val="FFFFFF"/>
            </a:solidFill>
            <a:ln w="9525">
              <a:noFill/>
              <a:round/>
            </a:ln>
          </p:spPr>
          <p:txBody>
            <a:bodyPr/>
            <a:lstStyle/>
            <a:p>
              <a:endParaRPr lang="en-US"/>
            </a:p>
          </p:txBody>
        </p:sp>
        <p:sp>
          <p:nvSpPr>
            <p:cNvPr id="1048759" name="Freeform 49"/>
            <p:cNvSpPr/>
            <p:nvPr/>
          </p:nvSpPr>
          <p:spPr bwMode="auto">
            <a:xfrm>
              <a:off x="2429" y="3735"/>
              <a:ext cx="89" cy="81"/>
            </a:xfrm>
            <a:custGeom>
              <a:avLst/>
              <a:gdLst>
                <a:gd name="T0" fmla="*/ 64 w 178"/>
                <a:gd name="T1" fmla="*/ 1 h 162"/>
                <a:gd name="T2" fmla="*/ 67 w 178"/>
                <a:gd name="T3" fmla="*/ 5 h 162"/>
                <a:gd name="T4" fmla="*/ 71 w 178"/>
                <a:gd name="T5" fmla="*/ 13 h 162"/>
                <a:gd name="T6" fmla="*/ 75 w 178"/>
                <a:gd name="T7" fmla="*/ 24 h 162"/>
                <a:gd name="T8" fmla="*/ 79 w 178"/>
                <a:gd name="T9" fmla="*/ 37 h 162"/>
                <a:gd name="T10" fmla="*/ 83 w 178"/>
                <a:gd name="T11" fmla="*/ 49 h 162"/>
                <a:gd name="T12" fmla="*/ 87 w 178"/>
                <a:gd name="T13" fmla="*/ 60 h 162"/>
                <a:gd name="T14" fmla="*/ 89 w 178"/>
                <a:gd name="T15" fmla="*/ 70 h 162"/>
                <a:gd name="T16" fmla="*/ 89 w 178"/>
                <a:gd name="T17" fmla="*/ 74 h 162"/>
                <a:gd name="T18" fmla="*/ 88 w 178"/>
                <a:gd name="T19" fmla="*/ 76 h 162"/>
                <a:gd name="T20" fmla="*/ 87 w 178"/>
                <a:gd name="T21" fmla="*/ 77 h 162"/>
                <a:gd name="T22" fmla="*/ 84 w 178"/>
                <a:gd name="T23" fmla="*/ 78 h 162"/>
                <a:gd name="T24" fmla="*/ 80 w 178"/>
                <a:gd name="T25" fmla="*/ 80 h 162"/>
                <a:gd name="T26" fmla="*/ 74 w 178"/>
                <a:gd name="T27" fmla="*/ 80 h 162"/>
                <a:gd name="T28" fmla="*/ 67 w 178"/>
                <a:gd name="T29" fmla="*/ 81 h 162"/>
                <a:gd name="T30" fmla="*/ 57 w 178"/>
                <a:gd name="T31" fmla="*/ 81 h 162"/>
                <a:gd name="T32" fmla="*/ 44 w 178"/>
                <a:gd name="T33" fmla="*/ 81 h 162"/>
                <a:gd name="T34" fmla="*/ 35 w 178"/>
                <a:gd name="T35" fmla="*/ 81 h 162"/>
                <a:gd name="T36" fmla="*/ 26 w 178"/>
                <a:gd name="T37" fmla="*/ 81 h 162"/>
                <a:gd name="T38" fmla="*/ 19 w 178"/>
                <a:gd name="T39" fmla="*/ 81 h 162"/>
                <a:gd name="T40" fmla="*/ 12 w 178"/>
                <a:gd name="T41" fmla="*/ 81 h 162"/>
                <a:gd name="T42" fmla="*/ 7 w 178"/>
                <a:gd name="T43" fmla="*/ 80 h 162"/>
                <a:gd name="T44" fmla="*/ 3 w 178"/>
                <a:gd name="T45" fmla="*/ 77 h 162"/>
                <a:gd name="T46" fmla="*/ 1 w 178"/>
                <a:gd name="T47" fmla="*/ 73 h 162"/>
                <a:gd name="T48" fmla="*/ 0 w 178"/>
                <a:gd name="T49" fmla="*/ 67 h 162"/>
                <a:gd name="T50" fmla="*/ 0 w 178"/>
                <a:gd name="T51" fmla="*/ 50 h 162"/>
                <a:gd name="T52" fmla="*/ 0 w 178"/>
                <a:gd name="T53" fmla="*/ 34 h 162"/>
                <a:gd name="T54" fmla="*/ 0 w 178"/>
                <a:gd name="T55" fmla="*/ 21 h 162"/>
                <a:gd name="T56" fmla="*/ 0 w 178"/>
                <a:gd name="T57" fmla="*/ 16 h 162"/>
                <a:gd name="T58" fmla="*/ 0 w 178"/>
                <a:gd name="T59" fmla="*/ 13 h 162"/>
                <a:gd name="T60" fmla="*/ 1 w 178"/>
                <a:gd name="T61" fmla="*/ 9 h 162"/>
                <a:gd name="T62" fmla="*/ 5 w 178"/>
                <a:gd name="T63" fmla="*/ 3 h 162"/>
                <a:gd name="T64" fmla="*/ 14 w 178"/>
                <a:gd name="T65" fmla="*/ 0 h 162"/>
                <a:gd name="T66" fmla="*/ 16 w 178"/>
                <a:gd name="T67" fmla="*/ 0 h 162"/>
                <a:gd name="T68" fmla="*/ 21 w 178"/>
                <a:gd name="T69" fmla="*/ 0 h 162"/>
                <a:gd name="T70" fmla="*/ 28 w 178"/>
                <a:gd name="T71" fmla="*/ 0 h 162"/>
                <a:gd name="T72" fmla="*/ 37 w 178"/>
                <a:gd name="T73" fmla="*/ 0 h 162"/>
                <a:gd name="T74" fmla="*/ 45 w 178"/>
                <a:gd name="T75" fmla="*/ 1 h 162"/>
                <a:gd name="T76" fmla="*/ 53 w 178"/>
                <a:gd name="T77" fmla="*/ 1 h 162"/>
                <a:gd name="T78" fmla="*/ 60 w 178"/>
                <a:gd name="T79" fmla="*/ 1 h 162"/>
                <a:gd name="T80" fmla="*/ 64 w 178"/>
                <a:gd name="T81" fmla="*/ 1 h 162"/>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178"/>
                <a:gd name="T124" fmla="*/ 0 h 162"/>
                <a:gd name="T125" fmla="*/ 178 w 178"/>
                <a:gd name="T126" fmla="*/ 162 h 162"/>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178" h="162">
                  <a:moveTo>
                    <a:pt x="128" y="3"/>
                  </a:moveTo>
                  <a:lnTo>
                    <a:pt x="133" y="10"/>
                  </a:lnTo>
                  <a:lnTo>
                    <a:pt x="141" y="26"/>
                  </a:lnTo>
                  <a:lnTo>
                    <a:pt x="150" y="49"/>
                  </a:lnTo>
                  <a:lnTo>
                    <a:pt x="158" y="73"/>
                  </a:lnTo>
                  <a:lnTo>
                    <a:pt x="166" y="99"/>
                  </a:lnTo>
                  <a:lnTo>
                    <a:pt x="174" y="121"/>
                  </a:lnTo>
                  <a:lnTo>
                    <a:pt x="178" y="139"/>
                  </a:lnTo>
                  <a:lnTo>
                    <a:pt x="178" y="148"/>
                  </a:lnTo>
                  <a:lnTo>
                    <a:pt x="176" y="152"/>
                  </a:lnTo>
                  <a:lnTo>
                    <a:pt x="173" y="154"/>
                  </a:lnTo>
                  <a:lnTo>
                    <a:pt x="168" y="156"/>
                  </a:lnTo>
                  <a:lnTo>
                    <a:pt x="160" y="159"/>
                  </a:lnTo>
                  <a:lnTo>
                    <a:pt x="148" y="160"/>
                  </a:lnTo>
                  <a:lnTo>
                    <a:pt x="133" y="162"/>
                  </a:lnTo>
                  <a:lnTo>
                    <a:pt x="114" y="162"/>
                  </a:lnTo>
                  <a:lnTo>
                    <a:pt x="88" y="162"/>
                  </a:lnTo>
                  <a:lnTo>
                    <a:pt x="70" y="162"/>
                  </a:lnTo>
                  <a:lnTo>
                    <a:pt x="53" y="162"/>
                  </a:lnTo>
                  <a:lnTo>
                    <a:pt x="38" y="162"/>
                  </a:lnTo>
                  <a:lnTo>
                    <a:pt x="24" y="161"/>
                  </a:lnTo>
                  <a:lnTo>
                    <a:pt x="14" y="159"/>
                  </a:lnTo>
                  <a:lnTo>
                    <a:pt x="6" y="153"/>
                  </a:lnTo>
                  <a:lnTo>
                    <a:pt x="1" y="146"/>
                  </a:lnTo>
                  <a:lnTo>
                    <a:pt x="0" y="134"/>
                  </a:lnTo>
                  <a:lnTo>
                    <a:pt x="0" y="100"/>
                  </a:lnTo>
                  <a:lnTo>
                    <a:pt x="0" y="67"/>
                  </a:lnTo>
                  <a:lnTo>
                    <a:pt x="0" y="42"/>
                  </a:lnTo>
                  <a:lnTo>
                    <a:pt x="0" y="32"/>
                  </a:lnTo>
                  <a:lnTo>
                    <a:pt x="0" y="27"/>
                  </a:lnTo>
                  <a:lnTo>
                    <a:pt x="2" y="17"/>
                  </a:lnTo>
                  <a:lnTo>
                    <a:pt x="10" y="5"/>
                  </a:lnTo>
                  <a:lnTo>
                    <a:pt x="29" y="0"/>
                  </a:lnTo>
                  <a:lnTo>
                    <a:pt x="32" y="0"/>
                  </a:lnTo>
                  <a:lnTo>
                    <a:pt x="42" y="0"/>
                  </a:lnTo>
                  <a:lnTo>
                    <a:pt x="56" y="0"/>
                  </a:lnTo>
                  <a:lnTo>
                    <a:pt x="73" y="0"/>
                  </a:lnTo>
                  <a:lnTo>
                    <a:pt x="91" y="1"/>
                  </a:lnTo>
                  <a:lnTo>
                    <a:pt x="107" y="1"/>
                  </a:lnTo>
                  <a:lnTo>
                    <a:pt x="120" y="2"/>
                  </a:lnTo>
                  <a:lnTo>
                    <a:pt x="128" y="3"/>
                  </a:lnTo>
                  <a:close/>
                </a:path>
              </a:pathLst>
            </a:custGeom>
            <a:solidFill>
              <a:srgbClr val="000000"/>
            </a:solidFill>
            <a:ln w="9525">
              <a:noFill/>
              <a:round/>
            </a:ln>
          </p:spPr>
          <p:txBody>
            <a:bodyPr/>
            <a:lstStyle/>
            <a:p>
              <a:endParaRPr lang="en-US"/>
            </a:p>
          </p:txBody>
        </p:sp>
        <p:sp>
          <p:nvSpPr>
            <p:cNvPr id="1048760" name="Freeform 50"/>
            <p:cNvSpPr/>
            <p:nvPr/>
          </p:nvSpPr>
          <p:spPr bwMode="auto">
            <a:xfrm>
              <a:off x="2442" y="3743"/>
              <a:ext cx="39" cy="66"/>
            </a:xfrm>
            <a:custGeom>
              <a:avLst/>
              <a:gdLst>
                <a:gd name="T0" fmla="*/ 2 w 79"/>
                <a:gd name="T1" fmla="*/ 19 h 131"/>
                <a:gd name="T2" fmla="*/ 0 w 79"/>
                <a:gd name="T3" fmla="*/ 31 h 131"/>
                <a:gd name="T4" fmla="*/ 0 w 79"/>
                <a:gd name="T5" fmla="*/ 43 h 131"/>
                <a:gd name="T6" fmla="*/ 3 w 79"/>
                <a:gd name="T7" fmla="*/ 55 h 131"/>
                <a:gd name="T8" fmla="*/ 9 w 79"/>
                <a:gd name="T9" fmla="*/ 66 h 131"/>
                <a:gd name="T10" fmla="*/ 11 w 79"/>
                <a:gd name="T11" fmla="*/ 66 h 131"/>
                <a:gd name="T12" fmla="*/ 13 w 79"/>
                <a:gd name="T13" fmla="*/ 66 h 131"/>
                <a:gd name="T14" fmla="*/ 15 w 79"/>
                <a:gd name="T15" fmla="*/ 66 h 131"/>
                <a:gd name="T16" fmla="*/ 18 w 79"/>
                <a:gd name="T17" fmla="*/ 66 h 131"/>
                <a:gd name="T18" fmla="*/ 21 w 79"/>
                <a:gd name="T19" fmla="*/ 66 h 131"/>
                <a:gd name="T20" fmla="*/ 23 w 79"/>
                <a:gd name="T21" fmla="*/ 66 h 131"/>
                <a:gd name="T22" fmla="*/ 27 w 79"/>
                <a:gd name="T23" fmla="*/ 65 h 131"/>
                <a:gd name="T24" fmla="*/ 30 w 79"/>
                <a:gd name="T25" fmla="*/ 65 h 131"/>
                <a:gd name="T26" fmla="*/ 32 w 79"/>
                <a:gd name="T27" fmla="*/ 65 h 131"/>
                <a:gd name="T28" fmla="*/ 34 w 79"/>
                <a:gd name="T29" fmla="*/ 65 h 131"/>
                <a:gd name="T30" fmla="*/ 37 w 79"/>
                <a:gd name="T31" fmla="*/ 65 h 131"/>
                <a:gd name="T32" fmla="*/ 39 w 79"/>
                <a:gd name="T33" fmla="*/ 65 h 131"/>
                <a:gd name="T34" fmla="*/ 39 w 79"/>
                <a:gd name="T35" fmla="*/ 0 h 131"/>
                <a:gd name="T36" fmla="*/ 14 w 79"/>
                <a:gd name="T37" fmla="*/ 0 h 131"/>
                <a:gd name="T38" fmla="*/ 10 w 79"/>
                <a:gd name="T39" fmla="*/ 3 h 131"/>
                <a:gd name="T40" fmla="*/ 7 w 79"/>
                <a:gd name="T41" fmla="*/ 7 h 131"/>
                <a:gd name="T42" fmla="*/ 4 w 79"/>
                <a:gd name="T43" fmla="*/ 13 h 131"/>
                <a:gd name="T44" fmla="*/ 2 w 79"/>
                <a:gd name="T45" fmla="*/ 19 h 131"/>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79"/>
                <a:gd name="T70" fmla="*/ 0 h 131"/>
                <a:gd name="T71" fmla="*/ 79 w 79"/>
                <a:gd name="T72" fmla="*/ 131 h 131"/>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79" h="131">
                  <a:moveTo>
                    <a:pt x="4" y="38"/>
                  </a:moveTo>
                  <a:lnTo>
                    <a:pt x="0" y="61"/>
                  </a:lnTo>
                  <a:lnTo>
                    <a:pt x="1" y="86"/>
                  </a:lnTo>
                  <a:lnTo>
                    <a:pt x="7" y="109"/>
                  </a:lnTo>
                  <a:lnTo>
                    <a:pt x="18" y="131"/>
                  </a:lnTo>
                  <a:lnTo>
                    <a:pt x="22" y="131"/>
                  </a:lnTo>
                  <a:lnTo>
                    <a:pt x="27" y="131"/>
                  </a:lnTo>
                  <a:lnTo>
                    <a:pt x="31" y="131"/>
                  </a:lnTo>
                  <a:lnTo>
                    <a:pt x="37" y="131"/>
                  </a:lnTo>
                  <a:lnTo>
                    <a:pt x="42" y="131"/>
                  </a:lnTo>
                  <a:lnTo>
                    <a:pt x="47" y="131"/>
                  </a:lnTo>
                  <a:lnTo>
                    <a:pt x="54" y="130"/>
                  </a:lnTo>
                  <a:lnTo>
                    <a:pt x="60" y="130"/>
                  </a:lnTo>
                  <a:lnTo>
                    <a:pt x="65" y="130"/>
                  </a:lnTo>
                  <a:lnTo>
                    <a:pt x="69" y="130"/>
                  </a:lnTo>
                  <a:lnTo>
                    <a:pt x="74" y="130"/>
                  </a:lnTo>
                  <a:lnTo>
                    <a:pt x="79" y="130"/>
                  </a:lnTo>
                  <a:lnTo>
                    <a:pt x="79" y="0"/>
                  </a:lnTo>
                  <a:lnTo>
                    <a:pt x="29" y="0"/>
                  </a:lnTo>
                  <a:lnTo>
                    <a:pt x="21" y="6"/>
                  </a:lnTo>
                  <a:lnTo>
                    <a:pt x="14" y="14"/>
                  </a:lnTo>
                  <a:lnTo>
                    <a:pt x="8" y="25"/>
                  </a:lnTo>
                  <a:lnTo>
                    <a:pt x="4" y="38"/>
                  </a:lnTo>
                  <a:close/>
                </a:path>
              </a:pathLst>
            </a:custGeom>
            <a:solidFill>
              <a:srgbClr val="BFFFFF"/>
            </a:solidFill>
            <a:ln w="9525">
              <a:noFill/>
              <a:round/>
            </a:ln>
          </p:spPr>
          <p:txBody>
            <a:bodyPr/>
            <a:lstStyle/>
            <a:p>
              <a:endParaRPr lang="en-US"/>
            </a:p>
          </p:txBody>
        </p:sp>
        <p:sp>
          <p:nvSpPr>
            <p:cNvPr id="1048761" name="Freeform 51"/>
            <p:cNvSpPr/>
            <p:nvPr/>
          </p:nvSpPr>
          <p:spPr bwMode="auto">
            <a:xfrm>
              <a:off x="2437" y="3743"/>
              <a:ext cx="20" cy="66"/>
            </a:xfrm>
            <a:custGeom>
              <a:avLst/>
              <a:gdLst>
                <a:gd name="T0" fmla="*/ 0 w 39"/>
                <a:gd name="T1" fmla="*/ 13 h 131"/>
                <a:gd name="T2" fmla="*/ 0 w 39"/>
                <a:gd name="T3" fmla="*/ 17 h 131"/>
                <a:gd name="T4" fmla="*/ 0 w 39"/>
                <a:gd name="T5" fmla="*/ 27 h 131"/>
                <a:gd name="T6" fmla="*/ 0 w 39"/>
                <a:gd name="T7" fmla="*/ 40 h 131"/>
                <a:gd name="T8" fmla="*/ 0 w 39"/>
                <a:gd name="T9" fmla="*/ 54 h 131"/>
                <a:gd name="T10" fmla="*/ 1 w 39"/>
                <a:gd name="T11" fmla="*/ 59 h 131"/>
                <a:gd name="T12" fmla="*/ 4 w 39"/>
                <a:gd name="T13" fmla="*/ 63 h 131"/>
                <a:gd name="T14" fmla="*/ 8 w 39"/>
                <a:gd name="T15" fmla="*/ 65 h 131"/>
                <a:gd name="T16" fmla="*/ 14 w 39"/>
                <a:gd name="T17" fmla="*/ 66 h 131"/>
                <a:gd name="T18" fmla="*/ 9 w 39"/>
                <a:gd name="T19" fmla="*/ 55 h 131"/>
                <a:gd name="T20" fmla="*/ 6 w 39"/>
                <a:gd name="T21" fmla="*/ 43 h 131"/>
                <a:gd name="T22" fmla="*/ 5 w 39"/>
                <a:gd name="T23" fmla="*/ 31 h 131"/>
                <a:gd name="T24" fmla="*/ 7 w 39"/>
                <a:gd name="T25" fmla="*/ 19 h 131"/>
                <a:gd name="T26" fmla="*/ 9 w 39"/>
                <a:gd name="T27" fmla="*/ 13 h 131"/>
                <a:gd name="T28" fmla="*/ 12 w 39"/>
                <a:gd name="T29" fmla="*/ 7 h 131"/>
                <a:gd name="T30" fmla="*/ 16 w 39"/>
                <a:gd name="T31" fmla="*/ 3 h 131"/>
                <a:gd name="T32" fmla="*/ 20 w 39"/>
                <a:gd name="T33" fmla="*/ 0 h 131"/>
                <a:gd name="T34" fmla="*/ 12 w 39"/>
                <a:gd name="T35" fmla="*/ 0 h 131"/>
                <a:gd name="T36" fmla="*/ 6 w 39"/>
                <a:gd name="T37" fmla="*/ 2 h 131"/>
                <a:gd name="T38" fmla="*/ 2 w 39"/>
                <a:gd name="T39" fmla="*/ 6 h 131"/>
                <a:gd name="T40" fmla="*/ 1 w 39"/>
                <a:gd name="T41" fmla="*/ 11 h 131"/>
                <a:gd name="T42" fmla="*/ 0 w 39"/>
                <a:gd name="T43" fmla="*/ 13 h 131"/>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39"/>
                <a:gd name="T67" fmla="*/ 0 h 131"/>
                <a:gd name="T68" fmla="*/ 39 w 39"/>
                <a:gd name="T69" fmla="*/ 131 h 131"/>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39" h="131">
                  <a:moveTo>
                    <a:pt x="0" y="25"/>
                  </a:moveTo>
                  <a:lnTo>
                    <a:pt x="0" y="33"/>
                  </a:lnTo>
                  <a:lnTo>
                    <a:pt x="0" y="54"/>
                  </a:lnTo>
                  <a:lnTo>
                    <a:pt x="0" y="80"/>
                  </a:lnTo>
                  <a:lnTo>
                    <a:pt x="0" y="108"/>
                  </a:lnTo>
                  <a:lnTo>
                    <a:pt x="2" y="118"/>
                  </a:lnTo>
                  <a:lnTo>
                    <a:pt x="8" y="125"/>
                  </a:lnTo>
                  <a:lnTo>
                    <a:pt x="16" y="129"/>
                  </a:lnTo>
                  <a:lnTo>
                    <a:pt x="28" y="131"/>
                  </a:lnTo>
                  <a:lnTo>
                    <a:pt x="17" y="109"/>
                  </a:lnTo>
                  <a:lnTo>
                    <a:pt x="11" y="86"/>
                  </a:lnTo>
                  <a:lnTo>
                    <a:pt x="10" y="61"/>
                  </a:lnTo>
                  <a:lnTo>
                    <a:pt x="14" y="38"/>
                  </a:lnTo>
                  <a:lnTo>
                    <a:pt x="18" y="25"/>
                  </a:lnTo>
                  <a:lnTo>
                    <a:pt x="24" y="14"/>
                  </a:lnTo>
                  <a:lnTo>
                    <a:pt x="31" y="6"/>
                  </a:lnTo>
                  <a:lnTo>
                    <a:pt x="39" y="0"/>
                  </a:lnTo>
                  <a:lnTo>
                    <a:pt x="24" y="0"/>
                  </a:lnTo>
                  <a:lnTo>
                    <a:pt x="11" y="3"/>
                  </a:lnTo>
                  <a:lnTo>
                    <a:pt x="3" y="12"/>
                  </a:lnTo>
                  <a:lnTo>
                    <a:pt x="1" y="22"/>
                  </a:lnTo>
                  <a:lnTo>
                    <a:pt x="0" y="25"/>
                  </a:lnTo>
                  <a:close/>
                </a:path>
              </a:pathLst>
            </a:custGeom>
            <a:solidFill>
              <a:srgbClr val="3FFFFF"/>
            </a:solidFill>
            <a:ln w="9525">
              <a:noFill/>
              <a:round/>
            </a:ln>
          </p:spPr>
          <p:txBody>
            <a:bodyPr/>
            <a:lstStyle/>
            <a:p>
              <a:endParaRPr lang="en-US"/>
            </a:p>
          </p:txBody>
        </p:sp>
        <p:sp>
          <p:nvSpPr>
            <p:cNvPr id="1048762" name="Freeform 52"/>
            <p:cNvSpPr/>
            <p:nvPr/>
          </p:nvSpPr>
          <p:spPr bwMode="auto">
            <a:xfrm>
              <a:off x="2489" y="3745"/>
              <a:ext cx="21" cy="62"/>
            </a:xfrm>
            <a:custGeom>
              <a:avLst/>
              <a:gdLst>
                <a:gd name="T0" fmla="*/ 21 w 40"/>
                <a:gd name="T1" fmla="*/ 58 h 126"/>
                <a:gd name="T2" fmla="*/ 20 w 40"/>
                <a:gd name="T3" fmla="*/ 54 h 126"/>
                <a:gd name="T4" fmla="*/ 18 w 40"/>
                <a:gd name="T5" fmla="*/ 48 h 126"/>
                <a:gd name="T6" fmla="*/ 16 w 40"/>
                <a:gd name="T7" fmla="*/ 40 h 126"/>
                <a:gd name="T8" fmla="*/ 13 w 40"/>
                <a:gd name="T9" fmla="*/ 31 h 126"/>
                <a:gd name="T10" fmla="*/ 8 w 40"/>
                <a:gd name="T11" fmla="*/ 21 h 126"/>
                <a:gd name="T12" fmla="*/ 5 w 40"/>
                <a:gd name="T13" fmla="*/ 13 h 126"/>
                <a:gd name="T14" fmla="*/ 2 w 40"/>
                <a:gd name="T15" fmla="*/ 5 h 126"/>
                <a:gd name="T16" fmla="*/ 0 w 40"/>
                <a:gd name="T17" fmla="*/ 0 h 126"/>
                <a:gd name="T18" fmla="*/ 0 w 40"/>
                <a:gd name="T19" fmla="*/ 1 h 126"/>
                <a:gd name="T20" fmla="*/ 6 w 40"/>
                <a:gd name="T21" fmla="*/ 20 h 126"/>
                <a:gd name="T22" fmla="*/ 9 w 40"/>
                <a:gd name="T23" fmla="*/ 36 h 126"/>
                <a:gd name="T24" fmla="*/ 10 w 40"/>
                <a:gd name="T25" fmla="*/ 50 h 126"/>
                <a:gd name="T26" fmla="*/ 9 w 40"/>
                <a:gd name="T27" fmla="*/ 62 h 126"/>
                <a:gd name="T28" fmla="*/ 14 w 40"/>
                <a:gd name="T29" fmla="*/ 61 h 126"/>
                <a:gd name="T30" fmla="*/ 17 w 40"/>
                <a:gd name="T31" fmla="*/ 60 h 126"/>
                <a:gd name="T32" fmla="*/ 20 w 40"/>
                <a:gd name="T33" fmla="*/ 59 h 126"/>
                <a:gd name="T34" fmla="*/ 21 w 40"/>
                <a:gd name="T35" fmla="*/ 58 h 12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0"/>
                <a:gd name="T55" fmla="*/ 0 h 126"/>
                <a:gd name="T56" fmla="*/ 40 w 40"/>
                <a:gd name="T57" fmla="*/ 126 h 12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0" h="126">
                  <a:moveTo>
                    <a:pt x="40" y="117"/>
                  </a:moveTo>
                  <a:lnTo>
                    <a:pt x="39" y="110"/>
                  </a:lnTo>
                  <a:lnTo>
                    <a:pt x="35" y="97"/>
                  </a:lnTo>
                  <a:lnTo>
                    <a:pt x="30" y="81"/>
                  </a:lnTo>
                  <a:lnTo>
                    <a:pt x="24" y="62"/>
                  </a:lnTo>
                  <a:lnTo>
                    <a:pt x="16" y="43"/>
                  </a:lnTo>
                  <a:lnTo>
                    <a:pt x="10" y="26"/>
                  </a:lnTo>
                  <a:lnTo>
                    <a:pt x="4" y="11"/>
                  </a:lnTo>
                  <a:lnTo>
                    <a:pt x="0" y="0"/>
                  </a:lnTo>
                  <a:lnTo>
                    <a:pt x="0" y="3"/>
                  </a:lnTo>
                  <a:lnTo>
                    <a:pt x="12" y="41"/>
                  </a:lnTo>
                  <a:lnTo>
                    <a:pt x="18" y="74"/>
                  </a:lnTo>
                  <a:lnTo>
                    <a:pt x="19" y="102"/>
                  </a:lnTo>
                  <a:lnTo>
                    <a:pt x="17" y="126"/>
                  </a:lnTo>
                  <a:lnTo>
                    <a:pt x="26" y="124"/>
                  </a:lnTo>
                  <a:lnTo>
                    <a:pt x="33" y="122"/>
                  </a:lnTo>
                  <a:lnTo>
                    <a:pt x="38" y="120"/>
                  </a:lnTo>
                  <a:lnTo>
                    <a:pt x="40" y="117"/>
                  </a:lnTo>
                  <a:close/>
                </a:path>
              </a:pathLst>
            </a:custGeom>
            <a:solidFill>
              <a:srgbClr val="3FFFFF"/>
            </a:solidFill>
            <a:ln w="9525">
              <a:noFill/>
              <a:round/>
            </a:ln>
          </p:spPr>
          <p:txBody>
            <a:bodyPr/>
            <a:lstStyle/>
            <a:p>
              <a:endParaRPr lang="en-US"/>
            </a:p>
          </p:txBody>
        </p:sp>
        <p:sp>
          <p:nvSpPr>
            <p:cNvPr id="1048763" name="Freeform 53"/>
            <p:cNvSpPr/>
            <p:nvPr/>
          </p:nvSpPr>
          <p:spPr bwMode="auto">
            <a:xfrm>
              <a:off x="2489" y="3746"/>
              <a:ext cx="10" cy="61"/>
            </a:xfrm>
            <a:custGeom>
              <a:avLst/>
              <a:gdLst>
                <a:gd name="T0" fmla="*/ 0 w 19"/>
                <a:gd name="T1" fmla="*/ 0 h 123"/>
                <a:gd name="T2" fmla="*/ 0 w 19"/>
                <a:gd name="T3" fmla="*/ 61 h 123"/>
                <a:gd name="T4" fmla="*/ 2 w 19"/>
                <a:gd name="T5" fmla="*/ 61 h 123"/>
                <a:gd name="T6" fmla="*/ 5 w 19"/>
                <a:gd name="T7" fmla="*/ 61 h 123"/>
                <a:gd name="T8" fmla="*/ 7 w 19"/>
                <a:gd name="T9" fmla="*/ 61 h 123"/>
                <a:gd name="T10" fmla="*/ 9 w 19"/>
                <a:gd name="T11" fmla="*/ 61 h 123"/>
                <a:gd name="T12" fmla="*/ 10 w 19"/>
                <a:gd name="T13" fmla="*/ 49 h 123"/>
                <a:gd name="T14" fmla="*/ 9 w 19"/>
                <a:gd name="T15" fmla="*/ 35 h 123"/>
                <a:gd name="T16" fmla="*/ 6 w 19"/>
                <a:gd name="T17" fmla="*/ 19 h 123"/>
                <a:gd name="T18" fmla="*/ 0 w 19"/>
                <a:gd name="T19" fmla="*/ 0 h 12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9"/>
                <a:gd name="T31" fmla="*/ 0 h 123"/>
                <a:gd name="T32" fmla="*/ 19 w 19"/>
                <a:gd name="T33" fmla="*/ 123 h 123"/>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9" h="123">
                  <a:moveTo>
                    <a:pt x="0" y="0"/>
                  </a:moveTo>
                  <a:lnTo>
                    <a:pt x="0" y="123"/>
                  </a:lnTo>
                  <a:lnTo>
                    <a:pt x="4" y="123"/>
                  </a:lnTo>
                  <a:lnTo>
                    <a:pt x="9" y="123"/>
                  </a:lnTo>
                  <a:lnTo>
                    <a:pt x="14" y="123"/>
                  </a:lnTo>
                  <a:lnTo>
                    <a:pt x="17" y="123"/>
                  </a:lnTo>
                  <a:lnTo>
                    <a:pt x="19" y="99"/>
                  </a:lnTo>
                  <a:lnTo>
                    <a:pt x="18" y="71"/>
                  </a:lnTo>
                  <a:lnTo>
                    <a:pt x="12" y="38"/>
                  </a:lnTo>
                  <a:lnTo>
                    <a:pt x="0" y="0"/>
                  </a:lnTo>
                  <a:close/>
                </a:path>
              </a:pathLst>
            </a:custGeom>
            <a:solidFill>
              <a:srgbClr val="BFFFFF"/>
            </a:solidFill>
            <a:ln w="9525">
              <a:noFill/>
              <a:round/>
            </a:ln>
          </p:spPr>
          <p:txBody>
            <a:bodyPr/>
            <a:lstStyle/>
            <a:p>
              <a:endParaRPr lang="en-US"/>
            </a:p>
          </p:txBody>
        </p:sp>
        <p:sp>
          <p:nvSpPr>
            <p:cNvPr id="1048764" name="Freeform 54"/>
            <p:cNvSpPr/>
            <p:nvPr/>
          </p:nvSpPr>
          <p:spPr bwMode="auto">
            <a:xfrm>
              <a:off x="2470" y="3779"/>
              <a:ext cx="7" cy="11"/>
            </a:xfrm>
            <a:custGeom>
              <a:avLst/>
              <a:gdLst>
                <a:gd name="T0" fmla="*/ 4 w 14"/>
                <a:gd name="T1" fmla="*/ 11 h 21"/>
                <a:gd name="T2" fmla="*/ 5 w 14"/>
                <a:gd name="T3" fmla="*/ 10 h 21"/>
                <a:gd name="T4" fmla="*/ 6 w 14"/>
                <a:gd name="T5" fmla="*/ 9 h 21"/>
                <a:gd name="T6" fmla="*/ 6 w 14"/>
                <a:gd name="T7" fmla="*/ 8 h 21"/>
                <a:gd name="T8" fmla="*/ 7 w 14"/>
                <a:gd name="T9" fmla="*/ 6 h 21"/>
                <a:gd name="T10" fmla="*/ 6 w 14"/>
                <a:gd name="T11" fmla="*/ 3 h 21"/>
                <a:gd name="T12" fmla="*/ 6 w 14"/>
                <a:gd name="T13" fmla="*/ 2 h 21"/>
                <a:gd name="T14" fmla="*/ 5 w 14"/>
                <a:gd name="T15" fmla="*/ 1 h 21"/>
                <a:gd name="T16" fmla="*/ 4 w 14"/>
                <a:gd name="T17" fmla="*/ 0 h 21"/>
                <a:gd name="T18" fmla="*/ 2 w 14"/>
                <a:gd name="T19" fmla="*/ 1 h 21"/>
                <a:gd name="T20" fmla="*/ 1 w 14"/>
                <a:gd name="T21" fmla="*/ 2 h 21"/>
                <a:gd name="T22" fmla="*/ 0 w 14"/>
                <a:gd name="T23" fmla="*/ 3 h 21"/>
                <a:gd name="T24" fmla="*/ 0 w 14"/>
                <a:gd name="T25" fmla="*/ 6 h 21"/>
                <a:gd name="T26" fmla="*/ 0 w 14"/>
                <a:gd name="T27" fmla="*/ 8 h 21"/>
                <a:gd name="T28" fmla="*/ 1 w 14"/>
                <a:gd name="T29" fmla="*/ 9 h 21"/>
                <a:gd name="T30" fmla="*/ 2 w 14"/>
                <a:gd name="T31" fmla="*/ 10 h 21"/>
                <a:gd name="T32" fmla="*/ 4 w 14"/>
                <a:gd name="T33" fmla="*/ 11 h 21"/>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4"/>
                <a:gd name="T52" fmla="*/ 0 h 21"/>
                <a:gd name="T53" fmla="*/ 14 w 14"/>
                <a:gd name="T54" fmla="*/ 21 h 21"/>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4" h="21">
                  <a:moveTo>
                    <a:pt x="7" y="21"/>
                  </a:moveTo>
                  <a:lnTo>
                    <a:pt x="9" y="20"/>
                  </a:lnTo>
                  <a:lnTo>
                    <a:pt x="11" y="18"/>
                  </a:lnTo>
                  <a:lnTo>
                    <a:pt x="12" y="15"/>
                  </a:lnTo>
                  <a:lnTo>
                    <a:pt x="14" y="11"/>
                  </a:lnTo>
                  <a:lnTo>
                    <a:pt x="12" y="6"/>
                  </a:lnTo>
                  <a:lnTo>
                    <a:pt x="11" y="4"/>
                  </a:lnTo>
                  <a:lnTo>
                    <a:pt x="9" y="2"/>
                  </a:lnTo>
                  <a:lnTo>
                    <a:pt x="7" y="0"/>
                  </a:lnTo>
                  <a:lnTo>
                    <a:pt x="3" y="2"/>
                  </a:lnTo>
                  <a:lnTo>
                    <a:pt x="2" y="4"/>
                  </a:lnTo>
                  <a:lnTo>
                    <a:pt x="0" y="6"/>
                  </a:lnTo>
                  <a:lnTo>
                    <a:pt x="0" y="11"/>
                  </a:lnTo>
                  <a:lnTo>
                    <a:pt x="0" y="15"/>
                  </a:lnTo>
                  <a:lnTo>
                    <a:pt x="2" y="18"/>
                  </a:lnTo>
                  <a:lnTo>
                    <a:pt x="3" y="20"/>
                  </a:lnTo>
                  <a:lnTo>
                    <a:pt x="7" y="21"/>
                  </a:lnTo>
                  <a:close/>
                </a:path>
              </a:pathLst>
            </a:custGeom>
            <a:solidFill>
              <a:srgbClr val="FFFFFF"/>
            </a:solidFill>
            <a:ln w="9525">
              <a:noFill/>
              <a:round/>
            </a:ln>
          </p:spPr>
          <p:txBody>
            <a:bodyPr/>
            <a:lstStyle/>
            <a:p>
              <a:endParaRPr lang="en-US"/>
            </a:p>
          </p:txBody>
        </p:sp>
        <p:sp>
          <p:nvSpPr>
            <p:cNvPr id="1048765" name="Freeform 55"/>
            <p:cNvSpPr/>
            <p:nvPr/>
          </p:nvSpPr>
          <p:spPr bwMode="auto">
            <a:xfrm>
              <a:off x="2460" y="3762"/>
              <a:ext cx="7" cy="9"/>
            </a:xfrm>
            <a:custGeom>
              <a:avLst/>
              <a:gdLst>
                <a:gd name="T0" fmla="*/ 4 w 15"/>
                <a:gd name="T1" fmla="*/ 9 h 17"/>
                <a:gd name="T2" fmla="*/ 5 w 15"/>
                <a:gd name="T3" fmla="*/ 8 h 17"/>
                <a:gd name="T4" fmla="*/ 6 w 15"/>
                <a:gd name="T5" fmla="*/ 8 h 17"/>
                <a:gd name="T6" fmla="*/ 7 w 15"/>
                <a:gd name="T7" fmla="*/ 6 h 17"/>
                <a:gd name="T8" fmla="*/ 7 w 15"/>
                <a:gd name="T9" fmla="*/ 4 h 17"/>
                <a:gd name="T10" fmla="*/ 7 w 15"/>
                <a:gd name="T11" fmla="*/ 2 h 17"/>
                <a:gd name="T12" fmla="*/ 6 w 15"/>
                <a:gd name="T13" fmla="*/ 1 h 17"/>
                <a:gd name="T14" fmla="*/ 5 w 15"/>
                <a:gd name="T15" fmla="*/ 1 h 17"/>
                <a:gd name="T16" fmla="*/ 4 w 15"/>
                <a:gd name="T17" fmla="*/ 0 h 17"/>
                <a:gd name="T18" fmla="*/ 2 w 15"/>
                <a:gd name="T19" fmla="*/ 1 h 17"/>
                <a:gd name="T20" fmla="*/ 1 w 15"/>
                <a:gd name="T21" fmla="*/ 1 h 17"/>
                <a:gd name="T22" fmla="*/ 0 w 15"/>
                <a:gd name="T23" fmla="*/ 2 h 17"/>
                <a:gd name="T24" fmla="*/ 0 w 15"/>
                <a:gd name="T25" fmla="*/ 4 h 17"/>
                <a:gd name="T26" fmla="*/ 0 w 15"/>
                <a:gd name="T27" fmla="*/ 6 h 17"/>
                <a:gd name="T28" fmla="*/ 1 w 15"/>
                <a:gd name="T29" fmla="*/ 8 h 17"/>
                <a:gd name="T30" fmla="*/ 2 w 15"/>
                <a:gd name="T31" fmla="*/ 8 h 17"/>
                <a:gd name="T32" fmla="*/ 4 w 15"/>
                <a:gd name="T33" fmla="*/ 9 h 1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5"/>
                <a:gd name="T52" fmla="*/ 0 h 17"/>
                <a:gd name="T53" fmla="*/ 15 w 15"/>
                <a:gd name="T54" fmla="*/ 17 h 17"/>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5" h="17">
                  <a:moveTo>
                    <a:pt x="8" y="17"/>
                  </a:moveTo>
                  <a:lnTo>
                    <a:pt x="10" y="16"/>
                  </a:lnTo>
                  <a:lnTo>
                    <a:pt x="13" y="15"/>
                  </a:lnTo>
                  <a:lnTo>
                    <a:pt x="14" y="11"/>
                  </a:lnTo>
                  <a:lnTo>
                    <a:pt x="15" y="8"/>
                  </a:lnTo>
                  <a:lnTo>
                    <a:pt x="14" y="4"/>
                  </a:lnTo>
                  <a:lnTo>
                    <a:pt x="13" y="2"/>
                  </a:lnTo>
                  <a:lnTo>
                    <a:pt x="10" y="1"/>
                  </a:lnTo>
                  <a:lnTo>
                    <a:pt x="8" y="0"/>
                  </a:lnTo>
                  <a:lnTo>
                    <a:pt x="5" y="1"/>
                  </a:lnTo>
                  <a:lnTo>
                    <a:pt x="2" y="2"/>
                  </a:lnTo>
                  <a:lnTo>
                    <a:pt x="1" y="4"/>
                  </a:lnTo>
                  <a:lnTo>
                    <a:pt x="0" y="8"/>
                  </a:lnTo>
                  <a:lnTo>
                    <a:pt x="1" y="11"/>
                  </a:lnTo>
                  <a:lnTo>
                    <a:pt x="2" y="15"/>
                  </a:lnTo>
                  <a:lnTo>
                    <a:pt x="5" y="16"/>
                  </a:lnTo>
                  <a:lnTo>
                    <a:pt x="8" y="17"/>
                  </a:lnTo>
                  <a:close/>
                </a:path>
              </a:pathLst>
            </a:custGeom>
            <a:solidFill>
              <a:srgbClr val="FFFFFF"/>
            </a:solidFill>
            <a:ln w="9525">
              <a:noFill/>
              <a:round/>
            </a:ln>
          </p:spPr>
          <p:txBody>
            <a:bodyPr/>
            <a:lstStyle/>
            <a:p>
              <a:endParaRPr lang="en-US"/>
            </a:p>
          </p:txBody>
        </p:sp>
        <p:sp>
          <p:nvSpPr>
            <p:cNvPr id="1048766" name="Rectangle 56"/>
            <p:cNvSpPr>
              <a:spLocks noChangeArrowheads="1"/>
            </p:cNvSpPr>
            <p:nvPr/>
          </p:nvSpPr>
          <p:spPr bwMode="auto">
            <a:xfrm>
              <a:off x="2412" y="3730"/>
              <a:ext cx="6" cy="201"/>
            </a:xfrm>
            <a:prstGeom prst="rect">
              <a:avLst/>
            </a:prstGeom>
            <a:solidFill>
              <a:srgbClr val="000000"/>
            </a:solidFill>
            <a:ln w="9525">
              <a:noFill/>
              <a:miter lim="800000"/>
            </a:ln>
          </p:spPr>
          <p:txBody>
            <a:bodyPr/>
            <a:lstStyle/>
            <a:p>
              <a:endParaRPr lang="en-US"/>
            </a:p>
          </p:txBody>
        </p:sp>
        <p:sp>
          <p:nvSpPr>
            <p:cNvPr id="1048767" name="Freeform 57"/>
            <p:cNvSpPr/>
            <p:nvPr/>
          </p:nvSpPr>
          <p:spPr bwMode="auto">
            <a:xfrm>
              <a:off x="2512" y="3831"/>
              <a:ext cx="36" cy="99"/>
            </a:xfrm>
            <a:custGeom>
              <a:avLst/>
              <a:gdLst>
                <a:gd name="T0" fmla="*/ 5 w 71"/>
                <a:gd name="T1" fmla="*/ 99 h 197"/>
                <a:gd name="T2" fmla="*/ 5 w 71"/>
                <a:gd name="T3" fmla="*/ 97 h 197"/>
                <a:gd name="T4" fmla="*/ 5 w 71"/>
                <a:gd name="T5" fmla="*/ 93 h 197"/>
                <a:gd name="T6" fmla="*/ 6 w 71"/>
                <a:gd name="T7" fmla="*/ 86 h 197"/>
                <a:gd name="T8" fmla="*/ 9 w 71"/>
                <a:gd name="T9" fmla="*/ 78 h 197"/>
                <a:gd name="T10" fmla="*/ 12 w 71"/>
                <a:gd name="T11" fmla="*/ 69 h 197"/>
                <a:gd name="T12" fmla="*/ 18 w 71"/>
                <a:gd name="T13" fmla="*/ 61 h 197"/>
                <a:gd name="T14" fmla="*/ 25 w 71"/>
                <a:gd name="T15" fmla="*/ 54 h 197"/>
                <a:gd name="T16" fmla="*/ 36 w 71"/>
                <a:gd name="T17" fmla="*/ 49 h 197"/>
                <a:gd name="T18" fmla="*/ 36 w 71"/>
                <a:gd name="T19" fmla="*/ 0 h 197"/>
                <a:gd name="T20" fmla="*/ 30 w 71"/>
                <a:gd name="T21" fmla="*/ 0 h 197"/>
                <a:gd name="T22" fmla="*/ 30 w 71"/>
                <a:gd name="T23" fmla="*/ 45 h 197"/>
                <a:gd name="T24" fmla="*/ 29 w 71"/>
                <a:gd name="T25" fmla="*/ 45 h 197"/>
                <a:gd name="T26" fmla="*/ 25 w 71"/>
                <a:gd name="T27" fmla="*/ 47 h 197"/>
                <a:gd name="T28" fmla="*/ 21 w 71"/>
                <a:gd name="T29" fmla="*/ 50 h 197"/>
                <a:gd name="T30" fmla="*/ 16 w 71"/>
                <a:gd name="T31" fmla="*/ 56 h 197"/>
                <a:gd name="T32" fmla="*/ 10 w 71"/>
                <a:gd name="T33" fmla="*/ 63 h 197"/>
                <a:gd name="T34" fmla="*/ 5 w 71"/>
                <a:gd name="T35" fmla="*/ 72 h 197"/>
                <a:gd name="T36" fmla="*/ 2 w 71"/>
                <a:gd name="T37" fmla="*/ 84 h 197"/>
                <a:gd name="T38" fmla="*/ 0 w 71"/>
                <a:gd name="T39" fmla="*/ 99 h 197"/>
                <a:gd name="T40" fmla="*/ 5 w 71"/>
                <a:gd name="T41" fmla="*/ 99 h 197"/>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71"/>
                <a:gd name="T64" fmla="*/ 0 h 197"/>
                <a:gd name="T65" fmla="*/ 71 w 71"/>
                <a:gd name="T66" fmla="*/ 197 h 197"/>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71" h="197">
                  <a:moveTo>
                    <a:pt x="9" y="197"/>
                  </a:moveTo>
                  <a:lnTo>
                    <a:pt x="9" y="194"/>
                  </a:lnTo>
                  <a:lnTo>
                    <a:pt x="10" y="185"/>
                  </a:lnTo>
                  <a:lnTo>
                    <a:pt x="12" y="172"/>
                  </a:lnTo>
                  <a:lnTo>
                    <a:pt x="17" y="156"/>
                  </a:lnTo>
                  <a:lnTo>
                    <a:pt x="24" y="138"/>
                  </a:lnTo>
                  <a:lnTo>
                    <a:pt x="35" y="122"/>
                  </a:lnTo>
                  <a:lnTo>
                    <a:pt x="50" y="107"/>
                  </a:lnTo>
                  <a:lnTo>
                    <a:pt x="71" y="97"/>
                  </a:lnTo>
                  <a:lnTo>
                    <a:pt x="71" y="0"/>
                  </a:lnTo>
                  <a:lnTo>
                    <a:pt x="60" y="0"/>
                  </a:lnTo>
                  <a:lnTo>
                    <a:pt x="60" y="89"/>
                  </a:lnTo>
                  <a:lnTo>
                    <a:pt x="57" y="90"/>
                  </a:lnTo>
                  <a:lnTo>
                    <a:pt x="50" y="93"/>
                  </a:lnTo>
                  <a:lnTo>
                    <a:pt x="41" y="100"/>
                  </a:lnTo>
                  <a:lnTo>
                    <a:pt x="31" y="111"/>
                  </a:lnTo>
                  <a:lnTo>
                    <a:pt x="19" y="126"/>
                  </a:lnTo>
                  <a:lnTo>
                    <a:pt x="10" y="144"/>
                  </a:lnTo>
                  <a:lnTo>
                    <a:pt x="3" y="168"/>
                  </a:lnTo>
                  <a:lnTo>
                    <a:pt x="0" y="197"/>
                  </a:lnTo>
                  <a:lnTo>
                    <a:pt x="9" y="197"/>
                  </a:lnTo>
                  <a:close/>
                </a:path>
              </a:pathLst>
            </a:custGeom>
            <a:solidFill>
              <a:srgbClr val="000000"/>
            </a:solidFill>
            <a:ln w="9525">
              <a:noFill/>
              <a:round/>
            </a:ln>
          </p:spPr>
          <p:txBody>
            <a:bodyPr/>
            <a:lstStyle/>
            <a:p>
              <a:endParaRPr lang="en-US"/>
            </a:p>
          </p:txBody>
        </p:sp>
        <p:sp>
          <p:nvSpPr>
            <p:cNvPr id="1048768" name="Freeform 58"/>
            <p:cNvSpPr/>
            <p:nvPr/>
          </p:nvSpPr>
          <p:spPr bwMode="auto">
            <a:xfrm>
              <a:off x="2601" y="3829"/>
              <a:ext cx="8" cy="6"/>
            </a:xfrm>
            <a:custGeom>
              <a:avLst/>
              <a:gdLst>
                <a:gd name="T0" fmla="*/ 4 w 16"/>
                <a:gd name="T1" fmla="*/ 6 h 10"/>
                <a:gd name="T2" fmla="*/ 6 w 16"/>
                <a:gd name="T3" fmla="*/ 6 h 10"/>
                <a:gd name="T4" fmla="*/ 7 w 16"/>
                <a:gd name="T5" fmla="*/ 5 h 10"/>
                <a:gd name="T6" fmla="*/ 7 w 16"/>
                <a:gd name="T7" fmla="*/ 4 h 10"/>
                <a:gd name="T8" fmla="*/ 8 w 16"/>
                <a:gd name="T9" fmla="*/ 3 h 10"/>
                <a:gd name="T10" fmla="*/ 7 w 16"/>
                <a:gd name="T11" fmla="*/ 2 h 10"/>
                <a:gd name="T12" fmla="*/ 7 w 16"/>
                <a:gd name="T13" fmla="*/ 1 h 10"/>
                <a:gd name="T14" fmla="*/ 6 w 16"/>
                <a:gd name="T15" fmla="*/ 0 h 10"/>
                <a:gd name="T16" fmla="*/ 4 w 16"/>
                <a:gd name="T17" fmla="*/ 0 h 10"/>
                <a:gd name="T18" fmla="*/ 2 w 16"/>
                <a:gd name="T19" fmla="*/ 0 h 10"/>
                <a:gd name="T20" fmla="*/ 1 w 16"/>
                <a:gd name="T21" fmla="*/ 1 h 10"/>
                <a:gd name="T22" fmla="*/ 1 w 16"/>
                <a:gd name="T23" fmla="*/ 2 h 10"/>
                <a:gd name="T24" fmla="*/ 0 w 16"/>
                <a:gd name="T25" fmla="*/ 3 h 10"/>
                <a:gd name="T26" fmla="*/ 1 w 16"/>
                <a:gd name="T27" fmla="*/ 4 h 10"/>
                <a:gd name="T28" fmla="*/ 1 w 16"/>
                <a:gd name="T29" fmla="*/ 5 h 10"/>
                <a:gd name="T30" fmla="*/ 2 w 16"/>
                <a:gd name="T31" fmla="*/ 6 h 10"/>
                <a:gd name="T32" fmla="*/ 4 w 16"/>
                <a:gd name="T33" fmla="*/ 6 h 10"/>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6"/>
                <a:gd name="T52" fmla="*/ 0 h 10"/>
                <a:gd name="T53" fmla="*/ 16 w 16"/>
                <a:gd name="T54" fmla="*/ 10 h 10"/>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6" h="10">
                  <a:moveTo>
                    <a:pt x="8" y="10"/>
                  </a:moveTo>
                  <a:lnTo>
                    <a:pt x="12" y="10"/>
                  </a:lnTo>
                  <a:lnTo>
                    <a:pt x="14" y="9"/>
                  </a:lnTo>
                  <a:lnTo>
                    <a:pt x="15" y="7"/>
                  </a:lnTo>
                  <a:lnTo>
                    <a:pt x="16" y="5"/>
                  </a:lnTo>
                  <a:lnTo>
                    <a:pt x="15" y="3"/>
                  </a:lnTo>
                  <a:lnTo>
                    <a:pt x="14" y="1"/>
                  </a:lnTo>
                  <a:lnTo>
                    <a:pt x="12" y="0"/>
                  </a:lnTo>
                  <a:lnTo>
                    <a:pt x="8" y="0"/>
                  </a:lnTo>
                  <a:lnTo>
                    <a:pt x="5" y="0"/>
                  </a:lnTo>
                  <a:lnTo>
                    <a:pt x="3" y="1"/>
                  </a:lnTo>
                  <a:lnTo>
                    <a:pt x="1" y="3"/>
                  </a:lnTo>
                  <a:lnTo>
                    <a:pt x="0" y="5"/>
                  </a:lnTo>
                  <a:lnTo>
                    <a:pt x="1" y="7"/>
                  </a:lnTo>
                  <a:lnTo>
                    <a:pt x="3" y="9"/>
                  </a:lnTo>
                  <a:lnTo>
                    <a:pt x="5" y="10"/>
                  </a:lnTo>
                  <a:lnTo>
                    <a:pt x="8" y="10"/>
                  </a:lnTo>
                  <a:close/>
                </a:path>
              </a:pathLst>
            </a:custGeom>
            <a:solidFill>
              <a:srgbClr val="FFFFFF"/>
            </a:solidFill>
            <a:ln w="9525">
              <a:noFill/>
              <a:round/>
            </a:ln>
          </p:spPr>
          <p:txBody>
            <a:bodyPr/>
            <a:lstStyle/>
            <a:p>
              <a:endParaRPr lang="en-US"/>
            </a:p>
          </p:txBody>
        </p:sp>
        <p:sp>
          <p:nvSpPr>
            <p:cNvPr id="1048769" name="Freeform 59"/>
            <p:cNvSpPr/>
            <p:nvPr/>
          </p:nvSpPr>
          <p:spPr bwMode="auto">
            <a:xfrm>
              <a:off x="2254" y="3826"/>
              <a:ext cx="98" cy="24"/>
            </a:xfrm>
            <a:custGeom>
              <a:avLst/>
              <a:gdLst>
                <a:gd name="T0" fmla="*/ 49 w 195"/>
                <a:gd name="T1" fmla="*/ 15 h 48"/>
                <a:gd name="T2" fmla="*/ 43 w 195"/>
                <a:gd name="T3" fmla="*/ 15 h 48"/>
                <a:gd name="T4" fmla="*/ 38 w 195"/>
                <a:gd name="T5" fmla="*/ 14 h 48"/>
                <a:gd name="T6" fmla="*/ 33 w 195"/>
                <a:gd name="T7" fmla="*/ 13 h 48"/>
                <a:gd name="T8" fmla="*/ 28 w 195"/>
                <a:gd name="T9" fmla="*/ 11 h 48"/>
                <a:gd name="T10" fmla="*/ 24 w 195"/>
                <a:gd name="T11" fmla="*/ 9 h 48"/>
                <a:gd name="T12" fmla="*/ 20 w 195"/>
                <a:gd name="T13" fmla="*/ 6 h 48"/>
                <a:gd name="T14" fmla="*/ 16 w 195"/>
                <a:gd name="T15" fmla="*/ 3 h 48"/>
                <a:gd name="T16" fmla="*/ 13 w 195"/>
                <a:gd name="T17" fmla="*/ 0 h 48"/>
                <a:gd name="T18" fmla="*/ 0 w 195"/>
                <a:gd name="T19" fmla="*/ 0 h 48"/>
                <a:gd name="T20" fmla="*/ 4 w 195"/>
                <a:gd name="T21" fmla="*/ 5 h 48"/>
                <a:gd name="T22" fmla="*/ 8 w 195"/>
                <a:gd name="T23" fmla="*/ 10 h 48"/>
                <a:gd name="T24" fmla="*/ 13 w 195"/>
                <a:gd name="T25" fmla="*/ 13 h 48"/>
                <a:gd name="T26" fmla="*/ 20 w 195"/>
                <a:gd name="T27" fmla="*/ 17 h 48"/>
                <a:gd name="T28" fmla="*/ 26 w 195"/>
                <a:gd name="T29" fmla="*/ 20 h 48"/>
                <a:gd name="T30" fmla="*/ 33 w 195"/>
                <a:gd name="T31" fmla="*/ 23 h 48"/>
                <a:gd name="T32" fmla="*/ 41 w 195"/>
                <a:gd name="T33" fmla="*/ 24 h 48"/>
                <a:gd name="T34" fmla="*/ 49 w 195"/>
                <a:gd name="T35" fmla="*/ 24 h 48"/>
                <a:gd name="T36" fmla="*/ 57 w 195"/>
                <a:gd name="T37" fmla="*/ 24 h 48"/>
                <a:gd name="T38" fmla="*/ 65 w 195"/>
                <a:gd name="T39" fmla="*/ 23 h 48"/>
                <a:gd name="T40" fmla="*/ 71 w 195"/>
                <a:gd name="T41" fmla="*/ 20 h 48"/>
                <a:gd name="T42" fmla="*/ 78 w 195"/>
                <a:gd name="T43" fmla="*/ 17 h 48"/>
                <a:gd name="T44" fmla="*/ 84 w 195"/>
                <a:gd name="T45" fmla="*/ 13 h 48"/>
                <a:gd name="T46" fmla="*/ 89 w 195"/>
                <a:gd name="T47" fmla="*/ 10 h 48"/>
                <a:gd name="T48" fmla="*/ 94 w 195"/>
                <a:gd name="T49" fmla="*/ 5 h 48"/>
                <a:gd name="T50" fmla="*/ 98 w 195"/>
                <a:gd name="T51" fmla="*/ 0 h 48"/>
                <a:gd name="T52" fmla="*/ 85 w 195"/>
                <a:gd name="T53" fmla="*/ 0 h 48"/>
                <a:gd name="T54" fmla="*/ 81 w 195"/>
                <a:gd name="T55" fmla="*/ 3 h 48"/>
                <a:gd name="T56" fmla="*/ 78 w 195"/>
                <a:gd name="T57" fmla="*/ 6 h 48"/>
                <a:gd name="T58" fmla="*/ 74 w 195"/>
                <a:gd name="T59" fmla="*/ 9 h 48"/>
                <a:gd name="T60" fmla="*/ 69 w 195"/>
                <a:gd name="T61" fmla="*/ 11 h 48"/>
                <a:gd name="T62" fmla="*/ 65 w 195"/>
                <a:gd name="T63" fmla="*/ 13 h 48"/>
                <a:gd name="T64" fmla="*/ 59 w 195"/>
                <a:gd name="T65" fmla="*/ 14 h 48"/>
                <a:gd name="T66" fmla="*/ 54 w 195"/>
                <a:gd name="T67" fmla="*/ 15 h 48"/>
                <a:gd name="T68" fmla="*/ 49 w 195"/>
                <a:gd name="T69" fmla="*/ 15 h 48"/>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195"/>
                <a:gd name="T106" fmla="*/ 0 h 48"/>
                <a:gd name="T107" fmla="*/ 195 w 195"/>
                <a:gd name="T108" fmla="*/ 48 h 48"/>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195" h="48">
                  <a:moveTo>
                    <a:pt x="98" y="31"/>
                  </a:moveTo>
                  <a:lnTo>
                    <a:pt x="86" y="30"/>
                  </a:lnTo>
                  <a:lnTo>
                    <a:pt x="76" y="29"/>
                  </a:lnTo>
                  <a:lnTo>
                    <a:pt x="65" y="26"/>
                  </a:lnTo>
                  <a:lnTo>
                    <a:pt x="56" y="22"/>
                  </a:lnTo>
                  <a:lnTo>
                    <a:pt x="47" y="18"/>
                  </a:lnTo>
                  <a:lnTo>
                    <a:pt x="39" y="12"/>
                  </a:lnTo>
                  <a:lnTo>
                    <a:pt x="32" y="7"/>
                  </a:lnTo>
                  <a:lnTo>
                    <a:pt x="25" y="0"/>
                  </a:lnTo>
                  <a:lnTo>
                    <a:pt x="0" y="0"/>
                  </a:lnTo>
                  <a:lnTo>
                    <a:pt x="7" y="10"/>
                  </a:lnTo>
                  <a:lnTo>
                    <a:pt x="16" y="19"/>
                  </a:lnTo>
                  <a:lnTo>
                    <a:pt x="26" y="27"/>
                  </a:lnTo>
                  <a:lnTo>
                    <a:pt x="39" y="34"/>
                  </a:lnTo>
                  <a:lnTo>
                    <a:pt x="51" y="40"/>
                  </a:lnTo>
                  <a:lnTo>
                    <a:pt x="66" y="45"/>
                  </a:lnTo>
                  <a:lnTo>
                    <a:pt x="81" y="47"/>
                  </a:lnTo>
                  <a:lnTo>
                    <a:pt x="98" y="48"/>
                  </a:lnTo>
                  <a:lnTo>
                    <a:pt x="114" y="47"/>
                  </a:lnTo>
                  <a:lnTo>
                    <a:pt x="129" y="45"/>
                  </a:lnTo>
                  <a:lnTo>
                    <a:pt x="142" y="40"/>
                  </a:lnTo>
                  <a:lnTo>
                    <a:pt x="155" y="34"/>
                  </a:lnTo>
                  <a:lnTo>
                    <a:pt x="168" y="27"/>
                  </a:lnTo>
                  <a:lnTo>
                    <a:pt x="178" y="19"/>
                  </a:lnTo>
                  <a:lnTo>
                    <a:pt x="187" y="10"/>
                  </a:lnTo>
                  <a:lnTo>
                    <a:pt x="195" y="0"/>
                  </a:lnTo>
                  <a:lnTo>
                    <a:pt x="169" y="0"/>
                  </a:lnTo>
                  <a:lnTo>
                    <a:pt x="162" y="7"/>
                  </a:lnTo>
                  <a:lnTo>
                    <a:pt x="155" y="12"/>
                  </a:lnTo>
                  <a:lnTo>
                    <a:pt x="147" y="18"/>
                  </a:lnTo>
                  <a:lnTo>
                    <a:pt x="138" y="22"/>
                  </a:lnTo>
                  <a:lnTo>
                    <a:pt x="129" y="26"/>
                  </a:lnTo>
                  <a:lnTo>
                    <a:pt x="118" y="29"/>
                  </a:lnTo>
                  <a:lnTo>
                    <a:pt x="108" y="30"/>
                  </a:lnTo>
                  <a:lnTo>
                    <a:pt x="98" y="31"/>
                  </a:lnTo>
                  <a:close/>
                </a:path>
              </a:pathLst>
            </a:custGeom>
            <a:solidFill>
              <a:srgbClr val="FFFFFF"/>
            </a:solidFill>
            <a:ln w="9525">
              <a:noFill/>
              <a:round/>
            </a:ln>
          </p:spPr>
          <p:txBody>
            <a:bodyPr/>
            <a:lstStyle/>
            <a:p>
              <a:endParaRPr lang="en-US"/>
            </a:p>
          </p:txBody>
        </p:sp>
        <p:sp>
          <p:nvSpPr>
            <p:cNvPr id="1048770" name="Freeform 60"/>
            <p:cNvSpPr/>
            <p:nvPr/>
          </p:nvSpPr>
          <p:spPr bwMode="auto">
            <a:xfrm>
              <a:off x="2292" y="3831"/>
              <a:ext cx="26" cy="30"/>
            </a:xfrm>
            <a:custGeom>
              <a:avLst/>
              <a:gdLst>
                <a:gd name="T0" fmla="*/ 21 w 51"/>
                <a:gd name="T1" fmla="*/ 0 h 60"/>
                <a:gd name="T2" fmla="*/ 22 w 51"/>
                <a:gd name="T3" fmla="*/ 1 h 60"/>
                <a:gd name="T4" fmla="*/ 24 w 51"/>
                <a:gd name="T5" fmla="*/ 3 h 60"/>
                <a:gd name="T6" fmla="*/ 26 w 51"/>
                <a:gd name="T7" fmla="*/ 5 h 60"/>
                <a:gd name="T8" fmla="*/ 25 w 51"/>
                <a:gd name="T9" fmla="*/ 8 h 60"/>
                <a:gd name="T10" fmla="*/ 25 w 51"/>
                <a:gd name="T11" fmla="*/ 8 h 60"/>
                <a:gd name="T12" fmla="*/ 25 w 51"/>
                <a:gd name="T13" fmla="*/ 10 h 60"/>
                <a:gd name="T14" fmla="*/ 24 w 51"/>
                <a:gd name="T15" fmla="*/ 11 h 60"/>
                <a:gd name="T16" fmla="*/ 25 w 51"/>
                <a:gd name="T17" fmla="*/ 14 h 60"/>
                <a:gd name="T18" fmla="*/ 26 w 51"/>
                <a:gd name="T19" fmla="*/ 15 h 60"/>
                <a:gd name="T20" fmla="*/ 25 w 51"/>
                <a:gd name="T21" fmla="*/ 18 h 60"/>
                <a:gd name="T22" fmla="*/ 24 w 51"/>
                <a:gd name="T23" fmla="*/ 19 h 60"/>
                <a:gd name="T24" fmla="*/ 23 w 51"/>
                <a:gd name="T25" fmla="*/ 19 h 60"/>
                <a:gd name="T26" fmla="*/ 24 w 51"/>
                <a:gd name="T27" fmla="*/ 20 h 60"/>
                <a:gd name="T28" fmla="*/ 25 w 51"/>
                <a:gd name="T29" fmla="*/ 22 h 60"/>
                <a:gd name="T30" fmla="*/ 26 w 51"/>
                <a:gd name="T31" fmla="*/ 26 h 60"/>
                <a:gd name="T32" fmla="*/ 24 w 51"/>
                <a:gd name="T33" fmla="*/ 29 h 60"/>
                <a:gd name="T34" fmla="*/ 22 w 51"/>
                <a:gd name="T35" fmla="*/ 30 h 60"/>
                <a:gd name="T36" fmla="*/ 19 w 51"/>
                <a:gd name="T37" fmla="*/ 30 h 60"/>
                <a:gd name="T38" fmla="*/ 16 w 51"/>
                <a:gd name="T39" fmla="*/ 30 h 60"/>
                <a:gd name="T40" fmla="*/ 12 w 51"/>
                <a:gd name="T41" fmla="*/ 30 h 60"/>
                <a:gd name="T42" fmla="*/ 8 w 51"/>
                <a:gd name="T43" fmla="*/ 30 h 60"/>
                <a:gd name="T44" fmla="*/ 5 w 51"/>
                <a:gd name="T45" fmla="*/ 29 h 60"/>
                <a:gd name="T46" fmla="*/ 2 w 51"/>
                <a:gd name="T47" fmla="*/ 28 h 60"/>
                <a:gd name="T48" fmla="*/ 1 w 51"/>
                <a:gd name="T49" fmla="*/ 27 h 60"/>
                <a:gd name="T50" fmla="*/ 0 w 51"/>
                <a:gd name="T51" fmla="*/ 25 h 60"/>
                <a:gd name="T52" fmla="*/ 2 w 51"/>
                <a:gd name="T53" fmla="*/ 22 h 60"/>
                <a:gd name="T54" fmla="*/ 3 w 51"/>
                <a:gd name="T55" fmla="*/ 21 h 60"/>
                <a:gd name="T56" fmla="*/ 4 w 51"/>
                <a:gd name="T57" fmla="*/ 20 h 60"/>
                <a:gd name="T58" fmla="*/ 3 w 51"/>
                <a:gd name="T59" fmla="*/ 20 h 60"/>
                <a:gd name="T60" fmla="*/ 2 w 51"/>
                <a:gd name="T61" fmla="*/ 18 h 60"/>
                <a:gd name="T62" fmla="*/ 1 w 51"/>
                <a:gd name="T63" fmla="*/ 15 h 60"/>
                <a:gd name="T64" fmla="*/ 1 w 51"/>
                <a:gd name="T65" fmla="*/ 14 h 60"/>
                <a:gd name="T66" fmla="*/ 3 w 51"/>
                <a:gd name="T67" fmla="*/ 12 h 60"/>
                <a:gd name="T68" fmla="*/ 4 w 51"/>
                <a:gd name="T69" fmla="*/ 11 h 60"/>
                <a:gd name="T70" fmla="*/ 5 w 51"/>
                <a:gd name="T71" fmla="*/ 11 h 60"/>
                <a:gd name="T72" fmla="*/ 5 w 51"/>
                <a:gd name="T73" fmla="*/ 11 h 60"/>
                <a:gd name="T74" fmla="*/ 3 w 51"/>
                <a:gd name="T75" fmla="*/ 10 h 60"/>
                <a:gd name="T76" fmla="*/ 2 w 51"/>
                <a:gd name="T77" fmla="*/ 8 h 60"/>
                <a:gd name="T78" fmla="*/ 1 w 51"/>
                <a:gd name="T79" fmla="*/ 6 h 60"/>
                <a:gd name="T80" fmla="*/ 2 w 51"/>
                <a:gd name="T81" fmla="*/ 4 h 60"/>
                <a:gd name="T82" fmla="*/ 4 w 51"/>
                <a:gd name="T83" fmla="*/ 2 h 60"/>
                <a:gd name="T84" fmla="*/ 5 w 51"/>
                <a:gd name="T85" fmla="*/ 1 h 60"/>
                <a:gd name="T86" fmla="*/ 6 w 51"/>
                <a:gd name="T87" fmla="*/ 1 h 60"/>
                <a:gd name="T88" fmla="*/ 7 w 51"/>
                <a:gd name="T89" fmla="*/ 1 h 60"/>
                <a:gd name="T90" fmla="*/ 21 w 51"/>
                <a:gd name="T91" fmla="*/ 0 h 60"/>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w 51"/>
                <a:gd name="T139" fmla="*/ 0 h 60"/>
                <a:gd name="T140" fmla="*/ 51 w 51"/>
                <a:gd name="T141" fmla="*/ 60 h 60"/>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T138" t="T139" r="T140" b="T141"/>
              <a:pathLst>
                <a:path w="51" h="60">
                  <a:moveTo>
                    <a:pt x="42" y="0"/>
                  </a:moveTo>
                  <a:lnTo>
                    <a:pt x="44" y="1"/>
                  </a:lnTo>
                  <a:lnTo>
                    <a:pt x="48" y="5"/>
                  </a:lnTo>
                  <a:lnTo>
                    <a:pt x="51" y="9"/>
                  </a:lnTo>
                  <a:lnTo>
                    <a:pt x="50" y="15"/>
                  </a:lnTo>
                  <a:lnTo>
                    <a:pt x="49" y="16"/>
                  </a:lnTo>
                  <a:lnTo>
                    <a:pt x="49" y="19"/>
                  </a:lnTo>
                  <a:lnTo>
                    <a:pt x="48" y="22"/>
                  </a:lnTo>
                  <a:lnTo>
                    <a:pt x="50" y="27"/>
                  </a:lnTo>
                  <a:lnTo>
                    <a:pt x="51" y="31"/>
                  </a:lnTo>
                  <a:lnTo>
                    <a:pt x="49" y="35"/>
                  </a:lnTo>
                  <a:lnTo>
                    <a:pt x="47" y="37"/>
                  </a:lnTo>
                  <a:lnTo>
                    <a:pt x="46" y="38"/>
                  </a:lnTo>
                  <a:lnTo>
                    <a:pt x="47" y="40"/>
                  </a:lnTo>
                  <a:lnTo>
                    <a:pt x="50" y="44"/>
                  </a:lnTo>
                  <a:lnTo>
                    <a:pt x="51" y="51"/>
                  </a:lnTo>
                  <a:lnTo>
                    <a:pt x="48" y="57"/>
                  </a:lnTo>
                  <a:lnTo>
                    <a:pt x="43" y="59"/>
                  </a:lnTo>
                  <a:lnTo>
                    <a:pt x="38" y="60"/>
                  </a:lnTo>
                  <a:lnTo>
                    <a:pt x="31" y="60"/>
                  </a:lnTo>
                  <a:lnTo>
                    <a:pt x="23" y="60"/>
                  </a:lnTo>
                  <a:lnTo>
                    <a:pt x="16" y="59"/>
                  </a:lnTo>
                  <a:lnTo>
                    <a:pt x="9" y="58"/>
                  </a:lnTo>
                  <a:lnTo>
                    <a:pt x="4" y="55"/>
                  </a:lnTo>
                  <a:lnTo>
                    <a:pt x="1" y="53"/>
                  </a:lnTo>
                  <a:lnTo>
                    <a:pt x="0" y="49"/>
                  </a:lnTo>
                  <a:lnTo>
                    <a:pt x="3" y="44"/>
                  </a:lnTo>
                  <a:lnTo>
                    <a:pt x="6" y="42"/>
                  </a:lnTo>
                  <a:lnTo>
                    <a:pt x="8" y="40"/>
                  </a:lnTo>
                  <a:lnTo>
                    <a:pt x="6" y="39"/>
                  </a:lnTo>
                  <a:lnTo>
                    <a:pt x="3" y="36"/>
                  </a:lnTo>
                  <a:lnTo>
                    <a:pt x="1" y="31"/>
                  </a:lnTo>
                  <a:lnTo>
                    <a:pt x="2" y="27"/>
                  </a:lnTo>
                  <a:lnTo>
                    <a:pt x="5" y="23"/>
                  </a:lnTo>
                  <a:lnTo>
                    <a:pt x="8" y="22"/>
                  </a:lnTo>
                  <a:lnTo>
                    <a:pt x="9" y="21"/>
                  </a:lnTo>
                  <a:lnTo>
                    <a:pt x="6" y="20"/>
                  </a:lnTo>
                  <a:lnTo>
                    <a:pt x="3" y="16"/>
                  </a:lnTo>
                  <a:lnTo>
                    <a:pt x="1" y="12"/>
                  </a:lnTo>
                  <a:lnTo>
                    <a:pt x="3" y="7"/>
                  </a:lnTo>
                  <a:lnTo>
                    <a:pt x="8" y="4"/>
                  </a:lnTo>
                  <a:lnTo>
                    <a:pt x="10" y="2"/>
                  </a:lnTo>
                  <a:lnTo>
                    <a:pt x="12" y="2"/>
                  </a:lnTo>
                  <a:lnTo>
                    <a:pt x="13" y="2"/>
                  </a:lnTo>
                  <a:lnTo>
                    <a:pt x="42" y="0"/>
                  </a:lnTo>
                  <a:close/>
                </a:path>
              </a:pathLst>
            </a:custGeom>
            <a:solidFill>
              <a:srgbClr val="FFDB82"/>
            </a:solidFill>
            <a:ln w="9525">
              <a:noFill/>
              <a:round/>
            </a:ln>
          </p:spPr>
          <p:txBody>
            <a:bodyPr/>
            <a:lstStyle/>
            <a:p>
              <a:endParaRPr lang="en-US"/>
            </a:p>
          </p:txBody>
        </p:sp>
        <p:sp>
          <p:nvSpPr>
            <p:cNvPr id="1048771" name="Freeform 61"/>
            <p:cNvSpPr/>
            <p:nvPr/>
          </p:nvSpPr>
          <p:spPr bwMode="auto">
            <a:xfrm>
              <a:off x="2249" y="3761"/>
              <a:ext cx="108" cy="37"/>
            </a:xfrm>
            <a:custGeom>
              <a:avLst/>
              <a:gdLst>
                <a:gd name="T0" fmla="*/ 54 w 217"/>
                <a:gd name="T1" fmla="*/ 9 h 72"/>
                <a:gd name="T2" fmla="*/ 62 w 217"/>
                <a:gd name="T3" fmla="*/ 9 h 72"/>
                <a:gd name="T4" fmla="*/ 69 w 217"/>
                <a:gd name="T5" fmla="*/ 11 h 72"/>
                <a:gd name="T6" fmla="*/ 75 w 217"/>
                <a:gd name="T7" fmla="*/ 13 h 72"/>
                <a:gd name="T8" fmla="*/ 82 w 217"/>
                <a:gd name="T9" fmla="*/ 17 h 72"/>
                <a:gd name="T10" fmla="*/ 87 w 217"/>
                <a:gd name="T11" fmla="*/ 21 h 72"/>
                <a:gd name="T12" fmla="*/ 91 w 217"/>
                <a:gd name="T13" fmla="*/ 26 h 72"/>
                <a:gd name="T14" fmla="*/ 94 w 217"/>
                <a:gd name="T15" fmla="*/ 31 h 72"/>
                <a:gd name="T16" fmla="*/ 97 w 217"/>
                <a:gd name="T17" fmla="*/ 37 h 72"/>
                <a:gd name="T18" fmla="*/ 108 w 217"/>
                <a:gd name="T19" fmla="*/ 37 h 72"/>
                <a:gd name="T20" fmla="*/ 106 w 217"/>
                <a:gd name="T21" fmla="*/ 29 h 72"/>
                <a:gd name="T22" fmla="*/ 102 w 217"/>
                <a:gd name="T23" fmla="*/ 22 h 72"/>
                <a:gd name="T24" fmla="*/ 96 w 217"/>
                <a:gd name="T25" fmla="*/ 16 h 72"/>
                <a:gd name="T26" fmla="*/ 90 w 217"/>
                <a:gd name="T27" fmla="*/ 10 h 72"/>
                <a:gd name="T28" fmla="*/ 82 w 217"/>
                <a:gd name="T29" fmla="*/ 6 h 72"/>
                <a:gd name="T30" fmla="*/ 73 w 217"/>
                <a:gd name="T31" fmla="*/ 3 h 72"/>
                <a:gd name="T32" fmla="*/ 64 w 217"/>
                <a:gd name="T33" fmla="*/ 1 h 72"/>
                <a:gd name="T34" fmla="*/ 54 w 217"/>
                <a:gd name="T35" fmla="*/ 0 h 72"/>
                <a:gd name="T36" fmla="*/ 44 w 217"/>
                <a:gd name="T37" fmla="*/ 1 h 72"/>
                <a:gd name="T38" fmla="*/ 35 w 217"/>
                <a:gd name="T39" fmla="*/ 3 h 72"/>
                <a:gd name="T40" fmla="*/ 26 w 217"/>
                <a:gd name="T41" fmla="*/ 6 h 72"/>
                <a:gd name="T42" fmla="*/ 18 w 217"/>
                <a:gd name="T43" fmla="*/ 10 h 72"/>
                <a:gd name="T44" fmla="*/ 12 w 217"/>
                <a:gd name="T45" fmla="*/ 16 h 72"/>
                <a:gd name="T46" fmla="*/ 6 w 217"/>
                <a:gd name="T47" fmla="*/ 22 h 72"/>
                <a:gd name="T48" fmla="*/ 2 w 217"/>
                <a:gd name="T49" fmla="*/ 29 h 72"/>
                <a:gd name="T50" fmla="*/ 0 w 217"/>
                <a:gd name="T51" fmla="*/ 37 h 72"/>
                <a:gd name="T52" fmla="*/ 11 w 217"/>
                <a:gd name="T53" fmla="*/ 37 h 72"/>
                <a:gd name="T54" fmla="*/ 14 w 217"/>
                <a:gd name="T55" fmla="*/ 31 h 72"/>
                <a:gd name="T56" fmla="*/ 17 w 217"/>
                <a:gd name="T57" fmla="*/ 26 h 72"/>
                <a:gd name="T58" fmla="*/ 21 w 217"/>
                <a:gd name="T59" fmla="*/ 21 h 72"/>
                <a:gd name="T60" fmla="*/ 26 w 217"/>
                <a:gd name="T61" fmla="*/ 17 h 72"/>
                <a:gd name="T62" fmla="*/ 32 w 217"/>
                <a:gd name="T63" fmla="*/ 13 h 72"/>
                <a:gd name="T64" fmla="*/ 39 w 217"/>
                <a:gd name="T65" fmla="*/ 11 h 72"/>
                <a:gd name="T66" fmla="*/ 46 w 217"/>
                <a:gd name="T67" fmla="*/ 9 h 72"/>
                <a:gd name="T68" fmla="*/ 54 w 217"/>
                <a:gd name="T69" fmla="*/ 9 h 72"/>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217"/>
                <a:gd name="T106" fmla="*/ 0 h 72"/>
                <a:gd name="T107" fmla="*/ 217 w 217"/>
                <a:gd name="T108" fmla="*/ 72 h 72"/>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217" h="72">
                  <a:moveTo>
                    <a:pt x="109" y="17"/>
                  </a:moveTo>
                  <a:lnTo>
                    <a:pt x="124" y="18"/>
                  </a:lnTo>
                  <a:lnTo>
                    <a:pt x="139" y="22"/>
                  </a:lnTo>
                  <a:lnTo>
                    <a:pt x="151" y="26"/>
                  </a:lnTo>
                  <a:lnTo>
                    <a:pt x="164" y="33"/>
                  </a:lnTo>
                  <a:lnTo>
                    <a:pt x="174" y="41"/>
                  </a:lnTo>
                  <a:lnTo>
                    <a:pt x="182" y="50"/>
                  </a:lnTo>
                  <a:lnTo>
                    <a:pt x="189" y="61"/>
                  </a:lnTo>
                  <a:lnTo>
                    <a:pt x="194" y="72"/>
                  </a:lnTo>
                  <a:lnTo>
                    <a:pt x="217" y="72"/>
                  </a:lnTo>
                  <a:lnTo>
                    <a:pt x="212" y="57"/>
                  </a:lnTo>
                  <a:lnTo>
                    <a:pt x="204" y="43"/>
                  </a:lnTo>
                  <a:lnTo>
                    <a:pt x="193" y="31"/>
                  </a:lnTo>
                  <a:lnTo>
                    <a:pt x="180" y="20"/>
                  </a:lnTo>
                  <a:lnTo>
                    <a:pt x="164" y="11"/>
                  </a:lnTo>
                  <a:lnTo>
                    <a:pt x="147" y="5"/>
                  </a:lnTo>
                  <a:lnTo>
                    <a:pt x="128" y="1"/>
                  </a:lnTo>
                  <a:lnTo>
                    <a:pt x="109" y="0"/>
                  </a:lnTo>
                  <a:lnTo>
                    <a:pt x="89" y="1"/>
                  </a:lnTo>
                  <a:lnTo>
                    <a:pt x="71" y="5"/>
                  </a:lnTo>
                  <a:lnTo>
                    <a:pt x="53" y="11"/>
                  </a:lnTo>
                  <a:lnTo>
                    <a:pt x="37" y="20"/>
                  </a:lnTo>
                  <a:lnTo>
                    <a:pt x="24" y="31"/>
                  </a:lnTo>
                  <a:lnTo>
                    <a:pt x="13" y="43"/>
                  </a:lnTo>
                  <a:lnTo>
                    <a:pt x="5" y="57"/>
                  </a:lnTo>
                  <a:lnTo>
                    <a:pt x="0" y="72"/>
                  </a:lnTo>
                  <a:lnTo>
                    <a:pt x="23" y="72"/>
                  </a:lnTo>
                  <a:lnTo>
                    <a:pt x="28" y="61"/>
                  </a:lnTo>
                  <a:lnTo>
                    <a:pt x="34" y="50"/>
                  </a:lnTo>
                  <a:lnTo>
                    <a:pt x="43" y="41"/>
                  </a:lnTo>
                  <a:lnTo>
                    <a:pt x="53" y="33"/>
                  </a:lnTo>
                  <a:lnTo>
                    <a:pt x="65" y="26"/>
                  </a:lnTo>
                  <a:lnTo>
                    <a:pt x="79" y="22"/>
                  </a:lnTo>
                  <a:lnTo>
                    <a:pt x="92" y="18"/>
                  </a:lnTo>
                  <a:lnTo>
                    <a:pt x="109" y="17"/>
                  </a:lnTo>
                  <a:close/>
                </a:path>
              </a:pathLst>
            </a:custGeom>
            <a:solidFill>
              <a:srgbClr val="FFFFFF"/>
            </a:solidFill>
            <a:ln w="9525">
              <a:noFill/>
              <a:round/>
            </a:ln>
          </p:spPr>
          <p:txBody>
            <a:bodyPr/>
            <a:lstStyle/>
            <a:p>
              <a:endParaRPr lang="en-US"/>
            </a:p>
          </p:txBody>
        </p:sp>
        <p:sp>
          <p:nvSpPr>
            <p:cNvPr id="1048772" name="Freeform 62"/>
            <p:cNvSpPr/>
            <p:nvPr/>
          </p:nvSpPr>
          <p:spPr bwMode="auto">
            <a:xfrm>
              <a:off x="2248" y="3798"/>
              <a:ext cx="19" cy="28"/>
            </a:xfrm>
            <a:custGeom>
              <a:avLst/>
              <a:gdLst>
                <a:gd name="T0" fmla="*/ 11 w 38"/>
                <a:gd name="T1" fmla="*/ 8 h 57"/>
                <a:gd name="T2" fmla="*/ 11 w 38"/>
                <a:gd name="T3" fmla="*/ 6 h 57"/>
                <a:gd name="T4" fmla="*/ 11 w 38"/>
                <a:gd name="T5" fmla="*/ 4 h 57"/>
                <a:gd name="T6" fmla="*/ 12 w 38"/>
                <a:gd name="T7" fmla="*/ 2 h 57"/>
                <a:gd name="T8" fmla="*/ 12 w 38"/>
                <a:gd name="T9" fmla="*/ 0 h 57"/>
                <a:gd name="T10" fmla="*/ 1 w 38"/>
                <a:gd name="T11" fmla="*/ 0 h 57"/>
                <a:gd name="T12" fmla="*/ 1 w 38"/>
                <a:gd name="T13" fmla="*/ 2 h 57"/>
                <a:gd name="T14" fmla="*/ 1 w 38"/>
                <a:gd name="T15" fmla="*/ 4 h 57"/>
                <a:gd name="T16" fmla="*/ 0 w 38"/>
                <a:gd name="T17" fmla="*/ 6 h 57"/>
                <a:gd name="T18" fmla="*/ 0 w 38"/>
                <a:gd name="T19" fmla="*/ 8 h 57"/>
                <a:gd name="T20" fmla="*/ 1 w 38"/>
                <a:gd name="T21" fmla="*/ 13 h 57"/>
                <a:gd name="T22" fmla="*/ 1 w 38"/>
                <a:gd name="T23" fmla="*/ 18 h 57"/>
                <a:gd name="T24" fmla="*/ 3 w 38"/>
                <a:gd name="T25" fmla="*/ 24 h 57"/>
                <a:gd name="T26" fmla="*/ 6 w 38"/>
                <a:gd name="T27" fmla="*/ 28 h 57"/>
                <a:gd name="T28" fmla="*/ 19 w 38"/>
                <a:gd name="T29" fmla="*/ 28 h 57"/>
                <a:gd name="T30" fmla="*/ 16 w 38"/>
                <a:gd name="T31" fmla="*/ 24 h 57"/>
                <a:gd name="T32" fmla="*/ 14 w 38"/>
                <a:gd name="T33" fmla="*/ 19 h 57"/>
                <a:gd name="T34" fmla="*/ 12 w 38"/>
                <a:gd name="T35" fmla="*/ 14 h 57"/>
                <a:gd name="T36" fmla="*/ 11 w 38"/>
                <a:gd name="T37" fmla="*/ 8 h 57"/>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38"/>
                <a:gd name="T58" fmla="*/ 0 h 57"/>
                <a:gd name="T59" fmla="*/ 38 w 38"/>
                <a:gd name="T60" fmla="*/ 57 h 57"/>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38" h="57">
                  <a:moveTo>
                    <a:pt x="23" y="16"/>
                  </a:moveTo>
                  <a:lnTo>
                    <a:pt x="23" y="12"/>
                  </a:lnTo>
                  <a:lnTo>
                    <a:pt x="23" y="8"/>
                  </a:lnTo>
                  <a:lnTo>
                    <a:pt x="24" y="5"/>
                  </a:lnTo>
                  <a:lnTo>
                    <a:pt x="25" y="0"/>
                  </a:lnTo>
                  <a:lnTo>
                    <a:pt x="2" y="0"/>
                  </a:lnTo>
                  <a:lnTo>
                    <a:pt x="1" y="5"/>
                  </a:lnTo>
                  <a:lnTo>
                    <a:pt x="1" y="8"/>
                  </a:lnTo>
                  <a:lnTo>
                    <a:pt x="0" y="12"/>
                  </a:lnTo>
                  <a:lnTo>
                    <a:pt x="0" y="16"/>
                  </a:lnTo>
                  <a:lnTo>
                    <a:pt x="1" y="27"/>
                  </a:lnTo>
                  <a:lnTo>
                    <a:pt x="3" y="37"/>
                  </a:lnTo>
                  <a:lnTo>
                    <a:pt x="7" y="48"/>
                  </a:lnTo>
                  <a:lnTo>
                    <a:pt x="13" y="57"/>
                  </a:lnTo>
                  <a:lnTo>
                    <a:pt x="38" y="57"/>
                  </a:lnTo>
                  <a:lnTo>
                    <a:pt x="32" y="48"/>
                  </a:lnTo>
                  <a:lnTo>
                    <a:pt x="28" y="38"/>
                  </a:lnTo>
                  <a:lnTo>
                    <a:pt x="24" y="28"/>
                  </a:lnTo>
                  <a:lnTo>
                    <a:pt x="23" y="16"/>
                  </a:lnTo>
                  <a:close/>
                </a:path>
              </a:pathLst>
            </a:custGeom>
            <a:solidFill>
              <a:srgbClr val="FFFFFF"/>
            </a:solidFill>
            <a:ln w="9525">
              <a:noFill/>
              <a:round/>
            </a:ln>
          </p:spPr>
          <p:txBody>
            <a:bodyPr/>
            <a:lstStyle/>
            <a:p>
              <a:endParaRPr lang="en-US"/>
            </a:p>
          </p:txBody>
        </p:sp>
        <p:sp>
          <p:nvSpPr>
            <p:cNvPr id="1048773" name="Freeform 63"/>
            <p:cNvSpPr/>
            <p:nvPr/>
          </p:nvSpPr>
          <p:spPr bwMode="auto">
            <a:xfrm>
              <a:off x="2339" y="3798"/>
              <a:ext cx="19" cy="28"/>
            </a:xfrm>
            <a:custGeom>
              <a:avLst/>
              <a:gdLst>
                <a:gd name="T0" fmla="*/ 19 w 38"/>
                <a:gd name="T1" fmla="*/ 0 h 57"/>
                <a:gd name="T2" fmla="*/ 7 w 38"/>
                <a:gd name="T3" fmla="*/ 0 h 57"/>
                <a:gd name="T4" fmla="*/ 7 w 38"/>
                <a:gd name="T5" fmla="*/ 2 h 57"/>
                <a:gd name="T6" fmla="*/ 7 w 38"/>
                <a:gd name="T7" fmla="*/ 4 h 57"/>
                <a:gd name="T8" fmla="*/ 7 w 38"/>
                <a:gd name="T9" fmla="*/ 6 h 57"/>
                <a:gd name="T10" fmla="*/ 7 w 38"/>
                <a:gd name="T11" fmla="*/ 8 h 57"/>
                <a:gd name="T12" fmla="*/ 7 w 38"/>
                <a:gd name="T13" fmla="*/ 14 h 57"/>
                <a:gd name="T14" fmla="*/ 6 w 38"/>
                <a:gd name="T15" fmla="*/ 19 h 57"/>
                <a:gd name="T16" fmla="*/ 3 w 38"/>
                <a:gd name="T17" fmla="*/ 24 h 57"/>
                <a:gd name="T18" fmla="*/ 0 w 38"/>
                <a:gd name="T19" fmla="*/ 28 h 57"/>
                <a:gd name="T20" fmla="*/ 13 w 38"/>
                <a:gd name="T21" fmla="*/ 28 h 57"/>
                <a:gd name="T22" fmla="*/ 15 w 38"/>
                <a:gd name="T23" fmla="*/ 24 h 57"/>
                <a:gd name="T24" fmla="*/ 18 w 38"/>
                <a:gd name="T25" fmla="*/ 18 h 57"/>
                <a:gd name="T26" fmla="*/ 19 w 38"/>
                <a:gd name="T27" fmla="*/ 13 h 57"/>
                <a:gd name="T28" fmla="*/ 19 w 38"/>
                <a:gd name="T29" fmla="*/ 8 h 57"/>
                <a:gd name="T30" fmla="*/ 19 w 38"/>
                <a:gd name="T31" fmla="*/ 6 h 57"/>
                <a:gd name="T32" fmla="*/ 19 w 38"/>
                <a:gd name="T33" fmla="*/ 4 h 57"/>
                <a:gd name="T34" fmla="*/ 19 w 38"/>
                <a:gd name="T35" fmla="*/ 2 h 57"/>
                <a:gd name="T36" fmla="*/ 19 w 38"/>
                <a:gd name="T37" fmla="*/ 0 h 57"/>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38"/>
                <a:gd name="T58" fmla="*/ 0 h 57"/>
                <a:gd name="T59" fmla="*/ 38 w 38"/>
                <a:gd name="T60" fmla="*/ 57 h 57"/>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38" h="57">
                  <a:moveTo>
                    <a:pt x="37" y="0"/>
                  </a:moveTo>
                  <a:lnTo>
                    <a:pt x="14" y="0"/>
                  </a:lnTo>
                  <a:lnTo>
                    <a:pt x="15" y="5"/>
                  </a:lnTo>
                  <a:lnTo>
                    <a:pt x="15" y="8"/>
                  </a:lnTo>
                  <a:lnTo>
                    <a:pt x="15" y="12"/>
                  </a:lnTo>
                  <a:lnTo>
                    <a:pt x="15" y="16"/>
                  </a:lnTo>
                  <a:lnTo>
                    <a:pt x="14" y="28"/>
                  </a:lnTo>
                  <a:lnTo>
                    <a:pt x="12" y="38"/>
                  </a:lnTo>
                  <a:lnTo>
                    <a:pt x="6" y="48"/>
                  </a:lnTo>
                  <a:lnTo>
                    <a:pt x="0" y="57"/>
                  </a:lnTo>
                  <a:lnTo>
                    <a:pt x="26" y="57"/>
                  </a:lnTo>
                  <a:lnTo>
                    <a:pt x="31" y="48"/>
                  </a:lnTo>
                  <a:lnTo>
                    <a:pt x="35" y="37"/>
                  </a:lnTo>
                  <a:lnTo>
                    <a:pt x="37" y="27"/>
                  </a:lnTo>
                  <a:lnTo>
                    <a:pt x="38" y="16"/>
                  </a:lnTo>
                  <a:lnTo>
                    <a:pt x="38" y="12"/>
                  </a:lnTo>
                  <a:lnTo>
                    <a:pt x="38" y="8"/>
                  </a:lnTo>
                  <a:lnTo>
                    <a:pt x="37" y="5"/>
                  </a:lnTo>
                  <a:lnTo>
                    <a:pt x="37" y="0"/>
                  </a:lnTo>
                  <a:close/>
                </a:path>
              </a:pathLst>
            </a:custGeom>
            <a:solidFill>
              <a:srgbClr val="FFFFFF"/>
            </a:solidFill>
            <a:ln w="9525">
              <a:noFill/>
              <a:round/>
            </a:ln>
          </p:spPr>
          <p:txBody>
            <a:bodyPr/>
            <a:lstStyle/>
            <a:p>
              <a:endParaRPr lang="en-US"/>
            </a:p>
          </p:txBody>
        </p:sp>
        <p:sp>
          <p:nvSpPr>
            <p:cNvPr id="1048774" name="Freeform 64"/>
            <p:cNvSpPr/>
            <p:nvPr/>
          </p:nvSpPr>
          <p:spPr bwMode="auto">
            <a:xfrm>
              <a:off x="2291" y="3831"/>
              <a:ext cx="29" cy="13"/>
            </a:xfrm>
            <a:custGeom>
              <a:avLst/>
              <a:gdLst>
                <a:gd name="T0" fmla="*/ 6 w 58"/>
                <a:gd name="T1" fmla="*/ 0 h 25"/>
                <a:gd name="T2" fmla="*/ 5 w 58"/>
                <a:gd name="T3" fmla="*/ 1 h 25"/>
                <a:gd name="T4" fmla="*/ 3 w 58"/>
                <a:gd name="T5" fmla="*/ 2 h 25"/>
                <a:gd name="T6" fmla="*/ 0 w 58"/>
                <a:gd name="T7" fmla="*/ 4 h 25"/>
                <a:gd name="T8" fmla="*/ 0 w 58"/>
                <a:gd name="T9" fmla="*/ 8 h 25"/>
                <a:gd name="T10" fmla="*/ 2 w 58"/>
                <a:gd name="T11" fmla="*/ 10 h 25"/>
                <a:gd name="T12" fmla="*/ 4 w 58"/>
                <a:gd name="T13" fmla="*/ 11 h 25"/>
                <a:gd name="T14" fmla="*/ 7 w 58"/>
                <a:gd name="T15" fmla="*/ 12 h 25"/>
                <a:gd name="T16" fmla="*/ 12 w 58"/>
                <a:gd name="T17" fmla="*/ 13 h 25"/>
                <a:gd name="T18" fmla="*/ 15 w 58"/>
                <a:gd name="T19" fmla="*/ 13 h 25"/>
                <a:gd name="T20" fmla="*/ 20 w 58"/>
                <a:gd name="T21" fmla="*/ 12 h 25"/>
                <a:gd name="T22" fmla="*/ 23 w 58"/>
                <a:gd name="T23" fmla="*/ 12 h 25"/>
                <a:gd name="T24" fmla="*/ 26 w 58"/>
                <a:gd name="T25" fmla="*/ 11 h 25"/>
                <a:gd name="T26" fmla="*/ 28 w 58"/>
                <a:gd name="T27" fmla="*/ 9 h 25"/>
                <a:gd name="T28" fmla="*/ 29 w 58"/>
                <a:gd name="T29" fmla="*/ 6 h 25"/>
                <a:gd name="T30" fmla="*/ 28 w 58"/>
                <a:gd name="T31" fmla="*/ 3 h 25"/>
                <a:gd name="T32" fmla="*/ 23 w 58"/>
                <a:gd name="T33" fmla="*/ 1 h 25"/>
                <a:gd name="T34" fmla="*/ 24 w 58"/>
                <a:gd name="T35" fmla="*/ 2 h 25"/>
                <a:gd name="T36" fmla="*/ 25 w 58"/>
                <a:gd name="T37" fmla="*/ 4 h 25"/>
                <a:gd name="T38" fmla="*/ 25 w 58"/>
                <a:gd name="T39" fmla="*/ 7 h 25"/>
                <a:gd name="T40" fmla="*/ 21 w 58"/>
                <a:gd name="T41" fmla="*/ 8 h 25"/>
                <a:gd name="T42" fmla="*/ 14 w 58"/>
                <a:gd name="T43" fmla="*/ 10 h 25"/>
                <a:gd name="T44" fmla="*/ 9 w 58"/>
                <a:gd name="T45" fmla="*/ 9 h 25"/>
                <a:gd name="T46" fmla="*/ 6 w 58"/>
                <a:gd name="T47" fmla="*/ 8 h 25"/>
                <a:gd name="T48" fmla="*/ 6 w 58"/>
                <a:gd name="T49" fmla="*/ 8 h 25"/>
                <a:gd name="T50" fmla="*/ 5 w 58"/>
                <a:gd name="T51" fmla="*/ 7 h 25"/>
                <a:gd name="T52" fmla="*/ 4 w 58"/>
                <a:gd name="T53" fmla="*/ 6 h 25"/>
                <a:gd name="T54" fmla="*/ 4 w 58"/>
                <a:gd name="T55" fmla="*/ 4 h 25"/>
                <a:gd name="T56" fmla="*/ 6 w 58"/>
                <a:gd name="T57" fmla="*/ 0 h 25"/>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58"/>
                <a:gd name="T88" fmla="*/ 0 h 25"/>
                <a:gd name="T89" fmla="*/ 58 w 58"/>
                <a:gd name="T90" fmla="*/ 25 h 25"/>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58" h="25">
                  <a:moveTo>
                    <a:pt x="12" y="0"/>
                  </a:moveTo>
                  <a:lnTo>
                    <a:pt x="10" y="1"/>
                  </a:lnTo>
                  <a:lnTo>
                    <a:pt x="5" y="4"/>
                  </a:lnTo>
                  <a:lnTo>
                    <a:pt x="0" y="8"/>
                  </a:lnTo>
                  <a:lnTo>
                    <a:pt x="0" y="15"/>
                  </a:lnTo>
                  <a:lnTo>
                    <a:pt x="3" y="20"/>
                  </a:lnTo>
                  <a:lnTo>
                    <a:pt x="8" y="22"/>
                  </a:lnTo>
                  <a:lnTo>
                    <a:pt x="15" y="24"/>
                  </a:lnTo>
                  <a:lnTo>
                    <a:pt x="23" y="25"/>
                  </a:lnTo>
                  <a:lnTo>
                    <a:pt x="31" y="25"/>
                  </a:lnTo>
                  <a:lnTo>
                    <a:pt x="40" y="24"/>
                  </a:lnTo>
                  <a:lnTo>
                    <a:pt x="46" y="23"/>
                  </a:lnTo>
                  <a:lnTo>
                    <a:pt x="51" y="22"/>
                  </a:lnTo>
                  <a:lnTo>
                    <a:pt x="56" y="17"/>
                  </a:lnTo>
                  <a:lnTo>
                    <a:pt x="58" y="12"/>
                  </a:lnTo>
                  <a:lnTo>
                    <a:pt x="55" y="6"/>
                  </a:lnTo>
                  <a:lnTo>
                    <a:pt x="46" y="1"/>
                  </a:lnTo>
                  <a:lnTo>
                    <a:pt x="48" y="4"/>
                  </a:lnTo>
                  <a:lnTo>
                    <a:pt x="50" y="8"/>
                  </a:lnTo>
                  <a:lnTo>
                    <a:pt x="49" y="13"/>
                  </a:lnTo>
                  <a:lnTo>
                    <a:pt x="41" y="16"/>
                  </a:lnTo>
                  <a:lnTo>
                    <a:pt x="27" y="19"/>
                  </a:lnTo>
                  <a:lnTo>
                    <a:pt x="18" y="17"/>
                  </a:lnTo>
                  <a:lnTo>
                    <a:pt x="12" y="16"/>
                  </a:lnTo>
                  <a:lnTo>
                    <a:pt x="11" y="15"/>
                  </a:lnTo>
                  <a:lnTo>
                    <a:pt x="10" y="14"/>
                  </a:lnTo>
                  <a:lnTo>
                    <a:pt x="8" y="12"/>
                  </a:lnTo>
                  <a:lnTo>
                    <a:pt x="8" y="7"/>
                  </a:lnTo>
                  <a:lnTo>
                    <a:pt x="12" y="0"/>
                  </a:lnTo>
                  <a:close/>
                </a:path>
              </a:pathLst>
            </a:custGeom>
            <a:solidFill>
              <a:srgbClr val="000000"/>
            </a:solidFill>
            <a:ln w="9525">
              <a:noFill/>
              <a:round/>
            </a:ln>
          </p:spPr>
          <p:txBody>
            <a:bodyPr/>
            <a:lstStyle/>
            <a:p>
              <a:endParaRPr lang="en-US"/>
            </a:p>
          </p:txBody>
        </p:sp>
        <p:sp>
          <p:nvSpPr>
            <p:cNvPr id="1048775" name="Freeform 65"/>
            <p:cNvSpPr/>
            <p:nvPr/>
          </p:nvSpPr>
          <p:spPr bwMode="auto">
            <a:xfrm>
              <a:off x="2291" y="3841"/>
              <a:ext cx="29" cy="13"/>
            </a:xfrm>
            <a:custGeom>
              <a:avLst/>
              <a:gdLst>
                <a:gd name="T0" fmla="*/ 6 w 58"/>
                <a:gd name="T1" fmla="*/ 0 h 25"/>
                <a:gd name="T2" fmla="*/ 5 w 58"/>
                <a:gd name="T3" fmla="*/ 1 h 25"/>
                <a:gd name="T4" fmla="*/ 3 w 58"/>
                <a:gd name="T5" fmla="*/ 2 h 25"/>
                <a:gd name="T6" fmla="*/ 0 w 58"/>
                <a:gd name="T7" fmla="*/ 4 h 25"/>
                <a:gd name="T8" fmla="*/ 0 w 58"/>
                <a:gd name="T9" fmla="*/ 8 h 25"/>
                <a:gd name="T10" fmla="*/ 2 w 58"/>
                <a:gd name="T11" fmla="*/ 10 h 25"/>
                <a:gd name="T12" fmla="*/ 4 w 58"/>
                <a:gd name="T13" fmla="*/ 11 h 25"/>
                <a:gd name="T14" fmla="*/ 7 w 58"/>
                <a:gd name="T15" fmla="*/ 12 h 25"/>
                <a:gd name="T16" fmla="*/ 12 w 58"/>
                <a:gd name="T17" fmla="*/ 13 h 25"/>
                <a:gd name="T18" fmla="*/ 15 w 58"/>
                <a:gd name="T19" fmla="*/ 13 h 25"/>
                <a:gd name="T20" fmla="*/ 20 w 58"/>
                <a:gd name="T21" fmla="*/ 12 h 25"/>
                <a:gd name="T22" fmla="*/ 23 w 58"/>
                <a:gd name="T23" fmla="*/ 12 h 25"/>
                <a:gd name="T24" fmla="*/ 26 w 58"/>
                <a:gd name="T25" fmla="*/ 11 h 25"/>
                <a:gd name="T26" fmla="*/ 28 w 58"/>
                <a:gd name="T27" fmla="*/ 9 h 25"/>
                <a:gd name="T28" fmla="*/ 29 w 58"/>
                <a:gd name="T29" fmla="*/ 6 h 25"/>
                <a:gd name="T30" fmla="*/ 28 w 58"/>
                <a:gd name="T31" fmla="*/ 3 h 25"/>
                <a:gd name="T32" fmla="*/ 23 w 58"/>
                <a:gd name="T33" fmla="*/ 1 h 25"/>
                <a:gd name="T34" fmla="*/ 24 w 58"/>
                <a:gd name="T35" fmla="*/ 2 h 25"/>
                <a:gd name="T36" fmla="*/ 25 w 58"/>
                <a:gd name="T37" fmla="*/ 4 h 25"/>
                <a:gd name="T38" fmla="*/ 25 w 58"/>
                <a:gd name="T39" fmla="*/ 6 h 25"/>
                <a:gd name="T40" fmla="*/ 21 w 58"/>
                <a:gd name="T41" fmla="*/ 8 h 25"/>
                <a:gd name="T42" fmla="*/ 14 w 58"/>
                <a:gd name="T43" fmla="*/ 9 h 25"/>
                <a:gd name="T44" fmla="*/ 9 w 58"/>
                <a:gd name="T45" fmla="*/ 9 h 25"/>
                <a:gd name="T46" fmla="*/ 6 w 58"/>
                <a:gd name="T47" fmla="*/ 8 h 25"/>
                <a:gd name="T48" fmla="*/ 6 w 58"/>
                <a:gd name="T49" fmla="*/ 8 h 25"/>
                <a:gd name="T50" fmla="*/ 5 w 58"/>
                <a:gd name="T51" fmla="*/ 7 h 25"/>
                <a:gd name="T52" fmla="*/ 4 w 58"/>
                <a:gd name="T53" fmla="*/ 6 h 25"/>
                <a:gd name="T54" fmla="*/ 4 w 58"/>
                <a:gd name="T55" fmla="*/ 4 h 25"/>
                <a:gd name="T56" fmla="*/ 6 w 58"/>
                <a:gd name="T57" fmla="*/ 0 h 25"/>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58"/>
                <a:gd name="T88" fmla="*/ 0 h 25"/>
                <a:gd name="T89" fmla="*/ 58 w 58"/>
                <a:gd name="T90" fmla="*/ 25 h 25"/>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58" h="25">
                  <a:moveTo>
                    <a:pt x="12" y="0"/>
                  </a:moveTo>
                  <a:lnTo>
                    <a:pt x="10" y="1"/>
                  </a:lnTo>
                  <a:lnTo>
                    <a:pt x="5" y="3"/>
                  </a:lnTo>
                  <a:lnTo>
                    <a:pt x="0" y="8"/>
                  </a:lnTo>
                  <a:lnTo>
                    <a:pt x="0" y="15"/>
                  </a:lnTo>
                  <a:lnTo>
                    <a:pt x="3" y="19"/>
                  </a:lnTo>
                  <a:lnTo>
                    <a:pt x="8" y="22"/>
                  </a:lnTo>
                  <a:lnTo>
                    <a:pt x="15" y="24"/>
                  </a:lnTo>
                  <a:lnTo>
                    <a:pt x="23" y="25"/>
                  </a:lnTo>
                  <a:lnTo>
                    <a:pt x="31" y="25"/>
                  </a:lnTo>
                  <a:lnTo>
                    <a:pt x="40" y="24"/>
                  </a:lnTo>
                  <a:lnTo>
                    <a:pt x="46" y="23"/>
                  </a:lnTo>
                  <a:lnTo>
                    <a:pt x="51" y="22"/>
                  </a:lnTo>
                  <a:lnTo>
                    <a:pt x="56" y="17"/>
                  </a:lnTo>
                  <a:lnTo>
                    <a:pt x="58" y="11"/>
                  </a:lnTo>
                  <a:lnTo>
                    <a:pt x="55" y="5"/>
                  </a:lnTo>
                  <a:lnTo>
                    <a:pt x="46" y="1"/>
                  </a:lnTo>
                  <a:lnTo>
                    <a:pt x="48" y="3"/>
                  </a:lnTo>
                  <a:lnTo>
                    <a:pt x="50" y="8"/>
                  </a:lnTo>
                  <a:lnTo>
                    <a:pt x="49" y="12"/>
                  </a:lnTo>
                  <a:lnTo>
                    <a:pt x="41" y="16"/>
                  </a:lnTo>
                  <a:lnTo>
                    <a:pt x="27" y="18"/>
                  </a:lnTo>
                  <a:lnTo>
                    <a:pt x="18" y="17"/>
                  </a:lnTo>
                  <a:lnTo>
                    <a:pt x="12" y="16"/>
                  </a:lnTo>
                  <a:lnTo>
                    <a:pt x="11" y="15"/>
                  </a:lnTo>
                  <a:lnTo>
                    <a:pt x="10" y="14"/>
                  </a:lnTo>
                  <a:lnTo>
                    <a:pt x="8" y="11"/>
                  </a:lnTo>
                  <a:lnTo>
                    <a:pt x="8" y="7"/>
                  </a:lnTo>
                  <a:lnTo>
                    <a:pt x="12" y="0"/>
                  </a:lnTo>
                  <a:close/>
                </a:path>
              </a:pathLst>
            </a:custGeom>
            <a:solidFill>
              <a:srgbClr val="000000"/>
            </a:solidFill>
            <a:ln w="9525">
              <a:noFill/>
              <a:round/>
            </a:ln>
          </p:spPr>
          <p:txBody>
            <a:bodyPr/>
            <a:lstStyle/>
            <a:p>
              <a:endParaRPr lang="en-US"/>
            </a:p>
          </p:txBody>
        </p:sp>
        <p:sp>
          <p:nvSpPr>
            <p:cNvPr id="1048776" name="Freeform 66"/>
            <p:cNvSpPr/>
            <p:nvPr/>
          </p:nvSpPr>
          <p:spPr bwMode="auto">
            <a:xfrm>
              <a:off x="2291" y="3851"/>
              <a:ext cx="29" cy="12"/>
            </a:xfrm>
            <a:custGeom>
              <a:avLst/>
              <a:gdLst>
                <a:gd name="T0" fmla="*/ 6 w 58"/>
                <a:gd name="T1" fmla="*/ 0 h 26"/>
                <a:gd name="T2" fmla="*/ 5 w 58"/>
                <a:gd name="T3" fmla="*/ 0 h 26"/>
                <a:gd name="T4" fmla="*/ 3 w 58"/>
                <a:gd name="T5" fmla="*/ 2 h 26"/>
                <a:gd name="T6" fmla="*/ 0 w 58"/>
                <a:gd name="T7" fmla="*/ 4 h 26"/>
                <a:gd name="T8" fmla="*/ 0 w 58"/>
                <a:gd name="T9" fmla="*/ 7 h 26"/>
                <a:gd name="T10" fmla="*/ 2 w 58"/>
                <a:gd name="T11" fmla="*/ 9 h 26"/>
                <a:gd name="T12" fmla="*/ 4 w 58"/>
                <a:gd name="T13" fmla="*/ 11 h 26"/>
                <a:gd name="T14" fmla="*/ 7 w 58"/>
                <a:gd name="T15" fmla="*/ 12 h 26"/>
                <a:gd name="T16" fmla="*/ 12 w 58"/>
                <a:gd name="T17" fmla="*/ 12 h 26"/>
                <a:gd name="T18" fmla="*/ 15 w 58"/>
                <a:gd name="T19" fmla="*/ 12 h 26"/>
                <a:gd name="T20" fmla="*/ 20 w 58"/>
                <a:gd name="T21" fmla="*/ 12 h 26"/>
                <a:gd name="T22" fmla="*/ 23 w 58"/>
                <a:gd name="T23" fmla="*/ 11 h 26"/>
                <a:gd name="T24" fmla="*/ 26 w 58"/>
                <a:gd name="T25" fmla="*/ 10 h 26"/>
                <a:gd name="T26" fmla="*/ 28 w 58"/>
                <a:gd name="T27" fmla="*/ 8 h 26"/>
                <a:gd name="T28" fmla="*/ 29 w 58"/>
                <a:gd name="T29" fmla="*/ 6 h 26"/>
                <a:gd name="T30" fmla="*/ 28 w 58"/>
                <a:gd name="T31" fmla="*/ 3 h 26"/>
                <a:gd name="T32" fmla="*/ 23 w 58"/>
                <a:gd name="T33" fmla="*/ 0 h 26"/>
                <a:gd name="T34" fmla="*/ 24 w 58"/>
                <a:gd name="T35" fmla="*/ 2 h 26"/>
                <a:gd name="T36" fmla="*/ 25 w 58"/>
                <a:gd name="T37" fmla="*/ 4 h 26"/>
                <a:gd name="T38" fmla="*/ 25 w 58"/>
                <a:gd name="T39" fmla="*/ 6 h 26"/>
                <a:gd name="T40" fmla="*/ 21 w 58"/>
                <a:gd name="T41" fmla="*/ 8 h 26"/>
                <a:gd name="T42" fmla="*/ 14 w 58"/>
                <a:gd name="T43" fmla="*/ 9 h 26"/>
                <a:gd name="T44" fmla="*/ 9 w 58"/>
                <a:gd name="T45" fmla="*/ 8 h 26"/>
                <a:gd name="T46" fmla="*/ 6 w 58"/>
                <a:gd name="T47" fmla="*/ 7 h 26"/>
                <a:gd name="T48" fmla="*/ 6 w 58"/>
                <a:gd name="T49" fmla="*/ 7 h 26"/>
                <a:gd name="T50" fmla="*/ 5 w 58"/>
                <a:gd name="T51" fmla="*/ 6 h 26"/>
                <a:gd name="T52" fmla="*/ 4 w 58"/>
                <a:gd name="T53" fmla="*/ 6 h 26"/>
                <a:gd name="T54" fmla="*/ 4 w 58"/>
                <a:gd name="T55" fmla="*/ 3 h 26"/>
                <a:gd name="T56" fmla="*/ 6 w 58"/>
                <a:gd name="T57" fmla="*/ 0 h 2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58"/>
                <a:gd name="T88" fmla="*/ 0 h 26"/>
                <a:gd name="T89" fmla="*/ 58 w 58"/>
                <a:gd name="T90" fmla="*/ 26 h 2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58" h="26">
                  <a:moveTo>
                    <a:pt x="12" y="0"/>
                  </a:moveTo>
                  <a:lnTo>
                    <a:pt x="10" y="1"/>
                  </a:lnTo>
                  <a:lnTo>
                    <a:pt x="5" y="4"/>
                  </a:lnTo>
                  <a:lnTo>
                    <a:pt x="0" y="8"/>
                  </a:lnTo>
                  <a:lnTo>
                    <a:pt x="0" y="15"/>
                  </a:lnTo>
                  <a:lnTo>
                    <a:pt x="3" y="20"/>
                  </a:lnTo>
                  <a:lnTo>
                    <a:pt x="8" y="23"/>
                  </a:lnTo>
                  <a:lnTo>
                    <a:pt x="15" y="25"/>
                  </a:lnTo>
                  <a:lnTo>
                    <a:pt x="23" y="26"/>
                  </a:lnTo>
                  <a:lnTo>
                    <a:pt x="31" y="26"/>
                  </a:lnTo>
                  <a:lnTo>
                    <a:pt x="40" y="25"/>
                  </a:lnTo>
                  <a:lnTo>
                    <a:pt x="46" y="23"/>
                  </a:lnTo>
                  <a:lnTo>
                    <a:pt x="51" y="22"/>
                  </a:lnTo>
                  <a:lnTo>
                    <a:pt x="56" y="18"/>
                  </a:lnTo>
                  <a:lnTo>
                    <a:pt x="58" y="12"/>
                  </a:lnTo>
                  <a:lnTo>
                    <a:pt x="55" y="6"/>
                  </a:lnTo>
                  <a:lnTo>
                    <a:pt x="46" y="1"/>
                  </a:lnTo>
                  <a:lnTo>
                    <a:pt x="48" y="4"/>
                  </a:lnTo>
                  <a:lnTo>
                    <a:pt x="50" y="8"/>
                  </a:lnTo>
                  <a:lnTo>
                    <a:pt x="49" y="14"/>
                  </a:lnTo>
                  <a:lnTo>
                    <a:pt x="41" y="18"/>
                  </a:lnTo>
                  <a:lnTo>
                    <a:pt x="27" y="19"/>
                  </a:lnTo>
                  <a:lnTo>
                    <a:pt x="18" y="18"/>
                  </a:lnTo>
                  <a:lnTo>
                    <a:pt x="12" y="16"/>
                  </a:lnTo>
                  <a:lnTo>
                    <a:pt x="11" y="15"/>
                  </a:lnTo>
                  <a:lnTo>
                    <a:pt x="10" y="14"/>
                  </a:lnTo>
                  <a:lnTo>
                    <a:pt x="8" y="12"/>
                  </a:lnTo>
                  <a:lnTo>
                    <a:pt x="8" y="7"/>
                  </a:lnTo>
                  <a:lnTo>
                    <a:pt x="12" y="0"/>
                  </a:lnTo>
                  <a:close/>
                </a:path>
              </a:pathLst>
            </a:custGeom>
            <a:solidFill>
              <a:srgbClr val="000000"/>
            </a:solidFill>
            <a:ln w="9525">
              <a:noFill/>
              <a:round/>
            </a:ln>
          </p:spPr>
          <p:txBody>
            <a:bodyPr/>
            <a:lstStyle/>
            <a:p>
              <a:endParaRPr lang="en-US"/>
            </a:p>
          </p:txBody>
        </p:sp>
        <p:sp>
          <p:nvSpPr>
            <p:cNvPr id="1048777" name="Freeform 67"/>
            <p:cNvSpPr/>
            <p:nvPr/>
          </p:nvSpPr>
          <p:spPr bwMode="auto">
            <a:xfrm>
              <a:off x="2299" y="3862"/>
              <a:ext cx="12" cy="7"/>
            </a:xfrm>
            <a:custGeom>
              <a:avLst/>
              <a:gdLst>
                <a:gd name="T0" fmla="*/ 0 w 25"/>
                <a:gd name="T1" fmla="*/ 0 h 14"/>
                <a:gd name="T2" fmla="*/ 2 w 25"/>
                <a:gd name="T3" fmla="*/ 6 h 14"/>
                <a:gd name="T4" fmla="*/ 3 w 25"/>
                <a:gd name="T5" fmla="*/ 6 h 14"/>
                <a:gd name="T6" fmla="*/ 4 w 25"/>
                <a:gd name="T7" fmla="*/ 7 h 14"/>
                <a:gd name="T8" fmla="*/ 6 w 25"/>
                <a:gd name="T9" fmla="*/ 7 h 14"/>
                <a:gd name="T10" fmla="*/ 9 w 25"/>
                <a:gd name="T11" fmla="*/ 7 h 14"/>
                <a:gd name="T12" fmla="*/ 12 w 25"/>
                <a:gd name="T13" fmla="*/ 0 h 14"/>
                <a:gd name="T14" fmla="*/ 10 w 25"/>
                <a:gd name="T15" fmla="*/ 0 h 14"/>
                <a:gd name="T16" fmla="*/ 7 w 25"/>
                <a:gd name="T17" fmla="*/ 0 h 14"/>
                <a:gd name="T18" fmla="*/ 3 w 25"/>
                <a:gd name="T19" fmla="*/ 0 h 14"/>
                <a:gd name="T20" fmla="*/ 0 w 25"/>
                <a:gd name="T21" fmla="*/ 0 h 14"/>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5"/>
                <a:gd name="T34" fmla="*/ 0 h 14"/>
                <a:gd name="T35" fmla="*/ 25 w 25"/>
                <a:gd name="T36" fmla="*/ 14 h 14"/>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5" h="14">
                  <a:moveTo>
                    <a:pt x="0" y="0"/>
                  </a:moveTo>
                  <a:lnTo>
                    <a:pt x="5" y="12"/>
                  </a:lnTo>
                  <a:lnTo>
                    <a:pt x="6" y="12"/>
                  </a:lnTo>
                  <a:lnTo>
                    <a:pt x="9" y="13"/>
                  </a:lnTo>
                  <a:lnTo>
                    <a:pt x="13" y="14"/>
                  </a:lnTo>
                  <a:lnTo>
                    <a:pt x="19" y="13"/>
                  </a:lnTo>
                  <a:lnTo>
                    <a:pt x="25" y="0"/>
                  </a:lnTo>
                  <a:lnTo>
                    <a:pt x="21" y="0"/>
                  </a:lnTo>
                  <a:lnTo>
                    <a:pt x="14" y="0"/>
                  </a:lnTo>
                  <a:lnTo>
                    <a:pt x="6" y="0"/>
                  </a:lnTo>
                  <a:lnTo>
                    <a:pt x="0" y="0"/>
                  </a:lnTo>
                  <a:close/>
                </a:path>
              </a:pathLst>
            </a:custGeom>
            <a:solidFill>
              <a:srgbClr val="000000"/>
            </a:solidFill>
            <a:ln w="9525">
              <a:noFill/>
              <a:round/>
            </a:ln>
          </p:spPr>
          <p:txBody>
            <a:bodyPr/>
            <a:lstStyle/>
            <a:p>
              <a:endParaRPr lang="en-US"/>
            </a:p>
          </p:txBody>
        </p:sp>
        <p:sp>
          <p:nvSpPr>
            <p:cNvPr id="1048778" name="Freeform 68"/>
            <p:cNvSpPr/>
            <p:nvPr/>
          </p:nvSpPr>
          <p:spPr bwMode="auto">
            <a:xfrm>
              <a:off x="2295" y="3829"/>
              <a:ext cx="22" cy="4"/>
            </a:xfrm>
            <a:custGeom>
              <a:avLst/>
              <a:gdLst>
                <a:gd name="T0" fmla="*/ 0 w 43"/>
                <a:gd name="T1" fmla="*/ 2 h 8"/>
                <a:gd name="T2" fmla="*/ 1 w 43"/>
                <a:gd name="T3" fmla="*/ 2 h 8"/>
                <a:gd name="T4" fmla="*/ 3 w 43"/>
                <a:gd name="T5" fmla="*/ 3 h 8"/>
                <a:gd name="T6" fmla="*/ 6 w 43"/>
                <a:gd name="T7" fmla="*/ 3 h 8"/>
                <a:gd name="T8" fmla="*/ 9 w 43"/>
                <a:gd name="T9" fmla="*/ 3 h 8"/>
                <a:gd name="T10" fmla="*/ 13 w 43"/>
                <a:gd name="T11" fmla="*/ 4 h 8"/>
                <a:gd name="T12" fmla="*/ 16 w 43"/>
                <a:gd name="T13" fmla="*/ 3 h 8"/>
                <a:gd name="T14" fmla="*/ 19 w 43"/>
                <a:gd name="T15" fmla="*/ 2 h 8"/>
                <a:gd name="T16" fmla="*/ 21 w 43"/>
                <a:gd name="T17" fmla="*/ 2 h 8"/>
                <a:gd name="T18" fmla="*/ 21 w 43"/>
                <a:gd name="T19" fmla="*/ 2 h 8"/>
                <a:gd name="T20" fmla="*/ 22 w 43"/>
                <a:gd name="T21" fmla="*/ 1 h 8"/>
                <a:gd name="T22" fmla="*/ 21 w 43"/>
                <a:gd name="T23" fmla="*/ 1 h 8"/>
                <a:gd name="T24" fmla="*/ 20 w 43"/>
                <a:gd name="T25" fmla="*/ 0 h 8"/>
                <a:gd name="T26" fmla="*/ 19 w 43"/>
                <a:gd name="T27" fmla="*/ 0 h 8"/>
                <a:gd name="T28" fmla="*/ 17 w 43"/>
                <a:gd name="T29" fmla="*/ 0 h 8"/>
                <a:gd name="T30" fmla="*/ 15 w 43"/>
                <a:gd name="T31" fmla="*/ 1 h 8"/>
                <a:gd name="T32" fmla="*/ 13 w 43"/>
                <a:gd name="T33" fmla="*/ 1 h 8"/>
                <a:gd name="T34" fmla="*/ 11 w 43"/>
                <a:gd name="T35" fmla="*/ 1 h 8"/>
                <a:gd name="T36" fmla="*/ 9 w 43"/>
                <a:gd name="T37" fmla="*/ 1 h 8"/>
                <a:gd name="T38" fmla="*/ 6 w 43"/>
                <a:gd name="T39" fmla="*/ 1 h 8"/>
                <a:gd name="T40" fmla="*/ 3 w 43"/>
                <a:gd name="T41" fmla="*/ 1 h 8"/>
                <a:gd name="T42" fmla="*/ 0 w 43"/>
                <a:gd name="T43" fmla="*/ 2 h 8"/>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43"/>
                <a:gd name="T67" fmla="*/ 0 h 8"/>
                <a:gd name="T68" fmla="*/ 43 w 43"/>
                <a:gd name="T69" fmla="*/ 8 h 8"/>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43" h="8">
                  <a:moveTo>
                    <a:pt x="0" y="5"/>
                  </a:moveTo>
                  <a:lnTo>
                    <a:pt x="2" y="5"/>
                  </a:lnTo>
                  <a:lnTo>
                    <a:pt x="6" y="7"/>
                  </a:lnTo>
                  <a:lnTo>
                    <a:pt x="12" y="7"/>
                  </a:lnTo>
                  <a:lnTo>
                    <a:pt x="18" y="7"/>
                  </a:lnTo>
                  <a:lnTo>
                    <a:pt x="26" y="8"/>
                  </a:lnTo>
                  <a:lnTo>
                    <a:pt x="32" y="7"/>
                  </a:lnTo>
                  <a:lnTo>
                    <a:pt x="37" y="5"/>
                  </a:lnTo>
                  <a:lnTo>
                    <a:pt x="42" y="4"/>
                  </a:lnTo>
                  <a:lnTo>
                    <a:pt x="43" y="2"/>
                  </a:lnTo>
                  <a:lnTo>
                    <a:pt x="42" y="1"/>
                  </a:lnTo>
                  <a:lnTo>
                    <a:pt x="40" y="0"/>
                  </a:lnTo>
                  <a:lnTo>
                    <a:pt x="37" y="0"/>
                  </a:lnTo>
                  <a:lnTo>
                    <a:pt x="34" y="0"/>
                  </a:lnTo>
                  <a:lnTo>
                    <a:pt x="30" y="1"/>
                  </a:lnTo>
                  <a:lnTo>
                    <a:pt x="26" y="1"/>
                  </a:lnTo>
                  <a:lnTo>
                    <a:pt x="21" y="2"/>
                  </a:lnTo>
                  <a:lnTo>
                    <a:pt x="17" y="2"/>
                  </a:lnTo>
                  <a:lnTo>
                    <a:pt x="11" y="2"/>
                  </a:lnTo>
                  <a:lnTo>
                    <a:pt x="5" y="2"/>
                  </a:lnTo>
                  <a:lnTo>
                    <a:pt x="0" y="5"/>
                  </a:lnTo>
                  <a:close/>
                </a:path>
              </a:pathLst>
            </a:custGeom>
            <a:solidFill>
              <a:srgbClr val="000000"/>
            </a:solidFill>
            <a:ln w="9525">
              <a:noFill/>
              <a:round/>
            </a:ln>
          </p:spPr>
          <p:txBody>
            <a:bodyPr/>
            <a:lstStyle/>
            <a:p>
              <a:endParaRPr lang="en-US"/>
            </a:p>
          </p:txBody>
        </p:sp>
        <p:sp>
          <p:nvSpPr>
            <p:cNvPr id="1048779" name="Freeform 69"/>
            <p:cNvSpPr/>
            <p:nvPr/>
          </p:nvSpPr>
          <p:spPr bwMode="auto">
            <a:xfrm>
              <a:off x="2271" y="3761"/>
              <a:ext cx="59" cy="69"/>
            </a:xfrm>
            <a:custGeom>
              <a:avLst/>
              <a:gdLst>
                <a:gd name="T0" fmla="*/ 42 w 118"/>
                <a:gd name="T1" fmla="*/ 69 h 139"/>
                <a:gd name="T2" fmla="*/ 42 w 118"/>
                <a:gd name="T3" fmla="*/ 66 h 139"/>
                <a:gd name="T4" fmla="*/ 42 w 118"/>
                <a:gd name="T5" fmla="*/ 60 h 139"/>
                <a:gd name="T6" fmla="*/ 44 w 118"/>
                <a:gd name="T7" fmla="*/ 53 h 139"/>
                <a:gd name="T8" fmla="*/ 48 w 118"/>
                <a:gd name="T9" fmla="*/ 46 h 139"/>
                <a:gd name="T10" fmla="*/ 51 w 118"/>
                <a:gd name="T11" fmla="*/ 43 h 139"/>
                <a:gd name="T12" fmla="*/ 54 w 118"/>
                <a:gd name="T13" fmla="*/ 39 h 139"/>
                <a:gd name="T14" fmla="*/ 57 w 118"/>
                <a:gd name="T15" fmla="*/ 33 h 139"/>
                <a:gd name="T16" fmla="*/ 59 w 118"/>
                <a:gd name="T17" fmla="*/ 26 h 139"/>
                <a:gd name="T18" fmla="*/ 59 w 118"/>
                <a:gd name="T19" fmla="*/ 20 h 139"/>
                <a:gd name="T20" fmla="*/ 57 w 118"/>
                <a:gd name="T21" fmla="*/ 13 h 139"/>
                <a:gd name="T22" fmla="*/ 53 w 118"/>
                <a:gd name="T23" fmla="*/ 7 h 139"/>
                <a:gd name="T24" fmla="*/ 44 w 118"/>
                <a:gd name="T25" fmla="*/ 2 h 139"/>
                <a:gd name="T26" fmla="*/ 34 w 118"/>
                <a:gd name="T27" fmla="*/ 0 h 139"/>
                <a:gd name="T28" fmla="*/ 25 w 118"/>
                <a:gd name="T29" fmla="*/ 0 h 139"/>
                <a:gd name="T30" fmla="*/ 17 w 118"/>
                <a:gd name="T31" fmla="*/ 2 h 139"/>
                <a:gd name="T32" fmla="*/ 11 w 118"/>
                <a:gd name="T33" fmla="*/ 6 h 139"/>
                <a:gd name="T34" fmla="*/ 5 w 118"/>
                <a:gd name="T35" fmla="*/ 12 h 139"/>
                <a:gd name="T36" fmla="*/ 2 w 118"/>
                <a:gd name="T37" fmla="*/ 17 h 139"/>
                <a:gd name="T38" fmla="*/ 0 w 118"/>
                <a:gd name="T39" fmla="*/ 23 h 139"/>
                <a:gd name="T40" fmla="*/ 1 w 118"/>
                <a:gd name="T41" fmla="*/ 28 h 139"/>
                <a:gd name="T42" fmla="*/ 3 w 118"/>
                <a:gd name="T43" fmla="*/ 32 h 139"/>
                <a:gd name="T44" fmla="*/ 6 w 118"/>
                <a:gd name="T45" fmla="*/ 37 h 139"/>
                <a:gd name="T46" fmla="*/ 9 w 118"/>
                <a:gd name="T47" fmla="*/ 42 h 139"/>
                <a:gd name="T48" fmla="*/ 14 w 118"/>
                <a:gd name="T49" fmla="*/ 47 h 139"/>
                <a:gd name="T50" fmla="*/ 18 w 118"/>
                <a:gd name="T51" fmla="*/ 51 h 139"/>
                <a:gd name="T52" fmla="*/ 21 w 118"/>
                <a:gd name="T53" fmla="*/ 55 h 139"/>
                <a:gd name="T54" fmla="*/ 23 w 118"/>
                <a:gd name="T55" fmla="*/ 58 h 139"/>
                <a:gd name="T56" fmla="*/ 24 w 118"/>
                <a:gd name="T57" fmla="*/ 61 h 139"/>
                <a:gd name="T58" fmla="*/ 24 w 118"/>
                <a:gd name="T59" fmla="*/ 63 h 139"/>
                <a:gd name="T60" fmla="*/ 24 w 118"/>
                <a:gd name="T61" fmla="*/ 66 h 139"/>
                <a:gd name="T62" fmla="*/ 24 w 118"/>
                <a:gd name="T63" fmla="*/ 69 h 139"/>
                <a:gd name="T64" fmla="*/ 24 w 118"/>
                <a:gd name="T65" fmla="*/ 69 h 139"/>
                <a:gd name="T66" fmla="*/ 42 w 118"/>
                <a:gd name="T67" fmla="*/ 69 h 139"/>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118"/>
                <a:gd name="T103" fmla="*/ 0 h 139"/>
                <a:gd name="T104" fmla="*/ 118 w 118"/>
                <a:gd name="T105" fmla="*/ 139 h 139"/>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118" h="139">
                  <a:moveTo>
                    <a:pt x="83" y="139"/>
                  </a:moveTo>
                  <a:lnTo>
                    <a:pt x="83" y="133"/>
                  </a:lnTo>
                  <a:lnTo>
                    <a:pt x="84" y="121"/>
                  </a:lnTo>
                  <a:lnTo>
                    <a:pt x="88" y="106"/>
                  </a:lnTo>
                  <a:lnTo>
                    <a:pt x="96" y="93"/>
                  </a:lnTo>
                  <a:lnTo>
                    <a:pt x="101" y="87"/>
                  </a:lnTo>
                  <a:lnTo>
                    <a:pt x="108" y="78"/>
                  </a:lnTo>
                  <a:lnTo>
                    <a:pt x="114" y="66"/>
                  </a:lnTo>
                  <a:lnTo>
                    <a:pt x="118" y="53"/>
                  </a:lnTo>
                  <a:lnTo>
                    <a:pt x="118" y="40"/>
                  </a:lnTo>
                  <a:lnTo>
                    <a:pt x="114" y="26"/>
                  </a:lnTo>
                  <a:lnTo>
                    <a:pt x="105" y="15"/>
                  </a:lnTo>
                  <a:lnTo>
                    <a:pt x="88" y="5"/>
                  </a:lnTo>
                  <a:lnTo>
                    <a:pt x="67" y="0"/>
                  </a:lnTo>
                  <a:lnTo>
                    <a:pt x="50" y="1"/>
                  </a:lnTo>
                  <a:lnTo>
                    <a:pt x="33" y="5"/>
                  </a:lnTo>
                  <a:lnTo>
                    <a:pt x="21" y="13"/>
                  </a:lnTo>
                  <a:lnTo>
                    <a:pt x="10" y="24"/>
                  </a:lnTo>
                  <a:lnTo>
                    <a:pt x="3" y="35"/>
                  </a:lnTo>
                  <a:lnTo>
                    <a:pt x="0" y="47"/>
                  </a:lnTo>
                  <a:lnTo>
                    <a:pt x="1" y="56"/>
                  </a:lnTo>
                  <a:lnTo>
                    <a:pt x="5" y="65"/>
                  </a:lnTo>
                  <a:lnTo>
                    <a:pt x="12" y="74"/>
                  </a:lnTo>
                  <a:lnTo>
                    <a:pt x="18" y="85"/>
                  </a:lnTo>
                  <a:lnTo>
                    <a:pt x="27" y="94"/>
                  </a:lnTo>
                  <a:lnTo>
                    <a:pt x="35" y="103"/>
                  </a:lnTo>
                  <a:lnTo>
                    <a:pt x="42" y="111"/>
                  </a:lnTo>
                  <a:lnTo>
                    <a:pt x="46" y="117"/>
                  </a:lnTo>
                  <a:lnTo>
                    <a:pt x="48" y="122"/>
                  </a:lnTo>
                  <a:lnTo>
                    <a:pt x="48" y="127"/>
                  </a:lnTo>
                  <a:lnTo>
                    <a:pt x="48" y="133"/>
                  </a:lnTo>
                  <a:lnTo>
                    <a:pt x="48" y="138"/>
                  </a:lnTo>
                  <a:lnTo>
                    <a:pt x="48" y="139"/>
                  </a:lnTo>
                  <a:lnTo>
                    <a:pt x="83" y="139"/>
                  </a:lnTo>
                  <a:close/>
                </a:path>
              </a:pathLst>
            </a:custGeom>
            <a:solidFill>
              <a:srgbClr val="FFFF00"/>
            </a:solidFill>
            <a:ln w="9525">
              <a:noFill/>
              <a:round/>
            </a:ln>
          </p:spPr>
          <p:txBody>
            <a:bodyPr/>
            <a:lstStyle/>
            <a:p>
              <a:endParaRPr lang="en-US"/>
            </a:p>
          </p:txBody>
        </p:sp>
        <p:sp>
          <p:nvSpPr>
            <p:cNvPr id="1048780" name="Freeform 70"/>
            <p:cNvSpPr/>
            <p:nvPr/>
          </p:nvSpPr>
          <p:spPr bwMode="auto">
            <a:xfrm>
              <a:off x="2268" y="3758"/>
              <a:ext cx="66" cy="72"/>
            </a:xfrm>
            <a:custGeom>
              <a:avLst/>
              <a:gdLst>
                <a:gd name="T0" fmla="*/ 45 w 133"/>
                <a:gd name="T1" fmla="*/ 69 h 143"/>
                <a:gd name="T2" fmla="*/ 49 w 133"/>
                <a:gd name="T3" fmla="*/ 59 h 143"/>
                <a:gd name="T4" fmla="*/ 58 w 133"/>
                <a:gd name="T5" fmla="*/ 49 h 143"/>
                <a:gd name="T6" fmla="*/ 65 w 133"/>
                <a:gd name="T7" fmla="*/ 38 h 143"/>
                <a:gd name="T8" fmla="*/ 66 w 133"/>
                <a:gd name="T9" fmla="*/ 26 h 143"/>
                <a:gd name="T10" fmla="*/ 63 w 133"/>
                <a:gd name="T11" fmla="*/ 15 h 143"/>
                <a:gd name="T12" fmla="*/ 57 w 133"/>
                <a:gd name="T13" fmla="*/ 8 h 143"/>
                <a:gd name="T14" fmla="*/ 52 w 133"/>
                <a:gd name="T15" fmla="*/ 5 h 143"/>
                <a:gd name="T16" fmla="*/ 45 w 133"/>
                <a:gd name="T17" fmla="*/ 2 h 143"/>
                <a:gd name="T18" fmla="*/ 36 w 133"/>
                <a:gd name="T19" fmla="*/ 0 h 143"/>
                <a:gd name="T20" fmla="*/ 23 w 133"/>
                <a:gd name="T21" fmla="*/ 1 h 143"/>
                <a:gd name="T22" fmla="*/ 9 w 133"/>
                <a:gd name="T23" fmla="*/ 9 h 143"/>
                <a:gd name="T24" fmla="*/ 1 w 133"/>
                <a:gd name="T25" fmla="*/ 20 h 143"/>
                <a:gd name="T26" fmla="*/ 2 w 133"/>
                <a:gd name="T27" fmla="*/ 36 h 143"/>
                <a:gd name="T28" fmla="*/ 10 w 133"/>
                <a:gd name="T29" fmla="*/ 49 h 143"/>
                <a:gd name="T30" fmla="*/ 17 w 133"/>
                <a:gd name="T31" fmla="*/ 56 h 143"/>
                <a:gd name="T32" fmla="*/ 23 w 133"/>
                <a:gd name="T33" fmla="*/ 61 h 143"/>
                <a:gd name="T34" fmla="*/ 26 w 133"/>
                <a:gd name="T35" fmla="*/ 67 h 143"/>
                <a:gd name="T36" fmla="*/ 28 w 133"/>
                <a:gd name="T37" fmla="*/ 71 h 143"/>
                <a:gd name="T38" fmla="*/ 29 w 133"/>
                <a:gd name="T39" fmla="*/ 62 h 143"/>
                <a:gd name="T40" fmla="*/ 21 w 133"/>
                <a:gd name="T41" fmla="*/ 55 h 143"/>
                <a:gd name="T42" fmla="*/ 15 w 133"/>
                <a:gd name="T43" fmla="*/ 50 h 143"/>
                <a:gd name="T44" fmla="*/ 10 w 133"/>
                <a:gd name="T45" fmla="*/ 43 h 143"/>
                <a:gd name="T46" fmla="*/ 7 w 133"/>
                <a:gd name="T47" fmla="*/ 36 h 143"/>
                <a:gd name="T48" fmla="*/ 6 w 133"/>
                <a:gd name="T49" fmla="*/ 26 h 143"/>
                <a:gd name="T50" fmla="*/ 10 w 133"/>
                <a:gd name="T51" fmla="*/ 16 h 143"/>
                <a:gd name="T52" fmla="*/ 19 w 133"/>
                <a:gd name="T53" fmla="*/ 9 h 143"/>
                <a:gd name="T54" fmla="*/ 31 w 133"/>
                <a:gd name="T55" fmla="*/ 5 h 143"/>
                <a:gd name="T56" fmla="*/ 45 w 133"/>
                <a:gd name="T57" fmla="*/ 7 h 143"/>
                <a:gd name="T58" fmla="*/ 55 w 133"/>
                <a:gd name="T59" fmla="*/ 13 h 143"/>
                <a:gd name="T60" fmla="*/ 59 w 133"/>
                <a:gd name="T61" fmla="*/ 22 h 143"/>
                <a:gd name="T62" fmla="*/ 60 w 133"/>
                <a:gd name="T63" fmla="*/ 33 h 143"/>
                <a:gd name="T64" fmla="*/ 56 w 133"/>
                <a:gd name="T65" fmla="*/ 43 h 143"/>
                <a:gd name="T66" fmla="*/ 49 w 133"/>
                <a:gd name="T67" fmla="*/ 50 h 143"/>
                <a:gd name="T68" fmla="*/ 44 w 133"/>
                <a:gd name="T69" fmla="*/ 57 h 143"/>
                <a:gd name="T70" fmla="*/ 43 w 133"/>
                <a:gd name="T71" fmla="*/ 65 h 143"/>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133"/>
                <a:gd name="T109" fmla="*/ 0 h 143"/>
                <a:gd name="T110" fmla="*/ 133 w 133"/>
                <a:gd name="T111" fmla="*/ 143 h 143"/>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133" h="143">
                  <a:moveTo>
                    <a:pt x="91" y="141"/>
                  </a:moveTo>
                  <a:lnTo>
                    <a:pt x="91" y="137"/>
                  </a:lnTo>
                  <a:lnTo>
                    <a:pt x="94" y="128"/>
                  </a:lnTo>
                  <a:lnTo>
                    <a:pt x="98" y="117"/>
                  </a:lnTo>
                  <a:lnTo>
                    <a:pt x="106" y="108"/>
                  </a:lnTo>
                  <a:lnTo>
                    <a:pt x="117" y="98"/>
                  </a:lnTo>
                  <a:lnTo>
                    <a:pt x="125" y="86"/>
                  </a:lnTo>
                  <a:lnTo>
                    <a:pt x="130" y="75"/>
                  </a:lnTo>
                  <a:lnTo>
                    <a:pt x="133" y="63"/>
                  </a:lnTo>
                  <a:lnTo>
                    <a:pt x="133" y="51"/>
                  </a:lnTo>
                  <a:lnTo>
                    <a:pt x="132" y="39"/>
                  </a:lnTo>
                  <a:lnTo>
                    <a:pt x="126" y="29"/>
                  </a:lnTo>
                  <a:lnTo>
                    <a:pt x="119" y="20"/>
                  </a:lnTo>
                  <a:lnTo>
                    <a:pt x="115" y="16"/>
                  </a:lnTo>
                  <a:lnTo>
                    <a:pt x="110" y="13"/>
                  </a:lnTo>
                  <a:lnTo>
                    <a:pt x="105" y="9"/>
                  </a:lnTo>
                  <a:lnTo>
                    <a:pt x="98" y="6"/>
                  </a:lnTo>
                  <a:lnTo>
                    <a:pt x="90" y="3"/>
                  </a:lnTo>
                  <a:lnTo>
                    <a:pt x="82" y="1"/>
                  </a:lnTo>
                  <a:lnTo>
                    <a:pt x="73" y="0"/>
                  </a:lnTo>
                  <a:lnTo>
                    <a:pt x="62" y="0"/>
                  </a:lnTo>
                  <a:lnTo>
                    <a:pt x="46" y="2"/>
                  </a:lnTo>
                  <a:lnTo>
                    <a:pt x="31" y="8"/>
                  </a:lnTo>
                  <a:lnTo>
                    <a:pt x="19" y="17"/>
                  </a:lnTo>
                  <a:lnTo>
                    <a:pt x="8" y="28"/>
                  </a:lnTo>
                  <a:lnTo>
                    <a:pt x="3" y="40"/>
                  </a:lnTo>
                  <a:lnTo>
                    <a:pt x="0" y="55"/>
                  </a:lnTo>
                  <a:lnTo>
                    <a:pt x="4" y="71"/>
                  </a:lnTo>
                  <a:lnTo>
                    <a:pt x="13" y="89"/>
                  </a:lnTo>
                  <a:lnTo>
                    <a:pt x="21" y="98"/>
                  </a:lnTo>
                  <a:lnTo>
                    <a:pt x="28" y="106"/>
                  </a:lnTo>
                  <a:lnTo>
                    <a:pt x="35" y="112"/>
                  </a:lnTo>
                  <a:lnTo>
                    <a:pt x="42" y="116"/>
                  </a:lnTo>
                  <a:lnTo>
                    <a:pt x="46" y="121"/>
                  </a:lnTo>
                  <a:lnTo>
                    <a:pt x="51" y="127"/>
                  </a:lnTo>
                  <a:lnTo>
                    <a:pt x="53" y="134"/>
                  </a:lnTo>
                  <a:lnTo>
                    <a:pt x="54" y="143"/>
                  </a:lnTo>
                  <a:lnTo>
                    <a:pt x="57" y="141"/>
                  </a:lnTo>
                  <a:lnTo>
                    <a:pt x="60" y="134"/>
                  </a:lnTo>
                  <a:lnTo>
                    <a:pt x="59" y="124"/>
                  </a:lnTo>
                  <a:lnTo>
                    <a:pt x="49" y="114"/>
                  </a:lnTo>
                  <a:lnTo>
                    <a:pt x="43" y="109"/>
                  </a:lnTo>
                  <a:lnTo>
                    <a:pt x="37" y="105"/>
                  </a:lnTo>
                  <a:lnTo>
                    <a:pt x="31" y="99"/>
                  </a:lnTo>
                  <a:lnTo>
                    <a:pt x="26" y="93"/>
                  </a:lnTo>
                  <a:lnTo>
                    <a:pt x="21" y="86"/>
                  </a:lnTo>
                  <a:lnTo>
                    <a:pt x="18" y="79"/>
                  </a:lnTo>
                  <a:lnTo>
                    <a:pt x="15" y="71"/>
                  </a:lnTo>
                  <a:lnTo>
                    <a:pt x="13" y="62"/>
                  </a:lnTo>
                  <a:lnTo>
                    <a:pt x="13" y="51"/>
                  </a:lnTo>
                  <a:lnTo>
                    <a:pt x="16" y="41"/>
                  </a:lnTo>
                  <a:lnTo>
                    <a:pt x="21" y="32"/>
                  </a:lnTo>
                  <a:lnTo>
                    <a:pt x="29" y="24"/>
                  </a:lnTo>
                  <a:lnTo>
                    <a:pt x="38" y="17"/>
                  </a:lnTo>
                  <a:lnTo>
                    <a:pt x="50" y="13"/>
                  </a:lnTo>
                  <a:lnTo>
                    <a:pt x="62" y="10"/>
                  </a:lnTo>
                  <a:lnTo>
                    <a:pt x="77" y="10"/>
                  </a:lnTo>
                  <a:lnTo>
                    <a:pt x="91" y="13"/>
                  </a:lnTo>
                  <a:lnTo>
                    <a:pt x="102" y="18"/>
                  </a:lnTo>
                  <a:lnTo>
                    <a:pt x="111" y="25"/>
                  </a:lnTo>
                  <a:lnTo>
                    <a:pt x="117" y="34"/>
                  </a:lnTo>
                  <a:lnTo>
                    <a:pt x="119" y="44"/>
                  </a:lnTo>
                  <a:lnTo>
                    <a:pt x="120" y="55"/>
                  </a:lnTo>
                  <a:lnTo>
                    <a:pt x="120" y="66"/>
                  </a:lnTo>
                  <a:lnTo>
                    <a:pt x="117" y="76"/>
                  </a:lnTo>
                  <a:lnTo>
                    <a:pt x="112" y="85"/>
                  </a:lnTo>
                  <a:lnTo>
                    <a:pt x="106" y="93"/>
                  </a:lnTo>
                  <a:lnTo>
                    <a:pt x="99" y="100"/>
                  </a:lnTo>
                  <a:lnTo>
                    <a:pt x="94" y="107"/>
                  </a:lnTo>
                  <a:lnTo>
                    <a:pt x="89" y="114"/>
                  </a:lnTo>
                  <a:lnTo>
                    <a:pt x="86" y="121"/>
                  </a:lnTo>
                  <a:lnTo>
                    <a:pt x="87" y="130"/>
                  </a:lnTo>
                  <a:lnTo>
                    <a:pt x="91" y="141"/>
                  </a:lnTo>
                  <a:close/>
                </a:path>
              </a:pathLst>
            </a:custGeom>
            <a:solidFill>
              <a:srgbClr val="000000"/>
            </a:solidFill>
            <a:ln w="9525">
              <a:noFill/>
              <a:round/>
            </a:ln>
          </p:spPr>
          <p:txBody>
            <a:bodyPr/>
            <a:lstStyle/>
            <a:p>
              <a:endParaRPr lang="en-US"/>
            </a:p>
          </p:txBody>
        </p:sp>
        <p:sp>
          <p:nvSpPr>
            <p:cNvPr id="1048781" name="Freeform 71"/>
            <p:cNvSpPr/>
            <p:nvPr/>
          </p:nvSpPr>
          <p:spPr bwMode="auto">
            <a:xfrm>
              <a:off x="2293" y="3779"/>
              <a:ext cx="20" cy="27"/>
            </a:xfrm>
            <a:custGeom>
              <a:avLst/>
              <a:gdLst>
                <a:gd name="T0" fmla="*/ 11 w 39"/>
                <a:gd name="T1" fmla="*/ 0 h 54"/>
                <a:gd name="T2" fmla="*/ 10 w 39"/>
                <a:gd name="T3" fmla="*/ 0 h 54"/>
                <a:gd name="T4" fmla="*/ 8 w 39"/>
                <a:gd name="T5" fmla="*/ 1 h 54"/>
                <a:gd name="T6" fmla="*/ 5 w 39"/>
                <a:gd name="T7" fmla="*/ 2 h 54"/>
                <a:gd name="T8" fmla="*/ 3 w 39"/>
                <a:gd name="T9" fmla="*/ 3 h 54"/>
                <a:gd name="T10" fmla="*/ 1 w 39"/>
                <a:gd name="T11" fmla="*/ 3 h 54"/>
                <a:gd name="T12" fmla="*/ 0 w 39"/>
                <a:gd name="T13" fmla="*/ 5 h 54"/>
                <a:gd name="T14" fmla="*/ 1 w 39"/>
                <a:gd name="T15" fmla="*/ 6 h 54"/>
                <a:gd name="T16" fmla="*/ 3 w 39"/>
                <a:gd name="T17" fmla="*/ 7 h 54"/>
                <a:gd name="T18" fmla="*/ 9 w 39"/>
                <a:gd name="T19" fmla="*/ 10 h 54"/>
                <a:gd name="T20" fmla="*/ 12 w 39"/>
                <a:gd name="T21" fmla="*/ 11 h 54"/>
                <a:gd name="T22" fmla="*/ 12 w 39"/>
                <a:gd name="T23" fmla="*/ 13 h 54"/>
                <a:gd name="T24" fmla="*/ 8 w 39"/>
                <a:gd name="T25" fmla="*/ 14 h 54"/>
                <a:gd name="T26" fmla="*/ 5 w 39"/>
                <a:gd name="T27" fmla="*/ 18 h 54"/>
                <a:gd name="T28" fmla="*/ 4 w 39"/>
                <a:gd name="T29" fmla="*/ 21 h 54"/>
                <a:gd name="T30" fmla="*/ 7 w 39"/>
                <a:gd name="T31" fmla="*/ 25 h 54"/>
                <a:gd name="T32" fmla="*/ 12 w 39"/>
                <a:gd name="T33" fmla="*/ 27 h 54"/>
                <a:gd name="T34" fmla="*/ 11 w 39"/>
                <a:gd name="T35" fmla="*/ 26 h 54"/>
                <a:gd name="T36" fmla="*/ 10 w 39"/>
                <a:gd name="T37" fmla="*/ 23 h 54"/>
                <a:gd name="T38" fmla="*/ 10 w 39"/>
                <a:gd name="T39" fmla="*/ 19 h 54"/>
                <a:gd name="T40" fmla="*/ 14 w 39"/>
                <a:gd name="T41" fmla="*/ 17 h 54"/>
                <a:gd name="T42" fmla="*/ 18 w 39"/>
                <a:gd name="T43" fmla="*/ 15 h 54"/>
                <a:gd name="T44" fmla="*/ 20 w 39"/>
                <a:gd name="T45" fmla="*/ 12 h 54"/>
                <a:gd name="T46" fmla="*/ 19 w 39"/>
                <a:gd name="T47" fmla="*/ 10 h 54"/>
                <a:gd name="T48" fmla="*/ 17 w 39"/>
                <a:gd name="T49" fmla="*/ 7 h 54"/>
                <a:gd name="T50" fmla="*/ 13 w 39"/>
                <a:gd name="T51" fmla="*/ 7 h 54"/>
                <a:gd name="T52" fmla="*/ 10 w 39"/>
                <a:gd name="T53" fmla="*/ 5 h 54"/>
                <a:gd name="T54" fmla="*/ 8 w 39"/>
                <a:gd name="T55" fmla="*/ 3 h 54"/>
                <a:gd name="T56" fmla="*/ 11 w 39"/>
                <a:gd name="T57" fmla="*/ 0 h 54"/>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39"/>
                <a:gd name="T88" fmla="*/ 0 h 54"/>
                <a:gd name="T89" fmla="*/ 39 w 39"/>
                <a:gd name="T90" fmla="*/ 54 h 54"/>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39" h="54">
                  <a:moveTo>
                    <a:pt x="21" y="0"/>
                  </a:moveTo>
                  <a:lnTo>
                    <a:pt x="20" y="0"/>
                  </a:lnTo>
                  <a:lnTo>
                    <a:pt x="16" y="1"/>
                  </a:lnTo>
                  <a:lnTo>
                    <a:pt x="10" y="3"/>
                  </a:lnTo>
                  <a:lnTo>
                    <a:pt x="6" y="5"/>
                  </a:lnTo>
                  <a:lnTo>
                    <a:pt x="2" y="7"/>
                  </a:lnTo>
                  <a:lnTo>
                    <a:pt x="0" y="9"/>
                  </a:lnTo>
                  <a:lnTo>
                    <a:pt x="1" y="12"/>
                  </a:lnTo>
                  <a:lnTo>
                    <a:pt x="6" y="14"/>
                  </a:lnTo>
                  <a:lnTo>
                    <a:pt x="18" y="19"/>
                  </a:lnTo>
                  <a:lnTo>
                    <a:pt x="24" y="22"/>
                  </a:lnTo>
                  <a:lnTo>
                    <a:pt x="24" y="26"/>
                  </a:lnTo>
                  <a:lnTo>
                    <a:pt x="16" y="29"/>
                  </a:lnTo>
                  <a:lnTo>
                    <a:pt x="9" y="35"/>
                  </a:lnTo>
                  <a:lnTo>
                    <a:pt x="8" y="42"/>
                  </a:lnTo>
                  <a:lnTo>
                    <a:pt x="14" y="50"/>
                  </a:lnTo>
                  <a:lnTo>
                    <a:pt x="24" y="54"/>
                  </a:lnTo>
                  <a:lnTo>
                    <a:pt x="22" y="52"/>
                  </a:lnTo>
                  <a:lnTo>
                    <a:pt x="20" y="45"/>
                  </a:lnTo>
                  <a:lnTo>
                    <a:pt x="20" y="38"/>
                  </a:lnTo>
                  <a:lnTo>
                    <a:pt x="28" y="34"/>
                  </a:lnTo>
                  <a:lnTo>
                    <a:pt x="36" y="30"/>
                  </a:lnTo>
                  <a:lnTo>
                    <a:pt x="39" y="24"/>
                  </a:lnTo>
                  <a:lnTo>
                    <a:pt x="38" y="20"/>
                  </a:lnTo>
                  <a:lnTo>
                    <a:pt x="33" y="15"/>
                  </a:lnTo>
                  <a:lnTo>
                    <a:pt x="26" y="13"/>
                  </a:lnTo>
                  <a:lnTo>
                    <a:pt x="20" y="9"/>
                  </a:lnTo>
                  <a:lnTo>
                    <a:pt x="16" y="6"/>
                  </a:lnTo>
                  <a:lnTo>
                    <a:pt x="21" y="0"/>
                  </a:lnTo>
                  <a:close/>
                </a:path>
              </a:pathLst>
            </a:custGeom>
            <a:solidFill>
              <a:srgbClr val="000000"/>
            </a:solidFill>
            <a:ln w="9525">
              <a:noFill/>
              <a:round/>
            </a:ln>
          </p:spPr>
          <p:txBody>
            <a:bodyPr/>
            <a:lstStyle/>
            <a:p>
              <a:endParaRPr lang="en-US"/>
            </a:p>
          </p:txBody>
        </p:sp>
        <p:sp>
          <p:nvSpPr>
            <p:cNvPr id="1048782" name="Freeform 72"/>
            <p:cNvSpPr/>
            <p:nvPr/>
          </p:nvSpPr>
          <p:spPr bwMode="auto">
            <a:xfrm>
              <a:off x="2342" y="3758"/>
              <a:ext cx="22" cy="12"/>
            </a:xfrm>
            <a:custGeom>
              <a:avLst/>
              <a:gdLst>
                <a:gd name="T0" fmla="*/ 0 w 44"/>
                <a:gd name="T1" fmla="*/ 12 h 23"/>
                <a:gd name="T2" fmla="*/ 1 w 44"/>
                <a:gd name="T3" fmla="*/ 11 h 23"/>
                <a:gd name="T4" fmla="*/ 3 w 44"/>
                <a:gd name="T5" fmla="*/ 9 h 23"/>
                <a:gd name="T6" fmla="*/ 6 w 44"/>
                <a:gd name="T7" fmla="*/ 7 h 23"/>
                <a:gd name="T8" fmla="*/ 10 w 44"/>
                <a:gd name="T9" fmla="*/ 4 h 23"/>
                <a:gd name="T10" fmla="*/ 13 w 44"/>
                <a:gd name="T11" fmla="*/ 1 h 23"/>
                <a:gd name="T12" fmla="*/ 17 w 44"/>
                <a:gd name="T13" fmla="*/ 0 h 23"/>
                <a:gd name="T14" fmla="*/ 20 w 44"/>
                <a:gd name="T15" fmla="*/ 0 h 23"/>
                <a:gd name="T16" fmla="*/ 22 w 44"/>
                <a:gd name="T17" fmla="*/ 2 h 23"/>
                <a:gd name="T18" fmla="*/ 22 w 44"/>
                <a:gd name="T19" fmla="*/ 4 h 23"/>
                <a:gd name="T20" fmla="*/ 20 w 44"/>
                <a:gd name="T21" fmla="*/ 7 h 23"/>
                <a:gd name="T22" fmla="*/ 16 w 44"/>
                <a:gd name="T23" fmla="*/ 8 h 23"/>
                <a:gd name="T24" fmla="*/ 12 w 44"/>
                <a:gd name="T25" fmla="*/ 9 h 23"/>
                <a:gd name="T26" fmla="*/ 7 w 44"/>
                <a:gd name="T27" fmla="*/ 11 h 23"/>
                <a:gd name="T28" fmla="*/ 4 w 44"/>
                <a:gd name="T29" fmla="*/ 11 h 23"/>
                <a:gd name="T30" fmla="*/ 1 w 44"/>
                <a:gd name="T31" fmla="*/ 12 h 23"/>
                <a:gd name="T32" fmla="*/ 0 w 44"/>
                <a:gd name="T33" fmla="*/ 12 h 23"/>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44"/>
                <a:gd name="T52" fmla="*/ 0 h 23"/>
                <a:gd name="T53" fmla="*/ 44 w 44"/>
                <a:gd name="T54" fmla="*/ 23 h 23"/>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44" h="23">
                  <a:moveTo>
                    <a:pt x="0" y="23"/>
                  </a:moveTo>
                  <a:lnTo>
                    <a:pt x="1" y="22"/>
                  </a:lnTo>
                  <a:lnTo>
                    <a:pt x="6" y="17"/>
                  </a:lnTo>
                  <a:lnTo>
                    <a:pt x="11" y="13"/>
                  </a:lnTo>
                  <a:lnTo>
                    <a:pt x="19" y="7"/>
                  </a:lnTo>
                  <a:lnTo>
                    <a:pt x="26" y="2"/>
                  </a:lnTo>
                  <a:lnTo>
                    <a:pt x="34" y="0"/>
                  </a:lnTo>
                  <a:lnTo>
                    <a:pt x="40" y="0"/>
                  </a:lnTo>
                  <a:lnTo>
                    <a:pt x="44" y="3"/>
                  </a:lnTo>
                  <a:lnTo>
                    <a:pt x="44" y="8"/>
                  </a:lnTo>
                  <a:lnTo>
                    <a:pt x="39" y="13"/>
                  </a:lnTo>
                  <a:lnTo>
                    <a:pt x="32" y="16"/>
                  </a:lnTo>
                  <a:lnTo>
                    <a:pt x="24" y="18"/>
                  </a:lnTo>
                  <a:lnTo>
                    <a:pt x="15" y="21"/>
                  </a:lnTo>
                  <a:lnTo>
                    <a:pt x="8" y="22"/>
                  </a:lnTo>
                  <a:lnTo>
                    <a:pt x="2" y="23"/>
                  </a:lnTo>
                  <a:lnTo>
                    <a:pt x="0" y="23"/>
                  </a:lnTo>
                  <a:close/>
                </a:path>
              </a:pathLst>
            </a:custGeom>
            <a:solidFill>
              <a:srgbClr val="000000"/>
            </a:solidFill>
            <a:ln w="9525">
              <a:noFill/>
              <a:round/>
            </a:ln>
          </p:spPr>
          <p:txBody>
            <a:bodyPr/>
            <a:lstStyle/>
            <a:p>
              <a:endParaRPr lang="en-US"/>
            </a:p>
          </p:txBody>
        </p:sp>
        <p:sp>
          <p:nvSpPr>
            <p:cNvPr id="1048783" name="Freeform 73"/>
            <p:cNvSpPr/>
            <p:nvPr/>
          </p:nvSpPr>
          <p:spPr bwMode="auto">
            <a:xfrm>
              <a:off x="2349" y="3782"/>
              <a:ext cx="20" cy="6"/>
            </a:xfrm>
            <a:custGeom>
              <a:avLst/>
              <a:gdLst>
                <a:gd name="T0" fmla="*/ 0 w 40"/>
                <a:gd name="T1" fmla="*/ 3 h 14"/>
                <a:gd name="T2" fmla="*/ 1 w 40"/>
                <a:gd name="T3" fmla="*/ 3 h 14"/>
                <a:gd name="T4" fmla="*/ 3 w 40"/>
                <a:gd name="T5" fmla="*/ 3 h 14"/>
                <a:gd name="T6" fmla="*/ 6 w 40"/>
                <a:gd name="T7" fmla="*/ 1 h 14"/>
                <a:gd name="T8" fmla="*/ 10 w 40"/>
                <a:gd name="T9" fmla="*/ 0 h 14"/>
                <a:gd name="T10" fmla="*/ 14 w 40"/>
                <a:gd name="T11" fmla="*/ 0 h 14"/>
                <a:gd name="T12" fmla="*/ 17 w 40"/>
                <a:gd name="T13" fmla="*/ 0 h 14"/>
                <a:gd name="T14" fmla="*/ 20 w 40"/>
                <a:gd name="T15" fmla="*/ 1 h 14"/>
                <a:gd name="T16" fmla="*/ 20 w 40"/>
                <a:gd name="T17" fmla="*/ 3 h 14"/>
                <a:gd name="T18" fmla="*/ 19 w 40"/>
                <a:gd name="T19" fmla="*/ 5 h 14"/>
                <a:gd name="T20" fmla="*/ 17 w 40"/>
                <a:gd name="T21" fmla="*/ 6 h 14"/>
                <a:gd name="T22" fmla="*/ 13 w 40"/>
                <a:gd name="T23" fmla="*/ 6 h 14"/>
                <a:gd name="T24" fmla="*/ 10 w 40"/>
                <a:gd name="T25" fmla="*/ 6 h 14"/>
                <a:gd name="T26" fmla="*/ 6 w 40"/>
                <a:gd name="T27" fmla="*/ 5 h 14"/>
                <a:gd name="T28" fmla="*/ 3 w 40"/>
                <a:gd name="T29" fmla="*/ 4 h 14"/>
                <a:gd name="T30" fmla="*/ 1 w 40"/>
                <a:gd name="T31" fmla="*/ 4 h 14"/>
                <a:gd name="T32" fmla="*/ 0 w 40"/>
                <a:gd name="T33" fmla="*/ 3 h 14"/>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40"/>
                <a:gd name="T52" fmla="*/ 0 h 14"/>
                <a:gd name="T53" fmla="*/ 40 w 40"/>
                <a:gd name="T54" fmla="*/ 14 h 14"/>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40" h="14">
                  <a:moveTo>
                    <a:pt x="0" y="8"/>
                  </a:moveTo>
                  <a:lnTo>
                    <a:pt x="2" y="7"/>
                  </a:lnTo>
                  <a:lnTo>
                    <a:pt x="6" y="6"/>
                  </a:lnTo>
                  <a:lnTo>
                    <a:pt x="13" y="3"/>
                  </a:lnTo>
                  <a:lnTo>
                    <a:pt x="20" y="1"/>
                  </a:lnTo>
                  <a:lnTo>
                    <a:pt x="28" y="0"/>
                  </a:lnTo>
                  <a:lnTo>
                    <a:pt x="34" y="0"/>
                  </a:lnTo>
                  <a:lnTo>
                    <a:pt x="39" y="2"/>
                  </a:lnTo>
                  <a:lnTo>
                    <a:pt x="40" y="7"/>
                  </a:lnTo>
                  <a:lnTo>
                    <a:pt x="38" y="12"/>
                  </a:lnTo>
                  <a:lnTo>
                    <a:pt x="33" y="14"/>
                  </a:lnTo>
                  <a:lnTo>
                    <a:pt x="26" y="14"/>
                  </a:lnTo>
                  <a:lnTo>
                    <a:pt x="19" y="14"/>
                  </a:lnTo>
                  <a:lnTo>
                    <a:pt x="12" y="12"/>
                  </a:lnTo>
                  <a:lnTo>
                    <a:pt x="5" y="10"/>
                  </a:lnTo>
                  <a:lnTo>
                    <a:pt x="1" y="9"/>
                  </a:lnTo>
                  <a:lnTo>
                    <a:pt x="0" y="8"/>
                  </a:lnTo>
                  <a:close/>
                </a:path>
              </a:pathLst>
            </a:custGeom>
            <a:solidFill>
              <a:srgbClr val="000000"/>
            </a:solidFill>
            <a:ln w="9525">
              <a:noFill/>
              <a:round/>
            </a:ln>
          </p:spPr>
          <p:txBody>
            <a:bodyPr/>
            <a:lstStyle/>
            <a:p>
              <a:endParaRPr lang="en-US"/>
            </a:p>
          </p:txBody>
        </p:sp>
        <p:sp>
          <p:nvSpPr>
            <p:cNvPr id="1048784" name="Freeform 74"/>
            <p:cNvSpPr/>
            <p:nvPr/>
          </p:nvSpPr>
          <p:spPr bwMode="auto">
            <a:xfrm>
              <a:off x="2349" y="3802"/>
              <a:ext cx="20" cy="10"/>
            </a:xfrm>
            <a:custGeom>
              <a:avLst/>
              <a:gdLst>
                <a:gd name="T0" fmla="*/ 0 w 39"/>
                <a:gd name="T1" fmla="*/ 0 h 21"/>
                <a:gd name="T2" fmla="*/ 1 w 39"/>
                <a:gd name="T3" fmla="*/ 0 h 21"/>
                <a:gd name="T4" fmla="*/ 4 w 39"/>
                <a:gd name="T5" fmla="*/ 0 h 21"/>
                <a:gd name="T6" fmla="*/ 7 w 39"/>
                <a:gd name="T7" fmla="*/ 1 h 21"/>
                <a:gd name="T8" fmla="*/ 11 w 39"/>
                <a:gd name="T9" fmla="*/ 2 h 21"/>
                <a:gd name="T10" fmla="*/ 15 w 39"/>
                <a:gd name="T11" fmla="*/ 3 h 21"/>
                <a:gd name="T12" fmla="*/ 18 w 39"/>
                <a:gd name="T13" fmla="*/ 5 h 21"/>
                <a:gd name="T14" fmla="*/ 20 w 39"/>
                <a:gd name="T15" fmla="*/ 6 h 21"/>
                <a:gd name="T16" fmla="*/ 19 w 39"/>
                <a:gd name="T17" fmla="*/ 8 h 21"/>
                <a:gd name="T18" fmla="*/ 17 w 39"/>
                <a:gd name="T19" fmla="*/ 10 h 21"/>
                <a:gd name="T20" fmla="*/ 14 w 39"/>
                <a:gd name="T21" fmla="*/ 10 h 21"/>
                <a:gd name="T22" fmla="*/ 10 w 39"/>
                <a:gd name="T23" fmla="*/ 9 h 21"/>
                <a:gd name="T24" fmla="*/ 8 w 39"/>
                <a:gd name="T25" fmla="*/ 7 h 21"/>
                <a:gd name="T26" fmla="*/ 5 w 39"/>
                <a:gd name="T27" fmla="*/ 5 h 21"/>
                <a:gd name="T28" fmla="*/ 2 w 39"/>
                <a:gd name="T29" fmla="*/ 2 h 21"/>
                <a:gd name="T30" fmla="*/ 1 w 39"/>
                <a:gd name="T31" fmla="*/ 0 h 21"/>
                <a:gd name="T32" fmla="*/ 0 w 39"/>
                <a:gd name="T33" fmla="*/ 0 h 21"/>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39"/>
                <a:gd name="T52" fmla="*/ 0 h 21"/>
                <a:gd name="T53" fmla="*/ 39 w 39"/>
                <a:gd name="T54" fmla="*/ 21 h 21"/>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39" h="21">
                  <a:moveTo>
                    <a:pt x="0" y="0"/>
                  </a:moveTo>
                  <a:lnTo>
                    <a:pt x="2" y="0"/>
                  </a:lnTo>
                  <a:lnTo>
                    <a:pt x="7" y="1"/>
                  </a:lnTo>
                  <a:lnTo>
                    <a:pt x="14" y="3"/>
                  </a:lnTo>
                  <a:lnTo>
                    <a:pt x="22" y="5"/>
                  </a:lnTo>
                  <a:lnTo>
                    <a:pt x="30" y="7"/>
                  </a:lnTo>
                  <a:lnTo>
                    <a:pt x="35" y="10"/>
                  </a:lnTo>
                  <a:lnTo>
                    <a:pt x="39" y="13"/>
                  </a:lnTo>
                  <a:lnTo>
                    <a:pt x="38" y="16"/>
                  </a:lnTo>
                  <a:lnTo>
                    <a:pt x="33" y="20"/>
                  </a:lnTo>
                  <a:lnTo>
                    <a:pt x="27" y="21"/>
                  </a:lnTo>
                  <a:lnTo>
                    <a:pt x="20" y="19"/>
                  </a:lnTo>
                  <a:lnTo>
                    <a:pt x="15" y="14"/>
                  </a:lnTo>
                  <a:lnTo>
                    <a:pt x="9" y="10"/>
                  </a:lnTo>
                  <a:lnTo>
                    <a:pt x="4" y="5"/>
                  </a:lnTo>
                  <a:lnTo>
                    <a:pt x="1" y="1"/>
                  </a:lnTo>
                  <a:lnTo>
                    <a:pt x="0" y="0"/>
                  </a:lnTo>
                  <a:close/>
                </a:path>
              </a:pathLst>
            </a:custGeom>
            <a:solidFill>
              <a:srgbClr val="000000"/>
            </a:solidFill>
            <a:ln w="9525">
              <a:noFill/>
              <a:round/>
            </a:ln>
          </p:spPr>
          <p:txBody>
            <a:bodyPr/>
            <a:lstStyle/>
            <a:p>
              <a:endParaRPr lang="en-US"/>
            </a:p>
          </p:txBody>
        </p:sp>
        <p:sp>
          <p:nvSpPr>
            <p:cNvPr id="1048785" name="Freeform 75"/>
            <p:cNvSpPr/>
            <p:nvPr/>
          </p:nvSpPr>
          <p:spPr bwMode="auto">
            <a:xfrm>
              <a:off x="2241" y="3760"/>
              <a:ext cx="22" cy="11"/>
            </a:xfrm>
            <a:custGeom>
              <a:avLst/>
              <a:gdLst>
                <a:gd name="T0" fmla="*/ 22 w 44"/>
                <a:gd name="T1" fmla="*/ 11 h 23"/>
                <a:gd name="T2" fmla="*/ 22 w 44"/>
                <a:gd name="T3" fmla="*/ 11 h 23"/>
                <a:gd name="T4" fmla="*/ 19 w 44"/>
                <a:gd name="T5" fmla="*/ 9 h 23"/>
                <a:gd name="T6" fmla="*/ 16 w 44"/>
                <a:gd name="T7" fmla="*/ 6 h 23"/>
                <a:gd name="T8" fmla="*/ 12 w 44"/>
                <a:gd name="T9" fmla="*/ 4 h 23"/>
                <a:gd name="T10" fmla="*/ 9 w 44"/>
                <a:gd name="T11" fmla="*/ 2 h 23"/>
                <a:gd name="T12" fmla="*/ 5 w 44"/>
                <a:gd name="T13" fmla="*/ 0 h 23"/>
                <a:gd name="T14" fmla="*/ 2 w 44"/>
                <a:gd name="T15" fmla="*/ 0 h 23"/>
                <a:gd name="T16" fmla="*/ 0 w 44"/>
                <a:gd name="T17" fmla="*/ 2 h 23"/>
                <a:gd name="T18" fmla="*/ 0 w 44"/>
                <a:gd name="T19" fmla="*/ 4 h 23"/>
                <a:gd name="T20" fmla="*/ 3 w 44"/>
                <a:gd name="T21" fmla="*/ 6 h 23"/>
                <a:gd name="T22" fmla="*/ 6 w 44"/>
                <a:gd name="T23" fmla="*/ 8 h 23"/>
                <a:gd name="T24" fmla="*/ 10 w 44"/>
                <a:gd name="T25" fmla="*/ 9 h 23"/>
                <a:gd name="T26" fmla="*/ 14 w 44"/>
                <a:gd name="T27" fmla="*/ 10 h 23"/>
                <a:gd name="T28" fmla="*/ 18 w 44"/>
                <a:gd name="T29" fmla="*/ 11 h 23"/>
                <a:gd name="T30" fmla="*/ 21 w 44"/>
                <a:gd name="T31" fmla="*/ 11 h 23"/>
                <a:gd name="T32" fmla="*/ 22 w 44"/>
                <a:gd name="T33" fmla="*/ 11 h 23"/>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44"/>
                <a:gd name="T52" fmla="*/ 0 h 23"/>
                <a:gd name="T53" fmla="*/ 44 w 44"/>
                <a:gd name="T54" fmla="*/ 23 h 23"/>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44" h="23">
                  <a:moveTo>
                    <a:pt x="44" y="23"/>
                  </a:moveTo>
                  <a:lnTo>
                    <a:pt x="43" y="22"/>
                  </a:lnTo>
                  <a:lnTo>
                    <a:pt x="38" y="19"/>
                  </a:lnTo>
                  <a:lnTo>
                    <a:pt x="32" y="13"/>
                  </a:lnTo>
                  <a:lnTo>
                    <a:pt x="24" y="8"/>
                  </a:lnTo>
                  <a:lnTo>
                    <a:pt x="17" y="4"/>
                  </a:lnTo>
                  <a:lnTo>
                    <a:pt x="9" y="0"/>
                  </a:lnTo>
                  <a:lnTo>
                    <a:pt x="4" y="0"/>
                  </a:lnTo>
                  <a:lnTo>
                    <a:pt x="0" y="4"/>
                  </a:lnTo>
                  <a:lnTo>
                    <a:pt x="0" y="8"/>
                  </a:lnTo>
                  <a:lnTo>
                    <a:pt x="5" y="13"/>
                  </a:lnTo>
                  <a:lnTo>
                    <a:pt x="12" y="16"/>
                  </a:lnTo>
                  <a:lnTo>
                    <a:pt x="20" y="19"/>
                  </a:lnTo>
                  <a:lnTo>
                    <a:pt x="29" y="21"/>
                  </a:lnTo>
                  <a:lnTo>
                    <a:pt x="36" y="22"/>
                  </a:lnTo>
                  <a:lnTo>
                    <a:pt x="42" y="23"/>
                  </a:lnTo>
                  <a:lnTo>
                    <a:pt x="44" y="23"/>
                  </a:lnTo>
                  <a:close/>
                </a:path>
              </a:pathLst>
            </a:custGeom>
            <a:solidFill>
              <a:srgbClr val="000000"/>
            </a:solidFill>
            <a:ln w="9525">
              <a:noFill/>
              <a:round/>
            </a:ln>
          </p:spPr>
          <p:txBody>
            <a:bodyPr/>
            <a:lstStyle/>
            <a:p>
              <a:endParaRPr lang="en-US"/>
            </a:p>
          </p:txBody>
        </p:sp>
        <p:sp>
          <p:nvSpPr>
            <p:cNvPr id="1048786" name="Freeform 76"/>
            <p:cNvSpPr/>
            <p:nvPr/>
          </p:nvSpPr>
          <p:spPr bwMode="auto">
            <a:xfrm>
              <a:off x="2235" y="3783"/>
              <a:ext cx="22" cy="7"/>
            </a:xfrm>
            <a:custGeom>
              <a:avLst/>
              <a:gdLst>
                <a:gd name="T0" fmla="*/ 22 w 42"/>
                <a:gd name="T1" fmla="*/ 5 h 14"/>
                <a:gd name="T2" fmla="*/ 21 w 42"/>
                <a:gd name="T3" fmla="*/ 4 h 14"/>
                <a:gd name="T4" fmla="*/ 18 w 42"/>
                <a:gd name="T5" fmla="*/ 3 h 14"/>
                <a:gd name="T6" fmla="*/ 15 w 42"/>
                <a:gd name="T7" fmla="*/ 2 h 14"/>
                <a:gd name="T8" fmla="*/ 10 w 42"/>
                <a:gd name="T9" fmla="*/ 1 h 14"/>
                <a:gd name="T10" fmla="*/ 6 w 42"/>
                <a:gd name="T11" fmla="*/ 0 h 14"/>
                <a:gd name="T12" fmla="*/ 3 w 42"/>
                <a:gd name="T13" fmla="*/ 0 h 14"/>
                <a:gd name="T14" fmla="*/ 1 w 42"/>
                <a:gd name="T15" fmla="*/ 2 h 14"/>
                <a:gd name="T16" fmla="*/ 0 w 42"/>
                <a:gd name="T17" fmla="*/ 4 h 14"/>
                <a:gd name="T18" fmla="*/ 1 w 42"/>
                <a:gd name="T19" fmla="*/ 6 h 14"/>
                <a:gd name="T20" fmla="*/ 4 w 42"/>
                <a:gd name="T21" fmla="*/ 7 h 14"/>
                <a:gd name="T22" fmla="*/ 8 w 42"/>
                <a:gd name="T23" fmla="*/ 7 h 14"/>
                <a:gd name="T24" fmla="*/ 11 w 42"/>
                <a:gd name="T25" fmla="*/ 7 h 14"/>
                <a:gd name="T26" fmla="*/ 16 w 42"/>
                <a:gd name="T27" fmla="*/ 6 h 14"/>
                <a:gd name="T28" fmla="*/ 19 w 42"/>
                <a:gd name="T29" fmla="*/ 6 h 14"/>
                <a:gd name="T30" fmla="*/ 21 w 42"/>
                <a:gd name="T31" fmla="*/ 5 h 14"/>
                <a:gd name="T32" fmla="*/ 22 w 42"/>
                <a:gd name="T33" fmla="*/ 5 h 14"/>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42"/>
                <a:gd name="T52" fmla="*/ 0 h 14"/>
                <a:gd name="T53" fmla="*/ 42 w 42"/>
                <a:gd name="T54" fmla="*/ 14 h 14"/>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42" h="14">
                  <a:moveTo>
                    <a:pt x="42" y="9"/>
                  </a:moveTo>
                  <a:lnTo>
                    <a:pt x="40" y="7"/>
                  </a:lnTo>
                  <a:lnTo>
                    <a:pt x="35" y="6"/>
                  </a:lnTo>
                  <a:lnTo>
                    <a:pt x="28" y="4"/>
                  </a:lnTo>
                  <a:lnTo>
                    <a:pt x="19" y="2"/>
                  </a:lnTo>
                  <a:lnTo>
                    <a:pt x="11" y="0"/>
                  </a:lnTo>
                  <a:lnTo>
                    <a:pt x="5" y="0"/>
                  </a:lnTo>
                  <a:lnTo>
                    <a:pt x="1" y="3"/>
                  </a:lnTo>
                  <a:lnTo>
                    <a:pt x="0" y="7"/>
                  </a:lnTo>
                  <a:lnTo>
                    <a:pt x="2" y="12"/>
                  </a:lnTo>
                  <a:lnTo>
                    <a:pt x="8" y="14"/>
                  </a:lnTo>
                  <a:lnTo>
                    <a:pt x="15" y="14"/>
                  </a:lnTo>
                  <a:lnTo>
                    <a:pt x="21" y="14"/>
                  </a:lnTo>
                  <a:lnTo>
                    <a:pt x="30" y="12"/>
                  </a:lnTo>
                  <a:lnTo>
                    <a:pt x="36" y="11"/>
                  </a:lnTo>
                  <a:lnTo>
                    <a:pt x="40" y="10"/>
                  </a:lnTo>
                  <a:lnTo>
                    <a:pt x="42" y="9"/>
                  </a:lnTo>
                  <a:close/>
                </a:path>
              </a:pathLst>
            </a:custGeom>
            <a:solidFill>
              <a:srgbClr val="000000"/>
            </a:solidFill>
            <a:ln w="9525">
              <a:noFill/>
              <a:round/>
            </a:ln>
          </p:spPr>
          <p:txBody>
            <a:bodyPr/>
            <a:lstStyle/>
            <a:p>
              <a:endParaRPr lang="en-US"/>
            </a:p>
          </p:txBody>
        </p:sp>
        <p:sp>
          <p:nvSpPr>
            <p:cNvPr id="1048787" name="Freeform 77"/>
            <p:cNvSpPr/>
            <p:nvPr/>
          </p:nvSpPr>
          <p:spPr bwMode="auto">
            <a:xfrm>
              <a:off x="2238" y="3805"/>
              <a:ext cx="20" cy="11"/>
            </a:xfrm>
            <a:custGeom>
              <a:avLst/>
              <a:gdLst>
                <a:gd name="T0" fmla="*/ 20 w 40"/>
                <a:gd name="T1" fmla="*/ 0 h 22"/>
                <a:gd name="T2" fmla="*/ 19 w 40"/>
                <a:gd name="T3" fmla="*/ 0 h 22"/>
                <a:gd name="T4" fmla="*/ 17 w 40"/>
                <a:gd name="T5" fmla="*/ 1 h 22"/>
                <a:gd name="T6" fmla="*/ 13 w 40"/>
                <a:gd name="T7" fmla="*/ 1 h 22"/>
                <a:gd name="T8" fmla="*/ 9 w 40"/>
                <a:gd name="T9" fmla="*/ 3 h 22"/>
                <a:gd name="T10" fmla="*/ 5 w 40"/>
                <a:gd name="T11" fmla="*/ 3 h 22"/>
                <a:gd name="T12" fmla="*/ 2 w 40"/>
                <a:gd name="T13" fmla="*/ 6 h 22"/>
                <a:gd name="T14" fmla="*/ 0 w 40"/>
                <a:gd name="T15" fmla="*/ 7 h 22"/>
                <a:gd name="T16" fmla="*/ 1 w 40"/>
                <a:gd name="T17" fmla="*/ 9 h 22"/>
                <a:gd name="T18" fmla="*/ 3 w 40"/>
                <a:gd name="T19" fmla="*/ 11 h 22"/>
                <a:gd name="T20" fmla="*/ 6 w 40"/>
                <a:gd name="T21" fmla="*/ 11 h 22"/>
                <a:gd name="T22" fmla="*/ 10 w 40"/>
                <a:gd name="T23" fmla="*/ 10 h 22"/>
                <a:gd name="T24" fmla="*/ 12 w 40"/>
                <a:gd name="T25" fmla="*/ 7 h 22"/>
                <a:gd name="T26" fmla="*/ 15 w 40"/>
                <a:gd name="T27" fmla="*/ 5 h 22"/>
                <a:gd name="T28" fmla="*/ 18 w 40"/>
                <a:gd name="T29" fmla="*/ 3 h 22"/>
                <a:gd name="T30" fmla="*/ 19 w 40"/>
                <a:gd name="T31" fmla="*/ 1 h 22"/>
                <a:gd name="T32" fmla="*/ 20 w 40"/>
                <a:gd name="T33" fmla="*/ 0 h 22"/>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40"/>
                <a:gd name="T52" fmla="*/ 0 h 22"/>
                <a:gd name="T53" fmla="*/ 40 w 40"/>
                <a:gd name="T54" fmla="*/ 22 h 22"/>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40" h="22">
                  <a:moveTo>
                    <a:pt x="40" y="0"/>
                  </a:moveTo>
                  <a:lnTo>
                    <a:pt x="37" y="0"/>
                  </a:lnTo>
                  <a:lnTo>
                    <a:pt x="33" y="1"/>
                  </a:lnTo>
                  <a:lnTo>
                    <a:pt x="26" y="3"/>
                  </a:lnTo>
                  <a:lnTo>
                    <a:pt x="18" y="5"/>
                  </a:lnTo>
                  <a:lnTo>
                    <a:pt x="10" y="7"/>
                  </a:lnTo>
                  <a:lnTo>
                    <a:pt x="4" y="11"/>
                  </a:lnTo>
                  <a:lnTo>
                    <a:pt x="0" y="14"/>
                  </a:lnTo>
                  <a:lnTo>
                    <a:pt x="1" y="18"/>
                  </a:lnTo>
                  <a:lnTo>
                    <a:pt x="6" y="21"/>
                  </a:lnTo>
                  <a:lnTo>
                    <a:pt x="12" y="22"/>
                  </a:lnTo>
                  <a:lnTo>
                    <a:pt x="19" y="19"/>
                  </a:lnTo>
                  <a:lnTo>
                    <a:pt x="25" y="15"/>
                  </a:lnTo>
                  <a:lnTo>
                    <a:pt x="30" y="9"/>
                  </a:lnTo>
                  <a:lnTo>
                    <a:pt x="35" y="5"/>
                  </a:lnTo>
                  <a:lnTo>
                    <a:pt x="38" y="1"/>
                  </a:lnTo>
                  <a:lnTo>
                    <a:pt x="40" y="0"/>
                  </a:lnTo>
                  <a:close/>
                </a:path>
              </a:pathLst>
            </a:custGeom>
            <a:solidFill>
              <a:srgbClr val="000000"/>
            </a:solidFill>
            <a:ln w="9525">
              <a:noFill/>
              <a:round/>
            </a:ln>
          </p:spPr>
          <p:txBody>
            <a:bodyPr/>
            <a:lstStyle/>
            <a:p>
              <a:endParaRPr lang="en-US"/>
            </a:p>
          </p:txBody>
        </p:sp>
        <p:sp>
          <p:nvSpPr>
            <p:cNvPr id="1048788" name="Freeform 78"/>
            <p:cNvSpPr/>
            <p:nvPr/>
          </p:nvSpPr>
          <p:spPr bwMode="auto">
            <a:xfrm>
              <a:off x="2310" y="3834"/>
              <a:ext cx="2" cy="2"/>
            </a:xfrm>
            <a:custGeom>
              <a:avLst/>
              <a:gdLst>
                <a:gd name="T0" fmla="*/ 1 w 5"/>
                <a:gd name="T1" fmla="*/ 2 h 4"/>
                <a:gd name="T2" fmla="*/ 2 w 5"/>
                <a:gd name="T3" fmla="*/ 2 h 4"/>
                <a:gd name="T4" fmla="*/ 2 w 5"/>
                <a:gd name="T5" fmla="*/ 1 h 4"/>
                <a:gd name="T6" fmla="*/ 2 w 5"/>
                <a:gd name="T7" fmla="*/ 1 h 4"/>
                <a:gd name="T8" fmla="*/ 2 w 5"/>
                <a:gd name="T9" fmla="*/ 1 h 4"/>
                <a:gd name="T10" fmla="*/ 2 w 5"/>
                <a:gd name="T11" fmla="*/ 1 h 4"/>
                <a:gd name="T12" fmla="*/ 2 w 5"/>
                <a:gd name="T13" fmla="*/ 1 h 4"/>
                <a:gd name="T14" fmla="*/ 2 w 5"/>
                <a:gd name="T15" fmla="*/ 0 h 4"/>
                <a:gd name="T16" fmla="*/ 1 w 5"/>
                <a:gd name="T17" fmla="*/ 0 h 4"/>
                <a:gd name="T18" fmla="*/ 1 w 5"/>
                <a:gd name="T19" fmla="*/ 0 h 4"/>
                <a:gd name="T20" fmla="*/ 1 w 5"/>
                <a:gd name="T21" fmla="*/ 1 h 4"/>
                <a:gd name="T22" fmla="*/ 0 w 5"/>
                <a:gd name="T23" fmla="*/ 1 h 4"/>
                <a:gd name="T24" fmla="*/ 0 w 5"/>
                <a:gd name="T25" fmla="*/ 1 h 4"/>
                <a:gd name="T26" fmla="*/ 0 w 5"/>
                <a:gd name="T27" fmla="*/ 1 h 4"/>
                <a:gd name="T28" fmla="*/ 1 w 5"/>
                <a:gd name="T29" fmla="*/ 1 h 4"/>
                <a:gd name="T30" fmla="*/ 1 w 5"/>
                <a:gd name="T31" fmla="*/ 2 h 4"/>
                <a:gd name="T32" fmla="*/ 1 w 5"/>
                <a:gd name="T33" fmla="*/ 2 h 4"/>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5"/>
                <a:gd name="T52" fmla="*/ 0 h 4"/>
                <a:gd name="T53" fmla="*/ 5 w 5"/>
                <a:gd name="T54" fmla="*/ 4 h 4"/>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5" h="4">
                  <a:moveTo>
                    <a:pt x="3" y="4"/>
                  </a:moveTo>
                  <a:lnTo>
                    <a:pt x="4" y="4"/>
                  </a:lnTo>
                  <a:lnTo>
                    <a:pt x="4" y="3"/>
                  </a:lnTo>
                  <a:lnTo>
                    <a:pt x="5" y="3"/>
                  </a:lnTo>
                  <a:lnTo>
                    <a:pt x="5" y="2"/>
                  </a:lnTo>
                  <a:lnTo>
                    <a:pt x="5" y="1"/>
                  </a:lnTo>
                  <a:lnTo>
                    <a:pt x="4" y="1"/>
                  </a:lnTo>
                  <a:lnTo>
                    <a:pt x="4" y="0"/>
                  </a:lnTo>
                  <a:lnTo>
                    <a:pt x="3" y="0"/>
                  </a:lnTo>
                  <a:lnTo>
                    <a:pt x="2" y="0"/>
                  </a:lnTo>
                  <a:lnTo>
                    <a:pt x="2" y="1"/>
                  </a:lnTo>
                  <a:lnTo>
                    <a:pt x="0" y="1"/>
                  </a:lnTo>
                  <a:lnTo>
                    <a:pt x="0" y="2"/>
                  </a:lnTo>
                  <a:lnTo>
                    <a:pt x="0" y="3"/>
                  </a:lnTo>
                  <a:lnTo>
                    <a:pt x="2" y="3"/>
                  </a:lnTo>
                  <a:lnTo>
                    <a:pt x="2" y="4"/>
                  </a:lnTo>
                  <a:lnTo>
                    <a:pt x="3" y="4"/>
                  </a:lnTo>
                  <a:close/>
                </a:path>
              </a:pathLst>
            </a:custGeom>
            <a:solidFill>
              <a:srgbClr val="FFFFFF"/>
            </a:solidFill>
            <a:ln w="9525">
              <a:noFill/>
              <a:round/>
            </a:ln>
          </p:spPr>
          <p:txBody>
            <a:bodyPr/>
            <a:lstStyle/>
            <a:p>
              <a:endParaRPr lang="en-US"/>
            </a:p>
          </p:txBody>
        </p:sp>
        <p:sp>
          <p:nvSpPr>
            <p:cNvPr id="1048789" name="Freeform 79"/>
            <p:cNvSpPr/>
            <p:nvPr/>
          </p:nvSpPr>
          <p:spPr bwMode="auto">
            <a:xfrm>
              <a:off x="2310" y="3845"/>
              <a:ext cx="2" cy="2"/>
            </a:xfrm>
            <a:custGeom>
              <a:avLst/>
              <a:gdLst>
                <a:gd name="T0" fmla="*/ 1 w 5"/>
                <a:gd name="T1" fmla="*/ 2 h 4"/>
                <a:gd name="T2" fmla="*/ 2 w 5"/>
                <a:gd name="T3" fmla="*/ 2 h 4"/>
                <a:gd name="T4" fmla="*/ 2 w 5"/>
                <a:gd name="T5" fmla="*/ 1 h 4"/>
                <a:gd name="T6" fmla="*/ 2 w 5"/>
                <a:gd name="T7" fmla="*/ 1 h 4"/>
                <a:gd name="T8" fmla="*/ 2 w 5"/>
                <a:gd name="T9" fmla="*/ 1 h 4"/>
                <a:gd name="T10" fmla="*/ 2 w 5"/>
                <a:gd name="T11" fmla="*/ 1 h 4"/>
                <a:gd name="T12" fmla="*/ 2 w 5"/>
                <a:gd name="T13" fmla="*/ 1 h 4"/>
                <a:gd name="T14" fmla="*/ 2 w 5"/>
                <a:gd name="T15" fmla="*/ 0 h 4"/>
                <a:gd name="T16" fmla="*/ 1 w 5"/>
                <a:gd name="T17" fmla="*/ 0 h 4"/>
                <a:gd name="T18" fmla="*/ 1 w 5"/>
                <a:gd name="T19" fmla="*/ 0 h 4"/>
                <a:gd name="T20" fmla="*/ 1 w 5"/>
                <a:gd name="T21" fmla="*/ 1 h 4"/>
                <a:gd name="T22" fmla="*/ 0 w 5"/>
                <a:gd name="T23" fmla="*/ 1 h 4"/>
                <a:gd name="T24" fmla="*/ 0 w 5"/>
                <a:gd name="T25" fmla="*/ 1 h 4"/>
                <a:gd name="T26" fmla="*/ 0 w 5"/>
                <a:gd name="T27" fmla="*/ 1 h 4"/>
                <a:gd name="T28" fmla="*/ 1 w 5"/>
                <a:gd name="T29" fmla="*/ 1 h 4"/>
                <a:gd name="T30" fmla="*/ 1 w 5"/>
                <a:gd name="T31" fmla="*/ 2 h 4"/>
                <a:gd name="T32" fmla="*/ 1 w 5"/>
                <a:gd name="T33" fmla="*/ 2 h 4"/>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5"/>
                <a:gd name="T52" fmla="*/ 0 h 4"/>
                <a:gd name="T53" fmla="*/ 5 w 5"/>
                <a:gd name="T54" fmla="*/ 4 h 4"/>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5" h="4">
                  <a:moveTo>
                    <a:pt x="3" y="4"/>
                  </a:moveTo>
                  <a:lnTo>
                    <a:pt x="4" y="4"/>
                  </a:lnTo>
                  <a:lnTo>
                    <a:pt x="4" y="3"/>
                  </a:lnTo>
                  <a:lnTo>
                    <a:pt x="5" y="3"/>
                  </a:lnTo>
                  <a:lnTo>
                    <a:pt x="5" y="2"/>
                  </a:lnTo>
                  <a:lnTo>
                    <a:pt x="5" y="1"/>
                  </a:lnTo>
                  <a:lnTo>
                    <a:pt x="4" y="1"/>
                  </a:lnTo>
                  <a:lnTo>
                    <a:pt x="4" y="0"/>
                  </a:lnTo>
                  <a:lnTo>
                    <a:pt x="3" y="0"/>
                  </a:lnTo>
                  <a:lnTo>
                    <a:pt x="2" y="0"/>
                  </a:lnTo>
                  <a:lnTo>
                    <a:pt x="2" y="1"/>
                  </a:lnTo>
                  <a:lnTo>
                    <a:pt x="0" y="1"/>
                  </a:lnTo>
                  <a:lnTo>
                    <a:pt x="0" y="2"/>
                  </a:lnTo>
                  <a:lnTo>
                    <a:pt x="0" y="3"/>
                  </a:lnTo>
                  <a:lnTo>
                    <a:pt x="2" y="3"/>
                  </a:lnTo>
                  <a:lnTo>
                    <a:pt x="2" y="4"/>
                  </a:lnTo>
                  <a:lnTo>
                    <a:pt x="3" y="4"/>
                  </a:lnTo>
                  <a:close/>
                </a:path>
              </a:pathLst>
            </a:custGeom>
            <a:solidFill>
              <a:srgbClr val="FFFFFF"/>
            </a:solidFill>
            <a:ln w="9525">
              <a:noFill/>
              <a:round/>
            </a:ln>
          </p:spPr>
          <p:txBody>
            <a:bodyPr/>
            <a:lstStyle/>
            <a:p>
              <a:endParaRPr lang="en-US"/>
            </a:p>
          </p:txBody>
        </p:sp>
        <p:sp>
          <p:nvSpPr>
            <p:cNvPr id="1048790" name="Freeform 80"/>
            <p:cNvSpPr/>
            <p:nvPr/>
          </p:nvSpPr>
          <p:spPr bwMode="auto">
            <a:xfrm>
              <a:off x="2310" y="3855"/>
              <a:ext cx="3" cy="1"/>
            </a:xfrm>
            <a:custGeom>
              <a:avLst/>
              <a:gdLst>
                <a:gd name="T0" fmla="*/ 2 w 6"/>
                <a:gd name="T1" fmla="*/ 1 h 4"/>
                <a:gd name="T2" fmla="*/ 3 w 6"/>
                <a:gd name="T3" fmla="*/ 1 h 4"/>
                <a:gd name="T4" fmla="*/ 3 w 6"/>
                <a:gd name="T5" fmla="*/ 1 h 4"/>
                <a:gd name="T6" fmla="*/ 3 w 6"/>
                <a:gd name="T7" fmla="*/ 1 h 4"/>
                <a:gd name="T8" fmla="*/ 3 w 6"/>
                <a:gd name="T9" fmla="*/ 1 h 4"/>
                <a:gd name="T10" fmla="*/ 3 w 6"/>
                <a:gd name="T11" fmla="*/ 0 h 4"/>
                <a:gd name="T12" fmla="*/ 3 w 6"/>
                <a:gd name="T13" fmla="*/ 0 h 4"/>
                <a:gd name="T14" fmla="*/ 3 w 6"/>
                <a:gd name="T15" fmla="*/ 0 h 4"/>
                <a:gd name="T16" fmla="*/ 2 w 6"/>
                <a:gd name="T17" fmla="*/ 0 h 4"/>
                <a:gd name="T18" fmla="*/ 2 w 6"/>
                <a:gd name="T19" fmla="*/ 0 h 4"/>
                <a:gd name="T20" fmla="*/ 1 w 6"/>
                <a:gd name="T21" fmla="*/ 0 h 4"/>
                <a:gd name="T22" fmla="*/ 0 w 6"/>
                <a:gd name="T23" fmla="*/ 0 h 4"/>
                <a:gd name="T24" fmla="*/ 0 w 6"/>
                <a:gd name="T25" fmla="*/ 1 h 4"/>
                <a:gd name="T26" fmla="*/ 0 w 6"/>
                <a:gd name="T27" fmla="*/ 1 h 4"/>
                <a:gd name="T28" fmla="*/ 1 w 6"/>
                <a:gd name="T29" fmla="*/ 1 h 4"/>
                <a:gd name="T30" fmla="*/ 2 w 6"/>
                <a:gd name="T31" fmla="*/ 1 h 4"/>
                <a:gd name="T32" fmla="*/ 2 w 6"/>
                <a:gd name="T33" fmla="*/ 1 h 4"/>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6"/>
                <a:gd name="T52" fmla="*/ 0 h 4"/>
                <a:gd name="T53" fmla="*/ 6 w 6"/>
                <a:gd name="T54" fmla="*/ 4 h 4"/>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6" h="4">
                  <a:moveTo>
                    <a:pt x="4" y="4"/>
                  </a:moveTo>
                  <a:lnTo>
                    <a:pt x="5" y="4"/>
                  </a:lnTo>
                  <a:lnTo>
                    <a:pt x="5" y="3"/>
                  </a:lnTo>
                  <a:lnTo>
                    <a:pt x="6" y="3"/>
                  </a:lnTo>
                  <a:lnTo>
                    <a:pt x="6" y="2"/>
                  </a:lnTo>
                  <a:lnTo>
                    <a:pt x="6" y="0"/>
                  </a:lnTo>
                  <a:lnTo>
                    <a:pt x="5" y="0"/>
                  </a:lnTo>
                  <a:lnTo>
                    <a:pt x="4" y="0"/>
                  </a:lnTo>
                  <a:lnTo>
                    <a:pt x="3" y="0"/>
                  </a:lnTo>
                  <a:lnTo>
                    <a:pt x="2" y="0"/>
                  </a:lnTo>
                  <a:lnTo>
                    <a:pt x="0" y="0"/>
                  </a:lnTo>
                  <a:lnTo>
                    <a:pt x="0" y="2"/>
                  </a:lnTo>
                  <a:lnTo>
                    <a:pt x="0" y="3"/>
                  </a:lnTo>
                  <a:lnTo>
                    <a:pt x="2" y="3"/>
                  </a:lnTo>
                  <a:lnTo>
                    <a:pt x="3" y="4"/>
                  </a:lnTo>
                  <a:lnTo>
                    <a:pt x="4" y="4"/>
                  </a:lnTo>
                  <a:close/>
                </a:path>
              </a:pathLst>
            </a:custGeom>
            <a:solidFill>
              <a:srgbClr val="FFFFFF"/>
            </a:solidFill>
            <a:ln w="9525">
              <a:noFill/>
              <a:round/>
            </a:ln>
          </p:spPr>
          <p:txBody>
            <a:bodyPr/>
            <a:lstStyle/>
            <a:p>
              <a:endParaRPr lang="en-US"/>
            </a:p>
          </p:txBody>
        </p:sp>
        <p:sp>
          <p:nvSpPr>
            <p:cNvPr id="1048791" name="Freeform 81"/>
            <p:cNvSpPr/>
            <p:nvPr/>
          </p:nvSpPr>
          <p:spPr bwMode="auto">
            <a:xfrm>
              <a:off x="2538" y="3942"/>
              <a:ext cx="22" cy="31"/>
            </a:xfrm>
            <a:custGeom>
              <a:avLst/>
              <a:gdLst>
                <a:gd name="T0" fmla="*/ 1 w 44"/>
                <a:gd name="T1" fmla="*/ 0 h 64"/>
                <a:gd name="T2" fmla="*/ 1 w 44"/>
                <a:gd name="T3" fmla="*/ 1 h 64"/>
                <a:gd name="T4" fmla="*/ 1 w 44"/>
                <a:gd name="T5" fmla="*/ 4 h 64"/>
                <a:gd name="T6" fmla="*/ 2 w 44"/>
                <a:gd name="T7" fmla="*/ 9 h 64"/>
                <a:gd name="T8" fmla="*/ 4 w 44"/>
                <a:gd name="T9" fmla="*/ 13 h 64"/>
                <a:gd name="T10" fmla="*/ 6 w 44"/>
                <a:gd name="T11" fmla="*/ 18 h 64"/>
                <a:gd name="T12" fmla="*/ 10 w 44"/>
                <a:gd name="T13" fmla="*/ 24 h 64"/>
                <a:gd name="T14" fmla="*/ 15 w 44"/>
                <a:gd name="T15" fmla="*/ 28 h 64"/>
                <a:gd name="T16" fmla="*/ 22 w 44"/>
                <a:gd name="T17" fmla="*/ 31 h 64"/>
                <a:gd name="T18" fmla="*/ 21 w 44"/>
                <a:gd name="T19" fmla="*/ 31 h 64"/>
                <a:gd name="T20" fmla="*/ 18 w 44"/>
                <a:gd name="T21" fmla="*/ 31 h 64"/>
                <a:gd name="T22" fmla="*/ 13 w 44"/>
                <a:gd name="T23" fmla="*/ 30 h 64"/>
                <a:gd name="T24" fmla="*/ 9 w 44"/>
                <a:gd name="T25" fmla="*/ 28 h 64"/>
                <a:gd name="T26" fmla="*/ 5 w 44"/>
                <a:gd name="T27" fmla="*/ 24 h 64"/>
                <a:gd name="T28" fmla="*/ 1 w 44"/>
                <a:gd name="T29" fmla="*/ 18 h 64"/>
                <a:gd name="T30" fmla="*/ 0 w 44"/>
                <a:gd name="T31" fmla="*/ 11 h 64"/>
                <a:gd name="T32" fmla="*/ 1 w 44"/>
                <a:gd name="T33" fmla="*/ 0 h 64"/>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44"/>
                <a:gd name="T52" fmla="*/ 0 h 64"/>
                <a:gd name="T53" fmla="*/ 44 w 44"/>
                <a:gd name="T54" fmla="*/ 64 h 64"/>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44" h="64">
                  <a:moveTo>
                    <a:pt x="2" y="0"/>
                  </a:moveTo>
                  <a:lnTo>
                    <a:pt x="2" y="3"/>
                  </a:lnTo>
                  <a:lnTo>
                    <a:pt x="3" y="8"/>
                  </a:lnTo>
                  <a:lnTo>
                    <a:pt x="4" y="18"/>
                  </a:lnTo>
                  <a:lnTo>
                    <a:pt x="8" y="27"/>
                  </a:lnTo>
                  <a:lnTo>
                    <a:pt x="13" y="38"/>
                  </a:lnTo>
                  <a:lnTo>
                    <a:pt x="20" y="49"/>
                  </a:lnTo>
                  <a:lnTo>
                    <a:pt x="31" y="57"/>
                  </a:lnTo>
                  <a:lnTo>
                    <a:pt x="44" y="64"/>
                  </a:lnTo>
                  <a:lnTo>
                    <a:pt x="42" y="64"/>
                  </a:lnTo>
                  <a:lnTo>
                    <a:pt x="36" y="64"/>
                  </a:lnTo>
                  <a:lnTo>
                    <a:pt x="27" y="61"/>
                  </a:lnTo>
                  <a:lnTo>
                    <a:pt x="18" y="57"/>
                  </a:lnTo>
                  <a:lnTo>
                    <a:pt x="10" y="50"/>
                  </a:lnTo>
                  <a:lnTo>
                    <a:pt x="3" y="38"/>
                  </a:lnTo>
                  <a:lnTo>
                    <a:pt x="0" y="22"/>
                  </a:lnTo>
                  <a:lnTo>
                    <a:pt x="2" y="0"/>
                  </a:lnTo>
                  <a:close/>
                </a:path>
              </a:pathLst>
            </a:custGeom>
            <a:solidFill>
              <a:srgbClr val="7F7F7F"/>
            </a:solidFill>
            <a:ln w="9525">
              <a:noFill/>
              <a:round/>
            </a:ln>
          </p:spPr>
          <p:txBody>
            <a:bodyPr/>
            <a:lstStyle/>
            <a:p>
              <a:endParaRPr lang="en-US"/>
            </a:p>
          </p:txBody>
        </p:sp>
        <p:sp>
          <p:nvSpPr>
            <p:cNvPr id="1048792" name="Freeform 82"/>
            <p:cNvSpPr/>
            <p:nvPr/>
          </p:nvSpPr>
          <p:spPr bwMode="auto">
            <a:xfrm>
              <a:off x="2211" y="3942"/>
              <a:ext cx="23" cy="31"/>
            </a:xfrm>
            <a:custGeom>
              <a:avLst/>
              <a:gdLst>
                <a:gd name="T0" fmla="*/ 1 w 46"/>
                <a:gd name="T1" fmla="*/ 0 h 64"/>
                <a:gd name="T2" fmla="*/ 1 w 46"/>
                <a:gd name="T3" fmla="*/ 1 h 64"/>
                <a:gd name="T4" fmla="*/ 2 w 46"/>
                <a:gd name="T5" fmla="*/ 4 h 64"/>
                <a:gd name="T6" fmla="*/ 3 w 46"/>
                <a:gd name="T7" fmla="*/ 9 h 64"/>
                <a:gd name="T8" fmla="*/ 5 w 46"/>
                <a:gd name="T9" fmla="*/ 13 h 64"/>
                <a:gd name="T10" fmla="*/ 7 w 46"/>
                <a:gd name="T11" fmla="*/ 18 h 64"/>
                <a:gd name="T12" fmla="*/ 11 w 46"/>
                <a:gd name="T13" fmla="*/ 24 h 64"/>
                <a:gd name="T14" fmla="*/ 16 w 46"/>
                <a:gd name="T15" fmla="*/ 28 h 64"/>
                <a:gd name="T16" fmla="*/ 23 w 46"/>
                <a:gd name="T17" fmla="*/ 31 h 64"/>
                <a:gd name="T18" fmla="*/ 22 w 46"/>
                <a:gd name="T19" fmla="*/ 31 h 64"/>
                <a:gd name="T20" fmla="*/ 19 w 46"/>
                <a:gd name="T21" fmla="*/ 31 h 64"/>
                <a:gd name="T22" fmla="*/ 14 w 46"/>
                <a:gd name="T23" fmla="*/ 30 h 64"/>
                <a:gd name="T24" fmla="*/ 10 w 46"/>
                <a:gd name="T25" fmla="*/ 28 h 64"/>
                <a:gd name="T26" fmla="*/ 6 w 46"/>
                <a:gd name="T27" fmla="*/ 24 h 64"/>
                <a:gd name="T28" fmla="*/ 2 w 46"/>
                <a:gd name="T29" fmla="*/ 18 h 64"/>
                <a:gd name="T30" fmla="*/ 0 w 46"/>
                <a:gd name="T31" fmla="*/ 11 h 64"/>
                <a:gd name="T32" fmla="*/ 1 w 46"/>
                <a:gd name="T33" fmla="*/ 0 h 64"/>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46"/>
                <a:gd name="T52" fmla="*/ 0 h 64"/>
                <a:gd name="T53" fmla="*/ 46 w 46"/>
                <a:gd name="T54" fmla="*/ 64 h 64"/>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46" h="64">
                  <a:moveTo>
                    <a:pt x="2" y="0"/>
                  </a:moveTo>
                  <a:lnTo>
                    <a:pt x="2" y="3"/>
                  </a:lnTo>
                  <a:lnTo>
                    <a:pt x="4" y="8"/>
                  </a:lnTo>
                  <a:lnTo>
                    <a:pt x="6" y="18"/>
                  </a:lnTo>
                  <a:lnTo>
                    <a:pt x="9" y="27"/>
                  </a:lnTo>
                  <a:lnTo>
                    <a:pt x="15" y="38"/>
                  </a:lnTo>
                  <a:lnTo>
                    <a:pt x="22" y="49"/>
                  </a:lnTo>
                  <a:lnTo>
                    <a:pt x="32" y="57"/>
                  </a:lnTo>
                  <a:lnTo>
                    <a:pt x="46" y="64"/>
                  </a:lnTo>
                  <a:lnTo>
                    <a:pt x="44" y="64"/>
                  </a:lnTo>
                  <a:lnTo>
                    <a:pt x="38" y="64"/>
                  </a:lnTo>
                  <a:lnTo>
                    <a:pt x="29" y="61"/>
                  </a:lnTo>
                  <a:lnTo>
                    <a:pt x="20" y="57"/>
                  </a:lnTo>
                  <a:lnTo>
                    <a:pt x="11" y="50"/>
                  </a:lnTo>
                  <a:lnTo>
                    <a:pt x="4" y="38"/>
                  </a:lnTo>
                  <a:lnTo>
                    <a:pt x="0" y="22"/>
                  </a:lnTo>
                  <a:lnTo>
                    <a:pt x="2" y="0"/>
                  </a:lnTo>
                  <a:close/>
                </a:path>
              </a:pathLst>
            </a:custGeom>
            <a:solidFill>
              <a:srgbClr val="7F7F7F"/>
            </a:solidFill>
            <a:ln w="9525">
              <a:noFill/>
              <a:round/>
            </a:ln>
          </p:spPr>
          <p:txBody>
            <a:bodyPr/>
            <a:lstStyle/>
            <a:p>
              <a:endParaRPr lang="en-US"/>
            </a:p>
          </p:txBody>
        </p:sp>
        <p:sp>
          <p:nvSpPr>
            <p:cNvPr id="1048793" name="Freeform 83"/>
            <p:cNvSpPr/>
            <p:nvPr/>
          </p:nvSpPr>
          <p:spPr bwMode="auto">
            <a:xfrm>
              <a:off x="2578" y="3930"/>
              <a:ext cx="8" cy="7"/>
            </a:xfrm>
            <a:custGeom>
              <a:avLst/>
              <a:gdLst>
                <a:gd name="T0" fmla="*/ 4 w 15"/>
                <a:gd name="T1" fmla="*/ 7 h 14"/>
                <a:gd name="T2" fmla="*/ 6 w 15"/>
                <a:gd name="T3" fmla="*/ 7 h 14"/>
                <a:gd name="T4" fmla="*/ 7 w 15"/>
                <a:gd name="T5" fmla="*/ 6 h 14"/>
                <a:gd name="T6" fmla="*/ 7 w 15"/>
                <a:gd name="T7" fmla="*/ 5 h 14"/>
                <a:gd name="T8" fmla="*/ 8 w 15"/>
                <a:gd name="T9" fmla="*/ 4 h 14"/>
                <a:gd name="T10" fmla="*/ 7 w 15"/>
                <a:gd name="T11" fmla="*/ 3 h 14"/>
                <a:gd name="T12" fmla="*/ 7 w 15"/>
                <a:gd name="T13" fmla="*/ 1 h 14"/>
                <a:gd name="T14" fmla="*/ 6 w 15"/>
                <a:gd name="T15" fmla="*/ 1 h 14"/>
                <a:gd name="T16" fmla="*/ 4 w 15"/>
                <a:gd name="T17" fmla="*/ 0 h 14"/>
                <a:gd name="T18" fmla="*/ 3 w 15"/>
                <a:gd name="T19" fmla="*/ 1 h 14"/>
                <a:gd name="T20" fmla="*/ 1 w 15"/>
                <a:gd name="T21" fmla="*/ 1 h 14"/>
                <a:gd name="T22" fmla="*/ 1 w 15"/>
                <a:gd name="T23" fmla="*/ 3 h 14"/>
                <a:gd name="T24" fmla="*/ 0 w 15"/>
                <a:gd name="T25" fmla="*/ 4 h 14"/>
                <a:gd name="T26" fmla="*/ 1 w 15"/>
                <a:gd name="T27" fmla="*/ 5 h 14"/>
                <a:gd name="T28" fmla="*/ 1 w 15"/>
                <a:gd name="T29" fmla="*/ 6 h 14"/>
                <a:gd name="T30" fmla="*/ 3 w 15"/>
                <a:gd name="T31" fmla="*/ 7 h 14"/>
                <a:gd name="T32" fmla="*/ 4 w 15"/>
                <a:gd name="T33" fmla="*/ 7 h 14"/>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5"/>
                <a:gd name="T52" fmla="*/ 0 h 14"/>
                <a:gd name="T53" fmla="*/ 15 w 15"/>
                <a:gd name="T54" fmla="*/ 14 h 14"/>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5" h="14">
                  <a:moveTo>
                    <a:pt x="7" y="14"/>
                  </a:moveTo>
                  <a:lnTo>
                    <a:pt x="11" y="13"/>
                  </a:lnTo>
                  <a:lnTo>
                    <a:pt x="13" y="12"/>
                  </a:lnTo>
                  <a:lnTo>
                    <a:pt x="14" y="9"/>
                  </a:lnTo>
                  <a:lnTo>
                    <a:pt x="15" y="7"/>
                  </a:lnTo>
                  <a:lnTo>
                    <a:pt x="14" y="5"/>
                  </a:lnTo>
                  <a:lnTo>
                    <a:pt x="13" y="2"/>
                  </a:lnTo>
                  <a:lnTo>
                    <a:pt x="11" y="1"/>
                  </a:lnTo>
                  <a:lnTo>
                    <a:pt x="7" y="0"/>
                  </a:lnTo>
                  <a:lnTo>
                    <a:pt x="5" y="1"/>
                  </a:lnTo>
                  <a:lnTo>
                    <a:pt x="2" y="2"/>
                  </a:lnTo>
                  <a:lnTo>
                    <a:pt x="1" y="5"/>
                  </a:lnTo>
                  <a:lnTo>
                    <a:pt x="0" y="7"/>
                  </a:lnTo>
                  <a:lnTo>
                    <a:pt x="1" y="9"/>
                  </a:lnTo>
                  <a:lnTo>
                    <a:pt x="2" y="12"/>
                  </a:lnTo>
                  <a:lnTo>
                    <a:pt x="5" y="13"/>
                  </a:lnTo>
                  <a:lnTo>
                    <a:pt x="7" y="14"/>
                  </a:lnTo>
                  <a:close/>
                </a:path>
              </a:pathLst>
            </a:custGeom>
            <a:solidFill>
              <a:srgbClr val="FFFFFF"/>
            </a:solidFill>
            <a:ln w="9525">
              <a:noFill/>
              <a:round/>
            </a:ln>
          </p:spPr>
          <p:txBody>
            <a:bodyPr/>
            <a:lstStyle/>
            <a:p>
              <a:endParaRPr lang="en-US"/>
            </a:p>
          </p:txBody>
        </p:sp>
        <p:sp>
          <p:nvSpPr>
            <p:cNvPr id="1048794" name="Freeform 84"/>
            <p:cNvSpPr/>
            <p:nvPr/>
          </p:nvSpPr>
          <p:spPr bwMode="auto">
            <a:xfrm>
              <a:off x="2254" y="3930"/>
              <a:ext cx="8" cy="7"/>
            </a:xfrm>
            <a:custGeom>
              <a:avLst/>
              <a:gdLst>
                <a:gd name="T0" fmla="*/ 4 w 15"/>
                <a:gd name="T1" fmla="*/ 7 h 14"/>
                <a:gd name="T2" fmla="*/ 5 w 15"/>
                <a:gd name="T3" fmla="*/ 7 h 14"/>
                <a:gd name="T4" fmla="*/ 6 w 15"/>
                <a:gd name="T5" fmla="*/ 6 h 14"/>
                <a:gd name="T6" fmla="*/ 7 w 15"/>
                <a:gd name="T7" fmla="*/ 5 h 14"/>
                <a:gd name="T8" fmla="*/ 8 w 15"/>
                <a:gd name="T9" fmla="*/ 4 h 14"/>
                <a:gd name="T10" fmla="*/ 7 w 15"/>
                <a:gd name="T11" fmla="*/ 3 h 14"/>
                <a:gd name="T12" fmla="*/ 6 w 15"/>
                <a:gd name="T13" fmla="*/ 1 h 14"/>
                <a:gd name="T14" fmla="*/ 5 w 15"/>
                <a:gd name="T15" fmla="*/ 1 h 14"/>
                <a:gd name="T16" fmla="*/ 4 w 15"/>
                <a:gd name="T17" fmla="*/ 0 h 14"/>
                <a:gd name="T18" fmla="*/ 2 w 15"/>
                <a:gd name="T19" fmla="*/ 1 h 14"/>
                <a:gd name="T20" fmla="*/ 1 w 15"/>
                <a:gd name="T21" fmla="*/ 1 h 14"/>
                <a:gd name="T22" fmla="*/ 1 w 15"/>
                <a:gd name="T23" fmla="*/ 3 h 14"/>
                <a:gd name="T24" fmla="*/ 0 w 15"/>
                <a:gd name="T25" fmla="*/ 4 h 14"/>
                <a:gd name="T26" fmla="*/ 1 w 15"/>
                <a:gd name="T27" fmla="*/ 5 h 14"/>
                <a:gd name="T28" fmla="*/ 1 w 15"/>
                <a:gd name="T29" fmla="*/ 6 h 14"/>
                <a:gd name="T30" fmla="*/ 2 w 15"/>
                <a:gd name="T31" fmla="*/ 7 h 14"/>
                <a:gd name="T32" fmla="*/ 4 w 15"/>
                <a:gd name="T33" fmla="*/ 7 h 14"/>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5"/>
                <a:gd name="T52" fmla="*/ 0 h 14"/>
                <a:gd name="T53" fmla="*/ 15 w 15"/>
                <a:gd name="T54" fmla="*/ 14 h 14"/>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5" h="14">
                  <a:moveTo>
                    <a:pt x="8" y="14"/>
                  </a:moveTo>
                  <a:lnTo>
                    <a:pt x="10" y="13"/>
                  </a:lnTo>
                  <a:lnTo>
                    <a:pt x="12" y="12"/>
                  </a:lnTo>
                  <a:lnTo>
                    <a:pt x="13" y="9"/>
                  </a:lnTo>
                  <a:lnTo>
                    <a:pt x="15" y="7"/>
                  </a:lnTo>
                  <a:lnTo>
                    <a:pt x="13" y="5"/>
                  </a:lnTo>
                  <a:lnTo>
                    <a:pt x="12" y="2"/>
                  </a:lnTo>
                  <a:lnTo>
                    <a:pt x="10" y="1"/>
                  </a:lnTo>
                  <a:lnTo>
                    <a:pt x="8" y="0"/>
                  </a:lnTo>
                  <a:lnTo>
                    <a:pt x="4" y="1"/>
                  </a:lnTo>
                  <a:lnTo>
                    <a:pt x="2" y="2"/>
                  </a:lnTo>
                  <a:lnTo>
                    <a:pt x="1" y="5"/>
                  </a:lnTo>
                  <a:lnTo>
                    <a:pt x="0" y="7"/>
                  </a:lnTo>
                  <a:lnTo>
                    <a:pt x="1" y="9"/>
                  </a:lnTo>
                  <a:lnTo>
                    <a:pt x="2" y="12"/>
                  </a:lnTo>
                  <a:lnTo>
                    <a:pt x="4" y="13"/>
                  </a:lnTo>
                  <a:lnTo>
                    <a:pt x="8" y="14"/>
                  </a:lnTo>
                  <a:close/>
                </a:path>
              </a:pathLst>
            </a:custGeom>
            <a:solidFill>
              <a:srgbClr val="FFFFFF"/>
            </a:solidFill>
            <a:ln w="9525">
              <a:noFill/>
              <a:round/>
            </a:ln>
          </p:spPr>
          <p:txBody>
            <a:bodyPr/>
            <a:lstStyle/>
            <a:p>
              <a:endParaRPr lang="en-US"/>
            </a:p>
          </p:txBody>
        </p:sp>
        <p:sp>
          <p:nvSpPr>
            <p:cNvPr id="1048795" name="Freeform 85"/>
            <p:cNvSpPr/>
            <p:nvPr/>
          </p:nvSpPr>
          <p:spPr bwMode="auto">
            <a:xfrm>
              <a:off x="2624" y="3917"/>
              <a:ext cx="25" cy="14"/>
            </a:xfrm>
            <a:custGeom>
              <a:avLst/>
              <a:gdLst>
                <a:gd name="T0" fmla="*/ 6 w 51"/>
                <a:gd name="T1" fmla="*/ 14 h 27"/>
                <a:gd name="T2" fmla="*/ 17 w 51"/>
                <a:gd name="T3" fmla="*/ 14 h 27"/>
                <a:gd name="T4" fmla="*/ 20 w 51"/>
                <a:gd name="T5" fmla="*/ 13 h 27"/>
                <a:gd name="T6" fmla="*/ 23 w 51"/>
                <a:gd name="T7" fmla="*/ 11 h 27"/>
                <a:gd name="T8" fmla="*/ 25 w 51"/>
                <a:gd name="T9" fmla="*/ 9 h 27"/>
                <a:gd name="T10" fmla="*/ 25 w 51"/>
                <a:gd name="T11" fmla="*/ 5 h 27"/>
                <a:gd name="T12" fmla="*/ 25 w 51"/>
                <a:gd name="T13" fmla="*/ 4 h 27"/>
                <a:gd name="T14" fmla="*/ 25 w 51"/>
                <a:gd name="T15" fmla="*/ 2 h 27"/>
                <a:gd name="T16" fmla="*/ 24 w 51"/>
                <a:gd name="T17" fmla="*/ 1 h 27"/>
                <a:gd name="T18" fmla="*/ 23 w 51"/>
                <a:gd name="T19" fmla="*/ 0 h 27"/>
                <a:gd name="T20" fmla="*/ 21 w 51"/>
                <a:gd name="T21" fmla="*/ 1 h 27"/>
                <a:gd name="T22" fmla="*/ 19 w 51"/>
                <a:gd name="T23" fmla="*/ 3 h 27"/>
                <a:gd name="T24" fmla="*/ 17 w 51"/>
                <a:gd name="T25" fmla="*/ 4 h 27"/>
                <a:gd name="T26" fmla="*/ 14 w 51"/>
                <a:gd name="T27" fmla="*/ 6 h 27"/>
                <a:gd name="T28" fmla="*/ 11 w 51"/>
                <a:gd name="T29" fmla="*/ 7 h 27"/>
                <a:gd name="T30" fmla="*/ 7 w 51"/>
                <a:gd name="T31" fmla="*/ 9 h 27"/>
                <a:gd name="T32" fmla="*/ 4 w 51"/>
                <a:gd name="T33" fmla="*/ 10 h 27"/>
                <a:gd name="T34" fmla="*/ 0 w 51"/>
                <a:gd name="T35" fmla="*/ 11 h 27"/>
                <a:gd name="T36" fmla="*/ 1 w 51"/>
                <a:gd name="T37" fmla="*/ 12 h 27"/>
                <a:gd name="T38" fmla="*/ 2 w 51"/>
                <a:gd name="T39" fmla="*/ 13 h 27"/>
                <a:gd name="T40" fmla="*/ 4 w 51"/>
                <a:gd name="T41" fmla="*/ 14 h 27"/>
                <a:gd name="T42" fmla="*/ 6 w 51"/>
                <a:gd name="T43" fmla="*/ 14 h 27"/>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51"/>
                <a:gd name="T67" fmla="*/ 0 h 27"/>
                <a:gd name="T68" fmla="*/ 51 w 51"/>
                <a:gd name="T69" fmla="*/ 27 h 27"/>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51" h="27">
                  <a:moveTo>
                    <a:pt x="13" y="27"/>
                  </a:moveTo>
                  <a:lnTo>
                    <a:pt x="34" y="27"/>
                  </a:lnTo>
                  <a:lnTo>
                    <a:pt x="41" y="26"/>
                  </a:lnTo>
                  <a:lnTo>
                    <a:pt x="46" y="22"/>
                  </a:lnTo>
                  <a:lnTo>
                    <a:pt x="50" y="17"/>
                  </a:lnTo>
                  <a:lnTo>
                    <a:pt x="51" y="10"/>
                  </a:lnTo>
                  <a:lnTo>
                    <a:pt x="51" y="8"/>
                  </a:lnTo>
                  <a:lnTo>
                    <a:pt x="50" y="4"/>
                  </a:lnTo>
                  <a:lnTo>
                    <a:pt x="49" y="2"/>
                  </a:lnTo>
                  <a:lnTo>
                    <a:pt x="46" y="0"/>
                  </a:lnTo>
                  <a:lnTo>
                    <a:pt x="43" y="2"/>
                  </a:lnTo>
                  <a:lnTo>
                    <a:pt x="38" y="6"/>
                  </a:lnTo>
                  <a:lnTo>
                    <a:pt x="34" y="8"/>
                  </a:lnTo>
                  <a:lnTo>
                    <a:pt x="28" y="11"/>
                  </a:lnTo>
                  <a:lnTo>
                    <a:pt x="22" y="14"/>
                  </a:lnTo>
                  <a:lnTo>
                    <a:pt x="15" y="17"/>
                  </a:lnTo>
                  <a:lnTo>
                    <a:pt x="8" y="19"/>
                  </a:lnTo>
                  <a:lnTo>
                    <a:pt x="0" y="22"/>
                  </a:lnTo>
                  <a:lnTo>
                    <a:pt x="3" y="24"/>
                  </a:lnTo>
                  <a:lnTo>
                    <a:pt x="5" y="26"/>
                  </a:lnTo>
                  <a:lnTo>
                    <a:pt x="8" y="27"/>
                  </a:lnTo>
                  <a:lnTo>
                    <a:pt x="13" y="27"/>
                  </a:lnTo>
                  <a:close/>
                </a:path>
              </a:pathLst>
            </a:custGeom>
            <a:solidFill>
              <a:srgbClr val="47C6C6"/>
            </a:solidFill>
            <a:ln w="9525">
              <a:noFill/>
              <a:round/>
            </a:ln>
          </p:spPr>
          <p:txBody>
            <a:bodyPr/>
            <a:lstStyle/>
            <a:p>
              <a:endParaRPr lang="en-US"/>
            </a:p>
          </p:txBody>
        </p:sp>
        <p:sp>
          <p:nvSpPr>
            <p:cNvPr id="1048796" name="Freeform 86"/>
            <p:cNvSpPr/>
            <p:nvPr/>
          </p:nvSpPr>
          <p:spPr bwMode="auto">
            <a:xfrm>
              <a:off x="2621" y="3913"/>
              <a:ext cx="26" cy="15"/>
            </a:xfrm>
            <a:custGeom>
              <a:avLst/>
              <a:gdLst>
                <a:gd name="T0" fmla="*/ 20 w 50"/>
                <a:gd name="T1" fmla="*/ 0 h 29"/>
                <a:gd name="T2" fmla="*/ 9 w 50"/>
                <a:gd name="T3" fmla="*/ 0 h 29"/>
                <a:gd name="T4" fmla="*/ 5 w 50"/>
                <a:gd name="T5" fmla="*/ 1 h 29"/>
                <a:gd name="T6" fmla="*/ 3 w 50"/>
                <a:gd name="T7" fmla="*/ 3 h 29"/>
                <a:gd name="T8" fmla="*/ 1 w 50"/>
                <a:gd name="T9" fmla="*/ 5 h 29"/>
                <a:gd name="T10" fmla="*/ 0 w 50"/>
                <a:gd name="T11" fmla="*/ 9 h 29"/>
                <a:gd name="T12" fmla="*/ 0 w 50"/>
                <a:gd name="T13" fmla="*/ 11 h 29"/>
                <a:gd name="T14" fmla="*/ 1 w 50"/>
                <a:gd name="T15" fmla="*/ 12 h 29"/>
                <a:gd name="T16" fmla="*/ 1 w 50"/>
                <a:gd name="T17" fmla="*/ 13 h 29"/>
                <a:gd name="T18" fmla="*/ 2 w 50"/>
                <a:gd name="T19" fmla="*/ 15 h 29"/>
                <a:gd name="T20" fmla="*/ 6 w 50"/>
                <a:gd name="T21" fmla="*/ 13 h 29"/>
                <a:gd name="T22" fmla="*/ 10 w 50"/>
                <a:gd name="T23" fmla="*/ 12 h 29"/>
                <a:gd name="T24" fmla="*/ 14 w 50"/>
                <a:gd name="T25" fmla="*/ 11 h 29"/>
                <a:gd name="T26" fmla="*/ 17 w 50"/>
                <a:gd name="T27" fmla="*/ 9 h 29"/>
                <a:gd name="T28" fmla="*/ 20 w 50"/>
                <a:gd name="T29" fmla="*/ 8 h 29"/>
                <a:gd name="T30" fmla="*/ 22 w 50"/>
                <a:gd name="T31" fmla="*/ 7 h 29"/>
                <a:gd name="T32" fmla="*/ 24 w 50"/>
                <a:gd name="T33" fmla="*/ 5 h 29"/>
                <a:gd name="T34" fmla="*/ 26 w 50"/>
                <a:gd name="T35" fmla="*/ 4 h 29"/>
                <a:gd name="T36" fmla="*/ 25 w 50"/>
                <a:gd name="T37" fmla="*/ 2 h 29"/>
                <a:gd name="T38" fmla="*/ 24 w 50"/>
                <a:gd name="T39" fmla="*/ 1 h 29"/>
                <a:gd name="T40" fmla="*/ 22 w 50"/>
                <a:gd name="T41" fmla="*/ 0 h 29"/>
                <a:gd name="T42" fmla="*/ 20 w 50"/>
                <a:gd name="T43" fmla="*/ 0 h 29"/>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50"/>
                <a:gd name="T67" fmla="*/ 0 h 29"/>
                <a:gd name="T68" fmla="*/ 50 w 50"/>
                <a:gd name="T69" fmla="*/ 29 h 29"/>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50" h="29">
                  <a:moveTo>
                    <a:pt x="38" y="0"/>
                  </a:moveTo>
                  <a:lnTo>
                    <a:pt x="17" y="0"/>
                  </a:lnTo>
                  <a:lnTo>
                    <a:pt x="10" y="1"/>
                  </a:lnTo>
                  <a:lnTo>
                    <a:pt x="5" y="5"/>
                  </a:lnTo>
                  <a:lnTo>
                    <a:pt x="1" y="10"/>
                  </a:lnTo>
                  <a:lnTo>
                    <a:pt x="0" y="17"/>
                  </a:lnTo>
                  <a:lnTo>
                    <a:pt x="0" y="21"/>
                  </a:lnTo>
                  <a:lnTo>
                    <a:pt x="1" y="23"/>
                  </a:lnTo>
                  <a:lnTo>
                    <a:pt x="2" y="26"/>
                  </a:lnTo>
                  <a:lnTo>
                    <a:pt x="4" y="29"/>
                  </a:lnTo>
                  <a:lnTo>
                    <a:pt x="12" y="26"/>
                  </a:lnTo>
                  <a:lnTo>
                    <a:pt x="19" y="24"/>
                  </a:lnTo>
                  <a:lnTo>
                    <a:pt x="26" y="21"/>
                  </a:lnTo>
                  <a:lnTo>
                    <a:pt x="32" y="18"/>
                  </a:lnTo>
                  <a:lnTo>
                    <a:pt x="38" y="15"/>
                  </a:lnTo>
                  <a:lnTo>
                    <a:pt x="42" y="13"/>
                  </a:lnTo>
                  <a:lnTo>
                    <a:pt x="47" y="9"/>
                  </a:lnTo>
                  <a:lnTo>
                    <a:pt x="50" y="7"/>
                  </a:lnTo>
                  <a:lnTo>
                    <a:pt x="48" y="3"/>
                  </a:lnTo>
                  <a:lnTo>
                    <a:pt x="46" y="1"/>
                  </a:lnTo>
                  <a:lnTo>
                    <a:pt x="42" y="0"/>
                  </a:lnTo>
                  <a:lnTo>
                    <a:pt x="38" y="0"/>
                  </a:lnTo>
                  <a:close/>
                </a:path>
              </a:pathLst>
            </a:custGeom>
            <a:solidFill>
              <a:srgbClr val="7FFFFF"/>
            </a:solidFill>
            <a:ln w="9525">
              <a:noFill/>
              <a:round/>
            </a:ln>
          </p:spPr>
          <p:txBody>
            <a:bodyPr/>
            <a:lstStyle/>
            <a:p>
              <a:endParaRPr lang="en-US"/>
            </a:p>
          </p:txBody>
        </p:sp>
        <p:sp>
          <p:nvSpPr>
            <p:cNvPr id="1048797" name="Freeform 87"/>
            <p:cNvSpPr/>
            <p:nvPr/>
          </p:nvSpPr>
          <p:spPr bwMode="auto">
            <a:xfrm>
              <a:off x="2159" y="3913"/>
              <a:ext cx="26" cy="16"/>
            </a:xfrm>
            <a:custGeom>
              <a:avLst/>
              <a:gdLst>
                <a:gd name="T0" fmla="*/ 20 w 51"/>
                <a:gd name="T1" fmla="*/ 0 h 31"/>
                <a:gd name="T2" fmla="*/ 9 w 51"/>
                <a:gd name="T3" fmla="*/ 0 h 31"/>
                <a:gd name="T4" fmla="*/ 6 w 51"/>
                <a:gd name="T5" fmla="*/ 1 h 31"/>
                <a:gd name="T6" fmla="*/ 3 w 51"/>
                <a:gd name="T7" fmla="*/ 3 h 31"/>
                <a:gd name="T8" fmla="*/ 1 w 51"/>
                <a:gd name="T9" fmla="*/ 5 h 31"/>
                <a:gd name="T10" fmla="*/ 0 w 51"/>
                <a:gd name="T11" fmla="*/ 9 h 31"/>
                <a:gd name="T12" fmla="*/ 0 w 51"/>
                <a:gd name="T13" fmla="*/ 11 h 31"/>
                <a:gd name="T14" fmla="*/ 1 w 51"/>
                <a:gd name="T15" fmla="*/ 13 h 31"/>
                <a:gd name="T16" fmla="*/ 2 w 51"/>
                <a:gd name="T17" fmla="*/ 15 h 31"/>
                <a:gd name="T18" fmla="*/ 3 w 51"/>
                <a:gd name="T19" fmla="*/ 16 h 31"/>
                <a:gd name="T20" fmla="*/ 7 w 51"/>
                <a:gd name="T21" fmla="*/ 14 h 31"/>
                <a:gd name="T22" fmla="*/ 10 w 51"/>
                <a:gd name="T23" fmla="*/ 13 h 31"/>
                <a:gd name="T24" fmla="*/ 13 w 51"/>
                <a:gd name="T25" fmla="*/ 11 h 31"/>
                <a:gd name="T26" fmla="*/ 16 w 51"/>
                <a:gd name="T27" fmla="*/ 9 h 31"/>
                <a:gd name="T28" fmla="*/ 19 w 51"/>
                <a:gd name="T29" fmla="*/ 8 h 31"/>
                <a:gd name="T30" fmla="*/ 21 w 51"/>
                <a:gd name="T31" fmla="*/ 7 h 31"/>
                <a:gd name="T32" fmla="*/ 24 w 51"/>
                <a:gd name="T33" fmla="*/ 5 h 31"/>
                <a:gd name="T34" fmla="*/ 26 w 51"/>
                <a:gd name="T35" fmla="*/ 4 h 31"/>
                <a:gd name="T36" fmla="*/ 25 w 51"/>
                <a:gd name="T37" fmla="*/ 3 h 31"/>
                <a:gd name="T38" fmla="*/ 24 w 51"/>
                <a:gd name="T39" fmla="*/ 1 h 31"/>
                <a:gd name="T40" fmla="*/ 22 w 51"/>
                <a:gd name="T41" fmla="*/ 1 h 31"/>
                <a:gd name="T42" fmla="*/ 20 w 51"/>
                <a:gd name="T43" fmla="*/ 0 h 31"/>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51"/>
                <a:gd name="T67" fmla="*/ 0 h 31"/>
                <a:gd name="T68" fmla="*/ 51 w 51"/>
                <a:gd name="T69" fmla="*/ 31 h 31"/>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51" h="31">
                  <a:moveTo>
                    <a:pt x="39" y="0"/>
                  </a:moveTo>
                  <a:lnTo>
                    <a:pt x="18" y="0"/>
                  </a:lnTo>
                  <a:lnTo>
                    <a:pt x="11" y="1"/>
                  </a:lnTo>
                  <a:lnTo>
                    <a:pt x="6" y="5"/>
                  </a:lnTo>
                  <a:lnTo>
                    <a:pt x="2" y="10"/>
                  </a:lnTo>
                  <a:lnTo>
                    <a:pt x="0" y="17"/>
                  </a:lnTo>
                  <a:lnTo>
                    <a:pt x="0" y="22"/>
                  </a:lnTo>
                  <a:lnTo>
                    <a:pt x="2" y="25"/>
                  </a:lnTo>
                  <a:lnTo>
                    <a:pt x="4" y="29"/>
                  </a:lnTo>
                  <a:lnTo>
                    <a:pt x="6" y="31"/>
                  </a:lnTo>
                  <a:lnTo>
                    <a:pt x="13" y="28"/>
                  </a:lnTo>
                  <a:lnTo>
                    <a:pt x="20" y="25"/>
                  </a:lnTo>
                  <a:lnTo>
                    <a:pt x="26" y="22"/>
                  </a:lnTo>
                  <a:lnTo>
                    <a:pt x="32" y="18"/>
                  </a:lnTo>
                  <a:lnTo>
                    <a:pt x="37" y="15"/>
                  </a:lnTo>
                  <a:lnTo>
                    <a:pt x="42" y="13"/>
                  </a:lnTo>
                  <a:lnTo>
                    <a:pt x="47" y="9"/>
                  </a:lnTo>
                  <a:lnTo>
                    <a:pt x="51" y="7"/>
                  </a:lnTo>
                  <a:lnTo>
                    <a:pt x="49" y="5"/>
                  </a:lnTo>
                  <a:lnTo>
                    <a:pt x="47" y="2"/>
                  </a:lnTo>
                  <a:lnTo>
                    <a:pt x="43" y="1"/>
                  </a:lnTo>
                  <a:lnTo>
                    <a:pt x="39" y="0"/>
                  </a:lnTo>
                  <a:close/>
                </a:path>
              </a:pathLst>
            </a:custGeom>
            <a:solidFill>
              <a:srgbClr val="7FFFFF"/>
            </a:solidFill>
            <a:ln w="9525">
              <a:noFill/>
              <a:round/>
            </a:ln>
          </p:spPr>
          <p:txBody>
            <a:bodyPr/>
            <a:lstStyle/>
            <a:p>
              <a:endParaRPr lang="en-US"/>
            </a:p>
          </p:txBody>
        </p:sp>
        <p:sp>
          <p:nvSpPr>
            <p:cNvPr id="1048798" name="Freeform 88"/>
            <p:cNvSpPr/>
            <p:nvPr/>
          </p:nvSpPr>
          <p:spPr bwMode="auto">
            <a:xfrm>
              <a:off x="2162" y="3917"/>
              <a:ext cx="25" cy="14"/>
            </a:xfrm>
            <a:custGeom>
              <a:avLst/>
              <a:gdLst>
                <a:gd name="T0" fmla="*/ 6 w 50"/>
                <a:gd name="T1" fmla="*/ 14 h 27"/>
                <a:gd name="T2" fmla="*/ 17 w 50"/>
                <a:gd name="T3" fmla="*/ 14 h 27"/>
                <a:gd name="T4" fmla="*/ 20 w 50"/>
                <a:gd name="T5" fmla="*/ 13 h 27"/>
                <a:gd name="T6" fmla="*/ 23 w 50"/>
                <a:gd name="T7" fmla="*/ 11 h 27"/>
                <a:gd name="T8" fmla="*/ 25 w 50"/>
                <a:gd name="T9" fmla="*/ 9 h 27"/>
                <a:gd name="T10" fmla="*/ 25 w 50"/>
                <a:gd name="T11" fmla="*/ 5 h 27"/>
                <a:gd name="T12" fmla="*/ 25 w 50"/>
                <a:gd name="T13" fmla="*/ 4 h 27"/>
                <a:gd name="T14" fmla="*/ 25 w 50"/>
                <a:gd name="T15" fmla="*/ 2 h 27"/>
                <a:gd name="T16" fmla="*/ 23 w 50"/>
                <a:gd name="T17" fmla="*/ 1 h 27"/>
                <a:gd name="T18" fmla="*/ 23 w 50"/>
                <a:gd name="T19" fmla="*/ 0 h 27"/>
                <a:gd name="T20" fmla="*/ 21 w 50"/>
                <a:gd name="T21" fmla="*/ 1 h 27"/>
                <a:gd name="T22" fmla="*/ 18 w 50"/>
                <a:gd name="T23" fmla="*/ 3 h 27"/>
                <a:gd name="T24" fmla="*/ 15 w 50"/>
                <a:gd name="T25" fmla="*/ 4 h 27"/>
                <a:gd name="T26" fmla="*/ 13 w 50"/>
                <a:gd name="T27" fmla="*/ 6 h 27"/>
                <a:gd name="T28" fmla="*/ 10 w 50"/>
                <a:gd name="T29" fmla="*/ 8 h 27"/>
                <a:gd name="T30" fmla="*/ 7 w 50"/>
                <a:gd name="T31" fmla="*/ 9 h 27"/>
                <a:gd name="T32" fmla="*/ 3 w 50"/>
                <a:gd name="T33" fmla="*/ 11 h 27"/>
                <a:gd name="T34" fmla="*/ 0 w 50"/>
                <a:gd name="T35" fmla="*/ 12 h 27"/>
                <a:gd name="T36" fmla="*/ 2 w 50"/>
                <a:gd name="T37" fmla="*/ 13 h 27"/>
                <a:gd name="T38" fmla="*/ 3 w 50"/>
                <a:gd name="T39" fmla="*/ 13 h 27"/>
                <a:gd name="T40" fmla="*/ 4 w 50"/>
                <a:gd name="T41" fmla="*/ 14 h 27"/>
                <a:gd name="T42" fmla="*/ 6 w 50"/>
                <a:gd name="T43" fmla="*/ 14 h 27"/>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50"/>
                <a:gd name="T67" fmla="*/ 0 h 27"/>
                <a:gd name="T68" fmla="*/ 50 w 50"/>
                <a:gd name="T69" fmla="*/ 27 h 27"/>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50" h="27">
                  <a:moveTo>
                    <a:pt x="12" y="27"/>
                  </a:moveTo>
                  <a:lnTo>
                    <a:pt x="33" y="27"/>
                  </a:lnTo>
                  <a:lnTo>
                    <a:pt x="39" y="26"/>
                  </a:lnTo>
                  <a:lnTo>
                    <a:pt x="45" y="22"/>
                  </a:lnTo>
                  <a:lnTo>
                    <a:pt x="49" y="17"/>
                  </a:lnTo>
                  <a:lnTo>
                    <a:pt x="50" y="10"/>
                  </a:lnTo>
                  <a:lnTo>
                    <a:pt x="50" y="8"/>
                  </a:lnTo>
                  <a:lnTo>
                    <a:pt x="49" y="4"/>
                  </a:lnTo>
                  <a:lnTo>
                    <a:pt x="46" y="2"/>
                  </a:lnTo>
                  <a:lnTo>
                    <a:pt x="45" y="0"/>
                  </a:lnTo>
                  <a:lnTo>
                    <a:pt x="41" y="2"/>
                  </a:lnTo>
                  <a:lnTo>
                    <a:pt x="36" y="6"/>
                  </a:lnTo>
                  <a:lnTo>
                    <a:pt x="31" y="8"/>
                  </a:lnTo>
                  <a:lnTo>
                    <a:pt x="26" y="11"/>
                  </a:lnTo>
                  <a:lnTo>
                    <a:pt x="20" y="15"/>
                  </a:lnTo>
                  <a:lnTo>
                    <a:pt x="14" y="18"/>
                  </a:lnTo>
                  <a:lnTo>
                    <a:pt x="7" y="21"/>
                  </a:lnTo>
                  <a:lnTo>
                    <a:pt x="0" y="24"/>
                  </a:lnTo>
                  <a:lnTo>
                    <a:pt x="3" y="25"/>
                  </a:lnTo>
                  <a:lnTo>
                    <a:pt x="6" y="26"/>
                  </a:lnTo>
                  <a:lnTo>
                    <a:pt x="8" y="27"/>
                  </a:lnTo>
                  <a:lnTo>
                    <a:pt x="12" y="27"/>
                  </a:lnTo>
                  <a:close/>
                </a:path>
              </a:pathLst>
            </a:custGeom>
            <a:solidFill>
              <a:srgbClr val="47C6C6"/>
            </a:solidFill>
            <a:ln w="9525">
              <a:noFill/>
              <a:round/>
            </a:ln>
          </p:spPr>
          <p:txBody>
            <a:bodyPr/>
            <a:lstStyle/>
            <a:p>
              <a:endParaRPr lang="en-US"/>
            </a:p>
          </p:txBody>
        </p:sp>
      </p:grpSp>
      <p:grpSp>
        <p:nvGrpSpPr>
          <p:cNvPr id="147" name="Group 90"/>
          <p:cNvGrpSpPr/>
          <p:nvPr/>
        </p:nvGrpSpPr>
        <p:grpSpPr bwMode="auto">
          <a:xfrm rot="-777679">
            <a:off x="4648200" y="5334000"/>
            <a:ext cx="533400" cy="442913"/>
            <a:chOff x="2112" y="3600"/>
            <a:chExt cx="560" cy="465"/>
          </a:xfrm>
        </p:grpSpPr>
        <p:sp>
          <p:nvSpPr>
            <p:cNvPr id="1048799" name="AutoShape 91"/>
            <p:cNvSpPr>
              <a:spLocks noChangeAspect="1" noChangeArrowheads="1" noTextEdit="1"/>
            </p:cNvSpPr>
            <p:nvPr/>
          </p:nvSpPr>
          <p:spPr bwMode="auto">
            <a:xfrm>
              <a:off x="2112" y="3600"/>
              <a:ext cx="560" cy="465"/>
            </a:xfrm>
            <a:prstGeom prst="rect">
              <a:avLst/>
            </a:prstGeom>
            <a:noFill/>
            <a:ln w="9525">
              <a:noFill/>
              <a:miter lim="800000"/>
            </a:ln>
          </p:spPr>
          <p:txBody>
            <a:bodyPr/>
            <a:lstStyle/>
            <a:p>
              <a:endParaRPr lang="en-US"/>
            </a:p>
          </p:txBody>
        </p:sp>
        <p:sp>
          <p:nvSpPr>
            <p:cNvPr id="1048800" name="Freeform 92"/>
            <p:cNvSpPr/>
            <p:nvPr/>
          </p:nvSpPr>
          <p:spPr bwMode="auto">
            <a:xfrm>
              <a:off x="2130" y="3699"/>
              <a:ext cx="542" cy="301"/>
            </a:xfrm>
            <a:custGeom>
              <a:avLst/>
              <a:gdLst>
                <a:gd name="T0" fmla="*/ 383 w 1083"/>
                <a:gd name="T1" fmla="*/ 253 h 602"/>
                <a:gd name="T2" fmla="*/ 387 w 1083"/>
                <a:gd name="T3" fmla="*/ 267 h 602"/>
                <a:gd name="T4" fmla="*/ 398 w 1083"/>
                <a:gd name="T5" fmla="*/ 284 h 602"/>
                <a:gd name="T6" fmla="*/ 421 w 1083"/>
                <a:gd name="T7" fmla="*/ 298 h 602"/>
                <a:gd name="T8" fmla="*/ 456 w 1083"/>
                <a:gd name="T9" fmla="*/ 298 h 602"/>
                <a:gd name="T10" fmla="*/ 480 w 1083"/>
                <a:gd name="T11" fmla="*/ 284 h 602"/>
                <a:gd name="T12" fmla="*/ 491 w 1083"/>
                <a:gd name="T13" fmla="*/ 267 h 602"/>
                <a:gd name="T14" fmla="*/ 495 w 1083"/>
                <a:gd name="T15" fmla="*/ 253 h 602"/>
                <a:gd name="T16" fmla="*/ 497 w 1083"/>
                <a:gd name="T17" fmla="*/ 251 h 602"/>
                <a:gd name="T18" fmla="*/ 509 w 1083"/>
                <a:gd name="T19" fmla="*/ 251 h 602"/>
                <a:gd name="T20" fmla="*/ 527 w 1083"/>
                <a:gd name="T21" fmla="*/ 248 h 602"/>
                <a:gd name="T22" fmla="*/ 539 w 1083"/>
                <a:gd name="T23" fmla="*/ 237 h 602"/>
                <a:gd name="T24" fmla="*/ 542 w 1083"/>
                <a:gd name="T25" fmla="*/ 226 h 602"/>
                <a:gd name="T26" fmla="*/ 542 w 1083"/>
                <a:gd name="T27" fmla="*/ 224 h 602"/>
                <a:gd name="T28" fmla="*/ 542 w 1083"/>
                <a:gd name="T29" fmla="*/ 220 h 602"/>
                <a:gd name="T30" fmla="*/ 541 w 1083"/>
                <a:gd name="T31" fmla="*/ 212 h 602"/>
                <a:gd name="T32" fmla="*/ 537 w 1083"/>
                <a:gd name="T33" fmla="*/ 205 h 602"/>
                <a:gd name="T34" fmla="*/ 529 w 1083"/>
                <a:gd name="T35" fmla="*/ 199 h 602"/>
                <a:gd name="T36" fmla="*/ 524 w 1083"/>
                <a:gd name="T37" fmla="*/ 135 h 602"/>
                <a:gd name="T38" fmla="*/ 523 w 1083"/>
                <a:gd name="T39" fmla="*/ 132 h 602"/>
                <a:gd name="T40" fmla="*/ 520 w 1083"/>
                <a:gd name="T41" fmla="*/ 124 h 602"/>
                <a:gd name="T42" fmla="*/ 511 w 1083"/>
                <a:gd name="T43" fmla="*/ 115 h 602"/>
                <a:gd name="T44" fmla="*/ 495 w 1083"/>
                <a:gd name="T45" fmla="*/ 107 h 602"/>
                <a:gd name="T46" fmla="*/ 471 w 1083"/>
                <a:gd name="T47" fmla="*/ 90 h 602"/>
                <a:gd name="T48" fmla="*/ 445 w 1083"/>
                <a:gd name="T49" fmla="*/ 61 h 602"/>
                <a:gd name="T50" fmla="*/ 423 w 1083"/>
                <a:gd name="T51" fmla="*/ 31 h 602"/>
                <a:gd name="T52" fmla="*/ 411 w 1083"/>
                <a:gd name="T53" fmla="*/ 14 h 602"/>
                <a:gd name="T54" fmla="*/ 403 w 1083"/>
                <a:gd name="T55" fmla="*/ 8 h 602"/>
                <a:gd name="T56" fmla="*/ 390 w 1083"/>
                <a:gd name="T57" fmla="*/ 3 h 602"/>
                <a:gd name="T58" fmla="*/ 373 w 1083"/>
                <a:gd name="T59" fmla="*/ 1 h 602"/>
                <a:gd name="T60" fmla="*/ 353 w 1083"/>
                <a:gd name="T61" fmla="*/ 0 h 602"/>
                <a:gd name="T62" fmla="*/ 334 w 1083"/>
                <a:gd name="T63" fmla="*/ 0 h 602"/>
                <a:gd name="T64" fmla="*/ 296 w 1083"/>
                <a:gd name="T65" fmla="*/ 0 h 602"/>
                <a:gd name="T66" fmla="*/ 246 w 1083"/>
                <a:gd name="T67" fmla="*/ 0 h 602"/>
                <a:gd name="T68" fmla="*/ 190 w 1083"/>
                <a:gd name="T69" fmla="*/ 0 h 602"/>
                <a:gd name="T70" fmla="*/ 135 w 1083"/>
                <a:gd name="T71" fmla="*/ 0 h 602"/>
                <a:gd name="T72" fmla="*/ 88 w 1083"/>
                <a:gd name="T73" fmla="*/ 0 h 602"/>
                <a:gd name="T74" fmla="*/ 54 w 1083"/>
                <a:gd name="T75" fmla="*/ 0 h 602"/>
                <a:gd name="T76" fmla="*/ 42 w 1083"/>
                <a:gd name="T77" fmla="*/ 0 h 602"/>
                <a:gd name="T78" fmla="*/ 37 w 1083"/>
                <a:gd name="T79" fmla="*/ 1 h 602"/>
                <a:gd name="T80" fmla="*/ 27 w 1083"/>
                <a:gd name="T81" fmla="*/ 4 h 602"/>
                <a:gd name="T82" fmla="*/ 17 w 1083"/>
                <a:gd name="T83" fmla="*/ 13 h 602"/>
                <a:gd name="T84" fmla="*/ 12 w 1083"/>
                <a:gd name="T85" fmla="*/ 31 h 602"/>
                <a:gd name="T86" fmla="*/ 10 w 1083"/>
                <a:gd name="T87" fmla="*/ 193 h 602"/>
                <a:gd name="T88" fmla="*/ 1 w 1083"/>
                <a:gd name="T89" fmla="*/ 208 h 602"/>
                <a:gd name="T90" fmla="*/ 1 w 1083"/>
                <a:gd name="T91" fmla="*/ 229 h 602"/>
                <a:gd name="T92" fmla="*/ 4 w 1083"/>
                <a:gd name="T93" fmla="*/ 238 h 602"/>
                <a:gd name="T94" fmla="*/ 9 w 1083"/>
                <a:gd name="T95" fmla="*/ 246 h 602"/>
                <a:gd name="T96" fmla="*/ 17 w 1083"/>
                <a:gd name="T97" fmla="*/ 252 h 602"/>
                <a:gd name="T98" fmla="*/ 57 w 1083"/>
                <a:gd name="T99" fmla="*/ 254 h 602"/>
                <a:gd name="T100" fmla="*/ 59 w 1083"/>
                <a:gd name="T101" fmla="*/ 262 h 602"/>
                <a:gd name="T102" fmla="*/ 68 w 1083"/>
                <a:gd name="T103" fmla="*/ 278 h 602"/>
                <a:gd name="T104" fmla="*/ 86 w 1083"/>
                <a:gd name="T105" fmla="*/ 294 h 602"/>
                <a:gd name="T106" fmla="*/ 115 w 1083"/>
                <a:gd name="T107" fmla="*/ 301 h 602"/>
                <a:gd name="T108" fmla="*/ 124 w 1083"/>
                <a:gd name="T109" fmla="*/ 301 h 602"/>
                <a:gd name="T110" fmla="*/ 142 w 1083"/>
                <a:gd name="T111" fmla="*/ 297 h 602"/>
                <a:gd name="T112" fmla="*/ 162 w 1083"/>
                <a:gd name="T113" fmla="*/ 282 h 602"/>
                <a:gd name="T114" fmla="*/ 174 w 1083"/>
                <a:gd name="T115" fmla="*/ 251 h 602"/>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1083"/>
                <a:gd name="T175" fmla="*/ 0 h 602"/>
                <a:gd name="T176" fmla="*/ 1083 w 1083"/>
                <a:gd name="T177" fmla="*/ 602 h 602"/>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1083" h="602">
                  <a:moveTo>
                    <a:pt x="765" y="502"/>
                  </a:moveTo>
                  <a:lnTo>
                    <a:pt x="765" y="506"/>
                  </a:lnTo>
                  <a:lnTo>
                    <a:pt x="767" y="516"/>
                  </a:lnTo>
                  <a:lnTo>
                    <a:pt x="773" y="533"/>
                  </a:lnTo>
                  <a:lnTo>
                    <a:pt x="781" y="550"/>
                  </a:lnTo>
                  <a:lnTo>
                    <a:pt x="795" y="568"/>
                  </a:lnTo>
                  <a:lnTo>
                    <a:pt x="815" y="584"/>
                  </a:lnTo>
                  <a:lnTo>
                    <a:pt x="842" y="595"/>
                  </a:lnTo>
                  <a:lnTo>
                    <a:pt x="877" y="599"/>
                  </a:lnTo>
                  <a:lnTo>
                    <a:pt x="912" y="595"/>
                  </a:lnTo>
                  <a:lnTo>
                    <a:pt x="939" y="584"/>
                  </a:lnTo>
                  <a:lnTo>
                    <a:pt x="960" y="568"/>
                  </a:lnTo>
                  <a:lnTo>
                    <a:pt x="972" y="550"/>
                  </a:lnTo>
                  <a:lnTo>
                    <a:pt x="982" y="533"/>
                  </a:lnTo>
                  <a:lnTo>
                    <a:pt x="986" y="516"/>
                  </a:lnTo>
                  <a:lnTo>
                    <a:pt x="989" y="506"/>
                  </a:lnTo>
                  <a:lnTo>
                    <a:pt x="989" y="502"/>
                  </a:lnTo>
                  <a:lnTo>
                    <a:pt x="993" y="502"/>
                  </a:lnTo>
                  <a:lnTo>
                    <a:pt x="1003" y="503"/>
                  </a:lnTo>
                  <a:lnTo>
                    <a:pt x="1018" y="503"/>
                  </a:lnTo>
                  <a:lnTo>
                    <a:pt x="1036" y="502"/>
                  </a:lnTo>
                  <a:lnTo>
                    <a:pt x="1053" y="496"/>
                  </a:lnTo>
                  <a:lnTo>
                    <a:pt x="1068" y="488"/>
                  </a:lnTo>
                  <a:lnTo>
                    <a:pt x="1078" y="474"/>
                  </a:lnTo>
                  <a:lnTo>
                    <a:pt x="1083" y="453"/>
                  </a:lnTo>
                  <a:lnTo>
                    <a:pt x="1083" y="452"/>
                  </a:lnTo>
                  <a:lnTo>
                    <a:pt x="1083" y="451"/>
                  </a:lnTo>
                  <a:lnTo>
                    <a:pt x="1083" y="449"/>
                  </a:lnTo>
                  <a:lnTo>
                    <a:pt x="1083" y="446"/>
                  </a:lnTo>
                  <a:lnTo>
                    <a:pt x="1083" y="440"/>
                  </a:lnTo>
                  <a:lnTo>
                    <a:pt x="1082" y="434"/>
                  </a:lnTo>
                  <a:lnTo>
                    <a:pt x="1081" y="425"/>
                  </a:lnTo>
                  <a:lnTo>
                    <a:pt x="1077" y="419"/>
                  </a:lnTo>
                  <a:lnTo>
                    <a:pt x="1073" y="410"/>
                  </a:lnTo>
                  <a:lnTo>
                    <a:pt x="1067" y="404"/>
                  </a:lnTo>
                  <a:lnTo>
                    <a:pt x="1058" y="398"/>
                  </a:lnTo>
                  <a:lnTo>
                    <a:pt x="1047" y="394"/>
                  </a:lnTo>
                  <a:lnTo>
                    <a:pt x="1047" y="270"/>
                  </a:lnTo>
                  <a:lnTo>
                    <a:pt x="1047" y="268"/>
                  </a:lnTo>
                  <a:lnTo>
                    <a:pt x="1046" y="263"/>
                  </a:lnTo>
                  <a:lnTo>
                    <a:pt x="1044" y="256"/>
                  </a:lnTo>
                  <a:lnTo>
                    <a:pt x="1039" y="248"/>
                  </a:lnTo>
                  <a:lnTo>
                    <a:pt x="1032" y="239"/>
                  </a:lnTo>
                  <a:lnTo>
                    <a:pt x="1022" y="230"/>
                  </a:lnTo>
                  <a:lnTo>
                    <a:pt x="1007" y="221"/>
                  </a:lnTo>
                  <a:lnTo>
                    <a:pt x="989" y="215"/>
                  </a:lnTo>
                  <a:lnTo>
                    <a:pt x="965" y="203"/>
                  </a:lnTo>
                  <a:lnTo>
                    <a:pt x="941" y="181"/>
                  </a:lnTo>
                  <a:lnTo>
                    <a:pt x="915" y="153"/>
                  </a:lnTo>
                  <a:lnTo>
                    <a:pt x="889" y="122"/>
                  </a:lnTo>
                  <a:lnTo>
                    <a:pt x="865" y="90"/>
                  </a:lnTo>
                  <a:lnTo>
                    <a:pt x="846" y="62"/>
                  </a:lnTo>
                  <a:lnTo>
                    <a:pt x="830" y="41"/>
                  </a:lnTo>
                  <a:lnTo>
                    <a:pt x="821" y="28"/>
                  </a:lnTo>
                  <a:lnTo>
                    <a:pt x="816" y="22"/>
                  </a:lnTo>
                  <a:lnTo>
                    <a:pt x="805" y="16"/>
                  </a:lnTo>
                  <a:lnTo>
                    <a:pt x="794" y="12"/>
                  </a:lnTo>
                  <a:lnTo>
                    <a:pt x="780" y="7"/>
                  </a:lnTo>
                  <a:lnTo>
                    <a:pt x="764" y="5"/>
                  </a:lnTo>
                  <a:lnTo>
                    <a:pt x="745" y="3"/>
                  </a:lnTo>
                  <a:lnTo>
                    <a:pt x="727" y="0"/>
                  </a:lnTo>
                  <a:lnTo>
                    <a:pt x="706" y="0"/>
                  </a:lnTo>
                  <a:lnTo>
                    <a:pt x="692" y="0"/>
                  </a:lnTo>
                  <a:lnTo>
                    <a:pt x="668" y="0"/>
                  </a:lnTo>
                  <a:lnTo>
                    <a:pt x="634" y="0"/>
                  </a:lnTo>
                  <a:lnTo>
                    <a:pt x="592" y="0"/>
                  </a:lnTo>
                  <a:lnTo>
                    <a:pt x="544" y="0"/>
                  </a:lnTo>
                  <a:lnTo>
                    <a:pt x="491" y="0"/>
                  </a:lnTo>
                  <a:lnTo>
                    <a:pt x="435" y="0"/>
                  </a:lnTo>
                  <a:lnTo>
                    <a:pt x="379" y="0"/>
                  </a:lnTo>
                  <a:lnTo>
                    <a:pt x="324" y="0"/>
                  </a:lnTo>
                  <a:lnTo>
                    <a:pt x="270" y="0"/>
                  </a:lnTo>
                  <a:lnTo>
                    <a:pt x="219" y="0"/>
                  </a:lnTo>
                  <a:lnTo>
                    <a:pt x="175" y="0"/>
                  </a:lnTo>
                  <a:lnTo>
                    <a:pt x="137" y="0"/>
                  </a:lnTo>
                  <a:lnTo>
                    <a:pt x="108" y="0"/>
                  </a:lnTo>
                  <a:lnTo>
                    <a:pt x="90" y="0"/>
                  </a:lnTo>
                  <a:lnTo>
                    <a:pt x="83" y="0"/>
                  </a:lnTo>
                  <a:lnTo>
                    <a:pt x="81" y="0"/>
                  </a:lnTo>
                  <a:lnTo>
                    <a:pt x="74" y="1"/>
                  </a:lnTo>
                  <a:lnTo>
                    <a:pt x="64" y="4"/>
                  </a:lnTo>
                  <a:lnTo>
                    <a:pt x="54" y="8"/>
                  </a:lnTo>
                  <a:lnTo>
                    <a:pt x="43" y="15"/>
                  </a:lnTo>
                  <a:lnTo>
                    <a:pt x="33" y="27"/>
                  </a:lnTo>
                  <a:lnTo>
                    <a:pt x="26" y="42"/>
                  </a:lnTo>
                  <a:lnTo>
                    <a:pt x="24" y="62"/>
                  </a:lnTo>
                  <a:lnTo>
                    <a:pt x="24" y="384"/>
                  </a:lnTo>
                  <a:lnTo>
                    <a:pt x="19" y="386"/>
                  </a:lnTo>
                  <a:lnTo>
                    <a:pt x="11" y="397"/>
                  </a:lnTo>
                  <a:lnTo>
                    <a:pt x="2" y="417"/>
                  </a:lnTo>
                  <a:lnTo>
                    <a:pt x="0" y="450"/>
                  </a:lnTo>
                  <a:lnTo>
                    <a:pt x="1" y="459"/>
                  </a:lnTo>
                  <a:lnTo>
                    <a:pt x="3" y="468"/>
                  </a:lnTo>
                  <a:lnTo>
                    <a:pt x="7" y="477"/>
                  </a:lnTo>
                  <a:lnTo>
                    <a:pt x="11" y="484"/>
                  </a:lnTo>
                  <a:lnTo>
                    <a:pt x="17" y="492"/>
                  </a:lnTo>
                  <a:lnTo>
                    <a:pt x="25" y="498"/>
                  </a:lnTo>
                  <a:lnTo>
                    <a:pt x="34" y="504"/>
                  </a:lnTo>
                  <a:lnTo>
                    <a:pt x="45" y="508"/>
                  </a:lnTo>
                  <a:lnTo>
                    <a:pt x="113" y="508"/>
                  </a:lnTo>
                  <a:lnTo>
                    <a:pt x="114" y="512"/>
                  </a:lnTo>
                  <a:lnTo>
                    <a:pt x="117" y="523"/>
                  </a:lnTo>
                  <a:lnTo>
                    <a:pt x="125" y="538"/>
                  </a:lnTo>
                  <a:lnTo>
                    <a:pt x="136" y="555"/>
                  </a:lnTo>
                  <a:lnTo>
                    <a:pt x="152" y="572"/>
                  </a:lnTo>
                  <a:lnTo>
                    <a:pt x="172" y="587"/>
                  </a:lnTo>
                  <a:lnTo>
                    <a:pt x="198" y="598"/>
                  </a:lnTo>
                  <a:lnTo>
                    <a:pt x="230" y="602"/>
                  </a:lnTo>
                  <a:lnTo>
                    <a:pt x="235" y="602"/>
                  </a:lnTo>
                  <a:lnTo>
                    <a:pt x="248" y="602"/>
                  </a:lnTo>
                  <a:lnTo>
                    <a:pt x="265" y="599"/>
                  </a:lnTo>
                  <a:lnTo>
                    <a:pt x="284" y="593"/>
                  </a:lnTo>
                  <a:lnTo>
                    <a:pt x="305" y="582"/>
                  </a:lnTo>
                  <a:lnTo>
                    <a:pt x="324" y="564"/>
                  </a:lnTo>
                  <a:lnTo>
                    <a:pt x="339" y="537"/>
                  </a:lnTo>
                  <a:lnTo>
                    <a:pt x="347" y="502"/>
                  </a:lnTo>
                  <a:lnTo>
                    <a:pt x="765" y="502"/>
                  </a:lnTo>
                  <a:close/>
                </a:path>
              </a:pathLst>
            </a:custGeom>
            <a:solidFill>
              <a:srgbClr val="FFFFFF"/>
            </a:solidFill>
            <a:ln w="9525">
              <a:noFill/>
              <a:round/>
            </a:ln>
          </p:spPr>
          <p:txBody>
            <a:bodyPr/>
            <a:lstStyle/>
            <a:p>
              <a:endParaRPr lang="en-US"/>
            </a:p>
          </p:txBody>
        </p:sp>
        <p:sp>
          <p:nvSpPr>
            <p:cNvPr id="1048801" name="Freeform 93"/>
            <p:cNvSpPr/>
            <p:nvPr/>
          </p:nvSpPr>
          <p:spPr bwMode="auto">
            <a:xfrm>
              <a:off x="2148" y="3713"/>
              <a:ext cx="511" cy="226"/>
            </a:xfrm>
            <a:custGeom>
              <a:avLst/>
              <a:gdLst>
                <a:gd name="T0" fmla="*/ 13 w 1022"/>
                <a:gd name="T1" fmla="*/ 226 h 453"/>
                <a:gd name="T2" fmla="*/ 6 w 1022"/>
                <a:gd name="T3" fmla="*/ 223 h 453"/>
                <a:gd name="T4" fmla="*/ 2 w 1022"/>
                <a:gd name="T5" fmla="*/ 219 h 453"/>
                <a:gd name="T6" fmla="*/ 1 w 1022"/>
                <a:gd name="T7" fmla="*/ 214 h 453"/>
                <a:gd name="T8" fmla="*/ 0 w 1022"/>
                <a:gd name="T9" fmla="*/ 209 h 453"/>
                <a:gd name="T10" fmla="*/ 1 w 1022"/>
                <a:gd name="T11" fmla="*/ 200 h 453"/>
                <a:gd name="T12" fmla="*/ 5 w 1022"/>
                <a:gd name="T13" fmla="*/ 194 h 453"/>
                <a:gd name="T14" fmla="*/ 8 w 1022"/>
                <a:gd name="T15" fmla="*/ 191 h 453"/>
                <a:gd name="T16" fmla="*/ 10 w 1022"/>
                <a:gd name="T17" fmla="*/ 190 h 453"/>
                <a:gd name="T18" fmla="*/ 10 w 1022"/>
                <a:gd name="T19" fmla="*/ 20 h 453"/>
                <a:gd name="T20" fmla="*/ 12 w 1022"/>
                <a:gd name="T21" fmla="*/ 9 h 453"/>
                <a:gd name="T22" fmla="*/ 18 w 1022"/>
                <a:gd name="T23" fmla="*/ 3 h 453"/>
                <a:gd name="T24" fmla="*/ 24 w 1022"/>
                <a:gd name="T25" fmla="*/ 0 h 453"/>
                <a:gd name="T26" fmla="*/ 26 w 1022"/>
                <a:gd name="T27" fmla="*/ 0 h 453"/>
                <a:gd name="T28" fmla="*/ 354 w 1022"/>
                <a:gd name="T29" fmla="*/ 0 h 453"/>
                <a:gd name="T30" fmla="*/ 369 w 1022"/>
                <a:gd name="T31" fmla="*/ 1 h 453"/>
                <a:gd name="T32" fmla="*/ 372 w 1022"/>
                <a:gd name="T33" fmla="*/ 1 h 453"/>
                <a:gd name="T34" fmla="*/ 376 w 1022"/>
                <a:gd name="T35" fmla="*/ 3 h 453"/>
                <a:gd name="T36" fmla="*/ 379 w 1022"/>
                <a:gd name="T37" fmla="*/ 5 h 453"/>
                <a:gd name="T38" fmla="*/ 383 w 1022"/>
                <a:gd name="T39" fmla="*/ 9 h 453"/>
                <a:gd name="T40" fmla="*/ 391 w 1022"/>
                <a:gd name="T41" fmla="*/ 19 h 453"/>
                <a:gd name="T42" fmla="*/ 400 w 1022"/>
                <a:gd name="T43" fmla="*/ 30 h 453"/>
                <a:gd name="T44" fmla="*/ 410 w 1022"/>
                <a:gd name="T45" fmla="*/ 43 h 453"/>
                <a:gd name="T46" fmla="*/ 419 w 1022"/>
                <a:gd name="T47" fmla="*/ 55 h 453"/>
                <a:gd name="T48" fmla="*/ 427 w 1022"/>
                <a:gd name="T49" fmla="*/ 67 h 453"/>
                <a:gd name="T50" fmla="*/ 433 w 1022"/>
                <a:gd name="T51" fmla="*/ 76 h 453"/>
                <a:gd name="T52" fmla="*/ 437 w 1022"/>
                <a:gd name="T53" fmla="*/ 82 h 453"/>
                <a:gd name="T54" fmla="*/ 439 w 1022"/>
                <a:gd name="T55" fmla="*/ 84 h 453"/>
                <a:gd name="T56" fmla="*/ 440 w 1022"/>
                <a:gd name="T57" fmla="*/ 86 h 453"/>
                <a:gd name="T58" fmla="*/ 441 w 1022"/>
                <a:gd name="T59" fmla="*/ 88 h 453"/>
                <a:gd name="T60" fmla="*/ 443 w 1022"/>
                <a:gd name="T61" fmla="*/ 90 h 453"/>
                <a:gd name="T62" fmla="*/ 447 w 1022"/>
                <a:gd name="T63" fmla="*/ 92 h 453"/>
                <a:gd name="T64" fmla="*/ 451 w 1022"/>
                <a:gd name="T65" fmla="*/ 95 h 453"/>
                <a:gd name="T66" fmla="*/ 456 w 1022"/>
                <a:gd name="T67" fmla="*/ 99 h 453"/>
                <a:gd name="T68" fmla="*/ 464 w 1022"/>
                <a:gd name="T69" fmla="*/ 102 h 453"/>
                <a:gd name="T70" fmla="*/ 474 w 1022"/>
                <a:gd name="T71" fmla="*/ 106 h 453"/>
                <a:gd name="T72" fmla="*/ 481 w 1022"/>
                <a:gd name="T73" fmla="*/ 109 h 453"/>
                <a:gd name="T74" fmla="*/ 486 w 1022"/>
                <a:gd name="T75" fmla="*/ 113 h 453"/>
                <a:gd name="T76" fmla="*/ 490 w 1022"/>
                <a:gd name="T77" fmla="*/ 116 h 453"/>
                <a:gd name="T78" fmla="*/ 492 w 1022"/>
                <a:gd name="T79" fmla="*/ 118 h 453"/>
                <a:gd name="T80" fmla="*/ 493 w 1022"/>
                <a:gd name="T81" fmla="*/ 121 h 453"/>
                <a:gd name="T82" fmla="*/ 494 w 1022"/>
                <a:gd name="T83" fmla="*/ 122 h 453"/>
                <a:gd name="T84" fmla="*/ 494 w 1022"/>
                <a:gd name="T85" fmla="*/ 124 h 453"/>
                <a:gd name="T86" fmla="*/ 494 w 1022"/>
                <a:gd name="T87" fmla="*/ 124 h 453"/>
                <a:gd name="T88" fmla="*/ 494 w 1022"/>
                <a:gd name="T89" fmla="*/ 196 h 453"/>
                <a:gd name="T90" fmla="*/ 494 w 1022"/>
                <a:gd name="T91" fmla="*/ 196 h 453"/>
                <a:gd name="T92" fmla="*/ 497 w 1022"/>
                <a:gd name="T93" fmla="*/ 196 h 453"/>
                <a:gd name="T94" fmla="*/ 499 w 1022"/>
                <a:gd name="T95" fmla="*/ 196 h 453"/>
                <a:gd name="T96" fmla="*/ 502 w 1022"/>
                <a:gd name="T97" fmla="*/ 196 h 453"/>
                <a:gd name="T98" fmla="*/ 506 w 1022"/>
                <a:gd name="T99" fmla="*/ 197 h 453"/>
                <a:gd name="T100" fmla="*/ 508 w 1022"/>
                <a:gd name="T101" fmla="*/ 200 h 453"/>
                <a:gd name="T102" fmla="*/ 510 w 1022"/>
                <a:gd name="T103" fmla="*/ 203 h 453"/>
                <a:gd name="T104" fmla="*/ 511 w 1022"/>
                <a:gd name="T105" fmla="*/ 208 h 453"/>
                <a:gd name="T106" fmla="*/ 510 w 1022"/>
                <a:gd name="T107" fmla="*/ 213 h 453"/>
                <a:gd name="T108" fmla="*/ 508 w 1022"/>
                <a:gd name="T109" fmla="*/ 217 h 453"/>
                <a:gd name="T110" fmla="*/ 506 w 1022"/>
                <a:gd name="T111" fmla="*/ 220 h 453"/>
                <a:gd name="T112" fmla="*/ 502 w 1022"/>
                <a:gd name="T113" fmla="*/ 223 h 453"/>
                <a:gd name="T114" fmla="*/ 499 w 1022"/>
                <a:gd name="T115" fmla="*/ 224 h 453"/>
                <a:gd name="T116" fmla="*/ 497 w 1022"/>
                <a:gd name="T117" fmla="*/ 226 h 453"/>
                <a:gd name="T118" fmla="*/ 494 w 1022"/>
                <a:gd name="T119" fmla="*/ 226 h 453"/>
                <a:gd name="T120" fmla="*/ 494 w 1022"/>
                <a:gd name="T121" fmla="*/ 226 h 453"/>
                <a:gd name="T122" fmla="*/ 13 w 1022"/>
                <a:gd name="T123" fmla="*/ 226 h 453"/>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w 1022"/>
                <a:gd name="T187" fmla="*/ 0 h 453"/>
                <a:gd name="T188" fmla="*/ 1022 w 1022"/>
                <a:gd name="T189" fmla="*/ 453 h 453"/>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T186" t="T187" r="T188" b="T189"/>
              <a:pathLst>
                <a:path w="1022" h="453">
                  <a:moveTo>
                    <a:pt x="25" y="453"/>
                  </a:moveTo>
                  <a:lnTo>
                    <a:pt x="12" y="447"/>
                  </a:lnTo>
                  <a:lnTo>
                    <a:pt x="4" y="438"/>
                  </a:lnTo>
                  <a:lnTo>
                    <a:pt x="1" y="429"/>
                  </a:lnTo>
                  <a:lnTo>
                    <a:pt x="0" y="419"/>
                  </a:lnTo>
                  <a:lnTo>
                    <a:pt x="2" y="401"/>
                  </a:lnTo>
                  <a:lnTo>
                    <a:pt x="9" y="388"/>
                  </a:lnTo>
                  <a:lnTo>
                    <a:pt x="16" y="382"/>
                  </a:lnTo>
                  <a:lnTo>
                    <a:pt x="19" y="380"/>
                  </a:lnTo>
                  <a:lnTo>
                    <a:pt x="19" y="40"/>
                  </a:lnTo>
                  <a:lnTo>
                    <a:pt x="24" y="19"/>
                  </a:lnTo>
                  <a:lnTo>
                    <a:pt x="35" y="7"/>
                  </a:lnTo>
                  <a:lnTo>
                    <a:pt x="47" y="1"/>
                  </a:lnTo>
                  <a:lnTo>
                    <a:pt x="51" y="0"/>
                  </a:lnTo>
                  <a:lnTo>
                    <a:pt x="707" y="0"/>
                  </a:lnTo>
                  <a:lnTo>
                    <a:pt x="738" y="2"/>
                  </a:lnTo>
                  <a:lnTo>
                    <a:pt x="743" y="3"/>
                  </a:lnTo>
                  <a:lnTo>
                    <a:pt x="751" y="7"/>
                  </a:lnTo>
                  <a:lnTo>
                    <a:pt x="758" y="11"/>
                  </a:lnTo>
                  <a:lnTo>
                    <a:pt x="766" y="18"/>
                  </a:lnTo>
                  <a:lnTo>
                    <a:pt x="782" y="38"/>
                  </a:lnTo>
                  <a:lnTo>
                    <a:pt x="800" y="61"/>
                  </a:lnTo>
                  <a:lnTo>
                    <a:pt x="819" y="86"/>
                  </a:lnTo>
                  <a:lnTo>
                    <a:pt x="837" y="111"/>
                  </a:lnTo>
                  <a:lnTo>
                    <a:pt x="853" y="134"/>
                  </a:lnTo>
                  <a:lnTo>
                    <a:pt x="866" y="152"/>
                  </a:lnTo>
                  <a:lnTo>
                    <a:pt x="874" y="165"/>
                  </a:lnTo>
                  <a:lnTo>
                    <a:pt x="878" y="169"/>
                  </a:lnTo>
                  <a:lnTo>
                    <a:pt x="880" y="173"/>
                  </a:lnTo>
                  <a:lnTo>
                    <a:pt x="882" y="176"/>
                  </a:lnTo>
                  <a:lnTo>
                    <a:pt x="886" y="181"/>
                  </a:lnTo>
                  <a:lnTo>
                    <a:pt x="893" y="185"/>
                  </a:lnTo>
                  <a:lnTo>
                    <a:pt x="901" y="191"/>
                  </a:lnTo>
                  <a:lnTo>
                    <a:pt x="912" y="198"/>
                  </a:lnTo>
                  <a:lnTo>
                    <a:pt x="928" y="205"/>
                  </a:lnTo>
                  <a:lnTo>
                    <a:pt x="948" y="213"/>
                  </a:lnTo>
                  <a:lnTo>
                    <a:pt x="962" y="219"/>
                  </a:lnTo>
                  <a:lnTo>
                    <a:pt x="972" y="226"/>
                  </a:lnTo>
                  <a:lnTo>
                    <a:pt x="979" y="232"/>
                  </a:lnTo>
                  <a:lnTo>
                    <a:pt x="984" y="237"/>
                  </a:lnTo>
                  <a:lnTo>
                    <a:pt x="986" y="242"/>
                  </a:lnTo>
                  <a:lnTo>
                    <a:pt x="987" y="245"/>
                  </a:lnTo>
                  <a:lnTo>
                    <a:pt x="987" y="248"/>
                  </a:lnTo>
                  <a:lnTo>
                    <a:pt x="987" y="249"/>
                  </a:lnTo>
                  <a:lnTo>
                    <a:pt x="987" y="392"/>
                  </a:lnTo>
                  <a:lnTo>
                    <a:pt x="988" y="392"/>
                  </a:lnTo>
                  <a:lnTo>
                    <a:pt x="993" y="392"/>
                  </a:lnTo>
                  <a:lnTo>
                    <a:pt x="997" y="392"/>
                  </a:lnTo>
                  <a:lnTo>
                    <a:pt x="1004" y="393"/>
                  </a:lnTo>
                  <a:lnTo>
                    <a:pt x="1011" y="395"/>
                  </a:lnTo>
                  <a:lnTo>
                    <a:pt x="1016" y="400"/>
                  </a:lnTo>
                  <a:lnTo>
                    <a:pt x="1020" y="407"/>
                  </a:lnTo>
                  <a:lnTo>
                    <a:pt x="1022" y="417"/>
                  </a:lnTo>
                  <a:lnTo>
                    <a:pt x="1020" y="427"/>
                  </a:lnTo>
                  <a:lnTo>
                    <a:pt x="1016" y="435"/>
                  </a:lnTo>
                  <a:lnTo>
                    <a:pt x="1011" y="441"/>
                  </a:lnTo>
                  <a:lnTo>
                    <a:pt x="1004" y="446"/>
                  </a:lnTo>
                  <a:lnTo>
                    <a:pt x="997" y="449"/>
                  </a:lnTo>
                  <a:lnTo>
                    <a:pt x="993" y="452"/>
                  </a:lnTo>
                  <a:lnTo>
                    <a:pt x="988" y="453"/>
                  </a:lnTo>
                  <a:lnTo>
                    <a:pt x="987" y="453"/>
                  </a:lnTo>
                  <a:lnTo>
                    <a:pt x="25" y="453"/>
                  </a:lnTo>
                  <a:close/>
                </a:path>
              </a:pathLst>
            </a:custGeom>
            <a:solidFill>
              <a:srgbClr val="000000"/>
            </a:solidFill>
            <a:ln w="9525">
              <a:noFill/>
              <a:round/>
            </a:ln>
          </p:spPr>
          <p:txBody>
            <a:bodyPr/>
            <a:lstStyle/>
            <a:p>
              <a:endParaRPr lang="en-US"/>
            </a:p>
          </p:txBody>
        </p:sp>
        <p:sp>
          <p:nvSpPr>
            <p:cNvPr id="1048802" name="Freeform 94"/>
            <p:cNvSpPr/>
            <p:nvPr/>
          </p:nvSpPr>
          <p:spPr bwMode="auto">
            <a:xfrm>
              <a:off x="2488" y="3723"/>
              <a:ext cx="141" cy="117"/>
            </a:xfrm>
            <a:custGeom>
              <a:avLst/>
              <a:gdLst>
                <a:gd name="T0" fmla="*/ 115 w 283"/>
                <a:gd name="T1" fmla="*/ 101 h 234"/>
                <a:gd name="T2" fmla="*/ 102 w 283"/>
                <a:gd name="T3" fmla="*/ 95 h 234"/>
                <a:gd name="T4" fmla="*/ 94 w 283"/>
                <a:gd name="T5" fmla="*/ 89 h 234"/>
                <a:gd name="T6" fmla="*/ 88 w 283"/>
                <a:gd name="T7" fmla="*/ 84 h 234"/>
                <a:gd name="T8" fmla="*/ 83 w 283"/>
                <a:gd name="T9" fmla="*/ 83 h 234"/>
                <a:gd name="T10" fmla="*/ 80 w 283"/>
                <a:gd name="T11" fmla="*/ 84 h 234"/>
                <a:gd name="T12" fmla="*/ 76 w 283"/>
                <a:gd name="T13" fmla="*/ 84 h 234"/>
                <a:gd name="T14" fmla="*/ 70 w 283"/>
                <a:gd name="T15" fmla="*/ 84 h 234"/>
                <a:gd name="T16" fmla="*/ 58 w 283"/>
                <a:gd name="T17" fmla="*/ 80 h 234"/>
                <a:gd name="T18" fmla="*/ 44 w 283"/>
                <a:gd name="T19" fmla="*/ 66 h 234"/>
                <a:gd name="T20" fmla="*/ 33 w 283"/>
                <a:gd name="T21" fmla="*/ 48 h 234"/>
                <a:gd name="T22" fmla="*/ 26 w 283"/>
                <a:gd name="T23" fmla="*/ 31 h 234"/>
                <a:gd name="T24" fmla="*/ 24 w 283"/>
                <a:gd name="T25" fmla="*/ 17 h 234"/>
                <a:gd name="T26" fmla="*/ 25 w 283"/>
                <a:gd name="T27" fmla="*/ 7 h 234"/>
                <a:gd name="T28" fmla="*/ 25 w 283"/>
                <a:gd name="T29" fmla="*/ 2 h 234"/>
                <a:gd name="T30" fmla="*/ 16 w 283"/>
                <a:gd name="T31" fmla="*/ 1 h 234"/>
                <a:gd name="T32" fmla="*/ 11 w 283"/>
                <a:gd name="T33" fmla="*/ 0 h 234"/>
                <a:gd name="T34" fmla="*/ 5 w 283"/>
                <a:gd name="T35" fmla="*/ 0 h 234"/>
                <a:gd name="T36" fmla="*/ 4 w 283"/>
                <a:gd name="T37" fmla="*/ 2 h 234"/>
                <a:gd name="T38" fmla="*/ 9 w 283"/>
                <a:gd name="T39" fmla="*/ 6 h 234"/>
                <a:gd name="T40" fmla="*/ 8 w 283"/>
                <a:gd name="T41" fmla="*/ 13 h 234"/>
                <a:gd name="T42" fmla="*/ 12 w 283"/>
                <a:gd name="T43" fmla="*/ 28 h 234"/>
                <a:gd name="T44" fmla="*/ 21 w 283"/>
                <a:gd name="T45" fmla="*/ 48 h 234"/>
                <a:gd name="T46" fmla="*/ 29 w 283"/>
                <a:gd name="T47" fmla="*/ 67 h 234"/>
                <a:gd name="T48" fmla="*/ 36 w 283"/>
                <a:gd name="T49" fmla="*/ 81 h 234"/>
                <a:gd name="T50" fmla="*/ 43 w 283"/>
                <a:gd name="T51" fmla="*/ 94 h 234"/>
                <a:gd name="T52" fmla="*/ 57 w 283"/>
                <a:gd name="T53" fmla="*/ 105 h 234"/>
                <a:gd name="T54" fmla="*/ 81 w 283"/>
                <a:gd name="T55" fmla="*/ 111 h 234"/>
                <a:gd name="T56" fmla="*/ 106 w 283"/>
                <a:gd name="T57" fmla="*/ 112 h 234"/>
                <a:gd name="T58" fmla="*/ 119 w 283"/>
                <a:gd name="T59" fmla="*/ 112 h 234"/>
                <a:gd name="T60" fmla="*/ 130 w 283"/>
                <a:gd name="T61" fmla="*/ 114 h 234"/>
                <a:gd name="T62" fmla="*/ 138 w 283"/>
                <a:gd name="T63" fmla="*/ 116 h 234"/>
                <a:gd name="T64" fmla="*/ 140 w 283"/>
                <a:gd name="T65" fmla="*/ 115 h 234"/>
                <a:gd name="T66" fmla="*/ 138 w 283"/>
                <a:gd name="T67" fmla="*/ 112 h 234"/>
                <a:gd name="T68" fmla="*/ 134 w 283"/>
                <a:gd name="T69" fmla="*/ 108 h 234"/>
                <a:gd name="T70" fmla="*/ 128 w 283"/>
                <a:gd name="T71" fmla="*/ 105 h 234"/>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283"/>
                <a:gd name="T109" fmla="*/ 0 h 234"/>
                <a:gd name="T110" fmla="*/ 283 w 283"/>
                <a:gd name="T111" fmla="*/ 234 h 234"/>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283" h="234">
                  <a:moveTo>
                    <a:pt x="247" y="207"/>
                  </a:moveTo>
                  <a:lnTo>
                    <a:pt x="230" y="201"/>
                  </a:lnTo>
                  <a:lnTo>
                    <a:pt x="217" y="196"/>
                  </a:lnTo>
                  <a:lnTo>
                    <a:pt x="205" y="190"/>
                  </a:lnTo>
                  <a:lnTo>
                    <a:pt x="197" y="184"/>
                  </a:lnTo>
                  <a:lnTo>
                    <a:pt x="189" y="178"/>
                  </a:lnTo>
                  <a:lnTo>
                    <a:pt x="183" y="172"/>
                  </a:lnTo>
                  <a:lnTo>
                    <a:pt x="177" y="168"/>
                  </a:lnTo>
                  <a:lnTo>
                    <a:pt x="170" y="164"/>
                  </a:lnTo>
                  <a:lnTo>
                    <a:pt x="167" y="166"/>
                  </a:lnTo>
                  <a:lnTo>
                    <a:pt x="164" y="167"/>
                  </a:lnTo>
                  <a:lnTo>
                    <a:pt x="160" y="167"/>
                  </a:lnTo>
                  <a:lnTo>
                    <a:pt x="157" y="168"/>
                  </a:lnTo>
                  <a:lnTo>
                    <a:pt x="152" y="168"/>
                  </a:lnTo>
                  <a:lnTo>
                    <a:pt x="147" y="168"/>
                  </a:lnTo>
                  <a:lnTo>
                    <a:pt x="140" y="167"/>
                  </a:lnTo>
                  <a:lnTo>
                    <a:pt x="133" y="166"/>
                  </a:lnTo>
                  <a:lnTo>
                    <a:pt x="117" y="160"/>
                  </a:lnTo>
                  <a:lnTo>
                    <a:pt x="102" y="147"/>
                  </a:lnTo>
                  <a:lnTo>
                    <a:pt x="88" y="132"/>
                  </a:lnTo>
                  <a:lnTo>
                    <a:pt x="76" y="114"/>
                  </a:lnTo>
                  <a:lnTo>
                    <a:pt x="66" y="95"/>
                  </a:lnTo>
                  <a:lnTo>
                    <a:pt x="59" y="77"/>
                  </a:lnTo>
                  <a:lnTo>
                    <a:pt x="53" y="62"/>
                  </a:lnTo>
                  <a:lnTo>
                    <a:pt x="50" y="49"/>
                  </a:lnTo>
                  <a:lnTo>
                    <a:pt x="48" y="34"/>
                  </a:lnTo>
                  <a:lnTo>
                    <a:pt x="49" y="23"/>
                  </a:lnTo>
                  <a:lnTo>
                    <a:pt x="51" y="15"/>
                  </a:lnTo>
                  <a:lnTo>
                    <a:pt x="56" y="8"/>
                  </a:lnTo>
                  <a:lnTo>
                    <a:pt x="50" y="4"/>
                  </a:lnTo>
                  <a:lnTo>
                    <a:pt x="42" y="2"/>
                  </a:lnTo>
                  <a:lnTo>
                    <a:pt x="33" y="1"/>
                  </a:lnTo>
                  <a:lnTo>
                    <a:pt x="26" y="0"/>
                  </a:lnTo>
                  <a:lnTo>
                    <a:pt x="23" y="0"/>
                  </a:lnTo>
                  <a:lnTo>
                    <a:pt x="19" y="0"/>
                  </a:lnTo>
                  <a:lnTo>
                    <a:pt x="11" y="0"/>
                  </a:lnTo>
                  <a:lnTo>
                    <a:pt x="0" y="0"/>
                  </a:lnTo>
                  <a:lnTo>
                    <a:pt x="8" y="3"/>
                  </a:lnTo>
                  <a:lnTo>
                    <a:pt x="15" y="8"/>
                  </a:lnTo>
                  <a:lnTo>
                    <a:pt x="18" y="11"/>
                  </a:lnTo>
                  <a:lnTo>
                    <a:pt x="18" y="16"/>
                  </a:lnTo>
                  <a:lnTo>
                    <a:pt x="16" y="25"/>
                  </a:lnTo>
                  <a:lnTo>
                    <a:pt x="19" y="39"/>
                  </a:lnTo>
                  <a:lnTo>
                    <a:pt x="24" y="56"/>
                  </a:lnTo>
                  <a:lnTo>
                    <a:pt x="33" y="76"/>
                  </a:lnTo>
                  <a:lnTo>
                    <a:pt x="42" y="96"/>
                  </a:lnTo>
                  <a:lnTo>
                    <a:pt x="51" y="116"/>
                  </a:lnTo>
                  <a:lnTo>
                    <a:pt x="59" y="134"/>
                  </a:lnTo>
                  <a:lnTo>
                    <a:pt x="66" y="148"/>
                  </a:lnTo>
                  <a:lnTo>
                    <a:pt x="72" y="161"/>
                  </a:lnTo>
                  <a:lnTo>
                    <a:pt x="79" y="174"/>
                  </a:lnTo>
                  <a:lnTo>
                    <a:pt x="87" y="187"/>
                  </a:lnTo>
                  <a:lnTo>
                    <a:pt x="98" y="199"/>
                  </a:lnTo>
                  <a:lnTo>
                    <a:pt x="114" y="209"/>
                  </a:lnTo>
                  <a:lnTo>
                    <a:pt x="135" y="217"/>
                  </a:lnTo>
                  <a:lnTo>
                    <a:pt x="162" y="222"/>
                  </a:lnTo>
                  <a:lnTo>
                    <a:pt x="196" y="223"/>
                  </a:lnTo>
                  <a:lnTo>
                    <a:pt x="212" y="223"/>
                  </a:lnTo>
                  <a:lnTo>
                    <a:pt x="226" y="223"/>
                  </a:lnTo>
                  <a:lnTo>
                    <a:pt x="239" y="223"/>
                  </a:lnTo>
                  <a:lnTo>
                    <a:pt x="250" y="224"/>
                  </a:lnTo>
                  <a:lnTo>
                    <a:pt x="260" y="227"/>
                  </a:lnTo>
                  <a:lnTo>
                    <a:pt x="269" y="229"/>
                  </a:lnTo>
                  <a:lnTo>
                    <a:pt x="276" y="231"/>
                  </a:lnTo>
                  <a:lnTo>
                    <a:pt x="283" y="234"/>
                  </a:lnTo>
                  <a:lnTo>
                    <a:pt x="281" y="230"/>
                  </a:lnTo>
                  <a:lnTo>
                    <a:pt x="279" y="227"/>
                  </a:lnTo>
                  <a:lnTo>
                    <a:pt x="277" y="223"/>
                  </a:lnTo>
                  <a:lnTo>
                    <a:pt x="273" y="220"/>
                  </a:lnTo>
                  <a:lnTo>
                    <a:pt x="269" y="216"/>
                  </a:lnTo>
                  <a:lnTo>
                    <a:pt x="263" y="213"/>
                  </a:lnTo>
                  <a:lnTo>
                    <a:pt x="256" y="209"/>
                  </a:lnTo>
                  <a:lnTo>
                    <a:pt x="247" y="207"/>
                  </a:lnTo>
                  <a:close/>
                </a:path>
              </a:pathLst>
            </a:custGeom>
            <a:solidFill>
              <a:srgbClr val="FFD877"/>
            </a:solidFill>
            <a:ln w="9525">
              <a:noFill/>
              <a:round/>
            </a:ln>
          </p:spPr>
          <p:txBody>
            <a:bodyPr/>
            <a:lstStyle/>
            <a:p>
              <a:endParaRPr lang="en-US"/>
            </a:p>
          </p:txBody>
        </p:sp>
        <p:sp>
          <p:nvSpPr>
            <p:cNvPr id="1048803" name="Freeform 95"/>
            <p:cNvSpPr/>
            <p:nvPr/>
          </p:nvSpPr>
          <p:spPr bwMode="auto">
            <a:xfrm>
              <a:off x="2171" y="3724"/>
              <a:ext cx="159" cy="203"/>
            </a:xfrm>
            <a:custGeom>
              <a:avLst/>
              <a:gdLst>
                <a:gd name="T0" fmla="*/ 0 w 317"/>
                <a:gd name="T1" fmla="*/ 17 h 404"/>
                <a:gd name="T2" fmla="*/ 0 w 317"/>
                <a:gd name="T3" fmla="*/ 178 h 404"/>
                <a:gd name="T4" fmla="*/ 0 w 317"/>
                <a:gd name="T5" fmla="*/ 180 h 404"/>
                <a:gd name="T6" fmla="*/ 1 w 317"/>
                <a:gd name="T7" fmla="*/ 186 h 404"/>
                <a:gd name="T8" fmla="*/ 3 w 317"/>
                <a:gd name="T9" fmla="*/ 194 h 404"/>
                <a:gd name="T10" fmla="*/ 8 w 317"/>
                <a:gd name="T11" fmla="*/ 203 h 404"/>
                <a:gd name="T12" fmla="*/ 159 w 317"/>
                <a:gd name="T13" fmla="*/ 203 h 404"/>
                <a:gd name="T14" fmla="*/ 12 w 317"/>
                <a:gd name="T15" fmla="*/ 0 h 404"/>
                <a:gd name="T16" fmla="*/ 8 w 317"/>
                <a:gd name="T17" fmla="*/ 2 h 404"/>
                <a:gd name="T18" fmla="*/ 4 w 317"/>
                <a:gd name="T19" fmla="*/ 5 h 404"/>
                <a:gd name="T20" fmla="*/ 1 w 317"/>
                <a:gd name="T21" fmla="*/ 11 h 404"/>
                <a:gd name="T22" fmla="*/ 0 w 317"/>
                <a:gd name="T23" fmla="*/ 17 h 404"/>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17"/>
                <a:gd name="T37" fmla="*/ 0 h 404"/>
                <a:gd name="T38" fmla="*/ 317 w 317"/>
                <a:gd name="T39" fmla="*/ 404 h 404"/>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17" h="404">
                  <a:moveTo>
                    <a:pt x="0" y="34"/>
                  </a:moveTo>
                  <a:lnTo>
                    <a:pt x="0" y="355"/>
                  </a:lnTo>
                  <a:lnTo>
                    <a:pt x="0" y="359"/>
                  </a:lnTo>
                  <a:lnTo>
                    <a:pt x="1" y="371"/>
                  </a:lnTo>
                  <a:lnTo>
                    <a:pt x="5" y="386"/>
                  </a:lnTo>
                  <a:lnTo>
                    <a:pt x="15" y="404"/>
                  </a:lnTo>
                  <a:lnTo>
                    <a:pt x="317" y="404"/>
                  </a:lnTo>
                  <a:lnTo>
                    <a:pt x="23" y="0"/>
                  </a:lnTo>
                  <a:lnTo>
                    <a:pt x="16" y="3"/>
                  </a:lnTo>
                  <a:lnTo>
                    <a:pt x="8" y="10"/>
                  </a:lnTo>
                  <a:lnTo>
                    <a:pt x="2" y="21"/>
                  </a:lnTo>
                  <a:lnTo>
                    <a:pt x="0" y="34"/>
                  </a:lnTo>
                  <a:close/>
                </a:path>
              </a:pathLst>
            </a:custGeom>
            <a:solidFill>
              <a:srgbClr val="FFC126"/>
            </a:solidFill>
            <a:ln w="9525">
              <a:noFill/>
              <a:round/>
            </a:ln>
          </p:spPr>
          <p:txBody>
            <a:bodyPr/>
            <a:lstStyle/>
            <a:p>
              <a:endParaRPr lang="en-US"/>
            </a:p>
          </p:txBody>
        </p:sp>
        <p:sp>
          <p:nvSpPr>
            <p:cNvPr id="1048804" name="Freeform 96"/>
            <p:cNvSpPr/>
            <p:nvPr/>
          </p:nvSpPr>
          <p:spPr bwMode="auto">
            <a:xfrm>
              <a:off x="2214" y="3723"/>
              <a:ext cx="417" cy="204"/>
            </a:xfrm>
            <a:custGeom>
              <a:avLst/>
              <a:gdLst>
                <a:gd name="T0" fmla="*/ 372 w 833"/>
                <a:gd name="T1" fmla="*/ 112 h 406"/>
                <a:gd name="T2" fmla="*/ 355 w 833"/>
                <a:gd name="T3" fmla="*/ 112 h 406"/>
                <a:gd name="T4" fmla="*/ 341 w 833"/>
                <a:gd name="T5" fmla="*/ 109 h 406"/>
                <a:gd name="T6" fmla="*/ 331 w 833"/>
                <a:gd name="T7" fmla="*/ 105 h 406"/>
                <a:gd name="T8" fmla="*/ 323 w 833"/>
                <a:gd name="T9" fmla="*/ 100 h 406"/>
                <a:gd name="T10" fmla="*/ 317 w 833"/>
                <a:gd name="T11" fmla="*/ 94 h 406"/>
                <a:gd name="T12" fmla="*/ 313 w 833"/>
                <a:gd name="T13" fmla="*/ 87 h 406"/>
                <a:gd name="T14" fmla="*/ 310 w 833"/>
                <a:gd name="T15" fmla="*/ 81 h 406"/>
                <a:gd name="T16" fmla="*/ 307 w 833"/>
                <a:gd name="T17" fmla="*/ 74 h 406"/>
                <a:gd name="T18" fmla="*/ 303 w 833"/>
                <a:gd name="T19" fmla="*/ 67 h 406"/>
                <a:gd name="T20" fmla="*/ 299 w 833"/>
                <a:gd name="T21" fmla="*/ 58 h 406"/>
                <a:gd name="T22" fmla="*/ 295 w 833"/>
                <a:gd name="T23" fmla="*/ 48 h 406"/>
                <a:gd name="T24" fmla="*/ 290 w 833"/>
                <a:gd name="T25" fmla="*/ 38 h 406"/>
                <a:gd name="T26" fmla="*/ 286 w 833"/>
                <a:gd name="T27" fmla="*/ 28 h 406"/>
                <a:gd name="T28" fmla="*/ 283 w 833"/>
                <a:gd name="T29" fmla="*/ 20 h 406"/>
                <a:gd name="T30" fmla="*/ 282 w 833"/>
                <a:gd name="T31" fmla="*/ 13 h 406"/>
                <a:gd name="T32" fmla="*/ 283 w 833"/>
                <a:gd name="T33" fmla="*/ 8 h 406"/>
                <a:gd name="T34" fmla="*/ 283 w 833"/>
                <a:gd name="T35" fmla="*/ 6 h 406"/>
                <a:gd name="T36" fmla="*/ 281 w 833"/>
                <a:gd name="T37" fmla="*/ 4 h 406"/>
                <a:gd name="T38" fmla="*/ 278 w 833"/>
                <a:gd name="T39" fmla="*/ 2 h 406"/>
                <a:gd name="T40" fmla="*/ 274 w 833"/>
                <a:gd name="T41" fmla="*/ 0 h 406"/>
                <a:gd name="T42" fmla="*/ 264 w 833"/>
                <a:gd name="T43" fmla="*/ 0 h 406"/>
                <a:gd name="T44" fmla="*/ 251 w 833"/>
                <a:gd name="T45" fmla="*/ 0 h 406"/>
                <a:gd name="T46" fmla="*/ 236 w 833"/>
                <a:gd name="T47" fmla="*/ 0 h 406"/>
                <a:gd name="T48" fmla="*/ 220 w 833"/>
                <a:gd name="T49" fmla="*/ 0 h 406"/>
                <a:gd name="T50" fmla="*/ 202 w 833"/>
                <a:gd name="T51" fmla="*/ 0 h 406"/>
                <a:gd name="T52" fmla="*/ 183 w 833"/>
                <a:gd name="T53" fmla="*/ 0 h 406"/>
                <a:gd name="T54" fmla="*/ 164 w 833"/>
                <a:gd name="T55" fmla="*/ 0 h 406"/>
                <a:gd name="T56" fmla="*/ 144 w 833"/>
                <a:gd name="T57" fmla="*/ 0 h 406"/>
                <a:gd name="T58" fmla="*/ 124 w 833"/>
                <a:gd name="T59" fmla="*/ 0 h 406"/>
                <a:gd name="T60" fmla="*/ 103 w 833"/>
                <a:gd name="T61" fmla="*/ 0 h 406"/>
                <a:gd name="T62" fmla="*/ 83 w 833"/>
                <a:gd name="T63" fmla="*/ 0 h 406"/>
                <a:gd name="T64" fmla="*/ 64 w 833"/>
                <a:gd name="T65" fmla="*/ 0 h 406"/>
                <a:gd name="T66" fmla="*/ 46 w 833"/>
                <a:gd name="T67" fmla="*/ 0 h 406"/>
                <a:gd name="T68" fmla="*/ 28 w 833"/>
                <a:gd name="T69" fmla="*/ 0 h 406"/>
                <a:gd name="T70" fmla="*/ 13 w 833"/>
                <a:gd name="T71" fmla="*/ 0 h 406"/>
                <a:gd name="T72" fmla="*/ 0 w 833"/>
                <a:gd name="T73" fmla="*/ 0 h 406"/>
                <a:gd name="T74" fmla="*/ 243 w 833"/>
                <a:gd name="T75" fmla="*/ 204 h 406"/>
                <a:gd name="T76" fmla="*/ 401 w 833"/>
                <a:gd name="T77" fmla="*/ 204 h 406"/>
                <a:gd name="T78" fmla="*/ 404 w 833"/>
                <a:gd name="T79" fmla="*/ 203 h 406"/>
                <a:gd name="T80" fmla="*/ 409 w 833"/>
                <a:gd name="T81" fmla="*/ 201 h 406"/>
                <a:gd name="T82" fmla="*/ 414 w 833"/>
                <a:gd name="T83" fmla="*/ 196 h 406"/>
                <a:gd name="T84" fmla="*/ 417 w 833"/>
                <a:gd name="T85" fmla="*/ 187 h 406"/>
                <a:gd name="T86" fmla="*/ 417 w 833"/>
                <a:gd name="T87" fmla="*/ 184 h 406"/>
                <a:gd name="T88" fmla="*/ 416 w 833"/>
                <a:gd name="T89" fmla="*/ 181 h 406"/>
                <a:gd name="T90" fmla="*/ 416 w 833"/>
                <a:gd name="T91" fmla="*/ 180 h 406"/>
                <a:gd name="T92" fmla="*/ 416 w 833"/>
                <a:gd name="T93" fmla="*/ 179 h 406"/>
                <a:gd name="T94" fmla="*/ 416 w 833"/>
                <a:gd name="T95" fmla="*/ 120 h 406"/>
                <a:gd name="T96" fmla="*/ 416 w 833"/>
                <a:gd name="T97" fmla="*/ 120 h 406"/>
                <a:gd name="T98" fmla="*/ 416 w 833"/>
                <a:gd name="T99" fmla="*/ 120 h 406"/>
                <a:gd name="T100" fmla="*/ 416 w 833"/>
                <a:gd name="T101" fmla="*/ 119 h 406"/>
                <a:gd name="T102" fmla="*/ 415 w 833"/>
                <a:gd name="T103" fmla="*/ 118 h 406"/>
                <a:gd name="T104" fmla="*/ 412 w 833"/>
                <a:gd name="T105" fmla="*/ 116 h 406"/>
                <a:gd name="T106" fmla="*/ 408 w 833"/>
                <a:gd name="T107" fmla="*/ 115 h 406"/>
                <a:gd name="T108" fmla="*/ 404 w 833"/>
                <a:gd name="T109" fmla="*/ 114 h 406"/>
                <a:gd name="T110" fmla="*/ 399 w 833"/>
                <a:gd name="T111" fmla="*/ 113 h 406"/>
                <a:gd name="T112" fmla="*/ 393 w 833"/>
                <a:gd name="T113" fmla="*/ 112 h 406"/>
                <a:gd name="T114" fmla="*/ 387 w 833"/>
                <a:gd name="T115" fmla="*/ 112 h 406"/>
                <a:gd name="T116" fmla="*/ 380 w 833"/>
                <a:gd name="T117" fmla="*/ 112 h 406"/>
                <a:gd name="T118" fmla="*/ 372 w 833"/>
                <a:gd name="T119" fmla="*/ 112 h 40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w 833"/>
                <a:gd name="T181" fmla="*/ 0 h 406"/>
                <a:gd name="T182" fmla="*/ 833 w 833"/>
                <a:gd name="T183" fmla="*/ 406 h 406"/>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T180" t="T181" r="T182" b="T183"/>
              <a:pathLst>
                <a:path w="833" h="406">
                  <a:moveTo>
                    <a:pt x="743" y="223"/>
                  </a:moveTo>
                  <a:lnTo>
                    <a:pt x="709" y="222"/>
                  </a:lnTo>
                  <a:lnTo>
                    <a:pt x="682" y="217"/>
                  </a:lnTo>
                  <a:lnTo>
                    <a:pt x="661" y="209"/>
                  </a:lnTo>
                  <a:lnTo>
                    <a:pt x="645" y="199"/>
                  </a:lnTo>
                  <a:lnTo>
                    <a:pt x="634" y="187"/>
                  </a:lnTo>
                  <a:lnTo>
                    <a:pt x="626" y="174"/>
                  </a:lnTo>
                  <a:lnTo>
                    <a:pt x="619" y="161"/>
                  </a:lnTo>
                  <a:lnTo>
                    <a:pt x="613" y="148"/>
                  </a:lnTo>
                  <a:lnTo>
                    <a:pt x="606" y="134"/>
                  </a:lnTo>
                  <a:lnTo>
                    <a:pt x="598" y="116"/>
                  </a:lnTo>
                  <a:lnTo>
                    <a:pt x="589" y="96"/>
                  </a:lnTo>
                  <a:lnTo>
                    <a:pt x="580" y="76"/>
                  </a:lnTo>
                  <a:lnTo>
                    <a:pt x="571" y="56"/>
                  </a:lnTo>
                  <a:lnTo>
                    <a:pt x="566" y="39"/>
                  </a:lnTo>
                  <a:lnTo>
                    <a:pt x="563" y="25"/>
                  </a:lnTo>
                  <a:lnTo>
                    <a:pt x="565" y="16"/>
                  </a:lnTo>
                  <a:lnTo>
                    <a:pt x="565" y="11"/>
                  </a:lnTo>
                  <a:lnTo>
                    <a:pt x="562" y="8"/>
                  </a:lnTo>
                  <a:lnTo>
                    <a:pt x="555" y="3"/>
                  </a:lnTo>
                  <a:lnTo>
                    <a:pt x="547" y="0"/>
                  </a:lnTo>
                  <a:lnTo>
                    <a:pt x="527" y="0"/>
                  </a:lnTo>
                  <a:lnTo>
                    <a:pt x="502" y="0"/>
                  </a:lnTo>
                  <a:lnTo>
                    <a:pt x="472" y="0"/>
                  </a:lnTo>
                  <a:lnTo>
                    <a:pt x="440" y="0"/>
                  </a:lnTo>
                  <a:lnTo>
                    <a:pt x="404" y="0"/>
                  </a:lnTo>
                  <a:lnTo>
                    <a:pt x="366" y="0"/>
                  </a:lnTo>
                  <a:lnTo>
                    <a:pt x="327" y="0"/>
                  </a:lnTo>
                  <a:lnTo>
                    <a:pt x="287" y="0"/>
                  </a:lnTo>
                  <a:lnTo>
                    <a:pt x="247" y="0"/>
                  </a:lnTo>
                  <a:lnTo>
                    <a:pt x="205" y="0"/>
                  </a:lnTo>
                  <a:lnTo>
                    <a:pt x="166" y="0"/>
                  </a:lnTo>
                  <a:lnTo>
                    <a:pt x="127" y="0"/>
                  </a:lnTo>
                  <a:lnTo>
                    <a:pt x="91" y="0"/>
                  </a:lnTo>
                  <a:lnTo>
                    <a:pt x="56" y="0"/>
                  </a:lnTo>
                  <a:lnTo>
                    <a:pt x="26" y="0"/>
                  </a:lnTo>
                  <a:lnTo>
                    <a:pt x="0" y="0"/>
                  </a:lnTo>
                  <a:lnTo>
                    <a:pt x="485" y="406"/>
                  </a:lnTo>
                  <a:lnTo>
                    <a:pt x="802" y="406"/>
                  </a:lnTo>
                  <a:lnTo>
                    <a:pt x="807" y="405"/>
                  </a:lnTo>
                  <a:lnTo>
                    <a:pt x="818" y="400"/>
                  </a:lnTo>
                  <a:lnTo>
                    <a:pt x="828" y="390"/>
                  </a:lnTo>
                  <a:lnTo>
                    <a:pt x="833" y="373"/>
                  </a:lnTo>
                  <a:lnTo>
                    <a:pt x="833" y="367"/>
                  </a:lnTo>
                  <a:lnTo>
                    <a:pt x="832" y="361"/>
                  </a:lnTo>
                  <a:lnTo>
                    <a:pt x="831" y="358"/>
                  </a:lnTo>
                  <a:lnTo>
                    <a:pt x="831" y="357"/>
                  </a:lnTo>
                  <a:lnTo>
                    <a:pt x="831" y="239"/>
                  </a:lnTo>
                  <a:lnTo>
                    <a:pt x="831" y="238"/>
                  </a:lnTo>
                  <a:lnTo>
                    <a:pt x="831" y="236"/>
                  </a:lnTo>
                  <a:lnTo>
                    <a:pt x="830" y="234"/>
                  </a:lnTo>
                  <a:lnTo>
                    <a:pt x="823" y="231"/>
                  </a:lnTo>
                  <a:lnTo>
                    <a:pt x="816" y="229"/>
                  </a:lnTo>
                  <a:lnTo>
                    <a:pt x="807" y="227"/>
                  </a:lnTo>
                  <a:lnTo>
                    <a:pt x="797" y="224"/>
                  </a:lnTo>
                  <a:lnTo>
                    <a:pt x="786" y="223"/>
                  </a:lnTo>
                  <a:lnTo>
                    <a:pt x="773" y="223"/>
                  </a:lnTo>
                  <a:lnTo>
                    <a:pt x="759" y="223"/>
                  </a:lnTo>
                  <a:lnTo>
                    <a:pt x="743" y="223"/>
                  </a:lnTo>
                  <a:close/>
                </a:path>
              </a:pathLst>
            </a:custGeom>
            <a:solidFill>
              <a:srgbClr val="FFC126"/>
            </a:solidFill>
            <a:ln w="9525">
              <a:noFill/>
              <a:round/>
            </a:ln>
          </p:spPr>
          <p:txBody>
            <a:bodyPr/>
            <a:lstStyle/>
            <a:p>
              <a:endParaRPr lang="en-US"/>
            </a:p>
          </p:txBody>
        </p:sp>
        <p:sp>
          <p:nvSpPr>
            <p:cNvPr id="1048805" name="Freeform 97"/>
            <p:cNvSpPr/>
            <p:nvPr/>
          </p:nvSpPr>
          <p:spPr bwMode="auto">
            <a:xfrm>
              <a:off x="2611" y="3908"/>
              <a:ext cx="43" cy="29"/>
            </a:xfrm>
            <a:custGeom>
              <a:avLst/>
              <a:gdLst>
                <a:gd name="T0" fmla="*/ 29 w 85"/>
                <a:gd name="T1" fmla="*/ 29 h 56"/>
                <a:gd name="T2" fmla="*/ 34 w 85"/>
                <a:gd name="T3" fmla="*/ 28 h 56"/>
                <a:gd name="T4" fmla="*/ 39 w 85"/>
                <a:gd name="T5" fmla="*/ 25 h 56"/>
                <a:gd name="T6" fmla="*/ 42 w 85"/>
                <a:gd name="T7" fmla="*/ 20 h 56"/>
                <a:gd name="T8" fmla="*/ 43 w 85"/>
                <a:gd name="T9" fmla="*/ 14 h 56"/>
                <a:gd name="T10" fmla="*/ 43 w 85"/>
                <a:gd name="T11" fmla="*/ 14 h 56"/>
                <a:gd name="T12" fmla="*/ 42 w 85"/>
                <a:gd name="T13" fmla="*/ 9 h 56"/>
                <a:gd name="T14" fmla="*/ 39 w 85"/>
                <a:gd name="T15" fmla="*/ 4 h 56"/>
                <a:gd name="T16" fmla="*/ 34 w 85"/>
                <a:gd name="T17" fmla="*/ 1 h 56"/>
                <a:gd name="T18" fmla="*/ 29 w 85"/>
                <a:gd name="T19" fmla="*/ 0 h 56"/>
                <a:gd name="T20" fmla="*/ 15 w 85"/>
                <a:gd name="T21" fmla="*/ 0 h 56"/>
                <a:gd name="T22" fmla="*/ 9 w 85"/>
                <a:gd name="T23" fmla="*/ 1 h 56"/>
                <a:gd name="T24" fmla="*/ 4 w 85"/>
                <a:gd name="T25" fmla="*/ 4 h 56"/>
                <a:gd name="T26" fmla="*/ 1 w 85"/>
                <a:gd name="T27" fmla="*/ 9 h 56"/>
                <a:gd name="T28" fmla="*/ 0 w 85"/>
                <a:gd name="T29" fmla="*/ 14 h 56"/>
                <a:gd name="T30" fmla="*/ 0 w 85"/>
                <a:gd name="T31" fmla="*/ 14 h 56"/>
                <a:gd name="T32" fmla="*/ 1 w 85"/>
                <a:gd name="T33" fmla="*/ 20 h 56"/>
                <a:gd name="T34" fmla="*/ 4 w 85"/>
                <a:gd name="T35" fmla="*/ 25 h 56"/>
                <a:gd name="T36" fmla="*/ 9 w 85"/>
                <a:gd name="T37" fmla="*/ 28 h 56"/>
                <a:gd name="T38" fmla="*/ 15 w 85"/>
                <a:gd name="T39" fmla="*/ 29 h 56"/>
                <a:gd name="T40" fmla="*/ 29 w 85"/>
                <a:gd name="T41" fmla="*/ 29 h 5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85"/>
                <a:gd name="T64" fmla="*/ 0 h 56"/>
                <a:gd name="T65" fmla="*/ 85 w 85"/>
                <a:gd name="T66" fmla="*/ 56 h 5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85" h="56">
                  <a:moveTo>
                    <a:pt x="57" y="56"/>
                  </a:moveTo>
                  <a:lnTo>
                    <a:pt x="68" y="54"/>
                  </a:lnTo>
                  <a:lnTo>
                    <a:pt x="77" y="48"/>
                  </a:lnTo>
                  <a:lnTo>
                    <a:pt x="83" y="39"/>
                  </a:lnTo>
                  <a:lnTo>
                    <a:pt x="85" y="27"/>
                  </a:lnTo>
                  <a:lnTo>
                    <a:pt x="83" y="17"/>
                  </a:lnTo>
                  <a:lnTo>
                    <a:pt x="77" y="8"/>
                  </a:lnTo>
                  <a:lnTo>
                    <a:pt x="68" y="2"/>
                  </a:lnTo>
                  <a:lnTo>
                    <a:pt x="57" y="0"/>
                  </a:lnTo>
                  <a:lnTo>
                    <a:pt x="29" y="0"/>
                  </a:lnTo>
                  <a:lnTo>
                    <a:pt x="17" y="2"/>
                  </a:lnTo>
                  <a:lnTo>
                    <a:pt x="8" y="8"/>
                  </a:lnTo>
                  <a:lnTo>
                    <a:pt x="2" y="17"/>
                  </a:lnTo>
                  <a:lnTo>
                    <a:pt x="0" y="27"/>
                  </a:lnTo>
                  <a:lnTo>
                    <a:pt x="2" y="39"/>
                  </a:lnTo>
                  <a:lnTo>
                    <a:pt x="8" y="48"/>
                  </a:lnTo>
                  <a:lnTo>
                    <a:pt x="17" y="54"/>
                  </a:lnTo>
                  <a:lnTo>
                    <a:pt x="29" y="56"/>
                  </a:lnTo>
                  <a:lnTo>
                    <a:pt x="57" y="56"/>
                  </a:lnTo>
                  <a:close/>
                </a:path>
              </a:pathLst>
            </a:custGeom>
            <a:solidFill>
              <a:srgbClr val="000000"/>
            </a:solidFill>
            <a:ln w="9525">
              <a:noFill/>
              <a:round/>
            </a:ln>
          </p:spPr>
          <p:txBody>
            <a:bodyPr/>
            <a:lstStyle/>
            <a:p>
              <a:endParaRPr lang="en-US"/>
            </a:p>
          </p:txBody>
        </p:sp>
        <p:sp>
          <p:nvSpPr>
            <p:cNvPr id="1048806" name="Freeform 98"/>
            <p:cNvSpPr/>
            <p:nvPr/>
          </p:nvSpPr>
          <p:spPr bwMode="auto">
            <a:xfrm>
              <a:off x="2155" y="3907"/>
              <a:ext cx="43" cy="28"/>
            </a:xfrm>
            <a:custGeom>
              <a:avLst/>
              <a:gdLst>
                <a:gd name="T0" fmla="*/ 29 w 87"/>
                <a:gd name="T1" fmla="*/ 28 h 57"/>
                <a:gd name="T2" fmla="*/ 35 w 87"/>
                <a:gd name="T3" fmla="*/ 27 h 57"/>
                <a:gd name="T4" fmla="*/ 39 w 87"/>
                <a:gd name="T5" fmla="*/ 24 h 57"/>
                <a:gd name="T6" fmla="*/ 42 w 87"/>
                <a:gd name="T7" fmla="*/ 19 h 57"/>
                <a:gd name="T8" fmla="*/ 43 w 87"/>
                <a:gd name="T9" fmla="*/ 14 h 57"/>
                <a:gd name="T10" fmla="*/ 43 w 87"/>
                <a:gd name="T11" fmla="*/ 14 h 57"/>
                <a:gd name="T12" fmla="*/ 42 w 87"/>
                <a:gd name="T13" fmla="*/ 9 h 57"/>
                <a:gd name="T14" fmla="*/ 39 w 87"/>
                <a:gd name="T15" fmla="*/ 4 h 57"/>
                <a:gd name="T16" fmla="*/ 35 w 87"/>
                <a:gd name="T17" fmla="*/ 1 h 57"/>
                <a:gd name="T18" fmla="*/ 29 w 87"/>
                <a:gd name="T19" fmla="*/ 0 h 57"/>
                <a:gd name="T20" fmla="*/ 14 w 87"/>
                <a:gd name="T21" fmla="*/ 0 h 57"/>
                <a:gd name="T22" fmla="*/ 9 w 87"/>
                <a:gd name="T23" fmla="*/ 1 h 57"/>
                <a:gd name="T24" fmla="*/ 4 w 87"/>
                <a:gd name="T25" fmla="*/ 4 h 57"/>
                <a:gd name="T26" fmla="*/ 1 w 87"/>
                <a:gd name="T27" fmla="*/ 9 h 57"/>
                <a:gd name="T28" fmla="*/ 0 w 87"/>
                <a:gd name="T29" fmla="*/ 14 h 57"/>
                <a:gd name="T30" fmla="*/ 0 w 87"/>
                <a:gd name="T31" fmla="*/ 14 h 57"/>
                <a:gd name="T32" fmla="*/ 1 w 87"/>
                <a:gd name="T33" fmla="*/ 19 h 57"/>
                <a:gd name="T34" fmla="*/ 4 w 87"/>
                <a:gd name="T35" fmla="*/ 24 h 57"/>
                <a:gd name="T36" fmla="*/ 9 w 87"/>
                <a:gd name="T37" fmla="*/ 27 h 57"/>
                <a:gd name="T38" fmla="*/ 14 w 87"/>
                <a:gd name="T39" fmla="*/ 28 h 57"/>
                <a:gd name="T40" fmla="*/ 29 w 87"/>
                <a:gd name="T41" fmla="*/ 28 h 57"/>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87"/>
                <a:gd name="T64" fmla="*/ 0 h 57"/>
                <a:gd name="T65" fmla="*/ 87 w 87"/>
                <a:gd name="T66" fmla="*/ 57 h 57"/>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87" h="57">
                  <a:moveTo>
                    <a:pt x="58" y="57"/>
                  </a:moveTo>
                  <a:lnTo>
                    <a:pt x="70" y="54"/>
                  </a:lnTo>
                  <a:lnTo>
                    <a:pt x="79" y="49"/>
                  </a:lnTo>
                  <a:lnTo>
                    <a:pt x="85" y="39"/>
                  </a:lnTo>
                  <a:lnTo>
                    <a:pt x="87" y="29"/>
                  </a:lnTo>
                  <a:lnTo>
                    <a:pt x="85" y="18"/>
                  </a:lnTo>
                  <a:lnTo>
                    <a:pt x="79" y="8"/>
                  </a:lnTo>
                  <a:lnTo>
                    <a:pt x="70" y="3"/>
                  </a:lnTo>
                  <a:lnTo>
                    <a:pt x="58" y="0"/>
                  </a:lnTo>
                  <a:lnTo>
                    <a:pt x="29" y="0"/>
                  </a:lnTo>
                  <a:lnTo>
                    <a:pt x="18" y="3"/>
                  </a:lnTo>
                  <a:lnTo>
                    <a:pt x="8" y="8"/>
                  </a:lnTo>
                  <a:lnTo>
                    <a:pt x="3" y="18"/>
                  </a:lnTo>
                  <a:lnTo>
                    <a:pt x="0" y="29"/>
                  </a:lnTo>
                  <a:lnTo>
                    <a:pt x="3" y="39"/>
                  </a:lnTo>
                  <a:lnTo>
                    <a:pt x="8" y="49"/>
                  </a:lnTo>
                  <a:lnTo>
                    <a:pt x="18" y="54"/>
                  </a:lnTo>
                  <a:lnTo>
                    <a:pt x="29" y="57"/>
                  </a:lnTo>
                  <a:lnTo>
                    <a:pt x="58" y="57"/>
                  </a:lnTo>
                  <a:close/>
                </a:path>
              </a:pathLst>
            </a:custGeom>
            <a:solidFill>
              <a:srgbClr val="000000"/>
            </a:solidFill>
            <a:ln w="9525">
              <a:noFill/>
              <a:round/>
            </a:ln>
          </p:spPr>
          <p:txBody>
            <a:bodyPr/>
            <a:lstStyle/>
            <a:p>
              <a:endParaRPr lang="en-US"/>
            </a:p>
          </p:txBody>
        </p:sp>
        <p:sp>
          <p:nvSpPr>
            <p:cNvPr id="1048807" name="Freeform 99"/>
            <p:cNvSpPr/>
            <p:nvPr/>
          </p:nvSpPr>
          <p:spPr bwMode="auto">
            <a:xfrm>
              <a:off x="2183" y="3723"/>
              <a:ext cx="274" cy="204"/>
            </a:xfrm>
            <a:custGeom>
              <a:avLst/>
              <a:gdLst>
                <a:gd name="T0" fmla="*/ 4 w 547"/>
                <a:gd name="T1" fmla="*/ 0 h 406"/>
                <a:gd name="T2" fmla="*/ 3 w 547"/>
                <a:gd name="T3" fmla="*/ 0 h 406"/>
                <a:gd name="T4" fmla="*/ 2 w 547"/>
                <a:gd name="T5" fmla="*/ 0 h 406"/>
                <a:gd name="T6" fmla="*/ 1 w 547"/>
                <a:gd name="T7" fmla="*/ 1 h 406"/>
                <a:gd name="T8" fmla="*/ 0 w 547"/>
                <a:gd name="T9" fmla="*/ 1 h 406"/>
                <a:gd name="T10" fmla="*/ 147 w 547"/>
                <a:gd name="T11" fmla="*/ 204 h 406"/>
                <a:gd name="T12" fmla="*/ 274 w 547"/>
                <a:gd name="T13" fmla="*/ 204 h 406"/>
                <a:gd name="T14" fmla="*/ 31 w 547"/>
                <a:gd name="T15" fmla="*/ 0 h 406"/>
                <a:gd name="T16" fmla="*/ 25 w 547"/>
                <a:gd name="T17" fmla="*/ 0 h 406"/>
                <a:gd name="T18" fmla="*/ 20 w 547"/>
                <a:gd name="T19" fmla="*/ 0 h 406"/>
                <a:gd name="T20" fmla="*/ 15 w 547"/>
                <a:gd name="T21" fmla="*/ 0 h 406"/>
                <a:gd name="T22" fmla="*/ 11 w 547"/>
                <a:gd name="T23" fmla="*/ 0 h 406"/>
                <a:gd name="T24" fmla="*/ 8 w 547"/>
                <a:gd name="T25" fmla="*/ 0 h 406"/>
                <a:gd name="T26" fmla="*/ 5 w 547"/>
                <a:gd name="T27" fmla="*/ 0 h 406"/>
                <a:gd name="T28" fmla="*/ 4 w 547"/>
                <a:gd name="T29" fmla="*/ 0 h 406"/>
                <a:gd name="T30" fmla="*/ 4 w 547"/>
                <a:gd name="T31" fmla="*/ 0 h 40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547"/>
                <a:gd name="T49" fmla="*/ 0 h 406"/>
                <a:gd name="T50" fmla="*/ 547 w 547"/>
                <a:gd name="T51" fmla="*/ 406 h 40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547" h="406">
                  <a:moveTo>
                    <a:pt x="7" y="0"/>
                  </a:moveTo>
                  <a:lnTo>
                    <a:pt x="5" y="0"/>
                  </a:lnTo>
                  <a:lnTo>
                    <a:pt x="4" y="0"/>
                  </a:lnTo>
                  <a:lnTo>
                    <a:pt x="2" y="1"/>
                  </a:lnTo>
                  <a:lnTo>
                    <a:pt x="0" y="2"/>
                  </a:lnTo>
                  <a:lnTo>
                    <a:pt x="294" y="406"/>
                  </a:lnTo>
                  <a:lnTo>
                    <a:pt x="547" y="406"/>
                  </a:lnTo>
                  <a:lnTo>
                    <a:pt x="62" y="0"/>
                  </a:lnTo>
                  <a:lnTo>
                    <a:pt x="49" y="0"/>
                  </a:lnTo>
                  <a:lnTo>
                    <a:pt x="39" y="0"/>
                  </a:lnTo>
                  <a:lnTo>
                    <a:pt x="30" y="0"/>
                  </a:lnTo>
                  <a:lnTo>
                    <a:pt x="22" y="0"/>
                  </a:lnTo>
                  <a:lnTo>
                    <a:pt x="15" y="0"/>
                  </a:lnTo>
                  <a:lnTo>
                    <a:pt x="10" y="0"/>
                  </a:lnTo>
                  <a:lnTo>
                    <a:pt x="8" y="0"/>
                  </a:lnTo>
                  <a:lnTo>
                    <a:pt x="7" y="0"/>
                  </a:lnTo>
                  <a:close/>
                </a:path>
              </a:pathLst>
            </a:custGeom>
            <a:solidFill>
              <a:srgbClr val="FFDB82"/>
            </a:solidFill>
            <a:ln w="9525">
              <a:noFill/>
              <a:round/>
            </a:ln>
          </p:spPr>
          <p:txBody>
            <a:bodyPr/>
            <a:lstStyle/>
            <a:p>
              <a:endParaRPr lang="en-US"/>
            </a:p>
          </p:txBody>
        </p:sp>
        <p:sp>
          <p:nvSpPr>
            <p:cNvPr id="1048808" name="Freeform 100"/>
            <p:cNvSpPr/>
            <p:nvPr/>
          </p:nvSpPr>
          <p:spPr bwMode="auto">
            <a:xfrm>
              <a:off x="2512" y="3727"/>
              <a:ext cx="68" cy="88"/>
            </a:xfrm>
            <a:custGeom>
              <a:avLst/>
              <a:gdLst>
                <a:gd name="T0" fmla="*/ 9 w 136"/>
                <a:gd name="T1" fmla="*/ 0 h 175"/>
                <a:gd name="T2" fmla="*/ 8 w 136"/>
                <a:gd name="T3" fmla="*/ 1 h 175"/>
                <a:gd name="T4" fmla="*/ 3 w 136"/>
                <a:gd name="T5" fmla="*/ 4 h 175"/>
                <a:gd name="T6" fmla="*/ 0 w 136"/>
                <a:gd name="T7" fmla="*/ 11 h 175"/>
                <a:gd name="T8" fmla="*/ 0 w 136"/>
                <a:gd name="T9" fmla="*/ 23 h 175"/>
                <a:gd name="T10" fmla="*/ 1 w 136"/>
                <a:gd name="T11" fmla="*/ 31 h 175"/>
                <a:gd name="T12" fmla="*/ 4 w 136"/>
                <a:gd name="T13" fmla="*/ 39 h 175"/>
                <a:gd name="T14" fmla="*/ 6 w 136"/>
                <a:gd name="T15" fmla="*/ 48 h 175"/>
                <a:gd name="T16" fmla="*/ 10 w 136"/>
                <a:gd name="T17" fmla="*/ 56 h 175"/>
                <a:gd name="T18" fmla="*/ 13 w 136"/>
                <a:gd name="T19" fmla="*/ 64 h 175"/>
                <a:gd name="T20" fmla="*/ 18 w 136"/>
                <a:gd name="T21" fmla="*/ 71 h 175"/>
                <a:gd name="T22" fmla="*/ 22 w 136"/>
                <a:gd name="T23" fmla="*/ 77 h 175"/>
                <a:gd name="T24" fmla="*/ 26 w 136"/>
                <a:gd name="T25" fmla="*/ 81 h 175"/>
                <a:gd name="T26" fmla="*/ 30 w 136"/>
                <a:gd name="T27" fmla="*/ 83 h 175"/>
                <a:gd name="T28" fmla="*/ 36 w 136"/>
                <a:gd name="T29" fmla="*/ 85 h 175"/>
                <a:gd name="T30" fmla="*/ 42 w 136"/>
                <a:gd name="T31" fmla="*/ 87 h 175"/>
                <a:gd name="T32" fmla="*/ 49 w 136"/>
                <a:gd name="T33" fmla="*/ 88 h 175"/>
                <a:gd name="T34" fmla="*/ 54 w 136"/>
                <a:gd name="T35" fmla="*/ 88 h 175"/>
                <a:gd name="T36" fmla="*/ 60 w 136"/>
                <a:gd name="T37" fmla="*/ 87 h 175"/>
                <a:gd name="T38" fmla="*/ 65 w 136"/>
                <a:gd name="T39" fmla="*/ 84 h 175"/>
                <a:gd name="T40" fmla="*/ 68 w 136"/>
                <a:gd name="T41" fmla="*/ 81 h 175"/>
                <a:gd name="T42" fmla="*/ 66 w 136"/>
                <a:gd name="T43" fmla="*/ 78 h 175"/>
                <a:gd name="T44" fmla="*/ 61 w 136"/>
                <a:gd name="T45" fmla="*/ 69 h 175"/>
                <a:gd name="T46" fmla="*/ 54 w 136"/>
                <a:gd name="T47" fmla="*/ 58 h 175"/>
                <a:gd name="T48" fmla="*/ 45 w 136"/>
                <a:gd name="T49" fmla="*/ 44 h 175"/>
                <a:gd name="T50" fmla="*/ 35 w 136"/>
                <a:gd name="T51" fmla="*/ 29 h 175"/>
                <a:gd name="T52" fmla="*/ 26 w 136"/>
                <a:gd name="T53" fmla="*/ 16 h 175"/>
                <a:gd name="T54" fmla="*/ 17 w 136"/>
                <a:gd name="T55" fmla="*/ 6 h 175"/>
                <a:gd name="T56" fmla="*/ 9 w 136"/>
                <a:gd name="T57" fmla="*/ 0 h 175"/>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136"/>
                <a:gd name="T88" fmla="*/ 0 h 175"/>
                <a:gd name="T89" fmla="*/ 136 w 136"/>
                <a:gd name="T90" fmla="*/ 175 h 175"/>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136" h="175">
                  <a:moveTo>
                    <a:pt x="19" y="0"/>
                  </a:moveTo>
                  <a:lnTo>
                    <a:pt x="16" y="1"/>
                  </a:lnTo>
                  <a:lnTo>
                    <a:pt x="7" y="8"/>
                  </a:lnTo>
                  <a:lnTo>
                    <a:pt x="0" y="22"/>
                  </a:lnTo>
                  <a:lnTo>
                    <a:pt x="0" y="46"/>
                  </a:lnTo>
                  <a:lnTo>
                    <a:pt x="3" y="62"/>
                  </a:lnTo>
                  <a:lnTo>
                    <a:pt x="8" y="78"/>
                  </a:lnTo>
                  <a:lnTo>
                    <a:pt x="13" y="95"/>
                  </a:lnTo>
                  <a:lnTo>
                    <a:pt x="20" y="111"/>
                  </a:lnTo>
                  <a:lnTo>
                    <a:pt x="27" y="128"/>
                  </a:lnTo>
                  <a:lnTo>
                    <a:pt x="37" y="141"/>
                  </a:lnTo>
                  <a:lnTo>
                    <a:pt x="45" y="153"/>
                  </a:lnTo>
                  <a:lnTo>
                    <a:pt x="53" y="161"/>
                  </a:lnTo>
                  <a:lnTo>
                    <a:pt x="61" y="166"/>
                  </a:lnTo>
                  <a:lnTo>
                    <a:pt x="72" y="170"/>
                  </a:lnTo>
                  <a:lnTo>
                    <a:pt x="84" y="174"/>
                  </a:lnTo>
                  <a:lnTo>
                    <a:pt x="98" y="175"/>
                  </a:lnTo>
                  <a:lnTo>
                    <a:pt x="109" y="175"/>
                  </a:lnTo>
                  <a:lnTo>
                    <a:pt x="121" y="173"/>
                  </a:lnTo>
                  <a:lnTo>
                    <a:pt x="130" y="168"/>
                  </a:lnTo>
                  <a:lnTo>
                    <a:pt x="136" y="161"/>
                  </a:lnTo>
                  <a:lnTo>
                    <a:pt x="132" y="155"/>
                  </a:lnTo>
                  <a:lnTo>
                    <a:pt x="122" y="138"/>
                  </a:lnTo>
                  <a:lnTo>
                    <a:pt x="108" y="115"/>
                  </a:lnTo>
                  <a:lnTo>
                    <a:pt x="90" y="87"/>
                  </a:lnTo>
                  <a:lnTo>
                    <a:pt x="71" y="58"/>
                  </a:lnTo>
                  <a:lnTo>
                    <a:pt x="52" y="32"/>
                  </a:lnTo>
                  <a:lnTo>
                    <a:pt x="34" y="11"/>
                  </a:lnTo>
                  <a:lnTo>
                    <a:pt x="19" y="0"/>
                  </a:lnTo>
                  <a:close/>
                </a:path>
              </a:pathLst>
            </a:custGeom>
            <a:solidFill>
              <a:srgbClr val="000000"/>
            </a:solidFill>
            <a:ln w="9525">
              <a:noFill/>
              <a:round/>
            </a:ln>
          </p:spPr>
          <p:txBody>
            <a:bodyPr/>
            <a:lstStyle/>
            <a:p>
              <a:endParaRPr lang="en-US"/>
            </a:p>
          </p:txBody>
        </p:sp>
        <p:sp>
          <p:nvSpPr>
            <p:cNvPr id="1048809" name="Freeform 101"/>
            <p:cNvSpPr/>
            <p:nvPr/>
          </p:nvSpPr>
          <p:spPr bwMode="auto">
            <a:xfrm>
              <a:off x="2525" y="3898"/>
              <a:ext cx="89" cy="90"/>
            </a:xfrm>
            <a:custGeom>
              <a:avLst/>
              <a:gdLst>
                <a:gd name="T0" fmla="*/ 44 w 179"/>
                <a:gd name="T1" fmla="*/ 90 h 180"/>
                <a:gd name="T2" fmla="*/ 53 w 179"/>
                <a:gd name="T3" fmla="*/ 89 h 180"/>
                <a:gd name="T4" fmla="*/ 61 w 179"/>
                <a:gd name="T5" fmla="*/ 87 h 180"/>
                <a:gd name="T6" fmla="*/ 70 w 179"/>
                <a:gd name="T7" fmla="*/ 83 h 180"/>
                <a:gd name="T8" fmla="*/ 76 w 179"/>
                <a:gd name="T9" fmla="*/ 77 h 180"/>
                <a:gd name="T10" fmla="*/ 82 w 179"/>
                <a:gd name="T11" fmla="*/ 70 h 180"/>
                <a:gd name="T12" fmla="*/ 86 w 179"/>
                <a:gd name="T13" fmla="*/ 62 h 180"/>
                <a:gd name="T14" fmla="*/ 88 w 179"/>
                <a:gd name="T15" fmla="*/ 54 h 180"/>
                <a:gd name="T16" fmla="*/ 89 w 179"/>
                <a:gd name="T17" fmla="*/ 45 h 180"/>
                <a:gd name="T18" fmla="*/ 88 w 179"/>
                <a:gd name="T19" fmla="*/ 36 h 180"/>
                <a:gd name="T20" fmla="*/ 86 w 179"/>
                <a:gd name="T21" fmla="*/ 27 h 180"/>
                <a:gd name="T22" fmla="*/ 82 w 179"/>
                <a:gd name="T23" fmla="*/ 20 h 180"/>
                <a:gd name="T24" fmla="*/ 76 w 179"/>
                <a:gd name="T25" fmla="*/ 13 h 180"/>
                <a:gd name="T26" fmla="*/ 70 w 179"/>
                <a:gd name="T27" fmla="*/ 7 h 180"/>
                <a:gd name="T28" fmla="*/ 61 w 179"/>
                <a:gd name="T29" fmla="*/ 3 h 180"/>
                <a:gd name="T30" fmla="*/ 53 w 179"/>
                <a:gd name="T31" fmla="*/ 1 h 180"/>
                <a:gd name="T32" fmla="*/ 44 w 179"/>
                <a:gd name="T33" fmla="*/ 0 h 180"/>
                <a:gd name="T34" fmla="*/ 35 w 179"/>
                <a:gd name="T35" fmla="*/ 1 h 180"/>
                <a:gd name="T36" fmla="*/ 27 w 179"/>
                <a:gd name="T37" fmla="*/ 3 h 180"/>
                <a:gd name="T38" fmla="*/ 19 w 179"/>
                <a:gd name="T39" fmla="*/ 7 h 180"/>
                <a:gd name="T40" fmla="*/ 13 w 179"/>
                <a:gd name="T41" fmla="*/ 13 h 180"/>
                <a:gd name="T42" fmla="*/ 7 w 179"/>
                <a:gd name="T43" fmla="*/ 20 h 180"/>
                <a:gd name="T44" fmla="*/ 3 w 179"/>
                <a:gd name="T45" fmla="*/ 27 h 180"/>
                <a:gd name="T46" fmla="*/ 1 w 179"/>
                <a:gd name="T47" fmla="*/ 36 h 180"/>
                <a:gd name="T48" fmla="*/ 0 w 179"/>
                <a:gd name="T49" fmla="*/ 45 h 180"/>
                <a:gd name="T50" fmla="*/ 1 w 179"/>
                <a:gd name="T51" fmla="*/ 54 h 180"/>
                <a:gd name="T52" fmla="*/ 3 w 179"/>
                <a:gd name="T53" fmla="*/ 62 h 180"/>
                <a:gd name="T54" fmla="*/ 7 w 179"/>
                <a:gd name="T55" fmla="*/ 70 h 180"/>
                <a:gd name="T56" fmla="*/ 13 w 179"/>
                <a:gd name="T57" fmla="*/ 77 h 180"/>
                <a:gd name="T58" fmla="*/ 19 w 179"/>
                <a:gd name="T59" fmla="*/ 83 h 180"/>
                <a:gd name="T60" fmla="*/ 27 w 179"/>
                <a:gd name="T61" fmla="*/ 87 h 180"/>
                <a:gd name="T62" fmla="*/ 35 w 179"/>
                <a:gd name="T63" fmla="*/ 89 h 180"/>
                <a:gd name="T64" fmla="*/ 44 w 179"/>
                <a:gd name="T65" fmla="*/ 90 h 180"/>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79"/>
                <a:gd name="T100" fmla="*/ 0 h 180"/>
                <a:gd name="T101" fmla="*/ 179 w 179"/>
                <a:gd name="T102" fmla="*/ 180 h 180"/>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79" h="180">
                  <a:moveTo>
                    <a:pt x="89" y="180"/>
                  </a:moveTo>
                  <a:lnTo>
                    <a:pt x="107" y="177"/>
                  </a:lnTo>
                  <a:lnTo>
                    <a:pt x="123" y="173"/>
                  </a:lnTo>
                  <a:lnTo>
                    <a:pt x="140" y="165"/>
                  </a:lnTo>
                  <a:lnTo>
                    <a:pt x="152" y="153"/>
                  </a:lnTo>
                  <a:lnTo>
                    <a:pt x="164" y="140"/>
                  </a:lnTo>
                  <a:lnTo>
                    <a:pt x="172" y="124"/>
                  </a:lnTo>
                  <a:lnTo>
                    <a:pt x="176" y="108"/>
                  </a:lnTo>
                  <a:lnTo>
                    <a:pt x="179" y="90"/>
                  </a:lnTo>
                  <a:lnTo>
                    <a:pt x="176" y="71"/>
                  </a:lnTo>
                  <a:lnTo>
                    <a:pt x="172" y="55"/>
                  </a:lnTo>
                  <a:lnTo>
                    <a:pt x="164" y="39"/>
                  </a:lnTo>
                  <a:lnTo>
                    <a:pt x="152" y="26"/>
                  </a:lnTo>
                  <a:lnTo>
                    <a:pt x="140" y="15"/>
                  </a:lnTo>
                  <a:lnTo>
                    <a:pt x="123" y="7"/>
                  </a:lnTo>
                  <a:lnTo>
                    <a:pt x="107" y="2"/>
                  </a:lnTo>
                  <a:lnTo>
                    <a:pt x="89" y="0"/>
                  </a:lnTo>
                  <a:lnTo>
                    <a:pt x="70" y="2"/>
                  </a:lnTo>
                  <a:lnTo>
                    <a:pt x="54" y="7"/>
                  </a:lnTo>
                  <a:lnTo>
                    <a:pt x="39" y="15"/>
                  </a:lnTo>
                  <a:lnTo>
                    <a:pt x="26" y="26"/>
                  </a:lnTo>
                  <a:lnTo>
                    <a:pt x="15" y="39"/>
                  </a:lnTo>
                  <a:lnTo>
                    <a:pt x="7" y="55"/>
                  </a:lnTo>
                  <a:lnTo>
                    <a:pt x="2" y="71"/>
                  </a:lnTo>
                  <a:lnTo>
                    <a:pt x="0" y="90"/>
                  </a:lnTo>
                  <a:lnTo>
                    <a:pt x="2" y="108"/>
                  </a:lnTo>
                  <a:lnTo>
                    <a:pt x="7" y="124"/>
                  </a:lnTo>
                  <a:lnTo>
                    <a:pt x="15" y="140"/>
                  </a:lnTo>
                  <a:lnTo>
                    <a:pt x="26" y="153"/>
                  </a:lnTo>
                  <a:lnTo>
                    <a:pt x="39" y="165"/>
                  </a:lnTo>
                  <a:lnTo>
                    <a:pt x="54" y="173"/>
                  </a:lnTo>
                  <a:lnTo>
                    <a:pt x="70" y="177"/>
                  </a:lnTo>
                  <a:lnTo>
                    <a:pt x="89" y="180"/>
                  </a:lnTo>
                  <a:close/>
                </a:path>
              </a:pathLst>
            </a:custGeom>
            <a:solidFill>
              <a:srgbClr val="000000"/>
            </a:solidFill>
            <a:ln w="9525">
              <a:noFill/>
              <a:round/>
            </a:ln>
          </p:spPr>
          <p:txBody>
            <a:bodyPr/>
            <a:lstStyle/>
            <a:p>
              <a:endParaRPr lang="en-US"/>
            </a:p>
          </p:txBody>
        </p:sp>
        <p:sp>
          <p:nvSpPr>
            <p:cNvPr id="1048810" name="Freeform 102"/>
            <p:cNvSpPr/>
            <p:nvPr/>
          </p:nvSpPr>
          <p:spPr bwMode="auto">
            <a:xfrm>
              <a:off x="2201" y="3898"/>
              <a:ext cx="90" cy="90"/>
            </a:xfrm>
            <a:custGeom>
              <a:avLst/>
              <a:gdLst>
                <a:gd name="T0" fmla="*/ 45 w 179"/>
                <a:gd name="T1" fmla="*/ 90 h 180"/>
                <a:gd name="T2" fmla="*/ 54 w 179"/>
                <a:gd name="T3" fmla="*/ 89 h 180"/>
                <a:gd name="T4" fmla="*/ 62 w 179"/>
                <a:gd name="T5" fmla="*/ 87 h 180"/>
                <a:gd name="T6" fmla="*/ 70 w 179"/>
                <a:gd name="T7" fmla="*/ 83 h 180"/>
                <a:gd name="T8" fmla="*/ 77 w 179"/>
                <a:gd name="T9" fmla="*/ 77 h 180"/>
                <a:gd name="T10" fmla="*/ 82 w 179"/>
                <a:gd name="T11" fmla="*/ 70 h 180"/>
                <a:gd name="T12" fmla="*/ 86 w 179"/>
                <a:gd name="T13" fmla="*/ 62 h 180"/>
                <a:gd name="T14" fmla="*/ 89 w 179"/>
                <a:gd name="T15" fmla="*/ 54 h 180"/>
                <a:gd name="T16" fmla="*/ 90 w 179"/>
                <a:gd name="T17" fmla="*/ 45 h 180"/>
                <a:gd name="T18" fmla="*/ 89 w 179"/>
                <a:gd name="T19" fmla="*/ 36 h 180"/>
                <a:gd name="T20" fmla="*/ 86 w 179"/>
                <a:gd name="T21" fmla="*/ 27 h 180"/>
                <a:gd name="T22" fmla="*/ 82 w 179"/>
                <a:gd name="T23" fmla="*/ 20 h 180"/>
                <a:gd name="T24" fmla="*/ 77 w 179"/>
                <a:gd name="T25" fmla="*/ 13 h 180"/>
                <a:gd name="T26" fmla="*/ 70 w 179"/>
                <a:gd name="T27" fmla="*/ 7 h 180"/>
                <a:gd name="T28" fmla="*/ 62 w 179"/>
                <a:gd name="T29" fmla="*/ 3 h 180"/>
                <a:gd name="T30" fmla="*/ 54 w 179"/>
                <a:gd name="T31" fmla="*/ 1 h 180"/>
                <a:gd name="T32" fmla="*/ 45 w 179"/>
                <a:gd name="T33" fmla="*/ 0 h 180"/>
                <a:gd name="T34" fmla="*/ 36 w 179"/>
                <a:gd name="T35" fmla="*/ 1 h 180"/>
                <a:gd name="T36" fmla="*/ 28 w 179"/>
                <a:gd name="T37" fmla="*/ 3 h 180"/>
                <a:gd name="T38" fmla="*/ 20 w 179"/>
                <a:gd name="T39" fmla="*/ 7 h 180"/>
                <a:gd name="T40" fmla="*/ 13 w 179"/>
                <a:gd name="T41" fmla="*/ 13 h 180"/>
                <a:gd name="T42" fmla="*/ 8 w 179"/>
                <a:gd name="T43" fmla="*/ 20 h 180"/>
                <a:gd name="T44" fmla="*/ 4 w 179"/>
                <a:gd name="T45" fmla="*/ 27 h 180"/>
                <a:gd name="T46" fmla="*/ 1 w 179"/>
                <a:gd name="T47" fmla="*/ 36 h 180"/>
                <a:gd name="T48" fmla="*/ 0 w 179"/>
                <a:gd name="T49" fmla="*/ 45 h 180"/>
                <a:gd name="T50" fmla="*/ 1 w 179"/>
                <a:gd name="T51" fmla="*/ 54 h 180"/>
                <a:gd name="T52" fmla="*/ 4 w 179"/>
                <a:gd name="T53" fmla="*/ 62 h 180"/>
                <a:gd name="T54" fmla="*/ 8 w 179"/>
                <a:gd name="T55" fmla="*/ 70 h 180"/>
                <a:gd name="T56" fmla="*/ 13 w 179"/>
                <a:gd name="T57" fmla="*/ 77 h 180"/>
                <a:gd name="T58" fmla="*/ 20 w 179"/>
                <a:gd name="T59" fmla="*/ 83 h 180"/>
                <a:gd name="T60" fmla="*/ 28 w 179"/>
                <a:gd name="T61" fmla="*/ 87 h 180"/>
                <a:gd name="T62" fmla="*/ 36 w 179"/>
                <a:gd name="T63" fmla="*/ 89 h 180"/>
                <a:gd name="T64" fmla="*/ 45 w 179"/>
                <a:gd name="T65" fmla="*/ 90 h 180"/>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79"/>
                <a:gd name="T100" fmla="*/ 0 h 180"/>
                <a:gd name="T101" fmla="*/ 179 w 179"/>
                <a:gd name="T102" fmla="*/ 180 h 180"/>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79" h="180">
                  <a:moveTo>
                    <a:pt x="89" y="180"/>
                  </a:moveTo>
                  <a:lnTo>
                    <a:pt x="108" y="177"/>
                  </a:lnTo>
                  <a:lnTo>
                    <a:pt x="124" y="173"/>
                  </a:lnTo>
                  <a:lnTo>
                    <a:pt x="140" y="165"/>
                  </a:lnTo>
                  <a:lnTo>
                    <a:pt x="153" y="153"/>
                  </a:lnTo>
                  <a:lnTo>
                    <a:pt x="164" y="140"/>
                  </a:lnTo>
                  <a:lnTo>
                    <a:pt x="172" y="124"/>
                  </a:lnTo>
                  <a:lnTo>
                    <a:pt x="177" y="108"/>
                  </a:lnTo>
                  <a:lnTo>
                    <a:pt x="179" y="90"/>
                  </a:lnTo>
                  <a:lnTo>
                    <a:pt x="177" y="71"/>
                  </a:lnTo>
                  <a:lnTo>
                    <a:pt x="172" y="55"/>
                  </a:lnTo>
                  <a:lnTo>
                    <a:pt x="164" y="39"/>
                  </a:lnTo>
                  <a:lnTo>
                    <a:pt x="153" y="26"/>
                  </a:lnTo>
                  <a:lnTo>
                    <a:pt x="140" y="15"/>
                  </a:lnTo>
                  <a:lnTo>
                    <a:pt x="124" y="7"/>
                  </a:lnTo>
                  <a:lnTo>
                    <a:pt x="108" y="2"/>
                  </a:lnTo>
                  <a:lnTo>
                    <a:pt x="89" y="0"/>
                  </a:lnTo>
                  <a:lnTo>
                    <a:pt x="71" y="2"/>
                  </a:lnTo>
                  <a:lnTo>
                    <a:pt x="55" y="7"/>
                  </a:lnTo>
                  <a:lnTo>
                    <a:pt x="39" y="15"/>
                  </a:lnTo>
                  <a:lnTo>
                    <a:pt x="26" y="26"/>
                  </a:lnTo>
                  <a:lnTo>
                    <a:pt x="15" y="39"/>
                  </a:lnTo>
                  <a:lnTo>
                    <a:pt x="7" y="55"/>
                  </a:lnTo>
                  <a:lnTo>
                    <a:pt x="2" y="71"/>
                  </a:lnTo>
                  <a:lnTo>
                    <a:pt x="0" y="90"/>
                  </a:lnTo>
                  <a:lnTo>
                    <a:pt x="2" y="108"/>
                  </a:lnTo>
                  <a:lnTo>
                    <a:pt x="7" y="124"/>
                  </a:lnTo>
                  <a:lnTo>
                    <a:pt x="15" y="140"/>
                  </a:lnTo>
                  <a:lnTo>
                    <a:pt x="26" y="153"/>
                  </a:lnTo>
                  <a:lnTo>
                    <a:pt x="39" y="165"/>
                  </a:lnTo>
                  <a:lnTo>
                    <a:pt x="55" y="173"/>
                  </a:lnTo>
                  <a:lnTo>
                    <a:pt x="71" y="177"/>
                  </a:lnTo>
                  <a:lnTo>
                    <a:pt x="89" y="180"/>
                  </a:lnTo>
                  <a:close/>
                </a:path>
              </a:pathLst>
            </a:custGeom>
            <a:solidFill>
              <a:srgbClr val="000000"/>
            </a:solidFill>
            <a:ln w="9525">
              <a:noFill/>
              <a:round/>
            </a:ln>
          </p:spPr>
          <p:txBody>
            <a:bodyPr/>
            <a:lstStyle/>
            <a:p>
              <a:endParaRPr lang="en-US"/>
            </a:p>
          </p:txBody>
        </p:sp>
        <p:sp>
          <p:nvSpPr>
            <p:cNvPr id="1048811" name="Freeform 103"/>
            <p:cNvSpPr/>
            <p:nvPr/>
          </p:nvSpPr>
          <p:spPr bwMode="auto">
            <a:xfrm>
              <a:off x="2227" y="3924"/>
              <a:ext cx="38" cy="37"/>
            </a:xfrm>
            <a:custGeom>
              <a:avLst/>
              <a:gdLst>
                <a:gd name="T0" fmla="*/ 19 w 75"/>
                <a:gd name="T1" fmla="*/ 37 h 75"/>
                <a:gd name="T2" fmla="*/ 24 w 75"/>
                <a:gd name="T3" fmla="*/ 36 h 75"/>
                <a:gd name="T4" fmla="*/ 27 w 75"/>
                <a:gd name="T5" fmla="*/ 36 h 75"/>
                <a:gd name="T6" fmla="*/ 30 w 75"/>
                <a:gd name="T7" fmla="*/ 34 h 75"/>
                <a:gd name="T8" fmla="*/ 33 w 75"/>
                <a:gd name="T9" fmla="*/ 32 h 75"/>
                <a:gd name="T10" fmla="*/ 35 w 75"/>
                <a:gd name="T11" fmla="*/ 29 h 75"/>
                <a:gd name="T12" fmla="*/ 37 w 75"/>
                <a:gd name="T13" fmla="*/ 26 h 75"/>
                <a:gd name="T14" fmla="*/ 37 w 75"/>
                <a:gd name="T15" fmla="*/ 23 h 75"/>
                <a:gd name="T16" fmla="*/ 38 w 75"/>
                <a:gd name="T17" fmla="*/ 19 h 75"/>
                <a:gd name="T18" fmla="*/ 37 w 75"/>
                <a:gd name="T19" fmla="*/ 15 h 75"/>
                <a:gd name="T20" fmla="*/ 37 w 75"/>
                <a:gd name="T21" fmla="*/ 11 h 75"/>
                <a:gd name="T22" fmla="*/ 35 w 75"/>
                <a:gd name="T23" fmla="*/ 8 h 75"/>
                <a:gd name="T24" fmla="*/ 33 w 75"/>
                <a:gd name="T25" fmla="*/ 5 h 75"/>
                <a:gd name="T26" fmla="*/ 30 w 75"/>
                <a:gd name="T27" fmla="*/ 3 h 75"/>
                <a:gd name="T28" fmla="*/ 27 w 75"/>
                <a:gd name="T29" fmla="*/ 1 h 75"/>
                <a:gd name="T30" fmla="*/ 24 w 75"/>
                <a:gd name="T31" fmla="*/ 0 h 75"/>
                <a:gd name="T32" fmla="*/ 19 w 75"/>
                <a:gd name="T33" fmla="*/ 0 h 75"/>
                <a:gd name="T34" fmla="*/ 15 w 75"/>
                <a:gd name="T35" fmla="*/ 0 h 75"/>
                <a:gd name="T36" fmla="*/ 12 w 75"/>
                <a:gd name="T37" fmla="*/ 1 h 75"/>
                <a:gd name="T38" fmla="*/ 9 w 75"/>
                <a:gd name="T39" fmla="*/ 3 h 75"/>
                <a:gd name="T40" fmla="*/ 6 w 75"/>
                <a:gd name="T41" fmla="*/ 5 h 75"/>
                <a:gd name="T42" fmla="*/ 4 w 75"/>
                <a:gd name="T43" fmla="*/ 8 h 75"/>
                <a:gd name="T44" fmla="*/ 2 w 75"/>
                <a:gd name="T45" fmla="*/ 11 h 75"/>
                <a:gd name="T46" fmla="*/ 1 w 75"/>
                <a:gd name="T47" fmla="*/ 15 h 75"/>
                <a:gd name="T48" fmla="*/ 0 w 75"/>
                <a:gd name="T49" fmla="*/ 19 h 75"/>
                <a:gd name="T50" fmla="*/ 1 w 75"/>
                <a:gd name="T51" fmla="*/ 23 h 75"/>
                <a:gd name="T52" fmla="*/ 2 w 75"/>
                <a:gd name="T53" fmla="*/ 26 h 75"/>
                <a:gd name="T54" fmla="*/ 4 w 75"/>
                <a:gd name="T55" fmla="*/ 29 h 75"/>
                <a:gd name="T56" fmla="*/ 6 w 75"/>
                <a:gd name="T57" fmla="*/ 32 h 75"/>
                <a:gd name="T58" fmla="*/ 9 w 75"/>
                <a:gd name="T59" fmla="*/ 34 h 75"/>
                <a:gd name="T60" fmla="*/ 12 w 75"/>
                <a:gd name="T61" fmla="*/ 36 h 75"/>
                <a:gd name="T62" fmla="*/ 15 w 75"/>
                <a:gd name="T63" fmla="*/ 36 h 75"/>
                <a:gd name="T64" fmla="*/ 19 w 75"/>
                <a:gd name="T65" fmla="*/ 37 h 75"/>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75"/>
                <a:gd name="T100" fmla="*/ 0 h 75"/>
                <a:gd name="T101" fmla="*/ 75 w 75"/>
                <a:gd name="T102" fmla="*/ 75 h 75"/>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75" h="75">
                  <a:moveTo>
                    <a:pt x="38" y="75"/>
                  </a:moveTo>
                  <a:lnTo>
                    <a:pt x="47" y="73"/>
                  </a:lnTo>
                  <a:lnTo>
                    <a:pt x="53" y="72"/>
                  </a:lnTo>
                  <a:lnTo>
                    <a:pt x="59" y="69"/>
                  </a:lnTo>
                  <a:lnTo>
                    <a:pt x="65" y="64"/>
                  </a:lnTo>
                  <a:lnTo>
                    <a:pt x="70" y="58"/>
                  </a:lnTo>
                  <a:lnTo>
                    <a:pt x="73" y="53"/>
                  </a:lnTo>
                  <a:lnTo>
                    <a:pt x="74" y="46"/>
                  </a:lnTo>
                  <a:lnTo>
                    <a:pt x="75" y="38"/>
                  </a:lnTo>
                  <a:lnTo>
                    <a:pt x="74" y="30"/>
                  </a:lnTo>
                  <a:lnTo>
                    <a:pt x="73" y="23"/>
                  </a:lnTo>
                  <a:lnTo>
                    <a:pt x="70" y="17"/>
                  </a:lnTo>
                  <a:lnTo>
                    <a:pt x="65" y="11"/>
                  </a:lnTo>
                  <a:lnTo>
                    <a:pt x="59" y="7"/>
                  </a:lnTo>
                  <a:lnTo>
                    <a:pt x="53" y="3"/>
                  </a:lnTo>
                  <a:lnTo>
                    <a:pt x="47" y="1"/>
                  </a:lnTo>
                  <a:lnTo>
                    <a:pt x="38" y="0"/>
                  </a:lnTo>
                  <a:lnTo>
                    <a:pt x="30" y="1"/>
                  </a:lnTo>
                  <a:lnTo>
                    <a:pt x="23" y="3"/>
                  </a:lnTo>
                  <a:lnTo>
                    <a:pt x="18" y="7"/>
                  </a:lnTo>
                  <a:lnTo>
                    <a:pt x="12" y="11"/>
                  </a:lnTo>
                  <a:lnTo>
                    <a:pt x="7" y="17"/>
                  </a:lnTo>
                  <a:lnTo>
                    <a:pt x="4" y="23"/>
                  </a:lnTo>
                  <a:lnTo>
                    <a:pt x="2" y="30"/>
                  </a:lnTo>
                  <a:lnTo>
                    <a:pt x="0" y="38"/>
                  </a:lnTo>
                  <a:lnTo>
                    <a:pt x="2" y="46"/>
                  </a:lnTo>
                  <a:lnTo>
                    <a:pt x="4" y="53"/>
                  </a:lnTo>
                  <a:lnTo>
                    <a:pt x="7" y="58"/>
                  </a:lnTo>
                  <a:lnTo>
                    <a:pt x="12" y="64"/>
                  </a:lnTo>
                  <a:lnTo>
                    <a:pt x="18" y="69"/>
                  </a:lnTo>
                  <a:lnTo>
                    <a:pt x="23" y="72"/>
                  </a:lnTo>
                  <a:lnTo>
                    <a:pt x="30" y="73"/>
                  </a:lnTo>
                  <a:lnTo>
                    <a:pt x="38" y="75"/>
                  </a:lnTo>
                  <a:close/>
                </a:path>
              </a:pathLst>
            </a:custGeom>
            <a:solidFill>
              <a:srgbClr val="7FFFFF"/>
            </a:solidFill>
            <a:ln w="9525">
              <a:noFill/>
              <a:round/>
            </a:ln>
          </p:spPr>
          <p:txBody>
            <a:bodyPr/>
            <a:lstStyle/>
            <a:p>
              <a:endParaRPr lang="en-US"/>
            </a:p>
          </p:txBody>
        </p:sp>
        <p:sp>
          <p:nvSpPr>
            <p:cNvPr id="1048812" name="Freeform 104"/>
            <p:cNvSpPr/>
            <p:nvPr/>
          </p:nvSpPr>
          <p:spPr bwMode="auto">
            <a:xfrm>
              <a:off x="2238" y="3935"/>
              <a:ext cx="16" cy="16"/>
            </a:xfrm>
            <a:custGeom>
              <a:avLst/>
              <a:gdLst>
                <a:gd name="T0" fmla="*/ 8 w 33"/>
                <a:gd name="T1" fmla="*/ 16 h 32"/>
                <a:gd name="T2" fmla="*/ 11 w 33"/>
                <a:gd name="T3" fmla="*/ 15 h 32"/>
                <a:gd name="T4" fmla="*/ 14 w 33"/>
                <a:gd name="T5" fmla="*/ 13 h 32"/>
                <a:gd name="T6" fmla="*/ 15 w 33"/>
                <a:gd name="T7" fmla="*/ 11 h 32"/>
                <a:gd name="T8" fmla="*/ 16 w 33"/>
                <a:gd name="T9" fmla="*/ 8 h 32"/>
                <a:gd name="T10" fmla="*/ 15 w 33"/>
                <a:gd name="T11" fmla="*/ 4 h 32"/>
                <a:gd name="T12" fmla="*/ 14 w 33"/>
                <a:gd name="T13" fmla="*/ 2 h 32"/>
                <a:gd name="T14" fmla="*/ 11 w 33"/>
                <a:gd name="T15" fmla="*/ 1 h 32"/>
                <a:gd name="T16" fmla="*/ 8 w 33"/>
                <a:gd name="T17" fmla="*/ 0 h 32"/>
                <a:gd name="T18" fmla="*/ 5 w 33"/>
                <a:gd name="T19" fmla="*/ 1 h 32"/>
                <a:gd name="T20" fmla="*/ 2 w 33"/>
                <a:gd name="T21" fmla="*/ 2 h 32"/>
                <a:gd name="T22" fmla="*/ 0 w 33"/>
                <a:gd name="T23" fmla="*/ 4 h 32"/>
                <a:gd name="T24" fmla="*/ 0 w 33"/>
                <a:gd name="T25" fmla="*/ 8 h 32"/>
                <a:gd name="T26" fmla="*/ 0 w 33"/>
                <a:gd name="T27" fmla="*/ 11 h 32"/>
                <a:gd name="T28" fmla="*/ 2 w 33"/>
                <a:gd name="T29" fmla="*/ 13 h 32"/>
                <a:gd name="T30" fmla="*/ 5 w 33"/>
                <a:gd name="T31" fmla="*/ 15 h 32"/>
                <a:gd name="T32" fmla="*/ 8 w 33"/>
                <a:gd name="T33" fmla="*/ 16 h 32"/>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33"/>
                <a:gd name="T52" fmla="*/ 0 h 32"/>
                <a:gd name="T53" fmla="*/ 33 w 33"/>
                <a:gd name="T54" fmla="*/ 32 h 32"/>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33" h="32">
                  <a:moveTo>
                    <a:pt x="16" y="32"/>
                  </a:moveTo>
                  <a:lnTo>
                    <a:pt x="23" y="31"/>
                  </a:lnTo>
                  <a:lnTo>
                    <a:pt x="28" y="27"/>
                  </a:lnTo>
                  <a:lnTo>
                    <a:pt x="31" y="23"/>
                  </a:lnTo>
                  <a:lnTo>
                    <a:pt x="33" y="16"/>
                  </a:lnTo>
                  <a:lnTo>
                    <a:pt x="31" y="9"/>
                  </a:lnTo>
                  <a:lnTo>
                    <a:pt x="28" y="4"/>
                  </a:lnTo>
                  <a:lnTo>
                    <a:pt x="23" y="1"/>
                  </a:lnTo>
                  <a:lnTo>
                    <a:pt x="16" y="0"/>
                  </a:lnTo>
                  <a:lnTo>
                    <a:pt x="10" y="1"/>
                  </a:lnTo>
                  <a:lnTo>
                    <a:pt x="5" y="4"/>
                  </a:lnTo>
                  <a:lnTo>
                    <a:pt x="1" y="9"/>
                  </a:lnTo>
                  <a:lnTo>
                    <a:pt x="0" y="16"/>
                  </a:lnTo>
                  <a:lnTo>
                    <a:pt x="1" y="23"/>
                  </a:lnTo>
                  <a:lnTo>
                    <a:pt x="5" y="27"/>
                  </a:lnTo>
                  <a:lnTo>
                    <a:pt x="10" y="31"/>
                  </a:lnTo>
                  <a:lnTo>
                    <a:pt x="16" y="32"/>
                  </a:lnTo>
                  <a:close/>
                </a:path>
              </a:pathLst>
            </a:custGeom>
            <a:solidFill>
              <a:srgbClr val="000000"/>
            </a:solidFill>
            <a:ln w="9525">
              <a:noFill/>
              <a:round/>
            </a:ln>
          </p:spPr>
          <p:txBody>
            <a:bodyPr/>
            <a:lstStyle/>
            <a:p>
              <a:endParaRPr lang="en-US"/>
            </a:p>
          </p:txBody>
        </p:sp>
        <p:sp>
          <p:nvSpPr>
            <p:cNvPr id="1048813" name="Freeform 105"/>
            <p:cNvSpPr/>
            <p:nvPr/>
          </p:nvSpPr>
          <p:spPr bwMode="auto">
            <a:xfrm>
              <a:off x="2552" y="3924"/>
              <a:ext cx="37" cy="37"/>
            </a:xfrm>
            <a:custGeom>
              <a:avLst/>
              <a:gdLst>
                <a:gd name="T0" fmla="*/ 19 w 75"/>
                <a:gd name="T1" fmla="*/ 37 h 75"/>
                <a:gd name="T2" fmla="*/ 23 w 75"/>
                <a:gd name="T3" fmla="*/ 36 h 75"/>
                <a:gd name="T4" fmla="*/ 26 w 75"/>
                <a:gd name="T5" fmla="*/ 36 h 75"/>
                <a:gd name="T6" fmla="*/ 29 w 75"/>
                <a:gd name="T7" fmla="*/ 34 h 75"/>
                <a:gd name="T8" fmla="*/ 32 w 75"/>
                <a:gd name="T9" fmla="*/ 32 h 75"/>
                <a:gd name="T10" fmla="*/ 34 w 75"/>
                <a:gd name="T11" fmla="*/ 29 h 75"/>
                <a:gd name="T12" fmla="*/ 36 w 75"/>
                <a:gd name="T13" fmla="*/ 26 h 75"/>
                <a:gd name="T14" fmla="*/ 37 w 75"/>
                <a:gd name="T15" fmla="*/ 23 h 75"/>
                <a:gd name="T16" fmla="*/ 37 w 75"/>
                <a:gd name="T17" fmla="*/ 19 h 75"/>
                <a:gd name="T18" fmla="*/ 37 w 75"/>
                <a:gd name="T19" fmla="*/ 15 h 75"/>
                <a:gd name="T20" fmla="*/ 36 w 75"/>
                <a:gd name="T21" fmla="*/ 11 h 75"/>
                <a:gd name="T22" fmla="*/ 34 w 75"/>
                <a:gd name="T23" fmla="*/ 8 h 75"/>
                <a:gd name="T24" fmla="*/ 32 w 75"/>
                <a:gd name="T25" fmla="*/ 5 h 75"/>
                <a:gd name="T26" fmla="*/ 29 w 75"/>
                <a:gd name="T27" fmla="*/ 3 h 75"/>
                <a:gd name="T28" fmla="*/ 26 w 75"/>
                <a:gd name="T29" fmla="*/ 1 h 75"/>
                <a:gd name="T30" fmla="*/ 23 w 75"/>
                <a:gd name="T31" fmla="*/ 0 h 75"/>
                <a:gd name="T32" fmla="*/ 19 w 75"/>
                <a:gd name="T33" fmla="*/ 0 h 75"/>
                <a:gd name="T34" fmla="*/ 15 w 75"/>
                <a:gd name="T35" fmla="*/ 0 h 75"/>
                <a:gd name="T36" fmla="*/ 11 w 75"/>
                <a:gd name="T37" fmla="*/ 1 h 75"/>
                <a:gd name="T38" fmla="*/ 8 w 75"/>
                <a:gd name="T39" fmla="*/ 3 h 75"/>
                <a:gd name="T40" fmla="*/ 6 w 75"/>
                <a:gd name="T41" fmla="*/ 5 h 75"/>
                <a:gd name="T42" fmla="*/ 3 w 75"/>
                <a:gd name="T43" fmla="*/ 8 h 75"/>
                <a:gd name="T44" fmla="*/ 2 w 75"/>
                <a:gd name="T45" fmla="*/ 11 h 75"/>
                <a:gd name="T46" fmla="*/ 0 w 75"/>
                <a:gd name="T47" fmla="*/ 15 h 75"/>
                <a:gd name="T48" fmla="*/ 0 w 75"/>
                <a:gd name="T49" fmla="*/ 19 h 75"/>
                <a:gd name="T50" fmla="*/ 0 w 75"/>
                <a:gd name="T51" fmla="*/ 23 h 75"/>
                <a:gd name="T52" fmla="*/ 2 w 75"/>
                <a:gd name="T53" fmla="*/ 26 h 75"/>
                <a:gd name="T54" fmla="*/ 3 w 75"/>
                <a:gd name="T55" fmla="*/ 29 h 75"/>
                <a:gd name="T56" fmla="*/ 6 w 75"/>
                <a:gd name="T57" fmla="*/ 32 h 75"/>
                <a:gd name="T58" fmla="*/ 8 w 75"/>
                <a:gd name="T59" fmla="*/ 34 h 75"/>
                <a:gd name="T60" fmla="*/ 11 w 75"/>
                <a:gd name="T61" fmla="*/ 36 h 75"/>
                <a:gd name="T62" fmla="*/ 15 w 75"/>
                <a:gd name="T63" fmla="*/ 36 h 75"/>
                <a:gd name="T64" fmla="*/ 19 w 75"/>
                <a:gd name="T65" fmla="*/ 37 h 75"/>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75"/>
                <a:gd name="T100" fmla="*/ 0 h 75"/>
                <a:gd name="T101" fmla="*/ 75 w 75"/>
                <a:gd name="T102" fmla="*/ 75 h 75"/>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75" h="75">
                  <a:moveTo>
                    <a:pt x="38" y="75"/>
                  </a:moveTo>
                  <a:lnTo>
                    <a:pt x="46" y="73"/>
                  </a:lnTo>
                  <a:lnTo>
                    <a:pt x="53" y="72"/>
                  </a:lnTo>
                  <a:lnTo>
                    <a:pt x="59" y="69"/>
                  </a:lnTo>
                  <a:lnTo>
                    <a:pt x="65" y="64"/>
                  </a:lnTo>
                  <a:lnTo>
                    <a:pt x="69" y="58"/>
                  </a:lnTo>
                  <a:lnTo>
                    <a:pt x="73" y="53"/>
                  </a:lnTo>
                  <a:lnTo>
                    <a:pt x="74" y="46"/>
                  </a:lnTo>
                  <a:lnTo>
                    <a:pt x="75" y="38"/>
                  </a:lnTo>
                  <a:lnTo>
                    <a:pt x="74" y="30"/>
                  </a:lnTo>
                  <a:lnTo>
                    <a:pt x="73" y="23"/>
                  </a:lnTo>
                  <a:lnTo>
                    <a:pt x="69" y="17"/>
                  </a:lnTo>
                  <a:lnTo>
                    <a:pt x="65" y="11"/>
                  </a:lnTo>
                  <a:lnTo>
                    <a:pt x="59" y="7"/>
                  </a:lnTo>
                  <a:lnTo>
                    <a:pt x="53" y="3"/>
                  </a:lnTo>
                  <a:lnTo>
                    <a:pt x="46" y="1"/>
                  </a:lnTo>
                  <a:lnTo>
                    <a:pt x="38" y="0"/>
                  </a:lnTo>
                  <a:lnTo>
                    <a:pt x="30" y="1"/>
                  </a:lnTo>
                  <a:lnTo>
                    <a:pt x="23" y="3"/>
                  </a:lnTo>
                  <a:lnTo>
                    <a:pt x="17" y="7"/>
                  </a:lnTo>
                  <a:lnTo>
                    <a:pt x="12" y="11"/>
                  </a:lnTo>
                  <a:lnTo>
                    <a:pt x="7" y="17"/>
                  </a:lnTo>
                  <a:lnTo>
                    <a:pt x="4" y="23"/>
                  </a:lnTo>
                  <a:lnTo>
                    <a:pt x="1" y="30"/>
                  </a:lnTo>
                  <a:lnTo>
                    <a:pt x="0" y="38"/>
                  </a:lnTo>
                  <a:lnTo>
                    <a:pt x="1" y="46"/>
                  </a:lnTo>
                  <a:lnTo>
                    <a:pt x="4" y="53"/>
                  </a:lnTo>
                  <a:lnTo>
                    <a:pt x="7" y="58"/>
                  </a:lnTo>
                  <a:lnTo>
                    <a:pt x="12" y="64"/>
                  </a:lnTo>
                  <a:lnTo>
                    <a:pt x="17" y="69"/>
                  </a:lnTo>
                  <a:lnTo>
                    <a:pt x="23" y="72"/>
                  </a:lnTo>
                  <a:lnTo>
                    <a:pt x="30" y="73"/>
                  </a:lnTo>
                  <a:lnTo>
                    <a:pt x="38" y="75"/>
                  </a:lnTo>
                  <a:close/>
                </a:path>
              </a:pathLst>
            </a:custGeom>
            <a:solidFill>
              <a:srgbClr val="7FFFFF"/>
            </a:solidFill>
            <a:ln w="9525">
              <a:noFill/>
              <a:round/>
            </a:ln>
          </p:spPr>
          <p:txBody>
            <a:bodyPr/>
            <a:lstStyle/>
            <a:p>
              <a:endParaRPr lang="en-US"/>
            </a:p>
          </p:txBody>
        </p:sp>
        <p:sp>
          <p:nvSpPr>
            <p:cNvPr id="1048814" name="Freeform 106"/>
            <p:cNvSpPr/>
            <p:nvPr/>
          </p:nvSpPr>
          <p:spPr bwMode="auto">
            <a:xfrm>
              <a:off x="2563" y="3935"/>
              <a:ext cx="16" cy="16"/>
            </a:xfrm>
            <a:custGeom>
              <a:avLst/>
              <a:gdLst>
                <a:gd name="T0" fmla="*/ 8 w 32"/>
                <a:gd name="T1" fmla="*/ 16 h 32"/>
                <a:gd name="T2" fmla="*/ 11 w 32"/>
                <a:gd name="T3" fmla="*/ 15 h 32"/>
                <a:gd name="T4" fmla="*/ 14 w 32"/>
                <a:gd name="T5" fmla="*/ 13 h 32"/>
                <a:gd name="T6" fmla="*/ 15 w 32"/>
                <a:gd name="T7" fmla="*/ 11 h 32"/>
                <a:gd name="T8" fmla="*/ 16 w 32"/>
                <a:gd name="T9" fmla="*/ 8 h 32"/>
                <a:gd name="T10" fmla="*/ 15 w 32"/>
                <a:gd name="T11" fmla="*/ 4 h 32"/>
                <a:gd name="T12" fmla="*/ 14 w 32"/>
                <a:gd name="T13" fmla="*/ 2 h 32"/>
                <a:gd name="T14" fmla="*/ 11 w 32"/>
                <a:gd name="T15" fmla="*/ 1 h 32"/>
                <a:gd name="T16" fmla="*/ 8 w 32"/>
                <a:gd name="T17" fmla="*/ 0 h 32"/>
                <a:gd name="T18" fmla="*/ 4 w 32"/>
                <a:gd name="T19" fmla="*/ 1 h 32"/>
                <a:gd name="T20" fmla="*/ 2 w 32"/>
                <a:gd name="T21" fmla="*/ 2 h 32"/>
                <a:gd name="T22" fmla="*/ 1 w 32"/>
                <a:gd name="T23" fmla="*/ 4 h 32"/>
                <a:gd name="T24" fmla="*/ 0 w 32"/>
                <a:gd name="T25" fmla="*/ 8 h 32"/>
                <a:gd name="T26" fmla="*/ 1 w 32"/>
                <a:gd name="T27" fmla="*/ 11 h 32"/>
                <a:gd name="T28" fmla="*/ 2 w 32"/>
                <a:gd name="T29" fmla="*/ 13 h 32"/>
                <a:gd name="T30" fmla="*/ 4 w 32"/>
                <a:gd name="T31" fmla="*/ 15 h 32"/>
                <a:gd name="T32" fmla="*/ 8 w 32"/>
                <a:gd name="T33" fmla="*/ 16 h 32"/>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32"/>
                <a:gd name="T52" fmla="*/ 0 h 32"/>
                <a:gd name="T53" fmla="*/ 32 w 32"/>
                <a:gd name="T54" fmla="*/ 32 h 32"/>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32" h="32">
                  <a:moveTo>
                    <a:pt x="16" y="32"/>
                  </a:moveTo>
                  <a:lnTo>
                    <a:pt x="23" y="31"/>
                  </a:lnTo>
                  <a:lnTo>
                    <a:pt x="28" y="27"/>
                  </a:lnTo>
                  <a:lnTo>
                    <a:pt x="31" y="23"/>
                  </a:lnTo>
                  <a:lnTo>
                    <a:pt x="32" y="16"/>
                  </a:lnTo>
                  <a:lnTo>
                    <a:pt x="31" y="9"/>
                  </a:lnTo>
                  <a:lnTo>
                    <a:pt x="28" y="4"/>
                  </a:lnTo>
                  <a:lnTo>
                    <a:pt x="23" y="1"/>
                  </a:lnTo>
                  <a:lnTo>
                    <a:pt x="16" y="0"/>
                  </a:lnTo>
                  <a:lnTo>
                    <a:pt x="9" y="1"/>
                  </a:lnTo>
                  <a:lnTo>
                    <a:pt x="5" y="4"/>
                  </a:lnTo>
                  <a:lnTo>
                    <a:pt x="1" y="9"/>
                  </a:lnTo>
                  <a:lnTo>
                    <a:pt x="0" y="16"/>
                  </a:lnTo>
                  <a:lnTo>
                    <a:pt x="1" y="23"/>
                  </a:lnTo>
                  <a:lnTo>
                    <a:pt x="5" y="27"/>
                  </a:lnTo>
                  <a:lnTo>
                    <a:pt x="9" y="31"/>
                  </a:lnTo>
                  <a:lnTo>
                    <a:pt x="16" y="32"/>
                  </a:lnTo>
                  <a:close/>
                </a:path>
              </a:pathLst>
            </a:custGeom>
            <a:solidFill>
              <a:srgbClr val="000000"/>
            </a:solidFill>
            <a:ln w="9525">
              <a:noFill/>
              <a:round/>
            </a:ln>
          </p:spPr>
          <p:txBody>
            <a:bodyPr/>
            <a:lstStyle/>
            <a:p>
              <a:endParaRPr lang="en-US"/>
            </a:p>
          </p:txBody>
        </p:sp>
        <p:sp>
          <p:nvSpPr>
            <p:cNvPr id="1048815" name="Freeform 107"/>
            <p:cNvSpPr/>
            <p:nvPr/>
          </p:nvSpPr>
          <p:spPr bwMode="auto">
            <a:xfrm>
              <a:off x="2616" y="3843"/>
              <a:ext cx="24" cy="39"/>
            </a:xfrm>
            <a:custGeom>
              <a:avLst/>
              <a:gdLst>
                <a:gd name="T0" fmla="*/ 12 w 47"/>
                <a:gd name="T1" fmla="*/ 39 h 78"/>
                <a:gd name="T2" fmla="*/ 17 w 47"/>
                <a:gd name="T3" fmla="*/ 37 h 78"/>
                <a:gd name="T4" fmla="*/ 21 w 47"/>
                <a:gd name="T5" fmla="*/ 33 h 78"/>
                <a:gd name="T6" fmla="*/ 23 w 47"/>
                <a:gd name="T7" fmla="*/ 26 h 78"/>
                <a:gd name="T8" fmla="*/ 24 w 47"/>
                <a:gd name="T9" fmla="*/ 19 h 78"/>
                <a:gd name="T10" fmla="*/ 23 w 47"/>
                <a:gd name="T11" fmla="*/ 11 h 78"/>
                <a:gd name="T12" fmla="*/ 21 w 47"/>
                <a:gd name="T13" fmla="*/ 6 h 78"/>
                <a:gd name="T14" fmla="*/ 17 w 47"/>
                <a:gd name="T15" fmla="*/ 2 h 78"/>
                <a:gd name="T16" fmla="*/ 12 w 47"/>
                <a:gd name="T17" fmla="*/ 0 h 78"/>
                <a:gd name="T18" fmla="*/ 8 w 47"/>
                <a:gd name="T19" fmla="*/ 2 h 78"/>
                <a:gd name="T20" fmla="*/ 4 w 47"/>
                <a:gd name="T21" fmla="*/ 6 h 78"/>
                <a:gd name="T22" fmla="*/ 2 w 47"/>
                <a:gd name="T23" fmla="*/ 11 h 78"/>
                <a:gd name="T24" fmla="*/ 0 w 47"/>
                <a:gd name="T25" fmla="*/ 19 h 78"/>
                <a:gd name="T26" fmla="*/ 2 w 47"/>
                <a:gd name="T27" fmla="*/ 26 h 78"/>
                <a:gd name="T28" fmla="*/ 4 w 47"/>
                <a:gd name="T29" fmla="*/ 33 h 78"/>
                <a:gd name="T30" fmla="*/ 8 w 47"/>
                <a:gd name="T31" fmla="*/ 37 h 78"/>
                <a:gd name="T32" fmla="*/ 12 w 47"/>
                <a:gd name="T33" fmla="*/ 39 h 78"/>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47"/>
                <a:gd name="T52" fmla="*/ 0 h 78"/>
                <a:gd name="T53" fmla="*/ 47 w 47"/>
                <a:gd name="T54" fmla="*/ 78 h 78"/>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47" h="78">
                  <a:moveTo>
                    <a:pt x="24" y="78"/>
                  </a:moveTo>
                  <a:lnTo>
                    <a:pt x="34" y="74"/>
                  </a:lnTo>
                  <a:lnTo>
                    <a:pt x="41" y="66"/>
                  </a:lnTo>
                  <a:lnTo>
                    <a:pt x="45" y="53"/>
                  </a:lnTo>
                  <a:lnTo>
                    <a:pt x="47" y="38"/>
                  </a:lnTo>
                  <a:lnTo>
                    <a:pt x="45" y="23"/>
                  </a:lnTo>
                  <a:lnTo>
                    <a:pt x="41" y="12"/>
                  </a:lnTo>
                  <a:lnTo>
                    <a:pt x="34" y="4"/>
                  </a:lnTo>
                  <a:lnTo>
                    <a:pt x="24" y="0"/>
                  </a:lnTo>
                  <a:lnTo>
                    <a:pt x="15" y="4"/>
                  </a:lnTo>
                  <a:lnTo>
                    <a:pt x="7" y="12"/>
                  </a:lnTo>
                  <a:lnTo>
                    <a:pt x="3" y="23"/>
                  </a:lnTo>
                  <a:lnTo>
                    <a:pt x="0" y="38"/>
                  </a:lnTo>
                  <a:lnTo>
                    <a:pt x="3" y="53"/>
                  </a:lnTo>
                  <a:lnTo>
                    <a:pt x="7" y="66"/>
                  </a:lnTo>
                  <a:lnTo>
                    <a:pt x="15" y="74"/>
                  </a:lnTo>
                  <a:lnTo>
                    <a:pt x="24" y="78"/>
                  </a:lnTo>
                  <a:close/>
                </a:path>
              </a:pathLst>
            </a:custGeom>
            <a:solidFill>
              <a:srgbClr val="000000"/>
            </a:solidFill>
            <a:ln w="9525">
              <a:noFill/>
              <a:round/>
            </a:ln>
          </p:spPr>
          <p:txBody>
            <a:bodyPr/>
            <a:lstStyle/>
            <a:p>
              <a:endParaRPr lang="en-US"/>
            </a:p>
          </p:txBody>
        </p:sp>
        <p:sp>
          <p:nvSpPr>
            <p:cNvPr id="1048816" name="Freeform 108"/>
            <p:cNvSpPr/>
            <p:nvPr/>
          </p:nvSpPr>
          <p:spPr bwMode="auto">
            <a:xfrm>
              <a:off x="2625" y="3852"/>
              <a:ext cx="10" cy="21"/>
            </a:xfrm>
            <a:custGeom>
              <a:avLst/>
              <a:gdLst>
                <a:gd name="T0" fmla="*/ 5 w 18"/>
                <a:gd name="T1" fmla="*/ 21 h 40"/>
                <a:gd name="T2" fmla="*/ 7 w 18"/>
                <a:gd name="T3" fmla="*/ 20 h 40"/>
                <a:gd name="T4" fmla="*/ 9 w 18"/>
                <a:gd name="T5" fmla="*/ 18 h 40"/>
                <a:gd name="T6" fmla="*/ 9 w 18"/>
                <a:gd name="T7" fmla="*/ 14 h 40"/>
                <a:gd name="T8" fmla="*/ 10 w 18"/>
                <a:gd name="T9" fmla="*/ 10 h 40"/>
                <a:gd name="T10" fmla="*/ 9 w 18"/>
                <a:gd name="T11" fmla="*/ 6 h 40"/>
                <a:gd name="T12" fmla="*/ 9 w 18"/>
                <a:gd name="T13" fmla="*/ 3 h 40"/>
                <a:gd name="T14" fmla="*/ 7 w 18"/>
                <a:gd name="T15" fmla="*/ 1 h 40"/>
                <a:gd name="T16" fmla="*/ 5 w 18"/>
                <a:gd name="T17" fmla="*/ 0 h 40"/>
                <a:gd name="T18" fmla="*/ 3 w 18"/>
                <a:gd name="T19" fmla="*/ 1 h 40"/>
                <a:gd name="T20" fmla="*/ 2 w 18"/>
                <a:gd name="T21" fmla="*/ 3 h 40"/>
                <a:gd name="T22" fmla="*/ 1 w 18"/>
                <a:gd name="T23" fmla="*/ 6 h 40"/>
                <a:gd name="T24" fmla="*/ 0 w 18"/>
                <a:gd name="T25" fmla="*/ 10 h 40"/>
                <a:gd name="T26" fmla="*/ 1 w 18"/>
                <a:gd name="T27" fmla="*/ 14 h 40"/>
                <a:gd name="T28" fmla="*/ 2 w 18"/>
                <a:gd name="T29" fmla="*/ 18 h 40"/>
                <a:gd name="T30" fmla="*/ 3 w 18"/>
                <a:gd name="T31" fmla="*/ 20 h 40"/>
                <a:gd name="T32" fmla="*/ 5 w 18"/>
                <a:gd name="T33" fmla="*/ 21 h 40"/>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8"/>
                <a:gd name="T52" fmla="*/ 0 h 40"/>
                <a:gd name="T53" fmla="*/ 18 w 18"/>
                <a:gd name="T54" fmla="*/ 40 h 40"/>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8" h="40">
                  <a:moveTo>
                    <a:pt x="9" y="40"/>
                  </a:moveTo>
                  <a:lnTo>
                    <a:pt x="12" y="39"/>
                  </a:lnTo>
                  <a:lnTo>
                    <a:pt x="16" y="34"/>
                  </a:lnTo>
                  <a:lnTo>
                    <a:pt x="17" y="27"/>
                  </a:lnTo>
                  <a:lnTo>
                    <a:pt x="18" y="19"/>
                  </a:lnTo>
                  <a:lnTo>
                    <a:pt x="17" y="12"/>
                  </a:lnTo>
                  <a:lnTo>
                    <a:pt x="16" y="6"/>
                  </a:lnTo>
                  <a:lnTo>
                    <a:pt x="12" y="1"/>
                  </a:lnTo>
                  <a:lnTo>
                    <a:pt x="9" y="0"/>
                  </a:lnTo>
                  <a:lnTo>
                    <a:pt x="5" y="1"/>
                  </a:lnTo>
                  <a:lnTo>
                    <a:pt x="3" y="6"/>
                  </a:lnTo>
                  <a:lnTo>
                    <a:pt x="1" y="12"/>
                  </a:lnTo>
                  <a:lnTo>
                    <a:pt x="0" y="19"/>
                  </a:lnTo>
                  <a:lnTo>
                    <a:pt x="1" y="27"/>
                  </a:lnTo>
                  <a:lnTo>
                    <a:pt x="3" y="34"/>
                  </a:lnTo>
                  <a:lnTo>
                    <a:pt x="5" y="39"/>
                  </a:lnTo>
                  <a:lnTo>
                    <a:pt x="9" y="40"/>
                  </a:lnTo>
                  <a:close/>
                </a:path>
              </a:pathLst>
            </a:custGeom>
            <a:solidFill>
              <a:srgbClr val="FFF477"/>
            </a:solidFill>
            <a:ln w="9525">
              <a:noFill/>
              <a:round/>
            </a:ln>
          </p:spPr>
          <p:txBody>
            <a:bodyPr/>
            <a:lstStyle/>
            <a:p>
              <a:endParaRPr lang="en-US"/>
            </a:p>
          </p:txBody>
        </p:sp>
        <p:sp>
          <p:nvSpPr>
            <p:cNvPr id="1048817" name="Freeform 109"/>
            <p:cNvSpPr/>
            <p:nvPr/>
          </p:nvSpPr>
          <p:spPr bwMode="auto">
            <a:xfrm>
              <a:off x="2520" y="3880"/>
              <a:ext cx="63" cy="39"/>
            </a:xfrm>
            <a:custGeom>
              <a:avLst/>
              <a:gdLst>
                <a:gd name="T0" fmla="*/ 63 w 124"/>
                <a:gd name="T1" fmla="*/ 7 h 77"/>
                <a:gd name="T2" fmla="*/ 61 w 124"/>
                <a:gd name="T3" fmla="*/ 7 h 77"/>
                <a:gd name="T4" fmla="*/ 55 w 124"/>
                <a:gd name="T5" fmla="*/ 6 h 77"/>
                <a:gd name="T6" fmla="*/ 48 w 124"/>
                <a:gd name="T7" fmla="*/ 6 h 77"/>
                <a:gd name="T8" fmla="*/ 38 w 124"/>
                <a:gd name="T9" fmla="*/ 7 h 77"/>
                <a:gd name="T10" fmla="*/ 27 w 124"/>
                <a:gd name="T11" fmla="*/ 11 h 77"/>
                <a:gd name="T12" fmla="*/ 18 w 124"/>
                <a:gd name="T13" fmla="*/ 16 h 77"/>
                <a:gd name="T14" fmla="*/ 8 w 124"/>
                <a:gd name="T15" fmla="*/ 26 h 77"/>
                <a:gd name="T16" fmla="*/ 0 w 124"/>
                <a:gd name="T17" fmla="*/ 39 h 77"/>
                <a:gd name="T18" fmla="*/ 0 w 124"/>
                <a:gd name="T19" fmla="*/ 37 h 77"/>
                <a:gd name="T20" fmla="*/ 2 w 124"/>
                <a:gd name="T21" fmla="*/ 30 h 77"/>
                <a:gd name="T22" fmla="*/ 4 w 124"/>
                <a:gd name="T23" fmla="*/ 22 h 77"/>
                <a:gd name="T24" fmla="*/ 9 w 124"/>
                <a:gd name="T25" fmla="*/ 12 h 77"/>
                <a:gd name="T26" fmla="*/ 17 w 124"/>
                <a:gd name="T27" fmla="*/ 5 h 77"/>
                <a:gd name="T28" fmla="*/ 28 w 124"/>
                <a:gd name="T29" fmla="*/ 0 h 77"/>
                <a:gd name="T30" fmla="*/ 43 w 124"/>
                <a:gd name="T31" fmla="*/ 1 h 77"/>
                <a:gd name="T32" fmla="*/ 63 w 124"/>
                <a:gd name="T33" fmla="*/ 7 h 7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24"/>
                <a:gd name="T52" fmla="*/ 0 h 77"/>
                <a:gd name="T53" fmla="*/ 124 w 124"/>
                <a:gd name="T54" fmla="*/ 77 h 77"/>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24" h="77">
                  <a:moveTo>
                    <a:pt x="124" y="14"/>
                  </a:moveTo>
                  <a:lnTo>
                    <a:pt x="121" y="13"/>
                  </a:lnTo>
                  <a:lnTo>
                    <a:pt x="109" y="12"/>
                  </a:lnTo>
                  <a:lnTo>
                    <a:pt x="94" y="12"/>
                  </a:lnTo>
                  <a:lnTo>
                    <a:pt x="75" y="14"/>
                  </a:lnTo>
                  <a:lnTo>
                    <a:pt x="54" y="21"/>
                  </a:lnTo>
                  <a:lnTo>
                    <a:pt x="35" y="32"/>
                  </a:lnTo>
                  <a:lnTo>
                    <a:pt x="15" y="51"/>
                  </a:lnTo>
                  <a:lnTo>
                    <a:pt x="0" y="77"/>
                  </a:lnTo>
                  <a:lnTo>
                    <a:pt x="0" y="73"/>
                  </a:lnTo>
                  <a:lnTo>
                    <a:pt x="3" y="60"/>
                  </a:lnTo>
                  <a:lnTo>
                    <a:pt x="8" y="43"/>
                  </a:lnTo>
                  <a:lnTo>
                    <a:pt x="18" y="24"/>
                  </a:lnTo>
                  <a:lnTo>
                    <a:pt x="33" y="9"/>
                  </a:lnTo>
                  <a:lnTo>
                    <a:pt x="55" y="0"/>
                  </a:lnTo>
                  <a:lnTo>
                    <a:pt x="85" y="1"/>
                  </a:lnTo>
                  <a:lnTo>
                    <a:pt x="124" y="14"/>
                  </a:lnTo>
                  <a:close/>
                </a:path>
              </a:pathLst>
            </a:custGeom>
            <a:solidFill>
              <a:srgbClr val="FFE29B"/>
            </a:solidFill>
            <a:ln w="9525">
              <a:noFill/>
              <a:round/>
            </a:ln>
          </p:spPr>
          <p:txBody>
            <a:bodyPr/>
            <a:lstStyle/>
            <a:p>
              <a:endParaRPr lang="en-US"/>
            </a:p>
          </p:txBody>
        </p:sp>
        <p:sp>
          <p:nvSpPr>
            <p:cNvPr id="1048818" name="Freeform 110"/>
            <p:cNvSpPr/>
            <p:nvPr/>
          </p:nvSpPr>
          <p:spPr bwMode="auto">
            <a:xfrm>
              <a:off x="2198" y="3880"/>
              <a:ext cx="59" cy="32"/>
            </a:xfrm>
            <a:custGeom>
              <a:avLst/>
              <a:gdLst>
                <a:gd name="T0" fmla="*/ 59 w 117"/>
                <a:gd name="T1" fmla="*/ 7 h 65"/>
                <a:gd name="T2" fmla="*/ 57 w 117"/>
                <a:gd name="T3" fmla="*/ 6 h 65"/>
                <a:gd name="T4" fmla="*/ 52 w 117"/>
                <a:gd name="T5" fmla="*/ 6 h 65"/>
                <a:gd name="T6" fmla="*/ 45 w 117"/>
                <a:gd name="T7" fmla="*/ 6 h 65"/>
                <a:gd name="T8" fmla="*/ 36 w 117"/>
                <a:gd name="T9" fmla="*/ 6 h 65"/>
                <a:gd name="T10" fmla="*/ 27 w 117"/>
                <a:gd name="T11" fmla="*/ 8 h 65"/>
                <a:gd name="T12" fmla="*/ 17 w 117"/>
                <a:gd name="T13" fmla="*/ 13 h 65"/>
                <a:gd name="T14" fmla="*/ 8 w 117"/>
                <a:gd name="T15" fmla="*/ 21 h 65"/>
                <a:gd name="T16" fmla="*/ 0 w 117"/>
                <a:gd name="T17" fmla="*/ 32 h 65"/>
                <a:gd name="T18" fmla="*/ 1 w 117"/>
                <a:gd name="T19" fmla="*/ 30 h 65"/>
                <a:gd name="T20" fmla="*/ 2 w 117"/>
                <a:gd name="T21" fmla="*/ 25 h 65"/>
                <a:gd name="T22" fmla="*/ 5 w 117"/>
                <a:gd name="T23" fmla="*/ 17 h 65"/>
                <a:gd name="T24" fmla="*/ 10 w 117"/>
                <a:gd name="T25" fmla="*/ 10 h 65"/>
                <a:gd name="T26" fmla="*/ 17 w 117"/>
                <a:gd name="T27" fmla="*/ 3 h 65"/>
                <a:gd name="T28" fmla="*/ 28 w 117"/>
                <a:gd name="T29" fmla="*/ 0 h 65"/>
                <a:gd name="T30" fmla="*/ 41 w 117"/>
                <a:gd name="T31" fmla="*/ 0 h 65"/>
                <a:gd name="T32" fmla="*/ 59 w 117"/>
                <a:gd name="T33" fmla="*/ 7 h 65"/>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17"/>
                <a:gd name="T52" fmla="*/ 0 h 65"/>
                <a:gd name="T53" fmla="*/ 117 w 117"/>
                <a:gd name="T54" fmla="*/ 65 h 65"/>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17" h="65">
                  <a:moveTo>
                    <a:pt x="117" y="14"/>
                  </a:moveTo>
                  <a:lnTo>
                    <a:pt x="114" y="13"/>
                  </a:lnTo>
                  <a:lnTo>
                    <a:pt x="104" y="12"/>
                  </a:lnTo>
                  <a:lnTo>
                    <a:pt x="90" y="12"/>
                  </a:lnTo>
                  <a:lnTo>
                    <a:pt x="72" y="13"/>
                  </a:lnTo>
                  <a:lnTo>
                    <a:pt x="53" y="17"/>
                  </a:lnTo>
                  <a:lnTo>
                    <a:pt x="33" y="27"/>
                  </a:lnTo>
                  <a:lnTo>
                    <a:pt x="15" y="42"/>
                  </a:lnTo>
                  <a:lnTo>
                    <a:pt x="0" y="65"/>
                  </a:lnTo>
                  <a:lnTo>
                    <a:pt x="1" y="60"/>
                  </a:lnTo>
                  <a:lnTo>
                    <a:pt x="3" y="50"/>
                  </a:lnTo>
                  <a:lnTo>
                    <a:pt x="9" y="35"/>
                  </a:lnTo>
                  <a:lnTo>
                    <a:pt x="19" y="20"/>
                  </a:lnTo>
                  <a:lnTo>
                    <a:pt x="34" y="7"/>
                  </a:lnTo>
                  <a:lnTo>
                    <a:pt x="55" y="0"/>
                  </a:lnTo>
                  <a:lnTo>
                    <a:pt x="82" y="1"/>
                  </a:lnTo>
                  <a:lnTo>
                    <a:pt x="117" y="14"/>
                  </a:lnTo>
                  <a:close/>
                </a:path>
              </a:pathLst>
            </a:custGeom>
            <a:solidFill>
              <a:srgbClr val="FFE29B"/>
            </a:solidFill>
            <a:ln w="9525">
              <a:noFill/>
              <a:round/>
            </a:ln>
          </p:spPr>
          <p:txBody>
            <a:bodyPr/>
            <a:lstStyle/>
            <a:p>
              <a:endParaRPr lang="en-US"/>
            </a:p>
          </p:txBody>
        </p:sp>
        <p:sp>
          <p:nvSpPr>
            <p:cNvPr id="1048819" name="Freeform 111"/>
            <p:cNvSpPr/>
            <p:nvPr/>
          </p:nvSpPr>
          <p:spPr bwMode="auto">
            <a:xfrm>
              <a:off x="2520" y="3735"/>
              <a:ext cx="40" cy="72"/>
            </a:xfrm>
            <a:custGeom>
              <a:avLst/>
              <a:gdLst>
                <a:gd name="T0" fmla="*/ 8 w 79"/>
                <a:gd name="T1" fmla="*/ 6 h 145"/>
                <a:gd name="T2" fmla="*/ 7 w 79"/>
                <a:gd name="T3" fmla="*/ 4 h 145"/>
                <a:gd name="T4" fmla="*/ 6 w 79"/>
                <a:gd name="T5" fmla="*/ 2 h 145"/>
                <a:gd name="T6" fmla="*/ 5 w 79"/>
                <a:gd name="T7" fmla="*/ 1 h 145"/>
                <a:gd name="T8" fmla="*/ 4 w 79"/>
                <a:gd name="T9" fmla="*/ 0 h 145"/>
                <a:gd name="T10" fmla="*/ 2 w 79"/>
                <a:gd name="T11" fmla="*/ 2 h 145"/>
                <a:gd name="T12" fmla="*/ 1 w 79"/>
                <a:gd name="T13" fmla="*/ 5 h 145"/>
                <a:gd name="T14" fmla="*/ 0 w 79"/>
                <a:gd name="T15" fmla="*/ 11 h 145"/>
                <a:gd name="T16" fmla="*/ 1 w 79"/>
                <a:gd name="T17" fmla="*/ 17 h 145"/>
                <a:gd name="T18" fmla="*/ 2 w 79"/>
                <a:gd name="T19" fmla="*/ 23 h 145"/>
                <a:gd name="T20" fmla="*/ 4 w 79"/>
                <a:gd name="T21" fmla="*/ 31 h 145"/>
                <a:gd name="T22" fmla="*/ 7 w 79"/>
                <a:gd name="T23" fmla="*/ 39 h 145"/>
                <a:gd name="T24" fmla="*/ 11 w 79"/>
                <a:gd name="T25" fmla="*/ 47 h 145"/>
                <a:gd name="T26" fmla="*/ 15 w 79"/>
                <a:gd name="T27" fmla="*/ 55 h 145"/>
                <a:gd name="T28" fmla="*/ 20 w 79"/>
                <a:gd name="T29" fmla="*/ 62 h 145"/>
                <a:gd name="T30" fmla="*/ 27 w 79"/>
                <a:gd name="T31" fmla="*/ 68 h 145"/>
                <a:gd name="T32" fmla="*/ 34 w 79"/>
                <a:gd name="T33" fmla="*/ 71 h 145"/>
                <a:gd name="T34" fmla="*/ 36 w 79"/>
                <a:gd name="T35" fmla="*/ 72 h 145"/>
                <a:gd name="T36" fmla="*/ 37 w 79"/>
                <a:gd name="T37" fmla="*/ 72 h 145"/>
                <a:gd name="T38" fmla="*/ 39 w 79"/>
                <a:gd name="T39" fmla="*/ 72 h 145"/>
                <a:gd name="T40" fmla="*/ 40 w 79"/>
                <a:gd name="T41" fmla="*/ 72 h 145"/>
                <a:gd name="T42" fmla="*/ 32 w 79"/>
                <a:gd name="T43" fmla="*/ 65 h 145"/>
                <a:gd name="T44" fmla="*/ 27 w 79"/>
                <a:gd name="T45" fmla="*/ 57 h 145"/>
                <a:gd name="T46" fmla="*/ 22 w 79"/>
                <a:gd name="T47" fmla="*/ 48 h 145"/>
                <a:gd name="T48" fmla="*/ 18 w 79"/>
                <a:gd name="T49" fmla="*/ 39 h 145"/>
                <a:gd name="T50" fmla="*/ 14 w 79"/>
                <a:gd name="T51" fmla="*/ 30 h 145"/>
                <a:gd name="T52" fmla="*/ 12 w 79"/>
                <a:gd name="T53" fmla="*/ 21 h 145"/>
                <a:gd name="T54" fmla="*/ 9 w 79"/>
                <a:gd name="T55" fmla="*/ 13 h 145"/>
                <a:gd name="T56" fmla="*/ 8 w 79"/>
                <a:gd name="T57" fmla="*/ 6 h 145"/>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79"/>
                <a:gd name="T88" fmla="*/ 0 h 145"/>
                <a:gd name="T89" fmla="*/ 79 w 79"/>
                <a:gd name="T90" fmla="*/ 145 h 145"/>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79" h="145">
                  <a:moveTo>
                    <a:pt x="16" y="12"/>
                  </a:moveTo>
                  <a:lnTo>
                    <a:pt x="14" y="9"/>
                  </a:lnTo>
                  <a:lnTo>
                    <a:pt x="11" y="5"/>
                  </a:lnTo>
                  <a:lnTo>
                    <a:pt x="9" y="2"/>
                  </a:lnTo>
                  <a:lnTo>
                    <a:pt x="7" y="0"/>
                  </a:lnTo>
                  <a:lnTo>
                    <a:pt x="3" y="5"/>
                  </a:lnTo>
                  <a:lnTo>
                    <a:pt x="1" y="11"/>
                  </a:lnTo>
                  <a:lnTo>
                    <a:pt x="0" y="22"/>
                  </a:lnTo>
                  <a:lnTo>
                    <a:pt x="1" y="35"/>
                  </a:lnTo>
                  <a:lnTo>
                    <a:pt x="3" y="47"/>
                  </a:lnTo>
                  <a:lnTo>
                    <a:pt x="8" y="62"/>
                  </a:lnTo>
                  <a:lnTo>
                    <a:pt x="13" y="78"/>
                  </a:lnTo>
                  <a:lnTo>
                    <a:pt x="21" y="94"/>
                  </a:lnTo>
                  <a:lnTo>
                    <a:pt x="29" y="110"/>
                  </a:lnTo>
                  <a:lnTo>
                    <a:pt x="40" y="125"/>
                  </a:lnTo>
                  <a:lnTo>
                    <a:pt x="53" y="136"/>
                  </a:lnTo>
                  <a:lnTo>
                    <a:pt x="68" y="143"/>
                  </a:lnTo>
                  <a:lnTo>
                    <a:pt x="71" y="144"/>
                  </a:lnTo>
                  <a:lnTo>
                    <a:pt x="74" y="144"/>
                  </a:lnTo>
                  <a:lnTo>
                    <a:pt x="77" y="145"/>
                  </a:lnTo>
                  <a:lnTo>
                    <a:pt x="79" y="145"/>
                  </a:lnTo>
                  <a:lnTo>
                    <a:pt x="64" y="130"/>
                  </a:lnTo>
                  <a:lnTo>
                    <a:pt x="53" y="114"/>
                  </a:lnTo>
                  <a:lnTo>
                    <a:pt x="43" y="96"/>
                  </a:lnTo>
                  <a:lnTo>
                    <a:pt x="35" y="78"/>
                  </a:lnTo>
                  <a:lnTo>
                    <a:pt x="28" y="60"/>
                  </a:lnTo>
                  <a:lnTo>
                    <a:pt x="23" y="42"/>
                  </a:lnTo>
                  <a:lnTo>
                    <a:pt x="18" y="26"/>
                  </a:lnTo>
                  <a:lnTo>
                    <a:pt x="16" y="12"/>
                  </a:lnTo>
                  <a:close/>
                </a:path>
              </a:pathLst>
            </a:custGeom>
            <a:solidFill>
              <a:srgbClr val="3FFFFF"/>
            </a:solidFill>
            <a:ln w="9525">
              <a:noFill/>
              <a:round/>
            </a:ln>
          </p:spPr>
          <p:txBody>
            <a:bodyPr/>
            <a:lstStyle/>
            <a:p>
              <a:endParaRPr lang="en-US"/>
            </a:p>
          </p:txBody>
        </p:sp>
        <p:sp>
          <p:nvSpPr>
            <p:cNvPr id="1048820" name="Freeform 112"/>
            <p:cNvSpPr/>
            <p:nvPr/>
          </p:nvSpPr>
          <p:spPr bwMode="auto">
            <a:xfrm>
              <a:off x="2529" y="3741"/>
              <a:ext cx="40" cy="66"/>
            </a:xfrm>
            <a:custGeom>
              <a:avLst/>
              <a:gdLst>
                <a:gd name="T0" fmla="*/ 40 w 82"/>
                <a:gd name="T1" fmla="*/ 64 h 133"/>
                <a:gd name="T2" fmla="*/ 40 w 82"/>
                <a:gd name="T3" fmla="*/ 64 h 133"/>
                <a:gd name="T4" fmla="*/ 40 w 82"/>
                <a:gd name="T5" fmla="*/ 64 h 133"/>
                <a:gd name="T6" fmla="*/ 39 w 82"/>
                <a:gd name="T7" fmla="*/ 64 h 133"/>
                <a:gd name="T8" fmla="*/ 38 w 82"/>
                <a:gd name="T9" fmla="*/ 63 h 133"/>
                <a:gd name="T10" fmla="*/ 37 w 82"/>
                <a:gd name="T11" fmla="*/ 62 h 133"/>
                <a:gd name="T12" fmla="*/ 34 w 82"/>
                <a:gd name="T13" fmla="*/ 56 h 133"/>
                <a:gd name="T14" fmla="*/ 30 w 82"/>
                <a:gd name="T15" fmla="*/ 49 h 133"/>
                <a:gd name="T16" fmla="*/ 25 w 82"/>
                <a:gd name="T17" fmla="*/ 39 h 133"/>
                <a:gd name="T18" fmla="*/ 19 w 82"/>
                <a:gd name="T19" fmla="*/ 29 h 133"/>
                <a:gd name="T20" fmla="*/ 12 w 82"/>
                <a:gd name="T21" fmla="*/ 18 h 133"/>
                <a:gd name="T22" fmla="*/ 6 w 82"/>
                <a:gd name="T23" fmla="*/ 9 h 133"/>
                <a:gd name="T24" fmla="*/ 0 w 82"/>
                <a:gd name="T25" fmla="*/ 0 h 133"/>
                <a:gd name="T26" fmla="*/ 1 w 82"/>
                <a:gd name="T27" fmla="*/ 7 h 133"/>
                <a:gd name="T28" fmla="*/ 3 w 82"/>
                <a:gd name="T29" fmla="*/ 15 h 133"/>
                <a:gd name="T30" fmla="*/ 6 w 82"/>
                <a:gd name="T31" fmla="*/ 24 h 133"/>
                <a:gd name="T32" fmla="*/ 9 w 82"/>
                <a:gd name="T33" fmla="*/ 33 h 133"/>
                <a:gd name="T34" fmla="*/ 13 w 82"/>
                <a:gd name="T35" fmla="*/ 42 h 133"/>
                <a:gd name="T36" fmla="*/ 18 w 82"/>
                <a:gd name="T37" fmla="*/ 51 h 133"/>
                <a:gd name="T38" fmla="*/ 23 w 82"/>
                <a:gd name="T39" fmla="*/ 59 h 133"/>
                <a:gd name="T40" fmla="*/ 31 w 82"/>
                <a:gd name="T41" fmla="*/ 66 h 133"/>
                <a:gd name="T42" fmla="*/ 34 w 82"/>
                <a:gd name="T43" fmla="*/ 66 h 133"/>
                <a:gd name="T44" fmla="*/ 37 w 82"/>
                <a:gd name="T45" fmla="*/ 66 h 133"/>
                <a:gd name="T46" fmla="*/ 38 w 82"/>
                <a:gd name="T47" fmla="*/ 65 h 133"/>
                <a:gd name="T48" fmla="*/ 40 w 82"/>
                <a:gd name="T49" fmla="*/ 64 h 133"/>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82"/>
                <a:gd name="T76" fmla="*/ 0 h 133"/>
                <a:gd name="T77" fmla="*/ 82 w 82"/>
                <a:gd name="T78" fmla="*/ 133 h 133"/>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82" h="133">
                  <a:moveTo>
                    <a:pt x="82" y="129"/>
                  </a:moveTo>
                  <a:lnTo>
                    <a:pt x="81" y="128"/>
                  </a:lnTo>
                  <a:lnTo>
                    <a:pt x="80" y="128"/>
                  </a:lnTo>
                  <a:lnTo>
                    <a:pt x="78" y="127"/>
                  </a:lnTo>
                  <a:lnTo>
                    <a:pt x="76" y="124"/>
                  </a:lnTo>
                  <a:lnTo>
                    <a:pt x="70" y="113"/>
                  </a:lnTo>
                  <a:lnTo>
                    <a:pt x="61" y="98"/>
                  </a:lnTo>
                  <a:lnTo>
                    <a:pt x="51" y="79"/>
                  </a:lnTo>
                  <a:lnTo>
                    <a:pt x="38" y="59"/>
                  </a:lnTo>
                  <a:lnTo>
                    <a:pt x="25" y="37"/>
                  </a:lnTo>
                  <a:lnTo>
                    <a:pt x="12" y="18"/>
                  </a:lnTo>
                  <a:lnTo>
                    <a:pt x="0" y="0"/>
                  </a:lnTo>
                  <a:lnTo>
                    <a:pt x="2" y="14"/>
                  </a:lnTo>
                  <a:lnTo>
                    <a:pt x="7" y="30"/>
                  </a:lnTo>
                  <a:lnTo>
                    <a:pt x="12" y="48"/>
                  </a:lnTo>
                  <a:lnTo>
                    <a:pt x="19" y="66"/>
                  </a:lnTo>
                  <a:lnTo>
                    <a:pt x="27" y="84"/>
                  </a:lnTo>
                  <a:lnTo>
                    <a:pt x="37" y="102"/>
                  </a:lnTo>
                  <a:lnTo>
                    <a:pt x="48" y="118"/>
                  </a:lnTo>
                  <a:lnTo>
                    <a:pt x="63" y="133"/>
                  </a:lnTo>
                  <a:lnTo>
                    <a:pt x="69" y="133"/>
                  </a:lnTo>
                  <a:lnTo>
                    <a:pt x="75" y="133"/>
                  </a:lnTo>
                  <a:lnTo>
                    <a:pt x="78" y="131"/>
                  </a:lnTo>
                  <a:lnTo>
                    <a:pt x="82" y="129"/>
                  </a:lnTo>
                  <a:close/>
                </a:path>
              </a:pathLst>
            </a:custGeom>
            <a:solidFill>
              <a:srgbClr val="BFFFFF"/>
            </a:solidFill>
            <a:ln w="9525">
              <a:noFill/>
              <a:round/>
            </a:ln>
          </p:spPr>
          <p:txBody>
            <a:bodyPr/>
            <a:lstStyle/>
            <a:p>
              <a:endParaRPr lang="en-US"/>
            </a:p>
          </p:txBody>
        </p:sp>
        <p:sp>
          <p:nvSpPr>
            <p:cNvPr id="1048821" name="Freeform 113"/>
            <p:cNvSpPr/>
            <p:nvPr/>
          </p:nvSpPr>
          <p:spPr bwMode="auto">
            <a:xfrm>
              <a:off x="2534" y="3764"/>
              <a:ext cx="8" cy="9"/>
            </a:xfrm>
            <a:custGeom>
              <a:avLst/>
              <a:gdLst>
                <a:gd name="T0" fmla="*/ 4 w 17"/>
                <a:gd name="T1" fmla="*/ 9 h 19"/>
                <a:gd name="T2" fmla="*/ 6 w 17"/>
                <a:gd name="T3" fmla="*/ 9 h 19"/>
                <a:gd name="T4" fmla="*/ 7 w 17"/>
                <a:gd name="T5" fmla="*/ 7 h 19"/>
                <a:gd name="T6" fmla="*/ 7 w 17"/>
                <a:gd name="T7" fmla="*/ 6 h 19"/>
                <a:gd name="T8" fmla="*/ 8 w 17"/>
                <a:gd name="T9" fmla="*/ 5 h 19"/>
                <a:gd name="T10" fmla="*/ 7 w 17"/>
                <a:gd name="T11" fmla="*/ 3 h 19"/>
                <a:gd name="T12" fmla="*/ 7 w 17"/>
                <a:gd name="T13" fmla="*/ 1 h 19"/>
                <a:gd name="T14" fmla="*/ 6 w 17"/>
                <a:gd name="T15" fmla="*/ 1 h 19"/>
                <a:gd name="T16" fmla="*/ 4 w 17"/>
                <a:gd name="T17" fmla="*/ 0 h 19"/>
                <a:gd name="T18" fmla="*/ 2 w 17"/>
                <a:gd name="T19" fmla="*/ 1 h 19"/>
                <a:gd name="T20" fmla="*/ 1 w 17"/>
                <a:gd name="T21" fmla="*/ 1 h 19"/>
                <a:gd name="T22" fmla="*/ 1 w 17"/>
                <a:gd name="T23" fmla="*/ 3 h 19"/>
                <a:gd name="T24" fmla="*/ 0 w 17"/>
                <a:gd name="T25" fmla="*/ 5 h 19"/>
                <a:gd name="T26" fmla="*/ 1 w 17"/>
                <a:gd name="T27" fmla="*/ 6 h 19"/>
                <a:gd name="T28" fmla="*/ 1 w 17"/>
                <a:gd name="T29" fmla="*/ 7 h 19"/>
                <a:gd name="T30" fmla="*/ 2 w 17"/>
                <a:gd name="T31" fmla="*/ 9 h 19"/>
                <a:gd name="T32" fmla="*/ 4 w 17"/>
                <a:gd name="T33" fmla="*/ 9 h 19"/>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7"/>
                <a:gd name="T52" fmla="*/ 0 h 19"/>
                <a:gd name="T53" fmla="*/ 17 w 17"/>
                <a:gd name="T54" fmla="*/ 19 h 19"/>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7" h="19">
                  <a:moveTo>
                    <a:pt x="9" y="19"/>
                  </a:moveTo>
                  <a:lnTo>
                    <a:pt x="12" y="18"/>
                  </a:lnTo>
                  <a:lnTo>
                    <a:pt x="14" y="15"/>
                  </a:lnTo>
                  <a:lnTo>
                    <a:pt x="15" y="13"/>
                  </a:lnTo>
                  <a:lnTo>
                    <a:pt x="17" y="10"/>
                  </a:lnTo>
                  <a:lnTo>
                    <a:pt x="15" y="6"/>
                  </a:lnTo>
                  <a:lnTo>
                    <a:pt x="14" y="3"/>
                  </a:lnTo>
                  <a:lnTo>
                    <a:pt x="12" y="2"/>
                  </a:lnTo>
                  <a:lnTo>
                    <a:pt x="9" y="0"/>
                  </a:lnTo>
                  <a:lnTo>
                    <a:pt x="5" y="2"/>
                  </a:lnTo>
                  <a:lnTo>
                    <a:pt x="3" y="3"/>
                  </a:lnTo>
                  <a:lnTo>
                    <a:pt x="2" y="6"/>
                  </a:lnTo>
                  <a:lnTo>
                    <a:pt x="0" y="10"/>
                  </a:lnTo>
                  <a:lnTo>
                    <a:pt x="2" y="13"/>
                  </a:lnTo>
                  <a:lnTo>
                    <a:pt x="3" y="15"/>
                  </a:lnTo>
                  <a:lnTo>
                    <a:pt x="5" y="18"/>
                  </a:lnTo>
                  <a:lnTo>
                    <a:pt x="9" y="19"/>
                  </a:lnTo>
                  <a:close/>
                </a:path>
              </a:pathLst>
            </a:custGeom>
            <a:solidFill>
              <a:srgbClr val="FFFFFF"/>
            </a:solidFill>
            <a:ln w="9525">
              <a:noFill/>
              <a:round/>
            </a:ln>
          </p:spPr>
          <p:txBody>
            <a:bodyPr/>
            <a:lstStyle/>
            <a:p>
              <a:endParaRPr lang="en-US"/>
            </a:p>
          </p:txBody>
        </p:sp>
        <p:sp>
          <p:nvSpPr>
            <p:cNvPr id="1048822" name="Freeform 114"/>
            <p:cNvSpPr/>
            <p:nvPr/>
          </p:nvSpPr>
          <p:spPr bwMode="auto">
            <a:xfrm>
              <a:off x="2429" y="3735"/>
              <a:ext cx="89" cy="81"/>
            </a:xfrm>
            <a:custGeom>
              <a:avLst/>
              <a:gdLst>
                <a:gd name="T0" fmla="*/ 64 w 178"/>
                <a:gd name="T1" fmla="*/ 1 h 162"/>
                <a:gd name="T2" fmla="*/ 67 w 178"/>
                <a:gd name="T3" fmla="*/ 5 h 162"/>
                <a:gd name="T4" fmla="*/ 71 w 178"/>
                <a:gd name="T5" fmla="*/ 13 h 162"/>
                <a:gd name="T6" fmla="*/ 75 w 178"/>
                <a:gd name="T7" fmla="*/ 24 h 162"/>
                <a:gd name="T8" fmla="*/ 79 w 178"/>
                <a:gd name="T9" fmla="*/ 37 h 162"/>
                <a:gd name="T10" fmla="*/ 83 w 178"/>
                <a:gd name="T11" fmla="*/ 49 h 162"/>
                <a:gd name="T12" fmla="*/ 87 w 178"/>
                <a:gd name="T13" fmla="*/ 60 h 162"/>
                <a:gd name="T14" fmla="*/ 89 w 178"/>
                <a:gd name="T15" fmla="*/ 70 h 162"/>
                <a:gd name="T16" fmla="*/ 89 w 178"/>
                <a:gd name="T17" fmla="*/ 74 h 162"/>
                <a:gd name="T18" fmla="*/ 88 w 178"/>
                <a:gd name="T19" fmla="*/ 76 h 162"/>
                <a:gd name="T20" fmla="*/ 87 w 178"/>
                <a:gd name="T21" fmla="*/ 77 h 162"/>
                <a:gd name="T22" fmla="*/ 84 w 178"/>
                <a:gd name="T23" fmla="*/ 78 h 162"/>
                <a:gd name="T24" fmla="*/ 80 w 178"/>
                <a:gd name="T25" fmla="*/ 80 h 162"/>
                <a:gd name="T26" fmla="*/ 74 w 178"/>
                <a:gd name="T27" fmla="*/ 80 h 162"/>
                <a:gd name="T28" fmla="*/ 67 w 178"/>
                <a:gd name="T29" fmla="*/ 81 h 162"/>
                <a:gd name="T30" fmla="*/ 57 w 178"/>
                <a:gd name="T31" fmla="*/ 81 h 162"/>
                <a:gd name="T32" fmla="*/ 44 w 178"/>
                <a:gd name="T33" fmla="*/ 81 h 162"/>
                <a:gd name="T34" fmla="*/ 35 w 178"/>
                <a:gd name="T35" fmla="*/ 81 h 162"/>
                <a:gd name="T36" fmla="*/ 26 w 178"/>
                <a:gd name="T37" fmla="*/ 81 h 162"/>
                <a:gd name="T38" fmla="*/ 19 w 178"/>
                <a:gd name="T39" fmla="*/ 81 h 162"/>
                <a:gd name="T40" fmla="*/ 12 w 178"/>
                <a:gd name="T41" fmla="*/ 81 h 162"/>
                <a:gd name="T42" fmla="*/ 7 w 178"/>
                <a:gd name="T43" fmla="*/ 80 h 162"/>
                <a:gd name="T44" fmla="*/ 3 w 178"/>
                <a:gd name="T45" fmla="*/ 77 h 162"/>
                <a:gd name="T46" fmla="*/ 1 w 178"/>
                <a:gd name="T47" fmla="*/ 73 h 162"/>
                <a:gd name="T48" fmla="*/ 0 w 178"/>
                <a:gd name="T49" fmla="*/ 67 h 162"/>
                <a:gd name="T50" fmla="*/ 0 w 178"/>
                <a:gd name="T51" fmla="*/ 50 h 162"/>
                <a:gd name="T52" fmla="*/ 0 w 178"/>
                <a:gd name="T53" fmla="*/ 34 h 162"/>
                <a:gd name="T54" fmla="*/ 0 w 178"/>
                <a:gd name="T55" fmla="*/ 21 h 162"/>
                <a:gd name="T56" fmla="*/ 0 w 178"/>
                <a:gd name="T57" fmla="*/ 16 h 162"/>
                <a:gd name="T58" fmla="*/ 0 w 178"/>
                <a:gd name="T59" fmla="*/ 13 h 162"/>
                <a:gd name="T60" fmla="*/ 1 w 178"/>
                <a:gd name="T61" fmla="*/ 9 h 162"/>
                <a:gd name="T62" fmla="*/ 5 w 178"/>
                <a:gd name="T63" fmla="*/ 3 h 162"/>
                <a:gd name="T64" fmla="*/ 14 w 178"/>
                <a:gd name="T65" fmla="*/ 0 h 162"/>
                <a:gd name="T66" fmla="*/ 16 w 178"/>
                <a:gd name="T67" fmla="*/ 0 h 162"/>
                <a:gd name="T68" fmla="*/ 21 w 178"/>
                <a:gd name="T69" fmla="*/ 0 h 162"/>
                <a:gd name="T70" fmla="*/ 28 w 178"/>
                <a:gd name="T71" fmla="*/ 0 h 162"/>
                <a:gd name="T72" fmla="*/ 37 w 178"/>
                <a:gd name="T73" fmla="*/ 0 h 162"/>
                <a:gd name="T74" fmla="*/ 45 w 178"/>
                <a:gd name="T75" fmla="*/ 1 h 162"/>
                <a:gd name="T76" fmla="*/ 53 w 178"/>
                <a:gd name="T77" fmla="*/ 1 h 162"/>
                <a:gd name="T78" fmla="*/ 60 w 178"/>
                <a:gd name="T79" fmla="*/ 1 h 162"/>
                <a:gd name="T80" fmla="*/ 64 w 178"/>
                <a:gd name="T81" fmla="*/ 1 h 162"/>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178"/>
                <a:gd name="T124" fmla="*/ 0 h 162"/>
                <a:gd name="T125" fmla="*/ 178 w 178"/>
                <a:gd name="T126" fmla="*/ 162 h 162"/>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178" h="162">
                  <a:moveTo>
                    <a:pt x="128" y="3"/>
                  </a:moveTo>
                  <a:lnTo>
                    <a:pt x="133" y="10"/>
                  </a:lnTo>
                  <a:lnTo>
                    <a:pt x="141" y="26"/>
                  </a:lnTo>
                  <a:lnTo>
                    <a:pt x="150" y="49"/>
                  </a:lnTo>
                  <a:lnTo>
                    <a:pt x="158" y="73"/>
                  </a:lnTo>
                  <a:lnTo>
                    <a:pt x="166" y="99"/>
                  </a:lnTo>
                  <a:lnTo>
                    <a:pt x="174" y="121"/>
                  </a:lnTo>
                  <a:lnTo>
                    <a:pt x="178" y="139"/>
                  </a:lnTo>
                  <a:lnTo>
                    <a:pt x="178" y="148"/>
                  </a:lnTo>
                  <a:lnTo>
                    <a:pt x="176" y="152"/>
                  </a:lnTo>
                  <a:lnTo>
                    <a:pt x="173" y="154"/>
                  </a:lnTo>
                  <a:lnTo>
                    <a:pt x="168" y="156"/>
                  </a:lnTo>
                  <a:lnTo>
                    <a:pt x="160" y="159"/>
                  </a:lnTo>
                  <a:lnTo>
                    <a:pt x="148" y="160"/>
                  </a:lnTo>
                  <a:lnTo>
                    <a:pt x="133" y="162"/>
                  </a:lnTo>
                  <a:lnTo>
                    <a:pt x="114" y="162"/>
                  </a:lnTo>
                  <a:lnTo>
                    <a:pt x="88" y="162"/>
                  </a:lnTo>
                  <a:lnTo>
                    <a:pt x="70" y="162"/>
                  </a:lnTo>
                  <a:lnTo>
                    <a:pt x="53" y="162"/>
                  </a:lnTo>
                  <a:lnTo>
                    <a:pt x="38" y="162"/>
                  </a:lnTo>
                  <a:lnTo>
                    <a:pt x="24" y="161"/>
                  </a:lnTo>
                  <a:lnTo>
                    <a:pt x="14" y="159"/>
                  </a:lnTo>
                  <a:lnTo>
                    <a:pt x="6" y="153"/>
                  </a:lnTo>
                  <a:lnTo>
                    <a:pt x="1" y="146"/>
                  </a:lnTo>
                  <a:lnTo>
                    <a:pt x="0" y="134"/>
                  </a:lnTo>
                  <a:lnTo>
                    <a:pt x="0" y="100"/>
                  </a:lnTo>
                  <a:lnTo>
                    <a:pt x="0" y="67"/>
                  </a:lnTo>
                  <a:lnTo>
                    <a:pt x="0" y="42"/>
                  </a:lnTo>
                  <a:lnTo>
                    <a:pt x="0" y="32"/>
                  </a:lnTo>
                  <a:lnTo>
                    <a:pt x="0" y="27"/>
                  </a:lnTo>
                  <a:lnTo>
                    <a:pt x="2" y="17"/>
                  </a:lnTo>
                  <a:lnTo>
                    <a:pt x="10" y="5"/>
                  </a:lnTo>
                  <a:lnTo>
                    <a:pt x="29" y="0"/>
                  </a:lnTo>
                  <a:lnTo>
                    <a:pt x="32" y="0"/>
                  </a:lnTo>
                  <a:lnTo>
                    <a:pt x="42" y="0"/>
                  </a:lnTo>
                  <a:lnTo>
                    <a:pt x="56" y="0"/>
                  </a:lnTo>
                  <a:lnTo>
                    <a:pt x="73" y="0"/>
                  </a:lnTo>
                  <a:lnTo>
                    <a:pt x="91" y="1"/>
                  </a:lnTo>
                  <a:lnTo>
                    <a:pt x="107" y="1"/>
                  </a:lnTo>
                  <a:lnTo>
                    <a:pt x="120" y="2"/>
                  </a:lnTo>
                  <a:lnTo>
                    <a:pt x="128" y="3"/>
                  </a:lnTo>
                  <a:close/>
                </a:path>
              </a:pathLst>
            </a:custGeom>
            <a:solidFill>
              <a:srgbClr val="000000"/>
            </a:solidFill>
            <a:ln w="9525">
              <a:noFill/>
              <a:round/>
            </a:ln>
          </p:spPr>
          <p:txBody>
            <a:bodyPr/>
            <a:lstStyle/>
            <a:p>
              <a:endParaRPr lang="en-US"/>
            </a:p>
          </p:txBody>
        </p:sp>
        <p:sp>
          <p:nvSpPr>
            <p:cNvPr id="1048823" name="Freeform 115"/>
            <p:cNvSpPr/>
            <p:nvPr/>
          </p:nvSpPr>
          <p:spPr bwMode="auto">
            <a:xfrm>
              <a:off x="2442" y="3743"/>
              <a:ext cx="39" cy="66"/>
            </a:xfrm>
            <a:custGeom>
              <a:avLst/>
              <a:gdLst>
                <a:gd name="T0" fmla="*/ 2 w 79"/>
                <a:gd name="T1" fmla="*/ 19 h 131"/>
                <a:gd name="T2" fmla="*/ 0 w 79"/>
                <a:gd name="T3" fmla="*/ 31 h 131"/>
                <a:gd name="T4" fmla="*/ 0 w 79"/>
                <a:gd name="T5" fmla="*/ 43 h 131"/>
                <a:gd name="T6" fmla="*/ 3 w 79"/>
                <a:gd name="T7" fmla="*/ 55 h 131"/>
                <a:gd name="T8" fmla="*/ 9 w 79"/>
                <a:gd name="T9" fmla="*/ 66 h 131"/>
                <a:gd name="T10" fmla="*/ 11 w 79"/>
                <a:gd name="T11" fmla="*/ 66 h 131"/>
                <a:gd name="T12" fmla="*/ 13 w 79"/>
                <a:gd name="T13" fmla="*/ 66 h 131"/>
                <a:gd name="T14" fmla="*/ 15 w 79"/>
                <a:gd name="T15" fmla="*/ 66 h 131"/>
                <a:gd name="T16" fmla="*/ 18 w 79"/>
                <a:gd name="T17" fmla="*/ 66 h 131"/>
                <a:gd name="T18" fmla="*/ 21 w 79"/>
                <a:gd name="T19" fmla="*/ 66 h 131"/>
                <a:gd name="T20" fmla="*/ 23 w 79"/>
                <a:gd name="T21" fmla="*/ 66 h 131"/>
                <a:gd name="T22" fmla="*/ 27 w 79"/>
                <a:gd name="T23" fmla="*/ 65 h 131"/>
                <a:gd name="T24" fmla="*/ 30 w 79"/>
                <a:gd name="T25" fmla="*/ 65 h 131"/>
                <a:gd name="T26" fmla="*/ 32 w 79"/>
                <a:gd name="T27" fmla="*/ 65 h 131"/>
                <a:gd name="T28" fmla="*/ 34 w 79"/>
                <a:gd name="T29" fmla="*/ 65 h 131"/>
                <a:gd name="T30" fmla="*/ 37 w 79"/>
                <a:gd name="T31" fmla="*/ 65 h 131"/>
                <a:gd name="T32" fmla="*/ 39 w 79"/>
                <a:gd name="T33" fmla="*/ 65 h 131"/>
                <a:gd name="T34" fmla="*/ 39 w 79"/>
                <a:gd name="T35" fmla="*/ 0 h 131"/>
                <a:gd name="T36" fmla="*/ 14 w 79"/>
                <a:gd name="T37" fmla="*/ 0 h 131"/>
                <a:gd name="T38" fmla="*/ 10 w 79"/>
                <a:gd name="T39" fmla="*/ 3 h 131"/>
                <a:gd name="T40" fmla="*/ 7 w 79"/>
                <a:gd name="T41" fmla="*/ 7 h 131"/>
                <a:gd name="T42" fmla="*/ 4 w 79"/>
                <a:gd name="T43" fmla="*/ 13 h 131"/>
                <a:gd name="T44" fmla="*/ 2 w 79"/>
                <a:gd name="T45" fmla="*/ 19 h 131"/>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79"/>
                <a:gd name="T70" fmla="*/ 0 h 131"/>
                <a:gd name="T71" fmla="*/ 79 w 79"/>
                <a:gd name="T72" fmla="*/ 131 h 131"/>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79" h="131">
                  <a:moveTo>
                    <a:pt x="4" y="38"/>
                  </a:moveTo>
                  <a:lnTo>
                    <a:pt x="0" y="61"/>
                  </a:lnTo>
                  <a:lnTo>
                    <a:pt x="1" y="86"/>
                  </a:lnTo>
                  <a:lnTo>
                    <a:pt x="7" y="109"/>
                  </a:lnTo>
                  <a:lnTo>
                    <a:pt x="18" y="131"/>
                  </a:lnTo>
                  <a:lnTo>
                    <a:pt x="22" y="131"/>
                  </a:lnTo>
                  <a:lnTo>
                    <a:pt x="27" y="131"/>
                  </a:lnTo>
                  <a:lnTo>
                    <a:pt x="31" y="131"/>
                  </a:lnTo>
                  <a:lnTo>
                    <a:pt x="37" y="131"/>
                  </a:lnTo>
                  <a:lnTo>
                    <a:pt x="42" y="131"/>
                  </a:lnTo>
                  <a:lnTo>
                    <a:pt x="47" y="131"/>
                  </a:lnTo>
                  <a:lnTo>
                    <a:pt x="54" y="130"/>
                  </a:lnTo>
                  <a:lnTo>
                    <a:pt x="60" y="130"/>
                  </a:lnTo>
                  <a:lnTo>
                    <a:pt x="65" y="130"/>
                  </a:lnTo>
                  <a:lnTo>
                    <a:pt x="69" y="130"/>
                  </a:lnTo>
                  <a:lnTo>
                    <a:pt x="74" y="130"/>
                  </a:lnTo>
                  <a:lnTo>
                    <a:pt x="79" y="130"/>
                  </a:lnTo>
                  <a:lnTo>
                    <a:pt x="79" y="0"/>
                  </a:lnTo>
                  <a:lnTo>
                    <a:pt x="29" y="0"/>
                  </a:lnTo>
                  <a:lnTo>
                    <a:pt x="21" y="6"/>
                  </a:lnTo>
                  <a:lnTo>
                    <a:pt x="14" y="14"/>
                  </a:lnTo>
                  <a:lnTo>
                    <a:pt x="8" y="25"/>
                  </a:lnTo>
                  <a:lnTo>
                    <a:pt x="4" y="38"/>
                  </a:lnTo>
                  <a:close/>
                </a:path>
              </a:pathLst>
            </a:custGeom>
            <a:solidFill>
              <a:srgbClr val="BFFFFF"/>
            </a:solidFill>
            <a:ln w="9525">
              <a:noFill/>
              <a:round/>
            </a:ln>
          </p:spPr>
          <p:txBody>
            <a:bodyPr/>
            <a:lstStyle/>
            <a:p>
              <a:endParaRPr lang="en-US"/>
            </a:p>
          </p:txBody>
        </p:sp>
        <p:sp>
          <p:nvSpPr>
            <p:cNvPr id="1048824" name="Freeform 116"/>
            <p:cNvSpPr/>
            <p:nvPr/>
          </p:nvSpPr>
          <p:spPr bwMode="auto">
            <a:xfrm>
              <a:off x="2437" y="3743"/>
              <a:ext cx="20" cy="66"/>
            </a:xfrm>
            <a:custGeom>
              <a:avLst/>
              <a:gdLst>
                <a:gd name="T0" fmla="*/ 0 w 39"/>
                <a:gd name="T1" fmla="*/ 13 h 131"/>
                <a:gd name="T2" fmla="*/ 0 w 39"/>
                <a:gd name="T3" fmla="*/ 17 h 131"/>
                <a:gd name="T4" fmla="*/ 0 w 39"/>
                <a:gd name="T5" fmla="*/ 27 h 131"/>
                <a:gd name="T6" fmla="*/ 0 w 39"/>
                <a:gd name="T7" fmla="*/ 40 h 131"/>
                <a:gd name="T8" fmla="*/ 0 w 39"/>
                <a:gd name="T9" fmla="*/ 54 h 131"/>
                <a:gd name="T10" fmla="*/ 1 w 39"/>
                <a:gd name="T11" fmla="*/ 59 h 131"/>
                <a:gd name="T12" fmla="*/ 4 w 39"/>
                <a:gd name="T13" fmla="*/ 63 h 131"/>
                <a:gd name="T14" fmla="*/ 8 w 39"/>
                <a:gd name="T15" fmla="*/ 65 h 131"/>
                <a:gd name="T16" fmla="*/ 14 w 39"/>
                <a:gd name="T17" fmla="*/ 66 h 131"/>
                <a:gd name="T18" fmla="*/ 9 w 39"/>
                <a:gd name="T19" fmla="*/ 55 h 131"/>
                <a:gd name="T20" fmla="*/ 6 w 39"/>
                <a:gd name="T21" fmla="*/ 43 h 131"/>
                <a:gd name="T22" fmla="*/ 5 w 39"/>
                <a:gd name="T23" fmla="*/ 31 h 131"/>
                <a:gd name="T24" fmla="*/ 7 w 39"/>
                <a:gd name="T25" fmla="*/ 19 h 131"/>
                <a:gd name="T26" fmla="*/ 9 w 39"/>
                <a:gd name="T27" fmla="*/ 13 h 131"/>
                <a:gd name="T28" fmla="*/ 12 w 39"/>
                <a:gd name="T29" fmla="*/ 7 h 131"/>
                <a:gd name="T30" fmla="*/ 16 w 39"/>
                <a:gd name="T31" fmla="*/ 3 h 131"/>
                <a:gd name="T32" fmla="*/ 20 w 39"/>
                <a:gd name="T33" fmla="*/ 0 h 131"/>
                <a:gd name="T34" fmla="*/ 12 w 39"/>
                <a:gd name="T35" fmla="*/ 0 h 131"/>
                <a:gd name="T36" fmla="*/ 6 w 39"/>
                <a:gd name="T37" fmla="*/ 2 h 131"/>
                <a:gd name="T38" fmla="*/ 2 w 39"/>
                <a:gd name="T39" fmla="*/ 6 h 131"/>
                <a:gd name="T40" fmla="*/ 1 w 39"/>
                <a:gd name="T41" fmla="*/ 11 h 131"/>
                <a:gd name="T42" fmla="*/ 0 w 39"/>
                <a:gd name="T43" fmla="*/ 13 h 131"/>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39"/>
                <a:gd name="T67" fmla="*/ 0 h 131"/>
                <a:gd name="T68" fmla="*/ 39 w 39"/>
                <a:gd name="T69" fmla="*/ 131 h 131"/>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39" h="131">
                  <a:moveTo>
                    <a:pt x="0" y="25"/>
                  </a:moveTo>
                  <a:lnTo>
                    <a:pt x="0" y="33"/>
                  </a:lnTo>
                  <a:lnTo>
                    <a:pt x="0" y="54"/>
                  </a:lnTo>
                  <a:lnTo>
                    <a:pt x="0" y="80"/>
                  </a:lnTo>
                  <a:lnTo>
                    <a:pt x="0" y="108"/>
                  </a:lnTo>
                  <a:lnTo>
                    <a:pt x="2" y="118"/>
                  </a:lnTo>
                  <a:lnTo>
                    <a:pt x="8" y="125"/>
                  </a:lnTo>
                  <a:lnTo>
                    <a:pt x="16" y="129"/>
                  </a:lnTo>
                  <a:lnTo>
                    <a:pt x="28" y="131"/>
                  </a:lnTo>
                  <a:lnTo>
                    <a:pt x="17" y="109"/>
                  </a:lnTo>
                  <a:lnTo>
                    <a:pt x="11" y="86"/>
                  </a:lnTo>
                  <a:lnTo>
                    <a:pt x="10" y="61"/>
                  </a:lnTo>
                  <a:lnTo>
                    <a:pt x="14" y="38"/>
                  </a:lnTo>
                  <a:lnTo>
                    <a:pt x="18" y="25"/>
                  </a:lnTo>
                  <a:lnTo>
                    <a:pt x="24" y="14"/>
                  </a:lnTo>
                  <a:lnTo>
                    <a:pt x="31" y="6"/>
                  </a:lnTo>
                  <a:lnTo>
                    <a:pt x="39" y="0"/>
                  </a:lnTo>
                  <a:lnTo>
                    <a:pt x="24" y="0"/>
                  </a:lnTo>
                  <a:lnTo>
                    <a:pt x="11" y="3"/>
                  </a:lnTo>
                  <a:lnTo>
                    <a:pt x="3" y="12"/>
                  </a:lnTo>
                  <a:lnTo>
                    <a:pt x="1" y="22"/>
                  </a:lnTo>
                  <a:lnTo>
                    <a:pt x="0" y="25"/>
                  </a:lnTo>
                  <a:close/>
                </a:path>
              </a:pathLst>
            </a:custGeom>
            <a:solidFill>
              <a:srgbClr val="3FFFFF"/>
            </a:solidFill>
            <a:ln w="9525">
              <a:noFill/>
              <a:round/>
            </a:ln>
          </p:spPr>
          <p:txBody>
            <a:bodyPr/>
            <a:lstStyle/>
            <a:p>
              <a:endParaRPr lang="en-US"/>
            </a:p>
          </p:txBody>
        </p:sp>
        <p:sp>
          <p:nvSpPr>
            <p:cNvPr id="1048825" name="Freeform 117"/>
            <p:cNvSpPr/>
            <p:nvPr/>
          </p:nvSpPr>
          <p:spPr bwMode="auto">
            <a:xfrm>
              <a:off x="2489" y="3745"/>
              <a:ext cx="21" cy="62"/>
            </a:xfrm>
            <a:custGeom>
              <a:avLst/>
              <a:gdLst>
                <a:gd name="T0" fmla="*/ 21 w 40"/>
                <a:gd name="T1" fmla="*/ 58 h 126"/>
                <a:gd name="T2" fmla="*/ 20 w 40"/>
                <a:gd name="T3" fmla="*/ 54 h 126"/>
                <a:gd name="T4" fmla="*/ 18 w 40"/>
                <a:gd name="T5" fmla="*/ 48 h 126"/>
                <a:gd name="T6" fmla="*/ 16 w 40"/>
                <a:gd name="T7" fmla="*/ 40 h 126"/>
                <a:gd name="T8" fmla="*/ 13 w 40"/>
                <a:gd name="T9" fmla="*/ 31 h 126"/>
                <a:gd name="T10" fmla="*/ 8 w 40"/>
                <a:gd name="T11" fmla="*/ 21 h 126"/>
                <a:gd name="T12" fmla="*/ 5 w 40"/>
                <a:gd name="T13" fmla="*/ 13 h 126"/>
                <a:gd name="T14" fmla="*/ 2 w 40"/>
                <a:gd name="T15" fmla="*/ 5 h 126"/>
                <a:gd name="T16" fmla="*/ 0 w 40"/>
                <a:gd name="T17" fmla="*/ 0 h 126"/>
                <a:gd name="T18" fmla="*/ 0 w 40"/>
                <a:gd name="T19" fmla="*/ 1 h 126"/>
                <a:gd name="T20" fmla="*/ 6 w 40"/>
                <a:gd name="T21" fmla="*/ 20 h 126"/>
                <a:gd name="T22" fmla="*/ 9 w 40"/>
                <a:gd name="T23" fmla="*/ 36 h 126"/>
                <a:gd name="T24" fmla="*/ 10 w 40"/>
                <a:gd name="T25" fmla="*/ 50 h 126"/>
                <a:gd name="T26" fmla="*/ 9 w 40"/>
                <a:gd name="T27" fmla="*/ 62 h 126"/>
                <a:gd name="T28" fmla="*/ 14 w 40"/>
                <a:gd name="T29" fmla="*/ 61 h 126"/>
                <a:gd name="T30" fmla="*/ 17 w 40"/>
                <a:gd name="T31" fmla="*/ 60 h 126"/>
                <a:gd name="T32" fmla="*/ 20 w 40"/>
                <a:gd name="T33" fmla="*/ 59 h 126"/>
                <a:gd name="T34" fmla="*/ 21 w 40"/>
                <a:gd name="T35" fmla="*/ 58 h 12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0"/>
                <a:gd name="T55" fmla="*/ 0 h 126"/>
                <a:gd name="T56" fmla="*/ 40 w 40"/>
                <a:gd name="T57" fmla="*/ 126 h 12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0" h="126">
                  <a:moveTo>
                    <a:pt x="40" y="117"/>
                  </a:moveTo>
                  <a:lnTo>
                    <a:pt x="39" y="110"/>
                  </a:lnTo>
                  <a:lnTo>
                    <a:pt x="35" y="97"/>
                  </a:lnTo>
                  <a:lnTo>
                    <a:pt x="30" y="81"/>
                  </a:lnTo>
                  <a:lnTo>
                    <a:pt x="24" y="62"/>
                  </a:lnTo>
                  <a:lnTo>
                    <a:pt x="16" y="43"/>
                  </a:lnTo>
                  <a:lnTo>
                    <a:pt x="10" y="26"/>
                  </a:lnTo>
                  <a:lnTo>
                    <a:pt x="4" y="11"/>
                  </a:lnTo>
                  <a:lnTo>
                    <a:pt x="0" y="0"/>
                  </a:lnTo>
                  <a:lnTo>
                    <a:pt x="0" y="3"/>
                  </a:lnTo>
                  <a:lnTo>
                    <a:pt x="12" y="41"/>
                  </a:lnTo>
                  <a:lnTo>
                    <a:pt x="18" y="74"/>
                  </a:lnTo>
                  <a:lnTo>
                    <a:pt x="19" y="102"/>
                  </a:lnTo>
                  <a:lnTo>
                    <a:pt x="17" y="126"/>
                  </a:lnTo>
                  <a:lnTo>
                    <a:pt x="26" y="124"/>
                  </a:lnTo>
                  <a:lnTo>
                    <a:pt x="33" y="122"/>
                  </a:lnTo>
                  <a:lnTo>
                    <a:pt x="38" y="120"/>
                  </a:lnTo>
                  <a:lnTo>
                    <a:pt x="40" y="117"/>
                  </a:lnTo>
                  <a:close/>
                </a:path>
              </a:pathLst>
            </a:custGeom>
            <a:solidFill>
              <a:srgbClr val="3FFFFF"/>
            </a:solidFill>
            <a:ln w="9525">
              <a:noFill/>
              <a:round/>
            </a:ln>
          </p:spPr>
          <p:txBody>
            <a:bodyPr/>
            <a:lstStyle/>
            <a:p>
              <a:endParaRPr lang="en-US"/>
            </a:p>
          </p:txBody>
        </p:sp>
        <p:sp>
          <p:nvSpPr>
            <p:cNvPr id="1048826" name="Freeform 118"/>
            <p:cNvSpPr/>
            <p:nvPr/>
          </p:nvSpPr>
          <p:spPr bwMode="auto">
            <a:xfrm>
              <a:off x="2489" y="3746"/>
              <a:ext cx="10" cy="61"/>
            </a:xfrm>
            <a:custGeom>
              <a:avLst/>
              <a:gdLst>
                <a:gd name="T0" fmla="*/ 0 w 19"/>
                <a:gd name="T1" fmla="*/ 0 h 123"/>
                <a:gd name="T2" fmla="*/ 0 w 19"/>
                <a:gd name="T3" fmla="*/ 61 h 123"/>
                <a:gd name="T4" fmla="*/ 2 w 19"/>
                <a:gd name="T5" fmla="*/ 61 h 123"/>
                <a:gd name="T6" fmla="*/ 5 w 19"/>
                <a:gd name="T7" fmla="*/ 61 h 123"/>
                <a:gd name="T8" fmla="*/ 7 w 19"/>
                <a:gd name="T9" fmla="*/ 61 h 123"/>
                <a:gd name="T10" fmla="*/ 9 w 19"/>
                <a:gd name="T11" fmla="*/ 61 h 123"/>
                <a:gd name="T12" fmla="*/ 10 w 19"/>
                <a:gd name="T13" fmla="*/ 49 h 123"/>
                <a:gd name="T14" fmla="*/ 9 w 19"/>
                <a:gd name="T15" fmla="*/ 35 h 123"/>
                <a:gd name="T16" fmla="*/ 6 w 19"/>
                <a:gd name="T17" fmla="*/ 19 h 123"/>
                <a:gd name="T18" fmla="*/ 0 w 19"/>
                <a:gd name="T19" fmla="*/ 0 h 12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9"/>
                <a:gd name="T31" fmla="*/ 0 h 123"/>
                <a:gd name="T32" fmla="*/ 19 w 19"/>
                <a:gd name="T33" fmla="*/ 123 h 123"/>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9" h="123">
                  <a:moveTo>
                    <a:pt x="0" y="0"/>
                  </a:moveTo>
                  <a:lnTo>
                    <a:pt x="0" y="123"/>
                  </a:lnTo>
                  <a:lnTo>
                    <a:pt x="4" y="123"/>
                  </a:lnTo>
                  <a:lnTo>
                    <a:pt x="9" y="123"/>
                  </a:lnTo>
                  <a:lnTo>
                    <a:pt x="14" y="123"/>
                  </a:lnTo>
                  <a:lnTo>
                    <a:pt x="17" y="123"/>
                  </a:lnTo>
                  <a:lnTo>
                    <a:pt x="19" y="99"/>
                  </a:lnTo>
                  <a:lnTo>
                    <a:pt x="18" y="71"/>
                  </a:lnTo>
                  <a:lnTo>
                    <a:pt x="12" y="38"/>
                  </a:lnTo>
                  <a:lnTo>
                    <a:pt x="0" y="0"/>
                  </a:lnTo>
                  <a:close/>
                </a:path>
              </a:pathLst>
            </a:custGeom>
            <a:solidFill>
              <a:srgbClr val="BFFFFF"/>
            </a:solidFill>
            <a:ln w="9525">
              <a:noFill/>
              <a:round/>
            </a:ln>
          </p:spPr>
          <p:txBody>
            <a:bodyPr/>
            <a:lstStyle/>
            <a:p>
              <a:endParaRPr lang="en-US"/>
            </a:p>
          </p:txBody>
        </p:sp>
        <p:sp>
          <p:nvSpPr>
            <p:cNvPr id="1048827" name="Freeform 119"/>
            <p:cNvSpPr/>
            <p:nvPr/>
          </p:nvSpPr>
          <p:spPr bwMode="auto">
            <a:xfrm>
              <a:off x="2470" y="3779"/>
              <a:ext cx="7" cy="11"/>
            </a:xfrm>
            <a:custGeom>
              <a:avLst/>
              <a:gdLst>
                <a:gd name="T0" fmla="*/ 4 w 14"/>
                <a:gd name="T1" fmla="*/ 11 h 21"/>
                <a:gd name="T2" fmla="*/ 5 w 14"/>
                <a:gd name="T3" fmla="*/ 10 h 21"/>
                <a:gd name="T4" fmla="*/ 6 w 14"/>
                <a:gd name="T5" fmla="*/ 9 h 21"/>
                <a:gd name="T6" fmla="*/ 6 w 14"/>
                <a:gd name="T7" fmla="*/ 8 h 21"/>
                <a:gd name="T8" fmla="*/ 7 w 14"/>
                <a:gd name="T9" fmla="*/ 6 h 21"/>
                <a:gd name="T10" fmla="*/ 6 w 14"/>
                <a:gd name="T11" fmla="*/ 3 h 21"/>
                <a:gd name="T12" fmla="*/ 6 w 14"/>
                <a:gd name="T13" fmla="*/ 2 h 21"/>
                <a:gd name="T14" fmla="*/ 5 w 14"/>
                <a:gd name="T15" fmla="*/ 1 h 21"/>
                <a:gd name="T16" fmla="*/ 4 w 14"/>
                <a:gd name="T17" fmla="*/ 0 h 21"/>
                <a:gd name="T18" fmla="*/ 2 w 14"/>
                <a:gd name="T19" fmla="*/ 1 h 21"/>
                <a:gd name="T20" fmla="*/ 1 w 14"/>
                <a:gd name="T21" fmla="*/ 2 h 21"/>
                <a:gd name="T22" fmla="*/ 0 w 14"/>
                <a:gd name="T23" fmla="*/ 3 h 21"/>
                <a:gd name="T24" fmla="*/ 0 w 14"/>
                <a:gd name="T25" fmla="*/ 6 h 21"/>
                <a:gd name="T26" fmla="*/ 0 w 14"/>
                <a:gd name="T27" fmla="*/ 8 h 21"/>
                <a:gd name="T28" fmla="*/ 1 w 14"/>
                <a:gd name="T29" fmla="*/ 9 h 21"/>
                <a:gd name="T30" fmla="*/ 2 w 14"/>
                <a:gd name="T31" fmla="*/ 10 h 21"/>
                <a:gd name="T32" fmla="*/ 4 w 14"/>
                <a:gd name="T33" fmla="*/ 11 h 21"/>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4"/>
                <a:gd name="T52" fmla="*/ 0 h 21"/>
                <a:gd name="T53" fmla="*/ 14 w 14"/>
                <a:gd name="T54" fmla="*/ 21 h 21"/>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4" h="21">
                  <a:moveTo>
                    <a:pt x="7" y="21"/>
                  </a:moveTo>
                  <a:lnTo>
                    <a:pt x="9" y="20"/>
                  </a:lnTo>
                  <a:lnTo>
                    <a:pt x="11" y="18"/>
                  </a:lnTo>
                  <a:lnTo>
                    <a:pt x="12" y="15"/>
                  </a:lnTo>
                  <a:lnTo>
                    <a:pt x="14" y="11"/>
                  </a:lnTo>
                  <a:lnTo>
                    <a:pt x="12" y="6"/>
                  </a:lnTo>
                  <a:lnTo>
                    <a:pt x="11" y="4"/>
                  </a:lnTo>
                  <a:lnTo>
                    <a:pt x="9" y="2"/>
                  </a:lnTo>
                  <a:lnTo>
                    <a:pt x="7" y="0"/>
                  </a:lnTo>
                  <a:lnTo>
                    <a:pt x="3" y="2"/>
                  </a:lnTo>
                  <a:lnTo>
                    <a:pt x="2" y="4"/>
                  </a:lnTo>
                  <a:lnTo>
                    <a:pt x="0" y="6"/>
                  </a:lnTo>
                  <a:lnTo>
                    <a:pt x="0" y="11"/>
                  </a:lnTo>
                  <a:lnTo>
                    <a:pt x="0" y="15"/>
                  </a:lnTo>
                  <a:lnTo>
                    <a:pt x="2" y="18"/>
                  </a:lnTo>
                  <a:lnTo>
                    <a:pt x="3" y="20"/>
                  </a:lnTo>
                  <a:lnTo>
                    <a:pt x="7" y="21"/>
                  </a:lnTo>
                  <a:close/>
                </a:path>
              </a:pathLst>
            </a:custGeom>
            <a:solidFill>
              <a:srgbClr val="FFFFFF"/>
            </a:solidFill>
            <a:ln w="9525">
              <a:noFill/>
              <a:round/>
            </a:ln>
          </p:spPr>
          <p:txBody>
            <a:bodyPr/>
            <a:lstStyle/>
            <a:p>
              <a:endParaRPr lang="en-US"/>
            </a:p>
          </p:txBody>
        </p:sp>
        <p:sp>
          <p:nvSpPr>
            <p:cNvPr id="1048828" name="Freeform 120"/>
            <p:cNvSpPr/>
            <p:nvPr/>
          </p:nvSpPr>
          <p:spPr bwMode="auto">
            <a:xfrm>
              <a:off x="2460" y="3762"/>
              <a:ext cx="7" cy="9"/>
            </a:xfrm>
            <a:custGeom>
              <a:avLst/>
              <a:gdLst>
                <a:gd name="T0" fmla="*/ 4 w 15"/>
                <a:gd name="T1" fmla="*/ 9 h 17"/>
                <a:gd name="T2" fmla="*/ 5 w 15"/>
                <a:gd name="T3" fmla="*/ 8 h 17"/>
                <a:gd name="T4" fmla="*/ 6 w 15"/>
                <a:gd name="T5" fmla="*/ 8 h 17"/>
                <a:gd name="T6" fmla="*/ 7 w 15"/>
                <a:gd name="T7" fmla="*/ 6 h 17"/>
                <a:gd name="T8" fmla="*/ 7 w 15"/>
                <a:gd name="T9" fmla="*/ 4 h 17"/>
                <a:gd name="T10" fmla="*/ 7 w 15"/>
                <a:gd name="T11" fmla="*/ 2 h 17"/>
                <a:gd name="T12" fmla="*/ 6 w 15"/>
                <a:gd name="T13" fmla="*/ 1 h 17"/>
                <a:gd name="T14" fmla="*/ 5 w 15"/>
                <a:gd name="T15" fmla="*/ 1 h 17"/>
                <a:gd name="T16" fmla="*/ 4 w 15"/>
                <a:gd name="T17" fmla="*/ 0 h 17"/>
                <a:gd name="T18" fmla="*/ 2 w 15"/>
                <a:gd name="T19" fmla="*/ 1 h 17"/>
                <a:gd name="T20" fmla="*/ 1 w 15"/>
                <a:gd name="T21" fmla="*/ 1 h 17"/>
                <a:gd name="T22" fmla="*/ 0 w 15"/>
                <a:gd name="T23" fmla="*/ 2 h 17"/>
                <a:gd name="T24" fmla="*/ 0 w 15"/>
                <a:gd name="T25" fmla="*/ 4 h 17"/>
                <a:gd name="T26" fmla="*/ 0 w 15"/>
                <a:gd name="T27" fmla="*/ 6 h 17"/>
                <a:gd name="T28" fmla="*/ 1 w 15"/>
                <a:gd name="T29" fmla="*/ 8 h 17"/>
                <a:gd name="T30" fmla="*/ 2 w 15"/>
                <a:gd name="T31" fmla="*/ 8 h 17"/>
                <a:gd name="T32" fmla="*/ 4 w 15"/>
                <a:gd name="T33" fmla="*/ 9 h 1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5"/>
                <a:gd name="T52" fmla="*/ 0 h 17"/>
                <a:gd name="T53" fmla="*/ 15 w 15"/>
                <a:gd name="T54" fmla="*/ 17 h 17"/>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5" h="17">
                  <a:moveTo>
                    <a:pt x="8" y="17"/>
                  </a:moveTo>
                  <a:lnTo>
                    <a:pt x="10" y="16"/>
                  </a:lnTo>
                  <a:lnTo>
                    <a:pt x="13" y="15"/>
                  </a:lnTo>
                  <a:lnTo>
                    <a:pt x="14" y="11"/>
                  </a:lnTo>
                  <a:lnTo>
                    <a:pt x="15" y="8"/>
                  </a:lnTo>
                  <a:lnTo>
                    <a:pt x="14" y="4"/>
                  </a:lnTo>
                  <a:lnTo>
                    <a:pt x="13" y="2"/>
                  </a:lnTo>
                  <a:lnTo>
                    <a:pt x="10" y="1"/>
                  </a:lnTo>
                  <a:lnTo>
                    <a:pt x="8" y="0"/>
                  </a:lnTo>
                  <a:lnTo>
                    <a:pt x="5" y="1"/>
                  </a:lnTo>
                  <a:lnTo>
                    <a:pt x="2" y="2"/>
                  </a:lnTo>
                  <a:lnTo>
                    <a:pt x="1" y="4"/>
                  </a:lnTo>
                  <a:lnTo>
                    <a:pt x="0" y="8"/>
                  </a:lnTo>
                  <a:lnTo>
                    <a:pt x="1" y="11"/>
                  </a:lnTo>
                  <a:lnTo>
                    <a:pt x="2" y="15"/>
                  </a:lnTo>
                  <a:lnTo>
                    <a:pt x="5" y="16"/>
                  </a:lnTo>
                  <a:lnTo>
                    <a:pt x="8" y="17"/>
                  </a:lnTo>
                  <a:close/>
                </a:path>
              </a:pathLst>
            </a:custGeom>
            <a:solidFill>
              <a:srgbClr val="FFFFFF"/>
            </a:solidFill>
            <a:ln w="9525">
              <a:noFill/>
              <a:round/>
            </a:ln>
          </p:spPr>
          <p:txBody>
            <a:bodyPr/>
            <a:lstStyle/>
            <a:p>
              <a:endParaRPr lang="en-US"/>
            </a:p>
          </p:txBody>
        </p:sp>
        <p:sp>
          <p:nvSpPr>
            <p:cNvPr id="1048829" name="Rectangle 121"/>
            <p:cNvSpPr>
              <a:spLocks noChangeArrowheads="1"/>
            </p:cNvSpPr>
            <p:nvPr/>
          </p:nvSpPr>
          <p:spPr bwMode="auto">
            <a:xfrm>
              <a:off x="2412" y="3730"/>
              <a:ext cx="6" cy="201"/>
            </a:xfrm>
            <a:prstGeom prst="rect">
              <a:avLst/>
            </a:prstGeom>
            <a:solidFill>
              <a:srgbClr val="000000"/>
            </a:solidFill>
            <a:ln w="9525">
              <a:noFill/>
              <a:miter lim="800000"/>
            </a:ln>
          </p:spPr>
          <p:txBody>
            <a:bodyPr/>
            <a:lstStyle/>
            <a:p>
              <a:endParaRPr lang="en-US"/>
            </a:p>
          </p:txBody>
        </p:sp>
        <p:sp>
          <p:nvSpPr>
            <p:cNvPr id="1048830" name="Freeform 122"/>
            <p:cNvSpPr/>
            <p:nvPr/>
          </p:nvSpPr>
          <p:spPr bwMode="auto">
            <a:xfrm>
              <a:off x="2512" y="3831"/>
              <a:ext cx="36" cy="99"/>
            </a:xfrm>
            <a:custGeom>
              <a:avLst/>
              <a:gdLst>
                <a:gd name="T0" fmla="*/ 5 w 71"/>
                <a:gd name="T1" fmla="*/ 99 h 197"/>
                <a:gd name="T2" fmla="*/ 5 w 71"/>
                <a:gd name="T3" fmla="*/ 97 h 197"/>
                <a:gd name="T4" fmla="*/ 5 w 71"/>
                <a:gd name="T5" fmla="*/ 93 h 197"/>
                <a:gd name="T6" fmla="*/ 6 w 71"/>
                <a:gd name="T7" fmla="*/ 86 h 197"/>
                <a:gd name="T8" fmla="*/ 9 w 71"/>
                <a:gd name="T9" fmla="*/ 78 h 197"/>
                <a:gd name="T10" fmla="*/ 12 w 71"/>
                <a:gd name="T11" fmla="*/ 69 h 197"/>
                <a:gd name="T12" fmla="*/ 18 w 71"/>
                <a:gd name="T13" fmla="*/ 61 h 197"/>
                <a:gd name="T14" fmla="*/ 25 w 71"/>
                <a:gd name="T15" fmla="*/ 54 h 197"/>
                <a:gd name="T16" fmla="*/ 36 w 71"/>
                <a:gd name="T17" fmla="*/ 49 h 197"/>
                <a:gd name="T18" fmla="*/ 36 w 71"/>
                <a:gd name="T19" fmla="*/ 0 h 197"/>
                <a:gd name="T20" fmla="*/ 30 w 71"/>
                <a:gd name="T21" fmla="*/ 0 h 197"/>
                <a:gd name="T22" fmla="*/ 30 w 71"/>
                <a:gd name="T23" fmla="*/ 45 h 197"/>
                <a:gd name="T24" fmla="*/ 29 w 71"/>
                <a:gd name="T25" fmla="*/ 45 h 197"/>
                <a:gd name="T26" fmla="*/ 25 w 71"/>
                <a:gd name="T27" fmla="*/ 47 h 197"/>
                <a:gd name="T28" fmla="*/ 21 w 71"/>
                <a:gd name="T29" fmla="*/ 50 h 197"/>
                <a:gd name="T30" fmla="*/ 16 w 71"/>
                <a:gd name="T31" fmla="*/ 56 h 197"/>
                <a:gd name="T32" fmla="*/ 10 w 71"/>
                <a:gd name="T33" fmla="*/ 63 h 197"/>
                <a:gd name="T34" fmla="*/ 5 w 71"/>
                <a:gd name="T35" fmla="*/ 72 h 197"/>
                <a:gd name="T36" fmla="*/ 2 w 71"/>
                <a:gd name="T37" fmla="*/ 84 h 197"/>
                <a:gd name="T38" fmla="*/ 0 w 71"/>
                <a:gd name="T39" fmla="*/ 99 h 197"/>
                <a:gd name="T40" fmla="*/ 5 w 71"/>
                <a:gd name="T41" fmla="*/ 99 h 197"/>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71"/>
                <a:gd name="T64" fmla="*/ 0 h 197"/>
                <a:gd name="T65" fmla="*/ 71 w 71"/>
                <a:gd name="T66" fmla="*/ 197 h 197"/>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71" h="197">
                  <a:moveTo>
                    <a:pt x="9" y="197"/>
                  </a:moveTo>
                  <a:lnTo>
                    <a:pt x="9" y="194"/>
                  </a:lnTo>
                  <a:lnTo>
                    <a:pt x="10" y="185"/>
                  </a:lnTo>
                  <a:lnTo>
                    <a:pt x="12" y="172"/>
                  </a:lnTo>
                  <a:lnTo>
                    <a:pt x="17" y="156"/>
                  </a:lnTo>
                  <a:lnTo>
                    <a:pt x="24" y="138"/>
                  </a:lnTo>
                  <a:lnTo>
                    <a:pt x="35" y="122"/>
                  </a:lnTo>
                  <a:lnTo>
                    <a:pt x="50" y="107"/>
                  </a:lnTo>
                  <a:lnTo>
                    <a:pt x="71" y="97"/>
                  </a:lnTo>
                  <a:lnTo>
                    <a:pt x="71" y="0"/>
                  </a:lnTo>
                  <a:lnTo>
                    <a:pt x="60" y="0"/>
                  </a:lnTo>
                  <a:lnTo>
                    <a:pt x="60" y="89"/>
                  </a:lnTo>
                  <a:lnTo>
                    <a:pt x="57" y="90"/>
                  </a:lnTo>
                  <a:lnTo>
                    <a:pt x="50" y="93"/>
                  </a:lnTo>
                  <a:lnTo>
                    <a:pt x="41" y="100"/>
                  </a:lnTo>
                  <a:lnTo>
                    <a:pt x="31" y="111"/>
                  </a:lnTo>
                  <a:lnTo>
                    <a:pt x="19" y="126"/>
                  </a:lnTo>
                  <a:lnTo>
                    <a:pt x="10" y="144"/>
                  </a:lnTo>
                  <a:lnTo>
                    <a:pt x="3" y="168"/>
                  </a:lnTo>
                  <a:lnTo>
                    <a:pt x="0" y="197"/>
                  </a:lnTo>
                  <a:lnTo>
                    <a:pt x="9" y="197"/>
                  </a:lnTo>
                  <a:close/>
                </a:path>
              </a:pathLst>
            </a:custGeom>
            <a:solidFill>
              <a:srgbClr val="000000"/>
            </a:solidFill>
            <a:ln w="9525">
              <a:noFill/>
              <a:round/>
            </a:ln>
          </p:spPr>
          <p:txBody>
            <a:bodyPr/>
            <a:lstStyle/>
            <a:p>
              <a:endParaRPr lang="en-US"/>
            </a:p>
          </p:txBody>
        </p:sp>
        <p:sp>
          <p:nvSpPr>
            <p:cNvPr id="1048831" name="Freeform 123"/>
            <p:cNvSpPr/>
            <p:nvPr/>
          </p:nvSpPr>
          <p:spPr bwMode="auto">
            <a:xfrm>
              <a:off x="2601" y="3829"/>
              <a:ext cx="8" cy="6"/>
            </a:xfrm>
            <a:custGeom>
              <a:avLst/>
              <a:gdLst>
                <a:gd name="T0" fmla="*/ 4 w 16"/>
                <a:gd name="T1" fmla="*/ 6 h 10"/>
                <a:gd name="T2" fmla="*/ 6 w 16"/>
                <a:gd name="T3" fmla="*/ 6 h 10"/>
                <a:gd name="T4" fmla="*/ 7 w 16"/>
                <a:gd name="T5" fmla="*/ 5 h 10"/>
                <a:gd name="T6" fmla="*/ 7 w 16"/>
                <a:gd name="T7" fmla="*/ 4 h 10"/>
                <a:gd name="T8" fmla="*/ 8 w 16"/>
                <a:gd name="T9" fmla="*/ 3 h 10"/>
                <a:gd name="T10" fmla="*/ 7 w 16"/>
                <a:gd name="T11" fmla="*/ 2 h 10"/>
                <a:gd name="T12" fmla="*/ 7 w 16"/>
                <a:gd name="T13" fmla="*/ 1 h 10"/>
                <a:gd name="T14" fmla="*/ 6 w 16"/>
                <a:gd name="T15" fmla="*/ 0 h 10"/>
                <a:gd name="T16" fmla="*/ 4 w 16"/>
                <a:gd name="T17" fmla="*/ 0 h 10"/>
                <a:gd name="T18" fmla="*/ 2 w 16"/>
                <a:gd name="T19" fmla="*/ 0 h 10"/>
                <a:gd name="T20" fmla="*/ 1 w 16"/>
                <a:gd name="T21" fmla="*/ 1 h 10"/>
                <a:gd name="T22" fmla="*/ 1 w 16"/>
                <a:gd name="T23" fmla="*/ 2 h 10"/>
                <a:gd name="T24" fmla="*/ 0 w 16"/>
                <a:gd name="T25" fmla="*/ 3 h 10"/>
                <a:gd name="T26" fmla="*/ 1 w 16"/>
                <a:gd name="T27" fmla="*/ 4 h 10"/>
                <a:gd name="T28" fmla="*/ 1 w 16"/>
                <a:gd name="T29" fmla="*/ 5 h 10"/>
                <a:gd name="T30" fmla="*/ 2 w 16"/>
                <a:gd name="T31" fmla="*/ 6 h 10"/>
                <a:gd name="T32" fmla="*/ 4 w 16"/>
                <a:gd name="T33" fmla="*/ 6 h 10"/>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6"/>
                <a:gd name="T52" fmla="*/ 0 h 10"/>
                <a:gd name="T53" fmla="*/ 16 w 16"/>
                <a:gd name="T54" fmla="*/ 10 h 10"/>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6" h="10">
                  <a:moveTo>
                    <a:pt x="8" y="10"/>
                  </a:moveTo>
                  <a:lnTo>
                    <a:pt x="12" y="10"/>
                  </a:lnTo>
                  <a:lnTo>
                    <a:pt x="14" y="9"/>
                  </a:lnTo>
                  <a:lnTo>
                    <a:pt x="15" y="7"/>
                  </a:lnTo>
                  <a:lnTo>
                    <a:pt x="16" y="5"/>
                  </a:lnTo>
                  <a:lnTo>
                    <a:pt x="15" y="3"/>
                  </a:lnTo>
                  <a:lnTo>
                    <a:pt x="14" y="1"/>
                  </a:lnTo>
                  <a:lnTo>
                    <a:pt x="12" y="0"/>
                  </a:lnTo>
                  <a:lnTo>
                    <a:pt x="8" y="0"/>
                  </a:lnTo>
                  <a:lnTo>
                    <a:pt x="5" y="0"/>
                  </a:lnTo>
                  <a:lnTo>
                    <a:pt x="3" y="1"/>
                  </a:lnTo>
                  <a:lnTo>
                    <a:pt x="1" y="3"/>
                  </a:lnTo>
                  <a:lnTo>
                    <a:pt x="0" y="5"/>
                  </a:lnTo>
                  <a:lnTo>
                    <a:pt x="1" y="7"/>
                  </a:lnTo>
                  <a:lnTo>
                    <a:pt x="3" y="9"/>
                  </a:lnTo>
                  <a:lnTo>
                    <a:pt x="5" y="10"/>
                  </a:lnTo>
                  <a:lnTo>
                    <a:pt x="8" y="10"/>
                  </a:lnTo>
                  <a:close/>
                </a:path>
              </a:pathLst>
            </a:custGeom>
            <a:solidFill>
              <a:srgbClr val="FFFFFF"/>
            </a:solidFill>
            <a:ln w="9525">
              <a:noFill/>
              <a:round/>
            </a:ln>
          </p:spPr>
          <p:txBody>
            <a:bodyPr/>
            <a:lstStyle/>
            <a:p>
              <a:endParaRPr lang="en-US"/>
            </a:p>
          </p:txBody>
        </p:sp>
        <p:sp>
          <p:nvSpPr>
            <p:cNvPr id="1048832" name="Freeform 124"/>
            <p:cNvSpPr/>
            <p:nvPr/>
          </p:nvSpPr>
          <p:spPr bwMode="auto">
            <a:xfrm>
              <a:off x="2254" y="3826"/>
              <a:ext cx="98" cy="24"/>
            </a:xfrm>
            <a:custGeom>
              <a:avLst/>
              <a:gdLst>
                <a:gd name="T0" fmla="*/ 49 w 195"/>
                <a:gd name="T1" fmla="*/ 15 h 48"/>
                <a:gd name="T2" fmla="*/ 43 w 195"/>
                <a:gd name="T3" fmla="*/ 15 h 48"/>
                <a:gd name="T4" fmla="*/ 38 w 195"/>
                <a:gd name="T5" fmla="*/ 14 h 48"/>
                <a:gd name="T6" fmla="*/ 33 w 195"/>
                <a:gd name="T7" fmla="*/ 13 h 48"/>
                <a:gd name="T8" fmla="*/ 28 w 195"/>
                <a:gd name="T9" fmla="*/ 11 h 48"/>
                <a:gd name="T10" fmla="*/ 24 w 195"/>
                <a:gd name="T11" fmla="*/ 9 h 48"/>
                <a:gd name="T12" fmla="*/ 20 w 195"/>
                <a:gd name="T13" fmla="*/ 6 h 48"/>
                <a:gd name="T14" fmla="*/ 16 w 195"/>
                <a:gd name="T15" fmla="*/ 3 h 48"/>
                <a:gd name="T16" fmla="*/ 13 w 195"/>
                <a:gd name="T17" fmla="*/ 0 h 48"/>
                <a:gd name="T18" fmla="*/ 0 w 195"/>
                <a:gd name="T19" fmla="*/ 0 h 48"/>
                <a:gd name="T20" fmla="*/ 4 w 195"/>
                <a:gd name="T21" fmla="*/ 5 h 48"/>
                <a:gd name="T22" fmla="*/ 8 w 195"/>
                <a:gd name="T23" fmla="*/ 10 h 48"/>
                <a:gd name="T24" fmla="*/ 13 w 195"/>
                <a:gd name="T25" fmla="*/ 13 h 48"/>
                <a:gd name="T26" fmla="*/ 20 w 195"/>
                <a:gd name="T27" fmla="*/ 17 h 48"/>
                <a:gd name="T28" fmla="*/ 26 w 195"/>
                <a:gd name="T29" fmla="*/ 20 h 48"/>
                <a:gd name="T30" fmla="*/ 33 w 195"/>
                <a:gd name="T31" fmla="*/ 23 h 48"/>
                <a:gd name="T32" fmla="*/ 41 w 195"/>
                <a:gd name="T33" fmla="*/ 24 h 48"/>
                <a:gd name="T34" fmla="*/ 49 w 195"/>
                <a:gd name="T35" fmla="*/ 24 h 48"/>
                <a:gd name="T36" fmla="*/ 57 w 195"/>
                <a:gd name="T37" fmla="*/ 24 h 48"/>
                <a:gd name="T38" fmla="*/ 65 w 195"/>
                <a:gd name="T39" fmla="*/ 23 h 48"/>
                <a:gd name="T40" fmla="*/ 71 w 195"/>
                <a:gd name="T41" fmla="*/ 20 h 48"/>
                <a:gd name="T42" fmla="*/ 78 w 195"/>
                <a:gd name="T43" fmla="*/ 17 h 48"/>
                <a:gd name="T44" fmla="*/ 84 w 195"/>
                <a:gd name="T45" fmla="*/ 13 h 48"/>
                <a:gd name="T46" fmla="*/ 89 w 195"/>
                <a:gd name="T47" fmla="*/ 10 h 48"/>
                <a:gd name="T48" fmla="*/ 94 w 195"/>
                <a:gd name="T49" fmla="*/ 5 h 48"/>
                <a:gd name="T50" fmla="*/ 98 w 195"/>
                <a:gd name="T51" fmla="*/ 0 h 48"/>
                <a:gd name="T52" fmla="*/ 85 w 195"/>
                <a:gd name="T53" fmla="*/ 0 h 48"/>
                <a:gd name="T54" fmla="*/ 81 w 195"/>
                <a:gd name="T55" fmla="*/ 3 h 48"/>
                <a:gd name="T56" fmla="*/ 78 w 195"/>
                <a:gd name="T57" fmla="*/ 6 h 48"/>
                <a:gd name="T58" fmla="*/ 74 w 195"/>
                <a:gd name="T59" fmla="*/ 9 h 48"/>
                <a:gd name="T60" fmla="*/ 69 w 195"/>
                <a:gd name="T61" fmla="*/ 11 h 48"/>
                <a:gd name="T62" fmla="*/ 65 w 195"/>
                <a:gd name="T63" fmla="*/ 13 h 48"/>
                <a:gd name="T64" fmla="*/ 59 w 195"/>
                <a:gd name="T65" fmla="*/ 14 h 48"/>
                <a:gd name="T66" fmla="*/ 54 w 195"/>
                <a:gd name="T67" fmla="*/ 15 h 48"/>
                <a:gd name="T68" fmla="*/ 49 w 195"/>
                <a:gd name="T69" fmla="*/ 15 h 48"/>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195"/>
                <a:gd name="T106" fmla="*/ 0 h 48"/>
                <a:gd name="T107" fmla="*/ 195 w 195"/>
                <a:gd name="T108" fmla="*/ 48 h 48"/>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195" h="48">
                  <a:moveTo>
                    <a:pt x="98" y="31"/>
                  </a:moveTo>
                  <a:lnTo>
                    <a:pt x="86" y="30"/>
                  </a:lnTo>
                  <a:lnTo>
                    <a:pt x="76" y="29"/>
                  </a:lnTo>
                  <a:lnTo>
                    <a:pt x="65" y="26"/>
                  </a:lnTo>
                  <a:lnTo>
                    <a:pt x="56" y="22"/>
                  </a:lnTo>
                  <a:lnTo>
                    <a:pt x="47" y="18"/>
                  </a:lnTo>
                  <a:lnTo>
                    <a:pt x="39" y="12"/>
                  </a:lnTo>
                  <a:lnTo>
                    <a:pt x="32" y="7"/>
                  </a:lnTo>
                  <a:lnTo>
                    <a:pt x="25" y="0"/>
                  </a:lnTo>
                  <a:lnTo>
                    <a:pt x="0" y="0"/>
                  </a:lnTo>
                  <a:lnTo>
                    <a:pt x="7" y="10"/>
                  </a:lnTo>
                  <a:lnTo>
                    <a:pt x="16" y="19"/>
                  </a:lnTo>
                  <a:lnTo>
                    <a:pt x="26" y="27"/>
                  </a:lnTo>
                  <a:lnTo>
                    <a:pt x="39" y="34"/>
                  </a:lnTo>
                  <a:lnTo>
                    <a:pt x="51" y="40"/>
                  </a:lnTo>
                  <a:lnTo>
                    <a:pt x="66" y="45"/>
                  </a:lnTo>
                  <a:lnTo>
                    <a:pt x="81" y="47"/>
                  </a:lnTo>
                  <a:lnTo>
                    <a:pt x="98" y="48"/>
                  </a:lnTo>
                  <a:lnTo>
                    <a:pt x="114" y="47"/>
                  </a:lnTo>
                  <a:lnTo>
                    <a:pt x="129" y="45"/>
                  </a:lnTo>
                  <a:lnTo>
                    <a:pt x="142" y="40"/>
                  </a:lnTo>
                  <a:lnTo>
                    <a:pt x="155" y="34"/>
                  </a:lnTo>
                  <a:lnTo>
                    <a:pt x="168" y="27"/>
                  </a:lnTo>
                  <a:lnTo>
                    <a:pt x="178" y="19"/>
                  </a:lnTo>
                  <a:lnTo>
                    <a:pt x="187" y="10"/>
                  </a:lnTo>
                  <a:lnTo>
                    <a:pt x="195" y="0"/>
                  </a:lnTo>
                  <a:lnTo>
                    <a:pt x="169" y="0"/>
                  </a:lnTo>
                  <a:lnTo>
                    <a:pt x="162" y="7"/>
                  </a:lnTo>
                  <a:lnTo>
                    <a:pt x="155" y="12"/>
                  </a:lnTo>
                  <a:lnTo>
                    <a:pt x="147" y="18"/>
                  </a:lnTo>
                  <a:lnTo>
                    <a:pt x="138" y="22"/>
                  </a:lnTo>
                  <a:lnTo>
                    <a:pt x="129" y="26"/>
                  </a:lnTo>
                  <a:lnTo>
                    <a:pt x="118" y="29"/>
                  </a:lnTo>
                  <a:lnTo>
                    <a:pt x="108" y="30"/>
                  </a:lnTo>
                  <a:lnTo>
                    <a:pt x="98" y="31"/>
                  </a:lnTo>
                  <a:close/>
                </a:path>
              </a:pathLst>
            </a:custGeom>
            <a:solidFill>
              <a:srgbClr val="FFFFFF"/>
            </a:solidFill>
            <a:ln w="9525">
              <a:noFill/>
              <a:round/>
            </a:ln>
          </p:spPr>
          <p:txBody>
            <a:bodyPr/>
            <a:lstStyle/>
            <a:p>
              <a:endParaRPr lang="en-US"/>
            </a:p>
          </p:txBody>
        </p:sp>
        <p:sp>
          <p:nvSpPr>
            <p:cNvPr id="1048833" name="Freeform 125"/>
            <p:cNvSpPr/>
            <p:nvPr/>
          </p:nvSpPr>
          <p:spPr bwMode="auto">
            <a:xfrm>
              <a:off x="2292" y="3831"/>
              <a:ext cx="26" cy="30"/>
            </a:xfrm>
            <a:custGeom>
              <a:avLst/>
              <a:gdLst>
                <a:gd name="T0" fmla="*/ 21 w 51"/>
                <a:gd name="T1" fmla="*/ 0 h 60"/>
                <a:gd name="T2" fmla="*/ 22 w 51"/>
                <a:gd name="T3" fmla="*/ 1 h 60"/>
                <a:gd name="T4" fmla="*/ 24 w 51"/>
                <a:gd name="T5" fmla="*/ 3 h 60"/>
                <a:gd name="T6" fmla="*/ 26 w 51"/>
                <a:gd name="T7" fmla="*/ 5 h 60"/>
                <a:gd name="T8" fmla="*/ 25 w 51"/>
                <a:gd name="T9" fmla="*/ 8 h 60"/>
                <a:gd name="T10" fmla="*/ 25 w 51"/>
                <a:gd name="T11" fmla="*/ 8 h 60"/>
                <a:gd name="T12" fmla="*/ 25 w 51"/>
                <a:gd name="T13" fmla="*/ 10 h 60"/>
                <a:gd name="T14" fmla="*/ 24 w 51"/>
                <a:gd name="T15" fmla="*/ 11 h 60"/>
                <a:gd name="T16" fmla="*/ 25 w 51"/>
                <a:gd name="T17" fmla="*/ 14 h 60"/>
                <a:gd name="T18" fmla="*/ 26 w 51"/>
                <a:gd name="T19" fmla="*/ 15 h 60"/>
                <a:gd name="T20" fmla="*/ 25 w 51"/>
                <a:gd name="T21" fmla="*/ 18 h 60"/>
                <a:gd name="T22" fmla="*/ 24 w 51"/>
                <a:gd name="T23" fmla="*/ 19 h 60"/>
                <a:gd name="T24" fmla="*/ 23 w 51"/>
                <a:gd name="T25" fmla="*/ 19 h 60"/>
                <a:gd name="T26" fmla="*/ 24 w 51"/>
                <a:gd name="T27" fmla="*/ 20 h 60"/>
                <a:gd name="T28" fmla="*/ 25 w 51"/>
                <a:gd name="T29" fmla="*/ 22 h 60"/>
                <a:gd name="T30" fmla="*/ 26 w 51"/>
                <a:gd name="T31" fmla="*/ 26 h 60"/>
                <a:gd name="T32" fmla="*/ 24 w 51"/>
                <a:gd name="T33" fmla="*/ 29 h 60"/>
                <a:gd name="T34" fmla="*/ 22 w 51"/>
                <a:gd name="T35" fmla="*/ 30 h 60"/>
                <a:gd name="T36" fmla="*/ 19 w 51"/>
                <a:gd name="T37" fmla="*/ 30 h 60"/>
                <a:gd name="T38" fmla="*/ 16 w 51"/>
                <a:gd name="T39" fmla="*/ 30 h 60"/>
                <a:gd name="T40" fmla="*/ 12 w 51"/>
                <a:gd name="T41" fmla="*/ 30 h 60"/>
                <a:gd name="T42" fmla="*/ 8 w 51"/>
                <a:gd name="T43" fmla="*/ 30 h 60"/>
                <a:gd name="T44" fmla="*/ 5 w 51"/>
                <a:gd name="T45" fmla="*/ 29 h 60"/>
                <a:gd name="T46" fmla="*/ 2 w 51"/>
                <a:gd name="T47" fmla="*/ 28 h 60"/>
                <a:gd name="T48" fmla="*/ 1 w 51"/>
                <a:gd name="T49" fmla="*/ 27 h 60"/>
                <a:gd name="T50" fmla="*/ 0 w 51"/>
                <a:gd name="T51" fmla="*/ 25 h 60"/>
                <a:gd name="T52" fmla="*/ 2 w 51"/>
                <a:gd name="T53" fmla="*/ 22 h 60"/>
                <a:gd name="T54" fmla="*/ 3 w 51"/>
                <a:gd name="T55" fmla="*/ 21 h 60"/>
                <a:gd name="T56" fmla="*/ 4 w 51"/>
                <a:gd name="T57" fmla="*/ 20 h 60"/>
                <a:gd name="T58" fmla="*/ 3 w 51"/>
                <a:gd name="T59" fmla="*/ 20 h 60"/>
                <a:gd name="T60" fmla="*/ 2 w 51"/>
                <a:gd name="T61" fmla="*/ 18 h 60"/>
                <a:gd name="T62" fmla="*/ 1 w 51"/>
                <a:gd name="T63" fmla="*/ 15 h 60"/>
                <a:gd name="T64" fmla="*/ 1 w 51"/>
                <a:gd name="T65" fmla="*/ 14 h 60"/>
                <a:gd name="T66" fmla="*/ 3 w 51"/>
                <a:gd name="T67" fmla="*/ 12 h 60"/>
                <a:gd name="T68" fmla="*/ 4 w 51"/>
                <a:gd name="T69" fmla="*/ 11 h 60"/>
                <a:gd name="T70" fmla="*/ 5 w 51"/>
                <a:gd name="T71" fmla="*/ 11 h 60"/>
                <a:gd name="T72" fmla="*/ 5 w 51"/>
                <a:gd name="T73" fmla="*/ 11 h 60"/>
                <a:gd name="T74" fmla="*/ 3 w 51"/>
                <a:gd name="T75" fmla="*/ 10 h 60"/>
                <a:gd name="T76" fmla="*/ 2 w 51"/>
                <a:gd name="T77" fmla="*/ 8 h 60"/>
                <a:gd name="T78" fmla="*/ 1 w 51"/>
                <a:gd name="T79" fmla="*/ 6 h 60"/>
                <a:gd name="T80" fmla="*/ 2 w 51"/>
                <a:gd name="T81" fmla="*/ 4 h 60"/>
                <a:gd name="T82" fmla="*/ 4 w 51"/>
                <a:gd name="T83" fmla="*/ 2 h 60"/>
                <a:gd name="T84" fmla="*/ 5 w 51"/>
                <a:gd name="T85" fmla="*/ 1 h 60"/>
                <a:gd name="T86" fmla="*/ 6 w 51"/>
                <a:gd name="T87" fmla="*/ 1 h 60"/>
                <a:gd name="T88" fmla="*/ 7 w 51"/>
                <a:gd name="T89" fmla="*/ 1 h 60"/>
                <a:gd name="T90" fmla="*/ 21 w 51"/>
                <a:gd name="T91" fmla="*/ 0 h 60"/>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w 51"/>
                <a:gd name="T139" fmla="*/ 0 h 60"/>
                <a:gd name="T140" fmla="*/ 51 w 51"/>
                <a:gd name="T141" fmla="*/ 60 h 60"/>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T138" t="T139" r="T140" b="T141"/>
              <a:pathLst>
                <a:path w="51" h="60">
                  <a:moveTo>
                    <a:pt x="42" y="0"/>
                  </a:moveTo>
                  <a:lnTo>
                    <a:pt x="44" y="1"/>
                  </a:lnTo>
                  <a:lnTo>
                    <a:pt x="48" y="5"/>
                  </a:lnTo>
                  <a:lnTo>
                    <a:pt x="51" y="9"/>
                  </a:lnTo>
                  <a:lnTo>
                    <a:pt x="50" y="15"/>
                  </a:lnTo>
                  <a:lnTo>
                    <a:pt x="49" y="16"/>
                  </a:lnTo>
                  <a:lnTo>
                    <a:pt x="49" y="19"/>
                  </a:lnTo>
                  <a:lnTo>
                    <a:pt x="48" y="22"/>
                  </a:lnTo>
                  <a:lnTo>
                    <a:pt x="50" y="27"/>
                  </a:lnTo>
                  <a:lnTo>
                    <a:pt x="51" y="31"/>
                  </a:lnTo>
                  <a:lnTo>
                    <a:pt x="49" y="35"/>
                  </a:lnTo>
                  <a:lnTo>
                    <a:pt x="47" y="37"/>
                  </a:lnTo>
                  <a:lnTo>
                    <a:pt x="46" y="38"/>
                  </a:lnTo>
                  <a:lnTo>
                    <a:pt x="47" y="40"/>
                  </a:lnTo>
                  <a:lnTo>
                    <a:pt x="50" y="44"/>
                  </a:lnTo>
                  <a:lnTo>
                    <a:pt x="51" y="51"/>
                  </a:lnTo>
                  <a:lnTo>
                    <a:pt x="48" y="57"/>
                  </a:lnTo>
                  <a:lnTo>
                    <a:pt x="43" y="59"/>
                  </a:lnTo>
                  <a:lnTo>
                    <a:pt x="38" y="60"/>
                  </a:lnTo>
                  <a:lnTo>
                    <a:pt x="31" y="60"/>
                  </a:lnTo>
                  <a:lnTo>
                    <a:pt x="23" y="60"/>
                  </a:lnTo>
                  <a:lnTo>
                    <a:pt x="16" y="59"/>
                  </a:lnTo>
                  <a:lnTo>
                    <a:pt x="9" y="58"/>
                  </a:lnTo>
                  <a:lnTo>
                    <a:pt x="4" y="55"/>
                  </a:lnTo>
                  <a:lnTo>
                    <a:pt x="1" y="53"/>
                  </a:lnTo>
                  <a:lnTo>
                    <a:pt x="0" y="49"/>
                  </a:lnTo>
                  <a:lnTo>
                    <a:pt x="3" y="44"/>
                  </a:lnTo>
                  <a:lnTo>
                    <a:pt x="6" y="42"/>
                  </a:lnTo>
                  <a:lnTo>
                    <a:pt x="8" y="40"/>
                  </a:lnTo>
                  <a:lnTo>
                    <a:pt x="6" y="39"/>
                  </a:lnTo>
                  <a:lnTo>
                    <a:pt x="3" y="36"/>
                  </a:lnTo>
                  <a:lnTo>
                    <a:pt x="1" y="31"/>
                  </a:lnTo>
                  <a:lnTo>
                    <a:pt x="2" y="27"/>
                  </a:lnTo>
                  <a:lnTo>
                    <a:pt x="5" y="23"/>
                  </a:lnTo>
                  <a:lnTo>
                    <a:pt x="8" y="22"/>
                  </a:lnTo>
                  <a:lnTo>
                    <a:pt x="9" y="21"/>
                  </a:lnTo>
                  <a:lnTo>
                    <a:pt x="6" y="20"/>
                  </a:lnTo>
                  <a:lnTo>
                    <a:pt x="3" y="16"/>
                  </a:lnTo>
                  <a:lnTo>
                    <a:pt x="1" y="12"/>
                  </a:lnTo>
                  <a:lnTo>
                    <a:pt x="3" y="7"/>
                  </a:lnTo>
                  <a:lnTo>
                    <a:pt x="8" y="4"/>
                  </a:lnTo>
                  <a:lnTo>
                    <a:pt x="10" y="2"/>
                  </a:lnTo>
                  <a:lnTo>
                    <a:pt x="12" y="2"/>
                  </a:lnTo>
                  <a:lnTo>
                    <a:pt x="13" y="2"/>
                  </a:lnTo>
                  <a:lnTo>
                    <a:pt x="42" y="0"/>
                  </a:lnTo>
                  <a:close/>
                </a:path>
              </a:pathLst>
            </a:custGeom>
            <a:solidFill>
              <a:srgbClr val="FFDB82"/>
            </a:solidFill>
            <a:ln w="9525">
              <a:noFill/>
              <a:round/>
            </a:ln>
          </p:spPr>
          <p:txBody>
            <a:bodyPr/>
            <a:lstStyle/>
            <a:p>
              <a:endParaRPr lang="en-US"/>
            </a:p>
          </p:txBody>
        </p:sp>
        <p:sp>
          <p:nvSpPr>
            <p:cNvPr id="1048834" name="Freeform 126"/>
            <p:cNvSpPr/>
            <p:nvPr/>
          </p:nvSpPr>
          <p:spPr bwMode="auto">
            <a:xfrm>
              <a:off x="2249" y="3761"/>
              <a:ext cx="108" cy="37"/>
            </a:xfrm>
            <a:custGeom>
              <a:avLst/>
              <a:gdLst>
                <a:gd name="T0" fmla="*/ 54 w 217"/>
                <a:gd name="T1" fmla="*/ 9 h 72"/>
                <a:gd name="T2" fmla="*/ 62 w 217"/>
                <a:gd name="T3" fmla="*/ 9 h 72"/>
                <a:gd name="T4" fmla="*/ 69 w 217"/>
                <a:gd name="T5" fmla="*/ 11 h 72"/>
                <a:gd name="T6" fmla="*/ 75 w 217"/>
                <a:gd name="T7" fmla="*/ 13 h 72"/>
                <a:gd name="T8" fmla="*/ 82 w 217"/>
                <a:gd name="T9" fmla="*/ 17 h 72"/>
                <a:gd name="T10" fmla="*/ 87 w 217"/>
                <a:gd name="T11" fmla="*/ 21 h 72"/>
                <a:gd name="T12" fmla="*/ 91 w 217"/>
                <a:gd name="T13" fmla="*/ 26 h 72"/>
                <a:gd name="T14" fmla="*/ 94 w 217"/>
                <a:gd name="T15" fmla="*/ 31 h 72"/>
                <a:gd name="T16" fmla="*/ 97 w 217"/>
                <a:gd name="T17" fmla="*/ 37 h 72"/>
                <a:gd name="T18" fmla="*/ 108 w 217"/>
                <a:gd name="T19" fmla="*/ 37 h 72"/>
                <a:gd name="T20" fmla="*/ 106 w 217"/>
                <a:gd name="T21" fmla="*/ 29 h 72"/>
                <a:gd name="T22" fmla="*/ 102 w 217"/>
                <a:gd name="T23" fmla="*/ 22 h 72"/>
                <a:gd name="T24" fmla="*/ 96 w 217"/>
                <a:gd name="T25" fmla="*/ 16 h 72"/>
                <a:gd name="T26" fmla="*/ 90 w 217"/>
                <a:gd name="T27" fmla="*/ 10 h 72"/>
                <a:gd name="T28" fmla="*/ 82 w 217"/>
                <a:gd name="T29" fmla="*/ 6 h 72"/>
                <a:gd name="T30" fmla="*/ 73 w 217"/>
                <a:gd name="T31" fmla="*/ 3 h 72"/>
                <a:gd name="T32" fmla="*/ 64 w 217"/>
                <a:gd name="T33" fmla="*/ 1 h 72"/>
                <a:gd name="T34" fmla="*/ 54 w 217"/>
                <a:gd name="T35" fmla="*/ 0 h 72"/>
                <a:gd name="T36" fmla="*/ 44 w 217"/>
                <a:gd name="T37" fmla="*/ 1 h 72"/>
                <a:gd name="T38" fmla="*/ 35 w 217"/>
                <a:gd name="T39" fmla="*/ 3 h 72"/>
                <a:gd name="T40" fmla="*/ 26 w 217"/>
                <a:gd name="T41" fmla="*/ 6 h 72"/>
                <a:gd name="T42" fmla="*/ 18 w 217"/>
                <a:gd name="T43" fmla="*/ 10 h 72"/>
                <a:gd name="T44" fmla="*/ 12 w 217"/>
                <a:gd name="T45" fmla="*/ 16 h 72"/>
                <a:gd name="T46" fmla="*/ 6 w 217"/>
                <a:gd name="T47" fmla="*/ 22 h 72"/>
                <a:gd name="T48" fmla="*/ 2 w 217"/>
                <a:gd name="T49" fmla="*/ 29 h 72"/>
                <a:gd name="T50" fmla="*/ 0 w 217"/>
                <a:gd name="T51" fmla="*/ 37 h 72"/>
                <a:gd name="T52" fmla="*/ 11 w 217"/>
                <a:gd name="T53" fmla="*/ 37 h 72"/>
                <a:gd name="T54" fmla="*/ 14 w 217"/>
                <a:gd name="T55" fmla="*/ 31 h 72"/>
                <a:gd name="T56" fmla="*/ 17 w 217"/>
                <a:gd name="T57" fmla="*/ 26 h 72"/>
                <a:gd name="T58" fmla="*/ 21 w 217"/>
                <a:gd name="T59" fmla="*/ 21 h 72"/>
                <a:gd name="T60" fmla="*/ 26 w 217"/>
                <a:gd name="T61" fmla="*/ 17 h 72"/>
                <a:gd name="T62" fmla="*/ 32 w 217"/>
                <a:gd name="T63" fmla="*/ 13 h 72"/>
                <a:gd name="T64" fmla="*/ 39 w 217"/>
                <a:gd name="T65" fmla="*/ 11 h 72"/>
                <a:gd name="T66" fmla="*/ 46 w 217"/>
                <a:gd name="T67" fmla="*/ 9 h 72"/>
                <a:gd name="T68" fmla="*/ 54 w 217"/>
                <a:gd name="T69" fmla="*/ 9 h 72"/>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217"/>
                <a:gd name="T106" fmla="*/ 0 h 72"/>
                <a:gd name="T107" fmla="*/ 217 w 217"/>
                <a:gd name="T108" fmla="*/ 72 h 72"/>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217" h="72">
                  <a:moveTo>
                    <a:pt x="109" y="17"/>
                  </a:moveTo>
                  <a:lnTo>
                    <a:pt x="124" y="18"/>
                  </a:lnTo>
                  <a:lnTo>
                    <a:pt x="139" y="22"/>
                  </a:lnTo>
                  <a:lnTo>
                    <a:pt x="151" y="26"/>
                  </a:lnTo>
                  <a:lnTo>
                    <a:pt x="164" y="33"/>
                  </a:lnTo>
                  <a:lnTo>
                    <a:pt x="174" y="41"/>
                  </a:lnTo>
                  <a:lnTo>
                    <a:pt x="182" y="50"/>
                  </a:lnTo>
                  <a:lnTo>
                    <a:pt x="189" y="61"/>
                  </a:lnTo>
                  <a:lnTo>
                    <a:pt x="194" y="72"/>
                  </a:lnTo>
                  <a:lnTo>
                    <a:pt x="217" y="72"/>
                  </a:lnTo>
                  <a:lnTo>
                    <a:pt x="212" y="57"/>
                  </a:lnTo>
                  <a:lnTo>
                    <a:pt x="204" y="43"/>
                  </a:lnTo>
                  <a:lnTo>
                    <a:pt x="193" y="31"/>
                  </a:lnTo>
                  <a:lnTo>
                    <a:pt x="180" y="20"/>
                  </a:lnTo>
                  <a:lnTo>
                    <a:pt x="164" y="11"/>
                  </a:lnTo>
                  <a:lnTo>
                    <a:pt x="147" y="5"/>
                  </a:lnTo>
                  <a:lnTo>
                    <a:pt x="128" y="1"/>
                  </a:lnTo>
                  <a:lnTo>
                    <a:pt x="109" y="0"/>
                  </a:lnTo>
                  <a:lnTo>
                    <a:pt x="89" y="1"/>
                  </a:lnTo>
                  <a:lnTo>
                    <a:pt x="71" y="5"/>
                  </a:lnTo>
                  <a:lnTo>
                    <a:pt x="53" y="11"/>
                  </a:lnTo>
                  <a:lnTo>
                    <a:pt x="37" y="20"/>
                  </a:lnTo>
                  <a:lnTo>
                    <a:pt x="24" y="31"/>
                  </a:lnTo>
                  <a:lnTo>
                    <a:pt x="13" y="43"/>
                  </a:lnTo>
                  <a:lnTo>
                    <a:pt x="5" y="57"/>
                  </a:lnTo>
                  <a:lnTo>
                    <a:pt x="0" y="72"/>
                  </a:lnTo>
                  <a:lnTo>
                    <a:pt x="23" y="72"/>
                  </a:lnTo>
                  <a:lnTo>
                    <a:pt x="28" y="61"/>
                  </a:lnTo>
                  <a:lnTo>
                    <a:pt x="34" y="50"/>
                  </a:lnTo>
                  <a:lnTo>
                    <a:pt x="43" y="41"/>
                  </a:lnTo>
                  <a:lnTo>
                    <a:pt x="53" y="33"/>
                  </a:lnTo>
                  <a:lnTo>
                    <a:pt x="65" y="26"/>
                  </a:lnTo>
                  <a:lnTo>
                    <a:pt x="79" y="22"/>
                  </a:lnTo>
                  <a:lnTo>
                    <a:pt x="92" y="18"/>
                  </a:lnTo>
                  <a:lnTo>
                    <a:pt x="109" y="17"/>
                  </a:lnTo>
                  <a:close/>
                </a:path>
              </a:pathLst>
            </a:custGeom>
            <a:solidFill>
              <a:srgbClr val="FFFFFF"/>
            </a:solidFill>
            <a:ln w="9525">
              <a:noFill/>
              <a:round/>
            </a:ln>
          </p:spPr>
          <p:txBody>
            <a:bodyPr/>
            <a:lstStyle/>
            <a:p>
              <a:endParaRPr lang="en-US"/>
            </a:p>
          </p:txBody>
        </p:sp>
        <p:sp>
          <p:nvSpPr>
            <p:cNvPr id="1048835" name="Freeform 127"/>
            <p:cNvSpPr/>
            <p:nvPr/>
          </p:nvSpPr>
          <p:spPr bwMode="auto">
            <a:xfrm>
              <a:off x="2248" y="3798"/>
              <a:ext cx="19" cy="28"/>
            </a:xfrm>
            <a:custGeom>
              <a:avLst/>
              <a:gdLst>
                <a:gd name="T0" fmla="*/ 11 w 38"/>
                <a:gd name="T1" fmla="*/ 8 h 57"/>
                <a:gd name="T2" fmla="*/ 11 w 38"/>
                <a:gd name="T3" fmla="*/ 6 h 57"/>
                <a:gd name="T4" fmla="*/ 11 w 38"/>
                <a:gd name="T5" fmla="*/ 4 h 57"/>
                <a:gd name="T6" fmla="*/ 12 w 38"/>
                <a:gd name="T7" fmla="*/ 2 h 57"/>
                <a:gd name="T8" fmla="*/ 12 w 38"/>
                <a:gd name="T9" fmla="*/ 0 h 57"/>
                <a:gd name="T10" fmla="*/ 1 w 38"/>
                <a:gd name="T11" fmla="*/ 0 h 57"/>
                <a:gd name="T12" fmla="*/ 1 w 38"/>
                <a:gd name="T13" fmla="*/ 2 h 57"/>
                <a:gd name="T14" fmla="*/ 1 w 38"/>
                <a:gd name="T15" fmla="*/ 4 h 57"/>
                <a:gd name="T16" fmla="*/ 0 w 38"/>
                <a:gd name="T17" fmla="*/ 6 h 57"/>
                <a:gd name="T18" fmla="*/ 0 w 38"/>
                <a:gd name="T19" fmla="*/ 8 h 57"/>
                <a:gd name="T20" fmla="*/ 1 w 38"/>
                <a:gd name="T21" fmla="*/ 13 h 57"/>
                <a:gd name="T22" fmla="*/ 1 w 38"/>
                <a:gd name="T23" fmla="*/ 18 h 57"/>
                <a:gd name="T24" fmla="*/ 3 w 38"/>
                <a:gd name="T25" fmla="*/ 24 h 57"/>
                <a:gd name="T26" fmla="*/ 6 w 38"/>
                <a:gd name="T27" fmla="*/ 28 h 57"/>
                <a:gd name="T28" fmla="*/ 19 w 38"/>
                <a:gd name="T29" fmla="*/ 28 h 57"/>
                <a:gd name="T30" fmla="*/ 16 w 38"/>
                <a:gd name="T31" fmla="*/ 24 h 57"/>
                <a:gd name="T32" fmla="*/ 14 w 38"/>
                <a:gd name="T33" fmla="*/ 19 h 57"/>
                <a:gd name="T34" fmla="*/ 12 w 38"/>
                <a:gd name="T35" fmla="*/ 14 h 57"/>
                <a:gd name="T36" fmla="*/ 11 w 38"/>
                <a:gd name="T37" fmla="*/ 8 h 57"/>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38"/>
                <a:gd name="T58" fmla="*/ 0 h 57"/>
                <a:gd name="T59" fmla="*/ 38 w 38"/>
                <a:gd name="T60" fmla="*/ 57 h 57"/>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38" h="57">
                  <a:moveTo>
                    <a:pt x="23" y="16"/>
                  </a:moveTo>
                  <a:lnTo>
                    <a:pt x="23" y="12"/>
                  </a:lnTo>
                  <a:lnTo>
                    <a:pt x="23" y="8"/>
                  </a:lnTo>
                  <a:lnTo>
                    <a:pt x="24" y="5"/>
                  </a:lnTo>
                  <a:lnTo>
                    <a:pt x="25" y="0"/>
                  </a:lnTo>
                  <a:lnTo>
                    <a:pt x="2" y="0"/>
                  </a:lnTo>
                  <a:lnTo>
                    <a:pt x="1" y="5"/>
                  </a:lnTo>
                  <a:lnTo>
                    <a:pt x="1" y="8"/>
                  </a:lnTo>
                  <a:lnTo>
                    <a:pt x="0" y="12"/>
                  </a:lnTo>
                  <a:lnTo>
                    <a:pt x="0" y="16"/>
                  </a:lnTo>
                  <a:lnTo>
                    <a:pt x="1" y="27"/>
                  </a:lnTo>
                  <a:lnTo>
                    <a:pt x="3" y="37"/>
                  </a:lnTo>
                  <a:lnTo>
                    <a:pt x="7" y="48"/>
                  </a:lnTo>
                  <a:lnTo>
                    <a:pt x="13" y="57"/>
                  </a:lnTo>
                  <a:lnTo>
                    <a:pt x="38" y="57"/>
                  </a:lnTo>
                  <a:lnTo>
                    <a:pt x="32" y="48"/>
                  </a:lnTo>
                  <a:lnTo>
                    <a:pt x="28" y="38"/>
                  </a:lnTo>
                  <a:lnTo>
                    <a:pt x="24" y="28"/>
                  </a:lnTo>
                  <a:lnTo>
                    <a:pt x="23" y="16"/>
                  </a:lnTo>
                  <a:close/>
                </a:path>
              </a:pathLst>
            </a:custGeom>
            <a:solidFill>
              <a:srgbClr val="FFFFFF"/>
            </a:solidFill>
            <a:ln w="9525">
              <a:noFill/>
              <a:round/>
            </a:ln>
          </p:spPr>
          <p:txBody>
            <a:bodyPr/>
            <a:lstStyle/>
            <a:p>
              <a:endParaRPr lang="en-US"/>
            </a:p>
          </p:txBody>
        </p:sp>
        <p:sp>
          <p:nvSpPr>
            <p:cNvPr id="1048836" name="Freeform 128"/>
            <p:cNvSpPr/>
            <p:nvPr/>
          </p:nvSpPr>
          <p:spPr bwMode="auto">
            <a:xfrm>
              <a:off x="2339" y="3798"/>
              <a:ext cx="19" cy="28"/>
            </a:xfrm>
            <a:custGeom>
              <a:avLst/>
              <a:gdLst>
                <a:gd name="T0" fmla="*/ 19 w 38"/>
                <a:gd name="T1" fmla="*/ 0 h 57"/>
                <a:gd name="T2" fmla="*/ 7 w 38"/>
                <a:gd name="T3" fmla="*/ 0 h 57"/>
                <a:gd name="T4" fmla="*/ 7 w 38"/>
                <a:gd name="T5" fmla="*/ 2 h 57"/>
                <a:gd name="T6" fmla="*/ 7 w 38"/>
                <a:gd name="T7" fmla="*/ 4 h 57"/>
                <a:gd name="T8" fmla="*/ 7 w 38"/>
                <a:gd name="T9" fmla="*/ 6 h 57"/>
                <a:gd name="T10" fmla="*/ 7 w 38"/>
                <a:gd name="T11" fmla="*/ 8 h 57"/>
                <a:gd name="T12" fmla="*/ 7 w 38"/>
                <a:gd name="T13" fmla="*/ 14 h 57"/>
                <a:gd name="T14" fmla="*/ 6 w 38"/>
                <a:gd name="T15" fmla="*/ 19 h 57"/>
                <a:gd name="T16" fmla="*/ 3 w 38"/>
                <a:gd name="T17" fmla="*/ 24 h 57"/>
                <a:gd name="T18" fmla="*/ 0 w 38"/>
                <a:gd name="T19" fmla="*/ 28 h 57"/>
                <a:gd name="T20" fmla="*/ 13 w 38"/>
                <a:gd name="T21" fmla="*/ 28 h 57"/>
                <a:gd name="T22" fmla="*/ 15 w 38"/>
                <a:gd name="T23" fmla="*/ 24 h 57"/>
                <a:gd name="T24" fmla="*/ 18 w 38"/>
                <a:gd name="T25" fmla="*/ 18 h 57"/>
                <a:gd name="T26" fmla="*/ 19 w 38"/>
                <a:gd name="T27" fmla="*/ 13 h 57"/>
                <a:gd name="T28" fmla="*/ 19 w 38"/>
                <a:gd name="T29" fmla="*/ 8 h 57"/>
                <a:gd name="T30" fmla="*/ 19 w 38"/>
                <a:gd name="T31" fmla="*/ 6 h 57"/>
                <a:gd name="T32" fmla="*/ 19 w 38"/>
                <a:gd name="T33" fmla="*/ 4 h 57"/>
                <a:gd name="T34" fmla="*/ 19 w 38"/>
                <a:gd name="T35" fmla="*/ 2 h 57"/>
                <a:gd name="T36" fmla="*/ 19 w 38"/>
                <a:gd name="T37" fmla="*/ 0 h 57"/>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38"/>
                <a:gd name="T58" fmla="*/ 0 h 57"/>
                <a:gd name="T59" fmla="*/ 38 w 38"/>
                <a:gd name="T60" fmla="*/ 57 h 57"/>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38" h="57">
                  <a:moveTo>
                    <a:pt x="37" y="0"/>
                  </a:moveTo>
                  <a:lnTo>
                    <a:pt x="14" y="0"/>
                  </a:lnTo>
                  <a:lnTo>
                    <a:pt x="15" y="5"/>
                  </a:lnTo>
                  <a:lnTo>
                    <a:pt x="15" y="8"/>
                  </a:lnTo>
                  <a:lnTo>
                    <a:pt x="15" y="12"/>
                  </a:lnTo>
                  <a:lnTo>
                    <a:pt x="15" y="16"/>
                  </a:lnTo>
                  <a:lnTo>
                    <a:pt x="14" y="28"/>
                  </a:lnTo>
                  <a:lnTo>
                    <a:pt x="12" y="38"/>
                  </a:lnTo>
                  <a:lnTo>
                    <a:pt x="6" y="48"/>
                  </a:lnTo>
                  <a:lnTo>
                    <a:pt x="0" y="57"/>
                  </a:lnTo>
                  <a:lnTo>
                    <a:pt x="26" y="57"/>
                  </a:lnTo>
                  <a:lnTo>
                    <a:pt x="31" y="48"/>
                  </a:lnTo>
                  <a:lnTo>
                    <a:pt x="35" y="37"/>
                  </a:lnTo>
                  <a:lnTo>
                    <a:pt x="37" y="27"/>
                  </a:lnTo>
                  <a:lnTo>
                    <a:pt x="38" y="16"/>
                  </a:lnTo>
                  <a:lnTo>
                    <a:pt x="38" y="12"/>
                  </a:lnTo>
                  <a:lnTo>
                    <a:pt x="38" y="8"/>
                  </a:lnTo>
                  <a:lnTo>
                    <a:pt x="37" y="5"/>
                  </a:lnTo>
                  <a:lnTo>
                    <a:pt x="37" y="0"/>
                  </a:lnTo>
                  <a:close/>
                </a:path>
              </a:pathLst>
            </a:custGeom>
            <a:solidFill>
              <a:srgbClr val="FFFFFF"/>
            </a:solidFill>
            <a:ln w="9525">
              <a:noFill/>
              <a:round/>
            </a:ln>
          </p:spPr>
          <p:txBody>
            <a:bodyPr/>
            <a:lstStyle/>
            <a:p>
              <a:endParaRPr lang="en-US"/>
            </a:p>
          </p:txBody>
        </p:sp>
        <p:sp>
          <p:nvSpPr>
            <p:cNvPr id="1048837" name="Freeform 129"/>
            <p:cNvSpPr/>
            <p:nvPr/>
          </p:nvSpPr>
          <p:spPr bwMode="auto">
            <a:xfrm>
              <a:off x="2291" y="3831"/>
              <a:ext cx="29" cy="13"/>
            </a:xfrm>
            <a:custGeom>
              <a:avLst/>
              <a:gdLst>
                <a:gd name="T0" fmla="*/ 6 w 58"/>
                <a:gd name="T1" fmla="*/ 0 h 25"/>
                <a:gd name="T2" fmla="*/ 5 w 58"/>
                <a:gd name="T3" fmla="*/ 1 h 25"/>
                <a:gd name="T4" fmla="*/ 3 w 58"/>
                <a:gd name="T5" fmla="*/ 2 h 25"/>
                <a:gd name="T6" fmla="*/ 0 w 58"/>
                <a:gd name="T7" fmla="*/ 4 h 25"/>
                <a:gd name="T8" fmla="*/ 0 w 58"/>
                <a:gd name="T9" fmla="*/ 8 h 25"/>
                <a:gd name="T10" fmla="*/ 2 w 58"/>
                <a:gd name="T11" fmla="*/ 10 h 25"/>
                <a:gd name="T12" fmla="*/ 4 w 58"/>
                <a:gd name="T13" fmla="*/ 11 h 25"/>
                <a:gd name="T14" fmla="*/ 7 w 58"/>
                <a:gd name="T15" fmla="*/ 12 h 25"/>
                <a:gd name="T16" fmla="*/ 12 w 58"/>
                <a:gd name="T17" fmla="*/ 13 h 25"/>
                <a:gd name="T18" fmla="*/ 15 w 58"/>
                <a:gd name="T19" fmla="*/ 13 h 25"/>
                <a:gd name="T20" fmla="*/ 20 w 58"/>
                <a:gd name="T21" fmla="*/ 12 h 25"/>
                <a:gd name="T22" fmla="*/ 23 w 58"/>
                <a:gd name="T23" fmla="*/ 12 h 25"/>
                <a:gd name="T24" fmla="*/ 26 w 58"/>
                <a:gd name="T25" fmla="*/ 11 h 25"/>
                <a:gd name="T26" fmla="*/ 28 w 58"/>
                <a:gd name="T27" fmla="*/ 9 h 25"/>
                <a:gd name="T28" fmla="*/ 29 w 58"/>
                <a:gd name="T29" fmla="*/ 6 h 25"/>
                <a:gd name="T30" fmla="*/ 28 w 58"/>
                <a:gd name="T31" fmla="*/ 3 h 25"/>
                <a:gd name="T32" fmla="*/ 23 w 58"/>
                <a:gd name="T33" fmla="*/ 1 h 25"/>
                <a:gd name="T34" fmla="*/ 24 w 58"/>
                <a:gd name="T35" fmla="*/ 2 h 25"/>
                <a:gd name="T36" fmla="*/ 25 w 58"/>
                <a:gd name="T37" fmla="*/ 4 h 25"/>
                <a:gd name="T38" fmla="*/ 25 w 58"/>
                <a:gd name="T39" fmla="*/ 7 h 25"/>
                <a:gd name="T40" fmla="*/ 21 w 58"/>
                <a:gd name="T41" fmla="*/ 8 h 25"/>
                <a:gd name="T42" fmla="*/ 14 w 58"/>
                <a:gd name="T43" fmla="*/ 10 h 25"/>
                <a:gd name="T44" fmla="*/ 9 w 58"/>
                <a:gd name="T45" fmla="*/ 9 h 25"/>
                <a:gd name="T46" fmla="*/ 6 w 58"/>
                <a:gd name="T47" fmla="*/ 8 h 25"/>
                <a:gd name="T48" fmla="*/ 6 w 58"/>
                <a:gd name="T49" fmla="*/ 8 h 25"/>
                <a:gd name="T50" fmla="*/ 5 w 58"/>
                <a:gd name="T51" fmla="*/ 7 h 25"/>
                <a:gd name="T52" fmla="*/ 4 w 58"/>
                <a:gd name="T53" fmla="*/ 6 h 25"/>
                <a:gd name="T54" fmla="*/ 4 w 58"/>
                <a:gd name="T55" fmla="*/ 4 h 25"/>
                <a:gd name="T56" fmla="*/ 6 w 58"/>
                <a:gd name="T57" fmla="*/ 0 h 25"/>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58"/>
                <a:gd name="T88" fmla="*/ 0 h 25"/>
                <a:gd name="T89" fmla="*/ 58 w 58"/>
                <a:gd name="T90" fmla="*/ 25 h 25"/>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58" h="25">
                  <a:moveTo>
                    <a:pt x="12" y="0"/>
                  </a:moveTo>
                  <a:lnTo>
                    <a:pt x="10" y="1"/>
                  </a:lnTo>
                  <a:lnTo>
                    <a:pt x="5" y="4"/>
                  </a:lnTo>
                  <a:lnTo>
                    <a:pt x="0" y="8"/>
                  </a:lnTo>
                  <a:lnTo>
                    <a:pt x="0" y="15"/>
                  </a:lnTo>
                  <a:lnTo>
                    <a:pt x="3" y="20"/>
                  </a:lnTo>
                  <a:lnTo>
                    <a:pt x="8" y="22"/>
                  </a:lnTo>
                  <a:lnTo>
                    <a:pt x="15" y="24"/>
                  </a:lnTo>
                  <a:lnTo>
                    <a:pt x="23" y="25"/>
                  </a:lnTo>
                  <a:lnTo>
                    <a:pt x="31" y="25"/>
                  </a:lnTo>
                  <a:lnTo>
                    <a:pt x="40" y="24"/>
                  </a:lnTo>
                  <a:lnTo>
                    <a:pt x="46" y="23"/>
                  </a:lnTo>
                  <a:lnTo>
                    <a:pt x="51" y="22"/>
                  </a:lnTo>
                  <a:lnTo>
                    <a:pt x="56" y="17"/>
                  </a:lnTo>
                  <a:lnTo>
                    <a:pt x="58" y="12"/>
                  </a:lnTo>
                  <a:lnTo>
                    <a:pt x="55" y="6"/>
                  </a:lnTo>
                  <a:lnTo>
                    <a:pt x="46" y="1"/>
                  </a:lnTo>
                  <a:lnTo>
                    <a:pt x="48" y="4"/>
                  </a:lnTo>
                  <a:lnTo>
                    <a:pt x="50" y="8"/>
                  </a:lnTo>
                  <a:lnTo>
                    <a:pt x="49" y="13"/>
                  </a:lnTo>
                  <a:lnTo>
                    <a:pt x="41" y="16"/>
                  </a:lnTo>
                  <a:lnTo>
                    <a:pt x="27" y="19"/>
                  </a:lnTo>
                  <a:lnTo>
                    <a:pt x="18" y="17"/>
                  </a:lnTo>
                  <a:lnTo>
                    <a:pt x="12" y="16"/>
                  </a:lnTo>
                  <a:lnTo>
                    <a:pt x="11" y="15"/>
                  </a:lnTo>
                  <a:lnTo>
                    <a:pt x="10" y="14"/>
                  </a:lnTo>
                  <a:lnTo>
                    <a:pt x="8" y="12"/>
                  </a:lnTo>
                  <a:lnTo>
                    <a:pt x="8" y="7"/>
                  </a:lnTo>
                  <a:lnTo>
                    <a:pt x="12" y="0"/>
                  </a:lnTo>
                  <a:close/>
                </a:path>
              </a:pathLst>
            </a:custGeom>
            <a:solidFill>
              <a:srgbClr val="000000"/>
            </a:solidFill>
            <a:ln w="9525">
              <a:noFill/>
              <a:round/>
            </a:ln>
          </p:spPr>
          <p:txBody>
            <a:bodyPr/>
            <a:lstStyle/>
            <a:p>
              <a:endParaRPr lang="en-US"/>
            </a:p>
          </p:txBody>
        </p:sp>
        <p:sp>
          <p:nvSpPr>
            <p:cNvPr id="1048838" name="Freeform 130"/>
            <p:cNvSpPr/>
            <p:nvPr/>
          </p:nvSpPr>
          <p:spPr bwMode="auto">
            <a:xfrm>
              <a:off x="2291" y="3841"/>
              <a:ext cx="29" cy="13"/>
            </a:xfrm>
            <a:custGeom>
              <a:avLst/>
              <a:gdLst>
                <a:gd name="T0" fmla="*/ 6 w 58"/>
                <a:gd name="T1" fmla="*/ 0 h 25"/>
                <a:gd name="T2" fmla="*/ 5 w 58"/>
                <a:gd name="T3" fmla="*/ 1 h 25"/>
                <a:gd name="T4" fmla="*/ 3 w 58"/>
                <a:gd name="T5" fmla="*/ 2 h 25"/>
                <a:gd name="T6" fmla="*/ 0 w 58"/>
                <a:gd name="T7" fmla="*/ 4 h 25"/>
                <a:gd name="T8" fmla="*/ 0 w 58"/>
                <a:gd name="T9" fmla="*/ 8 h 25"/>
                <a:gd name="T10" fmla="*/ 2 w 58"/>
                <a:gd name="T11" fmla="*/ 10 h 25"/>
                <a:gd name="T12" fmla="*/ 4 w 58"/>
                <a:gd name="T13" fmla="*/ 11 h 25"/>
                <a:gd name="T14" fmla="*/ 7 w 58"/>
                <a:gd name="T15" fmla="*/ 12 h 25"/>
                <a:gd name="T16" fmla="*/ 12 w 58"/>
                <a:gd name="T17" fmla="*/ 13 h 25"/>
                <a:gd name="T18" fmla="*/ 15 w 58"/>
                <a:gd name="T19" fmla="*/ 13 h 25"/>
                <a:gd name="T20" fmla="*/ 20 w 58"/>
                <a:gd name="T21" fmla="*/ 12 h 25"/>
                <a:gd name="T22" fmla="*/ 23 w 58"/>
                <a:gd name="T23" fmla="*/ 12 h 25"/>
                <a:gd name="T24" fmla="*/ 26 w 58"/>
                <a:gd name="T25" fmla="*/ 11 h 25"/>
                <a:gd name="T26" fmla="*/ 28 w 58"/>
                <a:gd name="T27" fmla="*/ 9 h 25"/>
                <a:gd name="T28" fmla="*/ 29 w 58"/>
                <a:gd name="T29" fmla="*/ 6 h 25"/>
                <a:gd name="T30" fmla="*/ 28 w 58"/>
                <a:gd name="T31" fmla="*/ 3 h 25"/>
                <a:gd name="T32" fmla="*/ 23 w 58"/>
                <a:gd name="T33" fmla="*/ 1 h 25"/>
                <a:gd name="T34" fmla="*/ 24 w 58"/>
                <a:gd name="T35" fmla="*/ 2 h 25"/>
                <a:gd name="T36" fmla="*/ 25 w 58"/>
                <a:gd name="T37" fmla="*/ 4 h 25"/>
                <a:gd name="T38" fmla="*/ 25 w 58"/>
                <a:gd name="T39" fmla="*/ 6 h 25"/>
                <a:gd name="T40" fmla="*/ 21 w 58"/>
                <a:gd name="T41" fmla="*/ 8 h 25"/>
                <a:gd name="T42" fmla="*/ 14 w 58"/>
                <a:gd name="T43" fmla="*/ 9 h 25"/>
                <a:gd name="T44" fmla="*/ 9 w 58"/>
                <a:gd name="T45" fmla="*/ 9 h 25"/>
                <a:gd name="T46" fmla="*/ 6 w 58"/>
                <a:gd name="T47" fmla="*/ 8 h 25"/>
                <a:gd name="T48" fmla="*/ 6 w 58"/>
                <a:gd name="T49" fmla="*/ 8 h 25"/>
                <a:gd name="T50" fmla="*/ 5 w 58"/>
                <a:gd name="T51" fmla="*/ 7 h 25"/>
                <a:gd name="T52" fmla="*/ 4 w 58"/>
                <a:gd name="T53" fmla="*/ 6 h 25"/>
                <a:gd name="T54" fmla="*/ 4 w 58"/>
                <a:gd name="T55" fmla="*/ 4 h 25"/>
                <a:gd name="T56" fmla="*/ 6 w 58"/>
                <a:gd name="T57" fmla="*/ 0 h 25"/>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58"/>
                <a:gd name="T88" fmla="*/ 0 h 25"/>
                <a:gd name="T89" fmla="*/ 58 w 58"/>
                <a:gd name="T90" fmla="*/ 25 h 25"/>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58" h="25">
                  <a:moveTo>
                    <a:pt x="12" y="0"/>
                  </a:moveTo>
                  <a:lnTo>
                    <a:pt x="10" y="1"/>
                  </a:lnTo>
                  <a:lnTo>
                    <a:pt x="5" y="3"/>
                  </a:lnTo>
                  <a:lnTo>
                    <a:pt x="0" y="8"/>
                  </a:lnTo>
                  <a:lnTo>
                    <a:pt x="0" y="15"/>
                  </a:lnTo>
                  <a:lnTo>
                    <a:pt x="3" y="19"/>
                  </a:lnTo>
                  <a:lnTo>
                    <a:pt x="8" y="22"/>
                  </a:lnTo>
                  <a:lnTo>
                    <a:pt x="15" y="24"/>
                  </a:lnTo>
                  <a:lnTo>
                    <a:pt x="23" y="25"/>
                  </a:lnTo>
                  <a:lnTo>
                    <a:pt x="31" y="25"/>
                  </a:lnTo>
                  <a:lnTo>
                    <a:pt x="40" y="24"/>
                  </a:lnTo>
                  <a:lnTo>
                    <a:pt x="46" y="23"/>
                  </a:lnTo>
                  <a:lnTo>
                    <a:pt x="51" y="22"/>
                  </a:lnTo>
                  <a:lnTo>
                    <a:pt x="56" y="17"/>
                  </a:lnTo>
                  <a:lnTo>
                    <a:pt x="58" y="11"/>
                  </a:lnTo>
                  <a:lnTo>
                    <a:pt x="55" y="5"/>
                  </a:lnTo>
                  <a:lnTo>
                    <a:pt x="46" y="1"/>
                  </a:lnTo>
                  <a:lnTo>
                    <a:pt x="48" y="3"/>
                  </a:lnTo>
                  <a:lnTo>
                    <a:pt x="50" y="8"/>
                  </a:lnTo>
                  <a:lnTo>
                    <a:pt x="49" y="12"/>
                  </a:lnTo>
                  <a:lnTo>
                    <a:pt x="41" y="16"/>
                  </a:lnTo>
                  <a:lnTo>
                    <a:pt x="27" y="18"/>
                  </a:lnTo>
                  <a:lnTo>
                    <a:pt x="18" y="17"/>
                  </a:lnTo>
                  <a:lnTo>
                    <a:pt x="12" y="16"/>
                  </a:lnTo>
                  <a:lnTo>
                    <a:pt x="11" y="15"/>
                  </a:lnTo>
                  <a:lnTo>
                    <a:pt x="10" y="14"/>
                  </a:lnTo>
                  <a:lnTo>
                    <a:pt x="8" y="11"/>
                  </a:lnTo>
                  <a:lnTo>
                    <a:pt x="8" y="7"/>
                  </a:lnTo>
                  <a:lnTo>
                    <a:pt x="12" y="0"/>
                  </a:lnTo>
                  <a:close/>
                </a:path>
              </a:pathLst>
            </a:custGeom>
            <a:solidFill>
              <a:srgbClr val="000000"/>
            </a:solidFill>
            <a:ln w="9525">
              <a:noFill/>
              <a:round/>
            </a:ln>
          </p:spPr>
          <p:txBody>
            <a:bodyPr/>
            <a:lstStyle/>
            <a:p>
              <a:endParaRPr lang="en-US"/>
            </a:p>
          </p:txBody>
        </p:sp>
        <p:sp>
          <p:nvSpPr>
            <p:cNvPr id="1048839" name="Freeform 131"/>
            <p:cNvSpPr/>
            <p:nvPr/>
          </p:nvSpPr>
          <p:spPr bwMode="auto">
            <a:xfrm>
              <a:off x="2291" y="3851"/>
              <a:ext cx="29" cy="12"/>
            </a:xfrm>
            <a:custGeom>
              <a:avLst/>
              <a:gdLst>
                <a:gd name="T0" fmla="*/ 6 w 58"/>
                <a:gd name="T1" fmla="*/ 0 h 26"/>
                <a:gd name="T2" fmla="*/ 5 w 58"/>
                <a:gd name="T3" fmla="*/ 0 h 26"/>
                <a:gd name="T4" fmla="*/ 3 w 58"/>
                <a:gd name="T5" fmla="*/ 2 h 26"/>
                <a:gd name="T6" fmla="*/ 0 w 58"/>
                <a:gd name="T7" fmla="*/ 4 h 26"/>
                <a:gd name="T8" fmla="*/ 0 w 58"/>
                <a:gd name="T9" fmla="*/ 7 h 26"/>
                <a:gd name="T10" fmla="*/ 2 w 58"/>
                <a:gd name="T11" fmla="*/ 9 h 26"/>
                <a:gd name="T12" fmla="*/ 4 w 58"/>
                <a:gd name="T13" fmla="*/ 11 h 26"/>
                <a:gd name="T14" fmla="*/ 7 w 58"/>
                <a:gd name="T15" fmla="*/ 12 h 26"/>
                <a:gd name="T16" fmla="*/ 12 w 58"/>
                <a:gd name="T17" fmla="*/ 12 h 26"/>
                <a:gd name="T18" fmla="*/ 15 w 58"/>
                <a:gd name="T19" fmla="*/ 12 h 26"/>
                <a:gd name="T20" fmla="*/ 20 w 58"/>
                <a:gd name="T21" fmla="*/ 12 h 26"/>
                <a:gd name="T22" fmla="*/ 23 w 58"/>
                <a:gd name="T23" fmla="*/ 11 h 26"/>
                <a:gd name="T24" fmla="*/ 26 w 58"/>
                <a:gd name="T25" fmla="*/ 10 h 26"/>
                <a:gd name="T26" fmla="*/ 28 w 58"/>
                <a:gd name="T27" fmla="*/ 8 h 26"/>
                <a:gd name="T28" fmla="*/ 29 w 58"/>
                <a:gd name="T29" fmla="*/ 6 h 26"/>
                <a:gd name="T30" fmla="*/ 28 w 58"/>
                <a:gd name="T31" fmla="*/ 3 h 26"/>
                <a:gd name="T32" fmla="*/ 23 w 58"/>
                <a:gd name="T33" fmla="*/ 0 h 26"/>
                <a:gd name="T34" fmla="*/ 24 w 58"/>
                <a:gd name="T35" fmla="*/ 2 h 26"/>
                <a:gd name="T36" fmla="*/ 25 w 58"/>
                <a:gd name="T37" fmla="*/ 4 h 26"/>
                <a:gd name="T38" fmla="*/ 25 w 58"/>
                <a:gd name="T39" fmla="*/ 6 h 26"/>
                <a:gd name="T40" fmla="*/ 21 w 58"/>
                <a:gd name="T41" fmla="*/ 8 h 26"/>
                <a:gd name="T42" fmla="*/ 14 w 58"/>
                <a:gd name="T43" fmla="*/ 9 h 26"/>
                <a:gd name="T44" fmla="*/ 9 w 58"/>
                <a:gd name="T45" fmla="*/ 8 h 26"/>
                <a:gd name="T46" fmla="*/ 6 w 58"/>
                <a:gd name="T47" fmla="*/ 7 h 26"/>
                <a:gd name="T48" fmla="*/ 6 w 58"/>
                <a:gd name="T49" fmla="*/ 7 h 26"/>
                <a:gd name="T50" fmla="*/ 5 w 58"/>
                <a:gd name="T51" fmla="*/ 6 h 26"/>
                <a:gd name="T52" fmla="*/ 4 w 58"/>
                <a:gd name="T53" fmla="*/ 6 h 26"/>
                <a:gd name="T54" fmla="*/ 4 w 58"/>
                <a:gd name="T55" fmla="*/ 3 h 26"/>
                <a:gd name="T56" fmla="*/ 6 w 58"/>
                <a:gd name="T57" fmla="*/ 0 h 2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58"/>
                <a:gd name="T88" fmla="*/ 0 h 26"/>
                <a:gd name="T89" fmla="*/ 58 w 58"/>
                <a:gd name="T90" fmla="*/ 26 h 2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58" h="26">
                  <a:moveTo>
                    <a:pt x="12" y="0"/>
                  </a:moveTo>
                  <a:lnTo>
                    <a:pt x="10" y="1"/>
                  </a:lnTo>
                  <a:lnTo>
                    <a:pt x="5" y="4"/>
                  </a:lnTo>
                  <a:lnTo>
                    <a:pt x="0" y="8"/>
                  </a:lnTo>
                  <a:lnTo>
                    <a:pt x="0" y="15"/>
                  </a:lnTo>
                  <a:lnTo>
                    <a:pt x="3" y="20"/>
                  </a:lnTo>
                  <a:lnTo>
                    <a:pt x="8" y="23"/>
                  </a:lnTo>
                  <a:lnTo>
                    <a:pt x="15" y="25"/>
                  </a:lnTo>
                  <a:lnTo>
                    <a:pt x="23" y="26"/>
                  </a:lnTo>
                  <a:lnTo>
                    <a:pt x="31" y="26"/>
                  </a:lnTo>
                  <a:lnTo>
                    <a:pt x="40" y="25"/>
                  </a:lnTo>
                  <a:lnTo>
                    <a:pt x="46" y="23"/>
                  </a:lnTo>
                  <a:lnTo>
                    <a:pt x="51" y="22"/>
                  </a:lnTo>
                  <a:lnTo>
                    <a:pt x="56" y="18"/>
                  </a:lnTo>
                  <a:lnTo>
                    <a:pt x="58" y="12"/>
                  </a:lnTo>
                  <a:lnTo>
                    <a:pt x="55" y="6"/>
                  </a:lnTo>
                  <a:lnTo>
                    <a:pt x="46" y="1"/>
                  </a:lnTo>
                  <a:lnTo>
                    <a:pt x="48" y="4"/>
                  </a:lnTo>
                  <a:lnTo>
                    <a:pt x="50" y="8"/>
                  </a:lnTo>
                  <a:lnTo>
                    <a:pt x="49" y="14"/>
                  </a:lnTo>
                  <a:lnTo>
                    <a:pt x="41" y="18"/>
                  </a:lnTo>
                  <a:lnTo>
                    <a:pt x="27" y="19"/>
                  </a:lnTo>
                  <a:lnTo>
                    <a:pt x="18" y="18"/>
                  </a:lnTo>
                  <a:lnTo>
                    <a:pt x="12" y="16"/>
                  </a:lnTo>
                  <a:lnTo>
                    <a:pt x="11" y="15"/>
                  </a:lnTo>
                  <a:lnTo>
                    <a:pt x="10" y="14"/>
                  </a:lnTo>
                  <a:lnTo>
                    <a:pt x="8" y="12"/>
                  </a:lnTo>
                  <a:lnTo>
                    <a:pt x="8" y="7"/>
                  </a:lnTo>
                  <a:lnTo>
                    <a:pt x="12" y="0"/>
                  </a:lnTo>
                  <a:close/>
                </a:path>
              </a:pathLst>
            </a:custGeom>
            <a:solidFill>
              <a:srgbClr val="000000"/>
            </a:solidFill>
            <a:ln w="9525">
              <a:noFill/>
              <a:round/>
            </a:ln>
          </p:spPr>
          <p:txBody>
            <a:bodyPr/>
            <a:lstStyle/>
            <a:p>
              <a:endParaRPr lang="en-US"/>
            </a:p>
          </p:txBody>
        </p:sp>
        <p:sp>
          <p:nvSpPr>
            <p:cNvPr id="1048840" name="Freeform 132"/>
            <p:cNvSpPr/>
            <p:nvPr/>
          </p:nvSpPr>
          <p:spPr bwMode="auto">
            <a:xfrm>
              <a:off x="2299" y="3862"/>
              <a:ext cx="12" cy="7"/>
            </a:xfrm>
            <a:custGeom>
              <a:avLst/>
              <a:gdLst>
                <a:gd name="T0" fmla="*/ 0 w 25"/>
                <a:gd name="T1" fmla="*/ 0 h 14"/>
                <a:gd name="T2" fmla="*/ 2 w 25"/>
                <a:gd name="T3" fmla="*/ 6 h 14"/>
                <a:gd name="T4" fmla="*/ 3 w 25"/>
                <a:gd name="T5" fmla="*/ 6 h 14"/>
                <a:gd name="T6" fmla="*/ 4 w 25"/>
                <a:gd name="T7" fmla="*/ 7 h 14"/>
                <a:gd name="T8" fmla="*/ 6 w 25"/>
                <a:gd name="T9" fmla="*/ 7 h 14"/>
                <a:gd name="T10" fmla="*/ 9 w 25"/>
                <a:gd name="T11" fmla="*/ 7 h 14"/>
                <a:gd name="T12" fmla="*/ 12 w 25"/>
                <a:gd name="T13" fmla="*/ 0 h 14"/>
                <a:gd name="T14" fmla="*/ 10 w 25"/>
                <a:gd name="T15" fmla="*/ 0 h 14"/>
                <a:gd name="T16" fmla="*/ 7 w 25"/>
                <a:gd name="T17" fmla="*/ 0 h 14"/>
                <a:gd name="T18" fmla="*/ 3 w 25"/>
                <a:gd name="T19" fmla="*/ 0 h 14"/>
                <a:gd name="T20" fmla="*/ 0 w 25"/>
                <a:gd name="T21" fmla="*/ 0 h 14"/>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5"/>
                <a:gd name="T34" fmla="*/ 0 h 14"/>
                <a:gd name="T35" fmla="*/ 25 w 25"/>
                <a:gd name="T36" fmla="*/ 14 h 14"/>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5" h="14">
                  <a:moveTo>
                    <a:pt x="0" y="0"/>
                  </a:moveTo>
                  <a:lnTo>
                    <a:pt x="5" y="12"/>
                  </a:lnTo>
                  <a:lnTo>
                    <a:pt x="6" y="12"/>
                  </a:lnTo>
                  <a:lnTo>
                    <a:pt x="9" y="13"/>
                  </a:lnTo>
                  <a:lnTo>
                    <a:pt x="13" y="14"/>
                  </a:lnTo>
                  <a:lnTo>
                    <a:pt x="19" y="13"/>
                  </a:lnTo>
                  <a:lnTo>
                    <a:pt x="25" y="0"/>
                  </a:lnTo>
                  <a:lnTo>
                    <a:pt x="21" y="0"/>
                  </a:lnTo>
                  <a:lnTo>
                    <a:pt x="14" y="0"/>
                  </a:lnTo>
                  <a:lnTo>
                    <a:pt x="6" y="0"/>
                  </a:lnTo>
                  <a:lnTo>
                    <a:pt x="0" y="0"/>
                  </a:lnTo>
                  <a:close/>
                </a:path>
              </a:pathLst>
            </a:custGeom>
            <a:solidFill>
              <a:srgbClr val="000000"/>
            </a:solidFill>
            <a:ln w="9525">
              <a:noFill/>
              <a:round/>
            </a:ln>
          </p:spPr>
          <p:txBody>
            <a:bodyPr/>
            <a:lstStyle/>
            <a:p>
              <a:endParaRPr lang="en-US"/>
            </a:p>
          </p:txBody>
        </p:sp>
        <p:sp>
          <p:nvSpPr>
            <p:cNvPr id="1048841" name="Freeform 133"/>
            <p:cNvSpPr/>
            <p:nvPr/>
          </p:nvSpPr>
          <p:spPr bwMode="auto">
            <a:xfrm>
              <a:off x="2295" y="3829"/>
              <a:ext cx="22" cy="4"/>
            </a:xfrm>
            <a:custGeom>
              <a:avLst/>
              <a:gdLst>
                <a:gd name="T0" fmla="*/ 0 w 43"/>
                <a:gd name="T1" fmla="*/ 2 h 8"/>
                <a:gd name="T2" fmla="*/ 1 w 43"/>
                <a:gd name="T3" fmla="*/ 2 h 8"/>
                <a:gd name="T4" fmla="*/ 3 w 43"/>
                <a:gd name="T5" fmla="*/ 3 h 8"/>
                <a:gd name="T6" fmla="*/ 6 w 43"/>
                <a:gd name="T7" fmla="*/ 3 h 8"/>
                <a:gd name="T8" fmla="*/ 9 w 43"/>
                <a:gd name="T9" fmla="*/ 3 h 8"/>
                <a:gd name="T10" fmla="*/ 13 w 43"/>
                <a:gd name="T11" fmla="*/ 4 h 8"/>
                <a:gd name="T12" fmla="*/ 16 w 43"/>
                <a:gd name="T13" fmla="*/ 3 h 8"/>
                <a:gd name="T14" fmla="*/ 19 w 43"/>
                <a:gd name="T15" fmla="*/ 2 h 8"/>
                <a:gd name="T16" fmla="*/ 21 w 43"/>
                <a:gd name="T17" fmla="*/ 2 h 8"/>
                <a:gd name="T18" fmla="*/ 21 w 43"/>
                <a:gd name="T19" fmla="*/ 2 h 8"/>
                <a:gd name="T20" fmla="*/ 22 w 43"/>
                <a:gd name="T21" fmla="*/ 1 h 8"/>
                <a:gd name="T22" fmla="*/ 21 w 43"/>
                <a:gd name="T23" fmla="*/ 1 h 8"/>
                <a:gd name="T24" fmla="*/ 20 w 43"/>
                <a:gd name="T25" fmla="*/ 0 h 8"/>
                <a:gd name="T26" fmla="*/ 19 w 43"/>
                <a:gd name="T27" fmla="*/ 0 h 8"/>
                <a:gd name="T28" fmla="*/ 17 w 43"/>
                <a:gd name="T29" fmla="*/ 0 h 8"/>
                <a:gd name="T30" fmla="*/ 15 w 43"/>
                <a:gd name="T31" fmla="*/ 1 h 8"/>
                <a:gd name="T32" fmla="*/ 13 w 43"/>
                <a:gd name="T33" fmla="*/ 1 h 8"/>
                <a:gd name="T34" fmla="*/ 11 w 43"/>
                <a:gd name="T35" fmla="*/ 1 h 8"/>
                <a:gd name="T36" fmla="*/ 9 w 43"/>
                <a:gd name="T37" fmla="*/ 1 h 8"/>
                <a:gd name="T38" fmla="*/ 6 w 43"/>
                <a:gd name="T39" fmla="*/ 1 h 8"/>
                <a:gd name="T40" fmla="*/ 3 w 43"/>
                <a:gd name="T41" fmla="*/ 1 h 8"/>
                <a:gd name="T42" fmla="*/ 0 w 43"/>
                <a:gd name="T43" fmla="*/ 2 h 8"/>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43"/>
                <a:gd name="T67" fmla="*/ 0 h 8"/>
                <a:gd name="T68" fmla="*/ 43 w 43"/>
                <a:gd name="T69" fmla="*/ 8 h 8"/>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43" h="8">
                  <a:moveTo>
                    <a:pt x="0" y="5"/>
                  </a:moveTo>
                  <a:lnTo>
                    <a:pt x="2" y="5"/>
                  </a:lnTo>
                  <a:lnTo>
                    <a:pt x="6" y="7"/>
                  </a:lnTo>
                  <a:lnTo>
                    <a:pt x="12" y="7"/>
                  </a:lnTo>
                  <a:lnTo>
                    <a:pt x="18" y="7"/>
                  </a:lnTo>
                  <a:lnTo>
                    <a:pt x="26" y="8"/>
                  </a:lnTo>
                  <a:lnTo>
                    <a:pt x="32" y="7"/>
                  </a:lnTo>
                  <a:lnTo>
                    <a:pt x="37" y="5"/>
                  </a:lnTo>
                  <a:lnTo>
                    <a:pt x="42" y="4"/>
                  </a:lnTo>
                  <a:lnTo>
                    <a:pt x="43" y="2"/>
                  </a:lnTo>
                  <a:lnTo>
                    <a:pt x="42" y="1"/>
                  </a:lnTo>
                  <a:lnTo>
                    <a:pt x="40" y="0"/>
                  </a:lnTo>
                  <a:lnTo>
                    <a:pt x="37" y="0"/>
                  </a:lnTo>
                  <a:lnTo>
                    <a:pt x="34" y="0"/>
                  </a:lnTo>
                  <a:lnTo>
                    <a:pt x="30" y="1"/>
                  </a:lnTo>
                  <a:lnTo>
                    <a:pt x="26" y="1"/>
                  </a:lnTo>
                  <a:lnTo>
                    <a:pt x="21" y="2"/>
                  </a:lnTo>
                  <a:lnTo>
                    <a:pt x="17" y="2"/>
                  </a:lnTo>
                  <a:lnTo>
                    <a:pt x="11" y="2"/>
                  </a:lnTo>
                  <a:lnTo>
                    <a:pt x="5" y="2"/>
                  </a:lnTo>
                  <a:lnTo>
                    <a:pt x="0" y="5"/>
                  </a:lnTo>
                  <a:close/>
                </a:path>
              </a:pathLst>
            </a:custGeom>
            <a:solidFill>
              <a:srgbClr val="000000"/>
            </a:solidFill>
            <a:ln w="9525">
              <a:noFill/>
              <a:round/>
            </a:ln>
          </p:spPr>
          <p:txBody>
            <a:bodyPr/>
            <a:lstStyle/>
            <a:p>
              <a:endParaRPr lang="en-US"/>
            </a:p>
          </p:txBody>
        </p:sp>
        <p:sp>
          <p:nvSpPr>
            <p:cNvPr id="1048842" name="Freeform 134"/>
            <p:cNvSpPr/>
            <p:nvPr/>
          </p:nvSpPr>
          <p:spPr bwMode="auto">
            <a:xfrm>
              <a:off x="2271" y="3761"/>
              <a:ext cx="59" cy="69"/>
            </a:xfrm>
            <a:custGeom>
              <a:avLst/>
              <a:gdLst>
                <a:gd name="T0" fmla="*/ 42 w 118"/>
                <a:gd name="T1" fmla="*/ 69 h 139"/>
                <a:gd name="T2" fmla="*/ 42 w 118"/>
                <a:gd name="T3" fmla="*/ 66 h 139"/>
                <a:gd name="T4" fmla="*/ 42 w 118"/>
                <a:gd name="T5" fmla="*/ 60 h 139"/>
                <a:gd name="T6" fmla="*/ 44 w 118"/>
                <a:gd name="T7" fmla="*/ 53 h 139"/>
                <a:gd name="T8" fmla="*/ 48 w 118"/>
                <a:gd name="T9" fmla="*/ 46 h 139"/>
                <a:gd name="T10" fmla="*/ 51 w 118"/>
                <a:gd name="T11" fmla="*/ 43 h 139"/>
                <a:gd name="T12" fmla="*/ 54 w 118"/>
                <a:gd name="T13" fmla="*/ 39 h 139"/>
                <a:gd name="T14" fmla="*/ 57 w 118"/>
                <a:gd name="T15" fmla="*/ 33 h 139"/>
                <a:gd name="T16" fmla="*/ 59 w 118"/>
                <a:gd name="T17" fmla="*/ 26 h 139"/>
                <a:gd name="T18" fmla="*/ 59 w 118"/>
                <a:gd name="T19" fmla="*/ 20 h 139"/>
                <a:gd name="T20" fmla="*/ 57 w 118"/>
                <a:gd name="T21" fmla="*/ 13 h 139"/>
                <a:gd name="T22" fmla="*/ 53 w 118"/>
                <a:gd name="T23" fmla="*/ 7 h 139"/>
                <a:gd name="T24" fmla="*/ 44 w 118"/>
                <a:gd name="T25" fmla="*/ 2 h 139"/>
                <a:gd name="T26" fmla="*/ 34 w 118"/>
                <a:gd name="T27" fmla="*/ 0 h 139"/>
                <a:gd name="T28" fmla="*/ 25 w 118"/>
                <a:gd name="T29" fmla="*/ 0 h 139"/>
                <a:gd name="T30" fmla="*/ 17 w 118"/>
                <a:gd name="T31" fmla="*/ 2 h 139"/>
                <a:gd name="T32" fmla="*/ 11 w 118"/>
                <a:gd name="T33" fmla="*/ 6 h 139"/>
                <a:gd name="T34" fmla="*/ 5 w 118"/>
                <a:gd name="T35" fmla="*/ 12 h 139"/>
                <a:gd name="T36" fmla="*/ 2 w 118"/>
                <a:gd name="T37" fmla="*/ 17 h 139"/>
                <a:gd name="T38" fmla="*/ 0 w 118"/>
                <a:gd name="T39" fmla="*/ 23 h 139"/>
                <a:gd name="T40" fmla="*/ 1 w 118"/>
                <a:gd name="T41" fmla="*/ 28 h 139"/>
                <a:gd name="T42" fmla="*/ 3 w 118"/>
                <a:gd name="T43" fmla="*/ 32 h 139"/>
                <a:gd name="T44" fmla="*/ 6 w 118"/>
                <a:gd name="T45" fmla="*/ 37 h 139"/>
                <a:gd name="T46" fmla="*/ 9 w 118"/>
                <a:gd name="T47" fmla="*/ 42 h 139"/>
                <a:gd name="T48" fmla="*/ 14 w 118"/>
                <a:gd name="T49" fmla="*/ 47 h 139"/>
                <a:gd name="T50" fmla="*/ 18 w 118"/>
                <a:gd name="T51" fmla="*/ 51 h 139"/>
                <a:gd name="T52" fmla="*/ 21 w 118"/>
                <a:gd name="T53" fmla="*/ 55 h 139"/>
                <a:gd name="T54" fmla="*/ 23 w 118"/>
                <a:gd name="T55" fmla="*/ 58 h 139"/>
                <a:gd name="T56" fmla="*/ 24 w 118"/>
                <a:gd name="T57" fmla="*/ 61 h 139"/>
                <a:gd name="T58" fmla="*/ 24 w 118"/>
                <a:gd name="T59" fmla="*/ 63 h 139"/>
                <a:gd name="T60" fmla="*/ 24 w 118"/>
                <a:gd name="T61" fmla="*/ 66 h 139"/>
                <a:gd name="T62" fmla="*/ 24 w 118"/>
                <a:gd name="T63" fmla="*/ 69 h 139"/>
                <a:gd name="T64" fmla="*/ 24 w 118"/>
                <a:gd name="T65" fmla="*/ 69 h 139"/>
                <a:gd name="T66" fmla="*/ 42 w 118"/>
                <a:gd name="T67" fmla="*/ 69 h 139"/>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118"/>
                <a:gd name="T103" fmla="*/ 0 h 139"/>
                <a:gd name="T104" fmla="*/ 118 w 118"/>
                <a:gd name="T105" fmla="*/ 139 h 139"/>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118" h="139">
                  <a:moveTo>
                    <a:pt x="83" y="139"/>
                  </a:moveTo>
                  <a:lnTo>
                    <a:pt x="83" y="133"/>
                  </a:lnTo>
                  <a:lnTo>
                    <a:pt x="84" y="121"/>
                  </a:lnTo>
                  <a:lnTo>
                    <a:pt x="88" y="106"/>
                  </a:lnTo>
                  <a:lnTo>
                    <a:pt x="96" y="93"/>
                  </a:lnTo>
                  <a:lnTo>
                    <a:pt x="101" y="87"/>
                  </a:lnTo>
                  <a:lnTo>
                    <a:pt x="108" y="78"/>
                  </a:lnTo>
                  <a:lnTo>
                    <a:pt x="114" y="66"/>
                  </a:lnTo>
                  <a:lnTo>
                    <a:pt x="118" y="53"/>
                  </a:lnTo>
                  <a:lnTo>
                    <a:pt x="118" y="40"/>
                  </a:lnTo>
                  <a:lnTo>
                    <a:pt x="114" y="26"/>
                  </a:lnTo>
                  <a:lnTo>
                    <a:pt x="105" y="15"/>
                  </a:lnTo>
                  <a:lnTo>
                    <a:pt x="88" y="5"/>
                  </a:lnTo>
                  <a:lnTo>
                    <a:pt x="67" y="0"/>
                  </a:lnTo>
                  <a:lnTo>
                    <a:pt x="50" y="1"/>
                  </a:lnTo>
                  <a:lnTo>
                    <a:pt x="33" y="5"/>
                  </a:lnTo>
                  <a:lnTo>
                    <a:pt x="21" y="13"/>
                  </a:lnTo>
                  <a:lnTo>
                    <a:pt x="10" y="24"/>
                  </a:lnTo>
                  <a:lnTo>
                    <a:pt x="3" y="35"/>
                  </a:lnTo>
                  <a:lnTo>
                    <a:pt x="0" y="47"/>
                  </a:lnTo>
                  <a:lnTo>
                    <a:pt x="1" y="56"/>
                  </a:lnTo>
                  <a:lnTo>
                    <a:pt x="5" y="65"/>
                  </a:lnTo>
                  <a:lnTo>
                    <a:pt x="12" y="74"/>
                  </a:lnTo>
                  <a:lnTo>
                    <a:pt x="18" y="85"/>
                  </a:lnTo>
                  <a:lnTo>
                    <a:pt x="27" y="94"/>
                  </a:lnTo>
                  <a:lnTo>
                    <a:pt x="35" y="103"/>
                  </a:lnTo>
                  <a:lnTo>
                    <a:pt x="42" y="111"/>
                  </a:lnTo>
                  <a:lnTo>
                    <a:pt x="46" y="117"/>
                  </a:lnTo>
                  <a:lnTo>
                    <a:pt x="48" y="122"/>
                  </a:lnTo>
                  <a:lnTo>
                    <a:pt x="48" y="127"/>
                  </a:lnTo>
                  <a:lnTo>
                    <a:pt x="48" y="133"/>
                  </a:lnTo>
                  <a:lnTo>
                    <a:pt x="48" y="138"/>
                  </a:lnTo>
                  <a:lnTo>
                    <a:pt x="48" y="139"/>
                  </a:lnTo>
                  <a:lnTo>
                    <a:pt x="83" y="139"/>
                  </a:lnTo>
                  <a:close/>
                </a:path>
              </a:pathLst>
            </a:custGeom>
            <a:solidFill>
              <a:srgbClr val="FFFF00"/>
            </a:solidFill>
            <a:ln w="9525">
              <a:noFill/>
              <a:round/>
            </a:ln>
          </p:spPr>
          <p:txBody>
            <a:bodyPr/>
            <a:lstStyle/>
            <a:p>
              <a:endParaRPr lang="en-US"/>
            </a:p>
          </p:txBody>
        </p:sp>
        <p:sp>
          <p:nvSpPr>
            <p:cNvPr id="1048843" name="Freeform 135"/>
            <p:cNvSpPr/>
            <p:nvPr/>
          </p:nvSpPr>
          <p:spPr bwMode="auto">
            <a:xfrm>
              <a:off x="2268" y="3758"/>
              <a:ext cx="66" cy="72"/>
            </a:xfrm>
            <a:custGeom>
              <a:avLst/>
              <a:gdLst>
                <a:gd name="T0" fmla="*/ 45 w 133"/>
                <a:gd name="T1" fmla="*/ 69 h 143"/>
                <a:gd name="T2" fmla="*/ 49 w 133"/>
                <a:gd name="T3" fmla="*/ 59 h 143"/>
                <a:gd name="T4" fmla="*/ 58 w 133"/>
                <a:gd name="T5" fmla="*/ 49 h 143"/>
                <a:gd name="T6" fmla="*/ 65 w 133"/>
                <a:gd name="T7" fmla="*/ 38 h 143"/>
                <a:gd name="T8" fmla="*/ 66 w 133"/>
                <a:gd name="T9" fmla="*/ 26 h 143"/>
                <a:gd name="T10" fmla="*/ 63 w 133"/>
                <a:gd name="T11" fmla="*/ 15 h 143"/>
                <a:gd name="T12" fmla="*/ 57 w 133"/>
                <a:gd name="T13" fmla="*/ 8 h 143"/>
                <a:gd name="T14" fmla="*/ 52 w 133"/>
                <a:gd name="T15" fmla="*/ 5 h 143"/>
                <a:gd name="T16" fmla="*/ 45 w 133"/>
                <a:gd name="T17" fmla="*/ 2 h 143"/>
                <a:gd name="T18" fmla="*/ 36 w 133"/>
                <a:gd name="T19" fmla="*/ 0 h 143"/>
                <a:gd name="T20" fmla="*/ 23 w 133"/>
                <a:gd name="T21" fmla="*/ 1 h 143"/>
                <a:gd name="T22" fmla="*/ 9 w 133"/>
                <a:gd name="T23" fmla="*/ 9 h 143"/>
                <a:gd name="T24" fmla="*/ 1 w 133"/>
                <a:gd name="T25" fmla="*/ 20 h 143"/>
                <a:gd name="T26" fmla="*/ 2 w 133"/>
                <a:gd name="T27" fmla="*/ 36 h 143"/>
                <a:gd name="T28" fmla="*/ 10 w 133"/>
                <a:gd name="T29" fmla="*/ 49 h 143"/>
                <a:gd name="T30" fmla="*/ 17 w 133"/>
                <a:gd name="T31" fmla="*/ 56 h 143"/>
                <a:gd name="T32" fmla="*/ 23 w 133"/>
                <a:gd name="T33" fmla="*/ 61 h 143"/>
                <a:gd name="T34" fmla="*/ 26 w 133"/>
                <a:gd name="T35" fmla="*/ 67 h 143"/>
                <a:gd name="T36" fmla="*/ 28 w 133"/>
                <a:gd name="T37" fmla="*/ 71 h 143"/>
                <a:gd name="T38" fmla="*/ 29 w 133"/>
                <a:gd name="T39" fmla="*/ 62 h 143"/>
                <a:gd name="T40" fmla="*/ 21 w 133"/>
                <a:gd name="T41" fmla="*/ 55 h 143"/>
                <a:gd name="T42" fmla="*/ 15 w 133"/>
                <a:gd name="T43" fmla="*/ 50 h 143"/>
                <a:gd name="T44" fmla="*/ 10 w 133"/>
                <a:gd name="T45" fmla="*/ 43 h 143"/>
                <a:gd name="T46" fmla="*/ 7 w 133"/>
                <a:gd name="T47" fmla="*/ 36 h 143"/>
                <a:gd name="T48" fmla="*/ 6 w 133"/>
                <a:gd name="T49" fmla="*/ 26 h 143"/>
                <a:gd name="T50" fmla="*/ 10 w 133"/>
                <a:gd name="T51" fmla="*/ 16 h 143"/>
                <a:gd name="T52" fmla="*/ 19 w 133"/>
                <a:gd name="T53" fmla="*/ 9 h 143"/>
                <a:gd name="T54" fmla="*/ 31 w 133"/>
                <a:gd name="T55" fmla="*/ 5 h 143"/>
                <a:gd name="T56" fmla="*/ 45 w 133"/>
                <a:gd name="T57" fmla="*/ 7 h 143"/>
                <a:gd name="T58" fmla="*/ 55 w 133"/>
                <a:gd name="T59" fmla="*/ 13 h 143"/>
                <a:gd name="T60" fmla="*/ 59 w 133"/>
                <a:gd name="T61" fmla="*/ 22 h 143"/>
                <a:gd name="T62" fmla="*/ 60 w 133"/>
                <a:gd name="T63" fmla="*/ 33 h 143"/>
                <a:gd name="T64" fmla="*/ 56 w 133"/>
                <a:gd name="T65" fmla="*/ 43 h 143"/>
                <a:gd name="T66" fmla="*/ 49 w 133"/>
                <a:gd name="T67" fmla="*/ 50 h 143"/>
                <a:gd name="T68" fmla="*/ 44 w 133"/>
                <a:gd name="T69" fmla="*/ 57 h 143"/>
                <a:gd name="T70" fmla="*/ 43 w 133"/>
                <a:gd name="T71" fmla="*/ 65 h 143"/>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133"/>
                <a:gd name="T109" fmla="*/ 0 h 143"/>
                <a:gd name="T110" fmla="*/ 133 w 133"/>
                <a:gd name="T111" fmla="*/ 143 h 143"/>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133" h="143">
                  <a:moveTo>
                    <a:pt x="91" y="141"/>
                  </a:moveTo>
                  <a:lnTo>
                    <a:pt x="91" y="137"/>
                  </a:lnTo>
                  <a:lnTo>
                    <a:pt x="94" y="128"/>
                  </a:lnTo>
                  <a:lnTo>
                    <a:pt x="98" y="117"/>
                  </a:lnTo>
                  <a:lnTo>
                    <a:pt x="106" y="108"/>
                  </a:lnTo>
                  <a:lnTo>
                    <a:pt x="117" y="98"/>
                  </a:lnTo>
                  <a:lnTo>
                    <a:pt x="125" y="86"/>
                  </a:lnTo>
                  <a:lnTo>
                    <a:pt x="130" y="75"/>
                  </a:lnTo>
                  <a:lnTo>
                    <a:pt x="133" y="63"/>
                  </a:lnTo>
                  <a:lnTo>
                    <a:pt x="133" y="51"/>
                  </a:lnTo>
                  <a:lnTo>
                    <a:pt x="132" y="39"/>
                  </a:lnTo>
                  <a:lnTo>
                    <a:pt x="126" y="29"/>
                  </a:lnTo>
                  <a:lnTo>
                    <a:pt x="119" y="20"/>
                  </a:lnTo>
                  <a:lnTo>
                    <a:pt x="115" y="16"/>
                  </a:lnTo>
                  <a:lnTo>
                    <a:pt x="110" y="13"/>
                  </a:lnTo>
                  <a:lnTo>
                    <a:pt x="105" y="9"/>
                  </a:lnTo>
                  <a:lnTo>
                    <a:pt x="98" y="6"/>
                  </a:lnTo>
                  <a:lnTo>
                    <a:pt x="90" y="3"/>
                  </a:lnTo>
                  <a:lnTo>
                    <a:pt x="82" y="1"/>
                  </a:lnTo>
                  <a:lnTo>
                    <a:pt x="73" y="0"/>
                  </a:lnTo>
                  <a:lnTo>
                    <a:pt x="62" y="0"/>
                  </a:lnTo>
                  <a:lnTo>
                    <a:pt x="46" y="2"/>
                  </a:lnTo>
                  <a:lnTo>
                    <a:pt x="31" y="8"/>
                  </a:lnTo>
                  <a:lnTo>
                    <a:pt x="19" y="17"/>
                  </a:lnTo>
                  <a:lnTo>
                    <a:pt x="8" y="28"/>
                  </a:lnTo>
                  <a:lnTo>
                    <a:pt x="3" y="40"/>
                  </a:lnTo>
                  <a:lnTo>
                    <a:pt x="0" y="55"/>
                  </a:lnTo>
                  <a:lnTo>
                    <a:pt x="4" y="71"/>
                  </a:lnTo>
                  <a:lnTo>
                    <a:pt x="13" y="89"/>
                  </a:lnTo>
                  <a:lnTo>
                    <a:pt x="21" y="98"/>
                  </a:lnTo>
                  <a:lnTo>
                    <a:pt x="28" y="106"/>
                  </a:lnTo>
                  <a:lnTo>
                    <a:pt x="35" y="112"/>
                  </a:lnTo>
                  <a:lnTo>
                    <a:pt x="42" y="116"/>
                  </a:lnTo>
                  <a:lnTo>
                    <a:pt x="46" y="121"/>
                  </a:lnTo>
                  <a:lnTo>
                    <a:pt x="51" y="127"/>
                  </a:lnTo>
                  <a:lnTo>
                    <a:pt x="53" y="134"/>
                  </a:lnTo>
                  <a:lnTo>
                    <a:pt x="54" y="143"/>
                  </a:lnTo>
                  <a:lnTo>
                    <a:pt x="57" y="141"/>
                  </a:lnTo>
                  <a:lnTo>
                    <a:pt x="60" y="134"/>
                  </a:lnTo>
                  <a:lnTo>
                    <a:pt x="59" y="124"/>
                  </a:lnTo>
                  <a:lnTo>
                    <a:pt x="49" y="114"/>
                  </a:lnTo>
                  <a:lnTo>
                    <a:pt x="43" y="109"/>
                  </a:lnTo>
                  <a:lnTo>
                    <a:pt x="37" y="105"/>
                  </a:lnTo>
                  <a:lnTo>
                    <a:pt x="31" y="99"/>
                  </a:lnTo>
                  <a:lnTo>
                    <a:pt x="26" y="93"/>
                  </a:lnTo>
                  <a:lnTo>
                    <a:pt x="21" y="86"/>
                  </a:lnTo>
                  <a:lnTo>
                    <a:pt x="18" y="79"/>
                  </a:lnTo>
                  <a:lnTo>
                    <a:pt x="15" y="71"/>
                  </a:lnTo>
                  <a:lnTo>
                    <a:pt x="13" y="62"/>
                  </a:lnTo>
                  <a:lnTo>
                    <a:pt x="13" y="51"/>
                  </a:lnTo>
                  <a:lnTo>
                    <a:pt x="16" y="41"/>
                  </a:lnTo>
                  <a:lnTo>
                    <a:pt x="21" y="32"/>
                  </a:lnTo>
                  <a:lnTo>
                    <a:pt x="29" y="24"/>
                  </a:lnTo>
                  <a:lnTo>
                    <a:pt x="38" y="17"/>
                  </a:lnTo>
                  <a:lnTo>
                    <a:pt x="50" y="13"/>
                  </a:lnTo>
                  <a:lnTo>
                    <a:pt x="62" y="10"/>
                  </a:lnTo>
                  <a:lnTo>
                    <a:pt x="77" y="10"/>
                  </a:lnTo>
                  <a:lnTo>
                    <a:pt x="91" y="13"/>
                  </a:lnTo>
                  <a:lnTo>
                    <a:pt x="102" y="18"/>
                  </a:lnTo>
                  <a:lnTo>
                    <a:pt x="111" y="25"/>
                  </a:lnTo>
                  <a:lnTo>
                    <a:pt x="117" y="34"/>
                  </a:lnTo>
                  <a:lnTo>
                    <a:pt x="119" y="44"/>
                  </a:lnTo>
                  <a:lnTo>
                    <a:pt x="120" y="55"/>
                  </a:lnTo>
                  <a:lnTo>
                    <a:pt x="120" y="66"/>
                  </a:lnTo>
                  <a:lnTo>
                    <a:pt x="117" y="76"/>
                  </a:lnTo>
                  <a:lnTo>
                    <a:pt x="112" y="85"/>
                  </a:lnTo>
                  <a:lnTo>
                    <a:pt x="106" y="93"/>
                  </a:lnTo>
                  <a:lnTo>
                    <a:pt x="99" y="100"/>
                  </a:lnTo>
                  <a:lnTo>
                    <a:pt x="94" y="107"/>
                  </a:lnTo>
                  <a:lnTo>
                    <a:pt x="89" y="114"/>
                  </a:lnTo>
                  <a:lnTo>
                    <a:pt x="86" y="121"/>
                  </a:lnTo>
                  <a:lnTo>
                    <a:pt x="87" y="130"/>
                  </a:lnTo>
                  <a:lnTo>
                    <a:pt x="91" y="141"/>
                  </a:lnTo>
                  <a:close/>
                </a:path>
              </a:pathLst>
            </a:custGeom>
            <a:solidFill>
              <a:srgbClr val="000000"/>
            </a:solidFill>
            <a:ln w="9525">
              <a:noFill/>
              <a:round/>
            </a:ln>
          </p:spPr>
          <p:txBody>
            <a:bodyPr/>
            <a:lstStyle/>
            <a:p>
              <a:endParaRPr lang="en-US"/>
            </a:p>
          </p:txBody>
        </p:sp>
        <p:sp>
          <p:nvSpPr>
            <p:cNvPr id="1048844" name="Freeform 136"/>
            <p:cNvSpPr/>
            <p:nvPr/>
          </p:nvSpPr>
          <p:spPr bwMode="auto">
            <a:xfrm>
              <a:off x="2293" y="3779"/>
              <a:ext cx="20" cy="27"/>
            </a:xfrm>
            <a:custGeom>
              <a:avLst/>
              <a:gdLst>
                <a:gd name="T0" fmla="*/ 11 w 39"/>
                <a:gd name="T1" fmla="*/ 0 h 54"/>
                <a:gd name="T2" fmla="*/ 10 w 39"/>
                <a:gd name="T3" fmla="*/ 0 h 54"/>
                <a:gd name="T4" fmla="*/ 8 w 39"/>
                <a:gd name="T5" fmla="*/ 1 h 54"/>
                <a:gd name="T6" fmla="*/ 5 w 39"/>
                <a:gd name="T7" fmla="*/ 2 h 54"/>
                <a:gd name="T8" fmla="*/ 3 w 39"/>
                <a:gd name="T9" fmla="*/ 3 h 54"/>
                <a:gd name="T10" fmla="*/ 1 w 39"/>
                <a:gd name="T11" fmla="*/ 3 h 54"/>
                <a:gd name="T12" fmla="*/ 0 w 39"/>
                <a:gd name="T13" fmla="*/ 5 h 54"/>
                <a:gd name="T14" fmla="*/ 1 w 39"/>
                <a:gd name="T15" fmla="*/ 6 h 54"/>
                <a:gd name="T16" fmla="*/ 3 w 39"/>
                <a:gd name="T17" fmla="*/ 7 h 54"/>
                <a:gd name="T18" fmla="*/ 9 w 39"/>
                <a:gd name="T19" fmla="*/ 10 h 54"/>
                <a:gd name="T20" fmla="*/ 12 w 39"/>
                <a:gd name="T21" fmla="*/ 11 h 54"/>
                <a:gd name="T22" fmla="*/ 12 w 39"/>
                <a:gd name="T23" fmla="*/ 13 h 54"/>
                <a:gd name="T24" fmla="*/ 8 w 39"/>
                <a:gd name="T25" fmla="*/ 14 h 54"/>
                <a:gd name="T26" fmla="*/ 5 w 39"/>
                <a:gd name="T27" fmla="*/ 18 h 54"/>
                <a:gd name="T28" fmla="*/ 4 w 39"/>
                <a:gd name="T29" fmla="*/ 21 h 54"/>
                <a:gd name="T30" fmla="*/ 7 w 39"/>
                <a:gd name="T31" fmla="*/ 25 h 54"/>
                <a:gd name="T32" fmla="*/ 12 w 39"/>
                <a:gd name="T33" fmla="*/ 27 h 54"/>
                <a:gd name="T34" fmla="*/ 11 w 39"/>
                <a:gd name="T35" fmla="*/ 26 h 54"/>
                <a:gd name="T36" fmla="*/ 10 w 39"/>
                <a:gd name="T37" fmla="*/ 23 h 54"/>
                <a:gd name="T38" fmla="*/ 10 w 39"/>
                <a:gd name="T39" fmla="*/ 19 h 54"/>
                <a:gd name="T40" fmla="*/ 14 w 39"/>
                <a:gd name="T41" fmla="*/ 17 h 54"/>
                <a:gd name="T42" fmla="*/ 18 w 39"/>
                <a:gd name="T43" fmla="*/ 15 h 54"/>
                <a:gd name="T44" fmla="*/ 20 w 39"/>
                <a:gd name="T45" fmla="*/ 12 h 54"/>
                <a:gd name="T46" fmla="*/ 19 w 39"/>
                <a:gd name="T47" fmla="*/ 10 h 54"/>
                <a:gd name="T48" fmla="*/ 17 w 39"/>
                <a:gd name="T49" fmla="*/ 7 h 54"/>
                <a:gd name="T50" fmla="*/ 13 w 39"/>
                <a:gd name="T51" fmla="*/ 7 h 54"/>
                <a:gd name="T52" fmla="*/ 10 w 39"/>
                <a:gd name="T53" fmla="*/ 5 h 54"/>
                <a:gd name="T54" fmla="*/ 8 w 39"/>
                <a:gd name="T55" fmla="*/ 3 h 54"/>
                <a:gd name="T56" fmla="*/ 11 w 39"/>
                <a:gd name="T57" fmla="*/ 0 h 54"/>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39"/>
                <a:gd name="T88" fmla="*/ 0 h 54"/>
                <a:gd name="T89" fmla="*/ 39 w 39"/>
                <a:gd name="T90" fmla="*/ 54 h 54"/>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39" h="54">
                  <a:moveTo>
                    <a:pt x="21" y="0"/>
                  </a:moveTo>
                  <a:lnTo>
                    <a:pt x="20" y="0"/>
                  </a:lnTo>
                  <a:lnTo>
                    <a:pt x="16" y="1"/>
                  </a:lnTo>
                  <a:lnTo>
                    <a:pt x="10" y="3"/>
                  </a:lnTo>
                  <a:lnTo>
                    <a:pt x="6" y="5"/>
                  </a:lnTo>
                  <a:lnTo>
                    <a:pt x="2" y="7"/>
                  </a:lnTo>
                  <a:lnTo>
                    <a:pt x="0" y="9"/>
                  </a:lnTo>
                  <a:lnTo>
                    <a:pt x="1" y="12"/>
                  </a:lnTo>
                  <a:lnTo>
                    <a:pt x="6" y="14"/>
                  </a:lnTo>
                  <a:lnTo>
                    <a:pt x="18" y="19"/>
                  </a:lnTo>
                  <a:lnTo>
                    <a:pt x="24" y="22"/>
                  </a:lnTo>
                  <a:lnTo>
                    <a:pt x="24" y="26"/>
                  </a:lnTo>
                  <a:lnTo>
                    <a:pt x="16" y="29"/>
                  </a:lnTo>
                  <a:lnTo>
                    <a:pt x="9" y="35"/>
                  </a:lnTo>
                  <a:lnTo>
                    <a:pt x="8" y="42"/>
                  </a:lnTo>
                  <a:lnTo>
                    <a:pt x="14" y="50"/>
                  </a:lnTo>
                  <a:lnTo>
                    <a:pt x="24" y="54"/>
                  </a:lnTo>
                  <a:lnTo>
                    <a:pt x="22" y="52"/>
                  </a:lnTo>
                  <a:lnTo>
                    <a:pt x="20" y="45"/>
                  </a:lnTo>
                  <a:lnTo>
                    <a:pt x="20" y="38"/>
                  </a:lnTo>
                  <a:lnTo>
                    <a:pt x="28" y="34"/>
                  </a:lnTo>
                  <a:lnTo>
                    <a:pt x="36" y="30"/>
                  </a:lnTo>
                  <a:lnTo>
                    <a:pt x="39" y="24"/>
                  </a:lnTo>
                  <a:lnTo>
                    <a:pt x="38" y="20"/>
                  </a:lnTo>
                  <a:lnTo>
                    <a:pt x="33" y="15"/>
                  </a:lnTo>
                  <a:lnTo>
                    <a:pt x="26" y="13"/>
                  </a:lnTo>
                  <a:lnTo>
                    <a:pt x="20" y="9"/>
                  </a:lnTo>
                  <a:lnTo>
                    <a:pt x="16" y="6"/>
                  </a:lnTo>
                  <a:lnTo>
                    <a:pt x="21" y="0"/>
                  </a:lnTo>
                  <a:close/>
                </a:path>
              </a:pathLst>
            </a:custGeom>
            <a:solidFill>
              <a:srgbClr val="000000"/>
            </a:solidFill>
            <a:ln w="9525">
              <a:noFill/>
              <a:round/>
            </a:ln>
          </p:spPr>
          <p:txBody>
            <a:bodyPr/>
            <a:lstStyle/>
            <a:p>
              <a:endParaRPr lang="en-US"/>
            </a:p>
          </p:txBody>
        </p:sp>
        <p:sp>
          <p:nvSpPr>
            <p:cNvPr id="1048845" name="Freeform 137"/>
            <p:cNvSpPr/>
            <p:nvPr/>
          </p:nvSpPr>
          <p:spPr bwMode="auto">
            <a:xfrm>
              <a:off x="2342" y="3758"/>
              <a:ext cx="22" cy="12"/>
            </a:xfrm>
            <a:custGeom>
              <a:avLst/>
              <a:gdLst>
                <a:gd name="T0" fmla="*/ 0 w 44"/>
                <a:gd name="T1" fmla="*/ 12 h 23"/>
                <a:gd name="T2" fmla="*/ 1 w 44"/>
                <a:gd name="T3" fmla="*/ 11 h 23"/>
                <a:gd name="T4" fmla="*/ 3 w 44"/>
                <a:gd name="T5" fmla="*/ 9 h 23"/>
                <a:gd name="T6" fmla="*/ 6 w 44"/>
                <a:gd name="T7" fmla="*/ 7 h 23"/>
                <a:gd name="T8" fmla="*/ 10 w 44"/>
                <a:gd name="T9" fmla="*/ 4 h 23"/>
                <a:gd name="T10" fmla="*/ 13 w 44"/>
                <a:gd name="T11" fmla="*/ 1 h 23"/>
                <a:gd name="T12" fmla="*/ 17 w 44"/>
                <a:gd name="T13" fmla="*/ 0 h 23"/>
                <a:gd name="T14" fmla="*/ 20 w 44"/>
                <a:gd name="T15" fmla="*/ 0 h 23"/>
                <a:gd name="T16" fmla="*/ 22 w 44"/>
                <a:gd name="T17" fmla="*/ 2 h 23"/>
                <a:gd name="T18" fmla="*/ 22 w 44"/>
                <a:gd name="T19" fmla="*/ 4 h 23"/>
                <a:gd name="T20" fmla="*/ 20 w 44"/>
                <a:gd name="T21" fmla="*/ 7 h 23"/>
                <a:gd name="T22" fmla="*/ 16 w 44"/>
                <a:gd name="T23" fmla="*/ 8 h 23"/>
                <a:gd name="T24" fmla="*/ 12 w 44"/>
                <a:gd name="T25" fmla="*/ 9 h 23"/>
                <a:gd name="T26" fmla="*/ 7 w 44"/>
                <a:gd name="T27" fmla="*/ 11 h 23"/>
                <a:gd name="T28" fmla="*/ 4 w 44"/>
                <a:gd name="T29" fmla="*/ 11 h 23"/>
                <a:gd name="T30" fmla="*/ 1 w 44"/>
                <a:gd name="T31" fmla="*/ 12 h 23"/>
                <a:gd name="T32" fmla="*/ 0 w 44"/>
                <a:gd name="T33" fmla="*/ 12 h 23"/>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44"/>
                <a:gd name="T52" fmla="*/ 0 h 23"/>
                <a:gd name="T53" fmla="*/ 44 w 44"/>
                <a:gd name="T54" fmla="*/ 23 h 23"/>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44" h="23">
                  <a:moveTo>
                    <a:pt x="0" y="23"/>
                  </a:moveTo>
                  <a:lnTo>
                    <a:pt x="1" y="22"/>
                  </a:lnTo>
                  <a:lnTo>
                    <a:pt x="6" y="17"/>
                  </a:lnTo>
                  <a:lnTo>
                    <a:pt x="11" y="13"/>
                  </a:lnTo>
                  <a:lnTo>
                    <a:pt x="19" y="7"/>
                  </a:lnTo>
                  <a:lnTo>
                    <a:pt x="26" y="2"/>
                  </a:lnTo>
                  <a:lnTo>
                    <a:pt x="34" y="0"/>
                  </a:lnTo>
                  <a:lnTo>
                    <a:pt x="40" y="0"/>
                  </a:lnTo>
                  <a:lnTo>
                    <a:pt x="44" y="3"/>
                  </a:lnTo>
                  <a:lnTo>
                    <a:pt x="44" y="8"/>
                  </a:lnTo>
                  <a:lnTo>
                    <a:pt x="39" y="13"/>
                  </a:lnTo>
                  <a:lnTo>
                    <a:pt x="32" y="16"/>
                  </a:lnTo>
                  <a:lnTo>
                    <a:pt x="24" y="18"/>
                  </a:lnTo>
                  <a:lnTo>
                    <a:pt x="15" y="21"/>
                  </a:lnTo>
                  <a:lnTo>
                    <a:pt x="8" y="22"/>
                  </a:lnTo>
                  <a:lnTo>
                    <a:pt x="2" y="23"/>
                  </a:lnTo>
                  <a:lnTo>
                    <a:pt x="0" y="23"/>
                  </a:lnTo>
                  <a:close/>
                </a:path>
              </a:pathLst>
            </a:custGeom>
            <a:solidFill>
              <a:srgbClr val="000000"/>
            </a:solidFill>
            <a:ln w="9525">
              <a:noFill/>
              <a:round/>
            </a:ln>
          </p:spPr>
          <p:txBody>
            <a:bodyPr/>
            <a:lstStyle/>
            <a:p>
              <a:endParaRPr lang="en-US"/>
            </a:p>
          </p:txBody>
        </p:sp>
        <p:sp>
          <p:nvSpPr>
            <p:cNvPr id="1048846" name="Freeform 138"/>
            <p:cNvSpPr/>
            <p:nvPr/>
          </p:nvSpPr>
          <p:spPr bwMode="auto">
            <a:xfrm>
              <a:off x="2349" y="3782"/>
              <a:ext cx="20" cy="6"/>
            </a:xfrm>
            <a:custGeom>
              <a:avLst/>
              <a:gdLst>
                <a:gd name="T0" fmla="*/ 0 w 40"/>
                <a:gd name="T1" fmla="*/ 3 h 14"/>
                <a:gd name="T2" fmla="*/ 1 w 40"/>
                <a:gd name="T3" fmla="*/ 3 h 14"/>
                <a:gd name="T4" fmla="*/ 3 w 40"/>
                <a:gd name="T5" fmla="*/ 3 h 14"/>
                <a:gd name="T6" fmla="*/ 6 w 40"/>
                <a:gd name="T7" fmla="*/ 1 h 14"/>
                <a:gd name="T8" fmla="*/ 10 w 40"/>
                <a:gd name="T9" fmla="*/ 0 h 14"/>
                <a:gd name="T10" fmla="*/ 14 w 40"/>
                <a:gd name="T11" fmla="*/ 0 h 14"/>
                <a:gd name="T12" fmla="*/ 17 w 40"/>
                <a:gd name="T13" fmla="*/ 0 h 14"/>
                <a:gd name="T14" fmla="*/ 20 w 40"/>
                <a:gd name="T15" fmla="*/ 1 h 14"/>
                <a:gd name="T16" fmla="*/ 20 w 40"/>
                <a:gd name="T17" fmla="*/ 3 h 14"/>
                <a:gd name="T18" fmla="*/ 19 w 40"/>
                <a:gd name="T19" fmla="*/ 5 h 14"/>
                <a:gd name="T20" fmla="*/ 17 w 40"/>
                <a:gd name="T21" fmla="*/ 6 h 14"/>
                <a:gd name="T22" fmla="*/ 13 w 40"/>
                <a:gd name="T23" fmla="*/ 6 h 14"/>
                <a:gd name="T24" fmla="*/ 10 w 40"/>
                <a:gd name="T25" fmla="*/ 6 h 14"/>
                <a:gd name="T26" fmla="*/ 6 w 40"/>
                <a:gd name="T27" fmla="*/ 5 h 14"/>
                <a:gd name="T28" fmla="*/ 3 w 40"/>
                <a:gd name="T29" fmla="*/ 4 h 14"/>
                <a:gd name="T30" fmla="*/ 1 w 40"/>
                <a:gd name="T31" fmla="*/ 4 h 14"/>
                <a:gd name="T32" fmla="*/ 0 w 40"/>
                <a:gd name="T33" fmla="*/ 3 h 14"/>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40"/>
                <a:gd name="T52" fmla="*/ 0 h 14"/>
                <a:gd name="T53" fmla="*/ 40 w 40"/>
                <a:gd name="T54" fmla="*/ 14 h 14"/>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40" h="14">
                  <a:moveTo>
                    <a:pt x="0" y="8"/>
                  </a:moveTo>
                  <a:lnTo>
                    <a:pt x="2" y="7"/>
                  </a:lnTo>
                  <a:lnTo>
                    <a:pt x="6" y="6"/>
                  </a:lnTo>
                  <a:lnTo>
                    <a:pt x="13" y="3"/>
                  </a:lnTo>
                  <a:lnTo>
                    <a:pt x="20" y="1"/>
                  </a:lnTo>
                  <a:lnTo>
                    <a:pt x="28" y="0"/>
                  </a:lnTo>
                  <a:lnTo>
                    <a:pt x="34" y="0"/>
                  </a:lnTo>
                  <a:lnTo>
                    <a:pt x="39" y="2"/>
                  </a:lnTo>
                  <a:lnTo>
                    <a:pt x="40" y="7"/>
                  </a:lnTo>
                  <a:lnTo>
                    <a:pt x="38" y="12"/>
                  </a:lnTo>
                  <a:lnTo>
                    <a:pt x="33" y="14"/>
                  </a:lnTo>
                  <a:lnTo>
                    <a:pt x="26" y="14"/>
                  </a:lnTo>
                  <a:lnTo>
                    <a:pt x="19" y="14"/>
                  </a:lnTo>
                  <a:lnTo>
                    <a:pt x="12" y="12"/>
                  </a:lnTo>
                  <a:lnTo>
                    <a:pt x="5" y="10"/>
                  </a:lnTo>
                  <a:lnTo>
                    <a:pt x="1" y="9"/>
                  </a:lnTo>
                  <a:lnTo>
                    <a:pt x="0" y="8"/>
                  </a:lnTo>
                  <a:close/>
                </a:path>
              </a:pathLst>
            </a:custGeom>
            <a:solidFill>
              <a:srgbClr val="000000"/>
            </a:solidFill>
            <a:ln w="9525">
              <a:noFill/>
              <a:round/>
            </a:ln>
          </p:spPr>
          <p:txBody>
            <a:bodyPr/>
            <a:lstStyle/>
            <a:p>
              <a:endParaRPr lang="en-US"/>
            </a:p>
          </p:txBody>
        </p:sp>
        <p:sp>
          <p:nvSpPr>
            <p:cNvPr id="1048847" name="Freeform 139"/>
            <p:cNvSpPr/>
            <p:nvPr/>
          </p:nvSpPr>
          <p:spPr bwMode="auto">
            <a:xfrm>
              <a:off x="2349" y="3802"/>
              <a:ext cx="20" cy="10"/>
            </a:xfrm>
            <a:custGeom>
              <a:avLst/>
              <a:gdLst>
                <a:gd name="T0" fmla="*/ 0 w 39"/>
                <a:gd name="T1" fmla="*/ 0 h 21"/>
                <a:gd name="T2" fmla="*/ 1 w 39"/>
                <a:gd name="T3" fmla="*/ 0 h 21"/>
                <a:gd name="T4" fmla="*/ 4 w 39"/>
                <a:gd name="T5" fmla="*/ 0 h 21"/>
                <a:gd name="T6" fmla="*/ 7 w 39"/>
                <a:gd name="T7" fmla="*/ 1 h 21"/>
                <a:gd name="T8" fmla="*/ 11 w 39"/>
                <a:gd name="T9" fmla="*/ 2 h 21"/>
                <a:gd name="T10" fmla="*/ 15 w 39"/>
                <a:gd name="T11" fmla="*/ 3 h 21"/>
                <a:gd name="T12" fmla="*/ 18 w 39"/>
                <a:gd name="T13" fmla="*/ 5 h 21"/>
                <a:gd name="T14" fmla="*/ 20 w 39"/>
                <a:gd name="T15" fmla="*/ 6 h 21"/>
                <a:gd name="T16" fmla="*/ 19 w 39"/>
                <a:gd name="T17" fmla="*/ 8 h 21"/>
                <a:gd name="T18" fmla="*/ 17 w 39"/>
                <a:gd name="T19" fmla="*/ 10 h 21"/>
                <a:gd name="T20" fmla="*/ 14 w 39"/>
                <a:gd name="T21" fmla="*/ 10 h 21"/>
                <a:gd name="T22" fmla="*/ 10 w 39"/>
                <a:gd name="T23" fmla="*/ 9 h 21"/>
                <a:gd name="T24" fmla="*/ 8 w 39"/>
                <a:gd name="T25" fmla="*/ 7 h 21"/>
                <a:gd name="T26" fmla="*/ 5 w 39"/>
                <a:gd name="T27" fmla="*/ 5 h 21"/>
                <a:gd name="T28" fmla="*/ 2 w 39"/>
                <a:gd name="T29" fmla="*/ 2 h 21"/>
                <a:gd name="T30" fmla="*/ 1 w 39"/>
                <a:gd name="T31" fmla="*/ 0 h 21"/>
                <a:gd name="T32" fmla="*/ 0 w 39"/>
                <a:gd name="T33" fmla="*/ 0 h 21"/>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39"/>
                <a:gd name="T52" fmla="*/ 0 h 21"/>
                <a:gd name="T53" fmla="*/ 39 w 39"/>
                <a:gd name="T54" fmla="*/ 21 h 21"/>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39" h="21">
                  <a:moveTo>
                    <a:pt x="0" y="0"/>
                  </a:moveTo>
                  <a:lnTo>
                    <a:pt x="2" y="0"/>
                  </a:lnTo>
                  <a:lnTo>
                    <a:pt x="7" y="1"/>
                  </a:lnTo>
                  <a:lnTo>
                    <a:pt x="14" y="3"/>
                  </a:lnTo>
                  <a:lnTo>
                    <a:pt x="22" y="5"/>
                  </a:lnTo>
                  <a:lnTo>
                    <a:pt x="30" y="7"/>
                  </a:lnTo>
                  <a:lnTo>
                    <a:pt x="35" y="10"/>
                  </a:lnTo>
                  <a:lnTo>
                    <a:pt x="39" y="13"/>
                  </a:lnTo>
                  <a:lnTo>
                    <a:pt x="38" y="16"/>
                  </a:lnTo>
                  <a:lnTo>
                    <a:pt x="33" y="20"/>
                  </a:lnTo>
                  <a:lnTo>
                    <a:pt x="27" y="21"/>
                  </a:lnTo>
                  <a:lnTo>
                    <a:pt x="20" y="19"/>
                  </a:lnTo>
                  <a:lnTo>
                    <a:pt x="15" y="14"/>
                  </a:lnTo>
                  <a:lnTo>
                    <a:pt x="9" y="10"/>
                  </a:lnTo>
                  <a:lnTo>
                    <a:pt x="4" y="5"/>
                  </a:lnTo>
                  <a:lnTo>
                    <a:pt x="1" y="1"/>
                  </a:lnTo>
                  <a:lnTo>
                    <a:pt x="0" y="0"/>
                  </a:lnTo>
                  <a:close/>
                </a:path>
              </a:pathLst>
            </a:custGeom>
            <a:solidFill>
              <a:srgbClr val="000000"/>
            </a:solidFill>
            <a:ln w="9525">
              <a:noFill/>
              <a:round/>
            </a:ln>
          </p:spPr>
          <p:txBody>
            <a:bodyPr/>
            <a:lstStyle/>
            <a:p>
              <a:endParaRPr lang="en-US"/>
            </a:p>
          </p:txBody>
        </p:sp>
        <p:sp>
          <p:nvSpPr>
            <p:cNvPr id="1048848" name="Freeform 140"/>
            <p:cNvSpPr/>
            <p:nvPr/>
          </p:nvSpPr>
          <p:spPr bwMode="auto">
            <a:xfrm>
              <a:off x="2241" y="3760"/>
              <a:ext cx="22" cy="11"/>
            </a:xfrm>
            <a:custGeom>
              <a:avLst/>
              <a:gdLst>
                <a:gd name="T0" fmla="*/ 22 w 44"/>
                <a:gd name="T1" fmla="*/ 11 h 23"/>
                <a:gd name="T2" fmla="*/ 22 w 44"/>
                <a:gd name="T3" fmla="*/ 11 h 23"/>
                <a:gd name="T4" fmla="*/ 19 w 44"/>
                <a:gd name="T5" fmla="*/ 9 h 23"/>
                <a:gd name="T6" fmla="*/ 16 w 44"/>
                <a:gd name="T7" fmla="*/ 6 h 23"/>
                <a:gd name="T8" fmla="*/ 12 w 44"/>
                <a:gd name="T9" fmla="*/ 4 h 23"/>
                <a:gd name="T10" fmla="*/ 9 w 44"/>
                <a:gd name="T11" fmla="*/ 2 h 23"/>
                <a:gd name="T12" fmla="*/ 5 w 44"/>
                <a:gd name="T13" fmla="*/ 0 h 23"/>
                <a:gd name="T14" fmla="*/ 2 w 44"/>
                <a:gd name="T15" fmla="*/ 0 h 23"/>
                <a:gd name="T16" fmla="*/ 0 w 44"/>
                <a:gd name="T17" fmla="*/ 2 h 23"/>
                <a:gd name="T18" fmla="*/ 0 w 44"/>
                <a:gd name="T19" fmla="*/ 4 h 23"/>
                <a:gd name="T20" fmla="*/ 3 w 44"/>
                <a:gd name="T21" fmla="*/ 6 h 23"/>
                <a:gd name="T22" fmla="*/ 6 w 44"/>
                <a:gd name="T23" fmla="*/ 8 h 23"/>
                <a:gd name="T24" fmla="*/ 10 w 44"/>
                <a:gd name="T25" fmla="*/ 9 h 23"/>
                <a:gd name="T26" fmla="*/ 14 w 44"/>
                <a:gd name="T27" fmla="*/ 10 h 23"/>
                <a:gd name="T28" fmla="*/ 18 w 44"/>
                <a:gd name="T29" fmla="*/ 11 h 23"/>
                <a:gd name="T30" fmla="*/ 21 w 44"/>
                <a:gd name="T31" fmla="*/ 11 h 23"/>
                <a:gd name="T32" fmla="*/ 22 w 44"/>
                <a:gd name="T33" fmla="*/ 11 h 23"/>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44"/>
                <a:gd name="T52" fmla="*/ 0 h 23"/>
                <a:gd name="T53" fmla="*/ 44 w 44"/>
                <a:gd name="T54" fmla="*/ 23 h 23"/>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44" h="23">
                  <a:moveTo>
                    <a:pt x="44" y="23"/>
                  </a:moveTo>
                  <a:lnTo>
                    <a:pt x="43" y="22"/>
                  </a:lnTo>
                  <a:lnTo>
                    <a:pt x="38" y="19"/>
                  </a:lnTo>
                  <a:lnTo>
                    <a:pt x="32" y="13"/>
                  </a:lnTo>
                  <a:lnTo>
                    <a:pt x="24" y="8"/>
                  </a:lnTo>
                  <a:lnTo>
                    <a:pt x="17" y="4"/>
                  </a:lnTo>
                  <a:lnTo>
                    <a:pt x="9" y="0"/>
                  </a:lnTo>
                  <a:lnTo>
                    <a:pt x="4" y="0"/>
                  </a:lnTo>
                  <a:lnTo>
                    <a:pt x="0" y="4"/>
                  </a:lnTo>
                  <a:lnTo>
                    <a:pt x="0" y="8"/>
                  </a:lnTo>
                  <a:lnTo>
                    <a:pt x="5" y="13"/>
                  </a:lnTo>
                  <a:lnTo>
                    <a:pt x="12" y="16"/>
                  </a:lnTo>
                  <a:lnTo>
                    <a:pt x="20" y="19"/>
                  </a:lnTo>
                  <a:lnTo>
                    <a:pt x="29" y="21"/>
                  </a:lnTo>
                  <a:lnTo>
                    <a:pt x="36" y="22"/>
                  </a:lnTo>
                  <a:lnTo>
                    <a:pt x="42" y="23"/>
                  </a:lnTo>
                  <a:lnTo>
                    <a:pt x="44" y="23"/>
                  </a:lnTo>
                  <a:close/>
                </a:path>
              </a:pathLst>
            </a:custGeom>
            <a:solidFill>
              <a:srgbClr val="000000"/>
            </a:solidFill>
            <a:ln w="9525">
              <a:noFill/>
              <a:round/>
            </a:ln>
          </p:spPr>
          <p:txBody>
            <a:bodyPr/>
            <a:lstStyle/>
            <a:p>
              <a:endParaRPr lang="en-US"/>
            </a:p>
          </p:txBody>
        </p:sp>
        <p:sp>
          <p:nvSpPr>
            <p:cNvPr id="1048849" name="Freeform 141"/>
            <p:cNvSpPr/>
            <p:nvPr/>
          </p:nvSpPr>
          <p:spPr bwMode="auto">
            <a:xfrm>
              <a:off x="2235" y="3783"/>
              <a:ext cx="22" cy="7"/>
            </a:xfrm>
            <a:custGeom>
              <a:avLst/>
              <a:gdLst>
                <a:gd name="T0" fmla="*/ 22 w 42"/>
                <a:gd name="T1" fmla="*/ 5 h 14"/>
                <a:gd name="T2" fmla="*/ 21 w 42"/>
                <a:gd name="T3" fmla="*/ 4 h 14"/>
                <a:gd name="T4" fmla="*/ 18 w 42"/>
                <a:gd name="T5" fmla="*/ 3 h 14"/>
                <a:gd name="T6" fmla="*/ 15 w 42"/>
                <a:gd name="T7" fmla="*/ 2 h 14"/>
                <a:gd name="T8" fmla="*/ 10 w 42"/>
                <a:gd name="T9" fmla="*/ 1 h 14"/>
                <a:gd name="T10" fmla="*/ 6 w 42"/>
                <a:gd name="T11" fmla="*/ 0 h 14"/>
                <a:gd name="T12" fmla="*/ 3 w 42"/>
                <a:gd name="T13" fmla="*/ 0 h 14"/>
                <a:gd name="T14" fmla="*/ 1 w 42"/>
                <a:gd name="T15" fmla="*/ 2 h 14"/>
                <a:gd name="T16" fmla="*/ 0 w 42"/>
                <a:gd name="T17" fmla="*/ 4 h 14"/>
                <a:gd name="T18" fmla="*/ 1 w 42"/>
                <a:gd name="T19" fmla="*/ 6 h 14"/>
                <a:gd name="T20" fmla="*/ 4 w 42"/>
                <a:gd name="T21" fmla="*/ 7 h 14"/>
                <a:gd name="T22" fmla="*/ 8 w 42"/>
                <a:gd name="T23" fmla="*/ 7 h 14"/>
                <a:gd name="T24" fmla="*/ 11 w 42"/>
                <a:gd name="T25" fmla="*/ 7 h 14"/>
                <a:gd name="T26" fmla="*/ 16 w 42"/>
                <a:gd name="T27" fmla="*/ 6 h 14"/>
                <a:gd name="T28" fmla="*/ 19 w 42"/>
                <a:gd name="T29" fmla="*/ 6 h 14"/>
                <a:gd name="T30" fmla="*/ 21 w 42"/>
                <a:gd name="T31" fmla="*/ 5 h 14"/>
                <a:gd name="T32" fmla="*/ 22 w 42"/>
                <a:gd name="T33" fmla="*/ 5 h 14"/>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42"/>
                <a:gd name="T52" fmla="*/ 0 h 14"/>
                <a:gd name="T53" fmla="*/ 42 w 42"/>
                <a:gd name="T54" fmla="*/ 14 h 14"/>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42" h="14">
                  <a:moveTo>
                    <a:pt x="42" y="9"/>
                  </a:moveTo>
                  <a:lnTo>
                    <a:pt x="40" y="7"/>
                  </a:lnTo>
                  <a:lnTo>
                    <a:pt x="35" y="6"/>
                  </a:lnTo>
                  <a:lnTo>
                    <a:pt x="28" y="4"/>
                  </a:lnTo>
                  <a:lnTo>
                    <a:pt x="19" y="2"/>
                  </a:lnTo>
                  <a:lnTo>
                    <a:pt x="11" y="0"/>
                  </a:lnTo>
                  <a:lnTo>
                    <a:pt x="5" y="0"/>
                  </a:lnTo>
                  <a:lnTo>
                    <a:pt x="1" y="3"/>
                  </a:lnTo>
                  <a:lnTo>
                    <a:pt x="0" y="7"/>
                  </a:lnTo>
                  <a:lnTo>
                    <a:pt x="2" y="12"/>
                  </a:lnTo>
                  <a:lnTo>
                    <a:pt x="8" y="14"/>
                  </a:lnTo>
                  <a:lnTo>
                    <a:pt x="15" y="14"/>
                  </a:lnTo>
                  <a:lnTo>
                    <a:pt x="21" y="14"/>
                  </a:lnTo>
                  <a:lnTo>
                    <a:pt x="30" y="12"/>
                  </a:lnTo>
                  <a:lnTo>
                    <a:pt x="36" y="11"/>
                  </a:lnTo>
                  <a:lnTo>
                    <a:pt x="40" y="10"/>
                  </a:lnTo>
                  <a:lnTo>
                    <a:pt x="42" y="9"/>
                  </a:lnTo>
                  <a:close/>
                </a:path>
              </a:pathLst>
            </a:custGeom>
            <a:solidFill>
              <a:srgbClr val="000000"/>
            </a:solidFill>
            <a:ln w="9525">
              <a:noFill/>
              <a:round/>
            </a:ln>
          </p:spPr>
          <p:txBody>
            <a:bodyPr/>
            <a:lstStyle/>
            <a:p>
              <a:endParaRPr lang="en-US"/>
            </a:p>
          </p:txBody>
        </p:sp>
        <p:sp>
          <p:nvSpPr>
            <p:cNvPr id="1048850" name="Freeform 142"/>
            <p:cNvSpPr/>
            <p:nvPr/>
          </p:nvSpPr>
          <p:spPr bwMode="auto">
            <a:xfrm>
              <a:off x="2238" y="3805"/>
              <a:ext cx="20" cy="11"/>
            </a:xfrm>
            <a:custGeom>
              <a:avLst/>
              <a:gdLst>
                <a:gd name="T0" fmla="*/ 20 w 40"/>
                <a:gd name="T1" fmla="*/ 0 h 22"/>
                <a:gd name="T2" fmla="*/ 19 w 40"/>
                <a:gd name="T3" fmla="*/ 0 h 22"/>
                <a:gd name="T4" fmla="*/ 17 w 40"/>
                <a:gd name="T5" fmla="*/ 1 h 22"/>
                <a:gd name="T6" fmla="*/ 13 w 40"/>
                <a:gd name="T7" fmla="*/ 1 h 22"/>
                <a:gd name="T8" fmla="*/ 9 w 40"/>
                <a:gd name="T9" fmla="*/ 3 h 22"/>
                <a:gd name="T10" fmla="*/ 5 w 40"/>
                <a:gd name="T11" fmla="*/ 3 h 22"/>
                <a:gd name="T12" fmla="*/ 2 w 40"/>
                <a:gd name="T13" fmla="*/ 6 h 22"/>
                <a:gd name="T14" fmla="*/ 0 w 40"/>
                <a:gd name="T15" fmla="*/ 7 h 22"/>
                <a:gd name="T16" fmla="*/ 1 w 40"/>
                <a:gd name="T17" fmla="*/ 9 h 22"/>
                <a:gd name="T18" fmla="*/ 3 w 40"/>
                <a:gd name="T19" fmla="*/ 11 h 22"/>
                <a:gd name="T20" fmla="*/ 6 w 40"/>
                <a:gd name="T21" fmla="*/ 11 h 22"/>
                <a:gd name="T22" fmla="*/ 10 w 40"/>
                <a:gd name="T23" fmla="*/ 10 h 22"/>
                <a:gd name="T24" fmla="*/ 12 w 40"/>
                <a:gd name="T25" fmla="*/ 7 h 22"/>
                <a:gd name="T26" fmla="*/ 15 w 40"/>
                <a:gd name="T27" fmla="*/ 5 h 22"/>
                <a:gd name="T28" fmla="*/ 18 w 40"/>
                <a:gd name="T29" fmla="*/ 3 h 22"/>
                <a:gd name="T30" fmla="*/ 19 w 40"/>
                <a:gd name="T31" fmla="*/ 1 h 22"/>
                <a:gd name="T32" fmla="*/ 20 w 40"/>
                <a:gd name="T33" fmla="*/ 0 h 22"/>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40"/>
                <a:gd name="T52" fmla="*/ 0 h 22"/>
                <a:gd name="T53" fmla="*/ 40 w 40"/>
                <a:gd name="T54" fmla="*/ 22 h 22"/>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40" h="22">
                  <a:moveTo>
                    <a:pt x="40" y="0"/>
                  </a:moveTo>
                  <a:lnTo>
                    <a:pt x="37" y="0"/>
                  </a:lnTo>
                  <a:lnTo>
                    <a:pt x="33" y="1"/>
                  </a:lnTo>
                  <a:lnTo>
                    <a:pt x="26" y="3"/>
                  </a:lnTo>
                  <a:lnTo>
                    <a:pt x="18" y="5"/>
                  </a:lnTo>
                  <a:lnTo>
                    <a:pt x="10" y="7"/>
                  </a:lnTo>
                  <a:lnTo>
                    <a:pt x="4" y="11"/>
                  </a:lnTo>
                  <a:lnTo>
                    <a:pt x="0" y="14"/>
                  </a:lnTo>
                  <a:lnTo>
                    <a:pt x="1" y="18"/>
                  </a:lnTo>
                  <a:lnTo>
                    <a:pt x="6" y="21"/>
                  </a:lnTo>
                  <a:lnTo>
                    <a:pt x="12" y="22"/>
                  </a:lnTo>
                  <a:lnTo>
                    <a:pt x="19" y="19"/>
                  </a:lnTo>
                  <a:lnTo>
                    <a:pt x="25" y="15"/>
                  </a:lnTo>
                  <a:lnTo>
                    <a:pt x="30" y="9"/>
                  </a:lnTo>
                  <a:lnTo>
                    <a:pt x="35" y="5"/>
                  </a:lnTo>
                  <a:lnTo>
                    <a:pt x="38" y="1"/>
                  </a:lnTo>
                  <a:lnTo>
                    <a:pt x="40" y="0"/>
                  </a:lnTo>
                  <a:close/>
                </a:path>
              </a:pathLst>
            </a:custGeom>
            <a:solidFill>
              <a:srgbClr val="000000"/>
            </a:solidFill>
            <a:ln w="9525">
              <a:noFill/>
              <a:round/>
            </a:ln>
          </p:spPr>
          <p:txBody>
            <a:bodyPr/>
            <a:lstStyle/>
            <a:p>
              <a:endParaRPr lang="en-US"/>
            </a:p>
          </p:txBody>
        </p:sp>
        <p:sp>
          <p:nvSpPr>
            <p:cNvPr id="1048851" name="Freeform 143"/>
            <p:cNvSpPr/>
            <p:nvPr/>
          </p:nvSpPr>
          <p:spPr bwMode="auto">
            <a:xfrm>
              <a:off x="2310" y="3834"/>
              <a:ext cx="2" cy="2"/>
            </a:xfrm>
            <a:custGeom>
              <a:avLst/>
              <a:gdLst>
                <a:gd name="T0" fmla="*/ 1 w 5"/>
                <a:gd name="T1" fmla="*/ 2 h 4"/>
                <a:gd name="T2" fmla="*/ 2 w 5"/>
                <a:gd name="T3" fmla="*/ 2 h 4"/>
                <a:gd name="T4" fmla="*/ 2 w 5"/>
                <a:gd name="T5" fmla="*/ 1 h 4"/>
                <a:gd name="T6" fmla="*/ 2 w 5"/>
                <a:gd name="T7" fmla="*/ 1 h 4"/>
                <a:gd name="T8" fmla="*/ 2 w 5"/>
                <a:gd name="T9" fmla="*/ 1 h 4"/>
                <a:gd name="T10" fmla="*/ 2 w 5"/>
                <a:gd name="T11" fmla="*/ 1 h 4"/>
                <a:gd name="T12" fmla="*/ 2 w 5"/>
                <a:gd name="T13" fmla="*/ 1 h 4"/>
                <a:gd name="T14" fmla="*/ 2 w 5"/>
                <a:gd name="T15" fmla="*/ 0 h 4"/>
                <a:gd name="T16" fmla="*/ 1 w 5"/>
                <a:gd name="T17" fmla="*/ 0 h 4"/>
                <a:gd name="T18" fmla="*/ 1 w 5"/>
                <a:gd name="T19" fmla="*/ 0 h 4"/>
                <a:gd name="T20" fmla="*/ 1 w 5"/>
                <a:gd name="T21" fmla="*/ 1 h 4"/>
                <a:gd name="T22" fmla="*/ 0 w 5"/>
                <a:gd name="T23" fmla="*/ 1 h 4"/>
                <a:gd name="T24" fmla="*/ 0 w 5"/>
                <a:gd name="T25" fmla="*/ 1 h 4"/>
                <a:gd name="T26" fmla="*/ 0 w 5"/>
                <a:gd name="T27" fmla="*/ 1 h 4"/>
                <a:gd name="T28" fmla="*/ 1 w 5"/>
                <a:gd name="T29" fmla="*/ 1 h 4"/>
                <a:gd name="T30" fmla="*/ 1 w 5"/>
                <a:gd name="T31" fmla="*/ 2 h 4"/>
                <a:gd name="T32" fmla="*/ 1 w 5"/>
                <a:gd name="T33" fmla="*/ 2 h 4"/>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5"/>
                <a:gd name="T52" fmla="*/ 0 h 4"/>
                <a:gd name="T53" fmla="*/ 5 w 5"/>
                <a:gd name="T54" fmla="*/ 4 h 4"/>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5" h="4">
                  <a:moveTo>
                    <a:pt x="3" y="4"/>
                  </a:moveTo>
                  <a:lnTo>
                    <a:pt x="4" y="4"/>
                  </a:lnTo>
                  <a:lnTo>
                    <a:pt x="4" y="3"/>
                  </a:lnTo>
                  <a:lnTo>
                    <a:pt x="5" y="3"/>
                  </a:lnTo>
                  <a:lnTo>
                    <a:pt x="5" y="2"/>
                  </a:lnTo>
                  <a:lnTo>
                    <a:pt x="5" y="1"/>
                  </a:lnTo>
                  <a:lnTo>
                    <a:pt x="4" y="1"/>
                  </a:lnTo>
                  <a:lnTo>
                    <a:pt x="4" y="0"/>
                  </a:lnTo>
                  <a:lnTo>
                    <a:pt x="3" y="0"/>
                  </a:lnTo>
                  <a:lnTo>
                    <a:pt x="2" y="0"/>
                  </a:lnTo>
                  <a:lnTo>
                    <a:pt x="2" y="1"/>
                  </a:lnTo>
                  <a:lnTo>
                    <a:pt x="0" y="1"/>
                  </a:lnTo>
                  <a:lnTo>
                    <a:pt x="0" y="2"/>
                  </a:lnTo>
                  <a:lnTo>
                    <a:pt x="0" y="3"/>
                  </a:lnTo>
                  <a:lnTo>
                    <a:pt x="2" y="3"/>
                  </a:lnTo>
                  <a:lnTo>
                    <a:pt x="2" y="4"/>
                  </a:lnTo>
                  <a:lnTo>
                    <a:pt x="3" y="4"/>
                  </a:lnTo>
                  <a:close/>
                </a:path>
              </a:pathLst>
            </a:custGeom>
            <a:solidFill>
              <a:srgbClr val="FFFFFF"/>
            </a:solidFill>
            <a:ln w="9525">
              <a:noFill/>
              <a:round/>
            </a:ln>
          </p:spPr>
          <p:txBody>
            <a:bodyPr/>
            <a:lstStyle/>
            <a:p>
              <a:endParaRPr lang="en-US"/>
            </a:p>
          </p:txBody>
        </p:sp>
        <p:sp>
          <p:nvSpPr>
            <p:cNvPr id="1048852" name="Freeform 144"/>
            <p:cNvSpPr/>
            <p:nvPr/>
          </p:nvSpPr>
          <p:spPr bwMode="auto">
            <a:xfrm>
              <a:off x="2310" y="3845"/>
              <a:ext cx="2" cy="2"/>
            </a:xfrm>
            <a:custGeom>
              <a:avLst/>
              <a:gdLst>
                <a:gd name="T0" fmla="*/ 1 w 5"/>
                <a:gd name="T1" fmla="*/ 2 h 4"/>
                <a:gd name="T2" fmla="*/ 2 w 5"/>
                <a:gd name="T3" fmla="*/ 2 h 4"/>
                <a:gd name="T4" fmla="*/ 2 w 5"/>
                <a:gd name="T5" fmla="*/ 1 h 4"/>
                <a:gd name="T6" fmla="*/ 2 w 5"/>
                <a:gd name="T7" fmla="*/ 1 h 4"/>
                <a:gd name="T8" fmla="*/ 2 w 5"/>
                <a:gd name="T9" fmla="*/ 1 h 4"/>
                <a:gd name="T10" fmla="*/ 2 w 5"/>
                <a:gd name="T11" fmla="*/ 1 h 4"/>
                <a:gd name="T12" fmla="*/ 2 w 5"/>
                <a:gd name="T13" fmla="*/ 1 h 4"/>
                <a:gd name="T14" fmla="*/ 2 w 5"/>
                <a:gd name="T15" fmla="*/ 0 h 4"/>
                <a:gd name="T16" fmla="*/ 1 w 5"/>
                <a:gd name="T17" fmla="*/ 0 h 4"/>
                <a:gd name="T18" fmla="*/ 1 w 5"/>
                <a:gd name="T19" fmla="*/ 0 h 4"/>
                <a:gd name="T20" fmla="*/ 1 w 5"/>
                <a:gd name="T21" fmla="*/ 1 h 4"/>
                <a:gd name="T22" fmla="*/ 0 w 5"/>
                <a:gd name="T23" fmla="*/ 1 h 4"/>
                <a:gd name="T24" fmla="*/ 0 w 5"/>
                <a:gd name="T25" fmla="*/ 1 h 4"/>
                <a:gd name="T26" fmla="*/ 0 w 5"/>
                <a:gd name="T27" fmla="*/ 1 h 4"/>
                <a:gd name="T28" fmla="*/ 1 w 5"/>
                <a:gd name="T29" fmla="*/ 1 h 4"/>
                <a:gd name="T30" fmla="*/ 1 w 5"/>
                <a:gd name="T31" fmla="*/ 2 h 4"/>
                <a:gd name="T32" fmla="*/ 1 w 5"/>
                <a:gd name="T33" fmla="*/ 2 h 4"/>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5"/>
                <a:gd name="T52" fmla="*/ 0 h 4"/>
                <a:gd name="T53" fmla="*/ 5 w 5"/>
                <a:gd name="T54" fmla="*/ 4 h 4"/>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5" h="4">
                  <a:moveTo>
                    <a:pt x="3" y="4"/>
                  </a:moveTo>
                  <a:lnTo>
                    <a:pt x="4" y="4"/>
                  </a:lnTo>
                  <a:lnTo>
                    <a:pt x="4" y="3"/>
                  </a:lnTo>
                  <a:lnTo>
                    <a:pt x="5" y="3"/>
                  </a:lnTo>
                  <a:lnTo>
                    <a:pt x="5" y="2"/>
                  </a:lnTo>
                  <a:lnTo>
                    <a:pt x="5" y="1"/>
                  </a:lnTo>
                  <a:lnTo>
                    <a:pt x="4" y="1"/>
                  </a:lnTo>
                  <a:lnTo>
                    <a:pt x="4" y="0"/>
                  </a:lnTo>
                  <a:lnTo>
                    <a:pt x="3" y="0"/>
                  </a:lnTo>
                  <a:lnTo>
                    <a:pt x="2" y="0"/>
                  </a:lnTo>
                  <a:lnTo>
                    <a:pt x="2" y="1"/>
                  </a:lnTo>
                  <a:lnTo>
                    <a:pt x="0" y="1"/>
                  </a:lnTo>
                  <a:lnTo>
                    <a:pt x="0" y="2"/>
                  </a:lnTo>
                  <a:lnTo>
                    <a:pt x="0" y="3"/>
                  </a:lnTo>
                  <a:lnTo>
                    <a:pt x="2" y="3"/>
                  </a:lnTo>
                  <a:lnTo>
                    <a:pt x="2" y="4"/>
                  </a:lnTo>
                  <a:lnTo>
                    <a:pt x="3" y="4"/>
                  </a:lnTo>
                  <a:close/>
                </a:path>
              </a:pathLst>
            </a:custGeom>
            <a:solidFill>
              <a:srgbClr val="FFFFFF"/>
            </a:solidFill>
            <a:ln w="9525">
              <a:noFill/>
              <a:round/>
            </a:ln>
          </p:spPr>
          <p:txBody>
            <a:bodyPr/>
            <a:lstStyle/>
            <a:p>
              <a:endParaRPr lang="en-US"/>
            </a:p>
          </p:txBody>
        </p:sp>
        <p:sp>
          <p:nvSpPr>
            <p:cNvPr id="1048853" name="Freeform 145"/>
            <p:cNvSpPr/>
            <p:nvPr/>
          </p:nvSpPr>
          <p:spPr bwMode="auto">
            <a:xfrm>
              <a:off x="2310" y="3855"/>
              <a:ext cx="3" cy="1"/>
            </a:xfrm>
            <a:custGeom>
              <a:avLst/>
              <a:gdLst>
                <a:gd name="T0" fmla="*/ 2 w 6"/>
                <a:gd name="T1" fmla="*/ 1 h 4"/>
                <a:gd name="T2" fmla="*/ 3 w 6"/>
                <a:gd name="T3" fmla="*/ 1 h 4"/>
                <a:gd name="T4" fmla="*/ 3 w 6"/>
                <a:gd name="T5" fmla="*/ 1 h 4"/>
                <a:gd name="T6" fmla="*/ 3 w 6"/>
                <a:gd name="T7" fmla="*/ 1 h 4"/>
                <a:gd name="T8" fmla="*/ 3 w 6"/>
                <a:gd name="T9" fmla="*/ 1 h 4"/>
                <a:gd name="T10" fmla="*/ 3 w 6"/>
                <a:gd name="T11" fmla="*/ 0 h 4"/>
                <a:gd name="T12" fmla="*/ 3 w 6"/>
                <a:gd name="T13" fmla="*/ 0 h 4"/>
                <a:gd name="T14" fmla="*/ 3 w 6"/>
                <a:gd name="T15" fmla="*/ 0 h 4"/>
                <a:gd name="T16" fmla="*/ 2 w 6"/>
                <a:gd name="T17" fmla="*/ 0 h 4"/>
                <a:gd name="T18" fmla="*/ 2 w 6"/>
                <a:gd name="T19" fmla="*/ 0 h 4"/>
                <a:gd name="T20" fmla="*/ 1 w 6"/>
                <a:gd name="T21" fmla="*/ 0 h 4"/>
                <a:gd name="T22" fmla="*/ 0 w 6"/>
                <a:gd name="T23" fmla="*/ 0 h 4"/>
                <a:gd name="T24" fmla="*/ 0 w 6"/>
                <a:gd name="T25" fmla="*/ 1 h 4"/>
                <a:gd name="T26" fmla="*/ 0 w 6"/>
                <a:gd name="T27" fmla="*/ 1 h 4"/>
                <a:gd name="T28" fmla="*/ 1 w 6"/>
                <a:gd name="T29" fmla="*/ 1 h 4"/>
                <a:gd name="T30" fmla="*/ 2 w 6"/>
                <a:gd name="T31" fmla="*/ 1 h 4"/>
                <a:gd name="T32" fmla="*/ 2 w 6"/>
                <a:gd name="T33" fmla="*/ 1 h 4"/>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6"/>
                <a:gd name="T52" fmla="*/ 0 h 4"/>
                <a:gd name="T53" fmla="*/ 6 w 6"/>
                <a:gd name="T54" fmla="*/ 4 h 4"/>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6" h="4">
                  <a:moveTo>
                    <a:pt x="4" y="4"/>
                  </a:moveTo>
                  <a:lnTo>
                    <a:pt x="5" y="4"/>
                  </a:lnTo>
                  <a:lnTo>
                    <a:pt x="5" y="3"/>
                  </a:lnTo>
                  <a:lnTo>
                    <a:pt x="6" y="3"/>
                  </a:lnTo>
                  <a:lnTo>
                    <a:pt x="6" y="2"/>
                  </a:lnTo>
                  <a:lnTo>
                    <a:pt x="6" y="0"/>
                  </a:lnTo>
                  <a:lnTo>
                    <a:pt x="5" y="0"/>
                  </a:lnTo>
                  <a:lnTo>
                    <a:pt x="4" y="0"/>
                  </a:lnTo>
                  <a:lnTo>
                    <a:pt x="3" y="0"/>
                  </a:lnTo>
                  <a:lnTo>
                    <a:pt x="2" y="0"/>
                  </a:lnTo>
                  <a:lnTo>
                    <a:pt x="0" y="0"/>
                  </a:lnTo>
                  <a:lnTo>
                    <a:pt x="0" y="2"/>
                  </a:lnTo>
                  <a:lnTo>
                    <a:pt x="0" y="3"/>
                  </a:lnTo>
                  <a:lnTo>
                    <a:pt x="2" y="3"/>
                  </a:lnTo>
                  <a:lnTo>
                    <a:pt x="3" y="4"/>
                  </a:lnTo>
                  <a:lnTo>
                    <a:pt x="4" y="4"/>
                  </a:lnTo>
                  <a:close/>
                </a:path>
              </a:pathLst>
            </a:custGeom>
            <a:solidFill>
              <a:srgbClr val="FFFFFF"/>
            </a:solidFill>
            <a:ln w="9525">
              <a:noFill/>
              <a:round/>
            </a:ln>
          </p:spPr>
          <p:txBody>
            <a:bodyPr/>
            <a:lstStyle/>
            <a:p>
              <a:endParaRPr lang="en-US"/>
            </a:p>
          </p:txBody>
        </p:sp>
        <p:sp>
          <p:nvSpPr>
            <p:cNvPr id="1048854" name="Freeform 146"/>
            <p:cNvSpPr/>
            <p:nvPr/>
          </p:nvSpPr>
          <p:spPr bwMode="auto">
            <a:xfrm>
              <a:off x="2538" y="3942"/>
              <a:ext cx="22" cy="31"/>
            </a:xfrm>
            <a:custGeom>
              <a:avLst/>
              <a:gdLst>
                <a:gd name="T0" fmla="*/ 1 w 44"/>
                <a:gd name="T1" fmla="*/ 0 h 64"/>
                <a:gd name="T2" fmla="*/ 1 w 44"/>
                <a:gd name="T3" fmla="*/ 1 h 64"/>
                <a:gd name="T4" fmla="*/ 1 w 44"/>
                <a:gd name="T5" fmla="*/ 4 h 64"/>
                <a:gd name="T6" fmla="*/ 2 w 44"/>
                <a:gd name="T7" fmla="*/ 9 h 64"/>
                <a:gd name="T8" fmla="*/ 4 w 44"/>
                <a:gd name="T9" fmla="*/ 13 h 64"/>
                <a:gd name="T10" fmla="*/ 6 w 44"/>
                <a:gd name="T11" fmla="*/ 18 h 64"/>
                <a:gd name="T12" fmla="*/ 10 w 44"/>
                <a:gd name="T13" fmla="*/ 24 h 64"/>
                <a:gd name="T14" fmla="*/ 15 w 44"/>
                <a:gd name="T15" fmla="*/ 28 h 64"/>
                <a:gd name="T16" fmla="*/ 22 w 44"/>
                <a:gd name="T17" fmla="*/ 31 h 64"/>
                <a:gd name="T18" fmla="*/ 21 w 44"/>
                <a:gd name="T19" fmla="*/ 31 h 64"/>
                <a:gd name="T20" fmla="*/ 18 w 44"/>
                <a:gd name="T21" fmla="*/ 31 h 64"/>
                <a:gd name="T22" fmla="*/ 13 w 44"/>
                <a:gd name="T23" fmla="*/ 30 h 64"/>
                <a:gd name="T24" fmla="*/ 9 w 44"/>
                <a:gd name="T25" fmla="*/ 28 h 64"/>
                <a:gd name="T26" fmla="*/ 5 w 44"/>
                <a:gd name="T27" fmla="*/ 24 h 64"/>
                <a:gd name="T28" fmla="*/ 1 w 44"/>
                <a:gd name="T29" fmla="*/ 18 h 64"/>
                <a:gd name="T30" fmla="*/ 0 w 44"/>
                <a:gd name="T31" fmla="*/ 11 h 64"/>
                <a:gd name="T32" fmla="*/ 1 w 44"/>
                <a:gd name="T33" fmla="*/ 0 h 64"/>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44"/>
                <a:gd name="T52" fmla="*/ 0 h 64"/>
                <a:gd name="T53" fmla="*/ 44 w 44"/>
                <a:gd name="T54" fmla="*/ 64 h 64"/>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44" h="64">
                  <a:moveTo>
                    <a:pt x="2" y="0"/>
                  </a:moveTo>
                  <a:lnTo>
                    <a:pt x="2" y="3"/>
                  </a:lnTo>
                  <a:lnTo>
                    <a:pt x="3" y="8"/>
                  </a:lnTo>
                  <a:lnTo>
                    <a:pt x="4" y="18"/>
                  </a:lnTo>
                  <a:lnTo>
                    <a:pt x="8" y="27"/>
                  </a:lnTo>
                  <a:lnTo>
                    <a:pt x="13" y="38"/>
                  </a:lnTo>
                  <a:lnTo>
                    <a:pt x="20" y="49"/>
                  </a:lnTo>
                  <a:lnTo>
                    <a:pt x="31" y="57"/>
                  </a:lnTo>
                  <a:lnTo>
                    <a:pt x="44" y="64"/>
                  </a:lnTo>
                  <a:lnTo>
                    <a:pt x="42" y="64"/>
                  </a:lnTo>
                  <a:lnTo>
                    <a:pt x="36" y="64"/>
                  </a:lnTo>
                  <a:lnTo>
                    <a:pt x="27" y="61"/>
                  </a:lnTo>
                  <a:lnTo>
                    <a:pt x="18" y="57"/>
                  </a:lnTo>
                  <a:lnTo>
                    <a:pt x="10" y="50"/>
                  </a:lnTo>
                  <a:lnTo>
                    <a:pt x="3" y="38"/>
                  </a:lnTo>
                  <a:lnTo>
                    <a:pt x="0" y="22"/>
                  </a:lnTo>
                  <a:lnTo>
                    <a:pt x="2" y="0"/>
                  </a:lnTo>
                  <a:close/>
                </a:path>
              </a:pathLst>
            </a:custGeom>
            <a:solidFill>
              <a:srgbClr val="7F7F7F"/>
            </a:solidFill>
            <a:ln w="9525">
              <a:noFill/>
              <a:round/>
            </a:ln>
          </p:spPr>
          <p:txBody>
            <a:bodyPr/>
            <a:lstStyle/>
            <a:p>
              <a:endParaRPr lang="en-US"/>
            </a:p>
          </p:txBody>
        </p:sp>
        <p:sp>
          <p:nvSpPr>
            <p:cNvPr id="1048855" name="Freeform 147"/>
            <p:cNvSpPr/>
            <p:nvPr/>
          </p:nvSpPr>
          <p:spPr bwMode="auto">
            <a:xfrm>
              <a:off x="2211" y="3942"/>
              <a:ext cx="23" cy="31"/>
            </a:xfrm>
            <a:custGeom>
              <a:avLst/>
              <a:gdLst>
                <a:gd name="T0" fmla="*/ 1 w 46"/>
                <a:gd name="T1" fmla="*/ 0 h 64"/>
                <a:gd name="T2" fmla="*/ 1 w 46"/>
                <a:gd name="T3" fmla="*/ 1 h 64"/>
                <a:gd name="T4" fmla="*/ 2 w 46"/>
                <a:gd name="T5" fmla="*/ 4 h 64"/>
                <a:gd name="T6" fmla="*/ 3 w 46"/>
                <a:gd name="T7" fmla="*/ 9 h 64"/>
                <a:gd name="T8" fmla="*/ 5 w 46"/>
                <a:gd name="T9" fmla="*/ 13 h 64"/>
                <a:gd name="T10" fmla="*/ 7 w 46"/>
                <a:gd name="T11" fmla="*/ 18 h 64"/>
                <a:gd name="T12" fmla="*/ 11 w 46"/>
                <a:gd name="T13" fmla="*/ 24 h 64"/>
                <a:gd name="T14" fmla="*/ 16 w 46"/>
                <a:gd name="T15" fmla="*/ 28 h 64"/>
                <a:gd name="T16" fmla="*/ 23 w 46"/>
                <a:gd name="T17" fmla="*/ 31 h 64"/>
                <a:gd name="T18" fmla="*/ 22 w 46"/>
                <a:gd name="T19" fmla="*/ 31 h 64"/>
                <a:gd name="T20" fmla="*/ 19 w 46"/>
                <a:gd name="T21" fmla="*/ 31 h 64"/>
                <a:gd name="T22" fmla="*/ 14 w 46"/>
                <a:gd name="T23" fmla="*/ 30 h 64"/>
                <a:gd name="T24" fmla="*/ 10 w 46"/>
                <a:gd name="T25" fmla="*/ 28 h 64"/>
                <a:gd name="T26" fmla="*/ 6 w 46"/>
                <a:gd name="T27" fmla="*/ 24 h 64"/>
                <a:gd name="T28" fmla="*/ 2 w 46"/>
                <a:gd name="T29" fmla="*/ 18 h 64"/>
                <a:gd name="T30" fmla="*/ 0 w 46"/>
                <a:gd name="T31" fmla="*/ 11 h 64"/>
                <a:gd name="T32" fmla="*/ 1 w 46"/>
                <a:gd name="T33" fmla="*/ 0 h 64"/>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46"/>
                <a:gd name="T52" fmla="*/ 0 h 64"/>
                <a:gd name="T53" fmla="*/ 46 w 46"/>
                <a:gd name="T54" fmla="*/ 64 h 64"/>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46" h="64">
                  <a:moveTo>
                    <a:pt x="2" y="0"/>
                  </a:moveTo>
                  <a:lnTo>
                    <a:pt x="2" y="3"/>
                  </a:lnTo>
                  <a:lnTo>
                    <a:pt x="4" y="8"/>
                  </a:lnTo>
                  <a:lnTo>
                    <a:pt x="6" y="18"/>
                  </a:lnTo>
                  <a:lnTo>
                    <a:pt x="9" y="27"/>
                  </a:lnTo>
                  <a:lnTo>
                    <a:pt x="15" y="38"/>
                  </a:lnTo>
                  <a:lnTo>
                    <a:pt x="22" y="49"/>
                  </a:lnTo>
                  <a:lnTo>
                    <a:pt x="32" y="57"/>
                  </a:lnTo>
                  <a:lnTo>
                    <a:pt x="46" y="64"/>
                  </a:lnTo>
                  <a:lnTo>
                    <a:pt x="44" y="64"/>
                  </a:lnTo>
                  <a:lnTo>
                    <a:pt x="38" y="64"/>
                  </a:lnTo>
                  <a:lnTo>
                    <a:pt x="29" y="61"/>
                  </a:lnTo>
                  <a:lnTo>
                    <a:pt x="20" y="57"/>
                  </a:lnTo>
                  <a:lnTo>
                    <a:pt x="11" y="50"/>
                  </a:lnTo>
                  <a:lnTo>
                    <a:pt x="4" y="38"/>
                  </a:lnTo>
                  <a:lnTo>
                    <a:pt x="0" y="22"/>
                  </a:lnTo>
                  <a:lnTo>
                    <a:pt x="2" y="0"/>
                  </a:lnTo>
                  <a:close/>
                </a:path>
              </a:pathLst>
            </a:custGeom>
            <a:solidFill>
              <a:srgbClr val="7F7F7F"/>
            </a:solidFill>
            <a:ln w="9525">
              <a:noFill/>
              <a:round/>
            </a:ln>
          </p:spPr>
          <p:txBody>
            <a:bodyPr/>
            <a:lstStyle/>
            <a:p>
              <a:endParaRPr lang="en-US"/>
            </a:p>
          </p:txBody>
        </p:sp>
        <p:sp>
          <p:nvSpPr>
            <p:cNvPr id="1048856" name="Freeform 148"/>
            <p:cNvSpPr/>
            <p:nvPr/>
          </p:nvSpPr>
          <p:spPr bwMode="auto">
            <a:xfrm>
              <a:off x="2578" y="3930"/>
              <a:ext cx="8" cy="7"/>
            </a:xfrm>
            <a:custGeom>
              <a:avLst/>
              <a:gdLst>
                <a:gd name="T0" fmla="*/ 4 w 15"/>
                <a:gd name="T1" fmla="*/ 7 h 14"/>
                <a:gd name="T2" fmla="*/ 6 w 15"/>
                <a:gd name="T3" fmla="*/ 7 h 14"/>
                <a:gd name="T4" fmla="*/ 7 w 15"/>
                <a:gd name="T5" fmla="*/ 6 h 14"/>
                <a:gd name="T6" fmla="*/ 7 w 15"/>
                <a:gd name="T7" fmla="*/ 5 h 14"/>
                <a:gd name="T8" fmla="*/ 8 w 15"/>
                <a:gd name="T9" fmla="*/ 4 h 14"/>
                <a:gd name="T10" fmla="*/ 7 w 15"/>
                <a:gd name="T11" fmla="*/ 3 h 14"/>
                <a:gd name="T12" fmla="*/ 7 w 15"/>
                <a:gd name="T13" fmla="*/ 1 h 14"/>
                <a:gd name="T14" fmla="*/ 6 w 15"/>
                <a:gd name="T15" fmla="*/ 1 h 14"/>
                <a:gd name="T16" fmla="*/ 4 w 15"/>
                <a:gd name="T17" fmla="*/ 0 h 14"/>
                <a:gd name="T18" fmla="*/ 3 w 15"/>
                <a:gd name="T19" fmla="*/ 1 h 14"/>
                <a:gd name="T20" fmla="*/ 1 w 15"/>
                <a:gd name="T21" fmla="*/ 1 h 14"/>
                <a:gd name="T22" fmla="*/ 1 w 15"/>
                <a:gd name="T23" fmla="*/ 3 h 14"/>
                <a:gd name="T24" fmla="*/ 0 w 15"/>
                <a:gd name="T25" fmla="*/ 4 h 14"/>
                <a:gd name="T26" fmla="*/ 1 w 15"/>
                <a:gd name="T27" fmla="*/ 5 h 14"/>
                <a:gd name="T28" fmla="*/ 1 w 15"/>
                <a:gd name="T29" fmla="*/ 6 h 14"/>
                <a:gd name="T30" fmla="*/ 3 w 15"/>
                <a:gd name="T31" fmla="*/ 7 h 14"/>
                <a:gd name="T32" fmla="*/ 4 w 15"/>
                <a:gd name="T33" fmla="*/ 7 h 14"/>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5"/>
                <a:gd name="T52" fmla="*/ 0 h 14"/>
                <a:gd name="T53" fmla="*/ 15 w 15"/>
                <a:gd name="T54" fmla="*/ 14 h 14"/>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5" h="14">
                  <a:moveTo>
                    <a:pt x="7" y="14"/>
                  </a:moveTo>
                  <a:lnTo>
                    <a:pt x="11" y="13"/>
                  </a:lnTo>
                  <a:lnTo>
                    <a:pt x="13" y="12"/>
                  </a:lnTo>
                  <a:lnTo>
                    <a:pt x="14" y="9"/>
                  </a:lnTo>
                  <a:lnTo>
                    <a:pt x="15" y="7"/>
                  </a:lnTo>
                  <a:lnTo>
                    <a:pt x="14" y="5"/>
                  </a:lnTo>
                  <a:lnTo>
                    <a:pt x="13" y="2"/>
                  </a:lnTo>
                  <a:lnTo>
                    <a:pt x="11" y="1"/>
                  </a:lnTo>
                  <a:lnTo>
                    <a:pt x="7" y="0"/>
                  </a:lnTo>
                  <a:lnTo>
                    <a:pt x="5" y="1"/>
                  </a:lnTo>
                  <a:lnTo>
                    <a:pt x="2" y="2"/>
                  </a:lnTo>
                  <a:lnTo>
                    <a:pt x="1" y="5"/>
                  </a:lnTo>
                  <a:lnTo>
                    <a:pt x="0" y="7"/>
                  </a:lnTo>
                  <a:lnTo>
                    <a:pt x="1" y="9"/>
                  </a:lnTo>
                  <a:lnTo>
                    <a:pt x="2" y="12"/>
                  </a:lnTo>
                  <a:lnTo>
                    <a:pt x="5" y="13"/>
                  </a:lnTo>
                  <a:lnTo>
                    <a:pt x="7" y="14"/>
                  </a:lnTo>
                  <a:close/>
                </a:path>
              </a:pathLst>
            </a:custGeom>
            <a:solidFill>
              <a:srgbClr val="FFFFFF"/>
            </a:solidFill>
            <a:ln w="9525">
              <a:noFill/>
              <a:round/>
            </a:ln>
          </p:spPr>
          <p:txBody>
            <a:bodyPr/>
            <a:lstStyle/>
            <a:p>
              <a:endParaRPr lang="en-US"/>
            </a:p>
          </p:txBody>
        </p:sp>
        <p:sp>
          <p:nvSpPr>
            <p:cNvPr id="1048857" name="Freeform 149"/>
            <p:cNvSpPr/>
            <p:nvPr/>
          </p:nvSpPr>
          <p:spPr bwMode="auto">
            <a:xfrm>
              <a:off x="2254" y="3930"/>
              <a:ext cx="8" cy="7"/>
            </a:xfrm>
            <a:custGeom>
              <a:avLst/>
              <a:gdLst>
                <a:gd name="T0" fmla="*/ 4 w 15"/>
                <a:gd name="T1" fmla="*/ 7 h 14"/>
                <a:gd name="T2" fmla="*/ 5 w 15"/>
                <a:gd name="T3" fmla="*/ 7 h 14"/>
                <a:gd name="T4" fmla="*/ 6 w 15"/>
                <a:gd name="T5" fmla="*/ 6 h 14"/>
                <a:gd name="T6" fmla="*/ 7 w 15"/>
                <a:gd name="T7" fmla="*/ 5 h 14"/>
                <a:gd name="T8" fmla="*/ 8 w 15"/>
                <a:gd name="T9" fmla="*/ 4 h 14"/>
                <a:gd name="T10" fmla="*/ 7 w 15"/>
                <a:gd name="T11" fmla="*/ 3 h 14"/>
                <a:gd name="T12" fmla="*/ 6 w 15"/>
                <a:gd name="T13" fmla="*/ 1 h 14"/>
                <a:gd name="T14" fmla="*/ 5 w 15"/>
                <a:gd name="T15" fmla="*/ 1 h 14"/>
                <a:gd name="T16" fmla="*/ 4 w 15"/>
                <a:gd name="T17" fmla="*/ 0 h 14"/>
                <a:gd name="T18" fmla="*/ 2 w 15"/>
                <a:gd name="T19" fmla="*/ 1 h 14"/>
                <a:gd name="T20" fmla="*/ 1 w 15"/>
                <a:gd name="T21" fmla="*/ 1 h 14"/>
                <a:gd name="T22" fmla="*/ 1 w 15"/>
                <a:gd name="T23" fmla="*/ 3 h 14"/>
                <a:gd name="T24" fmla="*/ 0 w 15"/>
                <a:gd name="T25" fmla="*/ 4 h 14"/>
                <a:gd name="T26" fmla="*/ 1 w 15"/>
                <a:gd name="T27" fmla="*/ 5 h 14"/>
                <a:gd name="T28" fmla="*/ 1 w 15"/>
                <a:gd name="T29" fmla="*/ 6 h 14"/>
                <a:gd name="T30" fmla="*/ 2 w 15"/>
                <a:gd name="T31" fmla="*/ 7 h 14"/>
                <a:gd name="T32" fmla="*/ 4 w 15"/>
                <a:gd name="T33" fmla="*/ 7 h 14"/>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5"/>
                <a:gd name="T52" fmla="*/ 0 h 14"/>
                <a:gd name="T53" fmla="*/ 15 w 15"/>
                <a:gd name="T54" fmla="*/ 14 h 14"/>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5" h="14">
                  <a:moveTo>
                    <a:pt x="8" y="14"/>
                  </a:moveTo>
                  <a:lnTo>
                    <a:pt x="10" y="13"/>
                  </a:lnTo>
                  <a:lnTo>
                    <a:pt x="12" y="12"/>
                  </a:lnTo>
                  <a:lnTo>
                    <a:pt x="13" y="9"/>
                  </a:lnTo>
                  <a:lnTo>
                    <a:pt x="15" y="7"/>
                  </a:lnTo>
                  <a:lnTo>
                    <a:pt x="13" y="5"/>
                  </a:lnTo>
                  <a:lnTo>
                    <a:pt x="12" y="2"/>
                  </a:lnTo>
                  <a:lnTo>
                    <a:pt x="10" y="1"/>
                  </a:lnTo>
                  <a:lnTo>
                    <a:pt x="8" y="0"/>
                  </a:lnTo>
                  <a:lnTo>
                    <a:pt x="4" y="1"/>
                  </a:lnTo>
                  <a:lnTo>
                    <a:pt x="2" y="2"/>
                  </a:lnTo>
                  <a:lnTo>
                    <a:pt x="1" y="5"/>
                  </a:lnTo>
                  <a:lnTo>
                    <a:pt x="0" y="7"/>
                  </a:lnTo>
                  <a:lnTo>
                    <a:pt x="1" y="9"/>
                  </a:lnTo>
                  <a:lnTo>
                    <a:pt x="2" y="12"/>
                  </a:lnTo>
                  <a:lnTo>
                    <a:pt x="4" y="13"/>
                  </a:lnTo>
                  <a:lnTo>
                    <a:pt x="8" y="14"/>
                  </a:lnTo>
                  <a:close/>
                </a:path>
              </a:pathLst>
            </a:custGeom>
            <a:solidFill>
              <a:srgbClr val="FFFFFF"/>
            </a:solidFill>
            <a:ln w="9525">
              <a:noFill/>
              <a:round/>
            </a:ln>
          </p:spPr>
          <p:txBody>
            <a:bodyPr/>
            <a:lstStyle/>
            <a:p>
              <a:endParaRPr lang="en-US"/>
            </a:p>
          </p:txBody>
        </p:sp>
        <p:sp>
          <p:nvSpPr>
            <p:cNvPr id="1048858" name="Freeform 150"/>
            <p:cNvSpPr/>
            <p:nvPr/>
          </p:nvSpPr>
          <p:spPr bwMode="auto">
            <a:xfrm>
              <a:off x="2624" y="3917"/>
              <a:ext cx="25" cy="14"/>
            </a:xfrm>
            <a:custGeom>
              <a:avLst/>
              <a:gdLst>
                <a:gd name="T0" fmla="*/ 6 w 51"/>
                <a:gd name="T1" fmla="*/ 14 h 27"/>
                <a:gd name="T2" fmla="*/ 17 w 51"/>
                <a:gd name="T3" fmla="*/ 14 h 27"/>
                <a:gd name="T4" fmla="*/ 20 w 51"/>
                <a:gd name="T5" fmla="*/ 13 h 27"/>
                <a:gd name="T6" fmla="*/ 23 w 51"/>
                <a:gd name="T7" fmla="*/ 11 h 27"/>
                <a:gd name="T8" fmla="*/ 25 w 51"/>
                <a:gd name="T9" fmla="*/ 9 h 27"/>
                <a:gd name="T10" fmla="*/ 25 w 51"/>
                <a:gd name="T11" fmla="*/ 5 h 27"/>
                <a:gd name="T12" fmla="*/ 25 w 51"/>
                <a:gd name="T13" fmla="*/ 4 h 27"/>
                <a:gd name="T14" fmla="*/ 25 w 51"/>
                <a:gd name="T15" fmla="*/ 2 h 27"/>
                <a:gd name="T16" fmla="*/ 24 w 51"/>
                <a:gd name="T17" fmla="*/ 1 h 27"/>
                <a:gd name="T18" fmla="*/ 23 w 51"/>
                <a:gd name="T19" fmla="*/ 0 h 27"/>
                <a:gd name="T20" fmla="*/ 21 w 51"/>
                <a:gd name="T21" fmla="*/ 1 h 27"/>
                <a:gd name="T22" fmla="*/ 19 w 51"/>
                <a:gd name="T23" fmla="*/ 3 h 27"/>
                <a:gd name="T24" fmla="*/ 17 w 51"/>
                <a:gd name="T25" fmla="*/ 4 h 27"/>
                <a:gd name="T26" fmla="*/ 14 w 51"/>
                <a:gd name="T27" fmla="*/ 6 h 27"/>
                <a:gd name="T28" fmla="*/ 11 w 51"/>
                <a:gd name="T29" fmla="*/ 7 h 27"/>
                <a:gd name="T30" fmla="*/ 7 w 51"/>
                <a:gd name="T31" fmla="*/ 9 h 27"/>
                <a:gd name="T32" fmla="*/ 4 w 51"/>
                <a:gd name="T33" fmla="*/ 10 h 27"/>
                <a:gd name="T34" fmla="*/ 0 w 51"/>
                <a:gd name="T35" fmla="*/ 11 h 27"/>
                <a:gd name="T36" fmla="*/ 1 w 51"/>
                <a:gd name="T37" fmla="*/ 12 h 27"/>
                <a:gd name="T38" fmla="*/ 2 w 51"/>
                <a:gd name="T39" fmla="*/ 13 h 27"/>
                <a:gd name="T40" fmla="*/ 4 w 51"/>
                <a:gd name="T41" fmla="*/ 14 h 27"/>
                <a:gd name="T42" fmla="*/ 6 w 51"/>
                <a:gd name="T43" fmla="*/ 14 h 27"/>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51"/>
                <a:gd name="T67" fmla="*/ 0 h 27"/>
                <a:gd name="T68" fmla="*/ 51 w 51"/>
                <a:gd name="T69" fmla="*/ 27 h 27"/>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51" h="27">
                  <a:moveTo>
                    <a:pt x="13" y="27"/>
                  </a:moveTo>
                  <a:lnTo>
                    <a:pt x="34" y="27"/>
                  </a:lnTo>
                  <a:lnTo>
                    <a:pt x="41" y="26"/>
                  </a:lnTo>
                  <a:lnTo>
                    <a:pt x="46" y="22"/>
                  </a:lnTo>
                  <a:lnTo>
                    <a:pt x="50" y="17"/>
                  </a:lnTo>
                  <a:lnTo>
                    <a:pt x="51" y="10"/>
                  </a:lnTo>
                  <a:lnTo>
                    <a:pt x="51" y="8"/>
                  </a:lnTo>
                  <a:lnTo>
                    <a:pt x="50" y="4"/>
                  </a:lnTo>
                  <a:lnTo>
                    <a:pt x="49" y="2"/>
                  </a:lnTo>
                  <a:lnTo>
                    <a:pt x="46" y="0"/>
                  </a:lnTo>
                  <a:lnTo>
                    <a:pt x="43" y="2"/>
                  </a:lnTo>
                  <a:lnTo>
                    <a:pt x="38" y="6"/>
                  </a:lnTo>
                  <a:lnTo>
                    <a:pt x="34" y="8"/>
                  </a:lnTo>
                  <a:lnTo>
                    <a:pt x="28" y="11"/>
                  </a:lnTo>
                  <a:lnTo>
                    <a:pt x="22" y="14"/>
                  </a:lnTo>
                  <a:lnTo>
                    <a:pt x="15" y="17"/>
                  </a:lnTo>
                  <a:lnTo>
                    <a:pt x="8" y="19"/>
                  </a:lnTo>
                  <a:lnTo>
                    <a:pt x="0" y="22"/>
                  </a:lnTo>
                  <a:lnTo>
                    <a:pt x="3" y="24"/>
                  </a:lnTo>
                  <a:lnTo>
                    <a:pt x="5" y="26"/>
                  </a:lnTo>
                  <a:lnTo>
                    <a:pt x="8" y="27"/>
                  </a:lnTo>
                  <a:lnTo>
                    <a:pt x="13" y="27"/>
                  </a:lnTo>
                  <a:close/>
                </a:path>
              </a:pathLst>
            </a:custGeom>
            <a:solidFill>
              <a:srgbClr val="47C6C6"/>
            </a:solidFill>
            <a:ln w="9525">
              <a:noFill/>
              <a:round/>
            </a:ln>
          </p:spPr>
          <p:txBody>
            <a:bodyPr/>
            <a:lstStyle/>
            <a:p>
              <a:endParaRPr lang="en-US"/>
            </a:p>
          </p:txBody>
        </p:sp>
        <p:sp>
          <p:nvSpPr>
            <p:cNvPr id="1048859" name="Freeform 151"/>
            <p:cNvSpPr/>
            <p:nvPr/>
          </p:nvSpPr>
          <p:spPr bwMode="auto">
            <a:xfrm>
              <a:off x="2621" y="3913"/>
              <a:ext cx="26" cy="15"/>
            </a:xfrm>
            <a:custGeom>
              <a:avLst/>
              <a:gdLst>
                <a:gd name="T0" fmla="*/ 20 w 50"/>
                <a:gd name="T1" fmla="*/ 0 h 29"/>
                <a:gd name="T2" fmla="*/ 9 w 50"/>
                <a:gd name="T3" fmla="*/ 0 h 29"/>
                <a:gd name="T4" fmla="*/ 5 w 50"/>
                <a:gd name="T5" fmla="*/ 1 h 29"/>
                <a:gd name="T6" fmla="*/ 3 w 50"/>
                <a:gd name="T7" fmla="*/ 3 h 29"/>
                <a:gd name="T8" fmla="*/ 1 w 50"/>
                <a:gd name="T9" fmla="*/ 5 h 29"/>
                <a:gd name="T10" fmla="*/ 0 w 50"/>
                <a:gd name="T11" fmla="*/ 9 h 29"/>
                <a:gd name="T12" fmla="*/ 0 w 50"/>
                <a:gd name="T13" fmla="*/ 11 h 29"/>
                <a:gd name="T14" fmla="*/ 1 w 50"/>
                <a:gd name="T15" fmla="*/ 12 h 29"/>
                <a:gd name="T16" fmla="*/ 1 w 50"/>
                <a:gd name="T17" fmla="*/ 13 h 29"/>
                <a:gd name="T18" fmla="*/ 2 w 50"/>
                <a:gd name="T19" fmla="*/ 15 h 29"/>
                <a:gd name="T20" fmla="*/ 6 w 50"/>
                <a:gd name="T21" fmla="*/ 13 h 29"/>
                <a:gd name="T22" fmla="*/ 10 w 50"/>
                <a:gd name="T23" fmla="*/ 12 h 29"/>
                <a:gd name="T24" fmla="*/ 14 w 50"/>
                <a:gd name="T25" fmla="*/ 11 h 29"/>
                <a:gd name="T26" fmla="*/ 17 w 50"/>
                <a:gd name="T27" fmla="*/ 9 h 29"/>
                <a:gd name="T28" fmla="*/ 20 w 50"/>
                <a:gd name="T29" fmla="*/ 8 h 29"/>
                <a:gd name="T30" fmla="*/ 22 w 50"/>
                <a:gd name="T31" fmla="*/ 7 h 29"/>
                <a:gd name="T32" fmla="*/ 24 w 50"/>
                <a:gd name="T33" fmla="*/ 5 h 29"/>
                <a:gd name="T34" fmla="*/ 26 w 50"/>
                <a:gd name="T35" fmla="*/ 4 h 29"/>
                <a:gd name="T36" fmla="*/ 25 w 50"/>
                <a:gd name="T37" fmla="*/ 2 h 29"/>
                <a:gd name="T38" fmla="*/ 24 w 50"/>
                <a:gd name="T39" fmla="*/ 1 h 29"/>
                <a:gd name="T40" fmla="*/ 22 w 50"/>
                <a:gd name="T41" fmla="*/ 0 h 29"/>
                <a:gd name="T42" fmla="*/ 20 w 50"/>
                <a:gd name="T43" fmla="*/ 0 h 29"/>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50"/>
                <a:gd name="T67" fmla="*/ 0 h 29"/>
                <a:gd name="T68" fmla="*/ 50 w 50"/>
                <a:gd name="T69" fmla="*/ 29 h 29"/>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50" h="29">
                  <a:moveTo>
                    <a:pt x="38" y="0"/>
                  </a:moveTo>
                  <a:lnTo>
                    <a:pt x="17" y="0"/>
                  </a:lnTo>
                  <a:lnTo>
                    <a:pt x="10" y="1"/>
                  </a:lnTo>
                  <a:lnTo>
                    <a:pt x="5" y="5"/>
                  </a:lnTo>
                  <a:lnTo>
                    <a:pt x="1" y="10"/>
                  </a:lnTo>
                  <a:lnTo>
                    <a:pt x="0" y="17"/>
                  </a:lnTo>
                  <a:lnTo>
                    <a:pt x="0" y="21"/>
                  </a:lnTo>
                  <a:lnTo>
                    <a:pt x="1" y="23"/>
                  </a:lnTo>
                  <a:lnTo>
                    <a:pt x="2" y="26"/>
                  </a:lnTo>
                  <a:lnTo>
                    <a:pt x="4" y="29"/>
                  </a:lnTo>
                  <a:lnTo>
                    <a:pt x="12" y="26"/>
                  </a:lnTo>
                  <a:lnTo>
                    <a:pt x="19" y="24"/>
                  </a:lnTo>
                  <a:lnTo>
                    <a:pt x="26" y="21"/>
                  </a:lnTo>
                  <a:lnTo>
                    <a:pt x="32" y="18"/>
                  </a:lnTo>
                  <a:lnTo>
                    <a:pt x="38" y="15"/>
                  </a:lnTo>
                  <a:lnTo>
                    <a:pt x="42" y="13"/>
                  </a:lnTo>
                  <a:lnTo>
                    <a:pt x="47" y="9"/>
                  </a:lnTo>
                  <a:lnTo>
                    <a:pt x="50" y="7"/>
                  </a:lnTo>
                  <a:lnTo>
                    <a:pt x="48" y="3"/>
                  </a:lnTo>
                  <a:lnTo>
                    <a:pt x="46" y="1"/>
                  </a:lnTo>
                  <a:lnTo>
                    <a:pt x="42" y="0"/>
                  </a:lnTo>
                  <a:lnTo>
                    <a:pt x="38" y="0"/>
                  </a:lnTo>
                  <a:close/>
                </a:path>
              </a:pathLst>
            </a:custGeom>
            <a:solidFill>
              <a:srgbClr val="7FFFFF"/>
            </a:solidFill>
            <a:ln w="9525">
              <a:noFill/>
              <a:round/>
            </a:ln>
          </p:spPr>
          <p:txBody>
            <a:bodyPr/>
            <a:lstStyle/>
            <a:p>
              <a:endParaRPr lang="en-US"/>
            </a:p>
          </p:txBody>
        </p:sp>
        <p:sp>
          <p:nvSpPr>
            <p:cNvPr id="1048860" name="Freeform 152"/>
            <p:cNvSpPr/>
            <p:nvPr/>
          </p:nvSpPr>
          <p:spPr bwMode="auto">
            <a:xfrm>
              <a:off x="2159" y="3913"/>
              <a:ext cx="26" cy="16"/>
            </a:xfrm>
            <a:custGeom>
              <a:avLst/>
              <a:gdLst>
                <a:gd name="T0" fmla="*/ 20 w 51"/>
                <a:gd name="T1" fmla="*/ 0 h 31"/>
                <a:gd name="T2" fmla="*/ 9 w 51"/>
                <a:gd name="T3" fmla="*/ 0 h 31"/>
                <a:gd name="T4" fmla="*/ 6 w 51"/>
                <a:gd name="T5" fmla="*/ 1 h 31"/>
                <a:gd name="T6" fmla="*/ 3 w 51"/>
                <a:gd name="T7" fmla="*/ 3 h 31"/>
                <a:gd name="T8" fmla="*/ 1 w 51"/>
                <a:gd name="T9" fmla="*/ 5 h 31"/>
                <a:gd name="T10" fmla="*/ 0 w 51"/>
                <a:gd name="T11" fmla="*/ 9 h 31"/>
                <a:gd name="T12" fmla="*/ 0 w 51"/>
                <a:gd name="T13" fmla="*/ 11 h 31"/>
                <a:gd name="T14" fmla="*/ 1 w 51"/>
                <a:gd name="T15" fmla="*/ 13 h 31"/>
                <a:gd name="T16" fmla="*/ 2 w 51"/>
                <a:gd name="T17" fmla="*/ 15 h 31"/>
                <a:gd name="T18" fmla="*/ 3 w 51"/>
                <a:gd name="T19" fmla="*/ 16 h 31"/>
                <a:gd name="T20" fmla="*/ 7 w 51"/>
                <a:gd name="T21" fmla="*/ 14 h 31"/>
                <a:gd name="T22" fmla="*/ 10 w 51"/>
                <a:gd name="T23" fmla="*/ 13 h 31"/>
                <a:gd name="T24" fmla="*/ 13 w 51"/>
                <a:gd name="T25" fmla="*/ 11 h 31"/>
                <a:gd name="T26" fmla="*/ 16 w 51"/>
                <a:gd name="T27" fmla="*/ 9 h 31"/>
                <a:gd name="T28" fmla="*/ 19 w 51"/>
                <a:gd name="T29" fmla="*/ 8 h 31"/>
                <a:gd name="T30" fmla="*/ 21 w 51"/>
                <a:gd name="T31" fmla="*/ 7 h 31"/>
                <a:gd name="T32" fmla="*/ 24 w 51"/>
                <a:gd name="T33" fmla="*/ 5 h 31"/>
                <a:gd name="T34" fmla="*/ 26 w 51"/>
                <a:gd name="T35" fmla="*/ 4 h 31"/>
                <a:gd name="T36" fmla="*/ 25 w 51"/>
                <a:gd name="T37" fmla="*/ 3 h 31"/>
                <a:gd name="T38" fmla="*/ 24 w 51"/>
                <a:gd name="T39" fmla="*/ 1 h 31"/>
                <a:gd name="T40" fmla="*/ 22 w 51"/>
                <a:gd name="T41" fmla="*/ 1 h 31"/>
                <a:gd name="T42" fmla="*/ 20 w 51"/>
                <a:gd name="T43" fmla="*/ 0 h 31"/>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51"/>
                <a:gd name="T67" fmla="*/ 0 h 31"/>
                <a:gd name="T68" fmla="*/ 51 w 51"/>
                <a:gd name="T69" fmla="*/ 31 h 31"/>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51" h="31">
                  <a:moveTo>
                    <a:pt x="39" y="0"/>
                  </a:moveTo>
                  <a:lnTo>
                    <a:pt x="18" y="0"/>
                  </a:lnTo>
                  <a:lnTo>
                    <a:pt x="11" y="1"/>
                  </a:lnTo>
                  <a:lnTo>
                    <a:pt x="6" y="5"/>
                  </a:lnTo>
                  <a:lnTo>
                    <a:pt x="2" y="10"/>
                  </a:lnTo>
                  <a:lnTo>
                    <a:pt x="0" y="17"/>
                  </a:lnTo>
                  <a:lnTo>
                    <a:pt x="0" y="22"/>
                  </a:lnTo>
                  <a:lnTo>
                    <a:pt x="2" y="25"/>
                  </a:lnTo>
                  <a:lnTo>
                    <a:pt x="4" y="29"/>
                  </a:lnTo>
                  <a:lnTo>
                    <a:pt x="6" y="31"/>
                  </a:lnTo>
                  <a:lnTo>
                    <a:pt x="13" y="28"/>
                  </a:lnTo>
                  <a:lnTo>
                    <a:pt x="20" y="25"/>
                  </a:lnTo>
                  <a:lnTo>
                    <a:pt x="26" y="22"/>
                  </a:lnTo>
                  <a:lnTo>
                    <a:pt x="32" y="18"/>
                  </a:lnTo>
                  <a:lnTo>
                    <a:pt x="37" y="15"/>
                  </a:lnTo>
                  <a:lnTo>
                    <a:pt x="42" y="13"/>
                  </a:lnTo>
                  <a:lnTo>
                    <a:pt x="47" y="9"/>
                  </a:lnTo>
                  <a:lnTo>
                    <a:pt x="51" y="7"/>
                  </a:lnTo>
                  <a:lnTo>
                    <a:pt x="49" y="5"/>
                  </a:lnTo>
                  <a:lnTo>
                    <a:pt x="47" y="2"/>
                  </a:lnTo>
                  <a:lnTo>
                    <a:pt x="43" y="1"/>
                  </a:lnTo>
                  <a:lnTo>
                    <a:pt x="39" y="0"/>
                  </a:lnTo>
                  <a:close/>
                </a:path>
              </a:pathLst>
            </a:custGeom>
            <a:solidFill>
              <a:srgbClr val="7FFFFF"/>
            </a:solidFill>
            <a:ln w="9525">
              <a:noFill/>
              <a:round/>
            </a:ln>
          </p:spPr>
          <p:txBody>
            <a:bodyPr/>
            <a:lstStyle/>
            <a:p>
              <a:endParaRPr lang="en-US"/>
            </a:p>
          </p:txBody>
        </p:sp>
        <p:sp>
          <p:nvSpPr>
            <p:cNvPr id="1048861" name="Freeform 153"/>
            <p:cNvSpPr/>
            <p:nvPr/>
          </p:nvSpPr>
          <p:spPr bwMode="auto">
            <a:xfrm>
              <a:off x="2162" y="3917"/>
              <a:ext cx="25" cy="14"/>
            </a:xfrm>
            <a:custGeom>
              <a:avLst/>
              <a:gdLst>
                <a:gd name="T0" fmla="*/ 6 w 50"/>
                <a:gd name="T1" fmla="*/ 14 h 27"/>
                <a:gd name="T2" fmla="*/ 17 w 50"/>
                <a:gd name="T3" fmla="*/ 14 h 27"/>
                <a:gd name="T4" fmla="*/ 20 w 50"/>
                <a:gd name="T5" fmla="*/ 13 h 27"/>
                <a:gd name="T6" fmla="*/ 23 w 50"/>
                <a:gd name="T7" fmla="*/ 11 h 27"/>
                <a:gd name="T8" fmla="*/ 25 w 50"/>
                <a:gd name="T9" fmla="*/ 9 h 27"/>
                <a:gd name="T10" fmla="*/ 25 w 50"/>
                <a:gd name="T11" fmla="*/ 5 h 27"/>
                <a:gd name="T12" fmla="*/ 25 w 50"/>
                <a:gd name="T13" fmla="*/ 4 h 27"/>
                <a:gd name="T14" fmla="*/ 25 w 50"/>
                <a:gd name="T15" fmla="*/ 2 h 27"/>
                <a:gd name="T16" fmla="*/ 23 w 50"/>
                <a:gd name="T17" fmla="*/ 1 h 27"/>
                <a:gd name="T18" fmla="*/ 23 w 50"/>
                <a:gd name="T19" fmla="*/ 0 h 27"/>
                <a:gd name="T20" fmla="*/ 21 w 50"/>
                <a:gd name="T21" fmla="*/ 1 h 27"/>
                <a:gd name="T22" fmla="*/ 18 w 50"/>
                <a:gd name="T23" fmla="*/ 3 h 27"/>
                <a:gd name="T24" fmla="*/ 15 w 50"/>
                <a:gd name="T25" fmla="*/ 4 h 27"/>
                <a:gd name="T26" fmla="*/ 13 w 50"/>
                <a:gd name="T27" fmla="*/ 6 h 27"/>
                <a:gd name="T28" fmla="*/ 10 w 50"/>
                <a:gd name="T29" fmla="*/ 8 h 27"/>
                <a:gd name="T30" fmla="*/ 7 w 50"/>
                <a:gd name="T31" fmla="*/ 9 h 27"/>
                <a:gd name="T32" fmla="*/ 3 w 50"/>
                <a:gd name="T33" fmla="*/ 11 h 27"/>
                <a:gd name="T34" fmla="*/ 0 w 50"/>
                <a:gd name="T35" fmla="*/ 12 h 27"/>
                <a:gd name="T36" fmla="*/ 2 w 50"/>
                <a:gd name="T37" fmla="*/ 13 h 27"/>
                <a:gd name="T38" fmla="*/ 3 w 50"/>
                <a:gd name="T39" fmla="*/ 13 h 27"/>
                <a:gd name="T40" fmla="*/ 4 w 50"/>
                <a:gd name="T41" fmla="*/ 14 h 27"/>
                <a:gd name="T42" fmla="*/ 6 w 50"/>
                <a:gd name="T43" fmla="*/ 14 h 27"/>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50"/>
                <a:gd name="T67" fmla="*/ 0 h 27"/>
                <a:gd name="T68" fmla="*/ 50 w 50"/>
                <a:gd name="T69" fmla="*/ 27 h 27"/>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50" h="27">
                  <a:moveTo>
                    <a:pt x="12" y="27"/>
                  </a:moveTo>
                  <a:lnTo>
                    <a:pt x="33" y="27"/>
                  </a:lnTo>
                  <a:lnTo>
                    <a:pt x="39" y="26"/>
                  </a:lnTo>
                  <a:lnTo>
                    <a:pt x="45" y="22"/>
                  </a:lnTo>
                  <a:lnTo>
                    <a:pt x="49" y="17"/>
                  </a:lnTo>
                  <a:lnTo>
                    <a:pt x="50" y="10"/>
                  </a:lnTo>
                  <a:lnTo>
                    <a:pt x="50" y="8"/>
                  </a:lnTo>
                  <a:lnTo>
                    <a:pt x="49" y="4"/>
                  </a:lnTo>
                  <a:lnTo>
                    <a:pt x="46" y="2"/>
                  </a:lnTo>
                  <a:lnTo>
                    <a:pt x="45" y="0"/>
                  </a:lnTo>
                  <a:lnTo>
                    <a:pt x="41" y="2"/>
                  </a:lnTo>
                  <a:lnTo>
                    <a:pt x="36" y="6"/>
                  </a:lnTo>
                  <a:lnTo>
                    <a:pt x="31" y="8"/>
                  </a:lnTo>
                  <a:lnTo>
                    <a:pt x="26" y="11"/>
                  </a:lnTo>
                  <a:lnTo>
                    <a:pt x="20" y="15"/>
                  </a:lnTo>
                  <a:lnTo>
                    <a:pt x="14" y="18"/>
                  </a:lnTo>
                  <a:lnTo>
                    <a:pt x="7" y="21"/>
                  </a:lnTo>
                  <a:lnTo>
                    <a:pt x="0" y="24"/>
                  </a:lnTo>
                  <a:lnTo>
                    <a:pt x="3" y="25"/>
                  </a:lnTo>
                  <a:lnTo>
                    <a:pt x="6" y="26"/>
                  </a:lnTo>
                  <a:lnTo>
                    <a:pt x="8" y="27"/>
                  </a:lnTo>
                  <a:lnTo>
                    <a:pt x="12" y="27"/>
                  </a:lnTo>
                  <a:close/>
                </a:path>
              </a:pathLst>
            </a:custGeom>
            <a:solidFill>
              <a:srgbClr val="47C6C6"/>
            </a:solidFill>
            <a:ln w="9525">
              <a:noFill/>
              <a:round/>
            </a:ln>
          </p:spPr>
          <p:txBody>
            <a:bodyPr/>
            <a:lstStyle/>
            <a:p>
              <a:endParaRPr lang="en-US"/>
            </a:p>
          </p:txBody>
        </p:sp>
      </p:grpSp>
      <p:grpSp>
        <p:nvGrpSpPr>
          <p:cNvPr id="148" name="Group 154"/>
          <p:cNvGrpSpPr/>
          <p:nvPr/>
        </p:nvGrpSpPr>
        <p:grpSpPr bwMode="auto">
          <a:xfrm rot="444707">
            <a:off x="6629400" y="5257800"/>
            <a:ext cx="533400" cy="442913"/>
            <a:chOff x="2112" y="3600"/>
            <a:chExt cx="560" cy="465"/>
          </a:xfrm>
        </p:grpSpPr>
        <p:sp>
          <p:nvSpPr>
            <p:cNvPr id="1048862" name="AutoShape 155"/>
            <p:cNvSpPr>
              <a:spLocks noChangeAspect="1" noChangeArrowheads="1" noTextEdit="1"/>
            </p:cNvSpPr>
            <p:nvPr/>
          </p:nvSpPr>
          <p:spPr bwMode="auto">
            <a:xfrm>
              <a:off x="2112" y="3600"/>
              <a:ext cx="560" cy="465"/>
            </a:xfrm>
            <a:prstGeom prst="rect">
              <a:avLst/>
            </a:prstGeom>
            <a:noFill/>
            <a:ln w="9525">
              <a:noFill/>
              <a:miter lim="800000"/>
            </a:ln>
          </p:spPr>
          <p:txBody>
            <a:bodyPr/>
            <a:lstStyle/>
            <a:p>
              <a:endParaRPr lang="en-US"/>
            </a:p>
          </p:txBody>
        </p:sp>
        <p:sp>
          <p:nvSpPr>
            <p:cNvPr id="1048863" name="Freeform 156"/>
            <p:cNvSpPr/>
            <p:nvPr/>
          </p:nvSpPr>
          <p:spPr bwMode="auto">
            <a:xfrm>
              <a:off x="2130" y="3699"/>
              <a:ext cx="542" cy="301"/>
            </a:xfrm>
            <a:custGeom>
              <a:avLst/>
              <a:gdLst>
                <a:gd name="T0" fmla="*/ 383 w 1083"/>
                <a:gd name="T1" fmla="*/ 253 h 602"/>
                <a:gd name="T2" fmla="*/ 387 w 1083"/>
                <a:gd name="T3" fmla="*/ 267 h 602"/>
                <a:gd name="T4" fmla="*/ 398 w 1083"/>
                <a:gd name="T5" fmla="*/ 284 h 602"/>
                <a:gd name="T6" fmla="*/ 421 w 1083"/>
                <a:gd name="T7" fmla="*/ 298 h 602"/>
                <a:gd name="T8" fmla="*/ 456 w 1083"/>
                <a:gd name="T9" fmla="*/ 298 h 602"/>
                <a:gd name="T10" fmla="*/ 480 w 1083"/>
                <a:gd name="T11" fmla="*/ 284 h 602"/>
                <a:gd name="T12" fmla="*/ 491 w 1083"/>
                <a:gd name="T13" fmla="*/ 267 h 602"/>
                <a:gd name="T14" fmla="*/ 495 w 1083"/>
                <a:gd name="T15" fmla="*/ 253 h 602"/>
                <a:gd name="T16" fmla="*/ 497 w 1083"/>
                <a:gd name="T17" fmla="*/ 251 h 602"/>
                <a:gd name="T18" fmla="*/ 509 w 1083"/>
                <a:gd name="T19" fmla="*/ 251 h 602"/>
                <a:gd name="T20" fmla="*/ 527 w 1083"/>
                <a:gd name="T21" fmla="*/ 248 h 602"/>
                <a:gd name="T22" fmla="*/ 539 w 1083"/>
                <a:gd name="T23" fmla="*/ 237 h 602"/>
                <a:gd name="T24" fmla="*/ 542 w 1083"/>
                <a:gd name="T25" fmla="*/ 226 h 602"/>
                <a:gd name="T26" fmla="*/ 542 w 1083"/>
                <a:gd name="T27" fmla="*/ 224 h 602"/>
                <a:gd name="T28" fmla="*/ 542 w 1083"/>
                <a:gd name="T29" fmla="*/ 220 h 602"/>
                <a:gd name="T30" fmla="*/ 541 w 1083"/>
                <a:gd name="T31" fmla="*/ 212 h 602"/>
                <a:gd name="T32" fmla="*/ 537 w 1083"/>
                <a:gd name="T33" fmla="*/ 205 h 602"/>
                <a:gd name="T34" fmla="*/ 529 w 1083"/>
                <a:gd name="T35" fmla="*/ 199 h 602"/>
                <a:gd name="T36" fmla="*/ 524 w 1083"/>
                <a:gd name="T37" fmla="*/ 135 h 602"/>
                <a:gd name="T38" fmla="*/ 523 w 1083"/>
                <a:gd name="T39" fmla="*/ 132 h 602"/>
                <a:gd name="T40" fmla="*/ 520 w 1083"/>
                <a:gd name="T41" fmla="*/ 124 h 602"/>
                <a:gd name="T42" fmla="*/ 511 w 1083"/>
                <a:gd name="T43" fmla="*/ 115 h 602"/>
                <a:gd name="T44" fmla="*/ 495 w 1083"/>
                <a:gd name="T45" fmla="*/ 107 h 602"/>
                <a:gd name="T46" fmla="*/ 471 w 1083"/>
                <a:gd name="T47" fmla="*/ 90 h 602"/>
                <a:gd name="T48" fmla="*/ 445 w 1083"/>
                <a:gd name="T49" fmla="*/ 61 h 602"/>
                <a:gd name="T50" fmla="*/ 423 w 1083"/>
                <a:gd name="T51" fmla="*/ 31 h 602"/>
                <a:gd name="T52" fmla="*/ 411 w 1083"/>
                <a:gd name="T53" fmla="*/ 14 h 602"/>
                <a:gd name="T54" fmla="*/ 403 w 1083"/>
                <a:gd name="T55" fmla="*/ 8 h 602"/>
                <a:gd name="T56" fmla="*/ 390 w 1083"/>
                <a:gd name="T57" fmla="*/ 3 h 602"/>
                <a:gd name="T58" fmla="*/ 373 w 1083"/>
                <a:gd name="T59" fmla="*/ 1 h 602"/>
                <a:gd name="T60" fmla="*/ 353 w 1083"/>
                <a:gd name="T61" fmla="*/ 0 h 602"/>
                <a:gd name="T62" fmla="*/ 334 w 1083"/>
                <a:gd name="T63" fmla="*/ 0 h 602"/>
                <a:gd name="T64" fmla="*/ 296 w 1083"/>
                <a:gd name="T65" fmla="*/ 0 h 602"/>
                <a:gd name="T66" fmla="*/ 246 w 1083"/>
                <a:gd name="T67" fmla="*/ 0 h 602"/>
                <a:gd name="T68" fmla="*/ 190 w 1083"/>
                <a:gd name="T69" fmla="*/ 0 h 602"/>
                <a:gd name="T70" fmla="*/ 135 w 1083"/>
                <a:gd name="T71" fmla="*/ 0 h 602"/>
                <a:gd name="T72" fmla="*/ 88 w 1083"/>
                <a:gd name="T73" fmla="*/ 0 h 602"/>
                <a:gd name="T74" fmla="*/ 54 w 1083"/>
                <a:gd name="T75" fmla="*/ 0 h 602"/>
                <a:gd name="T76" fmla="*/ 42 w 1083"/>
                <a:gd name="T77" fmla="*/ 0 h 602"/>
                <a:gd name="T78" fmla="*/ 37 w 1083"/>
                <a:gd name="T79" fmla="*/ 1 h 602"/>
                <a:gd name="T80" fmla="*/ 27 w 1083"/>
                <a:gd name="T81" fmla="*/ 4 h 602"/>
                <a:gd name="T82" fmla="*/ 17 w 1083"/>
                <a:gd name="T83" fmla="*/ 13 h 602"/>
                <a:gd name="T84" fmla="*/ 12 w 1083"/>
                <a:gd name="T85" fmla="*/ 31 h 602"/>
                <a:gd name="T86" fmla="*/ 10 w 1083"/>
                <a:gd name="T87" fmla="*/ 193 h 602"/>
                <a:gd name="T88" fmla="*/ 1 w 1083"/>
                <a:gd name="T89" fmla="*/ 208 h 602"/>
                <a:gd name="T90" fmla="*/ 1 w 1083"/>
                <a:gd name="T91" fmla="*/ 229 h 602"/>
                <a:gd name="T92" fmla="*/ 4 w 1083"/>
                <a:gd name="T93" fmla="*/ 238 h 602"/>
                <a:gd name="T94" fmla="*/ 9 w 1083"/>
                <a:gd name="T95" fmla="*/ 246 h 602"/>
                <a:gd name="T96" fmla="*/ 17 w 1083"/>
                <a:gd name="T97" fmla="*/ 252 h 602"/>
                <a:gd name="T98" fmla="*/ 57 w 1083"/>
                <a:gd name="T99" fmla="*/ 254 h 602"/>
                <a:gd name="T100" fmla="*/ 59 w 1083"/>
                <a:gd name="T101" fmla="*/ 262 h 602"/>
                <a:gd name="T102" fmla="*/ 68 w 1083"/>
                <a:gd name="T103" fmla="*/ 278 h 602"/>
                <a:gd name="T104" fmla="*/ 86 w 1083"/>
                <a:gd name="T105" fmla="*/ 294 h 602"/>
                <a:gd name="T106" fmla="*/ 115 w 1083"/>
                <a:gd name="T107" fmla="*/ 301 h 602"/>
                <a:gd name="T108" fmla="*/ 124 w 1083"/>
                <a:gd name="T109" fmla="*/ 301 h 602"/>
                <a:gd name="T110" fmla="*/ 142 w 1083"/>
                <a:gd name="T111" fmla="*/ 297 h 602"/>
                <a:gd name="T112" fmla="*/ 162 w 1083"/>
                <a:gd name="T113" fmla="*/ 282 h 602"/>
                <a:gd name="T114" fmla="*/ 174 w 1083"/>
                <a:gd name="T115" fmla="*/ 251 h 602"/>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1083"/>
                <a:gd name="T175" fmla="*/ 0 h 602"/>
                <a:gd name="T176" fmla="*/ 1083 w 1083"/>
                <a:gd name="T177" fmla="*/ 602 h 602"/>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1083" h="602">
                  <a:moveTo>
                    <a:pt x="765" y="502"/>
                  </a:moveTo>
                  <a:lnTo>
                    <a:pt x="765" y="506"/>
                  </a:lnTo>
                  <a:lnTo>
                    <a:pt x="767" y="516"/>
                  </a:lnTo>
                  <a:lnTo>
                    <a:pt x="773" y="533"/>
                  </a:lnTo>
                  <a:lnTo>
                    <a:pt x="781" y="550"/>
                  </a:lnTo>
                  <a:lnTo>
                    <a:pt x="795" y="568"/>
                  </a:lnTo>
                  <a:lnTo>
                    <a:pt x="815" y="584"/>
                  </a:lnTo>
                  <a:lnTo>
                    <a:pt x="842" y="595"/>
                  </a:lnTo>
                  <a:lnTo>
                    <a:pt x="877" y="599"/>
                  </a:lnTo>
                  <a:lnTo>
                    <a:pt x="912" y="595"/>
                  </a:lnTo>
                  <a:lnTo>
                    <a:pt x="939" y="584"/>
                  </a:lnTo>
                  <a:lnTo>
                    <a:pt x="960" y="568"/>
                  </a:lnTo>
                  <a:lnTo>
                    <a:pt x="972" y="550"/>
                  </a:lnTo>
                  <a:lnTo>
                    <a:pt x="982" y="533"/>
                  </a:lnTo>
                  <a:lnTo>
                    <a:pt x="986" y="516"/>
                  </a:lnTo>
                  <a:lnTo>
                    <a:pt x="989" y="506"/>
                  </a:lnTo>
                  <a:lnTo>
                    <a:pt x="989" y="502"/>
                  </a:lnTo>
                  <a:lnTo>
                    <a:pt x="993" y="502"/>
                  </a:lnTo>
                  <a:lnTo>
                    <a:pt x="1003" y="503"/>
                  </a:lnTo>
                  <a:lnTo>
                    <a:pt x="1018" y="503"/>
                  </a:lnTo>
                  <a:lnTo>
                    <a:pt x="1036" y="502"/>
                  </a:lnTo>
                  <a:lnTo>
                    <a:pt x="1053" y="496"/>
                  </a:lnTo>
                  <a:lnTo>
                    <a:pt x="1068" y="488"/>
                  </a:lnTo>
                  <a:lnTo>
                    <a:pt x="1078" y="474"/>
                  </a:lnTo>
                  <a:lnTo>
                    <a:pt x="1083" y="453"/>
                  </a:lnTo>
                  <a:lnTo>
                    <a:pt x="1083" y="452"/>
                  </a:lnTo>
                  <a:lnTo>
                    <a:pt x="1083" y="451"/>
                  </a:lnTo>
                  <a:lnTo>
                    <a:pt x="1083" y="449"/>
                  </a:lnTo>
                  <a:lnTo>
                    <a:pt x="1083" y="446"/>
                  </a:lnTo>
                  <a:lnTo>
                    <a:pt x="1083" y="440"/>
                  </a:lnTo>
                  <a:lnTo>
                    <a:pt x="1082" y="434"/>
                  </a:lnTo>
                  <a:lnTo>
                    <a:pt x="1081" y="425"/>
                  </a:lnTo>
                  <a:lnTo>
                    <a:pt x="1077" y="419"/>
                  </a:lnTo>
                  <a:lnTo>
                    <a:pt x="1073" y="410"/>
                  </a:lnTo>
                  <a:lnTo>
                    <a:pt x="1067" y="404"/>
                  </a:lnTo>
                  <a:lnTo>
                    <a:pt x="1058" y="398"/>
                  </a:lnTo>
                  <a:lnTo>
                    <a:pt x="1047" y="394"/>
                  </a:lnTo>
                  <a:lnTo>
                    <a:pt x="1047" y="270"/>
                  </a:lnTo>
                  <a:lnTo>
                    <a:pt x="1047" y="268"/>
                  </a:lnTo>
                  <a:lnTo>
                    <a:pt x="1046" y="263"/>
                  </a:lnTo>
                  <a:lnTo>
                    <a:pt x="1044" y="256"/>
                  </a:lnTo>
                  <a:lnTo>
                    <a:pt x="1039" y="248"/>
                  </a:lnTo>
                  <a:lnTo>
                    <a:pt x="1032" y="239"/>
                  </a:lnTo>
                  <a:lnTo>
                    <a:pt x="1022" y="230"/>
                  </a:lnTo>
                  <a:lnTo>
                    <a:pt x="1007" y="221"/>
                  </a:lnTo>
                  <a:lnTo>
                    <a:pt x="989" y="215"/>
                  </a:lnTo>
                  <a:lnTo>
                    <a:pt x="965" y="203"/>
                  </a:lnTo>
                  <a:lnTo>
                    <a:pt x="941" y="181"/>
                  </a:lnTo>
                  <a:lnTo>
                    <a:pt x="915" y="153"/>
                  </a:lnTo>
                  <a:lnTo>
                    <a:pt x="889" y="122"/>
                  </a:lnTo>
                  <a:lnTo>
                    <a:pt x="865" y="90"/>
                  </a:lnTo>
                  <a:lnTo>
                    <a:pt x="846" y="62"/>
                  </a:lnTo>
                  <a:lnTo>
                    <a:pt x="830" y="41"/>
                  </a:lnTo>
                  <a:lnTo>
                    <a:pt x="821" y="28"/>
                  </a:lnTo>
                  <a:lnTo>
                    <a:pt x="816" y="22"/>
                  </a:lnTo>
                  <a:lnTo>
                    <a:pt x="805" y="16"/>
                  </a:lnTo>
                  <a:lnTo>
                    <a:pt x="794" y="12"/>
                  </a:lnTo>
                  <a:lnTo>
                    <a:pt x="780" y="7"/>
                  </a:lnTo>
                  <a:lnTo>
                    <a:pt x="764" y="5"/>
                  </a:lnTo>
                  <a:lnTo>
                    <a:pt x="745" y="3"/>
                  </a:lnTo>
                  <a:lnTo>
                    <a:pt x="727" y="0"/>
                  </a:lnTo>
                  <a:lnTo>
                    <a:pt x="706" y="0"/>
                  </a:lnTo>
                  <a:lnTo>
                    <a:pt x="692" y="0"/>
                  </a:lnTo>
                  <a:lnTo>
                    <a:pt x="668" y="0"/>
                  </a:lnTo>
                  <a:lnTo>
                    <a:pt x="634" y="0"/>
                  </a:lnTo>
                  <a:lnTo>
                    <a:pt x="592" y="0"/>
                  </a:lnTo>
                  <a:lnTo>
                    <a:pt x="544" y="0"/>
                  </a:lnTo>
                  <a:lnTo>
                    <a:pt x="491" y="0"/>
                  </a:lnTo>
                  <a:lnTo>
                    <a:pt x="435" y="0"/>
                  </a:lnTo>
                  <a:lnTo>
                    <a:pt x="379" y="0"/>
                  </a:lnTo>
                  <a:lnTo>
                    <a:pt x="324" y="0"/>
                  </a:lnTo>
                  <a:lnTo>
                    <a:pt x="270" y="0"/>
                  </a:lnTo>
                  <a:lnTo>
                    <a:pt x="219" y="0"/>
                  </a:lnTo>
                  <a:lnTo>
                    <a:pt x="175" y="0"/>
                  </a:lnTo>
                  <a:lnTo>
                    <a:pt x="137" y="0"/>
                  </a:lnTo>
                  <a:lnTo>
                    <a:pt x="108" y="0"/>
                  </a:lnTo>
                  <a:lnTo>
                    <a:pt x="90" y="0"/>
                  </a:lnTo>
                  <a:lnTo>
                    <a:pt x="83" y="0"/>
                  </a:lnTo>
                  <a:lnTo>
                    <a:pt x="81" y="0"/>
                  </a:lnTo>
                  <a:lnTo>
                    <a:pt x="74" y="1"/>
                  </a:lnTo>
                  <a:lnTo>
                    <a:pt x="64" y="4"/>
                  </a:lnTo>
                  <a:lnTo>
                    <a:pt x="54" y="8"/>
                  </a:lnTo>
                  <a:lnTo>
                    <a:pt x="43" y="15"/>
                  </a:lnTo>
                  <a:lnTo>
                    <a:pt x="33" y="27"/>
                  </a:lnTo>
                  <a:lnTo>
                    <a:pt x="26" y="42"/>
                  </a:lnTo>
                  <a:lnTo>
                    <a:pt x="24" y="62"/>
                  </a:lnTo>
                  <a:lnTo>
                    <a:pt x="24" y="384"/>
                  </a:lnTo>
                  <a:lnTo>
                    <a:pt x="19" y="386"/>
                  </a:lnTo>
                  <a:lnTo>
                    <a:pt x="11" y="397"/>
                  </a:lnTo>
                  <a:lnTo>
                    <a:pt x="2" y="417"/>
                  </a:lnTo>
                  <a:lnTo>
                    <a:pt x="0" y="450"/>
                  </a:lnTo>
                  <a:lnTo>
                    <a:pt x="1" y="459"/>
                  </a:lnTo>
                  <a:lnTo>
                    <a:pt x="3" y="468"/>
                  </a:lnTo>
                  <a:lnTo>
                    <a:pt x="7" y="477"/>
                  </a:lnTo>
                  <a:lnTo>
                    <a:pt x="11" y="484"/>
                  </a:lnTo>
                  <a:lnTo>
                    <a:pt x="17" y="492"/>
                  </a:lnTo>
                  <a:lnTo>
                    <a:pt x="25" y="498"/>
                  </a:lnTo>
                  <a:lnTo>
                    <a:pt x="34" y="504"/>
                  </a:lnTo>
                  <a:lnTo>
                    <a:pt x="45" y="508"/>
                  </a:lnTo>
                  <a:lnTo>
                    <a:pt x="113" y="508"/>
                  </a:lnTo>
                  <a:lnTo>
                    <a:pt x="114" y="512"/>
                  </a:lnTo>
                  <a:lnTo>
                    <a:pt x="117" y="523"/>
                  </a:lnTo>
                  <a:lnTo>
                    <a:pt x="125" y="538"/>
                  </a:lnTo>
                  <a:lnTo>
                    <a:pt x="136" y="555"/>
                  </a:lnTo>
                  <a:lnTo>
                    <a:pt x="152" y="572"/>
                  </a:lnTo>
                  <a:lnTo>
                    <a:pt x="172" y="587"/>
                  </a:lnTo>
                  <a:lnTo>
                    <a:pt x="198" y="598"/>
                  </a:lnTo>
                  <a:lnTo>
                    <a:pt x="230" y="602"/>
                  </a:lnTo>
                  <a:lnTo>
                    <a:pt x="235" y="602"/>
                  </a:lnTo>
                  <a:lnTo>
                    <a:pt x="248" y="602"/>
                  </a:lnTo>
                  <a:lnTo>
                    <a:pt x="265" y="599"/>
                  </a:lnTo>
                  <a:lnTo>
                    <a:pt x="284" y="593"/>
                  </a:lnTo>
                  <a:lnTo>
                    <a:pt x="305" y="582"/>
                  </a:lnTo>
                  <a:lnTo>
                    <a:pt x="324" y="564"/>
                  </a:lnTo>
                  <a:lnTo>
                    <a:pt x="339" y="537"/>
                  </a:lnTo>
                  <a:lnTo>
                    <a:pt x="347" y="502"/>
                  </a:lnTo>
                  <a:lnTo>
                    <a:pt x="765" y="502"/>
                  </a:lnTo>
                  <a:close/>
                </a:path>
              </a:pathLst>
            </a:custGeom>
            <a:solidFill>
              <a:srgbClr val="FFFFFF"/>
            </a:solidFill>
            <a:ln w="9525">
              <a:noFill/>
              <a:round/>
            </a:ln>
          </p:spPr>
          <p:txBody>
            <a:bodyPr/>
            <a:lstStyle/>
            <a:p>
              <a:endParaRPr lang="en-US"/>
            </a:p>
          </p:txBody>
        </p:sp>
        <p:sp>
          <p:nvSpPr>
            <p:cNvPr id="1048864" name="Freeform 157"/>
            <p:cNvSpPr/>
            <p:nvPr/>
          </p:nvSpPr>
          <p:spPr bwMode="auto">
            <a:xfrm>
              <a:off x="2148" y="3713"/>
              <a:ext cx="511" cy="226"/>
            </a:xfrm>
            <a:custGeom>
              <a:avLst/>
              <a:gdLst>
                <a:gd name="T0" fmla="*/ 13 w 1022"/>
                <a:gd name="T1" fmla="*/ 226 h 453"/>
                <a:gd name="T2" fmla="*/ 6 w 1022"/>
                <a:gd name="T3" fmla="*/ 223 h 453"/>
                <a:gd name="T4" fmla="*/ 2 w 1022"/>
                <a:gd name="T5" fmla="*/ 219 h 453"/>
                <a:gd name="T6" fmla="*/ 1 w 1022"/>
                <a:gd name="T7" fmla="*/ 214 h 453"/>
                <a:gd name="T8" fmla="*/ 0 w 1022"/>
                <a:gd name="T9" fmla="*/ 209 h 453"/>
                <a:gd name="T10" fmla="*/ 1 w 1022"/>
                <a:gd name="T11" fmla="*/ 200 h 453"/>
                <a:gd name="T12" fmla="*/ 5 w 1022"/>
                <a:gd name="T13" fmla="*/ 194 h 453"/>
                <a:gd name="T14" fmla="*/ 8 w 1022"/>
                <a:gd name="T15" fmla="*/ 191 h 453"/>
                <a:gd name="T16" fmla="*/ 10 w 1022"/>
                <a:gd name="T17" fmla="*/ 190 h 453"/>
                <a:gd name="T18" fmla="*/ 10 w 1022"/>
                <a:gd name="T19" fmla="*/ 20 h 453"/>
                <a:gd name="T20" fmla="*/ 12 w 1022"/>
                <a:gd name="T21" fmla="*/ 9 h 453"/>
                <a:gd name="T22" fmla="*/ 18 w 1022"/>
                <a:gd name="T23" fmla="*/ 3 h 453"/>
                <a:gd name="T24" fmla="*/ 24 w 1022"/>
                <a:gd name="T25" fmla="*/ 0 h 453"/>
                <a:gd name="T26" fmla="*/ 26 w 1022"/>
                <a:gd name="T27" fmla="*/ 0 h 453"/>
                <a:gd name="T28" fmla="*/ 354 w 1022"/>
                <a:gd name="T29" fmla="*/ 0 h 453"/>
                <a:gd name="T30" fmla="*/ 369 w 1022"/>
                <a:gd name="T31" fmla="*/ 1 h 453"/>
                <a:gd name="T32" fmla="*/ 372 w 1022"/>
                <a:gd name="T33" fmla="*/ 1 h 453"/>
                <a:gd name="T34" fmla="*/ 376 w 1022"/>
                <a:gd name="T35" fmla="*/ 3 h 453"/>
                <a:gd name="T36" fmla="*/ 379 w 1022"/>
                <a:gd name="T37" fmla="*/ 5 h 453"/>
                <a:gd name="T38" fmla="*/ 383 w 1022"/>
                <a:gd name="T39" fmla="*/ 9 h 453"/>
                <a:gd name="T40" fmla="*/ 391 w 1022"/>
                <a:gd name="T41" fmla="*/ 19 h 453"/>
                <a:gd name="T42" fmla="*/ 400 w 1022"/>
                <a:gd name="T43" fmla="*/ 30 h 453"/>
                <a:gd name="T44" fmla="*/ 410 w 1022"/>
                <a:gd name="T45" fmla="*/ 43 h 453"/>
                <a:gd name="T46" fmla="*/ 419 w 1022"/>
                <a:gd name="T47" fmla="*/ 55 h 453"/>
                <a:gd name="T48" fmla="*/ 427 w 1022"/>
                <a:gd name="T49" fmla="*/ 67 h 453"/>
                <a:gd name="T50" fmla="*/ 433 w 1022"/>
                <a:gd name="T51" fmla="*/ 76 h 453"/>
                <a:gd name="T52" fmla="*/ 437 w 1022"/>
                <a:gd name="T53" fmla="*/ 82 h 453"/>
                <a:gd name="T54" fmla="*/ 439 w 1022"/>
                <a:gd name="T55" fmla="*/ 84 h 453"/>
                <a:gd name="T56" fmla="*/ 440 w 1022"/>
                <a:gd name="T57" fmla="*/ 86 h 453"/>
                <a:gd name="T58" fmla="*/ 441 w 1022"/>
                <a:gd name="T59" fmla="*/ 88 h 453"/>
                <a:gd name="T60" fmla="*/ 443 w 1022"/>
                <a:gd name="T61" fmla="*/ 90 h 453"/>
                <a:gd name="T62" fmla="*/ 447 w 1022"/>
                <a:gd name="T63" fmla="*/ 92 h 453"/>
                <a:gd name="T64" fmla="*/ 451 w 1022"/>
                <a:gd name="T65" fmla="*/ 95 h 453"/>
                <a:gd name="T66" fmla="*/ 456 w 1022"/>
                <a:gd name="T67" fmla="*/ 99 h 453"/>
                <a:gd name="T68" fmla="*/ 464 w 1022"/>
                <a:gd name="T69" fmla="*/ 102 h 453"/>
                <a:gd name="T70" fmla="*/ 474 w 1022"/>
                <a:gd name="T71" fmla="*/ 106 h 453"/>
                <a:gd name="T72" fmla="*/ 481 w 1022"/>
                <a:gd name="T73" fmla="*/ 109 h 453"/>
                <a:gd name="T74" fmla="*/ 486 w 1022"/>
                <a:gd name="T75" fmla="*/ 113 h 453"/>
                <a:gd name="T76" fmla="*/ 490 w 1022"/>
                <a:gd name="T77" fmla="*/ 116 h 453"/>
                <a:gd name="T78" fmla="*/ 492 w 1022"/>
                <a:gd name="T79" fmla="*/ 118 h 453"/>
                <a:gd name="T80" fmla="*/ 493 w 1022"/>
                <a:gd name="T81" fmla="*/ 121 h 453"/>
                <a:gd name="T82" fmla="*/ 494 w 1022"/>
                <a:gd name="T83" fmla="*/ 122 h 453"/>
                <a:gd name="T84" fmla="*/ 494 w 1022"/>
                <a:gd name="T85" fmla="*/ 124 h 453"/>
                <a:gd name="T86" fmla="*/ 494 w 1022"/>
                <a:gd name="T87" fmla="*/ 124 h 453"/>
                <a:gd name="T88" fmla="*/ 494 w 1022"/>
                <a:gd name="T89" fmla="*/ 196 h 453"/>
                <a:gd name="T90" fmla="*/ 494 w 1022"/>
                <a:gd name="T91" fmla="*/ 196 h 453"/>
                <a:gd name="T92" fmla="*/ 497 w 1022"/>
                <a:gd name="T93" fmla="*/ 196 h 453"/>
                <a:gd name="T94" fmla="*/ 499 w 1022"/>
                <a:gd name="T95" fmla="*/ 196 h 453"/>
                <a:gd name="T96" fmla="*/ 502 w 1022"/>
                <a:gd name="T97" fmla="*/ 196 h 453"/>
                <a:gd name="T98" fmla="*/ 506 w 1022"/>
                <a:gd name="T99" fmla="*/ 197 h 453"/>
                <a:gd name="T100" fmla="*/ 508 w 1022"/>
                <a:gd name="T101" fmla="*/ 200 h 453"/>
                <a:gd name="T102" fmla="*/ 510 w 1022"/>
                <a:gd name="T103" fmla="*/ 203 h 453"/>
                <a:gd name="T104" fmla="*/ 511 w 1022"/>
                <a:gd name="T105" fmla="*/ 208 h 453"/>
                <a:gd name="T106" fmla="*/ 510 w 1022"/>
                <a:gd name="T107" fmla="*/ 213 h 453"/>
                <a:gd name="T108" fmla="*/ 508 w 1022"/>
                <a:gd name="T109" fmla="*/ 217 h 453"/>
                <a:gd name="T110" fmla="*/ 506 w 1022"/>
                <a:gd name="T111" fmla="*/ 220 h 453"/>
                <a:gd name="T112" fmla="*/ 502 w 1022"/>
                <a:gd name="T113" fmla="*/ 223 h 453"/>
                <a:gd name="T114" fmla="*/ 499 w 1022"/>
                <a:gd name="T115" fmla="*/ 224 h 453"/>
                <a:gd name="T116" fmla="*/ 497 w 1022"/>
                <a:gd name="T117" fmla="*/ 226 h 453"/>
                <a:gd name="T118" fmla="*/ 494 w 1022"/>
                <a:gd name="T119" fmla="*/ 226 h 453"/>
                <a:gd name="T120" fmla="*/ 494 w 1022"/>
                <a:gd name="T121" fmla="*/ 226 h 453"/>
                <a:gd name="T122" fmla="*/ 13 w 1022"/>
                <a:gd name="T123" fmla="*/ 226 h 453"/>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w 1022"/>
                <a:gd name="T187" fmla="*/ 0 h 453"/>
                <a:gd name="T188" fmla="*/ 1022 w 1022"/>
                <a:gd name="T189" fmla="*/ 453 h 453"/>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T186" t="T187" r="T188" b="T189"/>
              <a:pathLst>
                <a:path w="1022" h="453">
                  <a:moveTo>
                    <a:pt x="25" y="453"/>
                  </a:moveTo>
                  <a:lnTo>
                    <a:pt x="12" y="447"/>
                  </a:lnTo>
                  <a:lnTo>
                    <a:pt x="4" y="438"/>
                  </a:lnTo>
                  <a:lnTo>
                    <a:pt x="1" y="429"/>
                  </a:lnTo>
                  <a:lnTo>
                    <a:pt x="0" y="419"/>
                  </a:lnTo>
                  <a:lnTo>
                    <a:pt x="2" y="401"/>
                  </a:lnTo>
                  <a:lnTo>
                    <a:pt x="9" y="388"/>
                  </a:lnTo>
                  <a:lnTo>
                    <a:pt x="16" y="382"/>
                  </a:lnTo>
                  <a:lnTo>
                    <a:pt x="19" y="380"/>
                  </a:lnTo>
                  <a:lnTo>
                    <a:pt x="19" y="40"/>
                  </a:lnTo>
                  <a:lnTo>
                    <a:pt x="24" y="19"/>
                  </a:lnTo>
                  <a:lnTo>
                    <a:pt x="35" y="7"/>
                  </a:lnTo>
                  <a:lnTo>
                    <a:pt x="47" y="1"/>
                  </a:lnTo>
                  <a:lnTo>
                    <a:pt x="51" y="0"/>
                  </a:lnTo>
                  <a:lnTo>
                    <a:pt x="707" y="0"/>
                  </a:lnTo>
                  <a:lnTo>
                    <a:pt x="738" y="2"/>
                  </a:lnTo>
                  <a:lnTo>
                    <a:pt x="743" y="3"/>
                  </a:lnTo>
                  <a:lnTo>
                    <a:pt x="751" y="7"/>
                  </a:lnTo>
                  <a:lnTo>
                    <a:pt x="758" y="11"/>
                  </a:lnTo>
                  <a:lnTo>
                    <a:pt x="766" y="18"/>
                  </a:lnTo>
                  <a:lnTo>
                    <a:pt x="782" y="38"/>
                  </a:lnTo>
                  <a:lnTo>
                    <a:pt x="800" y="61"/>
                  </a:lnTo>
                  <a:lnTo>
                    <a:pt x="819" y="86"/>
                  </a:lnTo>
                  <a:lnTo>
                    <a:pt x="837" y="111"/>
                  </a:lnTo>
                  <a:lnTo>
                    <a:pt x="853" y="134"/>
                  </a:lnTo>
                  <a:lnTo>
                    <a:pt x="866" y="152"/>
                  </a:lnTo>
                  <a:lnTo>
                    <a:pt x="874" y="165"/>
                  </a:lnTo>
                  <a:lnTo>
                    <a:pt x="878" y="169"/>
                  </a:lnTo>
                  <a:lnTo>
                    <a:pt x="880" y="173"/>
                  </a:lnTo>
                  <a:lnTo>
                    <a:pt x="882" y="176"/>
                  </a:lnTo>
                  <a:lnTo>
                    <a:pt x="886" y="181"/>
                  </a:lnTo>
                  <a:lnTo>
                    <a:pt x="893" y="185"/>
                  </a:lnTo>
                  <a:lnTo>
                    <a:pt x="901" y="191"/>
                  </a:lnTo>
                  <a:lnTo>
                    <a:pt x="912" y="198"/>
                  </a:lnTo>
                  <a:lnTo>
                    <a:pt x="928" y="205"/>
                  </a:lnTo>
                  <a:lnTo>
                    <a:pt x="948" y="213"/>
                  </a:lnTo>
                  <a:lnTo>
                    <a:pt x="962" y="219"/>
                  </a:lnTo>
                  <a:lnTo>
                    <a:pt x="972" y="226"/>
                  </a:lnTo>
                  <a:lnTo>
                    <a:pt x="979" y="232"/>
                  </a:lnTo>
                  <a:lnTo>
                    <a:pt x="984" y="237"/>
                  </a:lnTo>
                  <a:lnTo>
                    <a:pt x="986" y="242"/>
                  </a:lnTo>
                  <a:lnTo>
                    <a:pt x="987" y="245"/>
                  </a:lnTo>
                  <a:lnTo>
                    <a:pt x="987" y="248"/>
                  </a:lnTo>
                  <a:lnTo>
                    <a:pt x="987" y="249"/>
                  </a:lnTo>
                  <a:lnTo>
                    <a:pt x="987" y="392"/>
                  </a:lnTo>
                  <a:lnTo>
                    <a:pt x="988" y="392"/>
                  </a:lnTo>
                  <a:lnTo>
                    <a:pt x="993" y="392"/>
                  </a:lnTo>
                  <a:lnTo>
                    <a:pt x="997" y="392"/>
                  </a:lnTo>
                  <a:lnTo>
                    <a:pt x="1004" y="393"/>
                  </a:lnTo>
                  <a:lnTo>
                    <a:pt x="1011" y="395"/>
                  </a:lnTo>
                  <a:lnTo>
                    <a:pt x="1016" y="400"/>
                  </a:lnTo>
                  <a:lnTo>
                    <a:pt x="1020" y="407"/>
                  </a:lnTo>
                  <a:lnTo>
                    <a:pt x="1022" y="417"/>
                  </a:lnTo>
                  <a:lnTo>
                    <a:pt x="1020" y="427"/>
                  </a:lnTo>
                  <a:lnTo>
                    <a:pt x="1016" y="435"/>
                  </a:lnTo>
                  <a:lnTo>
                    <a:pt x="1011" y="441"/>
                  </a:lnTo>
                  <a:lnTo>
                    <a:pt x="1004" y="446"/>
                  </a:lnTo>
                  <a:lnTo>
                    <a:pt x="997" y="449"/>
                  </a:lnTo>
                  <a:lnTo>
                    <a:pt x="993" y="452"/>
                  </a:lnTo>
                  <a:lnTo>
                    <a:pt x="988" y="453"/>
                  </a:lnTo>
                  <a:lnTo>
                    <a:pt x="987" y="453"/>
                  </a:lnTo>
                  <a:lnTo>
                    <a:pt x="25" y="453"/>
                  </a:lnTo>
                  <a:close/>
                </a:path>
              </a:pathLst>
            </a:custGeom>
            <a:solidFill>
              <a:srgbClr val="000000"/>
            </a:solidFill>
            <a:ln w="9525">
              <a:noFill/>
              <a:round/>
            </a:ln>
          </p:spPr>
          <p:txBody>
            <a:bodyPr/>
            <a:lstStyle/>
            <a:p>
              <a:endParaRPr lang="en-US"/>
            </a:p>
          </p:txBody>
        </p:sp>
        <p:sp>
          <p:nvSpPr>
            <p:cNvPr id="1048865" name="Freeform 158"/>
            <p:cNvSpPr/>
            <p:nvPr/>
          </p:nvSpPr>
          <p:spPr bwMode="auto">
            <a:xfrm>
              <a:off x="2488" y="3723"/>
              <a:ext cx="141" cy="117"/>
            </a:xfrm>
            <a:custGeom>
              <a:avLst/>
              <a:gdLst>
                <a:gd name="T0" fmla="*/ 115 w 283"/>
                <a:gd name="T1" fmla="*/ 101 h 234"/>
                <a:gd name="T2" fmla="*/ 102 w 283"/>
                <a:gd name="T3" fmla="*/ 95 h 234"/>
                <a:gd name="T4" fmla="*/ 94 w 283"/>
                <a:gd name="T5" fmla="*/ 89 h 234"/>
                <a:gd name="T6" fmla="*/ 88 w 283"/>
                <a:gd name="T7" fmla="*/ 84 h 234"/>
                <a:gd name="T8" fmla="*/ 83 w 283"/>
                <a:gd name="T9" fmla="*/ 83 h 234"/>
                <a:gd name="T10" fmla="*/ 80 w 283"/>
                <a:gd name="T11" fmla="*/ 84 h 234"/>
                <a:gd name="T12" fmla="*/ 76 w 283"/>
                <a:gd name="T13" fmla="*/ 84 h 234"/>
                <a:gd name="T14" fmla="*/ 70 w 283"/>
                <a:gd name="T15" fmla="*/ 84 h 234"/>
                <a:gd name="T16" fmla="*/ 58 w 283"/>
                <a:gd name="T17" fmla="*/ 80 h 234"/>
                <a:gd name="T18" fmla="*/ 44 w 283"/>
                <a:gd name="T19" fmla="*/ 66 h 234"/>
                <a:gd name="T20" fmla="*/ 33 w 283"/>
                <a:gd name="T21" fmla="*/ 48 h 234"/>
                <a:gd name="T22" fmla="*/ 26 w 283"/>
                <a:gd name="T23" fmla="*/ 31 h 234"/>
                <a:gd name="T24" fmla="*/ 24 w 283"/>
                <a:gd name="T25" fmla="*/ 17 h 234"/>
                <a:gd name="T26" fmla="*/ 25 w 283"/>
                <a:gd name="T27" fmla="*/ 7 h 234"/>
                <a:gd name="T28" fmla="*/ 25 w 283"/>
                <a:gd name="T29" fmla="*/ 2 h 234"/>
                <a:gd name="T30" fmla="*/ 16 w 283"/>
                <a:gd name="T31" fmla="*/ 1 h 234"/>
                <a:gd name="T32" fmla="*/ 11 w 283"/>
                <a:gd name="T33" fmla="*/ 0 h 234"/>
                <a:gd name="T34" fmla="*/ 5 w 283"/>
                <a:gd name="T35" fmla="*/ 0 h 234"/>
                <a:gd name="T36" fmla="*/ 4 w 283"/>
                <a:gd name="T37" fmla="*/ 2 h 234"/>
                <a:gd name="T38" fmla="*/ 9 w 283"/>
                <a:gd name="T39" fmla="*/ 6 h 234"/>
                <a:gd name="T40" fmla="*/ 8 w 283"/>
                <a:gd name="T41" fmla="*/ 13 h 234"/>
                <a:gd name="T42" fmla="*/ 12 w 283"/>
                <a:gd name="T43" fmla="*/ 28 h 234"/>
                <a:gd name="T44" fmla="*/ 21 w 283"/>
                <a:gd name="T45" fmla="*/ 48 h 234"/>
                <a:gd name="T46" fmla="*/ 29 w 283"/>
                <a:gd name="T47" fmla="*/ 67 h 234"/>
                <a:gd name="T48" fmla="*/ 36 w 283"/>
                <a:gd name="T49" fmla="*/ 81 h 234"/>
                <a:gd name="T50" fmla="*/ 43 w 283"/>
                <a:gd name="T51" fmla="*/ 94 h 234"/>
                <a:gd name="T52" fmla="*/ 57 w 283"/>
                <a:gd name="T53" fmla="*/ 105 h 234"/>
                <a:gd name="T54" fmla="*/ 81 w 283"/>
                <a:gd name="T55" fmla="*/ 111 h 234"/>
                <a:gd name="T56" fmla="*/ 106 w 283"/>
                <a:gd name="T57" fmla="*/ 112 h 234"/>
                <a:gd name="T58" fmla="*/ 119 w 283"/>
                <a:gd name="T59" fmla="*/ 112 h 234"/>
                <a:gd name="T60" fmla="*/ 130 w 283"/>
                <a:gd name="T61" fmla="*/ 114 h 234"/>
                <a:gd name="T62" fmla="*/ 138 w 283"/>
                <a:gd name="T63" fmla="*/ 116 h 234"/>
                <a:gd name="T64" fmla="*/ 140 w 283"/>
                <a:gd name="T65" fmla="*/ 115 h 234"/>
                <a:gd name="T66" fmla="*/ 138 w 283"/>
                <a:gd name="T67" fmla="*/ 112 h 234"/>
                <a:gd name="T68" fmla="*/ 134 w 283"/>
                <a:gd name="T69" fmla="*/ 108 h 234"/>
                <a:gd name="T70" fmla="*/ 128 w 283"/>
                <a:gd name="T71" fmla="*/ 105 h 234"/>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283"/>
                <a:gd name="T109" fmla="*/ 0 h 234"/>
                <a:gd name="T110" fmla="*/ 283 w 283"/>
                <a:gd name="T111" fmla="*/ 234 h 234"/>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283" h="234">
                  <a:moveTo>
                    <a:pt x="247" y="207"/>
                  </a:moveTo>
                  <a:lnTo>
                    <a:pt x="230" y="201"/>
                  </a:lnTo>
                  <a:lnTo>
                    <a:pt x="217" y="196"/>
                  </a:lnTo>
                  <a:lnTo>
                    <a:pt x="205" y="190"/>
                  </a:lnTo>
                  <a:lnTo>
                    <a:pt x="197" y="184"/>
                  </a:lnTo>
                  <a:lnTo>
                    <a:pt x="189" y="178"/>
                  </a:lnTo>
                  <a:lnTo>
                    <a:pt x="183" y="172"/>
                  </a:lnTo>
                  <a:lnTo>
                    <a:pt x="177" y="168"/>
                  </a:lnTo>
                  <a:lnTo>
                    <a:pt x="170" y="164"/>
                  </a:lnTo>
                  <a:lnTo>
                    <a:pt x="167" y="166"/>
                  </a:lnTo>
                  <a:lnTo>
                    <a:pt x="164" y="167"/>
                  </a:lnTo>
                  <a:lnTo>
                    <a:pt x="160" y="167"/>
                  </a:lnTo>
                  <a:lnTo>
                    <a:pt x="157" y="168"/>
                  </a:lnTo>
                  <a:lnTo>
                    <a:pt x="152" y="168"/>
                  </a:lnTo>
                  <a:lnTo>
                    <a:pt x="147" y="168"/>
                  </a:lnTo>
                  <a:lnTo>
                    <a:pt x="140" y="167"/>
                  </a:lnTo>
                  <a:lnTo>
                    <a:pt x="133" y="166"/>
                  </a:lnTo>
                  <a:lnTo>
                    <a:pt x="117" y="160"/>
                  </a:lnTo>
                  <a:lnTo>
                    <a:pt x="102" y="147"/>
                  </a:lnTo>
                  <a:lnTo>
                    <a:pt x="88" y="132"/>
                  </a:lnTo>
                  <a:lnTo>
                    <a:pt x="76" y="114"/>
                  </a:lnTo>
                  <a:lnTo>
                    <a:pt x="66" y="95"/>
                  </a:lnTo>
                  <a:lnTo>
                    <a:pt x="59" y="77"/>
                  </a:lnTo>
                  <a:lnTo>
                    <a:pt x="53" y="62"/>
                  </a:lnTo>
                  <a:lnTo>
                    <a:pt x="50" y="49"/>
                  </a:lnTo>
                  <a:lnTo>
                    <a:pt x="48" y="34"/>
                  </a:lnTo>
                  <a:lnTo>
                    <a:pt x="49" y="23"/>
                  </a:lnTo>
                  <a:lnTo>
                    <a:pt x="51" y="15"/>
                  </a:lnTo>
                  <a:lnTo>
                    <a:pt x="56" y="8"/>
                  </a:lnTo>
                  <a:lnTo>
                    <a:pt x="50" y="4"/>
                  </a:lnTo>
                  <a:lnTo>
                    <a:pt x="42" y="2"/>
                  </a:lnTo>
                  <a:lnTo>
                    <a:pt x="33" y="1"/>
                  </a:lnTo>
                  <a:lnTo>
                    <a:pt x="26" y="0"/>
                  </a:lnTo>
                  <a:lnTo>
                    <a:pt x="23" y="0"/>
                  </a:lnTo>
                  <a:lnTo>
                    <a:pt x="19" y="0"/>
                  </a:lnTo>
                  <a:lnTo>
                    <a:pt x="11" y="0"/>
                  </a:lnTo>
                  <a:lnTo>
                    <a:pt x="0" y="0"/>
                  </a:lnTo>
                  <a:lnTo>
                    <a:pt x="8" y="3"/>
                  </a:lnTo>
                  <a:lnTo>
                    <a:pt x="15" y="8"/>
                  </a:lnTo>
                  <a:lnTo>
                    <a:pt x="18" y="11"/>
                  </a:lnTo>
                  <a:lnTo>
                    <a:pt x="18" y="16"/>
                  </a:lnTo>
                  <a:lnTo>
                    <a:pt x="16" y="25"/>
                  </a:lnTo>
                  <a:lnTo>
                    <a:pt x="19" y="39"/>
                  </a:lnTo>
                  <a:lnTo>
                    <a:pt x="24" y="56"/>
                  </a:lnTo>
                  <a:lnTo>
                    <a:pt x="33" y="76"/>
                  </a:lnTo>
                  <a:lnTo>
                    <a:pt x="42" y="96"/>
                  </a:lnTo>
                  <a:lnTo>
                    <a:pt x="51" y="116"/>
                  </a:lnTo>
                  <a:lnTo>
                    <a:pt x="59" y="134"/>
                  </a:lnTo>
                  <a:lnTo>
                    <a:pt x="66" y="148"/>
                  </a:lnTo>
                  <a:lnTo>
                    <a:pt x="72" y="161"/>
                  </a:lnTo>
                  <a:lnTo>
                    <a:pt x="79" y="174"/>
                  </a:lnTo>
                  <a:lnTo>
                    <a:pt x="87" y="187"/>
                  </a:lnTo>
                  <a:lnTo>
                    <a:pt x="98" y="199"/>
                  </a:lnTo>
                  <a:lnTo>
                    <a:pt x="114" y="209"/>
                  </a:lnTo>
                  <a:lnTo>
                    <a:pt x="135" y="217"/>
                  </a:lnTo>
                  <a:lnTo>
                    <a:pt x="162" y="222"/>
                  </a:lnTo>
                  <a:lnTo>
                    <a:pt x="196" y="223"/>
                  </a:lnTo>
                  <a:lnTo>
                    <a:pt x="212" y="223"/>
                  </a:lnTo>
                  <a:lnTo>
                    <a:pt x="226" y="223"/>
                  </a:lnTo>
                  <a:lnTo>
                    <a:pt x="239" y="223"/>
                  </a:lnTo>
                  <a:lnTo>
                    <a:pt x="250" y="224"/>
                  </a:lnTo>
                  <a:lnTo>
                    <a:pt x="260" y="227"/>
                  </a:lnTo>
                  <a:lnTo>
                    <a:pt x="269" y="229"/>
                  </a:lnTo>
                  <a:lnTo>
                    <a:pt x="276" y="231"/>
                  </a:lnTo>
                  <a:lnTo>
                    <a:pt x="283" y="234"/>
                  </a:lnTo>
                  <a:lnTo>
                    <a:pt x="281" y="230"/>
                  </a:lnTo>
                  <a:lnTo>
                    <a:pt x="279" y="227"/>
                  </a:lnTo>
                  <a:lnTo>
                    <a:pt x="277" y="223"/>
                  </a:lnTo>
                  <a:lnTo>
                    <a:pt x="273" y="220"/>
                  </a:lnTo>
                  <a:lnTo>
                    <a:pt x="269" y="216"/>
                  </a:lnTo>
                  <a:lnTo>
                    <a:pt x="263" y="213"/>
                  </a:lnTo>
                  <a:lnTo>
                    <a:pt x="256" y="209"/>
                  </a:lnTo>
                  <a:lnTo>
                    <a:pt x="247" y="207"/>
                  </a:lnTo>
                  <a:close/>
                </a:path>
              </a:pathLst>
            </a:custGeom>
            <a:solidFill>
              <a:srgbClr val="FFD877"/>
            </a:solidFill>
            <a:ln w="9525">
              <a:noFill/>
              <a:round/>
            </a:ln>
          </p:spPr>
          <p:txBody>
            <a:bodyPr/>
            <a:lstStyle/>
            <a:p>
              <a:endParaRPr lang="en-US"/>
            </a:p>
          </p:txBody>
        </p:sp>
        <p:sp>
          <p:nvSpPr>
            <p:cNvPr id="1048866" name="Freeform 159"/>
            <p:cNvSpPr/>
            <p:nvPr/>
          </p:nvSpPr>
          <p:spPr bwMode="auto">
            <a:xfrm>
              <a:off x="2171" y="3724"/>
              <a:ext cx="159" cy="203"/>
            </a:xfrm>
            <a:custGeom>
              <a:avLst/>
              <a:gdLst>
                <a:gd name="T0" fmla="*/ 0 w 317"/>
                <a:gd name="T1" fmla="*/ 17 h 404"/>
                <a:gd name="T2" fmla="*/ 0 w 317"/>
                <a:gd name="T3" fmla="*/ 178 h 404"/>
                <a:gd name="T4" fmla="*/ 0 w 317"/>
                <a:gd name="T5" fmla="*/ 180 h 404"/>
                <a:gd name="T6" fmla="*/ 1 w 317"/>
                <a:gd name="T7" fmla="*/ 186 h 404"/>
                <a:gd name="T8" fmla="*/ 3 w 317"/>
                <a:gd name="T9" fmla="*/ 194 h 404"/>
                <a:gd name="T10" fmla="*/ 8 w 317"/>
                <a:gd name="T11" fmla="*/ 203 h 404"/>
                <a:gd name="T12" fmla="*/ 159 w 317"/>
                <a:gd name="T13" fmla="*/ 203 h 404"/>
                <a:gd name="T14" fmla="*/ 12 w 317"/>
                <a:gd name="T15" fmla="*/ 0 h 404"/>
                <a:gd name="T16" fmla="*/ 8 w 317"/>
                <a:gd name="T17" fmla="*/ 2 h 404"/>
                <a:gd name="T18" fmla="*/ 4 w 317"/>
                <a:gd name="T19" fmla="*/ 5 h 404"/>
                <a:gd name="T20" fmla="*/ 1 w 317"/>
                <a:gd name="T21" fmla="*/ 11 h 404"/>
                <a:gd name="T22" fmla="*/ 0 w 317"/>
                <a:gd name="T23" fmla="*/ 17 h 404"/>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17"/>
                <a:gd name="T37" fmla="*/ 0 h 404"/>
                <a:gd name="T38" fmla="*/ 317 w 317"/>
                <a:gd name="T39" fmla="*/ 404 h 404"/>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17" h="404">
                  <a:moveTo>
                    <a:pt x="0" y="34"/>
                  </a:moveTo>
                  <a:lnTo>
                    <a:pt x="0" y="355"/>
                  </a:lnTo>
                  <a:lnTo>
                    <a:pt x="0" y="359"/>
                  </a:lnTo>
                  <a:lnTo>
                    <a:pt x="1" y="371"/>
                  </a:lnTo>
                  <a:lnTo>
                    <a:pt x="5" y="386"/>
                  </a:lnTo>
                  <a:lnTo>
                    <a:pt x="15" y="404"/>
                  </a:lnTo>
                  <a:lnTo>
                    <a:pt x="317" y="404"/>
                  </a:lnTo>
                  <a:lnTo>
                    <a:pt x="23" y="0"/>
                  </a:lnTo>
                  <a:lnTo>
                    <a:pt x="16" y="3"/>
                  </a:lnTo>
                  <a:lnTo>
                    <a:pt x="8" y="10"/>
                  </a:lnTo>
                  <a:lnTo>
                    <a:pt x="2" y="21"/>
                  </a:lnTo>
                  <a:lnTo>
                    <a:pt x="0" y="34"/>
                  </a:lnTo>
                  <a:close/>
                </a:path>
              </a:pathLst>
            </a:custGeom>
            <a:solidFill>
              <a:srgbClr val="FFC126"/>
            </a:solidFill>
            <a:ln w="9525">
              <a:noFill/>
              <a:round/>
            </a:ln>
          </p:spPr>
          <p:txBody>
            <a:bodyPr/>
            <a:lstStyle/>
            <a:p>
              <a:endParaRPr lang="en-US"/>
            </a:p>
          </p:txBody>
        </p:sp>
        <p:sp>
          <p:nvSpPr>
            <p:cNvPr id="1048867" name="Freeform 160"/>
            <p:cNvSpPr/>
            <p:nvPr/>
          </p:nvSpPr>
          <p:spPr bwMode="auto">
            <a:xfrm>
              <a:off x="2214" y="3723"/>
              <a:ext cx="417" cy="204"/>
            </a:xfrm>
            <a:custGeom>
              <a:avLst/>
              <a:gdLst>
                <a:gd name="T0" fmla="*/ 372 w 833"/>
                <a:gd name="T1" fmla="*/ 112 h 406"/>
                <a:gd name="T2" fmla="*/ 355 w 833"/>
                <a:gd name="T3" fmla="*/ 112 h 406"/>
                <a:gd name="T4" fmla="*/ 341 w 833"/>
                <a:gd name="T5" fmla="*/ 109 h 406"/>
                <a:gd name="T6" fmla="*/ 331 w 833"/>
                <a:gd name="T7" fmla="*/ 105 h 406"/>
                <a:gd name="T8" fmla="*/ 323 w 833"/>
                <a:gd name="T9" fmla="*/ 100 h 406"/>
                <a:gd name="T10" fmla="*/ 317 w 833"/>
                <a:gd name="T11" fmla="*/ 94 h 406"/>
                <a:gd name="T12" fmla="*/ 313 w 833"/>
                <a:gd name="T13" fmla="*/ 87 h 406"/>
                <a:gd name="T14" fmla="*/ 310 w 833"/>
                <a:gd name="T15" fmla="*/ 81 h 406"/>
                <a:gd name="T16" fmla="*/ 307 w 833"/>
                <a:gd name="T17" fmla="*/ 74 h 406"/>
                <a:gd name="T18" fmla="*/ 303 w 833"/>
                <a:gd name="T19" fmla="*/ 67 h 406"/>
                <a:gd name="T20" fmla="*/ 299 w 833"/>
                <a:gd name="T21" fmla="*/ 58 h 406"/>
                <a:gd name="T22" fmla="*/ 295 w 833"/>
                <a:gd name="T23" fmla="*/ 48 h 406"/>
                <a:gd name="T24" fmla="*/ 290 w 833"/>
                <a:gd name="T25" fmla="*/ 38 h 406"/>
                <a:gd name="T26" fmla="*/ 286 w 833"/>
                <a:gd name="T27" fmla="*/ 28 h 406"/>
                <a:gd name="T28" fmla="*/ 283 w 833"/>
                <a:gd name="T29" fmla="*/ 20 h 406"/>
                <a:gd name="T30" fmla="*/ 282 w 833"/>
                <a:gd name="T31" fmla="*/ 13 h 406"/>
                <a:gd name="T32" fmla="*/ 283 w 833"/>
                <a:gd name="T33" fmla="*/ 8 h 406"/>
                <a:gd name="T34" fmla="*/ 283 w 833"/>
                <a:gd name="T35" fmla="*/ 6 h 406"/>
                <a:gd name="T36" fmla="*/ 281 w 833"/>
                <a:gd name="T37" fmla="*/ 4 h 406"/>
                <a:gd name="T38" fmla="*/ 278 w 833"/>
                <a:gd name="T39" fmla="*/ 2 h 406"/>
                <a:gd name="T40" fmla="*/ 274 w 833"/>
                <a:gd name="T41" fmla="*/ 0 h 406"/>
                <a:gd name="T42" fmla="*/ 264 w 833"/>
                <a:gd name="T43" fmla="*/ 0 h 406"/>
                <a:gd name="T44" fmla="*/ 251 w 833"/>
                <a:gd name="T45" fmla="*/ 0 h 406"/>
                <a:gd name="T46" fmla="*/ 236 w 833"/>
                <a:gd name="T47" fmla="*/ 0 h 406"/>
                <a:gd name="T48" fmla="*/ 220 w 833"/>
                <a:gd name="T49" fmla="*/ 0 h 406"/>
                <a:gd name="T50" fmla="*/ 202 w 833"/>
                <a:gd name="T51" fmla="*/ 0 h 406"/>
                <a:gd name="T52" fmla="*/ 183 w 833"/>
                <a:gd name="T53" fmla="*/ 0 h 406"/>
                <a:gd name="T54" fmla="*/ 164 w 833"/>
                <a:gd name="T55" fmla="*/ 0 h 406"/>
                <a:gd name="T56" fmla="*/ 144 w 833"/>
                <a:gd name="T57" fmla="*/ 0 h 406"/>
                <a:gd name="T58" fmla="*/ 124 w 833"/>
                <a:gd name="T59" fmla="*/ 0 h 406"/>
                <a:gd name="T60" fmla="*/ 103 w 833"/>
                <a:gd name="T61" fmla="*/ 0 h 406"/>
                <a:gd name="T62" fmla="*/ 83 w 833"/>
                <a:gd name="T63" fmla="*/ 0 h 406"/>
                <a:gd name="T64" fmla="*/ 64 w 833"/>
                <a:gd name="T65" fmla="*/ 0 h 406"/>
                <a:gd name="T66" fmla="*/ 46 w 833"/>
                <a:gd name="T67" fmla="*/ 0 h 406"/>
                <a:gd name="T68" fmla="*/ 28 w 833"/>
                <a:gd name="T69" fmla="*/ 0 h 406"/>
                <a:gd name="T70" fmla="*/ 13 w 833"/>
                <a:gd name="T71" fmla="*/ 0 h 406"/>
                <a:gd name="T72" fmla="*/ 0 w 833"/>
                <a:gd name="T73" fmla="*/ 0 h 406"/>
                <a:gd name="T74" fmla="*/ 243 w 833"/>
                <a:gd name="T75" fmla="*/ 204 h 406"/>
                <a:gd name="T76" fmla="*/ 401 w 833"/>
                <a:gd name="T77" fmla="*/ 204 h 406"/>
                <a:gd name="T78" fmla="*/ 404 w 833"/>
                <a:gd name="T79" fmla="*/ 203 h 406"/>
                <a:gd name="T80" fmla="*/ 409 w 833"/>
                <a:gd name="T81" fmla="*/ 201 h 406"/>
                <a:gd name="T82" fmla="*/ 414 w 833"/>
                <a:gd name="T83" fmla="*/ 196 h 406"/>
                <a:gd name="T84" fmla="*/ 417 w 833"/>
                <a:gd name="T85" fmla="*/ 187 h 406"/>
                <a:gd name="T86" fmla="*/ 417 w 833"/>
                <a:gd name="T87" fmla="*/ 184 h 406"/>
                <a:gd name="T88" fmla="*/ 416 w 833"/>
                <a:gd name="T89" fmla="*/ 181 h 406"/>
                <a:gd name="T90" fmla="*/ 416 w 833"/>
                <a:gd name="T91" fmla="*/ 180 h 406"/>
                <a:gd name="T92" fmla="*/ 416 w 833"/>
                <a:gd name="T93" fmla="*/ 179 h 406"/>
                <a:gd name="T94" fmla="*/ 416 w 833"/>
                <a:gd name="T95" fmla="*/ 120 h 406"/>
                <a:gd name="T96" fmla="*/ 416 w 833"/>
                <a:gd name="T97" fmla="*/ 120 h 406"/>
                <a:gd name="T98" fmla="*/ 416 w 833"/>
                <a:gd name="T99" fmla="*/ 120 h 406"/>
                <a:gd name="T100" fmla="*/ 416 w 833"/>
                <a:gd name="T101" fmla="*/ 119 h 406"/>
                <a:gd name="T102" fmla="*/ 415 w 833"/>
                <a:gd name="T103" fmla="*/ 118 h 406"/>
                <a:gd name="T104" fmla="*/ 412 w 833"/>
                <a:gd name="T105" fmla="*/ 116 h 406"/>
                <a:gd name="T106" fmla="*/ 408 w 833"/>
                <a:gd name="T107" fmla="*/ 115 h 406"/>
                <a:gd name="T108" fmla="*/ 404 w 833"/>
                <a:gd name="T109" fmla="*/ 114 h 406"/>
                <a:gd name="T110" fmla="*/ 399 w 833"/>
                <a:gd name="T111" fmla="*/ 113 h 406"/>
                <a:gd name="T112" fmla="*/ 393 w 833"/>
                <a:gd name="T113" fmla="*/ 112 h 406"/>
                <a:gd name="T114" fmla="*/ 387 w 833"/>
                <a:gd name="T115" fmla="*/ 112 h 406"/>
                <a:gd name="T116" fmla="*/ 380 w 833"/>
                <a:gd name="T117" fmla="*/ 112 h 406"/>
                <a:gd name="T118" fmla="*/ 372 w 833"/>
                <a:gd name="T119" fmla="*/ 112 h 40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w 833"/>
                <a:gd name="T181" fmla="*/ 0 h 406"/>
                <a:gd name="T182" fmla="*/ 833 w 833"/>
                <a:gd name="T183" fmla="*/ 406 h 406"/>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T180" t="T181" r="T182" b="T183"/>
              <a:pathLst>
                <a:path w="833" h="406">
                  <a:moveTo>
                    <a:pt x="743" y="223"/>
                  </a:moveTo>
                  <a:lnTo>
                    <a:pt x="709" y="222"/>
                  </a:lnTo>
                  <a:lnTo>
                    <a:pt x="682" y="217"/>
                  </a:lnTo>
                  <a:lnTo>
                    <a:pt x="661" y="209"/>
                  </a:lnTo>
                  <a:lnTo>
                    <a:pt x="645" y="199"/>
                  </a:lnTo>
                  <a:lnTo>
                    <a:pt x="634" y="187"/>
                  </a:lnTo>
                  <a:lnTo>
                    <a:pt x="626" y="174"/>
                  </a:lnTo>
                  <a:lnTo>
                    <a:pt x="619" y="161"/>
                  </a:lnTo>
                  <a:lnTo>
                    <a:pt x="613" y="148"/>
                  </a:lnTo>
                  <a:lnTo>
                    <a:pt x="606" y="134"/>
                  </a:lnTo>
                  <a:lnTo>
                    <a:pt x="598" y="116"/>
                  </a:lnTo>
                  <a:lnTo>
                    <a:pt x="589" y="96"/>
                  </a:lnTo>
                  <a:lnTo>
                    <a:pt x="580" y="76"/>
                  </a:lnTo>
                  <a:lnTo>
                    <a:pt x="571" y="56"/>
                  </a:lnTo>
                  <a:lnTo>
                    <a:pt x="566" y="39"/>
                  </a:lnTo>
                  <a:lnTo>
                    <a:pt x="563" y="25"/>
                  </a:lnTo>
                  <a:lnTo>
                    <a:pt x="565" y="16"/>
                  </a:lnTo>
                  <a:lnTo>
                    <a:pt x="565" y="11"/>
                  </a:lnTo>
                  <a:lnTo>
                    <a:pt x="562" y="8"/>
                  </a:lnTo>
                  <a:lnTo>
                    <a:pt x="555" y="3"/>
                  </a:lnTo>
                  <a:lnTo>
                    <a:pt x="547" y="0"/>
                  </a:lnTo>
                  <a:lnTo>
                    <a:pt x="527" y="0"/>
                  </a:lnTo>
                  <a:lnTo>
                    <a:pt x="502" y="0"/>
                  </a:lnTo>
                  <a:lnTo>
                    <a:pt x="472" y="0"/>
                  </a:lnTo>
                  <a:lnTo>
                    <a:pt x="440" y="0"/>
                  </a:lnTo>
                  <a:lnTo>
                    <a:pt x="404" y="0"/>
                  </a:lnTo>
                  <a:lnTo>
                    <a:pt x="366" y="0"/>
                  </a:lnTo>
                  <a:lnTo>
                    <a:pt x="327" y="0"/>
                  </a:lnTo>
                  <a:lnTo>
                    <a:pt x="287" y="0"/>
                  </a:lnTo>
                  <a:lnTo>
                    <a:pt x="247" y="0"/>
                  </a:lnTo>
                  <a:lnTo>
                    <a:pt x="205" y="0"/>
                  </a:lnTo>
                  <a:lnTo>
                    <a:pt x="166" y="0"/>
                  </a:lnTo>
                  <a:lnTo>
                    <a:pt x="127" y="0"/>
                  </a:lnTo>
                  <a:lnTo>
                    <a:pt x="91" y="0"/>
                  </a:lnTo>
                  <a:lnTo>
                    <a:pt x="56" y="0"/>
                  </a:lnTo>
                  <a:lnTo>
                    <a:pt x="26" y="0"/>
                  </a:lnTo>
                  <a:lnTo>
                    <a:pt x="0" y="0"/>
                  </a:lnTo>
                  <a:lnTo>
                    <a:pt x="485" y="406"/>
                  </a:lnTo>
                  <a:lnTo>
                    <a:pt x="802" y="406"/>
                  </a:lnTo>
                  <a:lnTo>
                    <a:pt x="807" y="405"/>
                  </a:lnTo>
                  <a:lnTo>
                    <a:pt x="818" y="400"/>
                  </a:lnTo>
                  <a:lnTo>
                    <a:pt x="828" y="390"/>
                  </a:lnTo>
                  <a:lnTo>
                    <a:pt x="833" y="373"/>
                  </a:lnTo>
                  <a:lnTo>
                    <a:pt x="833" y="367"/>
                  </a:lnTo>
                  <a:lnTo>
                    <a:pt x="832" y="361"/>
                  </a:lnTo>
                  <a:lnTo>
                    <a:pt x="831" y="358"/>
                  </a:lnTo>
                  <a:lnTo>
                    <a:pt x="831" y="357"/>
                  </a:lnTo>
                  <a:lnTo>
                    <a:pt x="831" y="239"/>
                  </a:lnTo>
                  <a:lnTo>
                    <a:pt x="831" y="238"/>
                  </a:lnTo>
                  <a:lnTo>
                    <a:pt x="831" y="236"/>
                  </a:lnTo>
                  <a:lnTo>
                    <a:pt x="830" y="234"/>
                  </a:lnTo>
                  <a:lnTo>
                    <a:pt x="823" y="231"/>
                  </a:lnTo>
                  <a:lnTo>
                    <a:pt x="816" y="229"/>
                  </a:lnTo>
                  <a:lnTo>
                    <a:pt x="807" y="227"/>
                  </a:lnTo>
                  <a:lnTo>
                    <a:pt x="797" y="224"/>
                  </a:lnTo>
                  <a:lnTo>
                    <a:pt x="786" y="223"/>
                  </a:lnTo>
                  <a:lnTo>
                    <a:pt x="773" y="223"/>
                  </a:lnTo>
                  <a:lnTo>
                    <a:pt x="759" y="223"/>
                  </a:lnTo>
                  <a:lnTo>
                    <a:pt x="743" y="223"/>
                  </a:lnTo>
                  <a:close/>
                </a:path>
              </a:pathLst>
            </a:custGeom>
            <a:solidFill>
              <a:srgbClr val="FFC126"/>
            </a:solidFill>
            <a:ln w="9525">
              <a:noFill/>
              <a:round/>
            </a:ln>
          </p:spPr>
          <p:txBody>
            <a:bodyPr/>
            <a:lstStyle/>
            <a:p>
              <a:endParaRPr lang="en-US"/>
            </a:p>
          </p:txBody>
        </p:sp>
        <p:sp>
          <p:nvSpPr>
            <p:cNvPr id="1048868" name="Freeform 161"/>
            <p:cNvSpPr/>
            <p:nvPr/>
          </p:nvSpPr>
          <p:spPr bwMode="auto">
            <a:xfrm>
              <a:off x="2611" y="3908"/>
              <a:ext cx="43" cy="29"/>
            </a:xfrm>
            <a:custGeom>
              <a:avLst/>
              <a:gdLst>
                <a:gd name="T0" fmla="*/ 29 w 85"/>
                <a:gd name="T1" fmla="*/ 29 h 56"/>
                <a:gd name="T2" fmla="*/ 34 w 85"/>
                <a:gd name="T3" fmla="*/ 28 h 56"/>
                <a:gd name="T4" fmla="*/ 39 w 85"/>
                <a:gd name="T5" fmla="*/ 25 h 56"/>
                <a:gd name="T6" fmla="*/ 42 w 85"/>
                <a:gd name="T7" fmla="*/ 20 h 56"/>
                <a:gd name="T8" fmla="*/ 43 w 85"/>
                <a:gd name="T9" fmla="*/ 14 h 56"/>
                <a:gd name="T10" fmla="*/ 43 w 85"/>
                <a:gd name="T11" fmla="*/ 14 h 56"/>
                <a:gd name="T12" fmla="*/ 42 w 85"/>
                <a:gd name="T13" fmla="*/ 9 h 56"/>
                <a:gd name="T14" fmla="*/ 39 w 85"/>
                <a:gd name="T15" fmla="*/ 4 h 56"/>
                <a:gd name="T16" fmla="*/ 34 w 85"/>
                <a:gd name="T17" fmla="*/ 1 h 56"/>
                <a:gd name="T18" fmla="*/ 29 w 85"/>
                <a:gd name="T19" fmla="*/ 0 h 56"/>
                <a:gd name="T20" fmla="*/ 15 w 85"/>
                <a:gd name="T21" fmla="*/ 0 h 56"/>
                <a:gd name="T22" fmla="*/ 9 w 85"/>
                <a:gd name="T23" fmla="*/ 1 h 56"/>
                <a:gd name="T24" fmla="*/ 4 w 85"/>
                <a:gd name="T25" fmla="*/ 4 h 56"/>
                <a:gd name="T26" fmla="*/ 1 w 85"/>
                <a:gd name="T27" fmla="*/ 9 h 56"/>
                <a:gd name="T28" fmla="*/ 0 w 85"/>
                <a:gd name="T29" fmla="*/ 14 h 56"/>
                <a:gd name="T30" fmla="*/ 0 w 85"/>
                <a:gd name="T31" fmla="*/ 14 h 56"/>
                <a:gd name="T32" fmla="*/ 1 w 85"/>
                <a:gd name="T33" fmla="*/ 20 h 56"/>
                <a:gd name="T34" fmla="*/ 4 w 85"/>
                <a:gd name="T35" fmla="*/ 25 h 56"/>
                <a:gd name="T36" fmla="*/ 9 w 85"/>
                <a:gd name="T37" fmla="*/ 28 h 56"/>
                <a:gd name="T38" fmla="*/ 15 w 85"/>
                <a:gd name="T39" fmla="*/ 29 h 56"/>
                <a:gd name="T40" fmla="*/ 29 w 85"/>
                <a:gd name="T41" fmla="*/ 29 h 5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85"/>
                <a:gd name="T64" fmla="*/ 0 h 56"/>
                <a:gd name="T65" fmla="*/ 85 w 85"/>
                <a:gd name="T66" fmla="*/ 56 h 5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85" h="56">
                  <a:moveTo>
                    <a:pt x="57" y="56"/>
                  </a:moveTo>
                  <a:lnTo>
                    <a:pt x="68" y="54"/>
                  </a:lnTo>
                  <a:lnTo>
                    <a:pt x="77" y="48"/>
                  </a:lnTo>
                  <a:lnTo>
                    <a:pt x="83" y="39"/>
                  </a:lnTo>
                  <a:lnTo>
                    <a:pt x="85" y="27"/>
                  </a:lnTo>
                  <a:lnTo>
                    <a:pt x="83" y="17"/>
                  </a:lnTo>
                  <a:lnTo>
                    <a:pt x="77" y="8"/>
                  </a:lnTo>
                  <a:lnTo>
                    <a:pt x="68" y="2"/>
                  </a:lnTo>
                  <a:lnTo>
                    <a:pt x="57" y="0"/>
                  </a:lnTo>
                  <a:lnTo>
                    <a:pt x="29" y="0"/>
                  </a:lnTo>
                  <a:lnTo>
                    <a:pt x="17" y="2"/>
                  </a:lnTo>
                  <a:lnTo>
                    <a:pt x="8" y="8"/>
                  </a:lnTo>
                  <a:lnTo>
                    <a:pt x="2" y="17"/>
                  </a:lnTo>
                  <a:lnTo>
                    <a:pt x="0" y="27"/>
                  </a:lnTo>
                  <a:lnTo>
                    <a:pt x="2" y="39"/>
                  </a:lnTo>
                  <a:lnTo>
                    <a:pt x="8" y="48"/>
                  </a:lnTo>
                  <a:lnTo>
                    <a:pt x="17" y="54"/>
                  </a:lnTo>
                  <a:lnTo>
                    <a:pt x="29" y="56"/>
                  </a:lnTo>
                  <a:lnTo>
                    <a:pt x="57" y="56"/>
                  </a:lnTo>
                  <a:close/>
                </a:path>
              </a:pathLst>
            </a:custGeom>
            <a:solidFill>
              <a:srgbClr val="000000"/>
            </a:solidFill>
            <a:ln w="9525">
              <a:noFill/>
              <a:round/>
            </a:ln>
          </p:spPr>
          <p:txBody>
            <a:bodyPr/>
            <a:lstStyle/>
            <a:p>
              <a:endParaRPr lang="en-US"/>
            </a:p>
          </p:txBody>
        </p:sp>
        <p:sp>
          <p:nvSpPr>
            <p:cNvPr id="1048869" name="Freeform 162"/>
            <p:cNvSpPr/>
            <p:nvPr/>
          </p:nvSpPr>
          <p:spPr bwMode="auto">
            <a:xfrm>
              <a:off x="2155" y="3907"/>
              <a:ext cx="43" cy="28"/>
            </a:xfrm>
            <a:custGeom>
              <a:avLst/>
              <a:gdLst>
                <a:gd name="T0" fmla="*/ 29 w 87"/>
                <a:gd name="T1" fmla="*/ 28 h 57"/>
                <a:gd name="T2" fmla="*/ 35 w 87"/>
                <a:gd name="T3" fmla="*/ 27 h 57"/>
                <a:gd name="T4" fmla="*/ 39 w 87"/>
                <a:gd name="T5" fmla="*/ 24 h 57"/>
                <a:gd name="T6" fmla="*/ 42 w 87"/>
                <a:gd name="T7" fmla="*/ 19 h 57"/>
                <a:gd name="T8" fmla="*/ 43 w 87"/>
                <a:gd name="T9" fmla="*/ 14 h 57"/>
                <a:gd name="T10" fmla="*/ 43 w 87"/>
                <a:gd name="T11" fmla="*/ 14 h 57"/>
                <a:gd name="T12" fmla="*/ 42 w 87"/>
                <a:gd name="T13" fmla="*/ 9 h 57"/>
                <a:gd name="T14" fmla="*/ 39 w 87"/>
                <a:gd name="T15" fmla="*/ 4 h 57"/>
                <a:gd name="T16" fmla="*/ 35 w 87"/>
                <a:gd name="T17" fmla="*/ 1 h 57"/>
                <a:gd name="T18" fmla="*/ 29 w 87"/>
                <a:gd name="T19" fmla="*/ 0 h 57"/>
                <a:gd name="T20" fmla="*/ 14 w 87"/>
                <a:gd name="T21" fmla="*/ 0 h 57"/>
                <a:gd name="T22" fmla="*/ 9 w 87"/>
                <a:gd name="T23" fmla="*/ 1 h 57"/>
                <a:gd name="T24" fmla="*/ 4 w 87"/>
                <a:gd name="T25" fmla="*/ 4 h 57"/>
                <a:gd name="T26" fmla="*/ 1 w 87"/>
                <a:gd name="T27" fmla="*/ 9 h 57"/>
                <a:gd name="T28" fmla="*/ 0 w 87"/>
                <a:gd name="T29" fmla="*/ 14 h 57"/>
                <a:gd name="T30" fmla="*/ 0 w 87"/>
                <a:gd name="T31" fmla="*/ 14 h 57"/>
                <a:gd name="T32" fmla="*/ 1 w 87"/>
                <a:gd name="T33" fmla="*/ 19 h 57"/>
                <a:gd name="T34" fmla="*/ 4 w 87"/>
                <a:gd name="T35" fmla="*/ 24 h 57"/>
                <a:gd name="T36" fmla="*/ 9 w 87"/>
                <a:gd name="T37" fmla="*/ 27 h 57"/>
                <a:gd name="T38" fmla="*/ 14 w 87"/>
                <a:gd name="T39" fmla="*/ 28 h 57"/>
                <a:gd name="T40" fmla="*/ 29 w 87"/>
                <a:gd name="T41" fmla="*/ 28 h 57"/>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87"/>
                <a:gd name="T64" fmla="*/ 0 h 57"/>
                <a:gd name="T65" fmla="*/ 87 w 87"/>
                <a:gd name="T66" fmla="*/ 57 h 57"/>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87" h="57">
                  <a:moveTo>
                    <a:pt x="58" y="57"/>
                  </a:moveTo>
                  <a:lnTo>
                    <a:pt x="70" y="54"/>
                  </a:lnTo>
                  <a:lnTo>
                    <a:pt x="79" y="49"/>
                  </a:lnTo>
                  <a:lnTo>
                    <a:pt x="85" y="39"/>
                  </a:lnTo>
                  <a:lnTo>
                    <a:pt x="87" y="29"/>
                  </a:lnTo>
                  <a:lnTo>
                    <a:pt x="85" y="18"/>
                  </a:lnTo>
                  <a:lnTo>
                    <a:pt x="79" y="8"/>
                  </a:lnTo>
                  <a:lnTo>
                    <a:pt x="70" y="3"/>
                  </a:lnTo>
                  <a:lnTo>
                    <a:pt x="58" y="0"/>
                  </a:lnTo>
                  <a:lnTo>
                    <a:pt x="29" y="0"/>
                  </a:lnTo>
                  <a:lnTo>
                    <a:pt x="18" y="3"/>
                  </a:lnTo>
                  <a:lnTo>
                    <a:pt x="8" y="8"/>
                  </a:lnTo>
                  <a:lnTo>
                    <a:pt x="3" y="18"/>
                  </a:lnTo>
                  <a:lnTo>
                    <a:pt x="0" y="29"/>
                  </a:lnTo>
                  <a:lnTo>
                    <a:pt x="3" y="39"/>
                  </a:lnTo>
                  <a:lnTo>
                    <a:pt x="8" y="49"/>
                  </a:lnTo>
                  <a:lnTo>
                    <a:pt x="18" y="54"/>
                  </a:lnTo>
                  <a:lnTo>
                    <a:pt x="29" y="57"/>
                  </a:lnTo>
                  <a:lnTo>
                    <a:pt x="58" y="57"/>
                  </a:lnTo>
                  <a:close/>
                </a:path>
              </a:pathLst>
            </a:custGeom>
            <a:solidFill>
              <a:srgbClr val="000000"/>
            </a:solidFill>
            <a:ln w="9525">
              <a:noFill/>
              <a:round/>
            </a:ln>
          </p:spPr>
          <p:txBody>
            <a:bodyPr/>
            <a:lstStyle/>
            <a:p>
              <a:endParaRPr lang="en-US"/>
            </a:p>
          </p:txBody>
        </p:sp>
        <p:sp>
          <p:nvSpPr>
            <p:cNvPr id="1048870" name="Freeform 163"/>
            <p:cNvSpPr/>
            <p:nvPr/>
          </p:nvSpPr>
          <p:spPr bwMode="auto">
            <a:xfrm>
              <a:off x="2183" y="3723"/>
              <a:ext cx="274" cy="204"/>
            </a:xfrm>
            <a:custGeom>
              <a:avLst/>
              <a:gdLst>
                <a:gd name="T0" fmla="*/ 4 w 547"/>
                <a:gd name="T1" fmla="*/ 0 h 406"/>
                <a:gd name="T2" fmla="*/ 3 w 547"/>
                <a:gd name="T3" fmla="*/ 0 h 406"/>
                <a:gd name="T4" fmla="*/ 2 w 547"/>
                <a:gd name="T5" fmla="*/ 0 h 406"/>
                <a:gd name="T6" fmla="*/ 1 w 547"/>
                <a:gd name="T7" fmla="*/ 1 h 406"/>
                <a:gd name="T8" fmla="*/ 0 w 547"/>
                <a:gd name="T9" fmla="*/ 1 h 406"/>
                <a:gd name="T10" fmla="*/ 147 w 547"/>
                <a:gd name="T11" fmla="*/ 204 h 406"/>
                <a:gd name="T12" fmla="*/ 274 w 547"/>
                <a:gd name="T13" fmla="*/ 204 h 406"/>
                <a:gd name="T14" fmla="*/ 31 w 547"/>
                <a:gd name="T15" fmla="*/ 0 h 406"/>
                <a:gd name="T16" fmla="*/ 25 w 547"/>
                <a:gd name="T17" fmla="*/ 0 h 406"/>
                <a:gd name="T18" fmla="*/ 20 w 547"/>
                <a:gd name="T19" fmla="*/ 0 h 406"/>
                <a:gd name="T20" fmla="*/ 15 w 547"/>
                <a:gd name="T21" fmla="*/ 0 h 406"/>
                <a:gd name="T22" fmla="*/ 11 w 547"/>
                <a:gd name="T23" fmla="*/ 0 h 406"/>
                <a:gd name="T24" fmla="*/ 8 w 547"/>
                <a:gd name="T25" fmla="*/ 0 h 406"/>
                <a:gd name="T26" fmla="*/ 5 w 547"/>
                <a:gd name="T27" fmla="*/ 0 h 406"/>
                <a:gd name="T28" fmla="*/ 4 w 547"/>
                <a:gd name="T29" fmla="*/ 0 h 406"/>
                <a:gd name="T30" fmla="*/ 4 w 547"/>
                <a:gd name="T31" fmla="*/ 0 h 40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547"/>
                <a:gd name="T49" fmla="*/ 0 h 406"/>
                <a:gd name="T50" fmla="*/ 547 w 547"/>
                <a:gd name="T51" fmla="*/ 406 h 40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547" h="406">
                  <a:moveTo>
                    <a:pt x="7" y="0"/>
                  </a:moveTo>
                  <a:lnTo>
                    <a:pt x="5" y="0"/>
                  </a:lnTo>
                  <a:lnTo>
                    <a:pt x="4" y="0"/>
                  </a:lnTo>
                  <a:lnTo>
                    <a:pt x="2" y="1"/>
                  </a:lnTo>
                  <a:lnTo>
                    <a:pt x="0" y="2"/>
                  </a:lnTo>
                  <a:lnTo>
                    <a:pt x="294" y="406"/>
                  </a:lnTo>
                  <a:lnTo>
                    <a:pt x="547" y="406"/>
                  </a:lnTo>
                  <a:lnTo>
                    <a:pt x="62" y="0"/>
                  </a:lnTo>
                  <a:lnTo>
                    <a:pt x="49" y="0"/>
                  </a:lnTo>
                  <a:lnTo>
                    <a:pt x="39" y="0"/>
                  </a:lnTo>
                  <a:lnTo>
                    <a:pt x="30" y="0"/>
                  </a:lnTo>
                  <a:lnTo>
                    <a:pt x="22" y="0"/>
                  </a:lnTo>
                  <a:lnTo>
                    <a:pt x="15" y="0"/>
                  </a:lnTo>
                  <a:lnTo>
                    <a:pt x="10" y="0"/>
                  </a:lnTo>
                  <a:lnTo>
                    <a:pt x="8" y="0"/>
                  </a:lnTo>
                  <a:lnTo>
                    <a:pt x="7" y="0"/>
                  </a:lnTo>
                  <a:close/>
                </a:path>
              </a:pathLst>
            </a:custGeom>
            <a:solidFill>
              <a:srgbClr val="FFDB82"/>
            </a:solidFill>
            <a:ln w="9525">
              <a:noFill/>
              <a:round/>
            </a:ln>
          </p:spPr>
          <p:txBody>
            <a:bodyPr/>
            <a:lstStyle/>
            <a:p>
              <a:endParaRPr lang="en-US"/>
            </a:p>
          </p:txBody>
        </p:sp>
        <p:sp>
          <p:nvSpPr>
            <p:cNvPr id="1048871" name="Freeform 164"/>
            <p:cNvSpPr/>
            <p:nvPr/>
          </p:nvSpPr>
          <p:spPr bwMode="auto">
            <a:xfrm>
              <a:off x="2512" y="3727"/>
              <a:ext cx="68" cy="88"/>
            </a:xfrm>
            <a:custGeom>
              <a:avLst/>
              <a:gdLst>
                <a:gd name="T0" fmla="*/ 9 w 136"/>
                <a:gd name="T1" fmla="*/ 0 h 175"/>
                <a:gd name="T2" fmla="*/ 8 w 136"/>
                <a:gd name="T3" fmla="*/ 1 h 175"/>
                <a:gd name="T4" fmla="*/ 3 w 136"/>
                <a:gd name="T5" fmla="*/ 4 h 175"/>
                <a:gd name="T6" fmla="*/ 0 w 136"/>
                <a:gd name="T7" fmla="*/ 11 h 175"/>
                <a:gd name="T8" fmla="*/ 0 w 136"/>
                <a:gd name="T9" fmla="*/ 23 h 175"/>
                <a:gd name="T10" fmla="*/ 1 w 136"/>
                <a:gd name="T11" fmla="*/ 31 h 175"/>
                <a:gd name="T12" fmla="*/ 4 w 136"/>
                <a:gd name="T13" fmla="*/ 39 h 175"/>
                <a:gd name="T14" fmla="*/ 6 w 136"/>
                <a:gd name="T15" fmla="*/ 48 h 175"/>
                <a:gd name="T16" fmla="*/ 10 w 136"/>
                <a:gd name="T17" fmla="*/ 56 h 175"/>
                <a:gd name="T18" fmla="*/ 13 w 136"/>
                <a:gd name="T19" fmla="*/ 64 h 175"/>
                <a:gd name="T20" fmla="*/ 18 w 136"/>
                <a:gd name="T21" fmla="*/ 71 h 175"/>
                <a:gd name="T22" fmla="*/ 22 w 136"/>
                <a:gd name="T23" fmla="*/ 77 h 175"/>
                <a:gd name="T24" fmla="*/ 26 w 136"/>
                <a:gd name="T25" fmla="*/ 81 h 175"/>
                <a:gd name="T26" fmla="*/ 30 w 136"/>
                <a:gd name="T27" fmla="*/ 83 h 175"/>
                <a:gd name="T28" fmla="*/ 36 w 136"/>
                <a:gd name="T29" fmla="*/ 85 h 175"/>
                <a:gd name="T30" fmla="*/ 42 w 136"/>
                <a:gd name="T31" fmla="*/ 87 h 175"/>
                <a:gd name="T32" fmla="*/ 49 w 136"/>
                <a:gd name="T33" fmla="*/ 88 h 175"/>
                <a:gd name="T34" fmla="*/ 54 w 136"/>
                <a:gd name="T35" fmla="*/ 88 h 175"/>
                <a:gd name="T36" fmla="*/ 60 w 136"/>
                <a:gd name="T37" fmla="*/ 87 h 175"/>
                <a:gd name="T38" fmla="*/ 65 w 136"/>
                <a:gd name="T39" fmla="*/ 84 h 175"/>
                <a:gd name="T40" fmla="*/ 68 w 136"/>
                <a:gd name="T41" fmla="*/ 81 h 175"/>
                <a:gd name="T42" fmla="*/ 66 w 136"/>
                <a:gd name="T43" fmla="*/ 78 h 175"/>
                <a:gd name="T44" fmla="*/ 61 w 136"/>
                <a:gd name="T45" fmla="*/ 69 h 175"/>
                <a:gd name="T46" fmla="*/ 54 w 136"/>
                <a:gd name="T47" fmla="*/ 58 h 175"/>
                <a:gd name="T48" fmla="*/ 45 w 136"/>
                <a:gd name="T49" fmla="*/ 44 h 175"/>
                <a:gd name="T50" fmla="*/ 35 w 136"/>
                <a:gd name="T51" fmla="*/ 29 h 175"/>
                <a:gd name="T52" fmla="*/ 26 w 136"/>
                <a:gd name="T53" fmla="*/ 16 h 175"/>
                <a:gd name="T54" fmla="*/ 17 w 136"/>
                <a:gd name="T55" fmla="*/ 6 h 175"/>
                <a:gd name="T56" fmla="*/ 9 w 136"/>
                <a:gd name="T57" fmla="*/ 0 h 175"/>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136"/>
                <a:gd name="T88" fmla="*/ 0 h 175"/>
                <a:gd name="T89" fmla="*/ 136 w 136"/>
                <a:gd name="T90" fmla="*/ 175 h 175"/>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136" h="175">
                  <a:moveTo>
                    <a:pt x="19" y="0"/>
                  </a:moveTo>
                  <a:lnTo>
                    <a:pt x="16" y="1"/>
                  </a:lnTo>
                  <a:lnTo>
                    <a:pt x="7" y="8"/>
                  </a:lnTo>
                  <a:lnTo>
                    <a:pt x="0" y="22"/>
                  </a:lnTo>
                  <a:lnTo>
                    <a:pt x="0" y="46"/>
                  </a:lnTo>
                  <a:lnTo>
                    <a:pt x="3" y="62"/>
                  </a:lnTo>
                  <a:lnTo>
                    <a:pt x="8" y="78"/>
                  </a:lnTo>
                  <a:lnTo>
                    <a:pt x="13" y="95"/>
                  </a:lnTo>
                  <a:lnTo>
                    <a:pt x="20" y="111"/>
                  </a:lnTo>
                  <a:lnTo>
                    <a:pt x="27" y="128"/>
                  </a:lnTo>
                  <a:lnTo>
                    <a:pt x="37" y="141"/>
                  </a:lnTo>
                  <a:lnTo>
                    <a:pt x="45" y="153"/>
                  </a:lnTo>
                  <a:lnTo>
                    <a:pt x="53" y="161"/>
                  </a:lnTo>
                  <a:lnTo>
                    <a:pt x="61" y="166"/>
                  </a:lnTo>
                  <a:lnTo>
                    <a:pt x="72" y="170"/>
                  </a:lnTo>
                  <a:lnTo>
                    <a:pt x="84" y="174"/>
                  </a:lnTo>
                  <a:lnTo>
                    <a:pt x="98" y="175"/>
                  </a:lnTo>
                  <a:lnTo>
                    <a:pt x="109" y="175"/>
                  </a:lnTo>
                  <a:lnTo>
                    <a:pt x="121" y="173"/>
                  </a:lnTo>
                  <a:lnTo>
                    <a:pt x="130" y="168"/>
                  </a:lnTo>
                  <a:lnTo>
                    <a:pt x="136" y="161"/>
                  </a:lnTo>
                  <a:lnTo>
                    <a:pt x="132" y="155"/>
                  </a:lnTo>
                  <a:lnTo>
                    <a:pt x="122" y="138"/>
                  </a:lnTo>
                  <a:lnTo>
                    <a:pt x="108" y="115"/>
                  </a:lnTo>
                  <a:lnTo>
                    <a:pt x="90" y="87"/>
                  </a:lnTo>
                  <a:lnTo>
                    <a:pt x="71" y="58"/>
                  </a:lnTo>
                  <a:lnTo>
                    <a:pt x="52" y="32"/>
                  </a:lnTo>
                  <a:lnTo>
                    <a:pt x="34" y="11"/>
                  </a:lnTo>
                  <a:lnTo>
                    <a:pt x="19" y="0"/>
                  </a:lnTo>
                  <a:close/>
                </a:path>
              </a:pathLst>
            </a:custGeom>
            <a:solidFill>
              <a:srgbClr val="000000"/>
            </a:solidFill>
            <a:ln w="9525">
              <a:noFill/>
              <a:round/>
            </a:ln>
          </p:spPr>
          <p:txBody>
            <a:bodyPr/>
            <a:lstStyle/>
            <a:p>
              <a:endParaRPr lang="en-US"/>
            </a:p>
          </p:txBody>
        </p:sp>
        <p:sp>
          <p:nvSpPr>
            <p:cNvPr id="1048872" name="Freeform 165"/>
            <p:cNvSpPr/>
            <p:nvPr/>
          </p:nvSpPr>
          <p:spPr bwMode="auto">
            <a:xfrm>
              <a:off x="2525" y="3898"/>
              <a:ext cx="89" cy="90"/>
            </a:xfrm>
            <a:custGeom>
              <a:avLst/>
              <a:gdLst>
                <a:gd name="T0" fmla="*/ 44 w 179"/>
                <a:gd name="T1" fmla="*/ 90 h 180"/>
                <a:gd name="T2" fmla="*/ 53 w 179"/>
                <a:gd name="T3" fmla="*/ 89 h 180"/>
                <a:gd name="T4" fmla="*/ 61 w 179"/>
                <a:gd name="T5" fmla="*/ 87 h 180"/>
                <a:gd name="T6" fmla="*/ 70 w 179"/>
                <a:gd name="T7" fmla="*/ 83 h 180"/>
                <a:gd name="T8" fmla="*/ 76 w 179"/>
                <a:gd name="T9" fmla="*/ 77 h 180"/>
                <a:gd name="T10" fmla="*/ 82 w 179"/>
                <a:gd name="T11" fmla="*/ 70 h 180"/>
                <a:gd name="T12" fmla="*/ 86 w 179"/>
                <a:gd name="T13" fmla="*/ 62 h 180"/>
                <a:gd name="T14" fmla="*/ 88 w 179"/>
                <a:gd name="T15" fmla="*/ 54 h 180"/>
                <a:gd name="T16" fmla="*/ 89 w 179"/>
                <a:gd name="T17" fmla="*/ 45 h 180"/>
                <a:gd name="T18" fmla="*/ 88 w 179"/>
                <a:gd name="T19" fmla="*/ 36 h 180"/>
                <a:gd name="T20" fmla="*/ 86 w 179"/>
                <a:gd name="T21" fmla="*/ 27 h 180"/>
                <a:gd name="T22" fmla="*/ 82 w 179"/>
                <a:gd name="T23" fmla="*/ 20 h 180"/>
                <a:gd name="T24" fmla="*/ 76 w 179"/>
                <a:gd name="T25" fmla="*/ 13 h 180"/>
                <a:gd name="T26" fmla="*/ 70 w 179"/>
                <a:gd name="T27" fmla="*/ 7 h 180"/>
                <a:gd name="T28" fmla="*/ 61 w 179"/>
                <a:gd name="T29" fmla="*/ 3 h 180"/>
                <a:gd name="T30" fmla="*/ 53 w 179"/>
                <a:gd name="T31" fmla="*/ 1 h 180"/>
                <a:gd name="T32" fmla="*/ 44 w 179"/>
                <a:gd name="T33" fmla="*/ 0 h 180"/>
                <a:gd name="T34" fmla="*/ 35 w 179"/>
                <a:gd name="T35" fmla="*/ 1 h 180"/>
                <a:gd name="T36" fmla="*/ 27 w 179"/>
                <a:gd name="T37" fmla="*/ 3 h 180"/>
                <a:gd name="T38" fmla="*/ 19 w 179"/>
                <a:gd name="T39" fmla="*/ 7 h 180"/>
                <a:gd name="T40" fmla="*/ 13 w 179"/>
                <a:gd name="T41" fmla="*/ 13 h 180"/>
                <a:gd name="T42" fmla="*/ 7 w 179"/>
                <a:gd name="T43" fmla="*/ 20 h 180"/>
                <a:gd name="T44" fmla="*/ 3 w 179"/>
                <a:gd name="T45" fmla="*/ 27 h 180"/>
                <a:gd name="T46" fmla="*/ 1 w 179"/>
                <a:gd name="T47" fmla="*/ 36 h 180"/>
                <a:gd name="T48" fmla="*/ 0 w 179"/>
                <a:gd name="T49" fmla="*/ 45 h 180"/>
                <a:gd name="T50" fmla="*/ 1 w 179"/>
                <a:gd name="T51" fmla="*/ 54 h 180"/>
                <a:gd name="T52" fmla="*/ 3 w 179"/>
                <a:gd name="T53" fmla="*/ 62 h 180"/>
                <a:gd name="T54" fmla="*/ 7 w 179"/>
                <a:gd name="T55" fmla="*/ 70 h 180"/>
                <a:gd name="T56" fmla="*/ 13 w 179"/>
                <a:gd name="T57" fmla="*/ 77 h 180"/>
                <a:gd name="T58" fmla="*/ 19 w 179"/>
                <a:gd name="T59" fmla="*/ 83 h 180"/>
                <a:gd name="T60" fmla="*/ 27 w 179"/>
                <a:gd name="T61" fmla="*/ 87 h 180"/>
                <a:gd name="T62" fmla="*/ 35 w 179"/>
                <a:gd name="T63" fmla="*/ 89 h 180"/>
                <a:gd name="T64" fmla="*/ 44 w 179"/>
                <a:gd name="T65" fmla="*/ 90 h 180"/>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79"/>
                <a:gd name="T100" fmla="*/ 0 h 180"/>
                <a:gd name="T101" fmla="*/ 179 w 179"/>
                <a:gd name="T102" fmla="*/ 180 h 180"/>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79" h="180">
                  <a:moveTo>
                    <a:pt x="89" y="180"/>
                  </a:moveTo>
                  <a:lnTo>
                    <a:pt x="107" y="177"/>
                  </a:lnTo>
                  <a:lnTo>
                    <a:pt x="123" y="173"/>
                  </a:lnTo>
                  <a:lnTo>
                    <a:pt x="140" y="165"/>
                  </a:lnTo>
                  <a:lnTo>
                    <a:pt x="152" y="153"/>
                  </a:lnTo>
                  <a:lnTo>
                    <a:pt x="164" y="140"/>
                  </a:lnTo>
                  <a:lnTo>
                    <a:pt x="172" y="124"/>
                  </a:lnTo>
                  <a:lnTo>
                    <a:pt x="176" y="108"/>
                  </a:lnTo>
                  <a:lnTo>
                    <a:pt x="179" y="90"/>
                  </a:lnTo>
                  <a:lnTo>
                    <a:pt x="176" y="71"/>
                  </a:lnTo>
                  <a:lnTo>
                    <a:pt x="172" y="55"/>
                  </a:lnTo>
                  <a:lnTo>
                    <a:pt x="164" y="39"/>
                  </a:lnTo>
                  <a:lnTo>
                    <a:pt x="152" y="26"/>
                  </a:lnTo>
                  <a:lnTo>
                    <a:pt x="140" y="15"/>
                  </a:lnTo>
                  <a:lnTo>
                    <a:pt x="123" y="7"/>
                  </a:lnTo>
                  <a:lnTo>
                    <a:pt x="107" y="2"/>
                  </a:lnTo>
                  <a:lnTo>
                    <a:pt x="89" y="0"/>
                  </a:lnTo>
                  <a:lnTo>
                    <a:pt x="70" y="2"/>
                  </a:lnTo>
                  <a:lnTo>
                    <a:pt x="54" y="7"/>
                  </a:lnTo>
                  <a:lnTo>
                    <a:pt x="39" y="15"/>
                  </a:lnTo>
                  <a:lnTo>
                    <a:pt x="26" y="26"/>
                  </a:lnTo>
                  <a:lnTo>
                    <a:pt x="15" y="39"/>
                  </a:lnTo>
                  <a:lnTo>
                    <a:pt x="7" y="55"/>
                  </a:lnTo>
                  <a:lnTo>
                    <a:pt x="2" y="71"/>
                  </a:lnTo>
                  <a:lnTo>
                    <a:pt x="0" y="90"/>
                  </a:lnTo>
                  <a:lnTo>
                    <a:pt x="2" y="108"/>
                  </a:lnTo>
                  <a:lnTo>
                    <a:pt x="7" y="124"/>
                  </a:lnTo>
                  <a:lnTo>
                    <a:pt x="15" y="140"/>
                  </a:lnTo>
                  <a:lnTo>
                    <a:pt x="26" y="153"/>
                  </a:lnTo>
                  <a:lnTo>
                    <a:pt x="39" y="165"/>
                  </a:lnTo>
                  <a:lnTo>
                    <a:pt x="54" y="173"/>
                  </a:lnTo>
                  <a:lnTo>
                    <a:pt x="70" y="177"/>
                  </a:lnTo>
                  <a:lnTo>
                    <a:pt x="89" y="180"/>
                  </a:lnTo>
                  <a:close/>
                </a:path>
              </a:pathLst>
            </a:custGeom>
            <a:solidFill>
              <a:srgbClr val="000000"/>
            </a:solidFill>
            <a:ln w="9525">
              <a:noFill/>
              <a:round/>
            </a:ln>
          </p:spPr>
          <p:txBody>
            <a:bodyPr/>
            <a:lstStyle/>
            <a:p>
              <a:endParaRPr lang="en-US"/>
            </a:p>
          </p:txBody>
        </p:sp>
        <p:sp>
          <p:nvSpPr>
            <p:cNvPr id="1048873" name="Freeform 166"/>
            <p:cNvSpPr/>
            <p:nvPr/>
          </p:nvSpPr>
          <p:spPr bwMode="auto">
            <a:xfrm>
              <a:off x="2201" y="3898"/>
              <a:ext cx="90" cy="90"/>
            </a:xfrm>
            <a:custGeom>
              <a:avLst/>
              <a:gdLst>
                <a:gd name="T0" fmla="*/ 45 w 179"/>
                <a:gd name="T1" fmla="*/ 90 h 180"/>
                <a:gd name="T2" fmla="*/ 54 w 179"/>
                <a:gd name="T3" fmla="*/ 89 h 180"/>
                <a:gd name="T4" fmla="*/ 62 w 179"/>
                <a:gd name="T5" fmla="*/ 87 h 180"/>
                <a:gd name="T6" fmla="*/ 70 w 179"/>
                <a:gd name="T7" fmla="*/ 83 h 180"/>
                <a:gd name="T8" fmla="*/ 77 w 179"/>
                <a:gd name="T9" fmla="*/ 77 h 180"/>
                <a:gd name="T10" fmla="*/ 82 w 179"/>
                <a:gd name="T11" fmla="*/ 70 h 180"/>
                <a:gd name="T12" fmla="*/ 86 w 179"/>
                <a:gd name="T13" fmla="*/ 62 h 180"/>
                <a:gd name="T14" fmla="*/ 89 w 179"/>
                <a:gd name="T15" fmla="*/ 54 h 180"/>
                <a:gd name="T16" fmla="*/ 90 w 179"/>
                <a:gd name="T17" fmla="*/ 45 h 180"/>
                <a:gd name="T18" fmla="*/ 89 w 179"/>
                <a:gd name="T19" fmla="*/ 36 h 180"/>
                <a:gd name="T20" fmla="*/ 86 w 179"/>
                <a:gd name="T21" fmla="*/ 27 h 180"/>
                <a:gd name="T22" fmla="*/ 82 w 179"/>
                <a:gd name="T23" fmla="*/ 20 h 180"/>
                <a:gd name="T24" fmla="*/ 77 w 179"/>
                <a:gd name="T25" fmla="*/ 13 h 180"/>
                <a:gd name="T26" fmla="*/ 70 w 179"/>
                <a:gd name="T27" fmla="*/ 7 h 180"/>
                <a:gd name="T28" fmla="*/ 62 w 179"/>
                <a:gd name="T29" fmla="*/ 3 h 180"/>
                <a:gd name="T30" fmla="*/ 54 w 179"/>
                <a:gd name="T31" fmla="*/ 1 h 180"/>
                <a:gd name="T32" fmla="*/ 45 w 179"/>
                <a:gd name="T33" fmla="*/ 0 h 180"/>
                <a:gd name="T34" fmla="*/ 36 w 179"/>
                <a:gd name="T35" fmla="*/ 1 h 180"/>
                <a:gd name="T36" fmla="*/ 28 w 179"/>
                <a:gd name="T37" fmla="*/ 3 h 180"/>
                <a:gd name="T38" fmla="*/ 20 w 179"/>
                <a:gd name="T39" fmla="*/ 7 h 180"/>
                <a:gd name="T40" fmla="*/ 13 w 179"/>
                <a:gd name="T41" fmla="*/ 13 h 180"/>
                <a:gd name="T42" fmla="*/ 8 w 179"/>
                <a:gd name="T43" fmla="*/ 20 h 180"/>
                <a:gd name="T44" fmla="*/ 4 w 179"/>
                <a:gd name="T45" fmla="*/ 27 h 180"/>
                <a:gd name="T46" fmla="*/ 1 w 179"/>
                <a:gd name="T47" fmla="*/ 36 h 180"/>
                <a:gd name="T48" fmla="*/ 0 w 179"/>
                <a:gd name="T49" fmla="*/ 45 h 180"/>
                <a:gd name="T50" fmla="*/ 1 w 179"/>
                <a:gd name="T51" fmla="*/ 54 h 180"/>
                <a:gd name="T52" fmla="*/ 4 w 179"/>
                <a:gd name="T53" fmla="*/ 62 h 180"/>
                <a:gd name="T54" fmla="*/ 8 w 179"/>
                <a:gd name="T55" fmla="*/ 70 h 180"/>
                <a:gd name="T56" fmla="*/ 13 w 179"/>
                <a:gd name="T57" fmla="*/ 77 h 180"/>
                <a:gd name="T58" fmla="*/ 20 w 179"/>
                <a:gd name="T59" fmla="*/ 83 h 180"/>
                <a:gd name="T60" fmla="*/ 28 w 179"/>
                <a:gd name="T61" fmla="*/ 87 h 180"/>
                <a:gd name="T62" fmla="*/ 36 w 179"/>
                <a:gd name="T63" fmla="*/ 89 h 180"/>
                <a:gd name="T64" fmla="*/ 45 w 179"/>
                <a:gd name="T65" fmla="*/ 90 h 180"/>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79"/>
                <a:gd name="T100" fmla="*/ 0 h 180"/>
                <a:gd name="T101" fmla="*/ 179 w 179"/>
                <a:gd name="T102" fmla="*/ 180 h 180"/>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79" h="180">
                  <a:moveTo>
                    <a:pt x="89" y="180"/>
                  </a:moveTo>
                  <a:lnTo>
                    <a:pt x="108" y="177"/>
                  </a:lnTo>
                  <a:lnTo>
                    <a:pt x="124" y="173"/>
                  </a:lnTo>
                  <a:lnTo>
                    <a:pt x="140" y="165"/>
                  </a:lnTo>
                  <a:lnTo>
                    <a:pt x="153" y="153"/>
                  </a:lnTo>
                  <a:lnTo>
                    <a:pt x="164" y="140"/>
                  </a:lnTo>
                  <a:lnTo>
                    <a:pt x="172" y="124"/>
                  </a:lnTo>
                  <a:lnTo>
                    <a:pt x="177" y="108"/>
                  </a:lnTo>
                  <a:lnTo>
                    <a:pt x="179" y="90"/>
                  </a:lnTo>
                  <a:lnTo>
                    <a:pt x="177" y="71"/>
                  </a:lnTo>
                  <a:lnTo>
                    <a:pt x="172" y="55"/>
                  </a:lnTo>
                  <a:lnTo>
                    <a:pt x="164" y="39"/>
                  </a:lnTo>
                  <a:lnTo>
                    <a:pt x="153" y="26"/>
                  </a:lnTo>
                  <a:lnTo>
                    <a:pt x="140" y="15"/>
                  </a:lnTo>
                  <a:lnTo>
                    <a:pt x="124" y="7"/>
                  </a:lnTo>
                  <a:lnTo>
                    <a:pt x="108" y="2"/>
                  </a:lnTo>
                  <a:lnTo>
                    <a:pt x="89" y="0"/>
                  </a:lnTo>
                  <a:lnTo>
                    <a:pt x="71" y="2"/>
                  </a:lnTo>
                  <a:lnTo>
                    <a:pt x="55" y="7"/>
                  </a:lnTo>
                  <a:lnTo>
                    <a:pt x="39" y="15"/>
                  </a:lnTo>
                  <a:lnTo>
                    <a:pt x="26" y="26"/>
                  </a:lnTo>
                  <a:lnTo>
                    <a:pt x="15" y="39"/>
                  </a:lnTo>
                  <a:lnTo>
                    <a:pt x="7" y="55"/>
                  </a:lnTo>
                  <a:lnTo>
                    <a:pt x="2" y="71"/>
                  </a:lnTo>
                  <a:lnTo>
                    <a:pt x="0" y="90"/>
                  </a:lnTo>
                  <a:lnTo>
                    <a:pt x="2" y="108"/>
                  </a:lnTo>
                  <a:lnTo>
                    <a:pt x="7" y="124"/>
                  </a:lnTo>
                  <a:lnTo>
                    <a:pt x="15" y="140"/>
                  </a:lnTo>
                  <a:lnTo>
                    <a:pt x="26" y="153"/>
                  </a:lnTo>
                  <a:lnTo>
                    <a:pt x="39" y="165"/>
                  </a:lnTo>
                  <a:lnTo>
                    <a:pt x="55" y="173"/>
                  </a:lnTo>
                  <a:lnTo>
                    <a:pt x="71" y="177"/>
                  </a:lnTo>
                  <a:lnTo>
                    <a:pt x="89" y="180"/>
                  </a:lnTo>
                  <a:close/>
                </a:path>
              </a:pathLst>
            </a:custGeom>
            <a:solidFill>
              <a:srgbClr val="000000"/>
            </a:solidFill>
            <a:ln w="9525">
              <a:noFill/>
              <a:round/>
            </a:ln>
          </p:spPr>
          <p:txBody>
            <a:bodyPr/>
            <a:lstStyle/>
            <a:p>
              <a:endParaRPr lang="en-US"/>
            </a:p>
          </p:txBody>
        </p:sp>
        <p:sp>
          <p:nvSpPr>
            <p:cNvPr id="1048874" name="Freeform 167"/>
            <p:cNvSpPr/>
            <p:nvPr/>
          </p:nvSpPr>
          <p:spPr bwMode="auto">
            <a:xfrm>
              <a:off x="2227" y="3924"/>
              <a:ext cx="38" cy="37"/>
            </a:xfrm>
            <a:custGeom>
              <a:avLst/>
              <a:gdLst>
                <a:gd name="T0" fmla="*/ 19 w 75"/>
                <a:gd name="T1" fmla="*/ 37 h 75"/>
                <a:gd name="T2" fmla="*/ 24 w 75"/>
                <a:gd name="T3" fmla="*/ 36 h 75"/>
                <a:gd name="T4" fmla="*/ 27 w 75"/>
                <a:gd name="T5" fmla="*/ 36 h 75"/>
                <a:gd name="T6" fmla="*/ 30 w 75"/>
                <a:gd name="T7" fmla="*/ 34 h 75"/>
                <a:gd name="T8" fmla="*/ 33 w 75"/>
                <a:gd name="T9" fmla="*/ 32 h 75"/>
                <a:gd name="T10" fmla="*/ 35 w 75"/>
                <a:gd name="T11" fmla="*/ 29 h 75"/>
                <a:gd name="T12" fmla="*/ 37 w 75"/>
                <a:gd name="T13" fmla="*/ 26 h 75"/>
                <a:gd name="T14" fmla="*/ 37 w 75"/>
                <a:gd name="T15" fmla="*/ 23 h 75"/>
                <a:gd name="T16" fmla="*/ 38 w 75"/>
                <a:gd name="T17" fmla="*/ 19 h 75"/>
                <a:gd name="T18" fmla="*/ 37 w 75"/>
                <a:gd name="T19" fmla="*/ 15 h 75"/>
                <a:gd name="T20" fmla="*/ 37 w 75"/>
                <a:gd name="T21" fmla="*/ 11 h 75"/>
                <a:gd name="T22" fmla="*/ 35 w 75"/>
                <a:gd name="T23" fmla="*/ 8 h 75"/>
                <a:gd name="T24" fmla="*/ 33 w 75"/>
                <a:gd name="T25" fmla="*/ 5 h 75"/>
                <a:gd name="T26" fmla="*/ 30 w 75"/>
                <a:gd name="T27" fmla="*/ 3 h 75"/>
                <a:gd name="T28" fmla="*/ 27 w 75"/>
                <a:gd name="T29" fmla="*/ 1 h 75"/>
                <a:gd name="T30" fmla="*/ 24 w 75"/>
                <a:gd name="T31" fmla="*/ 0 h 75"/>
                <a:gd name="T32" fmla="*/ 19 w 75"/>
                <a:gd name="T33" fmla="*/ 0 h 75"/>
                <a:gd name="T34" fmla="*/ 15 w 75"/>
                <a:gd name="T35" fmla="*/ 0 h 75"/>
                <a:gd name="T36" fmla="*/ 12 w 75"/>
                <a:gd name="T37" fmla="*/ 1 h 75"/>
                <a:gd name="T38" fmla="*/ 9 w 75"/>
                <a:gd name="T39" fmla="*/ 3 h 75"/>
                <a:gd name="T40" fmla="*/ 6 w 75"/>
                <a:gd name="T41" fmla="*/ 5 h 75"/>
                <a:gd name="T42" fmla="*/ 4 w 75"/>
                <a:gd name="T43" fmla="*/ 8 h 75"/>
                <a:gd name="T44" fmla="*/ 2 w 75"/>
                <a:gd name="T45" fmla="*/ 11 h 75"/>
                <a:gd name="T46" fmla="*/ 1 w 75"/>
                <a:gd name="T47" fmla="*/ 15 h 75"/>
                <a:gd name="T48" fmla="*/ 0 w 75"/>
                <a:gd name="T49" fmla="*/ 19 h 75"/>
                <a:gd name="T50" fmla="*/ 1 w 75"/>
                <a:gd name="T51" fmla="*/ 23 h 75"/>
                <a:gd name="T52" fmla="*/ 2 w 75"/>
                <a:gd name="T53" fmla="*/ 26 h 75"/>
                <a:gd name="T54" fmla="*/ 4 w 75"/>
                <a:gd name="T55" fmla="*/ 29 h 75"/>
                <a:gd name="T56" fmla="*/ 6 w 75"/>
                <a:gd name="T57" fmla="*/ 32 h 75"/>
                <a:gd name="T58" fmla="*/ 9 w 75"/>
                <a:gd name="T59" fmla="*/ 34 h 75"/>
                <a:gd name="T60" fmla="*/ 12 w 75"/>
                <a:gd name="T61" fmla="*/ 36 h 75"/>
                <a:gd name="T62" fmla="*/ 15 w 75"/>
                <a:gd name="T63" fmla="*/ 36 h 75"/>
                <a:gd name="T64" fmla="*/ 19 w 75"/>
                <a:gd name="T65" fmla="*/ 37 h 75"/>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75"/>
                <a:gd name="T100" fmla="*/ 0 h 75"/>
                <a:gd name="T101" fmla="*/ 75 w 75"/>
                <a:gd name="T102" fmla="*/ 75 h 75"/>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75" h="75">
                  <a:moveTo>
                    <a:pt x="38" y="75"/>
                  </a:moveTo>
                  <a:lnTo>
                    <a:pt x="47" y="73"/>
                  </a:lnTo>
                  <a:lnTo>
                    <a:pt x="53" y="72"/>
                  </a:lnTo>
                  <a:lnTo>
                    <a:pt x="59" y="69"/>
                  </a:lnTo>
                  <a:lnTo>
                    <a:pt x="65" y="64"/>
                  </a:lnTo>
                  <a:lnTo>
                    <a:pt x="70" y="58"/>
                  </a:lnTo>
                  <a:lnTo>
                    <a:pt x="73" y="53"/>
                  </a:lnTo>
                  <a:lnTo>
                    <a:pt x="74" y="46"/>
                  </a:lnTo>
                  <a:lnTo>
                    <a:pt x="75" y="38"/>
                  </a:lnTo>
                  <a:lnTo>
                    <a:pt x="74" y="30"/>
                  </a:lnTo>
                  <a:lnTo>
                    <a:pt x="73" y="23"/>
                  </a:lnTo>
                  <a:lnTo>
                    <a:pt x="70" y="17"/>
                  </a:lnTo>
                  <a:lnTo>
                    <a:pt x="65" y="11"/>
                  </a:lnTo>
                  <a:lnTo>
                    <a:pt x="59" y="7"/>
                  </a:lnTo>
                  <a:lnTo>
                    <a:pt x="53" y="3"/>
                  </a:lnTo>
                  <a:lnTo>
                    <a:pt x="47" y="1"/>
                  </a:lnTo>
                  <a:lnTo>
                    <a:pt x="38" y="0"/>
                  </a:lnTo>
                  <a:lnTo>
                    <a:pt x="30" y="1"/>
                  </a:lnTo>
                  <a:lnTo>
                    <a:pt x="23" y="3"/>
                  </a:lnTo>
                  <a:lnTo>
                    <a:pt x="18" y="7"/>
                  </a:lnTo>
                  <a:lnTo>
                    <a:pt x="12" y="11"/>
                  </a:lnTo>
                  <a:lnTo>
                    <a:pt x="7" y="17"/>
                  </a:lnTo>
                  <a:lnTo>
                    <a:pt x="4" y="23"/>
                  </a:lnTo>
                  <a:lnTo>
                    <a:pt x="2" y="30"/>
                  </a:lnTo>
                  <a:lnTo>
                    <a:pt x="0" y="38"/>
                  </a:lnTo>
                  <a:lnTo>
                    <a:pt x="2" y="46"/>
                  </a:lnTo>
                  <a:lnTo>
                    <a:pt x="4" y="53"/>
                  </a:lnTo>
                  <a:lnTo>
                    <a:pt x="7" y="58"/>
                  </a:lnTo>
                  <a:lnTo>
                    <a:pt x="12" y="64"/>
                  </a:lnTo>
                  <a:lnTo>
                    <a:pt x="18" y="69"/>
                  </a:lnTo>
                  <a:lnTo>
                    <a:pt x="23" y="72"/>
                  </a:lnTo>
                  <a:lnTo>
                    <a:pt x="30" y="73"/>
                  </a:lnTo>
                  <a:lnTo>
                    <a:pt x="38" y="75"/>
                  </a:lnTo>
                  <a:close/>
                </a:path>
              </a:pathLst>
            </a:custGeom>
            <a:solidFill>
              <a:srgbClr val="7FFFFF"/>
            </a:solidFill>
            <a:ln w="9525">
              <a:noFill/>
              <a:round/>
            </a:ln>
          </p:spPr>
          <p:txBody>
            <a:bodyPr/>
            <a:lstStyle/>
            <a:p>
              <a:endParaRPr lang="en-US"/>
            </a:p>
          </p:txBody>
        </p:sp>
        <p:sp>
          <p:nvSpPr>
            <p:cNvPr id="1048875" name="Freeform 168"/>
            <p:cNvSpPr/>
            <p:nvPr/>
          </p:nvSpPr>
          <p:spPr bwMode="auto">
            <a:xfrm>
              <a:off x="2238" y="3935"/>
              <a:ext cx="16" cy="16"/>
            </a:xfrm>
            <a:custGeom>
              <a:avLst/>
              <a:gdLst>
                <a:gd name="T0" fmla="*/ 8 w 33"/>
                <a:gd name="T1" fmla="*/ 16 h 32"/>
                <a:gd name="T2" fmla="*/ 11 w 33"/>
                <a:gd name="T3" fmla="*/ 15 h 32"/>
                <a:gd name="T4" fmla="*/ 14 w 33"/>
                <a:gd name="T5" fmla="*/ 13 h 32"/>
                <a:gd name="T6" fmla="*/ 15 w 33"/>
                <a:gd name="T7" fmla="*/ 11 h 32"/>
                <a:gd name="T8" fmla="*/ 16 w 33"/>
                <a:gd name="T9" fmla="*/ 8 h 32"/>
                <a:gd name="T10" fmla="*/ 15 w 33"/>
                <a:gd name="T11" fmla="*/ 4 h 32"/>
                <a:gd name="T12" fmla="*/ 14 w 33"/>
                <a:gd name="T13" fmla="*/ 2 h 32"/>
                <a:gd name="T14" fmla="*/ 11 w 33"/>
                <a:gd name="T15" fmla="*/ 1 h 32"/>
                <a:gd name="T16" fmla="*/ 8 w 33"/>
                <a:gd name="T17" fmla="*/ 0 h 32"/>
                <a:gd name="T18" fmla="*/ 5 w 33"/>
                <a:gd name="T19" fmla="*/ 1 h 32"/>
                <a:gd name="T20" fmla="*/ 2 w 33"/>
                <a:gd name="T21" fmla="*/ 2 h 32"/>
                <a:gd name="T22" fmla="*/ 0 w 33"/>
                <a:gd name="T23" fmla="*/ 4 h 32"/>
                <a:gd name="T24" fmla="*/ 0 w 33"/>
                <a:gd name="T25" fmla="*/ 8 h 32"/>
                <a:gd name="T26" fmla="*/ 0 w 33"/>
                <a:gd name="T27" fmla="*/ 11 h 32"/>
                <a:gd name="T28" fmla="*/ 2 w 33"/>
                <a:gd name="T29" fmla="*/ 13 h 32"/>
                <a:gd name="T30" fmla="*/ 5 w 33"/>
                <a:gd name="T31" fmla="*/ 15 h 32"/>
                <a:gd name="T32" fmla="*/ 8 w 33"/>
                <a:gd name="T33" fmla="*/ 16 h 32"/>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33"/>
                <a:gd name="T52" fmla="*/ 0 h 32"/>
                <a:gd name="T53" fmla="*/ 33 w 33"/>
                <a:gd name="T54" fmla="*/ 32 h 32"/>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33" h="32">
                  <a:moveTo>
                    <a:pt x="16" y="32"/>
                  </a:moveTo>
                  <a:lnTo>
                    <a:pt x="23" y="31"/>
                  </a:lnTo>
                  <a:lnTo>
                    <a:pt x="28" y="27"/>
                  </a:lnTo>
                  <a:lnTo>
                    <a:pt x="31" y="23"/>
                  </a:lnTo>
                  <a:lnTo>
                    <a:pt x="33" y="16"/>
                  </a:lnTo>
                  <a:lnTo>
                    <a:pt x="31" y="9"/>
                  </a:lnTo>
                  <a:lnTo>
                    <a:pt x="28" y="4"/>
                  </a:lnTo>
                  <a:lnTo>
                    <a:pt x="23" y="1"/>
                  </a:lnTo>
                  <a:lnTo>
                    <a:pt x="16" y="0"/>
                  </a:lnTo>
                  <a:lnTo>
                    <a:pt x="10" y="1"/>
                  </a:lnTo>
                  <a:lnTo>
                    <a:pt x="5" y="4"/>
                  </a:lnTo>
                  <a:lnTo>
                    <a:pt x="1" y="9"/>
                  </a:lnTo>
                  <a:lnTo>
                    <a:pt x="0" y="16"/>
                  </a:lnTo>
                  <a:lnTo>
                    <a:pt x="1" y="23"/>
                  </a:lnTo>
                  <a:lnTo>
                    <a:pt x="5" y="27"/>
                  </a:lnTo>
                  <a:lnTo>
                    <a:pt x="10" y="31"/>
                  </a:lnTo>
                  <a:lnTo>
                    <a:pt x="16" y="32"/>
                  </a:lnTo>
                  <a:close/>
                </a:path>
              </a:pathLst>
            </a:custGeom>
            <a:solidFill>
              <a:srgbClr val="000000"/>
            </a:solidFill>
            <a:ln w="9525">
              <a:noFill/>
              <a:round/>
            </a:ln>
          </p:spPr>
          <p:txBody>
            <a:bodyPr/>
            <a:lstStyle/>
            <a:p>
              <a:endParaRPr lang="en-US"/>
            </a:p>
          </p:txBody>
        </p:sp>
        <p:sp>
          <p:nvSpPr>
            <p:cNvPr id="1048876" name="Freeform 169"/>
            <p:cNvSpPr/>
            <p:nvPr/>
          </p:nvSpPr>
          <p:spPr bwMode="auto">
            <a:xfrm>
              <a:off x="2552" y="3924"/>
              <a:ext cx="37" cy="37"/>
            </a:xfrm>
            <a:custGeom>
              <a:avLst/>
              <a:gdLst>
                <a:gd name="T0" fmla="*/ 19 w 75"/>
                <a:gd name="T1" fmla="*/ 37 h 75"/>
                <a:gd name="T2" fmla="*/ 23 w 75"/>
                <a:gd name="T3" fmla="*/ 36 h 75"/>
                <a:gd name="T4" fmla="*/ 26 w 75"/>
                <a:gd name="T5" fmla="*/ 36 h 75"/>
                <a:gd name="T6" fmla="*/ 29 w 75"/>
                <a:gd name="T7" fmla="*/ 34 h 75"/>
                <a:gd name="T8" fmla="*/ 32 w 75"/>
                <a:gd name="T9" fmla="*/ 32 h 75"/>
                <a:gd name="T10" fmla="*/ 34 w 75"/>
                <a:gd name="T11" fmla="*/ 29 h 75"/>
                <a:gd name="T12" fmla="*/ 36 w 75"/>
                <a:gd name="T13" fmla="*/ 26 h 75"/>
                <a:gd name="T14" fmla="*/ 37 w 75"/>
                <a:gd name="T15" fmla="*/ 23 h 75"/>
                <a:gd name="T16" fmla="*/ 37 w 75"/>
                <a:gd name="T17" fmla="*/ 19 h 75"/>
                <a:gd name="T18" fmla="*/ 37 w 75"/>
                <a:gd name="T19" fmla="*/ 15 h 75"/>
                <a:gd name="T20" fmla="*/ 36 w 75"/>
                <a:gd name="T21" fmla="*/ 11 h 75"/>
                <a:gd name="T22" fmla="*/ 34 w 75"/>
                <a:gd name="T23" fmla="*/ 8 h 75"/>
                <a:gd name="T24" fmla="*/ 32 w 75"/>
                <a:gd name="T25" fmla="*/ 5 h 75"/>
                <a:gd name="T26" fmla="*/ 29 w 75"/>
                <a:gd name="T27" fmla="*/ 3 h 75"/>
                <a:gd name="T28" fmla="*/ 26 w 75"/>
                <a:gd name="T29" fmla="*/ 1 h 75"/>
                <a:gd name="T30" fmla="*/ 23 w 75"/>
                <a:gd name="T31" fmla="*/ 0 h 75"/>
                <a:gd name="T32" fmla="*/ 19 w 75"/>
                <a:gd name="T33" fmla="*/ 0 h 75"/>
                <a:gd name="T34" fmla="*/ 15 w 75"/>
                <a:gd name="T35" fmla="*/ 0 h 75"/>
                <a:gd name="T36" fmla="*/ 11 w 75"/>
                <a:gd name="T37" fmla="*/ 1 h 75"/>
                <a:gd name="T38" fmla="*/ 8 w 75"/>
                <a:gd name="T39" fmla="*/ 3 h 75"/>
                <a:gd name="T40" fmla="*/ 6 w 75"/>
                <a:gd name="T41" fmla="*/ 5 h 75"/>
                <a:gd name="T42" fmla="*/ 3 w 75"/>
                <a:gd name="T43" fmla="*/ 8 h 75"/>
                <a:gd name="T44" fmla="*/ 2 w 75"/>
                <a:gd name="T45" fmla="*/ 11 h 75"/>
                <a:gd name="T46" fmla="*/ 0 w 75"/>
                <a:gd name="T47" fmla="*/ 15 h 75"/>
                <a:gd name="T48" fmla="*/ 0 w 75"/>
                <a:gd name="T49" fmla="*/ 19 h 75"/>
                <a:gd name="T50" fmla="*/ 0 w 75"/>
                <a:gd name="T51" fmla="*/ 23 h 75"/>
                <a:gd name="T52" fmla="*/ 2 w 75"/>
                <a:gd name="T53" fmla="*/ 26 h 75"/>
                <a:gd name="T54" fmla="*/ 3 w 75"/>
                <a:gd name="T55" fmla="*/ 29 h 75"/>
                <a:gd name="T56" fmla="*/ 6 w 75"/>
                <a:gd name="T57" fmla="*/ 32 h 75"/>
                <a:gd name="T58" fmla="*/ 8 w 75"/>
                <a:gd name="T59" fmla="*/ 34 h 75"/>
                <a:gd name="T60" fmla="*/ 11 w 75"/>
                <a:gd name="T61" fmla="*/ 36 h 75"/>
                <a:gd name="T62" fmla="*/ 15 w 75"/>
                <a:gd name="T63" fmla="*/ 36 h 75"/>
                <a:gd name="T64" fmla="*/ 19 w 75"/>
                <a:gd name="T65" fmla="*/ 37 h 75"/>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75"/>
                <a:gd name="T100" fmla="*/ 0 h 75"/>
                <a:gd name="T101" fmla="*/ 75 w 75"/>
                <a:gd name="T102" fmla="*/ 75 h 75"/>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75" h="75">
                  <a:moveTo>
                    <a:pt x="38" y="75"/>
                  </a:moveTo>
                  <a:lnTo>
                    <a:pt x="46" y="73"/>
                  </a:lnTo>
                  <a:lnTo>
                    <a:pt x="53" y="72"/>
                  </a:lnTo>
                  <a:lnTo>
                    <a:pt x="59" y="69"/>
                  </a:lnTo>
                  <a:lnTo>
                    <a:pt x="65" y="64"/>
                  </a:lnTo>
                  <a:lnTo>
                    <a:pt x="69" y="58"/>
                  </a:lnTo>
                  <a:lnTo>
                    <a:pt x="73" y="53"/>
                  </a:lnTo>
                  <a:lnTo>
                    <a:pt x="74" y="46"/>
                  </a:lnTo>
                  <a:lnTo>
                    <a:pt x="75" y="38"/>
                  </a:lnTo>
                  <a:lnTo>
                    <a:pt x="74" y="30"/>
                  </a:lnTo>
                  <a:lnTo>
                    <a:pt x="73" y="23"/>
                  </a:lnTo>
                  <a:lnTo>
                    <a:pt x="69" y="17"/>
                  </a:lnTo>
                  <a:lnTo>
                    <a:pt x="65" y="11"/>
                  </a:lnTo>
                  <a:lnTo>
                    <a:pt x="59" y="7"/>
                  </a:lnTo>
                  <a:lnTo>
                    <a:pt x="53" y="3"/>
                  </a:lnTo>
                  <a:lnTo>
                    <a:pt x="46" y="1"/>
                  </a:lnTo>
                  <a:lnTo>
                    <a:pt x="38" y="0"/>
                  </a:lnTo>
                  <a:lnTo>
                    <a:pt x="30" y="1"/>
                  </a:lnTo>
                  <a:lnTo>
                    <a:pt x="23" y="3"/>
                  </a:lnTo>
                  <a:lnTo>
                    <a:pt x="17" y="7"/>
                  </a:lnTo>
                  <a:lnTo>
                    <a:pt x="12" y="11"/>
                  </a:lnTo>
                  <a:lnTo>
                    <a:pt x="7" y="17"/>
                  </a:lnTo>
                  <a:lnTo>
                    <a:pt x="4" y="23"/>
                  </a:lnTo>
                  <a:lnTo>
                    <a:pt x="1" y="30"/>
                  </a:lnTo>
                  <a:lnTo>
                    <a:pt x="0" y="38"/>
                  </a:lnTo>
                  <a:lnTo>
                    <a:pt x="1" y="46"/>
                  </a:lnTo>
                  <a:lnTo>
                    <a:pt x="4" y="53"/>
                  </a:lnTo>
                  <a:lnTo>
                    <a:pt x="7" y="58"/>
                  </a:lnTo>
                  <a:lnTo>
                    <a:pt x="12" y="64"/>
                  </a:lnTo>
                  <a:lnTo>
                    <a:pt x="17" y="69"/>
                  </a:lnTo>
                  <a:lnTo>
                    <a:pt x="23" y="72"/>
                  </a:lnTo>
                  <a:lnTo>
                    <a:pt x="30" y="73"/>
                  </a:lnTo>
                  <a:lnTo>
                    <a:pt x="38" y="75"/>
                  </a:lnTo>
                  <a:close/>
                </a:path>
              </a:pathLst>
            </a:custGeom>
            <a:solidFill>
              <a:srgbClr val="7FFFFF"/>
            </a:solidFill>
            <a:ln w="9525">
              <a:noFill/>
              <a:round/>
            </a:ln>
          </p:spPr>
          <p:txBody>
            <a:bodyPr/>
            <a:lstStyle/>
            <a:p>
              <a:endParaRPr lang="en-US"/>
            </a:p>
          </p:txBody>
        </p:sp>
        <p:sp>
          <p:nvSpPr>
            <p:cNvPr id="1048877" name="Freeform 170"/>
            <p:cNvSpPr/>
            <p:nvPr/>
          </p:nvSpPr>
          <p:spPr bwMode="auto">
            <a:xfrm>
              <a:off x="2563" y="3935"/>
              <a:ext cx="16" cy="16"/>
            </a:xfrm>
            <a:custGeom>
              <a:avLst/>
              <a:gdLst>
                <a:gd name="T0" fmla="*/ 8 w 32"/>
                <a:gd name="T1" fmla="*/ 16 h 32"/>
                <a:gd name="T2" fmla="*/ 11 w 32"/>
                <a:gd name="T3" fmla="*/ 15 h 32"/>
                <a:gd name="T4" fmla="*/ 14 w 32"/>
                <a:gd name="T5" fmla="*/ 13 h 32"/>
                <a:gd name="T6" fmla="*/ 15 w 32"/>
                <a:gd name="T7" fmla="*/ 11 h 32"/>
                <a:gd name="T8" fmla="*/ 16 w 32"/>
                <a:gd name="T9" fmla="*/ 8 h 32"/>
                <a:gd name="T10" fmla="*/ 15 w 32"/>
                <a:gd name="T11" fmla="*/ 4 h 32"/>
                <a:gd name="T12" fmla="*/ 14 w 32"/>
                <a:gd name="T13" fmla="*/ 2 h 32"/>
                <a:gd name="T14" fmla="*/ 11 w 32"/>
                <a:gd name="T15" fmla="*/ 1 h 32"/>
                <a:gd name="T16" fmla="*/ 8 w 32"/>
                <a:gd name="T17" fmla="*/ 0 h 32"/>
                <a:gd name="T18" fmla="*/ 4 w 32"/>
                <a:gd name="T19" fmla="*/ 1 h 32"/>
                <a:gd name="T20" fmla="*/ 2 w 32"/>
                <a:gd name="T21" fmla="*/ 2 h 32"/>
                <a:gd name="T22" fmla="*/ 1 w 32"/>
                <a:gd name="T23" fmla="*/ 4 h 32"/>
                <a:gd name="T24" fmla="*/ 0 w 32"/>
                <a:gd name="T25" fmla="*/ 8 h 32"/>
                <a:gd name="T26" fmla="*/ 1 w 32"/>
                <a:gd name="T27" fmla="*/ 11 h 32"/>
                <a:gd name="T28" fmla="*/ 2 w 32"/>
                <a:gd name="T29" fmla="*/ 13 h 32"/>
                <a:gd name="T30" fmla="*/ 4 w 32"/>
                <a:gd name="T31" fmla="*/ 15 h 32"/>
                <a:gd name="T32" fmla="*/ 8 w 32"/>
                <a:gd name="T33" fmla="*/ 16 h 32"/>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32"/>
                <a:gd name="T52" fmla="*/ 0 h 32"/>
                <a:gd name="T53" fmla="*/ 32 w 32"/>
                <a:gd name="T54" fmla="*/ 32 h 32"/>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32" h="32">
                  <a:moveTo>
                    <a:pt x="16" y="32"/>
                  </a:moveTo>
                  <a:lnTo>
                    <a:pt x="23" y="31"/>
                  </a:lnTo>
                  <a:lnTo>
                    <a:pt x="28" y="27"/>
                  </a:lnTo>
                  <a:lnTo>
                    <a:pt x="31" y="23"/>
                  </a:lnTo>
                  <a:lnTo>
                    <a:pt x="32" y="16"/>
                  </a:lnTo>
                  <a:lnTo>
                    <a:pt x="31" y="9"/>
                  </a:lnTo>
                  <a:lnTo>
                    <a:pt x="28" y="4"/>
                  </a:lnTo>
                  <a:lnTo>
                    <a:pt x="23" y="1"/>
                  </a:lnTo>
                  <a:lnTo>
                    <a:pt x="16" y="0"/>
                  </a:lnTo>
                  <a:lnTo>
                    <a:pt x="9" y="1"/>
                  </a:lnTo>
                  <a:lnTo>
                    <a:pt x="5" y="4"/>
                  </a:lnTo>
                  <a:lnTo>
                    <a:pt x="1" y="9"/>
                  </a:lnTo>
                  <a:lnTo>
                    <a:pt x="0" y="16"/>
                  </a:lnTo>
                  <a:lnTo>
                    <a:pt x="1" y="23"/>
                  </a:lnTo>
                  <a:lnTo>
                    <a:pt x="5" y="27"/>
                  </a:lnTo>
                  <a:lnTo>
                    <a:pt x="9" y="31"/>
                  </a:lnTo>
                  <a:lnTo>
                    <a:pt x="16" y="32"/>
                  </a:lnTo>
                  <a:close/>
                </a:path>
              </a:pathLst>
            </a:custGeom>
            <a:solidFill>
              <a:srgbClr val="000000"/>
            </a:solidFill>
            <a:ln w="9525">
              <a:noFill/>
              <a:round/>
            </a:ln>
          </p:spPr>
          <p:txBody>
            <a:bodyPr/>
            <a:lstStyle/>
            <a:p>
              <a:endParaRPr lang="en-US"/>
            </a:p>
          </p:txBody>
        </p:sp>
        <p:sp>
          <p:nvSpPr>
            <p:cNvPr id="1048878" name="Freeform 171"/>
            <p:cNvSpPr/>
            <p:nvPr/>
          </p:nvSpPr>
          <p:spPr bwMode="auto">
            <a:xfrm>
              <a:off x="2616" y="3843"/>
              <a:ext cx="24" cy="39"/>
            </a:xfrm>
            <a:custGeom>
              <a:avLst/>
              <a:gdLst>
                <a:gd name="T0" fmla="*/ 12 w 47"/>
                <a:gd name="T1" fmla="*/ 39 h 78"/>
                <a:gd name="T2" fmla="*/ 17 w 47"/>
                <a:gd name="T3" fmla="*/ 37 h 78"/>
                <a:gd name="T4" fmla="*/ 21 w 47"/>
                <a:gd name="T5" fmla="*/ 33 h 78"/>
                <a:gd name="T6" fmla="*/ 23 w 47"/>
                <a:gd name="T7" fmla="*/ 26 h 78"/>
                <a:gd name="T8" fmla="*/ 24 w 47"/>
                <a:gd name="T9" fmla="*/ 19 h 78"/>
                <a:gd name="T10" fmla="*/ 23 w 47"/>
                <a:gd name="T11" fmla="*/ 11 h 78"/>
                <a:gd name="T12" fmla="*/ 21 w 47"/>
                <a:gd name="T13" fmla="*/ 6 h 78"/>
                <a:gd name="T14" fmla="*/ 17 w 47"/>
                <a:gd name="T15" fmla="*/ 2 h 78"/>
                <a:gd name="T16" fmla="*/ 12 w 47"/>
                <a:gd name="T17" fmla="*/ 0 h 78"/>
                <a:gd name="T18" fmla="*/ 8 w 47"/>
                <a:gd name="T19" fmla="*/ 2 h 78"/>
                <a:gd name="T20" fmla="*/ 4 w 47"/>
                <a:gd name="T21" fmla="*/ 6 h 78"/>
                <a:gd name="T22" fmla="*/ 2 w 47"/>
                <a:gd name="T23" fmla="*/ 11 h 78"/>
                <a:gd name="T24" fmla="*/ 0 w 47"/>
                <a:gd name="T25" fmla="*/ 19 h 78"/>
                <a:gd name="T26" fmla="*/ 2 w 47"/>
                <a:gd name="T27" fmla="*/ 26 h 78"/>
                <a:gd name="T28" fmla="*/ 4 w 47"/>
                <a:gd name="T29" fmla="*/ 33 h 78"/>
                <a:gd name="T30" fmla="*/ 8 w 47"/>
                <a:gd name="T31" fmla="*/ 37 h 78"/>
                <a:gd name="T32" fmla="*/ 12 w 47"/>
                <a:gd name="T33" fmla="*/ 39 h 78"/>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47"/>
                <a:gd name="T52" fmla="*/ 0 h 78"/>
                <a:gd name="T53" fmla="*/ 47 w 47"/>
                <a:gd name="T54" fmla="*/ 78 h 78"/>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47" h="78">
                  <a:moveTo>
                    <a:pt x="24" y="78"/>
                  </a:moveTo>
                  <a:lnTo>
                    <a:pt x="34" y="74"/>
                  </a:lnTo>
                  <a:lnTo>
                    <a:pt x="41" y="66"/>
                  </a:lnTo>
                  <a:lnTo>
                    <a:pt x="45" y="53"/>
                  </a:lnTo>
                  <a:lnTo>
                    <a:pt x="47" y="38"/>
                  </a:lnTo>
                  <a:lnTo>
                    <a:pt x="45" y="23"/>
                  </a:lnTo>
                  <a:lnTo>
                    <a:pt x="41" y="12"/>
                  </a:lnTo>
                  <a:lnTo>
                    <a:pt x="34" y="4"/>
                  </a:lnTo>
                  <a:lnTo>
                    <a:pt x="24" y="0"/>
                  </a:lnTo>
                  <a:lnTo>
                    <a:pt x="15" y="4"/>
                  </a:lnTo>
                  <a:lnTo>
                    <a:pt x="7" y="12"/>
                  </a:lnTo>
                  <a:lnTo>
                    <a:pt x="3" y="23"/>
                  </a:lnTo>
                  <a:lnTo>
                    <a:pt x="0" y="38"/>
                  </a:lnTo>
                  <a:lnTo>
                    <a:pt x="3" y="53"/>
                  </a:lnTo>
                  <a:lnTo>
                    <a:pt x="7" y="66"/>
                  </a:lnTo>
                  <a:lnTo>
                    <a:pt x="15" y="74"/>
                  </a:lnTo>
                  <a:lnTo>
                    <a:pt x="24" y="78"/>
                  </a:lnTo>
                  <a:close/>
                </a:path>
              </a:pathLst>
            </a:custGeom>
            <a:solidFill>
              <a:srgbClr val="000000"/>
            </a:solidFill>
            <a:ln w="9525">
              <a:noFill/>
              <a:round/>
            </a:ln>
          </p:spPr>
          <p:txBody>
            <a:bodyPr/>
            <a:lstStyle/>
            <a:p>
              <a:endParaRPr lang="en-US"/>
            </a:p>
          </p:txBody>
        </p:sp>
        <p:sp>
          <p:nvSpPr>
            <p:cNvPr id="1048879" name="Freeform 172"/>
            <p:cNvSpPr/>
            <p:nvPr/>
          </p:nvSpPr>
          <p:spPr bwMode="auto">
            <a:xfrm>
              <a:off x="2625" y="3852"/>
              <a:ext cx="10" cy="21"/>
            </a:xfrm>
            <a:custGeom>
              <a:avLst/>
              <a:gdLst>
                <a:gd name="T0" fmla="*/ 5 w 18"/>
                <a:gd name="T1" fmla="*/ 21 h 40"/>
                <a:gd name="T2" fmla="*/ 7 w 18"/>
                <a:gd name="T3" fmla="*/ 20 h 40"/>
                <a:gd name="T4" fmla="*/ 9 w 18"/>
                <a:gd name="T5" fmla="*/ 18 h 40"/>
                <a:gd name="T6" fmla="*/ 9 w 18"/>
                <a:gd name="T7" fmla="*/ 14 h 40"/>
                <a:gd name="T8" fmla="*/ 10 w 18"/>
                <a:gd name="T9" fmla="*/ 10 h 40"/>
                <a:gd name="T10" fmla="*/ 9 w 18"/>
                <a:gd name="T11" fmla="*/ 6 h 40"/>
                <a:gd name="T12" fmla="*/ 9 w 18"/>
                <a:gd name="T13" fmla="*/ 3 h 40"/>
                <a:gd name="T14" fmla="*/ 7 w 18"/>
                <a:gd name="T15" fmla="*/ 1 h 40"/>
                <a:gd name="T16" fmla="*/ 5 w 18"/>
                <a:gd name="T17" fmla="*/ 0 h 40"/>
                <a:gd name="T18" fmla="*/ 3 w 18"/>
                <a:gd name="T19" fmla="*/ 1 h 40"/>
                <a:gd name="T20" fmla="*/ 2 w 18"/>
                <a:gd name="T21" fmla="*/ 3 h 40"/>
                <a:gd name="T22" fmla="*/ 1 w 18"/>
                <a:gd name="T23" fmla="*/ 6 h 40"/>
                <a:gd name="T24" fmla="*/ 0 w 18"/>
                <a:gd name="T25" fmla="*/ 10 h 40"/>
                <a:gd name="T26" fmla="*/ 1 w 18"/>
                <a:gd name="T27" fmla="*/ 14 h 40"/>
                <a:gd name="T28" fmla="*/ 2 w 18"/>
                <a:gd name="T29" fmla="*/ 18 h 40"/>
                <a:gd name="T30" fmla="*/ 3 w 18"/>
                <a:gd name="T31" fmla="*/ 20 h 40"/>
                <a:gd name="T32" fmla="*/ 5 w 18"/>
                <a:gd name="T33" fmla="*/ 21 h 40"/>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8"/>
                <a:gd name="T52" fmla="*/ 0 h 40"/>
                <a:gd name="T53" fmla="*/ 18 w 18"/>
                <a:gd name="T54" fmla="*/ 40 h 40"/>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8" h="40">
                  <a:moveTo>
                    <a:pt x="9" y="40"/>
                  </a:moveTo>
                  <a:lnTo>
                    <a:pt x="12" y="39"/>
                  </a:lnTo>
                  <a:lnTo>
                    <a:pt x="16" y="34"/>
                  </a:lnTo>
                  <a:lnTo>
                    <a:pt x="17" y="27"/>
                  </a:lnTo>
                  <a:lnTo>
                    <a:pt x="18" y="19"/>
                  </a:lnTo>
                  <a:lnTo>
                    <a:pt x="17" y="12"/>
                  </a:lnTo>
                  <a:lnTo>
                    <a:pt x="16" y="6"/>
                  </a:lnTo>
                  <a:lnTo>
                    <a:pt x="12" y="1"/>
                  </a:lnTo>
                  <a:lnTo>
                    <a:pt x="9" y="0"/>
                  </a:lnTo>
                  <a:lnTo>
                    <a:pt x="5" y="1"/>
                  </a:lnTo>
                  <a:lnTo>
                    <a:pt x="3" y="6"/>
                  </a:lnTo>
                  <a:lnTo>
                    <a:pt x="1" y="12"/>
                  </a:lnTo>
                  <a:lnTo>
                    <a:pt x="0" y="19"/>
                  </a:lnTo>
                  <a:lnTo>
                    <a:pt x="1" y="27"/>
                  </a:lnTo>
                  <a:lnTo>
                    <a:pt x="3" y="34"/>
                  </a:lnTo>
                  <a:lnTo>
                    <a:pt x="5" y="39"/>
                  </a:lnTo>
                  <a:lnTo>
                    <a:pt x="9" y="40"/>
                  </a:lnTo>
                  <a:close/>
                </a:path>
              </a:pathLst>
            </a:custGeom>
            <a:solidFill>
              <a:srgbClr val="FFF477"/>
            </a:solidFill>
            <a:ln w="9525">
              <a:noFill/>
              <a:round/>
            </a:ln>
          </p:spPr>
          <p:txBody>
            <a:bodyPr/>
            <a:lstStyle/>
            <a:p>
              <a:endParaRPr lang="en-US"/>
            </a:p>
          </p:txBody>
        </p:sp>
        <p:sp>
          <p:nvSpPr>
            <p:cNvPr id="1048880" name="Freeform 173"/>
            <p:cNvSpPr/>
            <p:nvPr/>
          </p:nvSpPr>
          <p:spPr bwMode="auto">
            <a:xfrm>
              <a:off x="2520" y="3880"/>
              <a:ext cx="63" cy="39"/>
            </a:xfrm>
            <a:custGeom>
              <a:avLst/>
              <a:gdLst>
                <a:gd name="T0" fmla="*/ 63 w 124"/>
                <a:gd name="T1" fmla="*/ 7 h 77"/>
                <a:gd name="T2" fmla="*/ 61 w 124"/>
                <a:gd name="T3" fmla="*/ 7 h 77"/>
                <a:gd name="T4" fmla="*/ 55 w 124"/>
                <a:gd name="T5" fmla="*/ 6 h 77"/>
                <a:gd name="T6" fmla="*/ 48 w 124"/>
                <a:gd name="T7" fmla="*/ 6 h 77"/>
                <a:gd name="T8" fmla="*/ 38 w 124"/>
                <a:gd name="T9" fmla="*/ 7 h 77"/>
                <a:gd name="T10" fmla="*/ 27 w 124"/>
                <a:gd name="T11" fmla="*/ 11 h 77"/>
                <a:gd name="T12" fmla="*/ 18 w 124"/>
                <a:gd name="T13" fmla="*/ 16 h 77"/>
                <a:gd name="T14" fmla="*/ 8 w 124"/>
                <a:gd name="T15" fmla="*/ 26 h 77"/>
                <a:gd name="T16" fmla="*/ 0 w 124"/>
                <a:gd name="T17" fmla="*/ 39 h 77"/>
                <a:gd name="T18" fmla="*/ 0 w 124"/>
                <a:gd name="T19" fmla="*/ 37 h 77"/>
                <a:gd name="T20" fmla="*/ 2 w 124"/>
                <a:gd name="T21" fmla="*/ 30 h 77"/>
                <a:gd name="T22" fmla="*/ 4 w 124"/>
                <a:gd name="T23" fmla="*/ 22 h 77"/>
                <a:gd name="T24" fmla="*/ 9 w 124"/>
                <a:gd name="T25" fmla="*/ 12 h 77"/>
                <a:gd name="T26" fmla="*/ 17 w 124"/>
                <a:gd name="T27" fmla="*/ 5 h 77"/>
                <a:gd name="T28" fmla="*/ 28 w 124"/>
                <a:gd name="T29" fmla="*/ 0 h 77"/>
                <a:gd name="T30" fmla="*/ 43 w 124"/>
                <a:gd name="T31" fmla="*/ 1 h 77"/>
                <a:gd name="T32" fmla="*/ 63 w 124"/>
                <a:gd name="T33" fmla="*/ 7 h 7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24"/>
                <a:gd name="T52" fmla="*/ 0 h 77"/>
                <a:gd name="T53" fmla="*/ 124 w 124"/>
                <a:gd name="T54" fmla="*/ 77 h 77"/>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24" h="77">
                  <a:moveTo>
                    <a:pt x="124" y="14"/>
                  </a:moveTo>
                  <a:lnTo>
                    <a:pt x="121" y="13"/>
                  </a:lnTo>
                  <a:lnTo>
                    <a:pt x="109" y="12"/>
                  </a:lnTo>
                  <a:lnTo>
                    <a:pt x="94" y="12"/>
                  </a:lnTo>
                  <a:lnTo>
                    <a:pt x="75" y="14"/>
                  </a:lnTo>
                  <a:lnTo>
                    <a:pt x="54" y="21"/>
                  </a:lnTo>
                  <a:lnTo>
                    <a:pt x="35" y="32"/>
                  </a:lnTo>
                  <a:lnTo>
                    <a:pt x="15" y="51"/>
                  </a:lnTo>
                  <a:lnTo>
                    <a:pt x="0" y="77"/>
                  </a:lnTo>
                  <a:lnTo>
                    <a:pt x="0" y="73"/>
                  </a:lnTo>
                  <a:lnTo>
                    <a:pt x="3" y="60"/>
                  </a:lnTo>
                  <a:lnTo>
                    <a:pt x="8" y="43"/>
                  </a:lnTo>
                  <a:lnTo>
                    <a:pt x="18" y="24"/>
                  </a:lnTo>
                  <a:lnTo>
                    <a:pt x="33" y="9"/>
                  </a:lnTo>
                  <a:lnTo>
                    <a:pt x="55" y="0"/>
                  </a:lnTo>
                  <a:lnTo>
                    <a:pt x="85" y="1"/>
                  </a:lnTo>
                  <a:lnTo>
                    <a:pt x="124" y="14"/>
                  </a:lnTo>
                  <a:close/>
                </a:path>
              </a:pathLst>
            </a:custGeom>
            <a:solidFill>
              <a:srgbClr val="FFE29B"/>
            </a:solidFill>
            <a:ln w="9525">
              <a:noFill/>
              <a:round/>
            </a:ln>
          </p:spPr>
          <p:txBody>
            <a:bodyPr/>
            <a:lstStyle/>
            <a:p>
              <a:endParaRPr lang="en-US"/>
            </a:p>
          </p:txBody>
        </p:sp>
        <p:sp>
          <p:nvSpPr>
            <p:cNvPr id="1048881" name="Freeform 174"/>
            <p:cNvSpPr/>
            <p:nvPr/>
          </p:nvSpPr>
          <p:spPr bwMode="auto">
            <a:xfrm>
              <a:off x="2198" y="3880"/>
              <a:ext cx="59" cy="32"/>
            </a:xfrm>
            <a:custGeom>
              <a:avLst/>
              <a:gdLst>
                <a:gd name="T0" fmla="*/ 59 w 117"/>
                <a:gd name="T1" fmla="*/ 7 h 65"/>
                <a:gd name="T2" fmla="*/ 57 w 117"/>
                <a:gd name="T3" fmla="*/ 6 h 65"/>
                <a:gd name="T4" fmla="*/ 52 w 117"/>
                <a:gd name="T5" fmla="*/ 6 h 65"/>
                <a:gd name="T6" fmla="*/ 45 w 117"/>
                <a:gd name="T7" fmla="*/ 6 h 65"/>
                <a:gd name="T8" fmla="*/ 36 w 117"/>
                <a:gd name="T9" fmla="*/ 6 h 65"/>
                <a:gd name="T10" fmla="*/ 27 w 117"/>
                <a:gd name="T11" fmla="*/ 8 h 65"/>
                <a:gd name="T12" fmla="*/ 17 w 117"/>
                <a:gd name="T13" fmla="*/ 13 h 65"/>
                <a:gd name="T14" fmla="*/ 8 w 117"/>
                <a:gd name="T15" fmla="*/ 21 h 65"/>
                <a:gd name="T16" fmla="*/ 0 w 117"/>
                <a:gd name="T17" fmla="*/ 32 h 65"/>
                <a:gd name="T18" fmla="*/ 1 w 117"/>
                <a:gd name="T19" fmla="*/ 30 h 65"/>
                <a:gd name="T20" fmla="*/ 2 w 117"/>
                <a:gd name="T21" fmla="*/ 25 h 65"/>
                <a:gd name="T22" fmla="*/ 5 w 117"/>
                <a:gd name="T23" fmla="*/ 17 h 65"/>
                <a:gd name="T24" fmla="*/ 10 w 117"/>
                <a:gd name="T25" fmla="*/ 10 h 65"/>
                <a:gd name="T26" fmla="*/ 17 w 117"/>
                <a:gd name="T27" fmla="*/ 3 h 65"/>
                <a:gd name="T28" fmla="*/ 28 w 117"/>
                <a:gd name="T29" fmla="*/ 0 h 65"/>
                <a:gd name="T30" fmla="*/ 41 w 117"/>
                <a:gd name="T31" fmla="*/ 0 h 65"/>
                <a:gd name="T32" fmla="*/ 59 w 117"/>
                <a:gd name="T33" fmla="*/ 7 h 65"/>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17"/>
                <a:gd name="T52" fmla="*/ 0 h 65"/>
                <a:gd name="T53" fmla="*/ 117 w 117"/>
                <a:gd name="T54" fmla="*/ 65 h 65"/>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17" h="65">
                  <a:moveTo>
                    <a:pt x="117" y="14"/>
                  </a:moveTo>
                  <a:lnTo>
                    <a:pt x="114" y="13"/>
                  </a:lnTo>
                  <a:lnTo>
                    <a:pt x="104" y="12"/>
                  </a:lnTo>
                  <a:lnTo>
                    <a:pt x="90" y="12"/>
                  </a:lnTo>
                  <a:lnTo>
                    <a:pt x="72" y="13"/>
                  </a:lnTo>
                  <a:lnTo>
                    <a:pt x="53" y="17"/>
                  </a:lnTo>
                  <a:lnTo>
                    <a:pt x="33" y="27"/>
                  </a:lnTo>
                  <a:lnTo>
                    <a:pt x="15" y="42"/>
                  </a:lnTo>
                  <a:lnTo>
                    <a:pt x="0" y="65"/>
                  </a:lnTo>
                  <a:lnTo>
                    <a:pt x="1" y="60"/>
                  </a:lnTo>
                  <a:lnTo>
                    <a:pt x="3" y="50"/>
                  </a:lnTo>
                  <a:lnTo>
                    <a:pt x="9" y="35"/>
                  </a:lnTo>
                  <a:lnTo>
                    <a:pt x="19" y="20"/>
                  </a:lnTo>
                  <a:lnTo>
                    <a:pt x="34" y="7"/>
                  </a:lnTo>
                  <a:lnTo>
                    <a:pt x="55" y="0"/>
                  </a:lnTo>
                  <a:lnTo>
                    <a:pt x="82" y="1"/>
                  </a:lnTo>
                  <a:lnTo>
                    <a:pt x="117" y="14"/>
                  </a:lnTo>
                  <a:close/>
                </a:path>
              </a:pathLst>
            </a:custGeom>
            <a:solidFill>
              <a:srgbClr val="FFE29B"/>
            </a:solidFill>
            <a:ln w="9525">
              <a:noFill/>
              <a:round/>
            </a:ln>
          </p:spPr>
          <p:txBody>
            <a:bodyPr/>
            <a:lstStyle/>
            <a:p>
              <a:endParaRPr lang="en-US"/>
            </a:p>
          </p:txBody>
        </p:sp>
        <p:sp>
          <p:nvSpPr>
            <p:cNvPr id="1048882" name="Freeform 175"/>
            <p:cNvSpPr/>
            <p:nvPr/>
          </p:nvSpPr>
          <p:spPr bwMode="auto">
            <a:xfrm>
              <a:off x="2520" y="3735"/>
              <a:ext cx="40" cy="72"/>
            </a:xfrm>
            <a:custGeom>
              <a:avLst/>
              <a:gdLst>
                <a:gd name="T0" fmla="*/ 8 w 79"/>
                <a:gd name="T1" fmla="*/ 6 h 145"/>
                <a:gd name="T2" fmla="*/ 7 w 79"/>
                <a:gd name="T3" fmla="*/ 4 h 145"/>
                <a:gd name="T4" fmla="*/ 6 w 79"/>
                <a:gd name="T5" fmla="*/ 2 h 145"/>
                <a:gd name="T6" fmla="*/ 5 w 79"/>
                <a:gd name="T7" fmla="*/ 1 h 145"/>
                <a:gd name="T8" fmla="*/ 4 w 79"/>
                <a:gd name="T9" fmla="*/ 0 h 145"/>
                <a:gd name="T10" fmla="*/ 2 w 79"/>
                <a:gd name="T11" fmla="*/ 2 h 145"/>
                <a:gd name="T12" fmla="*/ 1 w 79"/>
                <a:gd name="T13" fmla="*/ 5 h 145"/>
                <a:gd name="T14" fmla="*/ 0 w 79"/>
                <a:gd name="T15" fmla="*/ 11 h 145"/>
                <a:gd name="T16" fmla="*/ 1 w 79"/>
                <a:gd name="T17" fmla="*/ 17 h 145"/>
                <a:gd name="T18" fmla="*/ 2 w 79"/>
                <a:gd name="T19" fmla="*/ 23 h 145"/>
                <a:gd name="T20" fmla="*/ 4 w 79"/>
                <a:gd name="T21" fmla="*/ 31 h 145"/>
                <a:gd name="T22" fmla="*/ 7 w 79"/>
                <a:gd name="T23" fmla="*/ 39 h 145"/>
                <a:gd name="T24" fmla="*/ 11 w 79"/>
                <a:gd name="T25" fmla="*/ 47 h 145"/>
                <a:gd name="T26" fmla="*/ 15 w 79"/>
                <a:gd name="T27" fmla="*/ 55 h 145"/>
                <a:gd name="T28" fmla="*/ 20 w 79"/>
                <a:gd name="T29" fmla="*/ 62 h 145"/>
                <a:gd name="T30" fmla="*/ 27 w 79"/>
                <a:gd name="T31" fmla="*/ 68 h 145"/>
                <a:gd name="T32" fmla="*/ 34 w 79"/>
                <a:gd name="T33" fmla="*/ 71 h 145"/>
                <a:gd name="T34" fmla="*/ 36 w 79"/>
                <a:gd name="T35" fmla="*/ 72 h 145"/>
                <a:gd name="T36" fmla="*/ 37 w 79"/>
                <a:gd name="T37" fmla="*/ 72 h 145"/>
                <a:gd name="T38" fmla="*/ 39 w 79"/>
                <a:gd name="T39" fmla="*/ 72 h 145"/>
                <a:gd name="T40" fmla="*/ 40 w 79"/>
                <a:gd name="T41" fmla="*/ 72 h 145"/>
                <a:gd name="T42" fmla="*/ 32 w 79"/>
                <a:gd name="T43" fmla="*/ 65 h 145"/>
                <a:gd name="T44" fmla="*/ 27 w 79"/>
                <a:gd name="T45" fmla="*/ 57 h 145"/>
                <a:gd name="T46" fmla="*/ 22 w 79"/>
                <a:gd name="T47" fmla="*/ 48 h 145"/>
                <a:gd name="T48" fmla="*/ 18 w 79"/>
                <a:gd name="T49" fmla="*/ 39 h 145"/>
                <a:gd name="T50" fmla="*/ 14 w 79"/>
                <a:gd name="T51" fmla="*/ 30 h 145"/>
                <a:gd name="T52" fmla="*/ 12 w 79"/>
                <a:gd name="T53" fmla="*/ 21 h 145"/>
                <a:gd name="T54" fmla="*/ 9 w 79"/>
                <a:gd name="T55" fmla="*/ 13 h 145"/>
                <a:gd name="T56" fmla="*/ 8 w 79"/>
                <a:gd name="T57" fmla="*/ 6 h 145"/>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79"/>
                <a:gd name="T88" fmla="*/ 0 h 145"/>
                <a:gd name="T89" fmla="*/ 79 w 79"/>
                <a:gd name="T90" fmla="*/ 145 h 145"/>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79" h="145">
                  <a:moveTo>
                    <a:pt x="16" y="12"/>
                  </a:moveTo>
                  <a:lnTo>
                    <a:pt x="14" y="9"/>
                  </a:lnTo>
                  <a:lnTo>
                    <a:pt x="11" y="5"/>
                  </a:lnTo>
                  <a:lnTo>
                    <a:pt x="9" y="2"/>
                  </a:lnTo>
                  <a:lnTo>
                    <a:pt x="7" y="0"/>
                  </a:lnTo>
                  <a:lnTo>
                    <a:pt x="3" y="5"/>
                  </a:lnTo>
                  <a:lnTo>
                    <a:pt x="1" y="11"/>
                  </a:lnTo>
                  <a:lnTo>
                    <a:pt x="0" y="22"/>
                  </a:lnTo>
                  <a:lnTo>
                    <a:pt x="1" y="35"/>
                  </a:lnTo>
                  <a:lnTo>
                    <a:pt x="3" y="47"/>
                  </a:lnTo>
                  <a:lnTo>
                    <a:pt x="8" y="62"/>
                  </a:lnTo>
                  <a:lnTo>
                    <a:pt x="13" y="78"/>
                  </a:lnTo>
                  <a:lnTo>
                    <a:pt x="21" y="94"/>
                  </a:lnTo>
                  <a:lnTo>
                    <a:pt x="29" y="110"/>
                  </a:lnTo>
                  <a:lnTo>
                    <a:pt x="40" y="125"/>
                  </a:lnTo>
                  <a:lnTo>
                    <a:pt x="53" y="136"/>
                  </a:lnTo>
                  <a:lnTo>
                    <a:pt x="68" y="143"/>
                  </a:lnTo>
                  <a:lnTo>
                    <a:pt x="71" y="144"/>
                  </a:lnTo>
                  <a:lnTo>
                    <a:pt x="74" y="144"/>
                  </a:lnTo>
                  <a:lnTo>
                    <a:pt x="77" y="145"/>
                  </a:lnTo>
                  <a:lnTo>
                    <a:pt x="79" y="145"/>
                  </a:lnTo>
                  <a:lnTo>
                    <a:pt x="64" y="130"/>
                  </a:lnTo>
                  <a:lnTo>
                    <a:pt x="53" y="114"/>
                  </a:lnTo>
                  <a:lnTo>
                    <a:pt x="43" y="96"/>
                  </a:lnTo>
                  <a:lnTo>
                    <a:pt x="35" y="78"/>
                  </a:lnTo>
                  <a:lnTo>
                    <a:pt x="28" y="60"/>
                  </a:lnTo>
                  <a:lnTo>
                    <a:pt x="23" y="42"/>
                  </a:lnTo>
                  <a:lnTo>
                    <a:pt x="18" y="26"/>
                  </a:lnTo>
                  <a:lnTo>
                    <a:pt x="16" y="12"/>
                  </a:lnTo>
                  <a:close/>
                </a:path>
              </a:pathLst>
            </a:custGeom>
            <a:solidFill>
              <a:srgbClr val="3FFFFF"/>
            </a:solidFill>
            <a:ln w="9525">
              <a:noFill/>
              <a:round/>
            </a:ln>
          </p:spPr>
          <p:txBody>
            <a:bodyPr/>
            <a:lstStyle/>
            <a:p>
              <a:endParaRPr lang="en-US"/>
            </a:p>
          </p:txBody>
        </p:sp>
        <p:sp>
          <p:nvSpPr>
            <p:cNvPr id="1048883" name="Freeform 176"/>
            <p:cNvSpPr/>
            <p:nvPr/>
          </p:nvSpPr>
          <p:spPr bwMode="auto">
            <a:xfrm>
              <a:off x="2529" y="3741"/>
              <a:ext cx="40" cy="66"/>
            </a:xfrm>
            <a:custGeom>
              <a:avLst/>
              <a:gdLst>
                <a:gd name="T0" fmla="*/ 40 w 82"/>
                <a:gd name="T1" fmla="*/ 64 h 133"/>
                <a:gd name="T2" fmla="*/ 40 w 82"/>
                <a:gd name="T3" fmla="*/ 64 h 133"/>
                <a:gd name="T4" fmla="*/ 40 w 82"/>
                <a:gd name="T5" fmla="*/ 64 h 133"/>
                <a:gd name="T6" fmla="*/ 39 w 82"/>
                <a:gd name="T7" fmla="*/ 64 h 133"/>
                <a:gd name="T8" fmla="*/ 38 w 82"/>
                <a:gd name="T9" fmla="*/ 63 h 133"/>
                <a:gd name="T10" fmla="*/ 37 w 82"/>
                <a:gd name="T11" fmla="*/ 62 h 133"/>
                <a:gd name="T12" fmla="*/ 34 w 82"/>
                <a:gd name="T13" fmla="*/ 56 h 133"/>
                <a:gd name="T14" fmla="*/ 30 w 82"/>
                <a:gd name="T15" fmla="*/ 49 h 133"/>
                <a:gd name="T16" fmla="*/ 25 w 82"/>
                <a:gd name="T17" fmla="*/ 39 h 133"/>
                <a:gd name="T18" fmla="*/ 19 w 82"/>
                <a:gd name="T19" fmla="*/ 29 h 133"/>
                <a:gd name="T20" fmla="*/ 12 w 82"/>
                <a:gd name="T21" fmla="*/ 18 h 133"/>
                <a:gd name="T22" fmla="*/ 6 w 82"/>
                <a:gd name="T23" fmla="*/ 9 h 133"/>
                <a:gd name="T24" fmla="*/ 0 w 82"/>
                <a:gd name="T25" fmla="*/ 0 h 133"/>
                <a:gd name="T26" fmla="*/ 1 w 82"/>
                <a:gd name="T27" fmla="*/ 7 h 133"/>
                <a:gd name="T28" fmla="*/ 3 w 82"/>
                <a:gd name="T29" fmla="*/ 15 h 133"/>
                <a:gd name="T30" fmla="*/ 6 w 82"/>
                <a:gd name="T31" fmla="*/ 24 h 133"/>
                <a:gd name="T32" fmla="*/ 9 w 82"/>
                <a:gd name="T33" fmla="*/ 33 h 133"/>
                <a:gd name="T34" fmla="*/ 13 w 82"/>
                <a:gd name="T35" fmla="*/ 42 h 133"/>
                <a:gd name="T36" fmla="*/ 18 w 82"/>
                <a:gd name="T37" fmla="*/ 51 h 133"/>
                <a:gd name="T38" fmla="*/ 23 w 82"/>
                <a:gd name="T39" fmla="*/ 59 h 133"/>
                <a:gd name="T40" fmla="*/ 31 w 82"/>
                <a:gd name="T41" fmla="*/ 66 h 133"/>
                <a:gd name="T42" fmla="*/ 34 w 82"/>
                <a:gd name="T43" fmla="*/ 66 h 133"/>
                <a:gd name="T44" fmla="*/ 37 w 82"/>
                <a:gd name="T45" fmla="*/ 66 h 133"/>
                <a:gd name="T46" fmla="*/ 38 w 82"/>
                <a:gd name="T47" fmla="*/ 65 h 133"/>
                <a:gd name="T48" fmla="*/ 40 w 82"/>
                <a:gd name="T49" fmla="*/ 64 h 133"/>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82"/>
                <a:gd name="T76" fmla="*/ 0 h 133"/>
                <a:gd name="T77" fmla="*/ 82 w 82"/>
                <a:gd name="T78" fmla="*/ 133 h 133"/>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82" h="133">
                  <a:moveTo>
                    <a:pt x="82" y="129"/>
                  </a:moveTo>
                  <a:lnTo>
                    <a:pt x="81" y="128"/>
                  </a:lnTo>
                  <a:lnTo>
                    <a:pt x="80" y="128"/>
                  </a:lnTo>
                  <a:lnTo>
                    <a:pt x="78" y="127"/>
                  </a:lnTo>
                  <a:lnTo>
                    <a:pt x="76" y="124"/>
                  </a:lnTo>
                  <a:lnTo>
                    <a:pt x="70" y="113"/>
                  </a:lnTo>
                  <a:lnTo>
                    <a:pt x="61" y="98"/>
                  </a:lnTo>
                  <a:lnTo>
                    <a:pt x="51" y="79"/>
                  </a:lnTo>
                  <a:lnTo>
                    <a:pt x="38" y="59"/>
                  </a:lnTo>
                  <a:lnTo>
                    <a:pt x="25" y="37"/>
                  </a:lnTo>
                  <a:lnTo>
                    <a:pt x="12" y="18"/>
                  </a:lnTo>
                  <a:lnTo>
                    <a:pt x="0" y="0"/>
                  </a:lnTo>
                  <a:lnTo>
                    <a:pt x="2" y="14"/>
                  </a:lnTo>
                  <a:lnTo>
                    <a:pt x="7" y="30"/>
                  </a:lnTo>
                  <a:lnTo>
                    <a:pt x="12" y="48"/>
                  </a:lnTo>
                  <a:lnTo>
                    <a:pt x="19" y="66"/>
                  </a:lnTo>
                  <a:lnTo>
                    <a:pt x="27" y="84"/>
                  </a:lnTo>
                  <a:lnTo>
                    <a:pt x="37" y="102"/>
                  </a:lnTo>
                  <a:lnTo>
                    <a:pt x="48" y="118"/>
                  </a:lnTo>
                  <a:lnTo>
                    <a:pt x="63" y="133"/>
                  </a:lnTo>
                  <a:lnTo>
                    <a:pt x="69" y="133"/>
                  </a:lnTo>
                  <a:lnTo>
                    <a:pt x="75" y="133"/>
                  </a:lnTo>
                  <a:lnTo>
                    <a:pt x="78" y="131"/>
                  </a:lnTo>
                  <a:lnTo>
                    <a:pt x="82" y="129"/>
                  </a:lnTo>
                  <a:close/>
                </a:path>
              </a:pathLst>
            </a:custGeom>
            <a:solidFill>
              <a:srgbClr val="BFFFFF"/>
            </a:solidFill>
            <a:ln w="9525">
              <a:noFill/>
              <a:round/>
            </a:ln>
          </p:spPr>
          <p:txBody>
            <a:bodyPr/>
            <a:lstStyle/>
            <a:p>
              <a:endParaRPr lang="en-US"/>
            </a:p>
          </p:txBody>
        </p:sp>
        <p:sp>
          <p:nvSpPr>
            <p:cNvPr id="1048884" name="Freeform 177"/>
            <p:cNvSpPr/>
            <p:nvPr/>
          </p:nvSpPr>
          <p:spPr bwMode="auto">
            <a:xfrm>
              <a:off x="2534" y="3764"/>
              <a:ext cx="8" cy="9"/>
            </a:xfrm>
            <a:custGeom>
              <a:avLst/>
              <a:gdLst>
                <a:gd name="T0" fmla="*/ 4 w 17"/>
                <a:gd name="T1" fmla="*/ 9 h 19"/>
                <a:gd name="T2" fmla="*/ 6 w 17"/>
                <a:gd name="T3" fmla="*/ 9 h 19"/>
                <a:gd name="T4" fmla="*/ 7 w 17"/>
                <a:gd name="T5" fmla="*/ 7 h 19"/>
                <a:gd name="T6" fmla="*/ 7 w 17"/>
                <a:gd name="T7" fmla="*/ 6 h 19"/>
                <a:gd name="T8" fmla="*/ 8 w 17"/>
                <a:gd name="T9" fmla="*/ 5 h 19"/>
                <a:gd name="T10" fmla="*/ 7 w 17"/>
                <a:gd name="T11" fmla="*/ 3 h 19"/>
                <a:gd name="T12" fmla="*/ 7 w 17"/>
                <a:gd name="T13" fmla="*/ 1 h 19"/>
                <a:gd name="T14" fmla="*/ 6 w 17"/>
                <a:gd name="T15" fmla="*/ 1 h 19"/>
                <a:gd name="T16" fmla="*/ 4 w 17"/>
                <a:gd name="T17" fmla="*/ 0 h 19"/>
                <a:gd name="T18" fmla="*/ 2 w 17"/>
                <a:gd name="T19" fmla="*/ 1 h 19"/>
                <a:gd name="T20" fmla="*/ 1 w 17"/>
                <a:gd name="T21" fmla="*/ 1 h 19"/>
                <a:gd name="T22" fmla="*/ 1 w 17"/>
                <a:gd name="T23" fmla="*/ 3 h 19"/>
                <a:gd name="T24" fmla="*/ 0 w 17"/>
                <a:gd name="T25" fmla="*/ 5 h 19"/>
                <a:gd name="T26" fmla="*/ 1 w 17"/>
                <a:gd name="T27" fmla="*/ 6 h 19"/>
                <a:gd name="T28" fmla="*/ 1 w 17"/>
                <a:gd name="T29" fmla="*/ 7 h 19"/>
                <a:gd name="T30" fmla="*/ 2 w 17"/>
                <a:gd name="T31" fmla="*/ 9 h 19"/>
                <a:gd name="T32" fmla="*/ 4 w 17"/>
                <a:gd name="T33" fmla="*/ 9 h 19"/>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7"/>
                <a:gd name="T52" fmla="*/ 0 h 19"/>
                <a:gd name="T53" fmla="*/ 17 w 17"/>
                <a:gd name="T54" fmla="*/ 19 h 19"/>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7" h="19">
                  <a:moveTo>
                    <a:pt x="9" y="19"/>
                  </a:moveTo>
                  <a:lnTo>
                    <a:pt x="12" y="18"/>
                  </a:lnTo>
                  <a:lnTo>
                    <a:pt x="14" y="15"/>
                  </a:lnTo>
                  <a:lnTo>
                    <a:pt x="15" y="13"/>
                  </a:lnTo>
                  <a:lnTo>
                    <a:pt x="17" y="10"/>
                  </a:lnTo>
                  <a:lnTo>
                    <a:pt x="15" y="6"/>
                  </a:lnTo>
                  <a:lnTo>
                    <a:pt x="14" y="3"/>
                  </a:lnTo>
                  <a:lnTo>
                    <a:pt x="12" y="2"/>
                  </a:lnTo>
                  <a:lnTo>
                    <a:pt x="9" y="0"/>
                  </a:lnTo>
                  <a:lnTo>
                    <a:pt x="5" y="2"/>
                  </a:lnTo>
                  <a:lnTo>
                    <a:pt x="3" y="3"/>
                  </a:lnTo>
                  <a:lnTo>
                    <a:pt x="2" y="6"/>
                  </a:lnTo>
                  <a:lnTo>
                    <a:pt x="0" y="10"/>
                  </a:lnTo>
                  <a:lnTo>
                    <a:pt x="2" y="13"/>
                  </a:lnTo>
                  <a:lnTo>
                    <a:pt x="3" y="15"/>
                  </a:lnTo>
                  <a:lnTo>
                    <a:pt x="5" y="18"/>
                  </a:lnTo>
                  <a:lnTo>
                    <a:pt x="9" y="19"/>
                  </a:lnTo>
                  <a:close/>
                </a:path>
              </a:pathLst>
            </a:custGeom>
            <a:solidFill>
              <a:srgbClr val="FFFFFF"/>
            </a:solidFill>
            <a:ln w="9525">
              <a:noFill/>
              <a:round/>
            </a:ln>
          </p:spPr>
          <p:txBody>
            <a:bodyPr/>
            <a:lstStyle/>
            <a:p>
              <a:endParaRPr lang="en-US"/>
            </a:p>
          </p:txBody>
        </p:sp>
        <p:sp>
          <p:nvSpPr>
            <p:cNvPr id="1048885" name="Freeform 178"/>
            <p:cNvSpPr/>
            <p:nvPr/>
          </p:nvSpPr>
          <p:spPr bwMode="auto">
            <a:xfrm>
              <a:off x="2429" y="3735"/>
              <a:ext cx="89" cy="81"/>
            </a:xfrm>
            <a:custGeom>
              <a:avLst/>
              <a:gdLst>
                <a:gd name="T0" fmla="*/ 64 w 178"/>
                <a:gd name="T1" fmla="*/ 1 h 162"/>
                <a:gd name="T2" fmla="*/ 67 w 178"/>
                <a:gd name="T3" fmla="*/ 5 h 162"/>
                <a:gd name="T4" fmla="*/ 71 w 178"/>
                <a:gd name="T5" fmla="*/ 13 h 162"/>
                <a:gd name="T6" fmla="*/ 75 w 178"/>
                <a:gd name="T7" fmla="*/ 24 h 162"/>
                <a:gd name="T8" fmla="*/ 79 w 178"/>
                <a:gd name="T9" fmla="*/ 37 h 162"/>
                <a:gd name="T10" fmla="*/ 83 w 178"/>
                <a:gd name="T11" fmla="*/ 49 h 162"/>
                <a:gd name="T12" fmla="*/ 87 w 178"/>
                <a:gd name="T13" fmla="*/ 60 h 162"/>
                <a:gd name="T14" fmla="*/ 89 w 178"/>
                <a:gd name="T15" fmla="*/ 70 h 162"/>
                <a:gd name="T16" fmla="*/ 89 w 178"/>
                <a:gd name="T17" fmla="*/ 74 h 162"/>
                <a:gd name="T18" fmla="*/ 88 w 178"/>
                <a:gd name="T19" fmla="*/ 76 h 162"/>
                <a:gd name="T20" fmla="*/ 87 w 178"/>
                <a:gd name="T21" fmla="*/ 77 h 162"/>
                <a:gd name="T22" fmla="*/ 84 w 178"/>
                <a:gd name="T23" fmla="*/ 78 h 162"/>
                <a:gd name="T24" fmla="*/ 80 w 178"/>
                <a:gd name="T25" fmla="*/ 80 h 162"/>
                <a:gd name="T26" fmla="*/ 74 w 178"/>
                <a:gd name="T27" fmla="*/ 80 h 162"/>
                <a:gd name="T28" fmla="*/ 67 w 178"/>
                <a:gd name="T29" fmla="*/ 81 h 162"/>
                <a:gd name="T30" fmla="*/ 57 w 178"/>
                <a:gd name="T31" fmla="*/ 81 h 162"/>
                <a:gd name="T32" fmla="*/ 44 w 178"/>
                <a:gd name="T33" fmla="*/ 81 h 162"/>
                <a:gd name="T34" fmla="*/ 35 w 178"/>
                <a:gd name="T35" fmla="*/ 81 h 162"/>
                <a:gd name="T36" fmla="*/ 26 w 178"/>
                <a:gd name="T37" fmla="*/ 81 h 162"/>
                <a:gd name="T38" fmla="*/ 19 w 178"/>
                <a:gd name="T39" fmla="*/ 81 h 162"/>
                <a:gd name="T40" fmla="*/ 12 w 178"/>
                <a:gd name="T41" fmla="*/ 81 h 162"/>
                <a:gd name="T42" fmla="*/ 7 w 178"/>
                <a:gd name="T43" fmla="*/ 80 h 162"/>
                <a:gd name="T44" fmla="*/ 3 w 178"/>
                <a:gd name="T45" fmla="*/ 77 h 162"/>
                <a:gd name="T46" fmla="*/ 1 w 178"/>
                <a:gd name="T47" fmla="*/ 73 h 162"/>
                <a:gd name="T48" fmla="*/ 0 w 178"/>
                <a:gd name="T49" fmla="*/ 67 h 162"/>
                <a:gd name="T50" fmla="*/ 0 w 178"/>
                <a:gd name="T51" fmla="*/ 50 h 162"/>
                <a:gd name="T52" fmla="*/ 0 w 178"/>
                <a:gd name="T53" fmla="*/ 34 h 162"/>
                <a:gd name="T54" fmla="*/ 0 w 178"/>
                <a:gd name="T55" fmla="*/ 21 h 162"/>
                <a:gd name="T56" fmla="*/ 0 w 178"/>
                <a:gd name="T57" fmla="*/ 16 h 162"/>
                <a:gd name="T58" fmla="*/ 0 w 178"/>
                <a:gd name="T59" fmla="*/ 13 h 162"/>
                <a:gd name="T60" fmla="*/ 1 w 178"/>
                <a:gd name="T61" fmla="*/ 9 h 162"/>
                <a:gd name="T62" fmla="*/ 5 w 178"/>
                <a:gd name="T63" fmla="*/ 3 h 162"/>
                <a:gd name="T64" fmla="*/ 14 w 178"/>
                <a:gd name="T65" fmla="*/ 0 h 162"/>
                <a:gd name="T66" fmla="*/ 16 w 178"/>
                <a:gd name="T67" fmla="*/ 0 h 162"/>
                <a:gd name="T68" fmla="*/ 21 w 178"/>
                <a:gd name="T69" fmla="*/ 0 h 162"/>
                <a:gd name="T70" fmla="*/ 28 w 178"/>
                <a:gd name="T71" fmla="*/ 0 h 162"/>
                <a:gd name="T72" fmla="*/ 37 w 178"/>
                <a:gd name="T73" fmla="*/ 0 h 162"/>
                <a:gd name="T74" fmla="*/ 45 w 178"/>
                <a:gd name="T75" fmla="*/ 1 h 162"/>
                <a:gd name="T76" fmla="*/ 53 w 178"/>
                <a:gd name="T77" fmla="*/ 1 h 162"/>
                <a:gd name="T78" fmla="*/ 60 w 178"/>
                <a:gd name="T79" fmla="*/ 1 h 162"/>
                <a:gd name="T80" fmla="*/ 64 w 178"/>
                <a:gd name="T81" fmla="*/ 1 h 162"/>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178"/>
                <a:gd name="T124" fmla="*/ 0 h 162"/>
                <a:gd name="T125" fmla="*/ 178 w 178"/>
                <a:gd name="T126" fmla="*/ 162 h 162"/>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178" h="162">
                  <a:moveTo>
                    <a:pt x="128" y="3"/>
                  </a:moveTo>
                  <a:lnTo>
                    <a:pt x="133" y="10"/>
                  </a:lnTo>
                  <a:lnTo>
                    <a:pt x="141" y="26"/>
                  </a:lnTo>
                  <a:lnTo>
                    <a:pt x="150" y="49"/>
                  </a:lnTo>
                  <a:lnTo>
                    <a:pt x="158" y="73"/>
                  </a:lnTo>
                  <a:lnTo>
                    <a:pt x="166" y="99"/>
                  </a:lnTo>
                  <a:lnTo>
                    <a:pt x="174" y="121"/>
                  </a:lnTo>
                  <a:lnTo>
                    <a:pt x="178" y="139"/>
                  </a:lnTo>
                  <a:lnTo>
                    <a:pt x="178" y="148"/>
                  </a:lnTo>
                  <a:lnTo>
                    <a:pt x="176" y="152"/>
                  </a:lnTo>
                  <a:lnTo>
                    <a:pt x="173" y="154"/>
                  </a:lnTo>
                  <a:lnTo>
                    <a:pt x="168" y="156"/>
                  </a:lnTo>
                  <a:lnTo>
                    <a:pt x="160" y="159"/>
                  </a:lnTo>
                  <a:lnTo>
                    <a:pt x="148" y="160"/>
                  </a:lnTo>
                  <a:lnTo>
                    <a:pt x="133" y="162"/>
                  </a:lnTo>
                  <a:lnTo>
                    <a:pt x="114" y="162"/>
                  </a:lnTo>
                  <a:lnTo>
                    <a:pt x="88" y="162"/>
                  </a:lnTo>
                  <a:lnTo>
                    <a:pt x="70" y="162"/>
                  </a:lnTo>
                  <a:lnTo>
                    <a:pt x="53" y="162"/>
                  </a:lnTo>
                  <a:lnTo>
                    <a:pt x="38" y="162"/>
                  </a:lnTo>
                  <a:lnTo>
                    <a:pt x="24" y="161"/>
                  </a:lnTo>
                  <a:lnTo>
                    <a:pt x="14" y="159"/>
                  </a:lnTo>
                  <a:lnTo>
                    <a:pt x="6" y="153"/>
                  </a:lnTo>
                  <a:lnTo>
                    <a:pt x="1" y="146"/>
                  </a:lnTo>
                  <a:lnTo>
                    <a:pt x="0" y="134"/>
                  </a:lnTo>
                  <a:lnTo>
                    <a:pt x="0" y="100"/>
                  </a:lnTo>
                  <a:lnTo>
                    <a:pt x="0" y="67"/>
                  </a:lnTo>
                  <a:lnTo>
                    <a:pt x="0" y="42"/>
                  </a:lnTo>
                  <a:lnTo>
                    <a:pt x="0" y="32"/>
                  </a:lnTo>
                  <a:lnTo>
                    <a:pt x="0" y="27"/>
                  </a:lnTo>
                  <a:lnTo>
                    <a:pt x="2" y="17"/>
                  </a:lnTo>
                  <a:lnTo>
                    <a:pt x="10" y="5"/>
                  </a:lnTo>
                  <a:lnTo>
                    <a:pt x="29" y="0"/>
                  </a:lnTo>
                  <a:lnTo>
                    <a:pt x="32" y="0"/>
                  </a:lnTo>
                  <a:lnTo>
                    <a:pt x="42" y="0"/>
                  </a:lnTo>
                  <a:lnTo>
                    <a:pt x="56" y="0"/>
                  </a:lnTo>
                  <a:lnTo>
                    <a:pt x="73" y="0"/>
                  </a:lnTo>
                  <a:lnTo>
                    <a:pt x="91" y="1"/>
                  </a:lnTo>
                  <a:lnTo>
                    <a:pt x="107" y="1"/>
                  </a:lnTo>
                  <a:lnTo>
                    <a:pt x="120" y="2"/>
                  </a:lnTo>
                  <a:lnTo>
                    <a:pt x="128" y="3"/>
                  </a:lnTo>
                  <a:close/>
                </a:path>
              </a:pathLst>
            </a:custGeom>
            <a:solidFill>
              <a:srgbClr val="000000"/>
            </a:solidFill>
            <a:ln w="9525">
              <a:noFill/>
              <a:round/>
            </a:ln>
          </p:spPr>
          <p:txBody>
            <a:bodyPr/>
            <a:lstStyle/>
            <a:p>
              <a:endParaRPr lang="en-US"/>
            </a:p>
          </p:txBody>
        </p:sp>
        <p:sp>
          <p:nvSpPr>
            <p:cNvPr id="1048886" name="Freeform 179"/>
            <p:cNvSpPr/>
            <p:nvPr/>
          </p:nvSpPr>
          <p:spPr bwMode="auto">
            <a:xfrm>
              <a:off x="2442" y="3743"/>
              <a:ext cx="39" cy="66"/>
            </a:xfrm>
            <a:custGeom>
              <a:avLst/>
              <a:gdLst>
                <a:gd name="T0" fmla="*/ 2 w 79"/>
                <a:gd name="T1" fmla="*/ 19 h 131"/>
                <a:gd name="T2" fmla="*/ 0 w 79"/>
                <a:gd name="T3" fmla="*/ 31 h 131"/>
                <a:gd name="T4" fmla="*/ 0 w 79"/>
                <a:gd name="T5" fmla="*/ 43 h 131"/>
                <a:gd name="T6" fmla="*/ 3 w 79"/>
                <a:gd name="T7" fmla="*/ 55 h 131"/>
                <a:gd name="T8" fmla="*/ 9 w 79"/>
                <a:gd name="T9" fmla="*/ 66 h 131"/>
                <a:gd name="T10" fmla="*/ 11 w 79"/>
                <a:gd name="T11" fmla="*/ 66 h 131"/>
                <a:gd name="T12" fmla="*/ 13 w 79"/>
                <a:gd name="T13" fmla="*/ 66 h 131"/>
                <a:gd name="T14" fmla="*/ 15 w 79"/>
                <a:gd name="T15" fmla="*/ 66 h 131"/>
                <a:gd name="T16" fmla="*/ 18 w 79"/>
                <a:gd name="T17" fmla="*/ 66 h 131"/>
                <a:gd name="T18" fmla="*/ 21 w 79"/>
                <a:gd name="T19" fmla="*/ 66 h 131"/>
                <a:gd name="T20" fmla="*/ 23 w 79"/>
                <a:gd name="T21" fmla="*/ 66 h 131"/>
                <a:gd name="T22" fmla="*/ 27 w 79"/>
                <a:gd name="T23" fmla="*/ 65 h 131"/>
                <a:gd name="T24" fmla="*/ 30 w 79"/>
                <a:gd name="T25" fmla="*/ 65 h 131"/>
                <a:gd name="T26" fmla="*/ 32 w 79"/>
                <a:gd name="T27" fmla="*/ 65 h 131"/>
                <a:gd name="T28" fmla="*/ 34 w 79"/>
                <a:gd name="T29" fmla="*/ 65 h 131"/>
                <a:gd name="T30" fmla="*/ 37 w 79"/>
                <a:gd name="T31" fmla="*/ 65 h 131"/>
                <a:gd name="T32" fmla="*/ 39 w 79"/>
                <a:gd name="T33" fmla="*/ 65 h 131"/>
                <a:gd name="T34" fmla="*/ 39 w 79"/>
                <a:gd name="T35" fmla="*/ 0 h 131"/>
                <a:gd name="T36" fmla="*/ 14 w 79"/>
                <a:gd name="T37" fmla="*/ 0 h 131"/>
                <a:gd name="T38" fmla="*/ 10 w 79"/>
                <a:gd name="T39" fmla="*/ 3 h 131"/>
                <a:gd name="T40" fmla="*/ 7 w 79"/>
                <a:gd name="T41" fmla="*/ 7 h 131"/>
                <a:gd name="T42" fmla="*/ 4 w 79"/>
                <a:gd name="T43" fmla="*/ 13 h 131"/>
                <a:gd name="T44" fmla="*/ 2 w 79"/>
                <a:gd name="T45" fmla="*/ 19 h 131"/>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79"/>
                <a:gd name="T70" fmla="*/ 0 h 131"/>
                <a:gd name="T71" fmla="*/ 79 w 79"/>
                <a:gd name="T72" fmla="*/ 131 h 131"/>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79" h="131">
                  <a:moveTo>
                    <a:pt x="4" y="38"/>
                  </a:moveTo>
                  <a:lnTo>
                    <a:pt x="0" y="61"/>
                  </a:lnTo>
                  <a:lnTo>
                    <a:pt x="1" y="86"/>
                  </a:lnTo>
                  <a:lnTo>
                    <a:pt x="7" y="109"/>
                  </a:lnTo>
                  <a:lnTo>
                    <a:pt x="18" y="131"/>
                  </a:lnTo>
                  <a:lnTo>
                    <a:pt x="22" y="131"/>
                  </a:lnTo>
                  <a:lnTo>
                    <a:pt x="27" y="131"/>
                  </a:lnTo>
                  <a:lnTo>
                    <a:pt x="31" y="131"/>
                  </a:lnTo>
                  <a:lnTo>
                    <a:pt x="37" y="131"/>
                  </a:lnTo>
                  <a:lnTo>
                    <a:pt x="42" y="131"/>
                  </a:lnTo>
                  <a:lnTo>
                    <a:pt x="47" y="131"/>
                  </a:lnTo>
                  <a:lnTo>
                    <a:pt x="54" y="130"/>
                  </a:lnTo>
                  <a:lnTo>
                    <a:pt x="60" y="130"/>
                  </a:lnTo>
                  <a:lnTo>
                    <a:pt x="65" y="130"/>
                  </a:lnTo>
                  <a:lnTo>
                    <a:pt x="69" y="130"/>
                  </a:lnTo>
                  <a:lnTo>
                    <a:pt x="74" y="130"/>
                  </a:lnTo>
                  <a:lnTo>
                    <a:pt x="79" y="130"/>
                  </a:lnTo>
                  <a:lnTo>
                    <a:pt x="79" y="0"/>
                  </a:lnTo>
                  <a:lnTo>
                    <a:pt x="29" y="0"/>
                  </a:lnTo>
                  <a:lnTo>
                    <a:pt x="21" y="6"/>
                  </a:lnTo>
                  <a:lnTo>
                    <a:pt x="14" y="14"/>
                  </a:lnTo>
                  <a:lnTo>
                    <a:pt x="8" y="25"/>
                  </a:lnTo>
                  <a:lnTo>
                    <a:pt x="4" y="38"/>
                  </a:lnTo>
                  <a:close/>
                </a:path>
              </a:pathLst>
            </a:custGeom>
            <a:solidFill>
              <a:srgbClr val="BFFFFF"/>
            </a:solidFill>
            <a:ln w="9525">
              <a:noFill/>
              <a:round/>
            </a:ln>
          </p:spPr>
          <p:txBody>
            <a:bodyPr/>
            <a:lstStyle/>
            <a:p>
              <a:endParaRPr lang="en-US"/>
            </a:p>
          </p:txBody>
        </p:sp>
        <p:sp>
          <p:nvSpPr>
            <p:cNvPr id="1048887" name="Freeform 180"/>
            <p:cNvSpPr/>
            <p:nvPr/>
          </p:nvSpPr>
          <p:spPr bwMode="auto">
            <a:xfrm>
              <a:off x="2437" y="3743"/>
              <a:ext cx="20" cy="66"/>
            </a:xfrm>
            <a:custGeom>
              <a:avLst/>
              <a:gdLst>
                <a:gd name="T0" fmla="*/ 0 w 39"/>
                <a:gd name="T1" fmla="*/ 13 h 131"/>
                <a:gd name="T2" fmla="*/ 0 w 39"/>
                <a:gd name="T3" fmla="*/ 17 h 131"/>
                <a:gd name="T4" fmla="*/ 0 w 39"/>
                <a:gd name="T5" fmla="*/ 27 h 131"/>
                <a:gd name="T6" fmla="*/ 0 w 39"/>
                <a:gd name="T7" fmla="*/ 40 h 131"/>
                <a:gd name="T8" fmla="*/ 0 w 39"/>
                <a:gd name="T9" fmla="*/ 54 h 131"/>
                <a:gd name="T10" fmla="*/ 1 w 39"/>
                <a:gd name="T11" fmla="*/ 59 h 131"/>
                <a:gd name="T12" fmla="*/ 4 w 39"/>
                <a:gd name="T13" fmla="*/ 63 h 131"/>
                <a:gd name="T14" fmla="*/ 8 w 39"/>
                <a:gd name="T15" fmla="*/ 65 h 131"/>
                <a:gd name="T16" fmla="*/ 14 w 39"/>
                <a:gd name="T17" fmla="*/ 66 h 131"/>
                <a:gd name="T18" fmla="*/ 9 w 39"/>
                <a:gd name="T19" fmla="*/ 55 h 131"/>
                <a:gd name="T20" fmla="*/ 6 w 39"/>
                <a:gd name="T21" fmla="*/ 43 h 131"/>
                <a:gd name="T22" fmla="*/ 5 w 39"/>
                <a:gd name="T23" fmla="*/ 31 h 131"/>
                <a:gd name="T24" fmla="*/ 7 w 39"/>
                <a:gd name="T25" fmla="*/ 19 h 131"/>
                <a:gd name="T26" fmla="*/ 9 w 39"/>
                <a:gd name="T27" fmla="*/ 13 h 131"/>
                <a:gd name="T28" fmla="*/ 12 w 39"/>
                <a:gd name="T29" fmla="*/ 7 h 131"/>
                <a:gd name="T30" fmla="*/ 16 w 39"/>
                <a:gd name="T31" fmla="*/ 3 h 131"/>
                <a:gd name="T32" fmla="*/ 20 w 39"/>
                <a:gd name="T33" fmla="*/ 0 h 131"/>
                <a:gd name="T34" fmla="*/ 12 w 39"/>
                <a:gd name="T35" fmla="*/ 0 h 131"/>
                <a:gd name="T36" fmla="*/ 6 w 39"/>
                <a:gd name="T37" fmla="*/ 2 h 131"/>
                <a:gd name="T38" fmla="*/ 2 w 39"/>
                <a:gd name="T39" fmla="*/ 6 h 131"/>
                <a:gd name="T40" fmla="*/ 1 w 39"/>
                <a:gd name="T41" fmla="*/ 11 h 131"/>
                <a:gd name="T42" fmla="*/ 0 w 39"/>
                <a:gd name="T43" fmla="*/ 13 h 131"/>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39"/>
                <a:gd name="T67" fmla="*/ 0 h 131"/>
                <a:gd name="T68" fmla="*/ 39 w 39"/>
                <a:gd name="T69" fmla="*/ 131 h 131"/>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39" h="131">
                  <a:moveTo>
                    <a:pt x="0" y="25"/>
                  </a:moveTo>
                  <a:lnTo>
                    <a:pt x="0" y="33"/>
                  </a:lnTo>
                  <a:lnTo>
                    <a:pt x="0" y="54"/>
                  </a:lnTo>
                  <a:lnTo>
                    <a:pt x="0" y="80"/>
                  </a:lnTo>
                  <a:lnTo>
                    <a:pt x="0" y="108"/>
                  </a:lnTo>
                  <a:lnTo>
                    <a:pt x="2" y="118"/>
                  </a:lnTo>
                  <a:lnTo>
                    <a:pt x="8" y="125"/>
                  </a:lnTo>
                  <a:lnTo>
                    <a:pt x="16" y="129"/>
                  </a:lnTo>
                  <a:lnTo>
                    <a:pt x="28" y="131"/>
                  </a:lnTo>
                  <a:lnTo>
                    <a:pt x="17" y="109"/>
                  </a:lnTo>
                  <a:lnTo>
                    <a:pt x="11" y="86"/>
                  </a:lnTo>
                  <a:lnTo>
                    <a:pt x="10" y="61"/>
                  </a:lnTo>
                  <a:lnTo>
                    <a:pt x="14" y="38"/>
                  </a:lnTo>
                  <a:lnTo>
                    <a:pt x="18" y="25"/>
                  </a:lnTo>
                  <a:lnTo>
                    <a:pt x="24" y="14"/>
                  </a:lnTo>
                  <a:lnTo>
                    <a:pt x="31" y="6"/>
                  </a:lnTo>
                  <a:lnTo>
                    <a:pt x="39" y="0"/>
                  </a:lnTo>
                  <a:lnTo>
                    <a:pt x="24" y="0"/>
                  </a:lnTo>
                  <a:lnTo>
                    <a:pt x="11" y="3"/>
                  </a:lnTo>
                  <a:lnTo>
                    <a:pt x="3" y="12"/>
                  </a:lnTo>
                  <a:lnTo>
                    <a:pt x="1" y="22"/>
                  </a:lnTo>
                  <a:lnTo>
                    <a:pt x="0" y="25"/>
                  </a:lnTo>
                  <a:close/>
                </a:path>
              </a:pathLst>
            </a:custGeom>
            <a:solidFill>
              <a:srgbClr val="3FFFFF"/>
            </a:solidFill>
            <a:ln w="9525">
              <a:noFill/>
              <a:round/>
            </a:ln>
          </p:spPr>
          <p:txBody>
            <a:bodyPr/>
            <a:lstStyle/>
            <a:p>
              <a:endParaRPr lang="en-US"/>
            </a:p>
          </p:txBody>
        </p:sp>
        <p:sp>
          <p:nvSpPr>
            <p:cNvPr id="1048888" name="Freeform 181"/>
            <p:cNvSpPr/>
            <p:nvPr/>
          </p:nvSpPr>
          <p:spPr bwMode="auto">
            <a:xfrm>
              <a:off x="2489" y="3745"/>
              <a:ext cx="21" cy="62"/>
            </a:xfrm>
            <a:custGeom>
              <a:avLst/>
              <a:gdLst>
                <a:gd name="T0" fmla="*/ 21 w 40"/>
                <a:gd name="T1" fmla="*/ 58 h 126"/>
                <a:gd name="T2" fmla="*/ 20 w 40"/>
                <a:gd name="T3" fmla="*/ 54 h 126"/>
                <a:gd name="T4" fmla="*/ 18 w 40"/>
                <a:gd name="T5" fmla="*/ 48 h 126"/>
                <a:gd name="T6" fmla="*/ 16 w 40"/>
                <a:gd name="T7" fmla="*/ 40 h 126"/>
                <a:gd name="T8" fmla="*/ 13 w 40"/>
                <a:gd name="T9" fmla="*/ 31 h 126"/>
                <a:gd name="T10" fmla="*/ 8 w 40"/>
                <a:gd name="T11" fmla="*/ 21 h 126"/>
                <a:gd name="T12" fmla="*/ 5 w 40"/>
                <a:gd name="T13" fmla="*/ 13 h 126"/>
                <a:gd name="T14" fmla="*/ 2 w 40"/>
                <a:gd name="T15" fmla="*/ 5 h 126"/>
                <a:gd name="T16" fmla="*/ 0 w 40"/>
                <a:gd name="T17" fmla="*/ 0 h 126"/>
                <a:gd name="T18" fmla="*/ 0 w 40"/>
                <a:gd name="T19" fmla="*/ 1 h 126"/>
                <a:gd name="T20" fmla="*/ 6 w 40"/>
                <a:gd name="T21" fmla="*/ 20 h 126"/>
                <a:gd name="T22" fmla="*/ 9 w 40"/>
                <a:gd name="T23" fmla="*/ 36 h 126"/>
                <a:gd name="T24" fmla="*/ 10 w 40"/>
                <a:gd name="T25" fmla="*/ 50 h 126"/>
                <a:gd name="T26" fmla="*/ 9 w 40"/>
                <a:gd name="T27" fmla="*/ 62 h 126"/>
                <a:gd name="T28" fmla="*/ 14 w 40"/>
                <a:gd name="T29" fmla="*/ 61 h 126"/>
                <a:gd name="T30" fmla="*/ 17 w 40"/>
                <a:gd name="T31" fmla="*/ 60 h 126"/>
                <a:gd name="T32" fmla="*/ 20 w 40"/>
                <a:gd name="T33" fmla="*/ 59 h 126"/>
                <a:gd name="T34" fmla="*/ 21 w 40"/>
                <a:gd name="T35" fmla="*/ 58 h 12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0"/>
                <a:gd name="T55" fmla="*/ 0 h 126"/>
                <a:gd name="T56" fmla="*/ 40 w 40"/>
                <a:gd name="T57" fmla="*/ 126 h 12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0" h="126">
                  <a:moveTo>
                    <a:pt x="40" y="117"/>
                  </a:moveTo>
                  <a:lnTo>
                    <a:pt x="39" y="110"/>
                  </a:lnTo>
                  <a:lnTo>
                    <a:pt x="35" y="97"/>
                  </a:lnTo>
                  <a:lnTo>
                    <a:pt x="30" y="81"/>
                  </a:lnTo>
                  <a:lnTo>
                    <a:pt x="24" y="62"/>
                  </a:lnTo>
                  <a:lnTo>
                    <a:pt x="16" y="43"/>
                  </a:lnTo>
                  <a:lnTo>
                    <a:pt x="10" y="26"/>
                  </a:lnTo>
                  <a:lnTo>
                    <a:pt x="4" y="11"/>
                  </a:lnTo>
                  <a:lnTo>
                    <a:pt x="0" y="0"/>
                  </a:lnTo>
                  <a:lnTo>
                    <a:pt x="0" y="3"/>
                  </a:lnTo>
                  <a:lnTo>
                    <a:pt x="12" y="41"/>
                  </a:lnTo>
                  <a:lnTo>
                    <a:pt x="18" y="74"/>
                  </a:lnTo>
                  <a:lnTo>
                    <a:pt x="19" y="102"/>
                  </a:lnTo>
                  <a:lnTo>
                    <a:pt x="17" y="126"/>
                  </a:lnTo>
                  <a:lnTo>
                    <a:pt x="26" y="124"/>
                  </a:lnTo>
                  <a:lnTo>
                    <a:pt x="33" y="122"/>
                  </a:lnTo>
                  <a:lnTo>
                    <a:pt x="38" y="120"/>
                  </a:lnTo>
                  <a:lnTo>
                    <a:pt x="40" y="117"/>
                  </a:lnTo>
                  <a:close/>
                </a:path>
              </a:pathLst>
            </a:custGeom>
            <a:solidFill>
              <a:srgbClr val="3FFFFF"/>
            </a:solidFill>
            <a:ln w="9525">
              <a:noFill/>
              <a:round/>
            </a:ln>
          </p:spPr>
          <p:txBody>
            <a:bodyPr/>
            <a:lstStyle/>
            <a:p>
              <a:endParaRPr lang="en-US"/>
            </a:p>
          </p:txBody>
        </p:sp>
        <p:sp>
          <p:nvSpPr>
            <p:cNvPr id="1048889" name="Freeform 182"/>
            <p:cNvSpPr/>
            <p:nvPr/>
          </p:nvSpPr>
          <p:spPr bwMode="auto">
            <a:xfrm>
              <a:off x="2489" y="3746"/>
              <a:ext cx="10" cy="61"/>
            </a:xfrm>
            <a:custGeom>
              <a:avLst/>
              <a:gdLst>
                <a:gd name="T0" fmla="*/ 0 w 19"/>
                <a:gd name="T1" fmla="*/ 0 h 123"/>
                <a:gd name="T2" fmla="*/ 0 w 19"/>
                <a:gd name="T3" fmla="*/ 61 h 123"/>
                <a:gd name="T4" fmla="*/ 2 w 19"/>
                <a:gd name="T5" fmla="*/ 61 h 123"/>
                <a:gd name="T6" fmla="*/ 5 w 19"/>
                <a:gd name="T7" fmla="*/ 61 h 123"/>
                <a:gd name="T8" fmla="*/ 7 w 19"/>
                <a:gd name="T9" fmla="*/ 61 h 123"/>
                <a:gd name="T10" fmla="*/ 9 w 19"/>
                <a:gd name="T11" fmla="*/ 61 h 123"/>
                <a:gd name="T12" fmla="*/ 10 w 19"/>
                <a:gd name="T13" fmla="*/ 49 h 123"/>
                <a:gd name="T14" fmla="*/ 9 w 19"/>
                <a:gd name="T15" fmla="*/ 35 h 123"/>
                <a:gd name="T16" fmla="*/ 6 w 19"/>
                <a:gd name="T17" fmla="*/ 19 h 123"/>
                <a:gd name="T18" fmla="*/ 0 w 19"/>
                <a:gd name="T19" fmla="*/ 0 h 12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9"/>
                <a:gd name="T31" fmla="*/ 0 h 123"/>
                <a:gd name="T32" fmla="*/ 19 w 19"/>
                <a:gd name="T33" fmla="*/ 123 h 123"/>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9" h="123">
                  <a:moveTo>
                    <a:pt x="0" y="0"/>
                  </a:moveTo>
                  <a:lnTo>
                    <a:pt x="0" y="123"/>
                  </a:lnTo>
                  <a:lnTo>
                    <a:pt x="4" y="123"/>
                  </a:lnTo>
                  <a:lnTo>
                    <a:pt x="9" y="123"/>
                  </a:lnTo>
                  <a:lnTo>
                    <a:pt x="14" y="123"/>
                  </a:lnTo>
                  <a:lnTo>
                    <a:pt x="17" y="123"/>
                  </a:lnTo>
                  <a:lnTo>
                    <a:pt x="19" y="99"/>
                  </a:lnTo>
                  <a:lnTo>
                    <a:pt x="18" y="71"/>
                  </a:lnTo>
                  <a:lnTo>
                    <a:pt x="12" y="38"/>
                  </a:lnTo>
                  <a:lnTo>
                    <a:pt x="0" y="0"/>
                  </a:lnTo>
                  <a:close/>
                </a:path>
              </a:pathLst>
            </a:custGeom>
            <a:solidFill>
              <a:srgbClr val="BFFFFF"/>
            </a:solidFill>
            <a:ln w="9525">
              <a:noFill/>
              <a:round/>
            </a:ln>
          </p:spPr>
          <p:txBody>
            <a:bodyPr/>
            <a:lstStyle/>
            <a:p>
              <a:endParaRPr lang="en-US"/>
            </a:p>
          </p:txBody>
        </p:sp>
        <p:sp>
          <p:nvSpPr>
            <p:cNvPr id="1048890" name="Freeform 183"/>
            <p:cNvSpPr/>
            <p:nvPr/>
          </p:nvSpPr>
          <p:spPr bwMode="auto">
            <a:xfrm>
              <a:off x="2470" y="3779"/>
              <a:ext cx="7" cy="11"/>
            </a:xfrm>
            <a:custGeom>
              <a:avLst/>
              <a:gdLst>
                <a:gd name="T0" fmla="*/ 4 w 14"/>
                <a:gd name="T1" fmla="*/ 11 h 21"/>
                <a:gd name="T2" fmla="*/ 5 w 14"/>
                <a:gd name="T3" fmla="*/ 10 h 21"/>
                <a:gd name="T4" fmla="*/ 6 w 14"/>
                <a:gd name="T5" fmla="*/ 9 h 21"/>
                <a:gd name="T6" fmla="*/ 6 w 14"/>
                <a:gd name="T7" fmla="*/ 8 h 21"/>
                <a:gd name="T8" fmla="*/ 7 w 14"/>
                <a:gd name="T9" fmla="*/ 6 h 21"/>
                <a:gd name="T10" fmla="*/ 6 w 14"/>
                <a:gd name="T11" fmla="*/ 3 h 21"/>
                <a:gd name="T12" fmla="*/ 6 w 14"/>
                <a:gd name="T13" fmla="*/ 2 h 21"/>
                <a:gd name="T14" fmla="*/ 5 w 14"/>
                <a:gd name="T15" fmla="*/ 1 h 21"/>
                <a:gd name="T16" fmla="*/ 4 w 14"/>
                <a:gd name="T17" fmla="*/ 0 h 21"/>
                <a:gd name="T18" fmla="*/ 2 w 14"/>
                <a:gd name="T19" fmla="*/ 1 h 21"/>
                <a:gd name="T20" fmla="*/ 1 w 14"/>
                <a:gd name="T21" fmla="*/ 2 h 21"/>
                <a:gd name="T22" fmla="*/ 0 w 14"/>
                <a:gd name="T23" fmla="*/ 3 h 21"/>
                <a:gd name="T24" fmla="*/ 0 w 14"/>
                <a:gd name="T25" fmla="*/ 6 h 21"/>
                <a:gd name="T26" fmla="*/ 0 w 14"/>
                <a:gd name="T27" fmla="*/ 8 h 21"/>
                <a:gd name="T28" fmla="*/ 1 w 14"/>
                <a:gd name="T29" fmla="*/ 9 h 21"/>
                <a:gd name="T30" fmla="*/ 2 w 14"/>
                <a:gd name="T31" fmla="*/ 10 h 21"/>
                <a:gd name="T32" fmla="*/ 4 w 14"/>
                <a:gd name="T33" fmla="*/ 11 h 21"/>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4"/>
                <a:gd name="T52" fmla="*/ 0 h 21"/>
                <a:gd name="T53" fmla="*/ 14 w 14"/>
                <a:gd name="T54" fmla="*/ 21 h 21"/>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4" h="21">
                  <a:moveTo>
                    <a:pt x="7" y="21"/>
                  </a:moveTo>
                  <a:lnTo>
                    <a:pt x="9" y="20"/>
                  </a:lnTo>
                  <a:lnTo>
                    <a:pt x="11" y="18"/>
                  </a:lnTo>
                  <a:lnTo>
                    <a:pt x="12" y="15"/>
                  </a:lnTo>
                  <a:lnTo>
                    <a:pt x="14" y="11"/>
                  </a:lnTo>
                  <a:lnTo>
                    <a:pt x="12" y="6"/>
                  </a:lnTo>
                  <a:lnTo>
                    <a:pt x="11" y="4"/>
                  </a:lnTo>
                  <a:lnTo>
                    <a:pt x="9" y="2"/>
                  </a:lnTo>
                  <a:lnTo>
                    <a:pt x="7" y="0"/>
                  </a:lnTo>
                  <a:lnTo>
                    <a:pt x="3" y="2"/>
                  </a:lnTo>
                  <a:lnTo>
                    <a:pt x="2" y="4"/>
                  </a:lnTo>
                  <a:lnTo>
                    <a:pt x="0" y="6"/>
                  </a:lnTo>
                  <a:lnTo>
                    <a:pt x="0" y="11"/>
                  </a:lnTo>
                  <a:lnTo>
                    <a:pt x="0" y="15"/>
                  </a:lnTo>
                  <a:lnTo>
                    <a:pt x="2" y="18"/>
                  </a:lnTo>
                  <a:lnTo>
                    <a:pt x="3" y="20"/>
                  </a:lnTo>
                  <a:lnTo>
                    <a:pt x="7" y="21"/>
                  </a:lnTo>
                  <a:close/>
                </a:path>
              </a:pathLst>
            </a:custGeom>
            <a:solidFill>
              <a:srgbClr val="FFFFFF"/>
            </a:solidFill>
            <a:ln w="9525">
              <a:noFill/>
              <a:round/>
            </a:ln>
          </p:spPr>
          <p:txBody>
            <a:bodyPr/>
            <a:lstStyle/>
            <a:p>
              <a:endParaRPr lang="en-US"/>
            </a:p>
          </p:txBody>
        </p:sp>
        <p:sp>
          <p:nvSpPr>
            <p:cNvPr id="1048891" name="Freeform 184"/>
            <p:cNvSpPr/>
            <p:nvPr/>
          </p:nvSpPr>
          <p:spPr bwMode="auto">
            <a:xfrm>
              <a:off x="2460" y="3762"/>
              <a:ext cx="7" cy="9"/>
            </a:xfrm>
            <a:custGeom>
              <a:avLst/>
              <a:gdLst>
                <a:gd name="T0" fmla="*/ 4 w 15"/>
                <a:gd name="T1" fmla="*/ 9 h 17"/>
                <a:gd name="T2" fmla="*/ 5 w 15"/>
                <a:gd name="T3" fmla="*/ 8 h 17"/>
                <a:gd name="T4" fmla="*/ 6 w 15"/>
                <a:gd name="T5" fmla="*/ 8 h 17"/>
                <a:gd name="T6" fmla="*/ 7 w 15"/>
                <a:gd name="T7" fmla="*/ 6 h 17"/>
                <a:gd name="T8" fmla="*/ 7 w 15"/>
                <a:gd name="T9" fmla="*/ 4 h 17"/>
                <a:gd name="T10" fmla="*/ 7 w 15"/>
                <a:gd name="T11" fmla="*/ 2 h 17"/>
                <a:gd name="T12" fmla="*/ 6 w 15"/>
                <a:gd name="T13" fmla="*/ 1 h 17"/>
                <a:gd name="T14" fmla="*/ 5 w 15"/>
                <a:gd name="T15" fmla="*/ 1 h 17"/>
                <a:gd name="T16" fmla="*/ 4 w 15"/>
                <a:gd name="T17" fmla="*/ 0 h 17"/>
                <a:gd name="T18" fmla="*/ 2 w 15"/>
                <a:gd name="T19" fmla="*/ 1 h 17"/>
                <a:gd name="T20" fmla="*/ 1 w 15"/>
                <a:gd name="T21" fmla="*/ 1 h 17"/>
                <a:gd name="T22" fmla="*/ 0 w 15"/>
                <a:gd name="T23" fmla="*/ 2 h 17"/>
                <a:gd name="T24" fmla="*/ 0 w 15"/>
                <a:gd name="T25" fmla="*/ 4 h 17"/>
                <a:gd name="T26" fmla="*/ 0 w 15"/>
                <a:gd name="T27" fmla="*/ 6 h 17"/>
                <a:gd name="T28" fmla="*/ 1 w 15"/>
                <a:gd name="T29" fmla="*/ 8 h 17"/>
                <a:gd name="T30" fmla="*/ 2 w 15"/>
                <a:gd name="T31" fmla="*/ 8 h 17"/>
                <a:gd name="T32" fmla="*/ 4 w 15"/>
                <a:gd name="T33" fmla="*/ 9 h 1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5"/>
                <a:gd name="T52" fmla="*/ 0 h 17"/>
                <a:gd name="T53" fmla="*/ 15 w 15"/>
                <a:gd name="T54" fmla="*/ 17 h 17"/>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5" h="17">
                  <a:moveTo>
                    <a:pt x="8" y="17"/>
                  </a:moveTo>
                  <a:lnTo>
                    <a:pt x="10" y="16"/>
                  </a:lnTo>
                  <a:lnTo>
                    <a:pt x="13" y="15"/>
                  </a:lnTo>
                  <a:lnTo>
                    <a:pt x="14" y="11"/>
                  </a:lnTo>
                  <a:lnTo>
                    <a:pt x="15" y="8"/>
                  </a:lnTo>
                  <a:lnTo>
                    <a:pt x="14" y="4"/>
                  </a:lnTo>
                  <a:lnTo>
                    <a:pt x="13" y="2"/>
                  </a:lnTo>
                  <a:lnTo>
                    <a:pt x="10" y="1"/>
                  </a:lnTo>
                  <a:lnTo>
                    <a:pt x="8" y="0"/>
                  </a:lnTo>
                  <a:lnTo>
                    <a:pt x="5" y="1"/>
                  </a:lnTo>
                  <a:lnTo>
                    <a:pt x="2" y="2"/>
                  </a:lnTo>
                  <a:lnTo>
                    <a:pt x="1" y="4"/>
                  </a:lnTo>
                  <a:lnTo>
                    <a:pt x="0" y="8"/>
                  </a:lnTo>
                  <a:lnTo>
                    <a:pt x="1" y="11"/>
                  </a:lnTo>
                  <a:lnTo>
                    <a:pt x="2" y="15"/>
                  </a:lnTo>
                  <a:lnTo>
                    <a:pt x="5" y="16"/>
                  </a:lnTo>
                  <a:lnTo>
                    <a:pt x="8" y="17"/>
                  </a:lnTo>
                  <a:close/>
                </a:path>
              </a:pathLst>
            </a:custGeom>
            <a:solidFill>
              <a:srgbClr val="FFFFFF"/>
            </a:solidFill>
            <a:ln w="9525">
              <a:noFill/>
              <a:round/>
            </a:ln>
          </p:spPr>
          <p:txBody>
            <a:bodyPr/>
            <a:lstStyle/>
            <a:p>
              <a:endParaRPr lang="en-US"/>
            </a:p>
          </p:txBody>
        </p:sp>
        <p:sp>
          <p:nvSpPr>
            <p:cNvPr id="1048892" name="Rectangle 185"/>
            <p:cNvSpPr>
              <a:spLocks noChangeArrowheads="1"/>
            </p:cNvSpPr>
            <p:nvPr/>
          </p:nvSpPr>
          <p:spPr bwMode="auto">
            <a:xfrm>
              <a:off x="2412" y="3730"/>
              <a:ext cx="6" cy="201"/>
            </a:xfrm>
            <a:prstGeom prst="rect">
              <a:avLst/>
            </a:prstGeom>
            <a:solidFill>
              <a:srgbClr val="000000"/>
            </a:solidFill>
            <a:ln w="9525">
              <a:noFill/>
              <a:miter lim="800000"/>
            </a:ln>
          </p:spPr>
          <p:txBody>
            <a:bodyPr/>
            <a:lstStyle/>
            <a:p>
              <a:endParaRPr lang="en-US"/>
            </a:p>
          </p:txBody>
        </p:sp>
        <p:sp>
          <p:nvSpPr>
            <p:cNvPr id="1048893" name="Freeform 186"/>
            <p:cNvSpPr/>
            <p:nvPr/>
          </p:nvSpPr>
          <p:spPr bwMode="auto">
            <a:xfrm>
              <a:off x="2512" y="3831"/>
              <a:ext cx="36" cy="99"/>
            </a:xfrm>
            <a:custGeom>
              <a:avLst/>
              <a:gdLst>
                <a:gd name="T0" fmla="*/ 5 w 71"/>
                <a:gd name="T1" fmla="*/ 99 h 197"/>
                <a:gd name="T2" fmla="*/ 5 w 71"/>
                <a:gd name="T3" fmla="*/ 97 h 197"/>
                <a:gd name="T4" fmla="*/ 5 w 71"/>
                <a:gd name="T5" fmla="*/ 93 h 197"/>
                <a:gd name="T6" fmla="*/ 6 w 71"/>
                <a:gd name="T7" fmla="*/ 86 h 197"/>
                <a:gd name="T8" fmla="*/ 9 w 71"/>
                <a:gd name="T9" fmla="*/ 78 h 197"/>
                <a:gd name="T10" fmla="*/ 12 w 71"/>
                <a:gd name="T11" fmla="*/ 69 h 197"/>
                <a:gd name="T12" fmla="*/ 18 w 71"/>
                <a:gd name="T13" fmla="*/ 61 h 197"/>
                <a:gd name="T14" fmla="*/ 25 w 71"/>
                <a:gd name="T15" fmla="*/ 54 h 197"/>
                <a:gd name="T16" fmla="*/ 36 w 71"/>
                <a:gd name="T17" fmla="*/ 49 h 197"/>
                <a:gd name="T18" fmla="*/ 36 w 71"/>
                <a:gd name="T19" fmla="*/ 0 h 197"/>
                <a:gd name="T20" fmla="*/ 30 w 71"/>
                <a:gd name="T21" fmla="*/ 0 h 197"/>
                <a:gd name="T22" fmla="*/ 30 w 71"/>
                <a:gd name="T23" fmla="*/ 45 h 197"/>
                <a:gd name="T24" fmla="*/ 29 w 71"/>
                <a:gd name="T25" fmla="*/ 45 h 197"/>
                <a:gd name="T26" fmla="*/ 25 w 71"/>
                <a:gd name="T27" fmla="*/ 47 h 197"/>
                <a:gd name="T28" fmla="*/ 21 w 71"/>
                <a:gd name="T29" fmla="*/ 50 h 197"/>
                <a:gd name="T30" fmla="*/ 16 w 71"/>
                <a:gd name="T31" fmla="*/ 56 h 197"/>
                <a:gd name="T32" fmla="*/ 10 w 71"/>
                <a:gd name="T33" fmla="*/ 63 h 197"/>
                <a:gd name="T34" fmla="*/ 5 w 71"/>
                <a:gd name="T35" fmla="*/ 72 h 197"/>
                <a:gd name="T36" fmla="*/ 2 w 71"/>
                <a:gd name="T37" fmla="*/ 84 h 197"/>
                <a:gd name="T38" fmla="*/ 0 w 71"/>
                <a:gd name="T39" fmla="*/ 99 h 197"/>
                <a:gd name="T40" fmla="*/ 5 w 71"/>
                <a:gd name="T41" fmla="*/ 99 h 197"/>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71"/>
                <a:gd name="T64" fmla="*/ 0 h 197"/>
                <a:gd name="T65" fmla="*/ 71 w 71"/>
                <a:gd name="T66" fmla="*/ 197 h 197"/>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71" h="197">
                  <a:moveTo>
                    <a:pt x="9" y="197"/>
                  </a:moveTo>
                  <a:lnTo>
                    <a:pt x="9" y="194"/>
                  </a:lnTo>
                  <a:lnTo>
                    <a:pt x="10" y="185"/>
                  </a:lnTo>
                  <a:lnTo>
                    <a:pt x="12" y="172"/>
                  </a:lnTo>
                  <a:lnTo>
                    <a:pt x="17" y="156"/>
                  </a:lnTo>
                  <a:lnTo>
                    <a:pt x="24" y="138"/>
                  </a:lnTo>
                  <a:lnTo>
                    <a:pt x="35" y="122"/>
                  </a:lnTo>
                  <a:lnTo>
                    <a:pt x="50" y="107"/>
                  </a:lnTo>
                  <a:lnTo>
                    <a:pt x="71" y="97"/>
                  </a:lnTo>
                  <a:lnTo>
                    <a:pt x="71" y="0"/>
                  </a:lnTo>
                  <a:lnTo>
                    <a:pt x="60" y="0"/>
                  </a:lnTo>
                  <a:lnTo>
                    <a:pt x="60" y="89"/>
                  </a:lnTo>
                  <a:lnTo>
                    <a:pt x="57" y="90"/>
                  </a:lnTo>
                  <a:lnTo>
                    <a:pt x="50" y="93"/>
                  </a:lnTo>
                  <a:lnTo>
                    <a:pt x="41" y="100"/>
                  </a:lnTo>
                  <a:lnTo>
                    <a:pt x="31" y="111"/>
                  </a:lnTo>
                  <a:lnTo>
                    <a:pt x="19" y="126"/>
                  </a:lnTo>
                  <a:lnTo>
                    <a:pt x="10" y="144"/>
                  </a:lnTo>
                  <a:lnTo>
                    <a:pt x="3" y="168"/>
                  </a:lnTo>
                  <a:lnTo>
                    <a:pt x="0" y="197"/>
                  </a:lnTo>
                  <a:lnTo>
                    <a:pt x="9" y="197"/>
                  </a:lnTo>
                  <a:close/>
                </a:path>
              </a:pathLst>
            </a:custGeom>
            <a:solidFill>
              <a:srgbClr val="000000"/>
            </a:solidFill>
            <a:ln w="9525">
              <a:noFill/>
              <a:round/>
            </a:ln>
          </p:spPr>
          <p:txBody>
            <a:bodyPr/>
            <a:lstStyle/>
            <a:p>
              <a:endParaRPr lang="en-US"/>
            </a:p>
          </p:txBody>
        </p:sp>
        <p:sp>
          <p:nvSpPr>
            <p:cNvPr id="1048894" name="Freeform 187"/>
            <p:cNvSpPr/>
            <p:nvPr/>
          </p:nvSpPr>
          <p:spPr bwMode="auto">
            <a:xfrm>
              <a:off x="2601" y="3829"/>
              <a:ext cx="8" cy="6"/>
            </a:xfrm>
            <a:custGeom>
              <a:avLst/>
              <a:gdLst>
                <a:gd name="T0" fmla="*/ 4 w 16"/>
                <a:gd name="T1" fmla="*/ 6 h 10"/>
                <a:gd name="T2" fmla="*/ 6 w 16"/>
                <a:gd name="T3" fmla="*/ 6 h 10"/>
                <a:gd name="T4" fmla="*/ 7 w 16"/>
                <a:gd name="T5" fmla="*/ 5 h 10"/>
                <a:gd name="T6" fmla="*/ 7 w 16"/>
                <a:gd name="T7" fmla="*/ 4 h 10"/>
                <a:gd name="T8" fmla="*/ 8 w 16"/>
                <a:gd name="T9" fmla="*/ 3 h 10"/>
                <a:gd name="T10" fmla="*/ 7 w 16"/>
                <a:gd name="T11" fmla="*/ 2 h 10"/>
                <a:gd name="T12" fmla="*/ 7 w 16"/>
                <a:gd name="T13" fmla="*/ 1 h 10"/>
                <a:gd name="T14" fmla="*/ 6 w 16"/>
                <a:gd name="T15" fmla="*/ 0 h 10"/>
                <a:gd name="T16" fmla="*/ 4 w 16"/>
                <a:gd name="T17" fmla="*/ 0 h 10"/>
                <a:gd name="T18" fmla="*/ 2 w 16"/>
                <a:gd name="T19" fmla="*/ 0 h 10"/>
                <a:gd name="T20" fmla="*/ 1 w 16"/>
                <a:gd name="T21" fmla="*/ 1 h 10"/>
                <a:gd name="T22" fmla="*/ 1 w 16"/>
                <a:gd name="T23" fmla="*/ 2 h 10"/>
                <a:gd name="T24" fmla="*/ 0 w 16"/>
                <a:gd name="T25" fmla="*/ 3 h 10"/>
                <a:gd name="T26" fmla="*/ 1 w 16"/>
                <a:gd name="T27" fmla="*/ 4 h 10"/>
                <a:gd name="T28" fmla="*/ 1 w 16"/>
                <a:gd name="T29" fmla="*/ 5 h 10"/>
                <a:gd name="T30" fmla="*/ 2 w 16"/>
                <a:gd name="T31" fmla="*/ 6 h 10"/>
                <a:gd name="T32" fmla="*/ 4 w 16"/>
                <a:gd name="T33" fmla="*/ 6 h 10"/>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6"/>
                <a:gd name="T52" fmla="*/ 0 h 10"/>
                <a:gd name="T53" fmla="*/ 16 w 16"/>
                <a:gd name="T54" fmla="*/ 10 h 10"/>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6" h="10">
                  <a:moveTo>
                    <a:pt x="8" y="10"/>
                  </a:moveTo>
                  <a:lnTo>
                    <a:pt x="12" y="10"/>
                  </a:lnTo>
                  <a:lnTo>
                    <a:pt x="14" y="9"/>
                  </a:lnTo>
                  <a:lnTo>
                    <a:pt x="15" y="7"/>
                  </a:lnTo>
                  <a:lnTo>
                    <a:pt x="16" y="5"/>
                  </a:lnTo>
                  <a:lnTo>
                    <a:pt x="15" y="3"/>
                  </a:lnTo>
                  <a:lnTo>
                    <a:pt x="14" y="1"/>
                  </a:lnTo>
                  <a:lnTo>
                    <a:pt x="12" y="0"/>
                  </a:lnTo>
                  <a:lnTo>
                    <a:pt x="8" y="0"/>
                  </a:lnTo>
                  <a:lnTo>
                    <a:pt x="5" y="0"/>
                  </a:lnTo>
                  <a:lnTo>
                    <a:pt x="3" y="1"/>
                  </a:lnTo>
                  <a:lnTo>
                    <a:pt x="1" y="3"/>
                  </a:lnTo>
                  <a:lnTo>
                    <a:pt x="0" y="5"/>
                  </a:lnTo>
                  <a:lnTo>
                    <a:pt x="1" y="7"/>
                  </a:lnTo>
                  <a:lnTo>
                    <a:pt x="3" y="9"/>
                  </a:lnTo>
                  <a:lnTo>
                    <a:pt x="5" y="10"/>
                  </a:lnTo>
                  <a:lnTo>
                    <a:pt x="8" y="10"/>
                  </a:lnTo>
                  <a:close/>
                </a:path>
              </a:pathLst>
            </a:custGeom>
            <a:solidFill>
              <a:srgbClr val="FFFFFF"/>
            </a:solidFill>
            <a:ln w="9525">
              <a:noFill/>
              <a:round/>
            </a:ln>
          </p:spPr>
          <p:txBody>
            <a:bodyPr/>
            <a:lstStyle/>
            <a:p>
              <a:endParaRPr lang="en-US"/>
            </a:p>
          </p:txBody>
        </p:sp>
        <p:sp>
          <p:nvSpPr>
            <p:cNvPr id="1048895" name="Freeform 188"/>
            <p:cNvSpPr/>
            <p:nvPr/>
          </p:nvSpPr>
          <p:spPr bwMode="auto">
            <a:xfrm>
              <a:off x="2254" y="3826"/>
              <a:ext cx="98" cy="24"/>
            </a:xfrm>
            <a:custGeom>
              <a:avLst/>
              <a:gdLst>
                <a:gd name="T0" fmla="*/ 49 w 195"/>
                <a:gd name="T1" fmla="*/ 15 h 48"/>
                <a:gd name="T2" fmla="*/ 43 w 195"/>
                <a:gd name="T3" fmla="*/ 15 h 48"/>
                <a:gd name="T4" fmla="*/ 38 w 195"/>
                <a:gd name="T5" fmla="*/ 14 h 48"/>
                <a:gd name="T6" fmla="*/ 33 w 195"/>
                <a:gd name="T7" fmla="*/ 13 h 48"/>
                <a:gd name="T8" fmla="*/ 28 w 195"/>
                <a:gd name="T9" fmla="*/ 11 h 48"/>
                <a:gd name="T10" fmla="*/ 24 w 195"/>
                <a:gd name="T11" fmla="*/ 9 h 48"/>
                <a:gd name="T12" fmla="*/ 20 w 195"/>
                <a:gd name="T13" fmla="*/ 6 h 48"/>
                <a:gd name="T14" fmla="*/ 16 w 195"/>
                <a:gd name="T15" fmla="*/ 3 h 48"/>
                <a:gd name="T16" fmla="*/ 13 w 195"/>
                <a:gd name="T17" fmla="*/ 0 h 48"/>
                <a:gd name="T18" fmla="*/ 0 w 195"/>
                <a:gd name="T19" fmla="*/ 0 h 48"/>
                <a:gd name="T20" fmla="*/ 4 w 195"/>
                <a:gd name="T21" fmla="*/ 5 h 48"/>
                <a:gd name="T22" fmla="*/ 8 w 195"/>
                <a:gd name="T23" fmla="*/ 10 h 48"/>
                <a:gd name="T24" fmla="*/ 13 w 195"/>
                <a:gd name="T25" fmla="*/ 13 h 48"/>
                <a:gd name="T26" fmla="*/ 20 w 195"/>
                <a:gd name="T27" fmla="*/ 17 h 48"/>
                <a:gd name="T28" fmla="*/ 26 w 195"/>
                <a:gd name="T29" fmla="*/ 20 h 48"/>
                <a:gd name="T30" fmla="*/ 33 w 195"/>
                <a:gd name="T31" fmla="*/ 23 h 48"/>
                <a:gd name="T32" fmla="*/ 41 w 195"/>
                <a:gd name="T33" fmla="*/ 24 h 48"/>
                <a:gd name="T34" fmla="*/ 49 w 195"/>
                <a:gd name="T35" fmla="*/ 24 h 48"/>
                <a:gd name="T36" fmla="*/ 57 w 195"/>
                <a:gd name="T37" fmla="*/ 24 h 48"/>
                <a:gd name="T38" fmla="*/ 65 w 195"/>
                <a:gd name="T39" fmla="*/ 23 h 48"/>
                <a:gd name="T40" fmla="*/ 71 w 195"/>
                <a:gd name="T41" fmla="*/ 20 h 48"/>
                <a:gd name="T42" fmla="*/ 78 w 195"/>
                <a:gd name="T43" fmla="*/ 17 h 48"/>
                <a:gd name="T44" fmla="*/ 84 w 195"/>
                <a:gd name="T45" fmla="*/ 13 h 48"/>
                <a:gd name="T46" fmla="*/ 89 w 195"/>
                <a:gd name="T47" fmla="*/ 10 h 48"/>
                <a:gd name="T48" fmla="*/ 94 w 195"/>
                <a:gd name="T49" fmla="*/ 5 h 48"/>
                <a:gd name="T50" fmla="*/ 98 w 195"/>
                <a:gd name="T51" fmla="*/ 0 h 48"/>
                <a:gd name="T52" fmla="*/ 85 w 195"/>
                <a:gd name="T53" fmla="*/ 0 h 48"/>
                <a:gd name="T54" fmla="*/ 81 w 195"/>
                <a:gd name="T55" fmla="*/ 3 h 48"/>
                <a:gd name="T56" fmla="*/ 78 w 195"/>
                <a:gd name="T57" fmla="*/ 6 h 48"/>
                <a:gd name="T58" fmla="*/ 74 w 195"/>
                <a:gd name="T59" fmla="*/ 9 h 48"/>
                <a:gd name="T60" fmla="*/ 69 w 195"/>
                <a:gd name="T61" fmla="*/ 11 h 48"/>
                <a:gd name="T62" fmla="*/ 65 w 195"/>
                <a:gd name="T63" fmla="*/ 13 h 48"/>
                <a:gd name="T64" fmla="*/ 59 w 195"/>
                <a:gd name="T65" fmla="*/ 14 h 48"/>
                <a:gd name="T66" fmla="*/ 54 w 195"/>
                <a:gd name="T67" fmla="*/ 15 h 48"/>
                <a:gd name="T68" fmla="*/ 49 w 195"/>
                <a:gd name="T69" fmla="*/ 15 h 48"/>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195"/>
                <a:gd name="T106" fmla="*/ 0 h 48"/>
                <a:gd name="T107" fmla="*/ 195 w 195"/>
                <a:gd name="T108" fmla="*/ 48 h 48"/>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195" h="48">
                  <a:moveTo>
                    <a:pt x="98" y="31"/>
                  </a:moveTo>
                  <a:lnTo>
                    <a:pt x="86" y="30"/>
                  </a:lnTo>
                  <a:lnTo>
                    <a:pt x="76" y="29"/>
                  </a:lnTo>
                  <a:lnTo>
                    <a:pt x="65" y="26"/>
                  </a:lnTo>
                  <a:lnTo>
                    <a:pt x="56" y="22"/>
                  </a:lnTo>
                  <a:lnTo>
                    <a:pt x="47" y="18"/>
                  </a:lnTo>
                  <a:lnTo>
                    <a:pt x="39" y="12"/>
                  </a:lnTo>
                  <a:lnTo>
                    <a:pt x="32" y="7"/>
                  </a:lnTo>
                  <a:lnTo>
                    <a:pt x="25" y="0"/>
                  </a:lnTo>
                  <a:lnTo>
                    <a:pt x="0" y="0"/>
                  </a:lnTo>
                  <a:lnTo>
                    <a:pt x="7" y="10"/>
                  </a:lnTo>
                  <a:lnTo>
                    <a:pt x="16" y="19"/>
                  </a:lnTo>
                  <a:lnTo>
                    <a:pt x="26" y="27"/>
                  </a:lnTo>
                  <a:lnTo>
                    <a:pt x="39" y="34"/>
                  </a:lnTo>
                  <a:lnTo>
                    <a:pt x="51" y="40"/>
                  </a:lnTo>
                  <a:lnTo>
                    <a:pt x="66" y="45"/>
                  </a:lnTo>
                  <a:lnTo>
                    <a:pt x="81" y="47"/>
                  </a:lnTo>
                  <a:lnTo>
                    <a:pt x="98" y="48"/>
                  </a:lnTo>
                  <a:lnTo>
                    <a:pt x="114" y="47"/>
                  </a:lnTo>
                  <a:lnTo>
                    <a:pt x="129" y="45"/>
                  </a:lnTo>
                  <a:lnTo>
                    <a:pt x="142" y="40"/>
                  </a:lnTo>
                  <a:lnTo>
                    <a:pt x="155" y="34"/>
                  </a:lnTo>
                  <a:lnTo>
                    <a:pt x="168" y="27"/>
                  </a:lnTo>
                  <a:lnTo>
                    <a:pt x="178" y="19"/>
                  </a:lnTo>
                  <a:lnTo>
                    <a:pt x="187" y="10"/>
                  </a:lnTo>
                  <a:lnTo>
                    <a:pt x="195" y="0"/>
                  </a:lnTo>
                  <a:lnTo>
                    <a:pt x="169" y="0"/>
                  </a:lnTo>
                  <a:lnTo>
                    <a:pt x="162" y="7"/>
                  </a:lnTo>
                  <a:lnTo>
                    <a:pt x="155" y="12"/>
                  </a:lnTo>
                  <a:lnTo>
                    <a:pt x="147" y="18"/>
                  </a:lnTo>
                  <a:lnTo>
                    <a:pt x="138" y="22"/>
                  </a:lnTo>
                  <a:lnTo>
                    <a:pt x="129" y="26"/>
                  </a:lnTo>
                  <a:lnTo>
                    <a:pt x="118" y="29"/>
                  </a:lnTo>
                  <a:lnTo>
                    <a:pt x="108" y="30"/>
                  </a:lnTo>
                  <a:lnTo>
                    <a:pt x="98" y="31"/>
                  </a:lnTo>
                  <a:close/>
                </a:path>
              </a:pathLst>
            </a:custGeom>
            <a:solidFill>
              <a:srgbClr val="FFFFFF"/>
            </a:solidFill>
            <a:ln w="9525">
              <a:noFill/>
              <a:round/>
            </a:ln>
          </p:spPr>
          <p:txBody>
            <a:bodyPr/>
            <a:lstStyle/>
            <a:p>
              <a:endParaRPr lang="en-US"/>
            </a:p>
          </p:txBody>
        </p:sp>
        <p:sp>
          <p:nvSpPr>
            <p:cNvPr id="1048896" name="Freeform 189"/>
            <p:cNvSpPr/>
            <p:nvPr/>
          </p:nvSpPr>
          <p:spPr bwMode="auto">
            <a:xfrm>
              <a:off x="2292" y="3831"/>
              <a:ext cx="26" cy="30"/>
            </a:xfrm>
            <a:custGeom>
              <a:avLst/>
              <a:gdLst>
                <a:gd name="T0" fmla="*/ 21 w 51"/>
                <a:gd name="T1" fmla="*/ 0 h 60"/>
                <a:gd name="T2" fmla="*/ 22 w 51"/>
                <a:gd name="T3" fmla="*/ 1 h 60"/>
                <a:gd name="T4" fmla="*/ 24 w 51"/>
                <a:gd name="T5" fmla="*/ 3 h 60"/>
                <a:gd name="T6" fmla="*/ 26 w 51"/>
                <a:gd name="T7" fmla="*/ 5 h 60"/>
                <a:gd name="T8" fmla="*/ 25 w 51"/>
                <a:gd name="T9" fmla="*/ 8 h 60"/>
                <a:gd name="T10" fmla="*/ 25 w 51"/>
                <a:gd name="T11" fmla="*/ 8 h 60"/>
                <a:gd name="T12" fmla="*/ 25 w 51"/>
                <a:gd name="T13" fmla="*/ 10 h 60"/>
                <a:gd name="T14" fmla="*/ 24 w 51"/>
                <a:gd name="T15" fmla="*/ 11 h 60"/>
                <a:gd name="T16" fmla="*/ 25 w 51"/>
                <a:gd name="T17" fmla="*/ 14 h 60"/>
                <a:gd name="T18" fmla="*/ 26 w 51"/>
                <a:gd name="T19" fmla="*/ 15 h 60"/>
                <a:gd name="T20" fmla="*/ 25 w 51"/>
                <a:gd name="T21" fmla="*/ 18 h 60"/>
                <a:gd name="T22" fmla="*/ 24 w 51"/>
                <a:gd name="T23" fmla="*/ 19 h 60"/>
                <a:gd name="T24" fmla="*/ 23 w 51"/>
                <a:gd name="T25" fmla="*/ 19 h 60"/>
                <a:gd name="T26" fmla="*/ 24 w 51"/>
                <a:gd name="T27" fmla="*/ 20 h 60"/>
                <a:gd name="T28" fmla="*/ 25 w 51"/>
                <a:gd name="T29" fmla="*/ 22 h 60"/>
                <a:gd name="T30" fmla="*/ 26 w 51"/>
                <a:gd name="T31" fmla="*/ 26 h 60"/>
                <a:gd name="T32" fmla="*/ 24 w 51"/>
                <a:gd name="T33" fmla="*/ 29 h 60"/>
                <a:gd name="T34" fmla="*/ 22 w 51"/>
                <a:gd name="T35" fmla="*/ 30 h 60"/>
                <a:gd name="T36" fmla="*/ 19 w 51"/>
                <a:gd name="T37" fmla="*/ 30 h 60"/>
                <a:gd name="T38" fmla="*/ 16 w 51"/>
                <a:gd name="T39" fmla="*/ 30 h 60"/>
                <a:gd name="T40" fmla="*/ 12 w 51"/>
                <a:gd name="T41" fmla="*/ 30 h 60"/>
                <a:gd name="T42" fmla="*/ 8 w 51"/>
                <a:gd name="T43" fmla="*/ 30 h 60"/>
                <a:gd name="T44" fmla="*/ 5 w 51"/>
                <a:gd name="T45" fmla="*/ 29 h 60"/>
                <a:gd name="T46" fmla="*/ 2 w 51"/>
                <a:gd name="T47" fmla="*/ 28 h 60"/>
                <a:gd name="T48" fmla="*/ 1 w 51"/>
                <a:gd name="T49" fmla="*/ 27 h 60"/>
                <a:gd name="T50" fmla="*/ 0 w 51"/>
                <a:gd name="T51" fmla="*/ 25 h 60"/>
                <a:gd name="T52" fmla="*/ 2 w 51"/>
                <a:gd name="T53" fmla="*/ 22 h 60"/>
                <a:gd name="T54" fmla="*/ 3 w 51"/>
                <a:gd name="T55" fmla="*/ 21 h 60"/>
                <a:gd name="T56" fmla="*/ 4 w 51"/>
                <a:gd name="T57" fmla="*/ 20 h 60"/>
                <a:gd name="T58" fmla="*/ 3 w 51"/>
                <a:gd name="T59" fmla="*/ 20 h 60"/>
                <a:gd name="T60" fmla="*/ 2 w 51"/>
                <a:gd name="T61" fmla="*/ 18 h 60"/>
                <a:gd name="T62" fmla="*/ 1 w 51"/>
                <a:gd name="T63" fmla="*/ 15 h 60"/>
                <a:gd name="T64" fmla="*/ 1 w 51"/>
                <a:gd name="T65" fmla="*/ 14 h 60"/>
                <a:gd name="T66" fmla="*/ 3 w 51"/>
                <a:gd name="T67" fmla="*/ 12 h 60"/>
                <a:gd name="T68" fmla="*/ 4 w 51"/>
                <a:gd name="T69" fmla="*/ 11 h 60"/>
                <a:gd name="T70" fmla="*/ 5 w 51"/>
                <a:gd name="T71" fmla="*/ 11 h 60"/>
                <a:gd name="T72" fmla="*/ 5 w 51"/>
                <a:gd name="T73" fmla="*/ 11 h 60"/>
                <a:gd name="T74" fmla="*/ 3 w 51"/>
                <a:gd name="T75" fmla="*/ 10 h 60"/>
                <a:gd name="T76" fmla="*/ 2 w 51"/>
                <a:gd name="T77" fmla="*/ 8 h 60"/>
                <a:gd name="T78" fmla="*/ 1 w 51"/>
                <a:gd name="T79" fmla="*/ 6 h 60"/>
                <a:gd name="T80" fmla="*/ 2 w 51"/>
                <a:gd name="T81" fmla="*/ 4 h 60"/>
                <a:gd name="T82" fmla="*/ 4 w 51"/>
                <a:gd name="T83" fmla="*/ 2 h 60"/>
                <a:gd name="T84" fmla="*/ 5 w 51"/>
                <a:gd name="T85" fmla="*/ 1 h 60"/>
                <a:gd name="T86" fmla="*/ 6 w 51"/>
                <a:gd name="T87" fmla="*/ 1 h 60"/>
                <a:gd name="T88" fmla="*/ 7 w 51"/>
                <a:gd name="T89" fmla="*/ 1 h 60"/>
                <a:gd name="T90" fmla="*/ 21 w 51"/>
                <a:gd name="T91" fmla="*/ 0 h 60"/>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w 51"/>
                <a:gd name="T139" fmla="*/ 0 h 60"/>
                <a:gd name="T140" fmla="*/ 51 w 51"/>
                <a:gd name="T141" fmla="*/ 60 h 60"/>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T138" t="T139" r="T140" b="T141"/>
              <a:pathLst>
                <a:path w="51" h="60">
                  <a:moveTo>
                    <a:pt x="42" y="0"/>
                  </a:moveTo>
                  <a:lnTo>
                    <a:pt x="44" y="1"/>
                  </a:lnTo>
                  <a:lnTo>
                    <a:pt x="48" y="5"/>
                  </a:lnTo>
                  <a:lnTo>
                    <a:pt x="51" y="9"/>
                  </a:lnTo>
                  <a:lnTo>
                    <a:pt x="50" y="15"/>
                  </a:lnTo>
                  <a:lnTo>
                    <a:pt x="49" y="16"/>
                  </a:lnTo>
                  <a:lnTo>
                    <a:pt x="49" y="19"/>
                  </a:lnTo>
                  <a:lnTo>
                    <a:pt x="48" y="22"/>
                  </a:lnTo>
                  <a:lnTo>
                    <a:pt x="50" y="27"/>
                  </a:lnTo>
                  <a:lnTo>
                    <a:pt x="51" y="31"/>
                  </a:lnTo>
                  <a:lnTo>
                    <a:pt x="49" y="35"/>
                  </a:lnTo>
                  <a:lnTo>
                    <a:pt x="47" y="37"/>
                  </a:lnTo>
                  <a:lnTo>
                    <a:pt x="46" y="38"/>
                  </a:lnTo>
                  <a:lnTo>
                    <a:pt x="47" y="40"/>
                  </a:lnTo>
                  <a:lnTo>
                    <a:pt x="50" y="44"/>
                  </a:lnTo>
                  <a:lnTo>
                    <a:pt x="51" y="51"/>
                  </a:lnTo>
                  <a:lnTo>
                    <a:pt x="48" y="57"/>
                  </a:lnTo>
                  <a:lnTo>
                    <a:pt x="43" y="59"/>
                  </a:lnTo>
                  <a:lnTo>
                    <a:pt x="38" y="60"/>
                  </a:lnTo>
                  <a:lnTo>
                    <a:pt x="31" y="60"/>
                  </a:lnTo>
                  <a:lnTo>
                    <a:pt x="23" y="60"/>
                  </a:lnTo>
                  <a:lnTo>
                    <a:pt x="16" y="59"/>
                  </a:lnTo>
                  <a:lnTo>
                    <a:pt x="9" y="58"/>
                  </a:lnTo>
                  <a:lnTo>
                    <a:pt x="4" y="55"/>
                  </a:lnTo>
                  <a:lnTo>
                    <a:pt x="1" y="53"/>
                  </a:lnTo>
                  <a:lnTo>
                    <a:pt x="0" y="49"/>
                  </a:lnTo>
                  <a:lnTo>
                    <a:pt x="3" y="44"/>
                  </a:lnTo>
                  <a:lnTo>
                    <a:pt x="6" y="42"/>
                  </a:lnTo>
                  <a:lnTo>
                    <a:pt x="8" y="40"/>
                  </a:lnTo>
                  <a:lnTo>
                    <a:pt x="6" y="39"/>
                  </a:lnTo>
                  <a:lnTo>
                    <a:pt x="3" y="36"/>
                  </a:lnTo>
                  <a:lnTo>
                    <a:pt x="1" y="31"/>
                  </a:lnTo>
                  <a:lnTo>
                    <a:pt x="2" y="27"/>
                  </a:lnTo>
                  <a:lnTo>
                    <a:pt x="5" y="23"/>
                  </a:lnTo>
                  <a:lnTo>
                    <a:pt x="8" y="22"/>
                  </a:lnTo>
                  <a:lnTo>
                    <a:pt x="9" y="21"/>
                  </a:lnTo>
                  <a:lnTo>
                    <a:pt x="6" y="20"/>
                  </a:lnTo>
                  <a:lnTo>
                    <a:pt x="3" y="16"/>
                  </a:lnTo>
                  <a:lnTo>
                    <a:pt x="1" y="12"/>
                  </a:lnTo>
                  <a:lnTo>
                    <a:pt x="3" y="7"/>
                  </a:lnTo>
                  <a:lnTo>
                    <a:pt x="8" y="4"/>
                  </a:lnTo>
                  <a:lnTo>
                    <a:pt x="10" y="2"/>
                  </a:lnTo>
                  <a:lnTo>
                    <a:pt x="12" y="2"/>
                  </a:lnTo>
                  <a:lnTo>
                    <a:pt x="13" y="2"/>
                  </a:lnTo>
                  <a:lnTo>
                    <a:pt x="42" y="0"/>
                  </a:lnTo>
                  <a:close/>
                </a:path>
              </a:pathLst>
            </a:custGeom>
            <a:solidFill>
              <a:srgbClr val="FFDB82"/>
            </a:solidFill>
            <a:ln w="9525">
              <a:noFill/>
              <a:round/>
            </a:ln>
          </p:spPr>
          <p:txBody>
            <a:bodyPr/>
            <a:lstStyle/>
            <a:p>
              <a:endParaRPr lang="en-US"/>
            </a:p>
          </p:txBody>
        </p:sp>
        <p:sp>
          <p:nvSpPr>
            <p:cNvPr id="1048897" name="Freeform 190"/>
            <p:cNvSpPr/>
            <p:nvPr/>
          </p:nvSpPr>
          <p:spPr bwMode="auto">
            <a:xfrm>
              <a:off x="2249" y="3761"/>
              <a:ext cx="108" cy="37"/>
            </a:xfrm>
            <a:custGeom>
              <a:avLst/>
              <a:gdLst>
                <a:gd name="T0" fmla="*/ 54 w 217"/>
                <a:gd name="T1" fmla="*/ 9 h 72"/>
                <a:gd name="T2" fmla="*/ 62 w 217"/>
                <a:gd name="T3" fmla="*/ 9 h 72"/>
                <a:gd name="T4" fmla="*/ 69 w 217"/>
                <a:gd name="T5" fmla="*/ 11 h 72"/>
                <a:gd name="T6" fmla="*/ 75 w 217"/>
                <a:gd name="T7" fmla="*/ 13 h 72"/>
                <a:gd name="T8" fmla="*/ 82 w 217"/>
                <a:gd name="T9" fmla="*/ 17 h 72"/>
                <a:gd name="T10" fmla="*/ 87 w 217"/>
                <a:gd name="T11" fmla="*/ 21 h 72"/>
                <a:gd name="T12" fmla="*/ 91 w 217"/>
                <a:gd name="T13" fmla="*/ 26 h 72"/>
                <a:gd name="T14" fmla="*/ 94 w 217"/>
                <a:gd name="T15" fmla="*/ 31 h 72"/>
                <a:gd name="T16" fmla="*/ 97 w 217"/>
                <a:gd name="T17" fmla="*/ 37 h 72"/>
                <a:gd name="T18" fmla="*/ 108 w 217"/>
                <a:gd name="T19" fmla="*/ 37 h 72"/>
                <a:gd name="T20" fmla="*/ 106 w 217"/>
                <a:gd name="T21" fmla="*/ 29 h 72"/>
                <a:gd name="T22" fmla="*/ 102 w 217"/>
                <a:gd name="T23" fmla="*/ 22 h 72"/>
                <a:gd name="T24" fmla="*/ 96 w 217"/>
                <a:gd name="T25" fmla="*/ 16 h 72"/>
                <a:gd name="T26" fmla="*/ 90 w 217"/>
                <a:gd name="T27" fmla="*/ 10 h 72"/>
                <a:gd name="T28" fmla="*/ 82 w 217"/>
                <a:gd name="T29" fmla="*/ 6 h 72"/>
                <a:gd name="T30" fmla="*/ 73 w 217"/>
                <a:gd name="T31" fmla="*/ 3 h 72"/>
                <a:gd name="T32" fmla="*/ 64 w 217"/>
                <a:gd name="T33" fmla="*/ 1 h 72"/>
                <a:gd name="T34" fmla="*/ 54 w 217"/>
                <a:gd name="T35" fmla="*/ 0 h 72"/>
                <a:gd name="T36" fmla="*/ 44 w 217"/>
                <a:gd name="T37" fmla="*/ 1 h 72"/>
                <a:gd name="T38" fmla="*/ 35 w 217"/>
                <a:gd name="T39" fmla="*/ 3 h 72"/>
                <a:gd name="T40" fmla="*/ 26 w 217"/>
                <a:gd name="T41" fmla="*/ 6 h 72"/>
                <a:gd name="T42" fmla="*/ 18 w 217"/>
                <a:gd name="T43" fmla="*/ 10 h 72"/>
                <a:gd name="T44" fmla="*/ 12 w 217"/>
                <a:gd name="T45" fmla="*/ 16 h 72"/>
                <a:gd name="T46" fmla="*/ 6 w 217"/>
                <a:gd name="T47" fmla="*/ 22 h 72"/>
                <a:gd name="T48" fmla="*/ 2 w 217"/>
                <a:gd name="T49" fmla="*/ 29 h 72"/>
                <a:gd name="T50" fmla="*/ 0 w 217"/>
                <a:gd name="T51" fmla="*/ 37 h 72"/>
                <a:gd name="T52" fmla="*/ 11 w 217"/>
                <a:gd name="T53" fmla="*/ 37 h 72"/>
                <a:gd name="T54" fmla="*/ 14 w 217"/>
                <a:gd name="T55" fmla="*/ 31 h 72"/>
                <a:gd name="T56" fmla="*/ 17 w 217"/>
                <a:gd name="T57" fmla="*/ 26 h 72"/>
                <a:gd name="T58" fmla="*/ 21 w 217"/>
                <a:gd name="T59" fmla="*/ 21 h 72"/>
                <a:gd name="T60" fmla="*/ 26 w 217"/>
                <a:gd name="T61" fmla="*/ 17 h 72"/>
                <a:gd name="T62" fmla="*/ 32 w 217"/>
                <a:gd name="T63" fmla="*/ 13 h 72"/>
                <a:gd name="T64" fmla="*/ 39 w 217"/>
                <a:gd name="T65" fmla="*/ 11 h 72"/>
                <a:gd name="T66" fmla="*/ 46 w 217"/>
                <a:gd name="T67" fmla="*/ 9 h 72"/>
                <a:gd name="T68" fmla="*/ 54 w 217"/>
                <a:gd name="T69" fmla="*/ 9 h 72"/>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217"/>
                <a:gd name="T106" fmla="*/ 0 h 72"/>
                <a:gd name="T107" fmla="*/ 217 w 217"/>
                <a:gd name="T108" fmla="*/ 72 h 72"/>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217" h="72">
                  <a:moveTo>
                    <a:pt x="109" y="17"/>
                  </a:moveTo>
                  <a:lnTo>
                    <a:pt x="124" y="18"/>
                  </a:lnTo>
                  <a:lnTo>
                    <a:pt x="139" y="22"/>
                  </a:lnTo>
                  <a:lnTo>
                    <a:pt x="151" y="26"/>
                  </a:lnTo>
                  <a:lnTo>
                    <a:pt x="164" y="33"/>
                  </a:lnTo>
                  <a:lnTo>
                    <a:pt x="174" y="41"/>
                  </a:lnTo>
                  <a:lnTo>
                    <a:pt x="182" y="50"/>
                  </a:lnTo>
                  <a:lnTo>
                    <a:pt x="189" y="61"/>
                  </a:lnTo>
                  <a:lnTo>
                    <a:pt x="194" y="72"/>
                  </a:lnTo>
                  <a:lnTo>
                    <a:pt x="217" y="72"/>
                  </a:lnTo>
                  <a:lnTo>
                    <a:pt x="212" y="57"/>
                  </a:lnTo>
                  <a:lnTo>
                    <a:pt x="204" y="43"/>
                  </a:lnTo>
                  <a:lnTo>
                    <a:pt x="193" y="31"/>
                  </a:lnTo>
                  <a:lnTo>
                    <a:pt x="180" y="20"/>
                  </a:lnTo>
                  <a:lnTo>
                    <a:pt x="164" y="11"/>
                  </a:lnTo>
                  <a:lnTo>
                    <a:pt x="147" y="5"/>
                  </a:lnTo>
                  <a:lnTo>
                    <a:pt x="128" y="1"/>
                  </a:lnTo>
                  <a:lnTo>
                    <a:pt x="109" y="0"/>
                  </a:lnTo>
                  <a:lnTo>
                    <a:pt x="89" y="1"/>
                  </a:lnTo>
                  <a:lnTo>
                    <a:pt x="71" y="5"/>
                  </a:lnTo>
                  <a:lnTo>
                    <a:pt x="53" y="11"/>
                  </a:lnTo>
                  <a:lnTo>
                    <a:pt x="37" y="20"/>
                  </a:lnTo>
                  <a:lnTo>
                    <a:pt x="24" y="31"/>
                  </a:lnTo>
                  <a:lnTo>
                    <a:pt x="13" y="43"/>
                  </a:lnTo>
                  <a:lnTo>
                    <a:pt x="5" y="57"/>
                  </a:lnTo>
                  <a:lnTo>
                    <a:pt x="0" y="72"/>
                  </a:lnTo>
                  <a:lnTo>
                    <a:pt x="23" y="72"/>
                  </a:lnTo>
                  <a:lnTo>
                    <a:pt x="28" y="61"/>
                  </a:lnTo>
                  <a:lnTo>
                    <a:pt x="34" y="50"/>
                  </a:lnTo>
                  <a:lnTo>
                    <a:pt x="43" y="41"/>
                  </a:lnTo>
                  <a:lnTo>
                    <a:pt x="53" y="33"/>
                  </a:lnTo>
                  <a:lnTo>
                    <a:pt x="65" y="26"/>
                  </a:lnTo>
                  <a:lnTo>
                    <a:pt x="79" y="22"/>
                  </a:lnTo>
                  <a:lnTo>
                    <a:pt x="92" y="18"/>
                  </a:lnTo>
                  <a:lnTo>
                    <a:pt x="109" y="17"/>
                  </a:lnTo>
                  <a:close/>
                </a:path>
              </a:pathLst>
            </a:custGeom>
            <a:solidFill>
              <a:srgbClr val="FFFFFF"/>
            </a:solidFill>
            <a:ln w="9525">
              <a:noFill/>
              <a:round/>
            </a:ln>
          </p:spPr>
          <p:txBody>
            <a:bodyPr/>
            <a:lstStyle/>
            <a:p>
              <a:endParaRPr lang="en-US"/>
            </a:p>
          </p:txBody>
        </p:sp>
        <p:sp>
          <p:nvSpPr>
            <p:cNvPr id="1048898" name="Freeform 191"/>
            <p:cNvSpPr/>
            <p:nvPr/>
          </p:nvSpPr>
          <p:spPr bwMode="auto">
            <a:xfrm>
              <a:off x="2248" y="3798"/>
              <a:ext cx="19" cy="28"/>
            </a:xfrm>
            <a:custGeom>
              <a:avLst/>
              <a:gdLst>
                <a:gd name="T0" fmla="*/ 11 w 38"/>
                <a:gd name="T1" fmla="*/ 8 h 57"/>
                <a:gd name="T2" fmla="*/ 11 w 38"/>
                <a:gd name="T3" fmla="*/ 6 h 57"/>
                <a:gd name="T4" fmla="*/ 11 w 38"/>
                <a:gd name="T5" fmla="*/ 4 h 57"/>
                <a:gd name="T6" fmla="*/ 12 w 38"/>
                <a:gd name="T7" fmla="*/ 2 h 57"/>
                <a:gd name="T8" fmla="*/ 12 w 38"/>
                <a:gd name="T9" fmla="*/ 0 h 57"/>
                <a:gd name="T10" fmla="*/ 1 w 38"/>
                <a:gd name="T11" fmla="*/ 0 h 57"/>
                <a:gd name="T12" fmla="*/ 1 w 38"/>
                <a:gd name="T13" fmla="*/ 2 h 57"/>
                <a:gd name="T14" fmla="*/ 1 w 38"/>
                <a:gd name="T15" fmla="*/ 4 h 57"/>
                <a:gd name="T16" fmla="*/ 0 w 38"/>
                <a:gd name="T17" fmla="*/ 6 h 57"/>
                <a:gd name="T18" fmla="*/ 0 w 38"/>
                <a:gd name="T19" fmla="*/ 8 h 57"/>
                <a:gd name="T20" fmla="*/ 1 w 38"/>
                <a:gd name="T21" fmla="*/ 13 h 57"/>
                <a:gd name="T22" fmla="*/ 1 w 38"/>
                <a:gd name="T23" fmla="*/ 18 h 57"/>
                <a:gd name="T24" fmla="*/ 3 w 38"/>
                <a:gd name="T25" fmla="*/ 24 h 57"/>
                <a:gd name="T26" fmla="*/ 6 w 38"/>
                <a:gd name="T27" fmla="*/ 28 h 57"/>
                <a:gd name="T28" fmla="*/ 19 w 38"/>
                <a:gd name="T29" fmla="*/ 28 h 57"/>
                <a:gd name="T30" fmla="*/ 16 w 38"/>
                <a:gd name="T31" fmla="*/ 24 h 57"/>
                <a:gd name="T32" fmla="*/ 14 w 38"/>
                <a:gd name="T33" fmla="*/ 19 h 57"/>
                <a:gd name="T34" fmla="*/ 12 w 38"/>
                <a:gd name="T35" fmla="*/ 14 h 57"/>
                <a:gd name="T36" fmla="*/ 11 w 38"/>
                <a:gd name="T37" fmla="*/ 8 h 57"/>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38"/>
                <a:gd name="T58" fmla="*/ 0 h 57"/>
                <a:gd name="T59" fmla="*/ 38 w 38"/>
                <a:gd name="T60" fmla="*/ 57 h 57"/>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38" h="57">
                  <a:moveTo>
                    <a:pt x="23" y="16"/>
                  </a:moveTo>
                  <a:lnTo>
                    <a:pt x="23" y="12"/>
                  </a:lnTo>
                  <a:lnTo>
                    <a:pt x="23" y="8"/>
                  </a:lnTo>
                  <a:lnTo>
                    <a:pt x="24" y="5"/>
                  </a:lnTo>
                  <a:lnTo>
                    <a:pt x="25" y="0"/>
                  </a:lnTo>
                  <a:lnTo>
                    <a:pt x="2" y="0"/>
                  </a:lnTo>
                  <a:lnTo>
                    <a:pt x="1" y="5"/>
                  </a:lnTo>
                  <a:lnTo>
                    <a:pt x="1" y="8"/>
                  </a:lnTo>
                  <a:lnTo>
                    <a:pt x="0" y="12"/>
                  </a:lnTo>
                  <a:lnTo>
                    <a:pt x="0" y="16"/>
                  </a:lnTo>
                  <a:lnTo>
                    <a:pt x="1" y="27"/>
                  </a:lnTo>
                  <a:lnTo>
                    <a:pt x="3" y="37"/>
                  </a:lnTo>
                  <a:lnTo>
                    <a:pt x="7" y="48"/>
                  </a:lnTo>
                  <a:lnTo>
                    <a:pt x="13" y="57"/>
                  </a:lnTo>
                  <a:lnTo>
                    <a:pt x="38" y="57"/>
                  </a:lnTo>
                  <a:lnTo>
                    <a:pt x="32" y="48"/>
                  </a:lnTo>
                  <a:lnTo>
                    <a:pt x="28" y="38"/>
                  </a:lnTo>
                  <a:lnTo>
                    <a:pt x="24" y="28"/>
                  </a:lnTo>
                  <a:lnTo>
                    <a:pt x="23" y="16"/>
                  </a:lnTo>
                  <a:close/>
                </a:path>
              </a:pathLst>
            </a:custGeom>
            <a:solidFill>
              <a:srgbClr val="FFFFFF"/>
            </a:solidFill>
            <a:ln w="9525">
              <a:noFill/>
              <a:round/>
            </a:ln>
          </p:spPr>
          <p:txBody>
            <a:bodyPr/>
            <a:lstStyle/>
            <a:p>
              <a:endParaRPr lang="en-US"/>
            </a:p>
          </p:txBody>
        </p:sp>
        <p:sp>
          <p:nvSpPr>
            <p:cNvPr id="1048899" name="Freeform 192"/>
            <p:cNvSpPr/>
            <p:nvPr/>
          </p:nvSpPr>
          <p:spPr bwMode="auto">
            <a:xfrm>
              <a:off x="2339" y="3798"/>
              <a:ext cx="19" cy="28"/>
            </a:xfrm>
            <a:custGeom>
              <a:avLst/>
              <a:gdLst>
                <a:gd name="T0" fmla="*/ 19 w 38"/>
                <a:gd name="T1" fmla="*/ 0 h 57"/>
                <a:gd name="T2" fmla="*/ 7 w 38"/>
                <a:gd name="T3" fmla="*/ 0 h 57"/>
                <a:gd name="T4" fmla="*/ 7 w 38"/>
                <a:gd name="T5" fmla="*/ 2 h 57"/>
                <a:gd name="T6" fmla="*/ 7 w 38"/>
                <a:gd name="T7" fmla="*/ 4 h 57"/>
                <a:gd name="T8" fmla="*/ 7 w 38"/>
                <a:gd name="T9" fmla="*/ 6 h 57"/>
                <a:gd name="T10" fmla="*/ 7 w 38"/>
                <a:gd name="T11" fmla="*/ 8 h 57"/>
                <a:gd name="T12" fmla="*/ 7 w 38"/>
                <a:gd name="T13" fmla="*/ 14 h 57"/>
                <a:gd name="T14" fmla="*/ 6 w 38"/>
                <a:gd name="T15" fmla="*/ 19 h 57"/>
                <a:gd name="T16" fmla="*/ 3 w 38"/>
                <a:gd name="T17" fmla="*/ 24 h 57"/>
                <a:gd name="T18" fmla="*/ 0 w 38"/>
                <a:gd name="T19" fmla="*/ 28 h 57"/>
                <a:gd name="T20" fmla="*/ 13 w 38"/>
                <a:gd name="T21" fmla="*/ 28 h 57"/>
                <a:gd name="T22" fmla="*/ 15 w 38"/>
                <a:gd name="T23" fmla="*/ 24 h 57"/>
                <a:gd name="T24" fmla="*/ 18 w 38"/>
                <a:gd name="T25" fmla="*/ 18 h 57"/>
                <a:gd name="T26" fmla="*/ 19 w 38"/>
                <a:gd name="T27" fmla="*/ 13 h 57"/>
                <a:gd name="T28" fmla="*/ 19 w 38"/>
                <a:gd name="T29" fmla="*/ 8 h 57"/>
                <a:gd name="T30" fmla="*/ 19 w 38"/>
                <a:gd name="T31" fmla="*/ 6 h 57"/>
                <a:gd name="T32" fmla="*/ 19 w 38"/>
                <a:gd name="T33" fmla="*/ 4 h 57"/>
                <a:gd name="T34" fmla="*/ 19 w 38"/>
                <a:gd name="T35" fmla="*/ 2 h 57"/>
                <a:gd name="T36" fmla="*/ 19 w 38"/>
                <a:gd name="T37" fmla="*/ 0 h 57"/>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38"/>
                <a:gd name="T58" fmla="*/ 0 h 57"/>
                <a:gd name="T59" fmla="*/ 38 w 38"/>
                <a:gd name="T60" fmla="*/ 57 h 57"/>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38" h="57">
                  <a:moveTo>
                    <a:pt x="37" y="0"/>
                  </a:moveTo>
                  <a:lnTo>
                    <a:pt x="14" y="0"/>
                  </a:lnTo>
                  <a:lnTo>
                    <a:pt x="15" y="5"/>
                  </a:lnTo>
                  <a:lnTo>
                    <a:pt x="15" y="8"/>
                  </a:lnTo>
                  <a:lnTo>
                    <a:pt x="15" y="12"/>
                  </a:lnTo>
                  <a:lnTo>
                    <a:pt x="15" y="16"/>
                  </a:lnTo>
                  <a:lnTo>
                    <a:pt x="14" y="28"/>
                  </a:lnTo>
                  <a:lnTo>
                    <a:pt x="12" y="38"/>
                  </a:lnTo>
                  <a:lnTo>
                    <a:pt x="6" y="48"/>
                  </a:lnTo>
                  <a:lnTo>
                    <a:pt x="0" y="57"/>
                  </a:lnTo>
                  <a:lnTo>
                    <a:pt x="26" y="57"/>
                  </a:lnTo>
                  <a:lnTo>
                    <a:pt x="31" y="48"/>
                  </a:lnTo>
                  <a:lnTo>
                    <a:pt x="35" y="37"/>
                  </a:lnTo>
                  <a:lnTo>
                    <a:pt x="37" y="27"/>
                  </a:lnTo>
                  <a:lnTo>
                    <a:pt x="38" y="16"/>
                  </a:lnTo>
                  <a:lnTo>
                    <a:pt x="38" y="12"/>
                  </a:lnTo>
                  <a:lnTo>
                    <a:pt x="38" y="8"/>
                  </a:lnTo>
                  <a:lnTo>
                    <a:pt x="37" y="5"/>
                  </a:lnTo>
                  <a:lnTo>
                    <a:pt x="37" y="0"/>
                  </a:lnTo>
                  <a:close/>
                </a:path>
              </a:pathLst>
            </a:custGeom>
            <a:solidFill>
              <a:srgbClr val="FFFFFF"/>
            </a:solidFill>
            <a:ln w="9525">
              <a:noFill/>
              <a:round/>
            </a:ln>
          </p:spPr>
          <p:txBody>
            <a:bodyPr/>
            <a:lstStyle/>
            <a:p>
              <a:endParaRPr lang="en-US"/>
            </a:p>
          </p:txBody>
        </p:sp>
        <p:sp>
          <p:nvSpPr>
            <p:cNvPr id="1048900" name="Freeform 193"/>
            <p:cNvSpPr/>
            <p:nvPr/>
          </p:nvSpPr>
          <p:spPr bwMode="auto">
            <a:xfrm>
              <a:off x="2291" y="3831"/>
              <a:ext cx="29" cy="13"/>
            </a:xfrm>
            <a:custGeom>
              <a:avLst/>
              <a:gdLst>
                <a:gd name="T0" fmla="*/ 6 w 58"/>
                <a:gd name="T1" fmla="*/ 0 h 25"/>
                <a:gd name="T2" fmla="*/ 5 w 58"/>
                <a:gd name="T3" fmla="*/ 1 h 25"/>
                <a:gd name="T4" fmla="*/ 3 w 58"/>
                <a:gd name="T5" fmla="*/ 2 h 25"/>
                <a:gd name="T6" fmla="*/ 0 w 58"/>
                <a:gd name="T7" fmla="*/ 4 h 25"/>
                <a:gd name="T8" fmla="*/ 0 w 58"/>
                <a:gd name="T9" fmla="*/ 8 h 25"/>
                <a:gd name="T10" fmla="*/ 2 w 58"/>
                <a:gd name="T11" fmla="*/ 10 h 25"/>
                <a:gd name="T12" fmla="*/ 4 w 58"/>
                <a:gd name="T13" fmla="*/ 11 h 25"/>
                <a:gd name="T14" fmla="*/ 7 w 58"/>
                <a:gd name="T15" fmla="*/ 12 h 25"/>
                <a:gd name="T16" fmla="*/ 12 w 58"/>
                <a:gd name="T17" fmla="*/ 13 h 25"/>
                <a:gd name="T18" fmla="*/ 15 w 58"/>
                <a:gd name="T19" fmla="*/ 13 h 25"/>
                <a:gd name="T20" fmla="*/ 20 w 58"/>
                <a:gd name="T21" fmla="*/ 12 h 25"/>
                <a:gd name="T22" fmla="*/ 23 w 58"/>
                <a:gd name="T23" fmla="*/ 12 h 25"/>
                <a:gd name="T24" fmla="*/ 26 w 58"/>
                <a:gd name="T25" fmla="*/ 11 h 25"/>
                <a:gd name="T26" fmla="*/ 28 w 58"/>
                <a:gd name="T27" fmla="*/ 9 h 25"/>
                <a:gd name="T28" fmla="*/ 29 w 58"/>
                <a:gd name="T29" fmla="*/ 6 h 25"/>
                <a:gd name="T30" fmla="*/ 28 w 58"/>
                <a:gd name="T31" fmla="*/ 3 h 25"/>
                <a:gd name="T32" fmla="*/ 23 w 58"/>
                <a:gd name="T33" fmla="*/ 1 h 25"/>
                <a:gd name="T34" fmla="*/ 24 w 58"/>
                <a:gd name="T35" fmla="*/ 2 h 25"/>
                <a:gd name="T36" fmla="*/ 25 w 58"/>
                <a:gd name="T37" fmla="*/ 4 h 25"/>
                <a:gd name="T38" fmla="*/ 25 w 58"/>
                <a:gd name="T39" fmla="*/ 7 h 25"/>
                <a:gd name="T40" fmla="*/ 21 w 58"/>
                <a:gd name="T41" fmla="*/ 8 h 25"/>
                <a:gd name="T42" fmla="*/ 14 w 58"/>
                <a:gd name="T43" fmla="*/ 10 h 25"/>
                <a:gd name="T44" fmla="*/ 9 w 58"/>
                <a:gd name="T45" fmla="*/ 9 h 25"/>
                <a:gd name="T46" fmla="*/ 6 w 58"/>
                <a:gd name="T47" fmla="*/ 8 h 25"/>
                <a:gd name="T48" fmla="*/ 6 w 58"/>
                <a:gd name="T49" fmla="*/ 8 h 25"/>
                <a:gd name="T50" fmla="*/ 5 w 58"/>
                <a:gd name="T51" fmla="*/ 7 h 25"/>
                <a:gd name="T52" fmla="*/ 4 w 58"/>
                <a:gd name="T53" fmla="*/ 6 h 25"/>
                <a:gd name="T54" fmla="*/ 4 w 58"/>
                <a:gd name="T55" fmla="*/ 4 h 25"/>
                <a:gd name="T56" fmla="*/ 6 w 58"/>
                <a:gd name="T57" fmla="*/ 0 h 25"/>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58"/>
                <a:gd name="T88" fmla="*/ 0 h 25"/>
                <a:gd name="T89" fmla="*/ 58 w 58"/>
                <a:gd name="T90" fmla="*/ 25 h 25"/>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58" h="25">
                  <a:moveTo>
                    <a:pt x="12" y="0"/>
                  </a:moveTo>
                  <a:lnTo>
                    <a:pt x="10" y="1"/>
                  </a:lnTo>
                  <a:lnTo>
                    <a:pt x="5" y="4"/>
                  </a:lnTo>
                  <a:lnTo>
                    <a:pt x="0" y="8"/>
                  </a:lnTo>
                  <a:lnTo>
                    <a:pt x="0" y="15"/>
                  </a:lnTo>
                  <a:lnTo>
                    <a:pt x="3" y="20"/>
                  </a:lnTo>
                  <a:lnTo>
                    <a:pt x="8" y="22"/>
                  </a:lnTo>
                  <a:lnTo>
                    <a:pt x="15" y="24"/>
                  </a:lnTo>
                  <a:lnTo>
                    <a:pt x="23" y="25"/>
                  </a:lnTo>
                  <a:lnTo>
                    <a:pt x="31" y="25"/>
                  </a:lnTo>
                  <a:lnTo>
                    <a:pt x="40" y="24"/>
                  </a:lnTo>
                  <a:lnTo>
                    <a:pt x="46" y="23"/>
                  </a:lnTo>
                  <a:lnTo>
                    <a:pt x="51" y="22"/>
                  </a:lnTo>
                  <a:lnTo>
                    <a:pt x="56" y="17"/>
                  </a:lnTo>
                  <a:lnTo>
                    <a:pt x="58" y="12"/>
                  </a:lnTo>
                  <a:lnTo>
                    <a:pt x="55" y="6"/>
                  </a:lnTo>
                  <a:lnTo>
                    <a:pt x="46" y="1"/>
                  </a:lnTo>
                  <a:lnTo>
                    <a:pt x="48" y="4"/>
                  </a:lnTo>
                  <a:lnTo>
                    <a:pt x="50" y="8"/>
                  </a:lnTo>
                  <a:lnTo>
                    <a:pt x="49" y="13"/>
                  </a:lnTo>
                  <a:lnTo>
                    <a:pt x="41" y="16"/>
                  </a:lnTo>
                  <a:lnTo>
                    <a:pt x="27" y="19"/>
                  </a:lnTo>
                  <a:lnTo>
                    <a:pt x="18" y="17"/>
                  </a:lnTo>
                  <a:lnTo>
                    <a:pt x="12" y="16"/>
                  </a:lnTo>
                  <a:lnTo>
                    <a:pt x="11" y="15"/>
                  </a:lnTo>
                  <a:lnTo>
                    <a:pt x="10" y="14"/>
                  </a:lnTo>
                  <a:lnTo>
                    <a:pt x="8" y="12"/>
                  </a:lnTo>
                  <a:lnTo>
                    <a:pt x="8" y="7"/>
                  </a:lnTo>
                  <a:lnTo>
                    <a:pt x="12" y="0"/>
                  </a:lnTo>
                  <a:close/>
                </a:path>
              </a:pathLst>
            </a:custGeom>
            <a:solidFill>
              <a:srgbClr val="000000"/>
            </a:solidFill>
            <a:ln w="9525">
              <a:noFill/>
              <a:round/>
            </a:ln>
          </p:spPr>
          <p:txBody>
            <a:bodyPr/>
            <a:lstStyle/>
            <a:p>
              <a:endParaRPr lang="en-US"/>
            </a:p>
          </p:txBody>
        </p:sp>
        <p:sp>
          <p:nvSpPr>
            <p:cNvPr id="1048901" name="Freeform 194"/>
            <p:cNvSpPr/>
            <p:nvPr/>
          </p:nvSpPr>
          <p:spPr bwMode="auto">
            <a:xfrm>
              <a:off x="2291" y="3841"/>
              <a:ext cx="29" cy="13"/>
            </a:xfrm>
            <a:custGeom>
              <a:avLst/>
              <a:gdLst>
                <a:gd name="T0" fmla="*/ 6 w 58"/>
                <a:gd name="T1" fmla="*/ 0 h 25"/>
                <a:gd name="T2" fmla="*/ 5 w 58"/>
                <a:gd name="T3" fmla="*/ 1 h 25"/>
                <a:gd name="T4" fmla="*/ 3 w 58"/>
                <a:gd name="T5" fmla="*/ 2 h 25"/>
                <a:gd name="T6" fmla="*/ 0 w 58"/>
                <a:gd name="T7" fmla="*/ 4 h 25"/>
                <a:gd name="T8" fmla="*/ 0 w 58"/>
                <a:gd name="T9" fmla="*/ 8 h 25"/>
                <a:gd name="T10" fmla="*/ 2 w 58"/>
                <a:gd name="T11" fmla="*/ 10 h 25"/>
                <a:gd name="T12" fmla="*/ 4 w 58"/>
                <a:gd name="T13" fmla="*/ 11 h 25"/>
                <a:gd name="T14" fmla="*/ 7 w 58"/>
                <a:gd name="T15" fmla="*/ 12 h 25"/>
                <a:gd name="T16" fmla="*/ 12 w 58"/>
                <a:gd name="T17" fmla="*/ 13 h 25"/>
                <a:gd name="T18" fmla="*/ 15 w 58"/>
                <a:gd name="T19" fmla="*/ 13 h 25"/>
                <a:gd name="T20" fmla="*/ 20 w 58"/>
                <a:gd name="T21" fmla="*/ 12 h 25"/>
                <a:gd name="T22" fmla="*/ 23 w 58"/>
                <a:gd name="T23" fmla="*/ 12 h 25"/>
                <a:gd name="T24" fmla="*/ 26 w 58"/>
                <a:gd name="T25" fmla="*/ 11 h 25"/>
                <a:gd name="T26" fmla="*/ 28 w 58"/>
                <a:gd name="T27" fmla="*/ 9 h 25"/>
                <a:gd name="T28" fmla="*/ 29 w 58"/>
                <a:gd name="T29" fmla="*/ 6 h 25"/>
                <a:gd name="T30" fmla="*/ 28 w 58"/>
                <a:gd name="T31" fmla="*/ 3 h 25"/>
                <a:gd name="T32" fmla="*/ 23 w 58"/>
                <a:gd name="T33" fmla="*/ 1 h 25"/>
                <a:gd name="T34" fmla="*/ 24 w 58"/>
                <a:gd name="T35" fmla="*/ 2 h 25"/>
                <a:gd name="T36" fmla="*/ 25 w 58"/>
                <a:gd name="T37" fmla="*/ 4 h 25"/>
                <a:gd name="T38" fmla="*/ 25 w 58"/>
                <a:gd name="T39" fmla="*/ 6 h 25"/>
                <a:gd name="T40" fmla="*/ 21 w 58"/>
                <a:gd name="T41" fmla="*/ 8 h 25"/>
                <a:gd name="T42" fmla="*/ 14 w 58"/>
                <a:gd name="T43" fmla="*/ 9 h 25"/>
                <a:gd name="T44" fmla="*/ 9 w 58"/>
                <a:gd name="T45" fmla="*/ 9 h 25"/>
                <a:gd name="T46" fmla="*/ 6 w 58"/>
                <a:gd name="T47" fmla="*/ 8 h 25"/>
                <a:gd name="T48" fmla="*/ 6 w 58"/>
                <a:gd name="T49" fmla="*/ 8 h 25"/>
                <a:gd name="T50" fmla="*/ 5 w 58"/>
                <a:gd name="T51" fmla="*/ 7 h 25"/>
                <a:gd name="T52" fmla="*/ 4 w 58"/>
                <a:gd name="T53" fmla="*/ 6 h 25"/>
                <a:gd name="T54" fmla="*/ 4 w 58"/>
                <a:gd name="T55" fmla="*/ 4 h 25"/>
                <a:gd name="T56" fmla="*/ 6 w 58"/>
                <a:gd name="T57" fmla="*/ 0 h 25"/>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58"/>
                <a:gd name="T88" fmla="*/ 0 h 25"/>
                <a:gd name="T89" fmla="*/ 58 w 58"/>
                <a:gd name="T90" fmla="*/ 25 h 25"/>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58" h="25">
                  <a:moveTo>
                    <a:pt x="12" y="0"/>
                  </a:moveTo>
                  <a:lnTo>
                    <a:pt x="10" y="1"/>
                  </a:lnTo>
                  <a:lnTo>
                    <a:pt x="5" y="3"/>
                  </a:lnTo>
                  <a:lnTo>
                    <a:pt x="0" y="8"/>
                  </a:lnTo>
                  <a:lnTo>
                    <a:pt x="0" y="15"/>
                  </a:lnTo>
                  <a:lnTo>
                    <a:pt x="3" y="19"/>
                  </a:lnTo>
                  <a:lnTo>
                    <a:pt x="8" y="22"/>
                  </a:lnTo>
                  <a:lnTo>
                    <a:pt x="15" y="24"/>
                  </a:lnTo>
                  <a:lnTo>
                    <a:pt x="23" y="25"/>
                  </a:lnTo>
                  <a:lnTo>
                    <a:pt x="31" y="25"/>
                  </a:lnTo>
                  <a:lnTo>
                    <a:pt x="40" y="24"/>
                  </a:lnTo>
                  <a:lnTo>
                    <a:pt x="46" y="23"/>
                  </a:lnTo>
                  <a:lnTo>
                    <a:pt x="51" y="22"/>
                  </a:lnTo>
                  <a:lnTo>
                    <a:pt x="56" y="17"/>
                  </a:lnTo>
                  <a:lnTo>
                    <a:pt x="58" y="11"/>
                  </a:lnTo>
                  <a:lnTo>
                    <a:pt x="55" y="5"/>
                  </a:lnTo>
                  <a:lnTo>
                    <a:pt x="46" y="1"/>
                  </a:lnTo>
                  <a:lnTo>
                    <a:pt x="48" y="3"/>
                  </a:lnTo>
                  <a:lnTo>
                    <a:pt x="50" y="8"/>
                  </a:lnTo>
                  <a:lnTo>
                    <a:pt x="49" y="12"/>
                  </a:lnTo>
                  <a:lnTo>
                    <a:pt x="41" y="16"/>
                  </a:lnTo>
                  <a:lnTo>
                    <a:pt x="27" y="18"/>
                  </a:lnTo>
                  <a:lnTo>
                    <a:pt x="18" y="17"/>
                  </a:lnTo>
                  <a:lnTo>
                    <a:pt x="12" y="16"/>
                  </a:lnTo>
                  <a:lnTo>
                    <a:pt x="11" y="15"/>
                  </a:lnTo>
                  <a:lnTo>
                    <a:pt x="10" y="14"/>
                  </a:lnTo>
                  <a:lnTo>
                    <a:pt x="8" y="11"/>
                  </a:lnTo>
                  <a:lnTo>
                    <a:pt x="8" y="7"/>
                  </a:lnTo>
                  <a:lnTo>
                    <a:pt x="12" y="0"/>
                  </a:lnTo>
                  <a:close/>
                </a:path>
              </a:pathLst>
            </a:custGeom>
            <a:solidFill>
              <a:srgbClr val="000000"/>
            </a:solidFill>
            <a:ln w="9525">
              <a:noFill/>
              <a:round/>
            </a:ln>
          </p:spPr>
          <p:txBody>
            <a:bodyPr/>
            <a:lstStyle/>
            <a:p>
              <a:endParaRPr lang="en-US"/>
            </a:p>
          </p:txBody>
        </p:sp>
        <p:sp>
          <p:nvSpPr>
            <p:cNvPr id="1048902" name="Freeform 195"/>
            <p:cNvSpPr/>
            <p:nvPr/>
          </p:nvSpPr>
          <p:spPr bwMode="auto">
            <a:xfrm>
              <a:off x="2291" y="3851"/>
              <a:ext cx="29" cy="12"/>
            </a:xfrm>
            <a:custGeom>
              <a:avLst/>
              <a:gdLst>
                <a:gd name="T0" fmla="*/ 6 w 58"/>
                <a:gd name="T1" fmla="*/ 0 h 26"/>
                <a:gd name="T2" fmla="*/ 5 w 58"/>
                <a:gd name="T3" fmla="*/ 0 h 26"/>
                <a:gd name="T4" fmla="*/ 3 w 58"/>
                <a:gd name="T5" fmla="*/ 2 h 26"/>
                <a:gd name="T6" fmla="*/ 0 w 58"/>
                <a:gd name="T7" fmla="*/ 4 h 26"/>
                <a:gd name="T8" fmla="*/ 0 w 58"/>
                <a:gd name="T9" fmla="*/ 7 h 26"/>
                <a:gd name="T10" fmla="*/ 2 w 58"/>
                <a:gd name="T11" fmla="*/ 9 h 26"/>
                <a:gd name="T12" fmla="*/ 4 w 58"/>
                <a:gd name="T13" fmla="*/ 11 h 26"/>
                <a:gd name="T14" fmla="*/ 7 w 58"/>
                <a:gd name="T15" fmla="*/ 12 h 26"/>
                <a:gd name="T16" fmla="*/ 12 w 58"/>
                <a:gd name="T17" fmla="*/ 12 h 26"/>
                <a:gd name="T18" fmla="*/ 15 w 58"/>
                <a:gd name="T19" fmla="*/ 12 h 26"/>
                <a:gd name="T20" fmla="*/ 20 w 58"/>
                <a:gd name="T21" fmla="*/ 12 h 26"/>
                <a:gd name="T22" fmla="*/ 23 w 58"/>
                <a:gd name="T23" fmla="*/ 11 h 26"/>
                <a:gd name="T24" fmla="*/ 26 w 58"/>
                <a:gd name="T25" fmla="*/ 10 h 26"/>
                <a:gd name="T26" fmla="*/ 28 w 58"/>
                <a:gd name="T27" fmla="*/ 8 h 26"/>
                <a:gd name="T28" fmla="*/ 29 w 58"/>
                <a:gd name="T29" fmla="*/ 6 h 26"/>
                <a:gd name="T30" fmla="*/ 28 w 58"/>
                <a:gd name="T31" fmla="*/ 3 h 26"/>
                <a:gd name="T32" fmla="*/ 23 w 58"/>
                <a:gd name="T33" fmla="*/ 0 h 26"/>
                <a:gd name="T34" fmla="*/ 24 w 58"/>
                <a:gd name="T35" fmla="*/ 2 h 26"/>
                <a:gd name="T36" fmla="*/ 25 w 58"/>
                <a:gd name="T37" fmla="*/ 4 h 26"/>
                <a:gd name="T38" fmla="*/ 25 w 58"/>
                <a:gd name="T39" fmla="*/ 6 h 26"/>
                <a:gd name="T40" fmla="*/ 21 w 58"/>
                <a:gd name="T41" fmla="*/ 8 h 26"/>
                <a:gd name="T42" fmla="*/ 14 w 58"/>
                <a:gd name="T43" fmla="*/ 9 h 26"/>
                <a:gd name="T44" fmla="*/ 9 w 58"/>
                <a:gd name="T45" fmla="*/ 8 h 26"/>
                <a:gd name="T46" fmla="*/ 6 w 58"/>
                <a:gd name="T47" fmla="*/ 7 h 26"/>
                <a:gd name="T48" fmla="*/ 6 w 58"/>
                <a:gd name="T49" fmla="*/ 7 h 26"/>
                <a:gd name="T50" fmla="*/ 5 w 58"/>
                <a:gd name="T51" fmla="*/ 6 h 26"/>
                <a:gd name="T52" fmla="*/ 4 w 58"/>
                <a:gd name="T53" fmla="*/ 6 h 26"/>
                <a:gd name="T54" fmla="*/ 4 w 58"/>
                <a:gd name="T55" fmla="*/ 3 h 26"/>
                <a:gd name="T56" fmla="*/ 6 w 58"/>
                <a:gd name="T57" fmla="*/ 0 h 2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58"/>
                <a:gd name="T88" fmla="*/ 0 h 26"/>
                <a:gd name="T89" fmla="*/ 58 w 58"/>
                <a:gd name="T90" fmla="*/ 26 h 2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58" h="26">
                  <a:moveTo>
                    <a:pt x="12" y="0"/>
                  </a:moveTo>
                  <a:lnTo>
                    <a:pt x="10" y="1"/>
                  </a:lnTo>
                  <a:lnTo>
                    <a:pt x="5" y="4"/>
                  </a:lnTo>
                  <a:lnTo>
                    <a:pt x="0" y="8"/>
                  </a:lnTo>
                  <a:lnTo>
                    <a:pt x="0" y="15"/>
                  </a:lnTo>
                  <a:lnTo>
                    <a:pt x="3" y="20"/>
                  </a:lnTo>
                  <a:lnTo>
                    <a:pt x="8" y="23"/>
                  </a:lnTo>
                  <a:lnTo>
                    <a:pt x="15" y="25"/>
                  </a:lnTo>
                  <a:lnTo>
                    <a:pt x="23" y="26"/>
                  </a:lnTo>
                  <a:lnTo>
                    <a:pt x="31" y="26"/>
                  </a:lnTo>
                  <a:lnTo>
                    <a:pt x="40" y="25"/>
                  </a:lnTo>
                  <a:lnTo>
                    <a:pt x="46" y="23"/>
                  </a:lnTo>
                  <a:lnTo>
                    <a:pt x="51" y="22"/>
                  </a:lnTo>
                  <a:lnTo>
                    <a:pt x="56" y="18"/>
                  </a:lnTo>
                  <a:lnTo>
                    <a:pt x="58" y="12"/>
                  </a:lnTo>
                  <a:lnTo>
                    <a:pt x="55" y="6"/>
                  </a:lnTo>
                  <a:lnTo>
                    <a:pt x="46" y="1"/>
                  </a:lnTo>
                  <a:lnTo>
                    <a:pt x="48" y="4"/>
                  </a:lnTo>
                  <a:lnTo>
                    <a:pt x="50" y="8"/>
                  </a:lnTo>
                  <a:lnTo>
                    <a:pt x="49" y="14"/>
                  </a:lnTo>
                  <a:lnTo>
                    <a:pt x="41" y="18"/>
                  </a:lnTo>
                  <a:lnTo>
                    <a:pt x="27" y="19"/>
                  </a:lnTo>
                  <a:lnTo>
                    <a:pt x="18" y="18"/>
                  </a:lnTo>
                  <a:lnTo>
                    <a:pt x="12" y="16"/>
                  </a:lnTo>
                  <a:lnTo>
                    <a:pt x="11" y="15"/>
                  </a:lnTo>
                  <a:lnTo>
                    <a:pt x="10" y="14"/>
                  </a:lnTo>
                  <a:lnTo>
                    <a:pt x="8" y="12"/>
                  </a:lnTo>
                  <a:lnTo>
                    <a:pt x="8" y="7"/>
                  </a:lnTo>
                  <a:lnTo>
                    <a:pt x="12" y="0"/>
                  </a:lnTo>
                  <a:close/>
                </a:path>
              </a:pathLst>
            </a:custGeom>
            <a:solidFill>
              <a:srgbClr val="000000"/>
            </a:solidFill>
            <a:ln w="9525">
              <a:noFill/>
              <a:round/>
            </a:ln>
          </p:spPr>
          <p:txBody>
            <a:bodyPr/>
            <a:lstStyle/>
            <a:p>
              <a:endParaRPr lang="en-US"/>
            </a:p>
          </p:txBody>
        </p:sp>
        <p:sp>
          <p:nvSpPr>
            <p:cNvPr id="1048903" name="Freeform 196"/>
            <p:cNvSpPr/>
            <p:nvPr/>
          </p:nvSpPr>
          <p:spPr bwMode="auto">
            <a:xfrm>
              <a:off x="2299" y="3862"/>
              <a:ext cx="12" cy="7"/>
            </a:xfrm>
            <a:custGeom>
              <a:avLst/>
              <a:gdLst>
                <a:gd name="T0" fmla="*/ 0 w 25"/>
                <a:gd name="T1" fmla="*/ 0 h 14"/>
                <a:gd name="T2" fmla="*/ 2 w 25"/>
                <a:gd name="T3" fmla="*/ 6 h 14"/>
                <a:gd name="T4" fmla="*/ 3 w 25"/>
                <a:gd name="T5" fmla="*/ 6 h 14"/>
                <a:gd name="T6" fmla="*/ 4 w 25"/>
                <a:gd name="T7" fmla="*/ 7 h 14"/>
                <a:gd name="T8" fmla="*/ 6 w 25"/>
                <a:gd name="T9" fmla="*/ 7 h 14"/>
                <a:gd name="T10" fmla="*/ 9 w 25"/>
                <a:gd name="T11" fmla="*/ 7 h 14"/>
                <a:gd name="T12" fmla="*/ 12 w 25"/>
                <a:gd name="T13" fmla="*/ 0 h 14"/>
                <a:gd name="T14" fmla="*/ 10 w 25"/>
                <a:gd name="T15" fmla="*/ 0 h 14"/>
                <a:gd name="T16" fmla="*/ 7 w 25"/>
                <a:gd name="T17" fmla="*/ 0 h 14"/>
                <a:gd name="T18" fmla="*/ 3 w 25"/>
                <a:gd name="T19" fmla="*/ 0 h 14"/>
                <a:gd name="T20" fmla="*/ 0 w 25"/>
                <a:gd name="T21" fmla="*/ 0 h 14"/>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5"/>
                <a:gd name="T34" fmla="*/ 0 h 14"/>
                <a:gd name="T35" fmla="*/ 25 w 25"/>
                <a:gd name="T36" fmla="*/ 14 h 14"/>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5" h="14">
                  <a:moveTo>
                    <a:pt x="0" y="0"/>
                  </a:moveTo>
                  <a:lnTo>
                    <a:pt x="5" y="12"/>
                  </a:lnTo>
                  <a:lnTo>
                    <a:pt x="6" y="12"/>
                  </a:lnTo>
                  <a:lnTo>
                    <a:pt x="9" y="13"/>
                  </a:lnTo>
                  <a:lnTo>
                    <a:pt x="13" y="14"/>
                  </a:lnTo>
                  <a:lnTo>
                    <a:pt x="19" y="13"/>
                  </a:lnTo>
                  <a:lnTo>
                    <a:pt x="25" y="0"/>
                  </a:lnTo>
                  <a:lnTo>
                    <a:pt x="21" y="0"/>
                  </a:lnTo>
                  <a:lnTo>
                    <a:pt x="14" y="0"/>
                  </a:lnTo>
                  <a:lnTo>
                    <a:pt x="6" y="0"/>
                  </a:lnTo>
                  <a:lnTo>
                    <a:pt x="0" y="0"/>
                  </a:lnTo>
                  <a:close/>
                </a:path>
              </a:pathLst>
            </a:custGeom>
            <a:solidFill>
              <a:srgbClr val="000000"/>
            </a:solidFill>
            <a:ln w="9525">
              <a:noFill/>
              <a:round/>
            </a:ln>
          </p:spPr>
          <p:txBody>
            <a:bodyPr/>
            <a:lstStyle/>
            <a:p>
              <a:endParaRPr lang="en-US"/>
            </a:p>
          </p:txBody>
        </p:sp>
        <p:sp>
          <p:nvSpPr>
            <p:cNvPr id="1048904" name="Freeform 197"/>
            <p:cNvSpPr/>
            <p:nvPr/>
          </p:nvSpPr>
          <p:spPr bwMode="auto">
            <a:xfrm>
              <a:off x="2295" y="3829"/>
              <a:ext cx="22" cy="4"/>
            </a:xfrm>
            <a:custGeom>
              <a:avLst/>
              <a:gdLst>
                <a:gd name="T0" fmla="*/ 0 w 43"/>
                <a:gd name="T1" fmla="*/ 2 h 8"/>
                <a:gd name="T2" fmla="*/ 1 w 43"/>
                <a:gd name="T3" fmla="*/ 2 h 8"/>
                <a:gd name="T4" fmla="*/ 3 w 43"/>
                <a:gd name="T5" fmla="*/ 3 h 8"/>
                <a:gd name="T6" fmla="*/ 6 w 43"/>
                <a:gd name="T7" fmla="*/ 3 h 8"/>
                <a:gd name="T8" fmla="*/ 9 w 43"/>
                <a:gd name="T9" fmla="*/ 3 h 8"/>
                <a:gd name="T10" fmla="*/ 13 w 43"/>
                <a:gd name="T11" fmla="*/ 4 h 8"/>
                <a:gd name="T12" fmla="*/ 16 w 43"/>
                <a:gd name="T13" fmla="*/ 3 h 8"/>
                <a:gd name="T14" fmla="*/ 19 w 43"/>
                <a:gd name="T15" fmla="*/ 2 h 8"/>
                <a:gd name="T16" fmla="*/ 21 w 43"/>
                <a:gd name="T17" fmla="*/ 2 h 8"/>
                <a:gd name="T18" fmla="*/ 21 w 43"/>
                <a:gd name="T19" fmla="*/ 2 h 8"/>
                <a:gd name="T20" fmla="*/ 22 w 43"/>
                <a:gd name="T21" fmla="*/ 1 h 8"/>
                <a:gd name="T22" fmla="*/ 21 w 43"/>
                <a:gd name="T23" fmla="*/ 1 h 8"/>
                <a:gd name="T24" fmla="*/ 20 w 43"/>
                <a:gd name="T25" fmla="*/ 0 h 8"/>
                <a:gd name="T26" fmla="*/ 19 w 43"/>
                <a:gd name="T27" fmla="*/ 0 h 8"/>
                <a:gd name="T28" fmla="*/ 17 w 43"/>
                <a:gd name="T29" fmla="*/ 0 h 8"/>
                <a:gd name="T30" fmla="*/ 15 w 43"/>
                <a:gd name="T31" fmla="*/ 1 h 8"/>
                <a:gd name="T32" fmla="*/ 13 w 43"/>
                <a:gd name="T33" fmla="*/ 1 h 8"/>
                <a:gd name="T34" fmla="*/ 11 w 43"/>
                <a:gd name="T35" fmla="*/ 1 h 8"/>
                <a:gd name="T36" fmla="*/ 9 w 43"/>
                <a:gd name="T37" fmla="*/ 1 h 8"/>
                <a:gd name="T38" fmla="*/ 6 w 43"/>
                <a:gd name="T39" fmla="*/ 1 h 8"/>
                <a:gd name="T40" fmla="*/ 3 w 43"/>
                <a:gd name="T41" fmla="*/ 1 h 8"/>
                <a:gd name="T42" fmla="*/ 0 w 43"/>
                <a:gd name="T43" fmla="*/ 2 h 8"/>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43"/>
                <a:gd name="T67" fmla="*/ 0 h 8"/>
                <a:gd name="T68" fmla="*/ 43 w 43"/>
                <a:gd name="T69" fmla="*/ 8 h 8"/>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43" h="8">
                  <a:moveTo>
                    <a:pt x="0" y="5"/>
                  </a:moveTo>
                  <a:lnTo>
                    <a:pt x="2" y="5"/>
                  </a:lnTo>
                  <a:lnTo>
                    <a:pt x="6" y="7"/>
                  </a:lnTo>
                  <a:lnTo>
                    <a:pt x="12" y="7"/>
                  </a:lnTo>
                  <a:lnTo>
                    <a:pt x="18" y="7"/>
                  </a:lnTo>
                  <a:lnTo>
                    <a:pt x="26" y="8"/>
                  </a:lnTo>
                  <a:lnTo>
                    <a:pt x="32" y="7"/>
                  </a:lnTo>
                  <a:lnTo>
                    <a:pt x="37" y="5"/>
                  </a:lnTo>
                  <a:lnTo>
                    <a:pt x="42" y="4"/>
                  </a:lnTo>
                  <a:lnTo>
                    <a:pt x="43" y="2"/>
                  </a:lnTo>
                  <a:lnTo>
                    <a:pt x="42" y="1"/>
                  </a:lnTo>
                  <a:lnTo>
                    <a:pt x="40" y="0"/>
                  </a:lnTo>
                  <a:lnTo>
                    <a:pt x="37" y="0"/>
                  </a:lnTo>
                  <a:lnTo>
                    <a:pt x="34" y="0"/>
                  </a:lnTo>
                  <a:lnTo>
                    <a:pt x="30" y="1"/>
                  </a:lnTo>
                  <a:lnTo>
                    <a:pt x="26" y="1"/>
                  </a:lnTo>
                  <a:lnTo>
                    <a:pt x="21" y="2"/>
                  </a:lnTo>
                  <a:lnTo>
                    <a:pt x="17" y="2"/>
                  </a:lnTo>
                  <a:lnTo>
                    <a:pt x="11" y="2"/>
                  </a:lnTo>
                  <a:lnTo>
                    <a:pt x="5" y="2"/>
                  </a:lnTo>
                  <a:lnTo>
                    <a:pt x="0" y="5"/>
                  </a:lnTo>
                  <a:close/>
                </a:path>
              </a:pathLst>
            </a:custGeom>
            <a:solidFill>
              <a:srgbClr val="000000"/>
            </a:solidFill>
            <a:ln w="9525">
              <a:noFill/>
              <a:round/>
            </a:ln>
          </p:spPr>
          <p:txBody>
            <a:bodyPr/>
            <a:lstStyle/>
            <a:p>
              <a:endParaRPr lang="en-US"/>
            </a:p>
          </p:txBody>
        </p:sp>
        <p:sp>
          <p:nvSpPr>
            <p:cNvPr id="1048905" name="Freeform 198"/>
            <p:cNvSpPr/>
            <p:nvPr/>
          </p:nvSpPr>
          <p:spPr bwMode="auto">
            <a:xfrm>
              <a:off x="2271" y="3761"/>
              <a:ext cx="59" cy="69"/>
            </a:xfrm>
            <a:custGeom>
              <a:avLst/>
              <a:gdLst>
                <a:gd name="T0" fmla="*/ 42 w 118"/>
                <a:gd name="T1" fmla="*/ 69 h 139"/>
                <a:gd name="T2" fmla="*/ 42 w 118"/>
                <a:gd name="T3" fmla="*/ 66 h 139"/>
                <a:gd name="T4" fmla="*/ 42 w 118"/>
                <a:gd name="T5" fmla="*/ 60 h 139"/>
                <a:gd name="T6" fmla="*/ 44 w 118"/>
                <a:gd name="T7" fmla="*/ 53 h 139"/>
                <a:gd name="T8" fmla="*/ 48 w 118"/>
                <a:gd name="T9" fmla="*/ 46 h 139"/>
                <a:gd name="T10" fmla="*/ 51 w 118"/>
                <a:gd name="T11" fmla="*/ 43 h 139"/>
                <a:gd name="T12" fmla="*/ 54 w 118"/>
                <a:gd name="T13" fmla="*/ 39 h 139"/>
                <a:gd name="T14" fmla="*/ 57 w 118"/>
                <a:gd name="T15" fmla="*/ 33 h 139"/>
                <a:gd name="T16" fmla="*/ 59 w 118"/>
                <a:gd name="T17" fmla="*/ 26 h 139"/>
                <a:gd name="T18" fmla="*/ 59 w 118"/>
                <a:gd name="T19" fmla="*/ 20 h 139"/>
                <a:gd name="T20" fmla="*/ 57 w 118"/>
                <a:gd name="T21" fmla="*/ 13 h 139"/>
                <a:gd name="T22" fmla="*/ 53 w 118"/>
                <a:gd name="T23" fmla="*/ 7 h 139"/>
                <a:gd name="T24" fmla="*/ 44 w 118"/>
                <a:gd name="T25" fmla="*/ 2 h 139"/>
                <a:gd name="T26" fmla="*/ 34 w 118"/>
                <a:gd name="T27" fmla="*/ 0 h 139"/>
                <a:gd name="T28" fmla="*/ 25 w 118"/>
                <a:gd name="T29" fmla="*/ 0 h 139"/>
                <a:gd name="T30" fmla="*/ 17 w 118"/>
                <a:gd name="T31" fmla="*/ 2 h 139"/>
                <a:gd name="T32" fmla="*/ 11 w 118"/>
                <a:gd name="T33" fmla="*/ 6 h 139"/>
                <a:gd name="T34" fmla="*/ 5 w 118"/>
                <a:gd name="T35" fmla="*/ 12 h 139"/>
                <a:gd name="T36" fmla="*/ 2 w 118"/>
                <a:gd name="T37" fmla="*/ 17 h 139"/>
                <a:gd name="T38" fmla="*/ 0 w 118"/>
                <a:gd name="T39" fmla="*/ 23 h 139"/>
                <a:gd name="T40" fmla="*/ 1 w 118"/>
                <a:gd name="T41" fmla="*/ 28 h 139"/>
                <a:gd name="T42" fmla="*/ 3 w 118"/>
                <a:gd name="T43" fmla="*/ 32 h 139"/>
                <a:gd name="T44" fmla="*/ 6 w 118"/>
                <a:gd name="T45" fmla="*/ 37 h 139"/>
                <a:gd name="T46" fmla="*/ 9 w 118"/>
                <a:gd name="T47" fmla="*/ 42 h 139"/>
                <a:gd name="T48" fmla="*/ 14 w 118"/>
                <a:gd name="T49" fmla="*/ 47 h 139"/>
                <a:gd name="T50" fmla="*/ 18 w 118"/>
                <a:gd name="T51" fmla="*/ 51 h 139"/>
                <a:gd name="T52" fmla="*/ 21 w 118"/>
                <a:gd name="T53" fmla="*/ 55 h 139"/>
                <a:gd name="T54" fmla="*/ 23 w 118"/>
                <a:gd name="T55" fmla="*/ 58 h 139"/>
                <a:gd name="T56" fmla="*/ 24 w 118"/>
                <a:gd name="T57" fmla="*/ 61 h 139"/>
                <a:gd name="T58" fmla="*/ 24 w 118"/>
                <a:gd name="T59" fmla="*/ 63 h 139"/>
                <a:gd name="T60" fmla="*/ 24 w 118"/>
                <a:gd name="T61" fmla="*/ 66 h 139"/>
                <a:gd name="T62" fmla="*/ 24 w 118"/>
                <a:gd name="T63" fmla="*/ 69 h 139"/>
                <a:gd name="T64" fmla="*/ 24 w 118"/>
                <a:gd name="T65" fmla="*/ 69 h 139"/>
                <a:gd name="T66" fmla="*/ 42 w 118"/>
                <a:gd name="T67" fmla="*/ 69 h 139"/>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118"/>
                <a:gd name="T103" fmla="*/ 0 h 139"/>
                <a:gd name="T104" fmla="*/ 118 w 118"/>
                <a:gd name="T105" fmla="*/ 139 h 139"/>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118" h="139">
                  <a:moveTo>
                    <a:pt x="83" y="139"/>
                  </a:moveTo>
                  <a:lnTo>
                    <a:pt x="83" y="133"/>
                  </a:lnTo>
                  <a:lnTo>
                    <a:pt x="84" y="121"/>
                  </a:lnTo>
                  <a:lnTo>
                    <a:pt x="88" y="106"/>
                  </a:lnTo>
                  <a:lnTo>
                    <a:pt x="96" y="93"/>
                  </a:lnTo>
                  <a:lnTo>
                    <a:pt x="101" y="87"/>
                  </a:lnTo>
                  <a:lnTo>
                    <a:pt x="108" y="78"/>
                  </a:lnTo>
                  <a:lnTo>
                    <a:pt x="114" y="66"/>
                  </a:lnTo>
                  <a:lnTo>
                    <a:pt x="118" y="53"/>
                  </a:lnTo>
                  <a:lnTo>
                    <a:pt x="118" y="40"/>
                  </a:lnTo>
                  <a:lnTo>
                    <a:pt x="114" y="26"/>
                  </a:lnTo>
                  <a:lnTo>
                    <a:pt x="105" y="15"/>
                  </a:lnTo>
                  <a:lnTo>
                    <a:pt x="88" y="5"/>
                  </a:lnTo>
                  <a:lnTo>
                    <a:pt x="67" y="0"/>
                  </a:lnTo>
                  <a:lnTo>
                    <a:pt x="50" y="1"/>
                  </a:lnTo>
                  <a:lnTo>
                    <a:pt x="33" y="5"/>
                  </a:lnTo>
                  <a:lnTo>
                    <a:pt x="21" y="13"/>
                  </a:lnTo>
                  <a:lnTo>
                    <a:pt x="10" y="24"/>
                  </a:lnTo>
                  <a:lnTo>
                    <a:pt x="3" y="35"/>
                  </a:lnTo>
                  <a:lnTo>
                    <a:pt x="0" y="47"/>
                  </a:lnTo>
                  <a:lnTo>
                    <a:pt x="1" y="56"/>
                  </a:lnTo>
                  <a:lnTo>
                    <a:pt x="5" y="65"/>
                  </a:lnTo>
                  <a:lnTo>
                    <a:pt x="12" y="74"/>
                  </a:lnTo>
                  <a:lnTo>
                    <a:pt x="18" y="85"/>
                  </a:lnTo>
                  <a:lnTo>
                    <a:pt x="27" y="94"/>
                  </a:lnTo>
                  <a:lnTo>
                    <a:pt x="35" y="103"/>
                  </a:lnTo>
                  <a:lnTo>
                    <a:pt x="42" y="111"/>
                  </a:lnTo>
                  <a:lnTo>
                    <a:pt x="46" y="117"/>
                  </a:lnTo>
                  <a:lnTo>
                    <a:pt x="48" y="122"/>
                  </a:lnTo>
                  <a:lnTo>
                    <a:pt x="48" y="127"/>
                  </a:lnTo>
                  <a:lnTo>
                    <a:pt x="48" y="133"/>
                  </a:lnTo>
                  <a:lnTo>
                    <a:pt x="48" y="138"/>
                  </a:lnTo>
                  <a:lnTo>
                    <a:pt x="48" y="139"/>
                  </a:lnTo>
                  <a:lnTo>
                    <a:pt x="83" y="139"/>
                  </a:lnTo>
                  <a:close/>
                </a:path>
              </a:pathLst>
            </a:custGeom>
            <a:solidFill>
              <a:srgbClr val="FFFF00"/>
            </a:solidFill>
            <a:ln w="9525">
              <a:noFill/>
              <a:round/>
            </a:ln>
          </p:spPr>
          <p:txBody>
            <a:bodyPr/>
            <a:lstStyle/>
            <a:p>
              <a:endParaRPr lang="en-US"/>
            </a:p>
          </p:txBody>
        </p:sp>
        <p:sp>
          <p:nvSpPr>
            <p:cNvPr id="1048906" name="Freeform 199"/>
            <p:cNvSpPr/>
            <p:nvPr/>
          </p:nvSpPr>
          <p:spPr bwMode="auto">
            <a:xfrm>
              <a:off x="2268" y="3758"/>
              <a:ext cx="66" cy="72"/>
            </a:xfrm>
            <a:custGeom>
              <a:avLst/>
              <a:gdLst>
                <a:gd name="T0" fmla="*/ 45 w 133"/>
                <a:gd name="T1" fmla="*/ 69 h 143"/>
                <a:gd name="T2" fmla="*/ 49 w 133"/>
                <a:gd name="T3" fmla="*/ 59 h 143"/>
                <a:gd name="T4" fmla="*/ 58 w 133"/>
                <a:gd name="T5" fmla="*/ 49 h 143"/>
                <a:gd name="T6" fmla="*/ 65 w 133"/>
                <a:gd name="T7" fmla="*/ 38 h 143"/>
                <a:gd name="T8" fmla="*/ 66 w 133"/>
                <a:gd name="T9" fmla="*/ 26 h 143"/>
                <a:gd name="T10" fmla="*/ 63 w 133"/>
                <a:gd name="T11" fmla="*/ 15 h 143"/>
                <a:gd name="T12" fmla="*/ 57 w 133"/>
                <a:gd name="T13" fmla="*/ 8 h 143"/>
                <a:gd name="T14" fmla="*/ 52 w 133"/>
                <a:gd name="T15" fmla="*/ 5 h 143"/>
                <a:gd name="T16" fmla="*/ 45 w 133"/>
                <a:gd name="T17" fmla="*/ 2 h 143"/>
                <a:gd name="T18" fmla="*/ 36 w 133"/>
                <a:gd name="T19" fmla="*/ 0 h 143"/>
                <a:gd name="T20" fmla="*/ 23 w 133"/>
                <a:gd name="T21" fmla="*/ 1 h 143"/>
                <a:gd name="T22" fmla="*/ 9 w 133"/>
                <a:gd name="T23" fmla="*/ 9 h 143"/>
                <a:gd name="T24" fmla="*/ 1 w 133"/>
                <a:gd name="T25" fmla="*/ 20 h 143"/>
                <a:gd name="T26" fmla="*/ 2 w 133"/>
                <a:gd name="T27" fmla="*/ 36 h 143"/>
                <a:gd name="T28" fmla="*/ 10 w 133"/>
                <a:gd name="T29" fmla="*/ 49 h 143"/>
                <a:gd name="T30" fmla="*/ 17 w 133"/>
                <a:gd name="T31" fmla="*/ 56 h 143"/>
                <a:gd name="T32" fmla="*/ 23 w 133"/>
                <a:gd name="T33" fmla="*/ 61 h 143"/>
                <a:gd name="T34" fmla="*/ 26 w 133"/>
                <a:gd name="T35" fmla="*/ 67 h 143"/>
                <a:gd name="T36" fmla="*/ 28 w 133"/>
                <a:gd name="T37" fmla="*/ 71 h 143"/>
                <a:gd name="T38" fmla="*/ 29 w 133"/>
                <a:gd name="T39" fmla="*/ 62 h 143"/>
                <a:gd name="T40" fmla="*/ 21 w 133"/>
                <a:gd name="T41" fmla="*/ 55 h 143"/>
                <a:gd name="T42" fmla="*/ 15 w 133"/>
                <a:gd name="T43" fmla="*/ 50 h 143"/>
                <a:gd name="T44" fmla="*/ 10 w 133"/>
                <a:gd name="T45" fmla="*/ 43 h 143"/>
                <a:gd name="T46" fmla="*/ 7 w 133"/>
                <a:gd name="T47" fmla="*/ 36 h 143"/>
                <a:gd name="T48" fmla="*/ 6 w 133"/>
                <a:gd name="T49" fmla="*/ 26 h 143"/>
                <a:gd name="T50" fmla="*/ 10 w 133"/>
                <a:gd name="T51" fmla="*/ 16 h 143"/>
                <a:gd name="T52" fmla="*/ 19 w 133"/>
                <a:gd name="T53" fmla="*/ 9 h 143"/>
                <a:gd name="T54" fmla="*/ 31 w 133"/>
                <a:gd name="T55" fmla="*/ 5 h 143"/>
                <a:gd name="T56" fmla="*/ 45 w 133"/>
                <a:gd name="T57" fmla="*/ 7 h 143"/>
                <a:gd name="T58" fmla="*/ 55 w 133"/>
                <a:gd name="T59" fmla="*/ 13 h 143"/>
                <a:gd name="T60" fmla="*/ 59 w 133"/>
                <a:gd name="T61" fmla="*/ 22 h 143"/>
                <a:gd name="T62" fmla="*/ 60 w 133"/>
                <a:gd name="T63" fmla="*/ 33 h 143"/>
                <a:gd name="T64" fmla="*/ 56 w 133"/>
                <a:gd name="T65" fmla="*/ 43 h 143"/>
                <a:gd name="T66" fmla="*/ 49 w 133"/>
                <a:gd name="T67" fmla="*/ 50 h 143"/>
                <a:gd name="T68" fmla="*/ 44 w 133"/>
                <a:gd name="T69" fmla="*/ 57 h 143"/>
                <a:gd name="T70" fmla="*/ 43 w 133"/>
                <a:gd name="T71" fmla="*/ 65 h 143"/>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133"/>
                <a:gd name="T109" fmla="*/ 0 h 143"/>
                <a:gd name="T110" fmla="*/ 133 w 133"/>
                <a:gd name="T111" fmla="*/ 143 h 143"/>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133" h="143">
                  <a:moveTo>
                    <a:pt x="91" y="141"/>
                  </a:moveTo>
                  <a:lnTo>
                    <a:pt x="91" y="137"/>
                  </a:lnTo>
                  <a:lnTo>
                    <a:pt x="94" y="128"/>
                  </a:lnTo>
                  <a:lnTo>
                    <a:pt x="98" y="117"/>
                  </a:lnTo>
                  <a:lnTo>
                    <a:pt x="106" y="108"/>
                  </a:lnTo>
                  <a:lnTo>
                    <a:pt x="117" y="98"/>
                  </a:lnTo>
                  <a:lnTo>
                    <a:pt x="125" y="86"/>
                  </a:lnTo>
                  <a:lnTo>
                    <a:pt x="130" y="75"/>
                  </a:lnTo>
                  <a:lnTo>
                    <a:pt x="133" y="63"/>
                  </a:lnTo>
                  <a:lnTo>
                    <a:pt x="133" y="51"/>
                  </a:lnTo>
                  <a:lnTo>
                    <a:pt x="132" y="39"/>
                  </a:lnTo>
                  <a:lnTo>
                    <a:pt x="126" y="29"/>
                  </a:lnTo>
                  <a:lnTo>
                    <a:pt x="119" y="20"/>
                  </a:lnTo>
                  <a:lnTo>
                    <a:pt x="115" y="16"/>
                  </a:lnTo>
                  <a:lnTo>
                    <a:pt x="110" y="13"/>
                  </a:lnTo>
                  <a:lnTo>
                    <a:pt x="105" y="9"/>
                  </a:lnTo>
                  <a:lnTo>
                    <a:pt x="98" y="6"/>
                  </a:lnTo>
                  <a:lnTo>
                    <a:pt x="90" y="3"/>
                  </a:lnTo>
                  <a:lnTo>
                    <a:pt x="82" y="1"/>
                  </a:lnTo>
                  <a:lnTo>
                    <a:pt x="73" y="0"/>
                  </a:lnTo>
                  <a:lnTo>
                    <a:pt x="62" y="0"/>
                  </a:lnTo>
                  <a:lnTo>
                    <a:pt x="46" y="2"/>
                  </a:lnTo>
                  <a:lnTo>
                    <a:pt x="31" y="8"/>
                  </a:lnTo>
                  <a:lnTo>
                    <a:pt x="19" y="17"/>
                  </a:lnTo>
                  <a:lnTo>
                    <a:pt x="8" y="28"/>
                  </a:lnTo>
                  <a:lnTo>
                    <a:pt x="3" y="40"/>
                  </a:lnTo>
                  <a:lnTo>
                    <a:pt x="0" y="55"/>
                  </a:lnTo>
                  <a:lnTo>
                    <a:pt x="4" y="71"/>
                  </a:lnTo>
                  <a:lnTo>
                    <a:pt x="13" y="89"/>
                  </a:lnTo>
                  <a:lnTo>
                    <a:pt x="21" y="98"/>
                  </a:lnTo>
                  <a:lnTo>
                    <a:pt x="28" y="106"/>
                  </a:lnTo>
                  <a:lnTo>
                    <a:pt x="35" y="112"/>
                  </a:lnTo>
                  <a:lnTo>
                    <a:pt x="42" y="116"/>
                  </a:lnTo>
                  <a:lnTo>
                    <a:pt x="46" y="121"/>
                  </a:lnTo>
                  <a:lnTo>
                    <a:pt x="51" y="127"/>
                  </a:lnTo>
                  <a:lnTo>
                    <a:pt x="53" y="134"/>
                  </a:lnTo>
                  <a:lnTo>
                    <a:pt x="54" y="143"/>
                  </a:lnTo>
                  <a:lnTo>
                    <a:pt x="57" y="141"/>
                  </a:lnTo>
                  <a:lnTo>
                    <a:pt x="60" y="134"/>
                  </a:lnTo>
                  <a:lnTo>
                    <a:pt x="59" y="124"/>
                  </a:lnTo>
                  <a:lnTo>
                    <a:pt x="49" y="114"/>
                  </a:lnTo>
                  <a:lnTo>
                    <a:pt x="43" y="109"/>
                  </a:lnTo>
                  <a:lnTo>
                    <a:pt x="37" y="105"/>
                  </a:lnTo>
                  <a:lnTo>
                    <a:pt x="31" y="99"/>
                  </a:lnTo>
                  <a:lnTo>
                    <a:pt x="26" y="93"/>
                  </a:lnTo>
                  <a:lnTo>
                    <a:pt x="21" y="86"/>
                  </a:lnTo>
                  <a:lnTo>
                    <a:pt x="18" y="79"/>
                  </a:lnTo>
                  <a:lnTo>
                    <a:pt x="15" y="71"/>
                  </a:lnTo>
                  <a:lnTo>
                    <a:pt x="13" y="62"/>
                  </a:lnTo>
                  <a:lnTo>
                    <a:pt x="13" y="51"/>
                  </a:lnTo>
                  <a:lnTo>
                    <a:pt x="16" y="41"/>
                  </a:lnTo>
                  <a:lnTo>
                    <a:pt x="21" y="32"/>
                  </a:lnTo>
                  <a:lnTo>
                    <a:pt x="29" y="24"/>
                  </a:lnTo>
                  <a:lnTo>
                    <a:pt x="38" y="17"/>
                  </a:lnTo>
                  <a:lnTo>
                    <a:pt x="50" y="13"/>
                  </a:lnTo>
                  <a:lnTo>
                    <a:pt x="62" y="10"/>
                  </a:lnTo>
                  <a:lnTo>
                    <a:pt x="77" y="10"/>
                  </a:lnTo>
                  <a:lnTo>
                    <a:pt x="91" y="13"/>
                  </a:lnTo>
                  <a:lnTo>
                    <a:pt x="102" y="18"/>
                  </a:lnTo>
                  <a:lnTo>
                    <a:pt x="111" y="25"/>
                  </a:lnTo>
                  <a:lnTo>
                    <a:pt x="117" y="34"/>
                  </a:lnTo>
                  <a:lnTo>
                    <a:pt x="119" y="44"/>
                  </a:lnTo>
                  <a:lnTo>
                    <a:pt x="120" y="55"/>
                  </a:lnTo>
                  <a:lnTo>
                    <a:pt x="120" y="66"/>
                  </a:lnTo>
                  <a:lnTo>
                    <a:pt x="117" y="76"/>
                  </a:lnTo>
                  <a:lnTo>
                    <a:pt x="112" y="85"/>
                  </a:lnTo>
                  <a:lnTo>
                    <a:pt x="106" y="93"/>
                  </a:lnTo>
                  <a:lnTo>
                    <a:pt x="99" y="100"/>
                  </a:lnTo>
                  <a:lnTo>
                    <a:pt x="94" y="107"/>
                  </a:lnTo>
                  <a:lnTo>
                    <a:pt x="89" y="114"/>
                  </a:lnTo>
                  <a:lnTo>
                    <a:pt x="86" y="121"/>
                  </a:lnTo>
                  <a:lnTo>
                    <a:pt x="87" y="130"/>
                  </a:lnTo>
                  <a:lnTo>
                    <a:pt x="91" y="141"/>
                  </a:lnTo>
                  <a:close/>
                </a:path>
              </a:pathLst>
            </a:custGeom>
            <a:solidFill>
              <a:srgbClr val="000000"/>
            </a:solidFill>
            <a:ln w="9525">
              <a:noFill/>
              <a:round/>
            </a:ln>
          </p:spPr>
          <p:txBody>
            <a:bodyPr/>
            <a:lstStyle/>
            <a:p>
              <a:endParaRPr lang="en-US"/>
            </a:p>
          </p:txBody>
        </p:sp>
        <p:sp>
          <p:nvSpPr>
            <p:cNvPr id="1048907" name="Freeform 200"/>
            <p:cNvSpPr/>
            <p:nvPr/>
          </p:nvSpPr>
          <p:spPr bwMode="auto">
            <a:xfrm>
              <a:off x="2293" y="3779"/>
              <a:ext cx="20" cy="27"/>
            </a:xfrm>
            <a:custGeom>
              <a:avLst/>
              <a:gdLst>
                <a:gd name="T0" fmla="*/ 11 w 39"/>
                <a:gd name="T1" fmla="*/ 0 h 54"/>
                <a:gd name="T2" fmla="*/ 10 w 39"/>
                <a:gd name="T3" fmla="*/ 0 h 54"/>
                <a:gd name="T4" fmla="*/ 8 w 39"/>
                <a:gd name="T5" fmla="*/ 1 h 54"/>
                <a:gd name="T6" fmla="*/ 5 w 39"/>
                <a:gd name="T7" fmla="*/ 2 h 54"/>
                <a:gd name="T8" fmla="*/ 3 w 39"/>
                <a:gd name="T9" fmla="*/ 3 h 54"/>
                <a:gd name="T10" fmla="*/ 1 w 39"/>
                <a:gd name="T11" fmla="*/ 3 h 54"/>
                <a:gd name="T12" fmla="*/ 0 w 39"/>
                <a:gd name="T13" fmla="*/ 5 h 54"/>
                <a:gd name="T14" fmla="*/ 1 w 39"/>
                <a:gd name="T15" fmla="*/ 6 h 54"/>
                <a:gd name="T16" fmla="*/ 3 w 39"/>
                <a:gd name="T17" fmla="*/ 7 h 54"/>
                <a:gd name="T18" fmla="*/ 9 w 39"/>
                <a:gd name="T19" fmla="*/ 10 h 54"/>
                <a:gd name="T20" fmla="*/ 12 w 39"/>
                <a:gd name="T21" fmla="*/ 11 h 54"/>
                <a:gd name="T22" fmla="*/ 12 w 39"/>
                <a:gd name="T23" fmla="*/ 13 h 54"/>
                <a:gd name="T24" fmla="*/ 8 w 39"/>
                <a:gd name="T25" fmla="*/ 14 h 54"/>
                <a:gd name="T26" fmla="*/ 5 w 39"/>
                <a:gd name="T27" fmla="*/ 18 h 54"/>
                <a:gd name="T28" fmla="*/ 4 w 39"/>
                <a:gd name="T29" fmla="*/ 21 h 54"/>
                <a:gd name="T30" fmla="*/ 7 w 39"/>
                <a:gd name="T31" fmla="*/ 25 h 54"/>
                <a:gd name="T32" fmla="*/ 12 w 39"/>
                <a:gd name="T33" fmla="*/ 27 h 54"/>
                <a:gd name="T34" fmla="*/ 11 w 39"/>
                <a:gd name="T35" fmla="*/ 26 h 54"/>
                <a:gd name="T36" fmla="*/ 10 w 39"/>
                <a:gd name="T37" fmla="*/ 23 h 54"/>
                <a:gd name="T38" fmla="*/ 10 w 39"/>
                <a:gd name="T39" fmla="*/ 19 h 54"/>
                <a:gd name="T40" fmla="*/ 14 w 39"/>
                <a:gd name="T41" fmla="*/ 17 h 54"/>
                <a:gd name="T42" fmla="*/ 18 w 39"/>
                <a:gd name="T43" fmla="*/ 15 h 54"/>
                <a:gd name="T44" fmla="*/ 20 w 39"/>
                <a:gd name="T45" fmla="*/ 12 h 54"/>
                <a:gd name="T46" fmla="*/ 19 w 39"/>
                <a:gd name="T47" fmla="*/ 10 h 54"/>
                <a:gd name="T48" fmla="*/ 17 w 39"/>
                <a:gd name="T49" fmla="*/ 7 h 54"/>
                <a:gd name="T50" fmla="*/ 13 w 39"/>
                <a:gd name="T51" fmla="*/ 7 h 54"/>
                <a:gd name="T52" fmla="*/ 10 w 39"/>
                <a:gd name="T53" fmla="*/ 5 h 54"/>
                <a:gd name="T54" fmla="*/ 8 w 39"/>
                <a:gd name="T55" fmla="*/ 3 h 54"/>
                <a:gd name="T56" fmla="*/ 11 w 39"/>
                <a:gd name="T57" fmla="*/ 0 h 54"/>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39"/>
                <a:gd name="T88" fmla="*/ 0 h 54"/>
                <a:gd name="T89" fmla="*/ 39 w 39"/>
                <a:gd name="T90" fmla="*/ 54 h 54"/>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39" h="54">
                  <a:moveTo>
                    <a:pt x="21" y="0"/>
                  </a:moveTo>
                  <a:lnTo>
                    <a:pt x="20" y="0"/>
                  </a:lnTo>
                  <a:lnTo>
                    <a:pt x="16" y="1"/>
                  </a:lnTo>
                  <a:lnTo>
                    <a:pt x="10" y="3"/>
                  </a:lnTo>
                  <a:lnTo>
                    <a:pt x="6" y="5"/>
                  </a:lnTo>
                  <a:lnTo>
                    <a:pt x="2" y="7"/>
                  </a:lnTo>
                  <a:lnTo>
                    <a:pt x="0" y="9"/>
                  </a:lnTo>
                  <a:lnTo>
                    <a:pt x="1" y="12"/>
                  </a:lnTo>
                  <a:lnTo>
                    <a:pt x="6" y="14"/>
                  </a:lnTo>
                  <a:lnTo>
                    <a:pt x="18" y="19"/>
                  </a:lnTo>
                  <a:lnTo>
                    <a:pt x="24" y="22"/>
                  </a:lnTo>
                  <a:lnTo>
                    <a:pt x="24" y="26"/>
                  </a:lnTo>
                  <a:lnTo>
                    <a:pt x="16" y="29"/>
                  </a:lnTo>
                  <a:lnTo>
                    <a:pt x="9" y="35"/>
                  </a:lnTo>
                  <a:lnTo>
                    <a:pt x="8" y="42"/>
                  </a:lnTo>
                  <a:lnTo>
                    <a:pt x="14" y="50"/>
                  </a:lnTo>
                  <a:lnTo>
                    <a:pt x="24" y="54"/>
                  </a:lnTo>
                  <a:lnTo>
                    <a:pt x="22" y="52"/>
                  </a:lnTo>
                  <a:lnTo>
                    <a:pt x="20" y="45"/>
                  </a:lnTo>
                  <a:lnTo>
                    <a:pt x="20" y="38"/>
                  </a:lnTo>
                  <a:lnTo>
                    <a:pt x="28" y="34"/>
                  </a:lnTo>
                  <a:lnTo>
                    <a:pt x="36" y="30"/>
                  </a:lnTo>
                  <a:lnTo>
                    <a:pt x="39" y="24"/>
                  </a:lnTo>
                  <a:lnTo>
                    <a:pt x="38" y="20"/>
                  </a:lnTo>
                  <a:lnTo>
                    <a:pt x="33" y="15"/>
                  </a:lnTo>
                  <a:lnTo>
                    <a:pt x="26" y="13"/>
                  </a:lnTo>
                  <a:lnTo>
                    <a:pt x="20" y="9"/>
                  </a:lnTo>
                  <a:lnTo>
                    <a:pt x="16" y="6"/>
                  </a:lnTo>
                  <a:lnTo>
                    <a:pt x="21" y="0"/>
                  </a:lnTo>
                  <a:close/>
                </a:path>
              </a:pathLst>
            </a:custGeom>
            <a:solidFill>
              <a:srgbClr val="000000"/>
            </a:solidFill>
            <a:ln w="9525">
              <a:noFill/>
              <a:round/>
            </a:ln>
          </p:spPr>
          <p:txBody>
            <a:bodyPr/>
            <a:lstStyle/>
            <a:p>
              <a:endParaRPr lang="en-US"/>
            </a:p>
          </p:txBody>
        </p:sp>
        <p:sp>
          <p:nvSpPr>
            <p:cNvPr id="1048908" name="Freeform 201"/>
            <p:cNvSpPr/>
            <p:nvPr/>
          </p:nvSpPr>
          <p:spPr bwMode="auto">
            <a:xfrm>
              <a:off x="2342" y="3758"/>
              <a:ext cx="22" cy="12"/>
            </a:xfrm>
            <a:custGeom>
              <a:avLst/>
              <a:gdLst>
                <a:gd name="T0" fmla="*/ 0 w 44"/>
                <a:gd name="T1" fmla="*/ 12 h 23"/>
                <a:gd name="T2" fmla="*/ 1 w 44"/>
                <a:gd name="T3" fmla="*/ 11 h 23"/>
                <a:gd name="T4" fmla="*/ 3 w 44"/>
                <a:gd name="T5" fmla="*/ 9 h 23"/>
                <a:gd name="T6" fmla="*/ 6 w 44"/>
                <a:gd name="T7" fmla="*/ 7 h 23"/>
                <a:gd name="T8" fmla="*/ 10 w 44"/>
                <a:gd name="T9" fmla="*/ 4 h 23"/>
                <a:gd name="T10" fmla="*/ 13 w 44"/>
                <a:gd name="T11" fmla="*/ 1 h 23"/>
                <a:gd name="T12" fmla="*/ 17 w 44"/>
                <a:gd name="T13" fmla="*/ 0 h 23"/>
                <a:gd name="T14" fmla="*/ 20 w 44"/>
                <a:gd name="T15" fmla="*/ 0 h 23"/>
                <a:gd name="T16" fmla="*/ 22 w 44"/>
                <a:gd name="T17" fmla="*/ 2 h 23"/>
                <a:gd name="T18" fmla="*/ 22 w 44"/>
                <a:gd name="T19" fmla="*/ 4 h 23"/>
                <a:gd name="T20" fmla="*/ 20 w 44"/>
                <a:gd name="T21" fmla="*/ 7 h 23"/>
                <a:gd name="T22" fmla="*/ 16 w 44"/>
                <a:gd name="T23" fmla="*/ 8 h 23"/>
                <a:gd name="T24" fmla="*/ 12 w 44"/>
                <a:gd name="T25" fmla="*/ 9 h 23"/>
                <a:gd name="T26" fmla="*/ 7 w 44"/>
                <a:gd name="T27" fmla="*/ 11 h 23"/>
                <a:gd name="T28" fmla="*/ 4 w 44"/>
                <a:gd name="T29" fmla="*/ 11 h 23"/>
                <a:gd name="T30" fmla="*/ 1 w 44"/>
                <a:gd name="T31" fmla="*/ 12 h 23"/>
                <a:gd name="T32" fmla="*/ 0 w 44"/>
                <a:gd name="T33" fmla="*/ 12 h 23"/>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44"/>
                <a:gd name="T52" fmla="*/ 0 h 23"/>
                <a:gd name="T53" fmla="*/ 44 w 44"/>
                <a:gd name="T54" fmla="*/ 23 h 23"/>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44" h="23">
                  <a:moveTo>
                    <a:pt x="0" y="23"/>
                  </a:moveTo>
                  <a:lnTo>
                    <a:pt x="1" y="22"/>
                  </a:lnTo>
                  <a:lnTo>
                    <a:pt x="6" y="17"/>
                  </a:lnTo>
                  <a:lnTo>
                    <a:pt x="11" y="13"/>
                  </a:lnTo>
                  <a:lnTo>
                    <a:pt x="19" y="7"/>
                  </a:lnTo>
                  <a:lnTo>
                    <a:pt x="26" y="2"/>
                  </a:lnTo>
                  <a:lnTo>
                    <a:pt x="34" y="0"/>
                  </a:lnTo>
                  <a:lnTo>
                    <a:pt x="40" y="0"/>
                  </a:lnTo>
                  <a:lnTo>
                    <a:pt x="44" y="3"/>
                  </a:lnTo>
                  <a:lnTo>
                    <a:pt x="44" y="8"/>
                  </a:lnTo>
                  <a:lnTo>
                    <a:pt x="39" y="13"/>
                  </a:lnTo>
                  <a:lnTo>
                    <a:pt x="32" y="16"/>
                  </a:lnTo>
                  <a:lnTo>
                    <a:pt x="24" y="18"/>
                  </a:lnTo>
                  <a:lnTo>
                    <a:pt x="15" y="21"/>
                  </a:lnTo>
                  <a:lnTo>
                    <a:pt x="8" y="22"/>
                  </a:lnTo>
                  <a:lnTo>
                    <a:pt x="2" y="23"/>
                  </a:lnTo>
                  <a:lnTo>
                    <a:pt x="0" y="23"/>
                  </a:lnTo>
                  <a:close/>
                </a:path>
              </a:pathLst>
            </a:custGeom>
            <a:solidFill>
              <a:srgbClr val="000000"/>
            </a:solidFill>
            <a:ln w="9525">
              <a:noFill/>
              <a:round/>
            </a:ln>
          </p:spPr>
          <p:txBody>
            <a:bodyPr/>
            <a:lstStyle/>
            <a:p>
              <a:endParaRPr lang="en-US"/>
            </a:p>
          </p:txBody>
        </p:sp>
        <p:sp>
          <p:nvSpPr>
            <p:cNvPr id="1048909" name="Freeform 202"/>
            <p:cNvSpPr/>
            <p:nvPr/>
          </p:nvSpPr>
          <p:spPr bwMode="auto">
            <a:xfrm>
              <a:off x="2349" y="3782"/>
              <a:ext cx="20" cy="6"/>
            </a:xfrm>
            <a:custGeom>
              <a:avLst/>
              <a:gdLst>
                <a:gd name="T0" fmla="*/ 0 w 40"/>
                <a:gd name="T1" fmla="*/ 3 h 14"/>
                <a:gd name="T2" fmla="*/ 1 w 40"/>
                <a:gd name="T3" fmla="*/ 3 h 14"/>
                <a:gd name="T4" fmla="*/ 3 w 40"/>
                <a:gd name="T5" fmla="*/ 3 h 14"/>
                <a:gd name="T6" fmla="*/ 6 w 40"/>
                <a:gd name="T7" fmla="*/ 1 h 14"/>
                <a:gd name="T8" fmla="*/ 10 w 40"/>
                <a:gd name="T9" fmla="*/ 0 h 14"/>
                <a:gd name="T10" fmla="*/ 14 w 40"/>
                <a:gd name="T11" fmla="*/ 0 h 14"/>
                <a:gd name="T12" fmla="*/ 17 w 40"/>
                <a:gd name="T13" fmla="*/ 0 h 14"/>
                <a:gd name="T14" fmla="*/ 20 w 40"/>
                <a:gd name="T15" fmla="*/ 1 h 14"/>
                <a:gd name="T16" fmla="*/ 20 w 40"/>
                <a:gd name="T17" fmla="*/ 3 h 14"/>
                <a:gd name="T18" fmla="*/ 19 w 40"/>
                <a:gd name="T19" fmla="*/ 5 h 14"/>
                <a:gd name="T20" fmla="*/ 17 w 40"/>
                <a:gd name="T21" fmla="*/ 6 h 14"/>
                <a:gd name="T22" fmla="*/ 13 w 40"/>
                <a:gd name="T23" fmla="*/ 6 h 14"/>
                <a:gd name="T24" fmla="*/ 10 w 40"/>
                <a:gd name="T25" fmla="*/ 6 h 14"/>
                <a:gd name="T26" fmla="*/ 6 w 40"/>
                <a:gd name="T27" fmla="*/ 5 h 14"/>
                <a:gd name="T28" fmla="*/ 3 w 40"/>
                <a:gd name="T29" fmla="*/ 4 h 14"/>
                <a:gd name="T30" fmla="*/ 1 w 40"/>
                <a:gd name="T31" fmla="*/ 4 h 14"/>
                <a:gd name="T32" fmla="*/ 0 w 40"/>
                <a:gd name="T33" fmla="*/ 3 h 14"/>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40"/>
                <a:gd name="T52" fmla="*/ 0 h 14"/>
                <a:gd name="T53" fmla="*/ 40 w 40"/>
                <a:gd name="T54" fmla="*/ 14 h 14"/>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40" h="14">
                  <a:moveTo>
                    <a:pt x="0" y="8"/>
                  </a:moveTo>
                  <a:lnTo>
                    <a:pt x="2" y="7"/>
                  </a:lnTo>
                  <a:lnTo>
                    <a:pt x="6" y="6"/>
                  </a:lnTo>
                  <a:lnTo>
                    <a:pt x="13" y="3"/>
                  </a:lnTo>
                  <a:lnTo>
                    <a:pt x="20" y="1"/>
                  </a:lnTo>
                  <a:lnTo>
                    <a:pt x="28" y="0"/>
                  </a:lnTo>
                  <a:lnTo>
                    <a:pt x="34" y="0"/>
                  </a:lnTo>
                  <a:lnTo>
                    <a:pt x="39" y="2"/>
                  </a:lnTo>
                  <a:lnTo>
                    <a:pt x="40" y="7"/>
                  </a:lnTo>
                  <a:lnTo>
                    <a:pt x="38" y="12"/>
                  </a:lnTo>
                  <a:lnTo>
                    <a:pt x="33" y="14"/>
                  </a:lnTo>
                  <a:lnTo>
                    <a:pt x="26" y="14"/>
                  </a:lnTo>
                  <a:lnTo>
                    <a:pt x="19" y="14"/>
                  </a:lnTo>
                  <a:lnTo>
                    <a:pt x="12" y="12"/>
                  </a:lnTo>
                  <a:lnTo>
                    <a:pt x="5" y="10"/>
                  </a:lnTo>
                  <a:lnTo>
                    <a:pt x="1" y="9"/>
                  </a:lnTo>
                  <a:lnTo>
                    <a:pt x="0" y="8"/>
                  </a:lnTo>
                  <a:close/>
                </a:path>
              </a:pathLst>
            </a:custGeom>
            <a:solidFill>
              <a:srgbClr val="000000"/>
            </a:solidFill>
            <a:ln w="9525">
              <a:noFill/>
              <a:round/>
            </a:ln>
          </p:spPr>
          <p:txBody>
            <a:bodyPr/>
            <a:lstStyle/>
            <a:p>
              <a:endParaRPr lang="en-US"/>
            </a:p>
          </p:txBody>
        </p:sp>
        <p:sp>
          <p:nvSpPr>
            <p:cNvPr id="1048910" name="Freeform 203"/>
            <p:cNvSpPr/>
            <p:nvPr/>
          </p:nvSpPr>
          <p:spPr bwMode="auto">
            <a:xfrm>
              <a:off x="2349" y="3802"/>
              <a:ext cx="20" cy="10"/>
            </a:xfrm>
            <a:custGeom>
              <a:avLst/>
              <a:gdLst>
                <a:gd name="T0" fmla="*/ 0 w 39"/>
                <a:gd name="T1" fmla="*/ 0 h 21"/>
                <a:gd name="T2" fmla="*/ 1 w 39"/>
                <a:gd name="T3" fmla="*/ 0 h 21"/>
                <a:gd name="T4" fmla="*/ 4 w 39"/>
                <a:gd name="T5" fmla="*/ 0 h 21"/>
                <a:gd name="T6" fmla="*/ 7 w 39"/>
                <a:gd name="T7" fmla="*/ 1 h 21"/>
                <a:gd name="T8" fmla="*/ 11 w 39"/>
                <a:gd name="T9" fmla="*/ 2 h 21"/>
                <a:gd name="T10" fmla="*/ 15 w 39"/>
                <a:gd name="T11" fmla="*/ 3 h 21"/>
                <a:gd name="T12" fmla="*/ 18 w 39"/>
                <a:gd name="T13" fmla="*/ 5 h 21"/>
                <a:gd name="T14" fmla="*/ 20 w 39"/>
                <a:gd name="T15" fmla="*/ 6 h 21"/>
                <a:gd name="T16" fmla="*/ 19 w 39"/>
                <a:gd name="T17" fmla="*/ 8 h 21"/>
                <a:gd name="T18" fmla="*/ 17 w 39"/>
                <a:gd name="T19" fmla="*/ 10 h 21"/>
                <a:gd name="T20" fmla="*/ 14 w 39"/>
                <a:gd name="T21" fmla="*/ 10 h 21"/>
                <a:gd name="T22" fmla="*/ 10 w 39"/>
                <a:gd name="T23" fmla="*/ 9 h 21"/>
                <a:gd name="T24" fmla="*/ 8 w 39"/>
                <a:gd name="T25" fmla="*/ 7 h 21"/>
                <a:gd name="T26" fmla="*/ 5 w 39"/>
                <a:gd name="T27" fmla="*/ 5 h 21"/>
                <a:gd name="T28" fmla="*/ 2 w 39"/>
                <a:gd name="T29" fmla="*/ 2 h 21"/>
                <a:gd name="T30" fmla="*/ 1 w 39"/>
                <a:gd name="T31" fmla="*/ 0 h 21"/>
                <a:gd name="T32" fmla="*/ 0 w 39"/>
                <a:gd name="T33" fmla="*/ 0 h 21"/>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39"/>
                <a:gd name="T52" fmla="*/ 0 h 21"/>
                <a:gd name="T53" fmla="*/ 39 w 39"/>
                <a:gd name="T54" fmla="*/ 21 h 21"/>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39" h="21">
                  <a:moveTo>
                    <a:pt x="0" y="0"/>
                  </a:moveTo>
                  <a:lnTo>
                    <a:pt x="2" y="0"/>
                  </a:lnTo>
                  <a:lnTo>
                    <a:pt x="7" y="1"/>
                  </a:lnTo>
                  <a:lnTo>
                    <a:pt x="14" y="3"/>
                  </a:lnTo>
                  <a:lnTo>
                    <a:pt x="22" y="5"/>
                  </a:lnTo>
                  <a:lnTo>
                    <a:pt x="30" y="7"/>
                  </a:lnTo>
                  <a:lnTo>
                    <a:pt x="35" y="10"/>
                  </a:lnTo>
                  <a:lnTo>
                    <a:pt x="39" y="13"/>
                  </a:lnTo>
                  <a:lnTo>
                    <a:pt x="38" y="16"/>
                  </a:lnTo>
                  <a:lnTo>
                    <a:pt x="33" y="20"/>
                  </a:lnTo>
                  <a:lnTo>
                    <a:pt x="27" y="21"/>
                  </a:lnTo>
                  <a:lnTo>
                    <a:pt x="20" y="19"/>
                  </a:lnTo>
                  <a:lnTo>
                    <a:pt x="15" y="14"/>
                  </a:lnTo>
                  <a:lnTo>
                    <a:pt x="9" y="10"/>
                  </a:lnTo>
                  <a:lnTo>
                    <a:pt x="4" y="5"/>
                  </a:lnTo>
                  <a:lnTo>
                    <a:pt x="1" y="1"/>
                  </a:lnTo>
                  <a:lnTo>
                    <a:pt x="0" y="0"/>
                  </a:lnTo>
                  <a:close/>
                </a:path>
              </a:pathLst>
            </a:custGeom>
            <a:solidFill>
              <a:srgbClr val="000000"/>
            </a:solidFill>
            <a:ln w="9525">
              <a:noFill/>
              <a:round/>
            </a:ln>
          </p:spPr>
          <p:txBody>
            <a:bodyPr/>
            <a:lstStyle/>
            <a:p>
              <a:endParaRPr lang="en-US"/>
            </a:p>
          </p:txBody>
        </p:sp>
        <p:sp>
          <p:nvSpPr>
            <p:cNvPr id="1048911" name="Freeform 204"/>
            <p:cNvSpPr/>
            <p:nvPr/>
          </p:nvSpPr>
          <p:spPr bwMode="auto">
            <a:xfrm>
              <a:off x="2241" y="3760"/>
              <a:ext cx="22" cy="11"/>
            </a:xfrm>
            <a:custGeom>
              <a:avLst/>
              <a:gdLst>
                <a:gd name="T0" fmla="*/ 22 w 44"/>
                <a:gd name="T1" fmla="*/ 11 h 23"/>
                <a:gd name="T2" fmla="*/ 22 w 44"/>
                <a:gd name="T3" fmla="*/ 11 h 23"/>
                <a:gd name="T4" fmla="*/ 19 w 44"/>
                <a:gd name="T5" fmla="*/ 9 h 23"/>
                <a:gd name="T6" fmla="*/ 16 w 44"/>
                <a:gd name="T7" fmla="*/ 6 h 23"/>
                <a:gd name="T8" fmla="*/ 12 w 44"/>
                <a:gd name="T9" fmla="*/ 4 h 23"/>
                <a:gd name="T10" fmla="*/ 9 w 44"/>
                <a:gd name="T11" fmla="*/ 2 h 23"/>
                <a:gd name="T12" fmla="*/ 5 w 44"/>
                <a:gd name="T13" fmla="*/ 0 h 23"/>
                <a:gd name="T14" fmla="*/ 2 w 44"/>
                <a:gd name="T15" fmla="*/ 0 h 23"/>
                <a:gd name="T16" fmla="*/ 0 w 44"/>
                <a:gd name="T17" fmla="*/ 2 h 23"/>
                <a:gd name="T18" fmla="*/ 0 w 44"/>
                <a:gd name="T19" fmla="*/ 4 h 23"/>
                <a:gd name="T20" fmla="*/ 3 w 44"/>
                <a:gd name="T21" fmla="*/ 6 h 23"/>
                <a:gd name="T22" fmla="*/ 6 w 44"/>
                <a:gd name="T23" fmla="*/ 8 h 23"/>
                <a:gd name="T24" fmla="*/ 10 w 44"/>
                <a:gd name="T25" fmla="*/ 9 h 23"/>
                <a:gd name="T26" fmla="*/ 14 w 44"/>
                <a:gd name="T27" fmla="*/ 10 h 23"/>
                <a:gd name="T28" fmla="*/ 18 w 44"/>
                <a:gd name="T29" fmla="*/ 11 h 23"/>
                <a:gd name="T30" fmla="*/ 21 w 44"/>
                <a:gd name="T31" fmla="*/ 11 h 23"/>
                <a:gd name="T32" fmla="*/ 22 w 44"/>
                <a:gd name="T33" fmla="*/ 11 h 23"/>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44"/>
                <a:gd name="T52" fmla="*/ 0 h 23"/>
                <a:gd name="T53" fmla="*/ 44 w 44"/>
                <a:gd name="T54" fmla="*/ 23 h 23"/>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44" h="23">
                  <a:moveTo>
                    <a:pt x="44" y="23"/>
                  </a:moveTo>
                  <a:lnTo>
                    <a:pt x="43" y="22"/>
                  </a:lnTo>
                  <a:lnTo>
                    <a:pt x="38" y="19"/>
                  </a:lnTo>
                  <a:lnTo>
                    <a:pt x="32" y="13"/>
                  </a:lnTo>
                  <a:lnTo>
                    <a:pt x="24" y="8"/>
                  </a:lnTo>
                  <a:lnTo>
                    <a:pt x="17" y="4"/>
                  </a:lnTo>
                  <a:lnTo>
                    <a:pt x="9" y="0"/>
                  </a:lnTo>
                  <a:lnTo>
                    <a:pt x="4" y="0"/>
                  </a:lnTo>
                  <a:lnTo>
                    <a:pt x="0" y="4"/>
                  </a:lnTo>
                  <a:lnTo>
                    <a:pt x="0" y="8"/>
                  </a:lnTo>
                  <a:lnTo>
                    <a:pt x="5" y="13"/>
                  </a:lnTo>
                  <a:lnTo>
                    <a:pt x="12" y="16"/>
                  </a:lnTo>
                  <a:lnTo>
                    <a:pt x="20" y="19"/>
                  </a:lnTo>
                  <a:lnTo>
                    <a:pt x="29" y="21"/>
                  </a:lnTo>
                  <a:lnTo>
                    <a:pt x="36" y="22"/>
                  </a:lnTo>
                  <a:lnTo>
                    <a:pt x="42" y="23"/>
                  </a:lnTo>
                  <a:lnTo>
                    <a:pt x="44" y="23"/>
                  </a:lnTo>
                  <a:close/>
                </a:path>
              </a:pathLst>
            </a:custGeom>
            <a:solidFill>
              <a:srgbClr val="000000"/>
            </a:solidFill>
            <a:ln w="9525">
              <a:noFill/>
              <a:round/>
            </a:ln>
          </p:spPr>
          <p:txBody>
            <a:bodyPr/>
            <a:lstStyle/>
            <a:p>
              <a:endParaRPr lang="en-US"/>
            </a:p>
          </p:txBody>
        </p:sp>
        <p:sp>
          <p:nvSpPr>
            <p:cNvPr id="1048912" name="Freeform 205"/>
            <p:cNvSpPr/>
            <p:nvPr/>
          </p:nvSpPr>
          <p:spPr bwMode="auto">
            <a:xfrm>
              <a:off x="2235" y="3783"/>
              <a:ext cx="22" cy="7"/>
            </a:xfrm>
            <a:custGeom>
              <a:avLst/>
              <a:gdLst>
                <a:gd name="T0" fmla="*/ 22 w 42"/>
                <a:gd name="T1" fmla="*/ 5 h 14"/>
                <a:gd name="T2" fmla="*/ 21 w 42"/>
                <a:gd name="T3" fmla="*/ 4 h 14"/>
                <a:gd name="T4" fmla="*/ 18 w 42"/>
                <a:gd name="T5" fmla="*/ 3 h 14"/>
                <a:gd name="T6" fmla="*/ 15 w 42"/>
                <a:gd name="T7" fmla="*/ 2 h 14"/>
                <a:gd name="T8" fmla="*/ 10 w 42"/>
                <a:gd name="T9" fmla="*/ 1 h 14"/>
                <a:gd name="T10" fmla="*/ 6 w 42"/>
                <a:gd name="T11" fmla="*/ 0 h 14"/>
                <a:gd name="T12" fmla="*/ 3 w 42"/>
                <a:gd name="T13" fmla="*/ 0 h 14"/>
                <a:gd name="T14" fmla="*/ 1 w 42"/>
                <a:gd name="T15" fmla="*/ 2 h 14"/>
                <a:gd name="T16" fmla="*/ 0 w 42"/>
                <a:gd name="T17" fmla="*/ 4 h 14"/>
                <a:gd name="T18" fmla="*/ 1 w 42"/>
                <a:gd name="T19" fmla="*/ 6 h 14"/>
                <a:gd name="T20" fmla="*/ 4 w 42"/>
                <a:gd name="T21" fmla="*/ 7 h 14"/>
                <a:gd name="T22" fmla="*/ 8 w 42"/>
                <a:gd name="T23" fmla="*/ 7 h 14"/>
                <a:gd name="T24" fmla="*/ 11 w 42"/>
                <a:gd name="T25" fmla="*/ 7 h 14"/>
                <a:gd name="T26" fmla="*/ 16 w 42"/>
                <a:gd name="T27" fmla="*/ 6 h 14"/>
                <a:gd name="T28" fmla="*/ 19 w 42"/>
                <a:gd name="T29" fmla="*/ 6 h 14"/>
                <a:gd name="T30" fmla="*/ 21 w 42"/>
                <a:gd name="T31" fmla="*/ 5 h 14"/>
                <a:gd name="T32" fmla="*/ 22 w 42"/>
                <a:gd name="T33" fmla="*/ 5 h 14"/>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42"/>
                <a:gd name="T52" fmla="*/ 0 h 14"/>
                <a:gd name="T53" fmla="*/ 42 w 42"/>
                <a:gd name="T54" fmla="*/ 14 h 14"/>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42" h="14">
                  <a:moveTo>
                    <a:pt x="42" y="9"/>
                  </a:moveTo>
                  <a:lnTo>
                    <a:pt x="40" y="7"/>
                  </a:lnTo>
                  <a:lnTo>
                    <a:pt x="35" y="6"/>
                  </a:lnTo>
                  <a:lnTo>
                    <a:pt x="28" y="4"/>
                  </a:lnTo>
                  <a:lnTo>
                    <a:pt x="19" y="2"/>
                  </a:lnTo>
                  <a:lnTo>
                    <a:pt x="11" y="0"/>
                  </a:lnTo>
                  <a:lnTo>
                    <a:pt x="5" y="0"/>
                  </a:lnTo>
                  <a:lnTo>
                    <a:pt x="1" y="3"/>
                  </a:lnTo>
                  <a:lnTo>
                    <a:pt x="0" y="7"/>
                  </a:lnTo>
                  <a:lnTo>
                    <a:pt x="2" y="12"/>
                  </a:lnTo>
                  <a:lnTo>
                    <a:pt x="8" y="14"/>
                  </a:lnTo>
                  <a:lnTo>
                    <a:pt x="15" y="14"/>
                  </a:lnTo>
                  <a:lnTo>
                    <a:pt x="21" y="14"/>
                  </a:lnTo>
                  <a:lnTo>
                    <a:pt x="30" y="12"/>
                  </a:lnTo>
                  <a:lnTo>
                    <a:pt x="36" y="11"/>
                  </a:lnTo>
                  <a:lnTo>
                    <a:pt x="40" y="10"/>
                  </a:lnTo>
                  <a:lnTo>
                    <a:pt x="42" y="9"/>
                  </a:lnTo>
                  <a:close/>
                </a:path>
              </a:pathLst>
            </a:custGeom>
            <a:solidFill>
              <a:srgbClr val="000000"/>
            </a:solidFill>
            <a:ln w="9525">
              <a:noFill/>
              <a:round/>
            </a:ln>
          </p:spPr>
          <p:txBody>
            <a:bodyPr/>
            <a:lstStyle/>
            <a:p>
              <a:endParaRPr lang="en-US"/>
            </a:p>
          </p:txBody>
        </p:sp>
        <p:sp>
          <p:nvSpPr>
            <p:cNvPr id="1048913" name="Freeform 206"/>
            <p:cNvSpPr/>
            <p:nvPr/>
          </p:nvSpPr>
          <p:spPr bwMode="auto">
            <a:xfrm>
              <a:off x="2238" y="3805"/>
              <a:ext cx="20" cy="11"/>
            </a:xfrm>
            <a:custGeom>
              <a:avLst/>
              <a:gdLst>
                <a:gd name="T0" fmla="*/ 20 w 40"/>
                <a:gd name="T1" fmla="*/ 0 h 22"/>
                <a:gd name="T2" fmla="*/ 19 w 40"/>
                <a:gd name="T3" fmla="*/ 0 h 22"/>
                <a:gd name="T4" fmla="*/ 17 w 40"/>
                <a:gd name="T5" fmla="*/ 1 h 22"/>
                <a:gd name="T6" fmla="*/ 13 w 40"/>
                <a:gd name="T7" fmla="*/ 1 h 22"/>
                <a:gd name="T8" fmla="*/ 9 w 40"/>
                <a:gd name="T9" fmla="*/ 3 h 22"/>
                <a:gd name="T10" fmla="*/ 5 w 40"/>
                <a:gd name="T11" fmla="*/ 3 h 22"/>
                <a:gd name="T12" fmla="*/ 2 w 40"/>
                <a:gd name="T13" fmla="*/ 6 h 22"/>
                <a:gd name="T14" fmla="*/ 0 w 40"/>
                <a:gd name="T15" fmla="*/ 7 h 22"/>
                <a:gd name="T16" fmla="*/ 1 w 40"/>
                <a:gd name="T17" fmla="*/ 9 h 22"/>
                <a:gd name="T18" fmla="*/ 3 w 40"/>
                <a:gd name="T19" fmla="*/ 11 h 22"/>
                <a:gd name="T20" fmla="*/ 6 w 40"/>
                <a:gd name="T21" fmla="*/ 11 h 22"/>
                <a:gd name="T22" fmla="*/ 10 w 40"/>
                <a:gd name="T23" fmla="*/ 10 h 22"/>
                <a:gd name="T24" fmla="*/ 12 w 40"/>
                <a:gd name="T25" fmla="*/ 7 h 22"/>
                <a:gd name="T26" fmla="*/ 15 w 40"/>
                <a:gd name="T27" fmla="*/ 5 h 22"/>
                <a:gd name="T28" fmla="*/ 18 w 40"/>
                <a:gd name="T29" fmla="*/ 3 h 22"/>
                <a:gd name="T30" fmla="*/ 19 w 40"/>
                <a:gd name="T31" fmla="*/ 1 h 22"/>
                <a:gd name="T32" fmla="*/ 20 w 40"/>
                <a:gd name="T33" fmla="*/ 0 h 22"/>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40"/>
                <a:gd name="T52" fmla="*/ 0 h 22"/>
                <a:gd name="T53" fmla="*/ 40 w 40"/>
                <a:gd name="T54" fmla="*/ 22 h 22"/>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40" h="22">
                  <a:moveTo>
                    <a:pt x="40" y="0"/>
                  </a:moveTo>
                  <a:lnTo>
                    <a:pt x="37" y="0"/>
                  </a:lnTo>
                  <a:lnTo>
                    <a:pt x="33" y="1"/>
                  </a:lnTo>
                  <a:lnTo>
                    <a:pt x="26" y="3"/>
                  </a:lnTo>
                  <a:lnTo>
                    <a:pt x="18" y="5"/>
                  </a:lnTo>
                  <a:lnTo>
                    <a:pt x="10" y="7"/>
                  </a:lnTo>
                  <a:lnTo>
                    <a:pt x="4" y="11"/>
                  </a:lnTo>
                  <a:lnTo>
                    <a:pt x="0" y="14"/>
                  </a:lnTo>
                  <a:lnTo>
                    <a:pt x="1" y="18"/>
                  </a:lnTo>
                  <a:lnTo>
                    <a:pt x="6" y="21"/>
                  </a:lnTo>
                  <a:lnTo>
                    <a:pt x="12" y="22"/>
                  </a:lnTo>
                  <a:lnTo>
                    <a:pt x="19" y="19"/>
                  </a:lnTo>
                  <a:lnTo>
                    <a:pt x="25" y="15"/>
                  </a:lnTo>
                  <a:lnTo>
                    <a:pt x="30" y="9"/>
                  </a:lnTo>
                  <a:lnTo>
                    <a:pt x="35" y="5"/>
                  </a:lnTo>
                  <a:lnTo>
                    <a:pt x="38" y="1"/>
                  </a:lnTo>
                  <a:lnTo>
                    <a:pt x="40" y="0"/>
                  </a:lnTo>
                  <a:close/>
                </a:path>
              </a:pathLst>
            </a:custGeom>
            <a:solidFill>
              <a:srgbClr val="000000"/>
            </a:solidFill>
            <a:ln w="9525">
              <a:noFill/>
              <a:round/>
            </a:ln>
          </p:spPr>
          <p:txBody>
            <a:bodyPr/>
            <a:lstStyle/>
            <a:p>
              <a:endParaRPr lang="en-US"/>
            </a:p>
          </p:txBody>
        </p:sp>
        <p:sp>
          <p:nvSpPr>
            <p:cNvPr id="1048914" name="Freeform 207"/>
            <p:cNvSpPr/>
            <p:nvPr/>
          </p:nvSpPr>
          <p:spPr bwMode="auto">
            <a:xfrm>
              <a:off x="2310" y="3834"/>
              <a:ext cx="2" cy="2"/>
            </a:xfrm>
            <a:custGeom>
              <a:avLst/>
              <a:gdLst>
                <a:gd name="T0" fmla="*/ 1 w 5"/>
                <a:gd name="T1" fmla="*/ 2 h 4"/>
                <a:gd name="T2" fmla="*/ 2 w 5"/>
                <a:gd name="T3" fmla="*/ 2 h 4"/>
                <a:gd name="T4" fmla="*/ 2 w 5"/>
                <a:gd name="T5" fmla="*/ 1 h 4"/>
                <a:gd name="T6" fmla="*/ 2 w 5"/>
                <a:gd name="T7" fmla="*/ 1 h 4"/>
                <a:gd name="T8" fmla="*/ 2 w 5"/>
                <a:gd name="T9" fmla="*/ 1 h 4"/>
                <a:gd name="T10" fmla="*/ 2 w 5"/>
                <a:gd name="T11" fmla="*/ 1 h 4"/>
                <a:gd name="T12" fmla="*/ 2 w 5"/>
                <a:gd name="T13" fmla="*/ 1 h 4"/>
                <a:gd name="T14" fmla="*/ 2 w 5"/>
                <a:gd name="T15" fmla="*/ 0 h 4"/>
                <a:gd name="T16" fmla="*/ 1 w 5"/>
                <a:gd name="T17" fmla="*/ 0 h 4"/>
                <a:gd name="T18" fmla="*/ 1 w 5"/>
                <a:gd name="T19" fmla="*/ 0 h 4"/>
                <a:gd name="T20" fmla="*/ 1 w 5"/>
                <a:gd name="T21" fmla="*/ 1 h 4"/>
                <a:gd name="T22" fmla="*/ 0 w 5"/>
                <a:gd name="T23" fmla="*/ 1 h 4"/>
                <a:gd name="T24" fmla="*/ 0 w 5"/>
                <a:gd name="T25" fmla="*/ 1 h 4"/>
                <a:gd name="T26" fmla="*/ 0 w 5"/>
                <a:gd name="T27" fmla="*/ 1 h 4"/>
                <a:gd name="T28" fmla="*/ 1 w 5"/>
                <a:gd name="T29" fmla="*/ 1 h 4"/>
                <a:gd name="T30" fmla="*/ 1 w 5"/>
                <a:gd name="T31" fmla="*/ 2 h 4"/>
                <a:gd name="T32" fmla="*/ 1 w 5"/>
                <a:gd name="T33" fmla="*/ 2 h 4"/>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5"/>
                <a:gd name="T52" fmla="*/ 0 h 4"/>
                <a:gd name="T53" fmla="*/ 5 w 5"/>
                <a:gd name="T54" fmla="*/ 4 h 4"/>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5" h="4">
                  <a:moveTo>
                    <a:pt x="3" y="4"/>
                  </a:moveTo>
                  <a:lnTo>
                    <a:pt x="4" y="4"/>
                  </a:lnTo>
                  <a:lnTo>
                    <a:pt x="4" y="3"/>
                  </a:lnTo>
                  <a:lnTo>
                    <a:pt x="5" y="3"/>
                  </a:lnTo>
                  <a:lnTo>
                    <a:pt x="5" y="2"/>
                  </a:lnTo>
                  <a:lnTo>
                    <a:pt x="5" y="1"/>
                  </a:lnTo>
                  <a:lnTo>
                    <a:pt x="4" y="1"/>
                  </a:lnTo>
                  <a:lnTo>
                    <a:pt x="4" y="0"/>
                  </a:lnTo>
                  <a:lnTo>
                    <a:pt x="3" y="0"/>
                  </a:lnTo>
                  <a:lnTo>
                    <a:pt x="2" y="0"/>
                  </a:lnTo>
                  <a:lnTo>
                    <a:pt x="2" y="1"/>
                  </a:lnTo>
                  <a:lnTo>
                    <a:pt x="0" y="1"/>
                  </a:lnTo>
                  <a:lnTo>
                    <a:pt x="0" y="2"/>
                  </a:lnTo>
                  <a:lnTo>
                    <a:pt x="0" y="3"/>
                  </a:lnTo>
                  <a:lnTo>
                    <a:pt x="2" y="3"/>
                  </a:lnTo>
                  <a:lnTo>
                    <a:pt x="2" y="4"/>
                  </a:lnTo>
                  <a:lnTo>
                    <a:pt x="3" y="4"/>
                  </a:lnTo>
                  <a:close/>
                </a:path>
              </a:pathLst>
            </a:custGeom>
            <a:solidFill>
              <a:srgbClr val="FFFFFF"/>
            </a:solidFill>
            <a:ln w="9525">
              <a:noFill/>
              <a:round/>
            </a:ln>
          </p:spPr>
          <p:txBody>
            <a:bodyPr/>
            <a:lstStyle/>
            <a:p>
              <a:endParaRPr lang="en-US"/>
            </a:p>
          </p:txBody>
        </p:sp>
        <p:sp>
          <p:nvSpPr>
            <p:cNvPr id="1048915" name="Freeform 208"/>
            <p:cNvSpPr/>
            <p:nvPr/>
          </p:nvSpPr>
          <p:spPr bwMode="auto">
            <a:xfrm>
              <a:off x="2310" y="3845"/>
              <a:ext cx="2" cy="2"/>
            </a:xfrm>
            <a:custGeom>
              <a:avLst/>
              <a:gdLst>
                <a:gd name="T0" fmla="*/ 1 w 5"/>
                <a:gd name="T1" fmla="*/ 2 h 4"/>
                <a:gd name="T2" fmla="*/ 2 w 5"/>
                <a:gd name="T3" fmla="*/ 2 h 4"/>
                <a:gd name="T4" fmla="*/ 2 w 5"/>
                <a:gd name="T5" fmla="*/ 1 h 4"/>
                <a:gd name="T6" fmla="*/ 2 w 5"/>
                <a:gd name="T7" fmla="*/ 1 h 4"/>
                <a:gd name="T8" fmla="*/ 2 w 5"/>
                <a:gd name="T9" fmla="*/ 1 h 4"/>
                <a:gd name="T10" fmla="*/ 2 w 5"/>
                <a:gd name="T11" fmla="*/ 1 h 4"/>
                <a:gd name="T12" fmla="*/ 2 w 5"/>
                <a:gd name="T13" fmla="*/ 1 h 4"/>
                <a:gd name="T14" fmla="*/ 2 w 5"/>
                <a:gd name="T15" fmla="*/ 0 h 4"/>
                <a:gd name="T16" fmla="*/ 1 w 5"/>
                <a:gd name="T17" fmla="*/ 0 h 4"/>
                <a:gd name="T18" fmla="*/ 1 w 5"/>
                <a:gd name="T19" fmla="*/ 0 h 4"/>
                <a:gd name="T20" fmla="*/ 1 w 5"/>
                <a:gd name="T21" fmla="*/ 1 h 4"/>
                <a:gd name="T22" fmla="*/ 0 w 5"/>
                <a:gd name="T23" fmla="*/ 1 h 4"/>
                <a:gd name="T24" fmla="*/ 0 w 5"/>
                <a:gd name="T25" fmla="*/ 1 h 4"/>
                <a:gd name="T26" fmla="*/ 0 w 5"/>
                <a:gd name="T27" fmla="*/ 1 h 4"/>
                <a:gd name="T28" fmla="*/ 1 w 5"/>
                <a:gd name="T29" fmla="*/ 1 h 4"/>
                <a:gd name="T30" fmla="*/ 1 w 5"/>
                <a:gd name="T31" fmla="*/ 2 h 4"/>
                <a:gd name="T32" fmla="*/ 1 w 5"/>
                <a:gd name="T33" fmla="*/ 2 h 4"/>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5"/>
                <a:gd name="T52" fmla="*/ 0 h 4"/>
                <a:gd name="T53" fmla="*/ 5 w 5"/>
                <a:gd name="T54" fmla="*/ 4 h 4"/>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5" h="4">
                  <a:moveTo>
                    <a:pt x="3" y="4"/>
                  </a:moveTo>
                  <a:lnTo>
                    <a:pt x="4" y="4"/>
                  </a:lnTo>
                  <a:lnTo>
                    <a:pt x="4" y="3"/>
                  </a:lnTo>
                  <a:lnTo>
                    <a:pt x="5" y="3"/>
                  </a:lnTo>
                  <a:lnTo>
                    <a:pt x="5" y="2"/>
                  </a:lnTo>
                  <a:lnTo>
                    <a:pt x="5" y="1"/>
                  </a:lnTo>
                  <a:lnTo>
                    <a:pt x="4" y="1"/>
                  </a:lnTo>
                  <a:lnTo>
                    <a:pt x="4" y="0"/>
                  </a:lnTo>
                  <a:lnTo>
                    <a:pt x="3" y="0"/>
                  </a:lnTo>
                  <a:lnTo>
                    <a:pt x="2" y="0"/>
                  </a:lnTo>
                  <a:lnTo>
                    <a:pt x="2" y="1"/>
                  </a:lnTo>
                  <a:lnTo>
                    <a:pt x="0" y="1"/>
                  </a:lnTo>
                  <a:lnTo>
                    <a:pt x="0" y="2"/>
                  </a:lnTo>
                  <a:lnTo>
                    <a:pt x="0" y="3"/>
                  </a:lnTo>
                  <a:lnTo>
                    <a:pt x="2" y="3"/>
                  </a:lnTo>
                  <a:lnTo>
                    <a:pt x="2" y="4"/>
                  </a:lnTo>
                  <a:lnTo>
                    <a:pt x="3" y="4"/>
                  </a:lnTo>
                  <a:close/>
                </a:path>
              </a:pathLst>
            </a:custGeom>
            <a:solidFill>
              <a:srgbClr val="FFFFFF"/>
            </a:solidFill>
            <a:ln w="9525">
              <a:noFill/>
              <a:round/>
            </a:ln>
          </p:spPr>
          <p:txBody>
            <a:bodyPr/>
            <a:lstStyle/>
            <a:p>
              <a:endParaRPr lang="en-US"/>
            </a:p>
          </p:txBody>
        </p:sp>
        <p:sp>
          <p:nvSpPr>
            <p:cNvPr id="1048916" name="Freeform 209"/>
            <p:cNvSpPr/>
            <p:nvPr/>
          </p:nvSpPr>
          <p:spPr bwMode="auto">
            <a:xfrm>
              <a:off x="2310" y="3855"/>
              <a:ext cx="3" cy="1"/>
            </a:xfrm>
            <a:custGeom>
              <a:avLst/>
              <a:gdLst>
                <a:gd name="T0" fmla="*/ 2 w 6"/>
                <a:gd name="T1" fmla="*/ 1 h 4"/>
                <a:gd name="T2" fmla="*/ 3 w 6"/>
                <a:gd name="T3" fmla="*/ 1 h 4"/>
                <a:gd name="T4" fmla="*/ 3 w 6"/>
                <a:gd name="T5" fmla="*/ 1 h 4"/>
                <a:gd name="T6" fmla="*/ 3 w 6"/>
                <a:gd name="T7" fmla="*/ 1 h 4"/>
                <a:gd name="T8" fmla="*/ 3 w 6"/>
                <a:gd name="T9" fmla="*/ 1 h 4"/>
                <a:gd name="T10" fmla="*/ 3 w 6"/>
                <a:gd name="T11" fmla="*/ 0 h 4"/>
                <a:gd name="T12" fmla="*/ 3 w 6"/>
                <a:gd name="T13" fmla="*/ 0 h 4"/>
                <a:gd name="T14" fmla="*/ 3 w 6"/>
                <a:gd name="T15" fmla="*/ 0 h 4"/>
                <a:gd name="T16" fmla="*/ 2 w 6"/>
                <a:gd name="T17" fmla="*/ 0 h 4"/>
                <a:gd name="T18" fmla="*/ 2 w 6"/>
                <a:gd name="T19" fmla="*/ 0 h 4"/>
                <a:gd name="T20" fmla="*/ 1 w 6"/>
                <a:gd name="T21" fmla="*/ 0 h 4"/>
                <a:gd name="T22" fmla="*/ 0 w 6"/>
                <a:gd name="T23" fmla="*/ 0 h 4"/>
                <a:gd name="T24" fmla="*/ 0 w 6"/>
                <a:gd name="T25" fmla="*/ 1 h 4"/>
                <a:gd name="T26" fmla="*/ 0 w 6"/>
                <a:gd name="T27" fmla="*/ 1 h 4"/>
                <a:gd name="T28" fmla="*/ 1 w 6"/>
                <a:gd name="T29" fmla="*/ 1 h 4"/>
                <a:gd name="T30" fmla="*/ 2 w 6"/>
                <a:gd name="T31" fmla="*/ 1 h 4"/>
                <a:gd name="T32" fmla="*/ 2 w 6"/>
                <a:gd name="T33" fmla="*/ 1 h 4"/>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6"/>
                <a:gd name="T52" fmla="*/ 0 h 4"/>
                <a:gd name="T53" fmla="*/ 6 w 6"/>
                <a:gd name="T54" fmla="*/ 4 h 4"/>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6" h="4">
                  <a:moveTo>
                    <a:pt x="4" y="4"/>
                  </a:moveTo>
                  <a:lnTo>
                    <a:pt x="5" y="4"/>
                  </a:lnTo>
                  <a:lnTo>
                    <a:pt x="5" y="3"/>
                  </a:lnTo>
                  <a:lnTo>
                    <a:pt x="6" y="3"/>
                  </a:lnTo>
                  <a:lnTo>
                    <a:pt x="6" y="2"/>
                  </a:lnTo>
                  <a:lnTo>
                    <a:pt x="6" y="0"/>
                  </a:lnTo>
                  <a:lnTo>
                    <a:pt x="5" y="0"/>
                  </a:lnTo>
                  <a:lnTo>
                    <a:pt x="4" y="0"/>
                  </a:lnTo>
                  <a:lnTo>
                    <a:pt x="3" y="0"/>
                  </a:lnTo>
                  <a:lnTo>
                    <a:pt x="2" y="0"/>
                  </a:lnTo>
                  <a:lnTo>
                    <a:pt x="0" y="0"/>
                  </a:lnTo>
                  <a:lnTo>
                    <a:pt x="0" y="2"/>
                  </a:lnTo>
                  <a:lnTo>
                    <a:pt x="0" y="3"/>
                  </a:lnTo>
                  <a:lnTo>
                    <a:pt x="2" y="3"/>
                  </a:lnTo>
                  <a:lnTo>
                    <a:pt x="3" y="4"/>
                  </a:lnTo>
                  <a:lnTo>
                    <a:pt x="4" y="4"/>
                  </a:lnTo>
                  <a:close/>
                </a:path>
              </a:pathLst>
            </a:custGeom>
            <a:solidFill>
              <a:srgbClr val="FFFFFF"/>
            </a:solidFill>
            <a:ln w="9525">
              <a:noFill/>
              <a:round/>
            </a:ln>
          </p:spPr>
          <p:txBody>
            <a:bodyPr/>
            <a:lstStyle/>
            <a:p>
              <a:endParaRPr lang="en-US"/>
            </a:p>
          </p:txBody>
        </p:sp>
        <p:sp>
          <p:nvSpPr>
            <p:cNvPr id="1048917" name="Freeform 210"/>
            <p:cNvSpPr/>
            <p:nvPr/>
          </p:nvSpPr>
          <p:spPr bwMode="auto">
            <a:xfrm>
              <a:off x="2538" y="3942"/>
              <a:ext cx="22" cy="31"/>
            </a:xfrm>
            <a:custGeom>
              <a:avLst/>
              <a:gdLst>
                <a:gd name="T0" fmla="*/ 1 w 44"/>
                <a:gd name="T1" fmla="*/ 0 h 64"/>
                <a:gd name="T2" fmla="*/ 1 w 44"/>
                <a:gd name="T3" fmla="*/ 1 h 64"/>
                <a:gd name="T4" fmla="*/ 1 w 44"/>
                <a:gd name="T5" fmla="*/ 4 h 64"/>
                <a:gd name="T6" fmla="*/ 2 w 44"/>
                <a:gd name="T7" fmla="*/ 9 h 64"/>
                <a:gd name="T8" fmla="*/ 4 w 44"/>
                <a:gd name="T9" fmla="*/ 13 h 64"/>
                <a:gd name="T10" fmla="*/ 6 w 44"/>
                <a:gd name="T11" fmla="*/ 18 h 64"/>
                <a:gd name="T12" fmla="*/ 10 w 44"/>
                <a:gd name="T13" fmla="*/ 24 h 64"/>
                <a:gd name="T14" fmla="*/ 15 w 44"/>
                <a:gd name="T15" fmla="*/ 28 h 64"/>
                <a:gd name="T16" fmla="*/ 22 w 44"/>
                <a:gd name="T17" fmla="*/ 31 h 64"/>
                <a:gd name="T18" fmla="*/ 21 w 44"/>
                <a:gd name="T19" fmla="*/ 31 h 64"/>
                <a:gd name="T20" fmla="*/ 18 w 44"/>
                <a:gd name="T21" fmla="*/ 31 h 64"/>
                <a:gd name="T22" fmla="*/ 13 w 44"/>
                <a:gd name="T23" fmla="*/ 30 h 64"/>
                <a:gd name="T24" fmla="*/ 9 w 44"/>
                <a:gd name="T25" fmla="*/ 28 h 64"/>
                <a:gd name="T26" fmla="*/ 5 w 44"/>
                <a:gd name="T27" fmla="*/ 24 h 64"/>
                <a:gd name="T28" fmla="*/ 1 w 44"/>
                <a:gd name="T29" fmla="*/ 18 h 64"/>
                <a:gd name="T30" fmla="*/ 0 w 44"/>
                <a:gd name="T31" fmla="*/ 11 h 64"/>
                <a:gd name="T32" fmla="*/ 1 w 44"/>
                <a:gd name="T33" fmla="*/ 0 h 64"/>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44"/>
                <a:gd name="T52" fmla="*/ 0 h 64"/>
                <a:gd name="T53" fmla="*/ 44 w 44"/>
                <a:gd name="T54" fmla="*/ 64 h 64"/>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44" h="64">
                  <a:moveTo>
                    <a:pt x="2" y="0"/>
                  </a:moveTo>
                  <a:lnTo>
                    <a:pt x="2" y="3"/>
                  </a:lnTo>
                  <a:lnTo>
                    <a:pt x="3" y="8"/>
                  </a:lnTo>
                  <a:lnTo>
                    <a:pt x="4" y="18"/>
                  </a:lnTo>
                  <a:lnTo>
                    <a:pt x="8" y="27"/>
                  </a:lnTo>
                  <a:lnTo>
                    <a:pt x="13" y="38"/>
                  </a:lnTo>
                  <a:lnTo>
                    <a:pt x="20" y="49"/>
                  </a:lnTo>
                  <a:lnTo>
                    <a:pt x="31" y="57"/>
                  </a:lnTo>
                  <a:lnTo>
                    <a:pt x="44" y="64"/>
                  </a:lnTo>
                  <a:lnTo>
                    <a:pt x="42" y="64"/>
                  </a:lnTo>
                  <a:lnTo>
                    <a:pt x="36" y="64"/>
                  </a:lnTo>
                  <a:lnTo>
                    <a:pt x="27" y="61"/>
                  </a:lnTo>
                  <a:lnTo>
                    <a:pt x="18" y="57"/>
                  </a:lnTo>
                  <a:lnTo>
                    <a:pt x="10" y="50"/>
                  </a:lnTo>
                  <a:lnTo>
                    <a:pt x="3" y="38"/>
                  </a:lnTo>
                  <a:lnTo>
                    <a:pt x="0" y="22"/>
                  </a:lnTo>
                  <a:lnTo>
                    <a:pt x="2" y="0"/>
                  </a:lnTo>
                  <a:close/>
                </a:path>
              </a:pathLst>
            </a:custGeom>
            <a:solidFill>
              <a:srgbClr val="7F7F7F"/>
            </a:solidFill>
            <a:ln w="9525">
              <a:noFill/>
              <a:round/>
            </a:ln>
          </p:spPr>
          <p:txBody>
            <a:bodyPr/>
            <a:lstStyle/>
            <a:p>
              <a:endParaRPr lang="en-US"/>
            </a:p>
          </p:txBody>
        </p:sp>
        <p:sp>
          <p:nvSpPr>
            <p:cNvPr id="1048918" name="Freeform 211"/>
            <p:cNvSpPr/>
            <p:nvPr/>
          </p:nvSpPr>
          <p:spPr bwMode="auto">
            <a:xfrm>
              <a:off x="2211" y="3942"/>
              <a:ext cx="23" cy="31"/>
            </a:xfrm>
            <a:custGeom>
              <a:avLst/>
              <a:gdLst>
                <a:gd name="T0" fmla="*/ 1 w 46"/>
                <a:gd name="T1" fmla="*/ 0 h 64"/>
                <a:gd name="T2" fmla="*/ 1 w 46"/>
                <a:gd name="T3" fmla="*/ 1 h 64"/>
                <a:gd name="T4" fmla="*/ 2 w 46"/>
                <a:gd name="T5" fmla="*/ 4 h 64"/>
                <a:gd name="T6" fmla="*/ 3 w 46"/>
                <a:gd name="T7" fmla="*/ 9 h 64"/>
                <a:gd name="T8" fmla="*/ 5 w 46"/>
                <a:gd name="T9" fmla="*/ 13 h 64"/>
                <a:gd name="T10" fmla="*/ 7 w 46"/>
                <a:gd name="T11" fmla="*/ 18 h 64"/>
                <a:gd name="T12" fmla="*/ 11 w 46"/>
                <a:gd name="T13" fmla="*/ 24 h 64"/>
                <a:gd name="T14" fmla="*/ 16 w 46"/>
                <a:gd name="T15" fmla="*/ 28 h 64"/>
                <a:gd name="T16" fmla="*/ 23 w 46"/>
                <a:gd name="T17" fmla="*/ 31 h 64"/>
                <a:gd name="T18" fmla="*/ 22 w 46"/>
                <a:gd name="T19" fmla="*/ 31 h 64"/>
                <a:gd name="T20" fmla="*/ 19 w 46"/>
                <a:gd name="T21" fmla="*/ 31 h 64"/>
                <a:gd name="T22" fmla="*/ 14 w 46"/>
                <a:gd name="T23" fmla="*/ 30 h 64"/>
                <a:gd name="T24" fmla="*/ 10 w 46"/>
                <a:gd name="T25" fmla="*/ 28 h 64"/>
                <a:gd name="T26" fmla="*/ 6 w 46"/>
                <a:gd name="T27" fmla="*/ 24 h 64"/>
                <a:gd name="T28" fmla="*/ 2 w 46"/>
                <a:gd name="T29" fmla="*/ 18 h 64"/>
                <a:gd name="T30" fmla="*/ 0 w 46"/>
                <a:gd name="T31" fmla="*/ 11 h 64"/>
                <a:gd name="T32" fmla="*/ 1 w 46"/>
                <a:gd name="T33" fmla="*/ 0 h 64"/>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46"/>
                <a:gd name="T52" fmla="*/ 0 h 64"/>
                <a:gd name="T53" fmla="*/ 46 w 46"/>
                <a:gd name="T54" fmla="*/ 64 h 64"/>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46" h="64">
                  <a:moveTo>
                    <a:pt x="2" y="0"/>
                  </a:moveTo>
                  <a:lnTo>
                    <a:pt x="2" y="3"/>
                  </a:lnTo>
                  <a:lnTo>
                    <a:pt x="4" y="8"/>
                  </a:lnTo>
                  <a:lnTo>
                    <a:pt x="6" y="18"/>
                  </a:lnTo>
                  <a:lnTo>
                    <a:pt x="9" y="27"/>
                  </a:lnTo>
                  <a:lnTo>
                    <a:pt x="15" y="38"/>
                  </a:lnTo>
                  <a:lnTo>
                    <a:pt x="22" y="49"/>
                  </a:lnTo>
                  <a:lnTo>
                    <a:pt x="32" y="57"/>
                  </a:lnTo>
                  <a:lnTo>
                    <a:pt x="46" y="64"/>
                  </a:lnTo>
                  <a:lnTo>
                    <a:pt x="44" y="64"/>
                  </a:lnTo>
                  <a:lnTo>
                    <a:pt x="38" y="64"/>
                  </a:lnTo>
                  <a:lnTo>
                    <a:pt x="29" y="61"/>
                  </a:lnTo>
                  <a:lnTo>
                    <a:pt x="20" y="57"/>
                  </a:lnTo>
                  <a:lnTo>
                    <a:pt x="11" y="50"/>
                  </a:lnTo>
                  <a:lnTo>
                    <a:pt x="4" y="38"/>
                  </a:lnTo>
                  <a:lnTo>
                    <a:pt x="0" y="22"/>
                  </a:lnTo>
                  <a:lnTo>
                    <a:pt x="2" y="0"/>
                  </a:lnTo>
                  <a:close/>
                </a:path>
              </a:pathLst>
            </a:custGeom>
            <a:solidFill>
              <a:srgbClr val="7F7F7F"/>
            </a:solidFill>
            <a:ln w="9525">
              <a:noFill/>
              <a:round/>
            </a:ln>
          </p:spPr>
          <p:txBody>
            <a:bodyPr/>
            <a:lstStyle/>
            <a:p>
              <a:endParaRPr lang="en-US"/>
            </a:p>
          </p:txBody>
        </p:sp>
        <p:sp>
          <p:nvSpPr>
            <p:cNvPr id="1048919" name="Freeform 212"/>
            <p:cNvSpPr/>
            <p:nvPr/>
          </p:nvSpPr>
          <p:spPr bwMode="auto">
            <a:xfrm>
              <a:off x="2578" y="3930"/>
              <a:ext cx="8" cy="7"/>
            </a:xfrm>
            <a:custGeom>
              <a:avLst/>
              <a:gdLst>
                <a:gd name="T0" fmla="*/ 4 w 15"/>
                <a:gd name="T1" fmla="*/ 7 h 14"/>
                <a:gd name="T2" fmla="*/ 6 w 15"/>
                <a:gd name="T3" fmla="*/ 7 h 14"/>
                <a:gd name="T4" fmla="*/ 7 w 15"/>
                <a:gd name="T5" fmla="*/ 6 h 14"/>
                <a:gd name="T6" fmla="*/ 7 w 15"/>
                <a:gd name="T7" fmla="*/ 5 h 14"/>
                <a:gd name="T8" fmla="*/ 8 w 15"/>
                <a:gd name="T9" fmla="*/ 4 h 14"/>
                <a:gd name="T10" fmla="*/ 7 w 15"/>
                <a:gd name="T11" fmla="*/ 3 h 14"/>
                <a:gd name="T12" fmla="*/ 7 w 15"/>
                <a:gd name="T13" fmla="*/ 1 h 14"/>
                <a:gd name="T14" fmla="*/ 6 w 15"/>
                <a:gd name="T15" fmla="*/ 1 h 14"/>
                <a:gd name="T16" fmla="*/ 4 w 15"/>
                <a:gd name="T17" fmla="*/ 0 h 14"/>
                <a:gd name="T18" fmla="*/ 3 w 15"/>
                <a:gd name="T19" fmla="*/ 1 h 14"/>
                <a:gd name="T20" fmla="*/ 1 w 15"/>
                <a:gd name="T21" fmla="*/ 1 h 14"/>
                <a:gd name="T22" fmla="*/ 1 w 15"/>
                <a:gd name="T23" fmla="*/ 3 h 14"/>
                <a:gd name="T24" fmla="*/ 0 w 15"/>
                <a:gd name="T25" fmla="*/ 4 h 14"/>
                <a:gd name="T26" fmla="*/ 1 w 15"/>
                <a:gd name="T27" fmla="*/ 5 h 14"/>
                <a:gd name="T28" fmla="*/ 1 w 15"/>
                <a:gd name="T29" fmla="*/ 6 h 14"/>
                <a:gd name="T30" fmla="*/ 3 w 15"/>
                <a:gd name="T31" fmla="*/ 7 h 14"/>
                <a:gd name="T32" fmla="*/ 4 w 15"/>
                <a:gd name="T33" fmla="*/ 7 h 14"/>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5"/>
                <a:gd name="T52" fmla="*/ 0 h 14"/>
                <a:gd name="T53" fmla="*/ 15 w 15"/>
                <a:gd name="T54" fmla="*/ 14 h 14"/>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5" h="14">
                  <a:moveTo>
                    <a:pt x="7" y="14"/>
                  </a:moveTo>
                  <a:lnTo>
                    <a:pt x="11" y="13"/>
                  </a:lnTo>
                  <a:lnTo>
                    <a:pt x="13" y="12"/>
                  </a:lnTo>
                  <a:lnTo>
                    <a:pt x="14" y="9"/>
                  </a:lnTo>
                  <a:lnTo>
                    <a:pt x="15" y="7"/>
                  </a:lnTo>
                  <a:lnTo>
                    <a:pt x="14" y="5"/>
                  </a:lnTo>
                  <a:lnTo>
                    <a:pt x="13" y="2"/>
                  </a:lnTo>
                  <a:lnTo>
                    <a:pt x="11" y="1"/>
                  </a:lnTo>
                  <a:lnTo>
                    <a:pt x="7" y="0"/>
                  </a:lnTo>
                  <a:lnTo>
                    <a:pt x="5" y="1"/>
                  </a:lnTo>
                  <a:lnTo>
                    <a:pt x="2" y="2"/>
                  </a:lnTo>
                  <a:lnTo>
                    <a:pt x="1" y="5"/>
                  </a:lnTo>
                  <a:lnTo>
                    <a:pt x="0" y="7"/>
                  </a:lnTo>
                  <a:lnTo>
                    <a:pt x="1" y="9"/>
                  </a:lnTo>
                  <a:lnTo>
                    <a:pt x="2" y="12"/>
                  </a:lnTo>
                  <a:lnTo>
                    <a:pt x="5" y="13"/>
                  </a:lnTo>
                  <a:lnTo>
                    <a:pt x="7" y="14"/>
                  </a:lnTo>
                  <a:close/>
                </a:path>
              </a:pathLst>
            </a:custGeom>
            <a:solidFill>
              <a:srgbClr val="FFFFFF"/>
            </a:solidFill>
            <a:ln w="9525">
              <a:noFill/>
              <a:round/>
            </a:ln>
          </p:spPr>
          <p:txBody>
            <a:bodyPr/>
            <a:lstStyle/>
            <a:p>
              <a:endParaRPr lang="en-US"/>
            </a:p>
          </p:txBody>
        </p:sp>
        <p:sp>
          <p:nvSpPr>
            <p:cNvPr id="1048920" name="Freeform 213"/>
            <p:cNvSpPr/>
            <p:nvPr/>
          </p:nvSpPr>
          <p:spPr bwMode="auto">
            <a:xfrm>
              <a:off x="2254" y="3930"/>
              <a:ext cx="8" cy="7"/>
            </a:xfrm>
            <a:custGeom>
              <a:avLst/>
              <a:gdLst>
                <a:gd name="T0" fmla="*/ 4 w 15"/>
                <a:gd name="T1" fmla="*/ 7 h 14"/>
                <a:gd name="T2" fmla="*/ 5 w 15"/>
                <a:gd name="T3" fmla="*/ 7 h 14"/>
                <a:gd name="T4" fmla="*/ 6 w 15"/>
                <a:gd name="T5" fmla="*/ 6 h 14"/>
                <a:gd name="T6" fmla="*/ 7 w 15"/>
                <a:gd name="T7" fmla="*/ 5 h 14"/>
                <a:gd name="T8" fmla="*/ 8 w 15"/>
                <a:gd name="T9" fmla="*/ 4 h 14"/>
                <a:gd name="T10" fmla="*/ 7 w 15"/>
                <a:gd name="T11" fmla="*/ 3 h 14"/>
                <a:gd name="T12" fmla="*/ 6 w 15"/>
                <a:gd name="T13" fmla="*/ 1 h 14"/>
                <a:gd name="T14" fmla="*/ 5 w 15"/>
                <a:gd name="T15" fmla="*/ 1 h 14"/>
                <a:gd name="T16" fmla="*/ 4 w 15"/>
                <a:gd name="T17" fmla="*/ 0 h 14"/>
                <a:gd name="T18" fmla="*/ 2 w 15"/>
                <a:gd name="T19" fmla="*/ 1 h 14"/>
                <a:gd name="T20" fmla="*/ 1 w 15"/>
                <a:gd name="T21" fmla="*/ 1 h 14"/>
                <a:gd name="T22" fmla="*/ 1 w 15"/>
                <a:gd name="T23" fmla="*/ 3 h 14"/>
                <a:gd name="T24" fmla="*/ 0 w 15"/>
                <a:gd name="T25" fmla="*/ 4 h 14"/>
                <a:gd name="T26" fmla="*/ 1 w 15"/>
                <a:gd name="T27" fmla="*/ 5 h 14"/>
                <a:gd name="T28" fmla="*/ 1 w 15"/>
                <a:gd name="T29" fmla="*/ 6 h 14"/>
                <a:gd name="T30" fmla="*/ 2 w 15"/>
                <a:gd name="T31" fmla="*/ 7 h 14"/>
                <a:gd name="T32" fmla="*/ 4 w 15"/>
                <a:gd name="T33" fmla="*/ 7 h 14"/>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5"/>
                <a:gd name="T52" fmla="*/ 0 h 14"/>
                <a:gd name="T53" fmla="*/ 15 w 15"/>
                <a:gd name="T54" fmla="*/ 14 h 14"/>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5" h="14">
                  <a:moveTo>
                    <a:pt x="8" y="14"/>
                  </a:moveTo>
                  <a:lnTo>
                    <a:pt x="10" y="13"/>
                  </a:lnTo>
                  <a:lnTo>
                    <a:pt x="12" y="12"/>
                  </a:lnTo>
                  <a:lnTo>
                    <a:pt x="13" y="9"/>
                  </a:lnTo>
                  <a:lnTo>
                    <a:pt x="15" y="7"/>
                  </a:lnTo>
                  <a:lnTo>
                    <a:pt x="13" y="5"/>
                  </a:lnTo>
                  <a:lnTo>
                    <a:pt x="12" y="2"/>
                  </a:lnTo>
                  <a:lnTo>
                    <a:pt x="10" y="1"/>
                  </a:lnTo>
                  <a:lnTo>
                    <a:pt x="8" y="0"/>
                  </a:lnTo>
                  <a:lnTo>
                    <a:pt x="4" y="1"/>
                  </a:lnTo>
                  <a:lnTo>
                    <a:pt x="2" y="2"/>
                  </a:lnTo>
                  <a:lnTo>
                    <a:pt x="1" y="5"/>
                  </a:lnTo>
                  <a:lnTo>
                    <a:pt x="0" y="7"/>
                  </a:lnTo>
                  <a:lnTo>
                    <a:pt x="1" y="9"/>
                  </a:lnTo>
                  <a:lnTo>
                    <a:pt x="2" y="12"/>
                  </a:lnTo>
                  <a:lnTo>
                    <a:pt x="4" y="13"/>
                  </a:lnTo>
                  <a:lnTo>
                    <a:pt x="8" y="14"/>
                  </a:lnTo>
                  <a:close/>
                </a:path>
              </a:pathLst>
            </a:custGeom>
            <a:solidFill>
              <a:srgbClr val="FFFFFF"/>
            </a:solidFill>
            <a:ln w="9525">
              <a:noFill/>
              <a:round/>
            </a:ln>
          </p:spPr>
          <p:txBody>
            <a:bodyPr/>
            <a:lstStyle/>
            <a:p>
              <a:endParaRPr lang="en-US"/>
            </a:p>
          </p:txBody>
        </p:sp>
        <p:sp>
          <p:nvSpPr>
            <p:cNvPr id="1048921" name="Freeform 214"/>
            <p:cNvSpPr/>
            <p:nvPr/>
          </p:nvSpPr>
          <p:spPr bwMode="auto">
            <a:xfrm>
              <a:off x="2624" y="3917"/>
              <a:ext cx="25" cy="14"/>
            </a:xfrm>
            <a:custGeom>
              <a:avLst/>
              <a:gdLst>
                <a:gd name="T0" fmla="*/ 6 w 51"/>
                <a:gd name="T1" fmla="*/ 14 h 27"/>
                <a:gd name="T2" fmla="*/ 17 w 51"/>
                <a:gd name="T3" fmla="*/ 14 h 27"/>
                <a:gd name="T4" fmla="*/ 20 w 51"/>
                <a:gd name="T5" fmla="*/ 13 h 27"/>
                <a:gd name="T6" fmla="*/ 23 w 51"/>
                <a:gd name="T7" fmla="*/ 11 h 27"/>
                <a:gd name="T8" fmla="*/ 25 w 51"/>
                <a:gd name="T9" fmla="*/ 9 h 27"/>
                <a:gd name="T10" fmla="*/ 25 w 51"/>
                <a:gd name="T11" fmla="*/ 5 h 27"/>
                <a:gd name="T12" fmla="*/ 25 w 51"/>
                <a:gd name="T13" fmla="*/ 4 h 27"/>
                <a:gd name="T14" fmla="*/ 25 w 51"/>
                <a:gd name="T15" fmla="*/ 2 h 27"/>
                <a:gd name="T16" fmla="*/ 24 w 51"/>
                <a:gd name="T17" fmla="*/ 1 h 27"/>
                <a:gd name="T18" fmla="*/ 23 w 51"/>
                <a:gd name="T19" fmla="*/ 0 h 27"/>
                <a:gd name="T20" fmla="*/ 21 w 51"/>
                <a:gd name="T21" fmla="*/ 1 h 27"/>
                <a:gd name="T22" fmla="*/ 19 w 51"/>
                <a:gd name="T23" fmla="*/ 3 h 27"/>
                <a:gd name="T24" fmla="*/ 17 w 51"/>
                <a:gd name="T25" fmla="*/ 4 h 27"/>
                <a:gd name="T26" fmla="*/ 14 w 51"/>
                <a:gd name="T27" fmla="*/ 6 h 27"/>
                <a:gd name="T28" fmla="*/ 11 w 51"/>
                <a:gd name="T29" fmla="*/ 7 h 27"/>
                <a:gd name="T30" fmla="*/ 7 w 51"/>
                <a:gd name="T31" fmla="*/ 9 h 27"/>
                <a:gd name="T32" fmla="*/ 4 w 51"/>
                <a:gd name="T33" fmla="*/ 10 h 27"/>
                <a:gd name="T34" fmla="*/ 0 w 51"/>
                <a:gd name="T35" fmla="*/ 11 h 27"/>
                <a:gd name="T36" fmla="*/ 1 w 51"/>
                <a:gd name="T37" fmla="*/ 12 h 27"/>
                <a:gd name="T38" fmla="*/ 2 w 51"/>
                <a:gd name="T39" fmla="*/ 13 h 27"/>
                <a:gd name="T40" fmla="*/ 4 w 51"/>
                <a:gd name="T41" fmla="*/ 14 h 27"/>
                <a:gd name="T42" fmla="*/ 6 w 51"/>
                <a:gd name="T43" fmla="*/ 14 h 27"/>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51"/>
                <a:gd name="T67" fmla="*/ 0 h 27"/>
                <a:gd name="T68" fmla="*/ 51 w 51"/>
                <a:gd name="T69" fmla="*/ 27 h 27"/>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51" h="27">
                  <a:moveTo>
                    <a:pt x="13" y="27"/>
                  </a:moveTo>
                  <a:lnTo>
                    <a:pt x="34" y="27"/>
                  </a:lnTo>
                  <a:lnTo>
                    <a:pt x="41" y="26"/>
                  </a:lnTo>
                  <a:lnTo>
                    <a:pt x="46" y="22"/>
                  </a:lnTo>
                  <a:lnTo>
                    <a:pt x="50" y="17"/>
                  </a:lnTo>
                  <a:lnTo>
                    <a:pt x="51" y="10"/>
                  </a:lnTo>
                  <a:lnTo>
                    <a:pt x="51" y="8"/>
                  </a:lnTo>
                  <a:lnTo>
                    <a:pt x="50" y="4"/>
                  </a:lnTo>
                  <a:lnTo>
                    <a:pt x="49" y="2"/>
                  </a:lnTo>
                  <a:lnTo>
                    <a:pt x="46" y="0"/>
                  </a:lnTo>
                  <a:lnTo>
                    <a:pt x="43" y="2"/>
                  </a:lnTo>
                  <a:lnTo>
                    <a:pt x="38" y="6"/>
                  </a:lnTo>
                  <a:lnTo>
                    <a:pt x="34" y="8"/>
                  </a:lnTo>
                  <a:lnTo>
                    <a:pt x="28" y="11"/>
                  </a:lnTo>
                  <a:lnTo>
                    <a:pt x="22" y="14"/>
                  </a:lnTo>
                  <a:lnTo>
                    <a:pt x="15" y="17"/>
                  </a:lnTo>
                  <a:lnTo>
                    <a:pt x="8" y="19"/>
                  </a:lnTo>
                  <a:lnTo>
                    <a:pt x="0" y="22"/>
                  </a:lnTo>
                  <a:lnTo>
                    <a:pt x="3" y="24"/>
                  </a:lnTo>
                  <a:lnTo>
                    <a:pt x="5" y="26"/>
                  </a:lnTo>
                  <a:lnTo>
                    <a:pt x="8" y="27"/>
                  </a:lnTo>
                  <a:lnTo>
                    <a:pt x="13" y="27"/>
                  </a:lnTo>
                  <a:close/>
                </a:path>
              </a:pathLst>
            </a:custGeom>
            <a:solidFill>
              <a:srgbClr val="47C6C6"/>
            </a:solidFill>
            <a:ln w="9525">
              <a:noFill/>
              <a:round/>
            </a:ln>
          </p:spPr>
          <p:txBody>
            <a:bodyPr/>
            <a:lstStyle/>
            <a:p>
              <a:endParaRPr lang="en-US"/>
            </a:p>
          </p:txBody>
        </p:sp>
        <p:sp>
          <p:nvSpPr>
            <p:cNvPr id="1048922" name="Freeform 215"/>
            <p:cNvSpPr/>
            <p:nvPr/>
          </p:nvSpPr>
          <p:spPr bwMode="auto">
            <a:xfrm>
              <a:off x="2621" y="3913"/>
              <a:ext cx="26" cy="15"/>
            </a:xfrm>
            <a:custGeom>
              <a:avLst/>
              <a:gdLst>
                <a:gd name="T0" fmla="*/ 20 w 50"/>
                <a:gd name="T1" fmla="*/ 0 h 29"/>
                <a:gd name="T2" fmla="*/ 9 w 50"/>
                <a:gd name="T3" fmla="*/ 0 h 29"/>
                <a:gd name="T4" fmla="*/ 5 w 50"/>
                <a:gd name="T5" fmla="*/ 1 h 29"/>
                <a:gd name="T6" fmla="*/ 3 w 50"/>
                <a:gd name="T7" fmla="*/ 3 h 29"/>
                <a:gd name="T8" fmla="*/ 1 w 50"/>
                <a:gd name="T9" fmla="*/ 5 h 29"/>
                <a:gd name="T10" fmla="*/ 0 w 50"/>
                <a:gd name="T11" fmla="*/ 9 h 29"/>
                <a:gd name="T12" fmla="*/ 0 w 50"/>
                <a:gd name="T13" fmla="*/ 11 h 29"/>
                <a:gd name="T14" fmla="*/ 1 w 50"/>
                <a:gd name="T15" fmla="*/ 12 h 29"/>
                <a:gd name="T16" fmla="*/ 1 w 50"/>
                <a:gd name="T17" fmla="*/ 13 h 29"/>
                <a:gd name="T18" fmla="*/ 2 w 50"/>
                <a:gd name="T19" fmla="*/ 15 h 29"/>
                <a:gd name="T20" fmla="*/ 6 w 50"/>
                <a:gd name="T21" fmla="*/ 13 h 29"/>
                <a:gd name="T22" fmla="*/ 10 w 50"/>
                <a:gd name="T23" fmla="*/ 12 h 29"/>
                <a:gd name="T24" fmla="*/ 14 w 50"/>
                <a:gd name="T25" fmla="*/ 11 h 29"/>
                <a:gd name="T26" fmla="*/ 17 w 50"/>
                <a:gd name="T27" fmla="*/ 9 h 29"/>
                <a:gd name="T28" fmla="*/ 20 w 50"/>
                <a:gd name="T29" fmla="*/ 8 h 29"/>
                <a:gd name="T30" fmla="*/ 22 w 50"/>
                <a:gd name="T31" fmla="*/ 7 h 29"/>
                <a:gd name="T32" fmla="*/ 24 w 50"/>
                <a:gd name="T33" fmla="*/ 5 h 29"/>
                <a:gd name="T34" fmla="*/ 26 w 50"/>
                <a:gd name="T35" fmla="*/ 4 h 29"/>
                <a:gd name="T36" fmla="*/ 25 w 50"/>
                <a:gd name="T37" fmla="*/ 2 h 29"/>
                <a:gd name="T38" fmla="*/ 24 w 50"/>
                <a:gd name="T39" fmla="*/ 1 h 29"/>
                <a:gd name="T40" fmla="*/ 22 w 50"/>
                <a:gd name="T41" fmla="*/ 0 h 29"/>
                <a:gd name="T42" fmla="*/ 20 w 50"/>
                <a:gd name="T43" fmla="*/ 0 h 29"/>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50"/>
                <a:gd name="T67" fmla="*/ 0 h 29"/>
                <a:gd name="T68" fmla="*/ 50 w 50"/>
                <a:gd name="T69" fmla="*/ 29 h 29"/>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50" h="29">
                  <a:moveTo>
                    <a:pt x="38" y="0"/>
                  </a:moveTo>
                  <a:lnTo>
                    <a:pt x="17" y="0"/>
                  </a:lnTo>
                  <a:lnTo>
                    <a:pt x="10" y="1"/>
                  </a:lnTo>
                  <a:lnTo>
                    <a:pt x="5" y="5"/>
                  </a:lnTo>
                  <a:lnTo>
                    <a:pt x="1" y="10"/>
                  </a:lnTo>
                  <a:lnTo>
                    <a:pt x="0" y="17"/>
                  </a:lnTo>
                  <a:lnTo>
                    <a:pt x="0" y="21"/>
                  </a:lnTo>
                  <a:lnTo>
                    <a:pt x="1" y="23"/>
                  </a:lnTo>
                  <a:lnTo>
                    <a:pt x="2" y="26"/>
                  </a:lnTo>
                  <a:lnTo>
                    <a:pt x="4" y="29"/>
                  </a:lnTo>
                  <a:lnTo>
                    <a:pt x="12" y="26"/>
                  </a:lnTo>
                  <a:lnTo>
                    <a:pt x="19" y="24"/>
                  </a:lnTo>
                  <a:lnTo>
                    <a:pt x="26" y="21"/>
                  </a:lnTo>
                  <a:lnTo>
                    <a:pt x="32" y="18"/>
                  </a:lnTo>
                  <a:lnTo>
                    <a:pt x="38" y="15"/>
                  </a:lnTo>
                  <a:lnTo>
                    <a:pt x="42" y="13"/>
                  </a:lnTo>
                  <a:lnTo>
                    <a:pt x="47" y="9"/>
                  </a:lnTo>
                  <a:lnTo>
                    <a:pt x="50" y="7"/>
                  </a:lnTo>
                  <a:lnTo>
                    <a:pt x="48" y="3"/>
                  </a:lnTo>
                  <a:lnTo>
                    <a:pt x="46" y="1"/>
                  </a:lnTo>
                  <a:lnTo>
                    <a:pt x="42" y="0"/>
                  </a:lnTo>
                  <a:lnTo>
                    <a:pt x="38" y="0"/>
                  </a:lnTo>
                  <a:close/>
                </a:path>
              </a:pathLst>
            </a:custGeom>
            <a:solidFill>
              <a:srgbClr val="7FFFFF"/>
            </a:solidFill>
            <a:ln w="9525">
              <a:noFill/>
              <a:round/>
            </a:ln>
          </p:spPr>
          <p:txBody>
            <a:bodyPr/>
            <a:lstStyle/>
            <a:p>
              <a:endParaRPr lang="en-US"/>
            </a:p>
          </p:txBody>
        </p:sp>
        <p:sp>
          <p:nvSpPr>
            <p:cNvPr id="1048923" name="Freeform 216"/>
            <p:cNvSpPr/>
            <p:nvPr/>
          </p:nvSpPr>
          <p:spPr bwMode="auto">
            <a:xfrm>
              <a:off x="2159" y="3913"/>
              <a:ext cx="26" cy="16"/>
            </a:xfrm>
            <a:custGeom>
              <a:avLst/>
              <a:gdLst>
                <a:gd name="T0" fmla="*/ 20 w 51"/>
                <a:gd name="T1" fmla="*/ 0 h 31"/>
                <a:gd name="T2" fmla="*/ 9 w 51"/>
                <a:gd name="T3" fmla="*/ 0 h 31"/>
                <a:gd name="T4" fmla="*/ 6 w 51"/>
                <a:gd name="T5" fmla="*/ 1 h 31"/>
                <a:gd name="T6" fmla="*/ 3 w 51"/>
                <a:gd name="T7" fmla="*/ 3 h 31"/>
                <a:gd name="T8" fmla="*/ 1 w 51"/>
                <a:gd name="T9" fmla="*/ 5 h 31"/>
                <a:gd name="T10" fmla="*/ 0 w 51"/>
                <a:gd name="T11" fmla="*/ 9 h 31"/>
                <a:gd name="T12" fmla="*/ 0 w 51"/>
                <a:gd name="T13" fmla="*/ 11 h 31"/>
                <a:gd name="T14" fmla="*/ 1 w 51"/>
                <a:gd name="T15" fmla="*/ 13 h 31"/>
                <a:gd name="T16" fmla="*/ 2 w 51"/>
                <a:gd name="T17" fmla="*/ 15 h 31"/>
                <a:gd name="T18" fmla="*/ 3 w 51"/>
                <a:gd name="T19" fmla="*/ 16 h 31"/>
                <a:gd name="T20" fmla="*/ 7 w 51"/>
                <a:gd name="T21" fmla="*/ 14 h 31"/>
                <a:gd name="T22" fmla="*/ 10 w 51"/>
                <a:gd name="T23" fmla="*/ 13 h 31"/>
                <a:gd name="T24" fmla="*/ 13 w 51"/>
                <a:gd name="T25" fmla="*/ 11 h 31"/>
                <a:gd name="T26" fmla="*/ 16 w 51"/>
                <a:gd name="T27" fmla="*/ 9 h 31"/>
                <a:gd name="T28" fmla="*/ 19 w 51"/>
                <a:gd name="T29" fmla="*/ 8 h 31"/>
                <a:gd name="T30" fmla="*/ 21 w 51"/>
                <a:gd name="T31" fmla="*/ 7 h 31"/>
                <a:gd name="T32" fmla="*/ 24 w 51"/>
                <a:gd name="T33" fmla="*/ 5 h 31"/>
                <a:gd name="T34" fmla="*/ 26 w 51"/>
                <a:gd name="T35" fmla="*/ 4 h 31"/>
                <a:gd name="T36" fmla="*/ 25 w 51"/>
                <a:gd name="T37" fmla="*/ 3 h 31"/>
                <a:gd name="T38" fmla="*/ 24 w 51"/>
                <a:gd name="T39" fmla="*/ 1 h 31"/>
                <a:gd name="T40" fmla="*/ 22 w 51"/>
                <a:gd name="T41" fmla="*/ 1 h 31"/>
                <a:gd name="T42" fmla="*/ 20 w 51"/>
                <a:gd name="T43" fmla="*/ 0 h 31"/>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51"/>
                <a:gd name="T67" fmla="*/ 0 h 31"/>
                <a:gd name="T68" fmla="*/ 51 w 51"/>
                <a:gd name="T69" fmla="*/ 31 h 31"/>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51" h="31">
                  <a:moveTo>
                    <a:pt x="39" y="0"/>
                  </a:moveTo>
                  <a:lnTo>
                    <a:pt x="18" y="0"/>
                  </a:lnTo>
                  <a:lnTo>
                    <a:pt x="11" y="1"/>
                  </a:lnTo>
                  <a:lnTo>
                    <a:pt x="6" y="5"/>
                  </a:lnTo>
                  <a:lnTo>
                    <a:pt x="2" y="10"/>
                  </a:lnTo>
                  <a:lnTo>
                    <a:pt x="0" y="17"/>
                  </a:lnTo>
                  <a:lnTo>
                    <a:pt x="0" y="22"/>
                  </a:lnTo>
                  <a:lnTo>
                    <a:pt x="2" y="25"/>
                  </a:lnTo>
                  <a:lnTo>
                    <a:pt x="4" y="29"/>
                  </a:lnTo>
                  <a:lnTo>
                    <a:pt x="6" y="31"/>
                  </a:lnTo>
                  <a:lnTo>
                    <a:pt x="13" y="28"/>
                  </a:lnTo>
                  <a:lnTo>
                    <a:pt x="20" y="25"/>
                  </a:lnTo>
                  <a:lnTo>
                    <a:pt x="26" y="22"/>
                  </a:lnTo>
                  <a:lnTo>
                    <a:pt x="32" y="18"/>
                  </a:lnTo>
                  <a:lnTo>
                    <a:pt x="37" y="15"/>
                  </a:lnTo>
                  <a:lnTo>
                    <a:pt x="42" y="13"/>
                  </a:lnTo>
                  <a:lnTo>
                    <a:pt x="47" y="9"/>
                  </a:lnTo>
                  <a:lnTo>
                    <a:pt x="51" y="7"/>
                  </a:lnTo>
                  <a:lnTo>
                    <a:pt x="49" y="5"/>
                  </a:lnTo>
                  <a:lnTo>
                    <a:pt x="47" y="2"/>
                  </a:lnTo>
                  <a:lnTo>
                    <a:pt x="43" y="1"/>
                  </a:lnTo>
                  <a:lnTo>
                    <a:pt x="39" y="0"/>
                  </a:lnTo>
                  <a:close/>
                </a:path>
              </a:pathLst>
            </a:custGeom>
            <a:solidFill>
              <a:srgbClr val="7FFFFF"/>
            </a:solidFill>
            <a:ln w="9525">
              <a:noFill/>
              <a:round/>
            </a:ln>
          </p:spPr>
          <p:txBody>
            <a:bodyPr/>
            <a:lstStyle/>
            <a:p>
              <a:endParaRPr lang="en-US"/>
            </a:p>
          </p:txBody>
        </p:sp>
        <p:sp>
          <p:nvSpPr>
            <p:cNvPr id="1048924" name="Freeform 217"/>
            <p:cNvSpPr/>
            <p:nvPr/>
          </p:nvSpPr>
          <p:spPr bwMode="auto">
            <a:xfrm>
              <a:off x="2162" y="3917"/>
              <a:ext cx="25" cy="14"/>
            </a:xfrm>
            <a:custGeom>
              <a:avLst/>
              <a:gdLst>
                <a:gd name="T0" fmla="*/ 6 w 50"/>
                <a:gd name="T1" fmla="*/ 14 h 27"/>
                <a:gd name="T2" fmla="*/ 17 w 50"/>
                <a:gd name="T3" fmla="*/ 14 h 27"/>
                <a:gd name="T4" fmla="*/ 20 w 50"/>
                <a:gd name="T5" fmla="*/ 13 h 27"/>
                <a:gd name="T6" fmla="*/ 23 w 50"/>
                <a:gd name="T7" fmla="*/ 11 h 27"/>
                <a:gd name="T8" fmla="*/ 25 w 50"/>
                <a:gd name="T9" fmla="*/ 9 h 27"/>
                <a:gd name="T10" fmla="*/ 25 w 50"/>
                <a:gd name="T11" fmla="*/ 5 h 27"/>
                <a:gd name="T12" fmla="*/ 25 w 50"/>
                <a:gd name="T13" fmla="*/ 4 h 27"/>
                <a:gd name="T14" fmla="*/ 25 w 50"/>
                <a:gd name="T15" fmla="*/ 2 h 27"/>
                <a:gd name="T16" fmla="*/ 23 w 50"/>
                <a:gd name="T17" fmla="*/ 1 h 27"/>
                <a:gd name="T18" fmla="*/ 23 w 50"/>
                <a:gd name="T19" fmla="*/ 0 h 27"/>
                <a:gd name="T20" fmla="*/ 21 w 50"/>
                <a:gd name="T21" fmla="*/ 1 h 27"/>
                <a:gd name="T22" fmla="*/ 18 w 50"/>
                <a:gd name="T23" fmla="*/ 3 h 27"/>
                <a:gd name="T24" fmla="*/ 15 w 50"/>
                <a:gd name="T25" fmla="*/ 4 h 27"/>
                <a:gd name="T26" fmla="*/ 13 w 50"/>
                <a:gd name="T27" fmla="*/ 6 h 27"/>
                <a:gd name="T28" fmla="*/ 10 w 50"/>
                <a:gd name="T29" fmla="*/ 8 h 27"/>
                <a:gd name="T30" fmla="*/ 7 w 50"/>
                <a:gd name="T31" fmla="*/ 9 h 27"/>
                <a:gd name="T32" fmla="*/ 3 w 50"/>
                <a:gd name="T33" fmla="*/ 11 h 27"/>
                <a:gd name="T34" fmla="*/ 0 w 50"/>
                <a:gd name="T35" fmla="*/ 12 h 27"/>
                <a:gd name="T36" fmla="*/ 2 w 50"/>
                <a:gd name="T37" fmla="*/ 13 h 27"/>
                <a:gd name="T38" fmla="*/ 3 w 50"/>
                <a:gd name="T39" fmla="*/ 13 h 27"/>
                <a:gd name="T40" fmla="*/ 4 w 50"/>
                <a:gd name="T41" fmla="*/ 14 h 27"/>
                <a:gd name="T42" fmla="*/ 6 w 50"/>
                <a:gd name="T43" fmla="*/ 14 h 27"/>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50"/>
                <a:gd name="T67" fmla="*/ 0 h 27"/>
                <a:gd name="T68" fmla="*/ 50 w 50"/>
                <a:gd name="T69" fmla="*/ 27 h 27"/>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50" h="27">
                  <a:moveTo>
                    <a:pt x="12" y="27"/>
                  </a:moveTo>
                  <a:lnTo>
                    <a:pt x="33" y="27"/>
                  </a:lnTo>
                  <a:lnTo>
                    <a:pt x="39" y="26"/>
                  </a:lnTo>
                  <a:lnTo>
                    <a:pt x="45" y="22"/>
                  </a:lnTo>
                  <a:lnTo>
                    <a:pt x="49" y="17"/>
                  </a:lnTo>
                  <a:lnTo>
                    <a:pt x="50" y="10"/>
                  </a:lnTo>
                  <a:lnTo>
                    <a:pt x="50" y="8"/>
                  </a:lnTo>
                  <a:lnTo>
                    <a:pt x="49" y="4"/>
                  </a:lnTo>
                  <a:lnTo>
                    <a:pt x="46" y="2"/>
                  </a:lnTo>
                  <a:lnTo>
                    <a:pt x="45" y="0"/>
                  </a:lnTo>
                  <a:lnTo>
                    <a:pt x="41" y="2"/>
                  </a:lnTo>
                  <a:lnTo>
                    <a:pt x="36" y="6"/>
                  </a:lnTo>
                  <a:lnTo>
                    <a:pt x="31" y="8"/>
                  </a:lnTo>
                  <a:lnTo>
                    <a:pt x="26" y="11"/>
                  </a:lnTo>
                  <a:lnTo>
                    <a:pt x="20" y="15"/>
                  </a:lnTo>
                  <a:lnTo>
                    <a:pt x="14" y="18"/>
                  </a:lnTo>
                  <a:lnTo>
                    <a:pt x="7" y="21"/>
                  </a:lnTo>
                  <a:lnTo>
                    <a:pt x="0" y="24"/>
                  </a:lnTo>
                  <a:lnTo>
                    <a:pt x="3" y="25"/>
                  </a:lnTo>
                  <a:lnTo>
                    <a:pt x="6" y="26"/>
                  </a:lnTo>
                  <a:lnTo>
                    <a:pt x="8" y="27"/>
                  </a:lnTo>
                  <a:lnTo>
                    <a:pt x="12" y="27"/>
                  </a:lnTo>
                  <a:close/>
                </a:path>
              </a:pathLst>
            </a:custGeom>
            <a:solidFill>
              <a:srgbClr val="47C6C6"/>
            </a:solidFill>
            <a:ln w="9525">
              <a:noFill/>
              <a:round/>
            </a:ln>
          </p:spPr>
          <p:txBody>
            <a:bodyPr/>
            <a:lstStyle/>
            <a:p>
              <a:endParaRPr lang="en-US"/>
            </a:p>
          </p:txBody>
        </p:sp>
      </p:grpSp>
      <p:sp>
        <p:nvSpPr>
          <p:cNvPr id="1048925" name="AutoShape 218"/>
          <p:cNvSpPr>
            <a:spLocks noChangeArrowheads="1"/>
          </p:cNvSpPr>
          <p:nvPr/>
        </p:nvSpPr>
        <p:spPr bwMode="auto">
          <a:xfrm flipH="1" flipV="1">
            <a:off x="8534400" y="2286000"/>
            <a:ext cx="381000" cy="1066800"/>
          </a:xfrm>
          <a:prstGeom prst="curvedRightArrow">
            <a:avLst>
              <a:gd name="adj1" fmla="val 41196"/>
              <a:gd name="adj2" fmla="val 80578"/>
              <a:gd name="adj3" fmla="val 36667"/>
            </a:avLst>
          </a:prstGeom>
          <a:solidFill>
            <a:schemeClr val="accent1"/>
          </a:solidFill>
          <a:ln w="9525">
            <a:solidFill>
              <a:schemeClr val="tx1"/>
            </a:solidFill>
            <a:miter lim="800000"/>
          </a:ln>
        </p:spPr>
        <p:txBody>
          <a:bodyPr wrap="none" anchor="ctr"/>
          <a:lstStyle/>
          <a:p>
            <a:endParaRPr lang="en-US"/>
          </a:p>
        </p:txBody>
      </p:sp>
      <p:sp>
        <p:nvSpPr>
          <p:cNvPr id="1048926" name="AutoShape 219"/>
          <p:cNvSpPr>
            <a:spLocks noChangeArrowheads="1"/>
          </p:cNvSpPr>
          <p:nvPr/>
        </p:nvSpPr>
        <p:spPr bwMode="auto">
          <a:xfrm>
            <a:off x="914400" y="3505200"/>
            <a:ext cx="381000" cy="1066800"/>
          </a:xfrm>
          <a:prstGeom prst="curvedRightArrow">
            <a:avLst>
              <a:gd name="adj1" fmla="val 41196"/>
              <a:gd name="adj2" fmla="val 80578"/>
              <a:gd name="adj3" fmla="val 36667"/>
            </a:avLst>
          </a:prstGeom>
          <a:solidFill>
            <a:schemeClr val="accent1"/>
          </a:solidFill>
          <a:ln w="9525">
            <a:solidFill>
              <a:schemeClr val="tx1"/>
            </a:solidFill>
            <a:miter lim="800000"/>
          </a:ln>
        </p:spPr>
        <p:txBody>
          <a:bodyPr wrap="none" anchor="ctr"/>
          <a:lstStyle/>
          <a:p>
            <a:endParaRPr lang="en-US"/>
          </a:p>
        </p:txBody>
      </p:sp>
      <p:sp>
        <p:nvSpPr>
          <p:cNvPr id="1048927" name="AutoShape 220"/>
          <p:cNvSpPr>
            <a:spLocks noChangeArrowheads="1"/>
          </p:cNvSpPr>
          <p:nvPr/>
        </p:nvSpPr>
        <p:spPr bwMode="auto">
          <a:xfrm>
            <a:off x="914400" y="4648200"/>
            <a:ext cx="381000" cy="1219200"/>
          </a:xfrm>
          <a:prstGeom prst="curvedRightArrow">
            <a:avLst>
              <a:gd name="adj1" fmla="val 47081"/>
              <a:gd name="adj2" fmla="val 92089"/>
              <a:gd name="adj3" fmla="val 36667"/>
            </a:avLst>
          </a:prstGeom>
          <a:solidFill>
            <a:schemeClr val="accent1"/>
          </a:solidFill>
          <a:ln w="9525">
            <a:solidFill>
              <a:schemeClr val="tx1"/>
            </a:solidFill>
            <a:miter lim="800000"/>
          </a:ln>
        </p:spPr>
        <p:txBody>
          <a:bodyPr wrap="none" anchor="ctr"/>
          <a:lstStyle/>
          <a:p>
            <a:endParaRPr lang="en-US"/>
          </a:p>
        </p:txBody>
      </p:sp>
      <p:sp>
        <p:nvSpPr>
          <p:cNvPr id="1048928" name="Text Box 221"/>
          <p:cNvSpPr txBox="1">
            <a:spLocks noChangeArrowheads="1"/>
          </p:cNvSpPr>
          <p:nvPr/>
        </p:nvSpPr>
        <p:spPr bwMode="auto">
          <a:xfrm>
            <a:off x="2041525" y="3130550"/>
            <a:ext cx="1028572" cy="574039"/>
          </a:xfrm>
          <a:prstGeom prst="rect">
            <a:avLst/>
          </a:prstGeom>
          <a:noFill/>
          <a:ln w="9525">
            <a:noFill/>
            <a:miter lim="800000"/>
          </a:ln>
        </p:spPr>
        <p:txBody>
          <a:bodyPr wrap="none">
            <a:spAutoFit/>
          </a:bodyPr>
          <a:lstStyle/>
          <a:p>
            <a:r>
              <a:rPr lang="en-US" sz="1400" i="1"/>
              <a:t>Secretary:</a:t>
            </a:r>
            <a:br>
              <a:rPr lang="en-US" sz="1400"/>
            </a:br>
            <a:r>
              <a:rPr lang="en-US" sz="1400"/>
              <a:t>types a letter</a:t>
            </a:r>
          </a:p>
        </p:txBody>
      </p:sp>
      <p:sp>
        <p:nvSpPr>
          <p:cNvPr id="1048929" name="Text Box 222"/>
          <p:cNvSpPr txBox="1">
            <a:spLocks noChangeArrowheads="1"/>
          </p:cNvSpPr>
          <p:nvPr/>
        </p:nvSpPr>
        <p:spPr bwMode="auto">
          <a:xfrm>
            <a:off x="2286000" y="4089400"/>
            <a:ext cx="1229738" cy="574039"/>
          </a:xfrm>
          <a:prstGeom prst="rect">
            <a:avLst/>
          </a:prstGeom>
          <a:noFill/>
          <a:ln w="9525">
            <a:noFill/>
            <a:miter lim="800000"/>
          </a:ln>
        </p:spPr>
        <p:txBody>
          <a:bodyPr wrap="none">
            <a:spAutoFit/>
          </a:bodyPr>
          <a:lstStyle/>
          <a:p>
            <a:r>
              <a:rPr lang="en-US" sz="1400" i="1"/>
              <a:t>Delivery boy:</a:t>
            </a:r>
            <a:br>
              <a:rPr lang="en-US" sz="1400"/>
            </a:br>
            <a:r>
              <a:rPr lang="en-US" sz="1400"/>
              <a:t>drops the letter</a:t>
            </a:r>
          </a:p>
        </p:txBody>
      </p:sp>
      <p:pic>
        <p:nvPicPr>
          <p:cNvPr id="2097172" name="Picture 12" descr="j0089302"/>
          <p:cNvPicPr>
            <a:picLocks noChangeAspect="1" noChangeArrowheads="1"/>
          </p:cNvPicPr>
          <p:nvPr/>
        </p:nvPicPr>
        <p:blipFill>
          <a:blip r:embed="rId5" cstate="print"/>
          <a:srcRect/>
          <a:stretch>
            <a:fillRect/>
          </a:stretch>
        </p:blipFill>
        <p:spPr bwMode="auto">
          <a:xfrm>
            <a:off x="7315200" y="5245100"/>
            <a:ext cx="990600" cy="844550"/>
          </a:xfrm>
          <a:prstGeom prst="rect">
            <a:avLst/>
          </a:prstGeom>
          <a:noFill/>
          <a:ln w="9525">
            <a:noFill/>
            <a:miter lim="800000"/>
            <a:headEnd/>
            <a:tailEnd/>
          </a:ln>
        </p:spPr>
      </p:pic>
      <p:pic>
        <p:nvPicPr>
          <p:cNvPr id="2097173" name="Picture 15" descr="j0089302"/>
          <p:cNvPicPr>
            <a:picLocks noChangeAspect="1" noChangeArrowheads="1"/>
          </p:cNvPicPr>
          <p:nvPr/>
        </p:nvPicPr>
        <p:blipFill>
          <a:blip r:embed="rId5" cstate="print"/>
          <a:srcRect/>
          <a:stretch>
            <a:fillRect/>
          </a:stretch>
        </p:blipFill>
        <p:spPr bwMode="auto">
          <a:xfrm flipH="1">
            <a:off x="1295400" y="5245100"/>
            <a:ext cx="990600" cy="844550"/>
          </a:xfrm>
          <a:prstGeom prst="rect">
            <a:avLst/>
          </a:prstGeom>
          <a:noFill/>
          <a:ln w="9525">
            <a:noFill/>
            <a:miter lim="800000"/>
            <a:headEnd/>
            <a:tailEnd/>
          </a:ln>
        </p:spPr>
      </p:pic>
      <p:pic>
        <p:nvPicPr>
          <p:cNvPr id="2097174" name="Picture 16" descr="j0089302"/>
          <p:cNvPicPr>
            <a:picLocks noChangeAspect="1" noChangeArrowheads="1"/>
          </p:cNvPicPr>
          <p:nvPr/>
        </p:nvPicPr>
        <p:blipFill>
          <a:blip r:embed="rId5" cstate="print"/>
          <a:srcRect/>
          <a:stretch>
            <a:fillRect/>
          </a:stretch>
        </p:blipFill>
        <p:spPr bwMode="auto">
          <a:xfrm>
            <a:off x="3505200" y="5480050"/>
            <a:ext cx="990600" cy="844550"/>
          </a:xfrm>
          <a:prstGeom prst="rect">
            <a:avLst/>
          </a:prstGeom>
          <a:noFill/>
          <a:ln w="9525">
            <a:noFill/>
            <a:miter lim="800000"/>
            <a:headEnd/>
            <a:tailEnd/>
          </a:ln>
        </p:spPr>
      </p:pic>
      <p:pic>
        <p:nvPicPr>
          <p:cNvPr id="2097175" name="Picture 17" descr="j0089302"/>
          <p:cNvPicPr>
            <a:picLocks noChangeAspect="1" noChangeArrowheads="1"/>
          </p:cNvPicPr>
          <p:nvPr/>
        </p:nvPicPr>
        <p:blipFill>
          <a:blip r:embed="rId5" cstate="print"/>
          <a:srcRect/>
          <a:stretch>
            <a:fillRect/>
          </a:stretch>
        </p:blipFill>
        <p:spPr bwMode="auto">
          <a:xfrm flipH="1">
            <a:off x="5334000" y="5232407"/>
            <a:ext cx="990600" cy="844550"/>
          </a:xfrm>
          <a:prstGeom prst="rect">
            <a:avLst/>
          </a:prstGeom>
          <a:noFill/>
          <a:ln w="9525">
            <a:noFill/>
            <a:miter lim="800000"/>
            <a:headEnd/>
            <a:tailEnd/>
          </a:ln>
        </p:spPr>
      </p:pic>
      <p:sp>
        <p:nvSpPr>
          <p:cNvPr id="1048930" name="Text Box 225"/>
          <p:cNvSpPr txBox="1">
            <a:spLocks noChangeArrowheads="1"/>
          </p:cNvSpPr>
          <p:nvPr/>
        </p:nvSpPr>
        <p:spPr bwMode="auto">
          <a:xfrm>
            <a:off x="6019800" y="2971800"/>
            <a:ext cx="1028571" cy="815339"/>
          </a:xfrm>
          <a:prstGeom prst="rect">
            <a:avLst/>
          </a:prstGeom>
          <a:noFill/>
          <a:ln w="9525">
            <a:noFill/>
            <a:miter lim="800000"/>
          </a:ln>
        </p:spPr>
        <p:txBody>
          <a:bodyPr wrap="none">
            <a:spAutoFit/>
          </a:bodyPr>
          <a:lstStyle/>
          <a:p>
            <a:r>
              <a:rPr lang="en-US" sz="1400" i="1"/>
              <a:t>Secretary:</a:t>
            </a:r>
            <a:br>
              <a:rPr lang="en-US" sz="1400"/>
            </a:br>
            <a:r>
              <a:rPr lang="en-US" sz="1400"/>
              <a:t>reads and reports</a:t>
            </a:r>
            <a:br>
              <a:rPr lang="en-US" sz="1400"/>
            </a:br>
            <a:r>
              <a:rPr lang="en-US" sz="1400"/>
              <a:t>the message</a:t>
            </a:r>
          </a:p>
        </p:txBody>
      </p:sp>
      <p:sp>
        <p:nvSpPr>
          <p:cNvPr id="1048931" name="Text Box 226"/>
          <p:cNvSpPr txBox="1">
            <a:spLocks noChangeArrowheads="1"/>
          </p:cNvSpPr>
          <p:nvPr/>
        </p:nvSpPr>
        <p:spPr bwMode="auto">
          <a:xfrm>
            <a:off x="5791200" y="4159250"/>
            <a:ext cx="1229737" cy="574039"/>
          </a:xfrm>
          <a:prstGeom prst="rect">
            <a:avLst/>
          </a:prstGeom>
          <a:noFill/>
          <a:ln w="9525">
            <a:noFill/>
            <a:miter lim="800000"/>
          </a:ln>
        </p:spPr>
        <p:txBody>
          <a:bodyPr wrap="none">
            <a:spAutoFit/>
          </a:bodyPr>
          <a:lstStyle/>
          <a:p>
            <a:r>
              <a:rPr lang="en-US" sz="1400" i="1"/>
              <a:t>Delivery boy:</a:t>
            </a:r>
            <a:br>
              <a:rPr lang="en-US" sz="1400"/>
            </a:br>
            <a:r>
              <a:rPr lang="en-US" sz="1400"/>
              <a:t>takes the letter</a:t>
            </a:r>
          </a:p>
        </p:txBody>
      </p:sp>
      <p:grpSp>
        <p:nvGrpSpPr>
          <p:cNvPr id="149" name="Group 319"/>
          <p:cNvGrpSpPr/>
          <p:nvPr/>
        </p:nvGrpSpPr>
        <p:grpSpPr bwMode="auto">
          <a:xfrm>
            <a:off x="7086600" y="3962400"/>
            <a:ext cx="1295400" cy="914400"/>
            <a:chOff x="4704" y="2688"/>
            <a:chExt cx="816" cy="576"/>
          </a:xfrm>
        </p:grpSpPr>
        <p:pic>
          <p:nvPicPr>
            <p:cNvPr id="2097176" name="Picture 13" descr="j0290531"/>
            <p:cNvPicPr>
              <a:picLocks noChangeAspect="1" noChangeArrowheads="1"/>
            </p:cNvPicPr>
            <p:nvPr/>
          </p:nvPicPr>
          <p:blipFill>
            <a:blip r:embed="rId6" cstate="print"/>
            <a:srcRect/>
            <a:stretch>
              <a:fillRect/>
            </a:stretch>
          </p:blipFill>
          <p:spPr bwMode="auto">
            <a:xfrm flipH="1">
              <a:off x="4704" y="2688"/>
              <a:ext cx="432" cy="528"/>
            </a:xfrm>
            <a:prstGeom prst="rect">
              <a:avLst/>
            </a:prstGeom>
            <a:noFill/>
            <a:ln w="9525">
              <a:noFill/>
              <a:miter lim="800000"/>
              <a:headEnd/>
              <a:tailEnd/>
            </a:ln>
          </p:spPr>
        </p:pic>
        <p:grpSp>
          <p:nvGrpSpPr>
            <p:cNvPr id="150" name="Group 228"/>
            <p:cNvGrpSpPr/>
            <p:nvPr/>
          </p:nvGrpSpPr>
          <p:grpSpPr bwMode="auto">
            <a:xfrm>
              <a:off x="5136" y="2736"/>
              <a:ext cx="384" cy="528"/>
              <a:chOff x="1536" y="1920"/>
              <a:chExt cx="1329" cy="1081"/>
            </a:xfrm>
          </p:grpSpPr>
          <p:sp>
            <p:nvSpPr>
              <p:cNvPr id="1048932" name="AutoShape 229"/>
              <p:cNvSpPr>
                <a:spLocks noChangeAspect="1" noChangeArrowheads="1" noTextEdit="1"/>
              </p:cNvSpPr>
              <p:nvPr/>
            </p:nvSpPr>
            <p:spPr bwMode="auto">
              <a:xfrm>
                <a:off x="1536" y="1920"/>
                <a:ext cx="1329" cy="1081"/>
              </a:xfrm>
              <a:prstGeom prst="rect">
                <a:avLst/>
              </a:prstGeom>
              <a:noFill/>
              <a:ln w="9525">
                <a:noFill/>
                <a:miter lim="800000"/>
              </a:ln>
            </p:spPr>
            <p:txBody>
              <a:bodyPr/>
              <a:lstStyle/>
              <a:p>
                <a:endParaRPr lang="en-US"/>
              </a:p>
            </p:txBody>
          </p:sp>
          <p:sp>
            <p:nvSpPr>
              <p:cNvPr id="1048933" name="Freeform 230"/>
              <p:cNvSpPr/>
              <p:nvPr/>
            </p:nvSpPr>
            <p:spPr bwMode="auto">
              <a:xfrm>
                <a:off x="2597" y="2119"/>
                <a:ext cx="203" cy="91"/>
              </a:xfrm>
              <a:custGeom>
                <a:avLst/>
                <a:gdLst>
                  <a:gd name="T0" fmla="*/ 52 w 407"/>
                  <a:gd name="T1" fmla="*/ 88 h 183"/>
                  <a:gd name="T2" fmla="*/ 61 w 407"/>
                  <a:gd name="T3" fmla="*/ 89 h 183"/>
                  <a:gd name="T4" fmla="*/ 71 w 407"/>
                  <a:gd name="T5" fmla="*/ 89 h 183"/>
                  <a:gd name="T6" fmla="*/ 84 w 407"/>
                  <a:gd name="T7" fmla="*/ 90 h 183"/>
                  <a:gd name="T8" fmla="*/ 98 w 407"/>
                  <a:gd name="T9" fmla="*/ 91 h 183"/>
                  <a:gd name="T10" fmla="*/ 110 w 407"/>
                  <a:gd name="T11" fmla="*/ 91 h 183"/>
                  <a:gd name="T12" fmla="*/ 122 w 407"/>
                  <a:gd name="T13" fmla="*/ 90 h 183"/>
                  <a:gd name="T14" fmla="*/ 131 w 407"/>
                  <a:gd name="T15" fmla="*/ 89 h 183"/>
                  <a:gd name="T16" fmla="*/ 137 w 407"/>
                  <a:gd name="T17" fmla="*/ 86 h 183"/>
                  <a:gd name="T18" fmla="*/ 134 w 407"/>
                  <a:gd name="T19" fmla="*/ 78 h 183"/>
                  <a:gd name="T20" fmla="*/ 127 w 407"/>
                  <a:gd name="T21" fmla="*/ 68 h 183"/>
                  <a:gd name="T22" fmla="*/ 122 w 407"/>
                  <a:gd name="T23" fmla="*/ 60 h 183"/>
                  <a:gd name="T24" fmla="*/ 120 w 407"/>
                  <a:gd name="T25" fmla="*/ 52 h 183"/>
                  <a:gd name="T26" fmla="*/ 118 w 407"/>
                  <a:gd name="T27" fmla="*/ 47 h 183"/>
                  <a:gd name="T28" fmla="*/ 122 w 407"/>
                  <a:gd name="T29" fmla="*/ 47 h 183"/>
                  <a:gd name="T30" fmla="*/ 131 w 407"/>
                  <a:gd name="T31" fmla="*/ 47 h 183"/>
                  <a:gd name="T32" fmla="*/ 142 w 407"/>
                  <a:gd name="T33" fmla="*/ 48 h 183"/>
                  <a:gd name="T34" fmla="*/ 156 w 407"/>
                  <a:gd name="T35" fmla="*/ 49 h 183"/>
                  <a:gd name="T36" fmla="*/ 169 w 407"/>
                  <a:gd name="T37" fmla="*/ 50 h 183"/>
                  <a:gd name="T38" fmla="*/ 181 w 407"/>
                  <a:gd name="T39" fmla="*/ 50 h 183"/>
                  <a:gd name="T40" fmla="*/ 192 w 407"/>
                  <a:gd name="T41" fmla="*/ 50 h 183"/>
                  <a:gd name="T42" fmla="*/ 201 w 407"/>
                  <a:gd name="T43" fmla="*/ 47 h 183"/>
                  <a:gd name="T44" fmla="*/ 198 w 407"/>
                  <a:gd name="T45" fmla="*/ 39 h 183"/>
                  <a:gd name="T46" fmla="*/ 189 w 407"/>
                  <a:gd name="T47" fmla="*/ 33 h 183"/>
                  <a:gd name="T48" fmla="*/ 178 w 407"/>
                  <a:gd name="T49" fmla="*/ 27 h 183"/>
                  <a:gd name="T50" fmla="*/ 167 w 407"/>
                  <a:gd name="T51" fmla="*/ 21 h 183"/>
                  <a:gd name="T52" fmla="*/ 155 w 407"/>
                  <a:gd name="T53" fmla="*/ 15 h 183"/>
                  <a:gd name="T54" fmla="*/ 142 w 407"/>
                  <a:gd name="T55" fmla="*/ 10 h 183"/>
                  <a:gd name="T56" fmla="*/ 130 w 407"/>
                  <a:gd name="T57" fmla="*/ 7 h 183"/>
                  <a:gd name="T58" fmla="*/ 118 w 407"/>
                  <a:gd name="T59" fmla="*/ 3 h 183"/>
                  <a:gd name="T60" fmla="*/ 107 w 407"/>
                  <a:gd name="T61" fmla="*/ 2 h 183"/>
                  <a:gd name="T62" fmla="*/ 96 w 407"/>
                  <a:gd name="T63" fmla="*/ 0 h 183"/>
                  <a:gd name="T64" fmla="*/ 88 w 407"/>
                  <a:gd name="T65" fmla="*/ 1 h 183"/>
                  <a:gd name="T66" fmla="*/ 80 w 407"/>
                  <a:gd name="T67" fmla="*/ 2 h 183"/>
                  <a:gd name="T68" fmla="*/ 74 w 407"/>
                  <a:gd name="T69" fmla="*/ 6 h 183"/>
                  <a:gd name="T70" fmla="*/ 64 w 407"/>
                  <a:gd name="T71" fmla="*/ 9 h 183"/>
                  <a:gd name="T72" fmla="*/ 54 w 407"/>
                  <a:gd name="T73" fmla="*/ 13 h 183"/>
                  <a:gd name="T74" fmla="*/ 43 w 407"/>
                  <a:gd name="T75" fmla="*/ 19 h 183"/>
                  <a:gd name="T76" fmla="*/ 33 w 407"/>
                  <a:gd name="T77" fmla="*/ 25 h 183"/>
                  <a:gd name="T78" fmla="*/ 22 w 407"/>
                  <a:gd name="T79" fmla="*/ 29 h 183"/>
                  <a:gd name="T80" fmla="*/ 14 w 407"/>
                  <a:gd name="T81" fmla="*/ 34 h 183"/>
                  <a:gd name="T82" fmla="*/ 4 w 407"/>
                  <a:gd name="T83" fmla="*/ 38 h 183"/>
                  <a:gd name="T84" fmla="*/ 0 w 407"/>
                  <a:gd name="T85" fmla="*/ 42 h 183"/>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407"/>
                  <a:gd name="T130" fmla="*/ 0 h 183"/>
                  <a:gd name="T131" fmla="*/ 407 w 407"/>
                  <a:gd name="T132" fmla="*/ 183 h 183"/>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407" h="183">
                    <a:moveTo>
                      <a:pt x="97" y="177"/>
                    </a:moveTo>
                    <a:lnTo>
                      <a:pt x="99" y="177"/>
                    </a:lnTo>
                    <a:lnTo>
                      <a:pt x="104" y="177"/>
                    </a:lnTo>
                    <a:lnTo>
                      <a:pt x="108" y="177"/>
                    </a:lnTo>
                    <a:lnTo>
                      <a:pt x="116" y="177"/>
                    </a:lnTo>
                    <a:lnTo>
                      <a:pt x="122" y="179"/>
                    </a:lnTo>
                    <a:lnTo>
                      <a:pt x="129" y="179"/>
                    </a:lnTo>
                    <a:lnTo>
                      <a:pt x="135" y="179"/>
                    </a:lnTo>
                    <a:lnTo>
                      <a:pt x="142" y="179"/>
                    </a:lnTo>
                    <a:lnTo>
                      <a:pt x="152" y="181"/>
                    </a:lnTo>
                    <a:lnTo>
                      <a:pt x="160" y="181"/>
                    </a:lnTo>
                    <a:lnTo>
                      <a:pt x="169" y="181"/>
                    </a:lnTo>
                    <a:lnTo>
                      <a:pt x="179" y="181"/>
                    </a:lnTo>
                    <a:lnTo>
                      <a:pt x="186" y="183"/>
                    </a:lnTo>
                    <a:lnTo>
                      <a:pt x="196" y="183"/>
                    </a:lnTo>
                    <a:lnTo>
                      <a:pt x="205" y="183"/>
                    </a:lnTo>
                    <a:lnTo>
                      <a:pt x="213" y="183"/>
                    </a:lnTo>
                    <a:lnTo>
                      <a:pt x="220" y="183"/>
                    </a:lnTo>
                    <a:lnTo>
                      <a:pt x="230" y="183"/>
                    </a:lnTo>
                    <a:lnTo>
                      <a:pt x="237" y="181"/>
                    </a:lnTo>
                    <a:lnTo>
                      <a:pt x="245" y="181"/>
                    </a:lnTo>
                    <a:lnTo>
                      <a:pt x="251" y="181"/>
                    </a:lnTo>
                    <a:lnTo>
                      <a:pt x="258" y="181"/>
                    </a:lnTo>
                    <a:lnTo>
                      <a:pt x="262" y="179"/>
                    </a:lnTo>
                    <a:lnTo>
                      <a:pt x="268" y="177"/>
                    </a:lnTo>
                    <a:lnTo>
                      <a:pt x="270" y="175"/>
                    </a:lnTo>
                    <a:lnTo>
                      <a:pt x="274" y="173"/>
                    </a:lnTo>
                    <a:lnTo>
                      <a:pt x="276" y="170"/>
                    </a:lnTo>
                    <a:lnTo>
                      <a:pt x="274" y="164"/>
                    </a:lnTo>
                    <a:lnTo>
                      <a:pt x="268" y="156"/>
                    </a:lnTo>
                    <a:lnTo>
                      <a:pt x="262" y="151"/>
                    </a:lnTo>
                    <a:lnTo>
                      <a:pt x="257" y="143"/>
                    </a:lnTo>
                    <a:lnTo>
                      <a:pt x="255" y="137"/>
                    </a:lnTo>
                    <a:lnTo>
                      <a:pt x="251" y="132"/>
                    </a:lnTo>
                    <a:lnTo>
                      <a:pt x="247" y="124"/>
                    </a:lnTo>
                    <a:lnTo>
                      <a:pt x="245" y="120"/>
                    </a:lnTo>
                    <a:lnTo>
                      <a:pt x="243" y="115"/>
                    </a:lnTo>
                    <a:lnTo>
                      <a:pt x="241" y="109"/>
                    </a:lnTo>
                    <a:lnTo>
                      <a:pt x="241" y="105"/>
                    </a:lnTo>
                    <a:lnTo>
                      <a:pt x="239" y="101"/>
                    </a:lnTo>
                    <a:lnTo>
                      <a:pt x="239" y="97"/>
                    </a:lnTo>
                    <a:lnTo>
                      <a:pt x="237" y="94"/>
                    </a:lnTo>
                    <a:lnTo>
                      <a:pt x="239" y="94"/>
                    </a:lnTo>
                    <a:lnTo>
                      <a:pt x="245" y="94"/>
                    </a:lnTo>
                    <a:lnTo>
                      <a:pt x="249" y="94"/>
                    </a:lnTo>
                    <a:lnTo>
                      <a:pt x="257" y="95"/>
                    </a:lnTo>
                    <a:lnTo>
                      <a:pt x="262" y="95"/>
                    </a:lnTo>
                    <a:lnTo>
                      <a:pt x="270" y="97"/>
                    </a:lnTo>
                    <a:lnTo>
                      <a:pt x="277" y="97"/>
                    </a:lnTo>
                    <a:lnTo>
                      <a:pt x="285" y="97"/>
                    </a:lnTo>
                    <a:lnTo>
                      <a:pt x="295" y="97"/>
                    </a:lnTo>
                    <a:lnTo>
                      <a:pt x="302" y="99"/>
                    </a:lnTo>
                    <a:lnTo>
                      <a:pt x="312" y="99"/>
                    </a:lnTo>
                    <a:lnTo>
                      <a:pt x="319" y="101"/>
                    </a:lnTo>
                    <a:lnTo>
                      <a:pt x="329" y="101"/>
                    </a:lnTo>
                    <a:lnTo>
                      <a:pt x="338" y="101"/>
                    </a:lnTo>
                    <a:lnTo>
                      <a:pt x="348" y="101"/>
                    </a:lnTo>
                    <a:lnTo>
                      <a:pt x="355" y="101"/>
                    </a:lnTo>
                    <a:lnTo>
                      <a:pt x="363" y="101"/>
                    </a:lnTo>
                    <a:lnTo>
                      <a:pt x="372" y="101"/>
                    </a:lnTo>
                    <a:lnTo>
                      <a:pt x="378" y="101"/>
                    </a:lnTo>
                    <a:lnTo>
                      <a:pt x="384" y="101"/>
                    </a:lnTo>
                    <a:lnTo>
                      <a:pt x="390" y="99"/>
                    </a:lnTo>
                    <a:lnTo>
                      <a:pt x="397" y="99"/>
                    </a:lnTo>
                    <a:lnTo>
                      <a:pt x="403" y="95"/>
                    </a:lnTo>
                    <a:lnTo>
                      <a:pt x="407" y="92"/>
                    </a:lnTo>
                    <a:lnTo>
                      <a:pt x="403" y="86"/>
                    </a:lnTo>
                    <a:lnTo>
                      <a:pt x="397" y="78"/>
                    </a:lnTo>
                    <a:lnTo>
                      <a:pt x="392" y="75"/>
                    </a:lnTo>
                    <a:lnTo>
                      <a:pt x="384" y="71"/>
                    </a:lnTo>
                    <a:lnTo>
                      <a:pt x="378" y="67"/>
                    </a:lnTo>
                    <a:lnTo>
                      <a:pt x="372" y="63"/>
                    </a:lnTo>
                    <a:lnTo>
                      <a:pt x="365" y="57"/>
                    </a:lnTo>
                    <a:lnTo>
                      <a:pt x="357" y="54"/>
                    </a:lnTo>
                    <a:lnTo>
                      <a:pt x="350" y="50"/>
                    </a:lnTo>
                    <a:lnTo>
                      <a:pt x="342" y="46"/>
                    </a:lnTo>
                    <a:lnTo>
                      <a:pt x="334" y="42"/>
                    </a:lnTo>
                    <a:lnTo>
                      <a:pt x="325" y="38"/>
                    </a:lnTo>
                    <a:lnTo>
                      <a:pt x="317" y="35"/>
                    </a:lnTo>
                    <a:lnTo>
                      <a:pt x="310" y="31"/>
                    </a:lnTo>
                    <a:lnTo>
                      <a:pt x="302" y="27"/>
                    </a:lnTo>
                    <a:lnTo>
                      <a:pt x="295" y="25"/>
                    </a:lnTo>
                    <a:lnTo>
                      <a:pt x="285" y="21"/>
                    </a:lnTo>
                    <a:lnTo>
                      <a:pt x="277" y="19"/>
                    </a:lnTo>
                    <a:lnTo>
                      <a:pt x="268" y="16"/>
                    </a:lnTo>
                    <a:lnTo>
                      <a:pt x="260" y="14"/>
                    </a:lnTo>
                    <a:lnTo>
                      <a:pt x="251" y="12"/>
                    </a:lnTo>
                    <a:lnTo>
                      <a:pt x="243" y="10"/>
                    </a:lnTo>
                    <a:lnTo>
                      <a:pt x="236" y="6"/>
                    </a:lnTo>
                    <a:lnTo>
                      <a:pt x="228" y="6"/>
                    </a:lnTo>
                    <a:lnTo>
                      <a:pt x="220" y="4"/>
                    </a:lnTo>
                    <a:lnTo>
                      <a:pt x="215" y="4"/>
                    </a:lnTo>
                    <a:lnTo>
                      <a:pt x="205" y="2"/>
                    </a:lnTo>
                    <a:lnTo>
                      <a:pt x="199" y="0"/>
                    </a:lnTo>
                    <a:lnTo>
                      <a:pt x="192" y="0"/>
                    </a:lnTo>
                    <a:lnTo>
                      <a:pt x="186" y="0"/>
                    </a:lnTo>
                    <a:lnTo>
                      <a:pt x="182" y="0"/>
                    </a:lnTo>
                    <a:lnTo>
                      <a:pt x="177" y="2"/>
                    </a:lnTo>
                    <a:lnTo>
                      <a:pt x="171" y="2"/>
                    </a:lnTo>
                    <a:lnTo>
                      <a:pt x="167" y="4"/>
                    </a:lnTo>
                    <a:lnTo>
                      <a:pt x="161" y="4"/>
                    </a:lnTo>
                    <a:lnTo>
                      <a:pt x="158" y="6"/>
                    </a:lnTo>
                    <a:lnTo>
                      <a:pt x="152" y="8"/>
                    </a:lnTo>
                    <a:lnTo>
                      <a:pt x="148" y="12"/>
                    </a:lnTo>
                    <a:lnTo>
                      <a:pt x="141" y="14"/>
                    </a:lnTo>
                    <a:lnTo>
                      <a:pt x="135" y="16"/>
                    </a:lnTo>
                    <a:lnTo>
                      <a:pt x="129" y="18"/>
                    </a:lnTo>
                    <a:lnTo>
                      <a:pt x="123" y="21"/>
                    </a:lnTo>
                    <a:lnTo>
                      <a:pt x="116" y="25"/>
                    </a:lnTo>
                    <a:lnTo>
                      <a:pt x="108" y="27"/>
                    </a:lnTo>
                    <a:lnTo>
                      <a:pt x="101" y="31"/>
                    </a:lnTo>
                    <a:lnTo>
                      <a:pt x="95" y="35"/>
                    </a:lnTo>
                    <a:lnTo>
                      <a:pt x="87" y="38"/>
                    </a:lnTo>
                    <a:lnTo>
                      <a:pt x="80" y="42"/>
                    </a:lnTo>
                    <a:lnTo>
                      <a:pt x="74" y="44"/>
                    </a:lnTo>
                    <a:lnTo>
                      <a:pt x="66" y="50"/>
                    </a:lnTo>
                    <a:lnTo>
                      <a:pt x="59" y="52"/>
                    </a:lnTo>
                    <a:lnTo>
                      <a:pt x="53" y="56"/>
                    </a:lnTo>
                    <a:lnTo>
                      <a:pt x="45" y="59"/>
                    </a:lnTo>
                    <a:lnTo>
                      <a:pt x="40" y="63"/>
                    </a:lnTo>
                    <a:lnTo>
                      <a:pt x="34" y="65"/>
                    </a:lnTo>
                    <a:lnTo>
                      <a:pt x="28" y="69"/>
                    </a:lnTo>
                    <a:lnTo>
                      <a:pt x="23" y="71"/>
                    </a:lnTo>
                    <a:lnTo>
                      <a:pt x="19" y="73"/>
                    </a:lnTo>
                    <a:lnTo>
                      <a:pt x="9" y="76"/>
                    </a:lnTo>
                    <a:lnTo>
                      <a:pt x="4" y="80"/>
                    </a:lnTo>
                    <a:lnTo>
                      <a:pt x="0" y="82"/>
                    </a:lnTo>
                    <a:lnTo>
                      <a:pt x="0" y="84"/>
                    </a:lnTo>
                    <a:lnTo>
                      <a:pt x="97" y="177"/>
                    </a:lnTo>
                    <a:close/>
                  </a:path>
                </a:pathLst>
              </a:custGeom>
              <a:solidFill>
                <a:srgbClr val="FAC9B0"/>
              </a:solidFill>
              <a:ln w="9525">
                <a:noFill/>
                <a:round/>
              </a:ln>
            </p:spPr>
            <p:txBody>
              <a:bodyPr/>
              <a:lstStyle/>
              <a:p>
                <a:endParaRPr lang="en-US"/>
              </a:p>
            </p:txBody>
          </p:sp>
          <p:sp>
            <p:nvSpPr>
              <p:cNvPr id="1048934" name="Freeform 231"/>
              <p:cNvSpPr/>
              <p:nvPr/>
            </p:nvSpPr>
            <p:spPr bwMode="auto">
              <a:xfrm>
                <a:off x="2621" y="2784"/>
                <a:ext cx="170" cy="78"/>
              </a:xfrm>
              <a:custGeom>
                <a:avLst/>
                <a:gdLst>
                  <a:gd name="T0" fmla="*/ 0 w 341"/>
                  <a:gd name="T1" fmla="*/ 14 h 156"/>
                  <a:gd name="T2" fmla="*/ 0 w 341"/>
                  <a:gd name="T3" fmla="*/ 78 h 156"/>
                  <a:gd name="T4" fmla="*/ 170 w 341"/>
                  <a:gd name="T5" fmla="*/ 45 h 156"/>
                  <a:gd name="T6" fmla="*/ 169 w 341"/>
                  <a:gd name="T7" fmla="*/ 44 h 156"/>
                  <a:gd name="T8" fmla="*/ 168 w 341"/>
                  <a:gd name="T9" fmla="*/ 43 h 156"/>
                  <a:gd name="T10" fmla="*/ 165 w 341"/>
                  <a:gd name="T11" fmla="*/ 41 h 156"/>
                  <a:gd name="T12" fmla="*/ 163 w 341"/>
                  <a:gd name="T13" fmla="*/ 39 h 156"/>
                  <a:gd name="T14" fmla="*/ 159 w 341"/>
                  <a:gd name="T15" fmla="*/ 35 h 156"/>
                  <a:gd name="T16" fmla="*/ 154 w 341"/>
                  <a:gd name="T17" fmla="*/ 31 h 156"/>
                  <a:gd name="T18" fmla="*/ 152 w 341"/>
                  <a:gd name="T19" fmla="*/ 29 h 156"/>
                  <a:gd name="T20" fmla="*/ 149 w 341"/>
                  <a:gd name="T21" fmla="*/ 28 h 156"/>
                  <a:gd name="T22" fmla="*/ 146 w 341"/>
                  <a:gd name="T23" fmla="*/ 26 h 156"/>
                  <a:gd name="T24" fmla="*/ 143 w 341"/>
                  <a:gd name="T25" fmla="*/ 24 h 156"/>
                  <a:gd name="T26" fmla="*/ 140 w 341"/>
                  <a:gd name="T27" fmla="*/ 21 h 156"/>
                  <a:gd name="T28" fmla="*/ 137 w 341"/>
                  <a:gd name="T29" fmla="*/ 19 h 156"/>
                  <a:gd name="T30" fmla="*/ 134 w 341"/>
                  <a:gd name="T31" fmla="*/ 18 h 156"/>
                  <a:gd name="T32" fmla="*/ 130 w 341"/>
                  <a:gd name="T33" fmla="*/ 15 h 156"/>
                  <a:gd name="T34" fmla="*/ 126 w 341"/>
                  <a:gd name="T35" fmla="*/ 13 h 156"/>
                  <a:gd name="T36" fmla="*/ 124 w 341"/>
                  <a:gd name="T37" fmla="*/ 11 h 156"/>
                  <a:gd name="T38" fmla="*/ 120 w 341"/>
                  <a:gd name="T39" fmla="*/ 10 h 156"/>
                  <a:gd name="T40" fmla="*/ 116 w 341"/>
                  <a:gd name="T41" fmla="*/ 9 h 156"/>
                  <a:gd name="T42" fmla="*/ 111 w 341"/>
                  <a:gd name="T43" fmla="*/ 7 h 156"/>
                  <a:gd name="T44" fmla="*/ 108 w 341"/>
                  <a:gd name="T45" fmla="*/ 5 h 156"/>
                  <a:gd name="T46" fmla="*/ 104 w 341"/>
                  <a:gd name="T47" fmla="*/ 4 h 156"/>
                  <a:gd name="T48" fmla="*/ 100 w 341"/>
                  <a:gd name="T49" fmla="*/ 3 h 156"/>
                  <a:gd name="T50" fmla="*/ 96 w 341"/>
                  <a:gd name="T51" fmla="*/ 2 h 156"/>
                  <a:gd name="T52" fmla="*/ 92 w 341"/>
                  <a:gd name="T53" fmla="*/ 1 h 156"/>
                  <a:gd name="T54" fmla="*/ 87 w 341"/>
                  <a:gd name="T55" fmla="*/ 1 h 156"/>
                  <a:gd name="T56" fmla="*/ 84 w 341"/>
                  <a:gd name="T57" fmla="*/ 1 h 156"/>
                  <a:gd name="T58" fmla="*/ 80 w 341"/>
                  <a:gd name="T59" fmla="*/ 0 h 156"/>
                  <a:gd name="T60" fmla="*/ 76 w 341"/>
                  <a:gd name="T61" fmla="*/ 0 h 156"/>
                  <a:gd name="T62" fmla="*/ 71 w 341"/>
                  <a:gd name="T63" fmla="*/ 0 h 156"/>
                  <a:gd name="T64" fmla="*/ 67 w 341"/>
                  <a:gd name="T65" fmla="*/ 0 h 156"/>
                  <a:gd name="T66" fmla="*/ 64 w 341"/>
                  <a:gd name="T67" fmla="*/ 0 h 156"/>
                  <a:gd name="T68" fmla="*/ 59 w 341"/>
                  <a:gd name="T69" fmla="*/ 0 h 156"/>
                  <a:gd name="T70" fmla="*/ 56 w 341"/>
                  <a:gd name="T71" fmla="*/ 1 h 156"/>
                  <a:gd name="T72" fmla="*/ 52 w 341"/>
                  <a:gd name="T73" fmla="*/ 1 h 156"/>
                  <a:gd name="T74" fmla="*/ 47 w 341"/>
                  <a:gd name="T75" fmla="*/ 1 h 156"/>
                  <a:gd name="T76" fmla="*/ 45 w 341"/>
                  <a:gd name="T77" fmla="*/ 2 h 156"/>
                  <a:gd name="T78" fmla="*/ 41 w 341"/>
                  <a:gd name="T79" fmla="*/ 3 h 156"/>
                  <a:gd name="T80" fmla="*/ 38 w 341"/>
                  <a:gd name="T81" fmla="*/ 4 h 156"/>
                  <a:gd name="T82" fmla="*/ 34 w 341"/>
                  <a:gd name="T83" fmla="*/ 4 h 156"/>
                  <a:gd name="T84" fmla="*/ 30 w 341"/>
                  <a:gd name="T85" fmla="*/ 5 h 156"/>
                  <a:gd name="T86" fmla="*/ 28 w 341"/>
                  <a:gd name="T87" fmla="*/ 6 h 156"/>
                  <a:gd name="T88" fmla="*/ 26 w 341"/>
                  <a:gd name="T89" fmla="*/ 7 h 156"/>
                  <a:gd name="T90" fmla="*/ 22 w 341"/>
                  <a:gd name="T91" fmla="*/ 7 h 156"/>
                  <a:gd name="T92" fmla="*/ 19 w 341"/>
                  <a:gd name="T93" fmla="*/ 8 h 156"/>
                  <a:gd name="T94" fmla="*/ 16 w 341"/>
                  <a:gd name="T95" fmla="*/ 8 h 156"/>
                  <a:gd name="T96" fmla="*/ 14 w 341"/>
                  <a:gd name="T97" fmla="*/ 9 h 156"/>
                  <a:gd name="T98" fmla="*/ 10 w 341"/>
                  <a:gd name="T99" fmla="*/ 10 h 156"/>
                  <a:gd name="T100" fmla="*/ 7 w 341"/>
                  <a:gd name="T101" fmla="*/ 11 h 156"/>
                  <a:gd name="T102" fmla="*/ 3 w 341"/>
                  <a:gd name="T103" fmla="*/ 12 h 156"/>
                  <a:gd name="T104" fmla="*/ 2 w 341"/>
                  <a:gd name="T105" fmla="*/ 13 h 156"/>
                  <a:gd name="T106" fmla="*/ 0 w 341"/>
                  <a:gd name="T107" fmla="*/ 14 h 156"/>
                  <a:gd name="T108" fmla="*/ 0 w 341"/>
                  <a:gd name="T109" fmla="*/ 14 h 156"/>
                  <a:gd name="T110" fmla="*/ 0 w 341"/>
                  <a:gd name="T111" fmla="*/ 14 h 15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w 341"/>
                  <a:gd name="T169" fmla="*/ 0 h 156"/>
                  <a:gd name="T170" fmla="*/ 341 w 341"/>
                  <a:gd name="T171" fmla="*/ 156 h 156"/>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T168" t="T169" r="T170" b="T171"/>
                <a:pathLst>
                  <a:path w="341" h="156">
                    <a:moveTo>
                      <a:pt x="0" y="29"/>
                    </a:moveTo>
                    <a:lnTo>
                      <a:pt x="0" y="156"/>
                    </a:lnTo>
                    <a:lnTo>
                      <a:pt x="341" y="90"/>
                    </a:lnTo>
                    <a:lnTo>
                      <a:pt x="339" y="88"/>
                    </a:lnTo>
                    <a:lnTo>
                      <a:pt x="337" y="86"/>
                    </a:lnTo>
                    <a:lnTo>
                      <a:pt x="331" y="82"/>
                    </a:lnTo>
                    <a:lnTo>
                      <a:pt x="327" y="77"/>
                    </a:lnTo>
                    <a:lnTo>
                      <a:pt x="318" y="69"/>
                    </a:lnTo>
                    <a:lnTo>
                      <a:pt x="308" y="63"/>
                    </a:lnTo>
                    <a:lnTo>
                      <a:pt x="305" y="59"/>
                    </a:lnTo>
                    <a:lnTo>
                      <a:pt x="299" y="56"/>
                    </a:lnTo>
                    <a:lnTo>
                      <a:pt x="293" y="52"/>
                    </a:lnTo>
                    <a:lnTo>
                      <a:pt x="287" y="48"/>
                    </a:lnTo>
                    <a:lnTo>
                      <a:pt x="280" y="42"/>
                    </a:lnTo>
                    <a:lnTo>
                      <a:pt x="274" y="38"/>
                    </a:lnTo>
                    <a:lnTo>
                      <a:pt x="268" y="35"/>
                    </a:lnTo>
                    <a:lnTo>
                      <a:pt x="261" y="31"/>
                    </a:lnTo>
                    <a:lnTo>
                      <a:pt x="253" y="27"/>
                    </a:lnTo>
                    <a:lnTo>
                      <a:pt x="248" y="23"/>
                    </a:lnTo>
                    <a:lnTo>
                      <a:pt x="240" y="19"/>
                    </a:lnTo>
                    <a:lnTo>
                      <a:pt x="232" y="18"/>
                    </a:lnTo>
                    <a:lnTo>
                      <a:pt x="223" y="14"/>
                    </a:lnTo>
                    <a:lnTo>
                      <a:pt x="217" y="10"/>
                    </a:lnTo>
                    <a:lnTo>
                      <a:pt x="208" y="8"/>
                    </a:lnTo>
                    <a:lnTo>
                      <a:pt x="200" y="6"/>
                    </a:lnTo>
                    <a:lnTo>
                      <a:pt x="192" y="4"/>
                    </a:lnTo>
                    <a:lnTo>
                      <a:pt x="185" y="2"/>
                    </a:lnTo>
                    <a:lnTo>
                      <a:pt x="175" y="2"/>
                    </a:lnTo>
                    <a:lnTo>
                      <a:pt x="168" y="2"/>
                    </a:lnTo>
                    <a:lnTo>
                      <a:pt x="160" y="0"/>
                    </a:lnTo>
                    <a:lnTo>
                      <a:pt x="152" y="0"/>
                    </a:lnTo>
                    <a:lnTo>
                      <a:pt x="143" y="0"/>
                    </a:lnTo>
                    <a:lnTo>
                      <a:pt x="135" y="0"/>
                    </a:lnTo>
                    <a:lnTo>
                      <a:pt x="128" y="0"/>
                    </a:lnTo>
                    <a:lnTo>
                      <a:pt x="118" y="0"/>
                    </a:lnTo>
                    <a:lnTo>
                      <a:pt x="113" y="2"/>
                    </a:lnTo>
                    <a:lnTo>
                      <a:pt x="105" y="2"/>
                    </a:lnTo>
                    <a:lnTo>
                      <a:pt x="95" y="2"/>
                    </a:lnTo>
                    <a:lnTo>
                      <a:pt x="90" y="4"/>
                    </a:lnTo>
                    <a:lnTo>
                      <a:pt x="82" y="6"/>
                    </a:lnTo>
                    <a:lnTo>
                      <a:pt x="76" y="8"/>
                    </a:lnTo>
                    <a:lnTo>
                      <a:pt x="69" y="8"/>
                    </a:lnTo>
                    <a:lnTo>
                      <a:pt x="61" y="10"/>
                    </a:lnTo>
                    <a:lnTo>
                      <a:pt x="57" y="12"/>
                    </a:lnTo>
                    <a:lnTo>
                      <a:pt x="52" y="14"/>
                    </a:lnTo>
                    <a:lnTo>
                      <a:pt x="44" y="14"/>
                    </a:lnTo>
                    <a:lnTo>
                      <a:pt x="38" y="16"/>
                    </a:lnTo>
                    <a:lnTo>
                      <a:pt x="33" y="16"/>
                    </a:lnTo>
                    <a:lnTo>
                      <a:pt x="29" y="18"/>
                    </a:lnTo>
                    <a:lnTo>
                      <a:pt x="21" y="21"/>
                    </a:lnTo>
                    <a:lnTo>
                      <a:pt x="14" y="23"/>
                    </a:lnTo>
                    <a:lnTo>
                      <a:pt x="6" y="25"/>
                    </a:lnTo>
                    <a:lnTo>
                      <a:pt x="4" y="27"/>
                    </a:lnTo>
                    <a:lnTo>
                      <a:pt x="0" y="29"/>
                    </a:lnTo>
                    <a:close/>
                  </a:path>
                </a:pathLst>
              </a:custGeom>
              <a:solidFill>
                <a:srgbClr val="85A19C"/>
              </a:solidFill>
              <a:ln w="9525">
                <a:noFill/>
                <a:round/>
              </a:ln>
            </p:spPr>
            <p:txBody>
              <a:bodyPr/>
              <a:lstStyle/>
              <a:p>
                <a:endParaRPr lang="en-US"/>
              </a:p>
            </p:txBody>
          </p:sp>
          <p:sp>
            <p:nvSpPr>
              <p:cNvPr id="1048935" name="Freeform 232"/>
              <p:cNvSpPr/>
              <p:nvPr/>
            </p:nvSpPr>
            <p:spPr bwMode="auto">
              <a:xfrm>
                <a:off x="1878" y="2676"/>
                <a:ext cx="101" cy="184"/>
              </a:xfrm>
              <a:custGeom>
                <a:avLst/>
                <a:gdLst>
                  <a:gd name="T0" fmla="*/ 64 w 202"/>
                  <a:gd name="T1" fmla="*/ 0 h 369"/>
                  <a:gd name="T2" fmla="*/ 60 w 202"/>
                  <a:gd name="T3" fmla="*/ 9 h 369"/>
                  <a:gd name="T4" fmla="*/ 57 w 202"/>
                  <a:gd name="T5" fmla="*/ 14 h 369"/>
                  <a:gd name="T6" fmla="*/ 55 w 202"/>
                  <a:gd name="T7" fmla="*/ 20 h 369"/>
                  <a:gd name="T8" fmla="*/ 53 w 202"/>
                  <a:gd name="T9" fmla="*/ 25 h 369"/>
                  <a:gd name="T10" fmla="*/ 51 w 202"/>
                  <a:gd name="T11" fmla="*/ 32 h 369"/>
                  <a:gd name="T12" fmla="*/ 49 w 202"/>
                  <a:gd name="T13" fmla="*/ 39 h 369"/>
                  <a:gd name="T14" fmla="*/ 46 w 202"/>
                  <a:gd name="T15" fmla="*/ 46 h 369"/>
                  <a:gd name="T16" fmla="*/ 43 w 202"/>
                  <a:gd name="T17" fmla="*/ 53 h 369"/>
                  <a:gd name="T18" fmla="*/ 41 w 202"/>
                  <a:gd name="T19" fmla="*/ 61 h 369"/>
                  <a:gd name="T20" fmla="*/ 39 w 202"/>
                  <a:gd name="T21" fmla="*/ 68 h 369"/>
                  <a:gd name="T22" fmla="*/ 36 w 202"/>
                  <a:gd name="T23" fmla="*/ 77 h 369"/>
                  <a:gd name="T24" fmla="*/ 33 w 202"/>
                  <a:gd name="T25" fmla="*/ 84 h 369"/>
                  <a:gd name="T26" fmla="*/ 29 w 202"/>
                  <a:gd name="T27" fmla="*/ 92 h 369"/>
                  <a:gd name="T28" fmla="*/ 28 w 202"/>
                  <a:gd name="T29" fmla="*/ 99 h 369"/>
                  <a:gd name="T30" fmla="*/ 25 w 202"/>
                  <a:gd name="T31" fmla="*/ 108 h 369"/>
                  <a:gd name="T32" fmla="*/ 22 w 202"/>
                  <a:gd name="T33" fmla="*/ 116 h 369"/>
                  <a:gd name="T34" fmla="*/ 19 w 202"/>
                  <a:gd name="T35" fmla="*/ 122 h 369"/>
                  <a:gd name="T36" fmla="*/ 18 w 202"/>
                  <a:gd name="T37" fmla="*/ 130 h 369"/>
                  <a:gd name="T38" fmla="*/ 14 w 202"/>
                  <a:gd name="T39" fmla="*/ 137 h 369"/>
                  <a:gd name="T40" fmla="*/ 13 w 202"/>
                  <a:gd name="T41" fmla="*/ 143 h 369"/>
                  <a:gd name="T42" fmla="*/ 11 w 202"/>
                  <a:gd name="T43" fmla="*/ 150 h 369"/>
                  <a:gd name="T44" fmla="*/ 9 w 202"/>
                  <a:gd name="T45" fmla="*/ 156 h 369"/>
                  <a:gd name="T46" fmla="*/ 7 w 202"/>
                  <a:gd name="T47" fmla="*/ 161 h 369"/>
                  <a:gd name="T48" fmla="*/ 4 w 202"/>
                  <a:gd name="T49" fmla="*/ 171 h 369"/>
                  <a:gd name="T50" fmla="*/ 1 w 202"/>
                  <a:gd name="T51" fmla="*/ 178 h 369"/>
                  <a:gd name="T52" fmla="*/ 0 w 202"/>
                  <a:gd name="T53" fmla="*/ 182 h 369"/>
                  <a:gd name="T54" fmla="*/ 0 w 202"/>
                  <a:gd name="T55" fmla="*/ 184 h 369"/>
                  <a:gd name="T56" fmla="*/ 4 w 202"/>
                  <a:gd name="T57" fmla="*/ 181 h 369"/>
                  <a:gd name="T58" fmla="*/ 9 w 202"/>
                  <a:gd name="T59" fmla="*/ 178 h 369"/>
                  <a:gd name="T60" fmla="*/ 17 w 202"/>
                  <a:gd name="T61" fmla="*/ 174 h 369"/>
                  <a:gd name="T62" fmla="*/ 24 w 202"/>
                  <a:gd name="T63" fmla="*/ 168 h 369"/>
                  <a:gd name="T64" fmla="*/ 33 w 202"/>
                  <a:gd name="T65" fmla="*/ 162 h 369"/>
                  <a:gd name="T66" fmla="*/ 42 w 202"/>
                  <a:gd name="T67" fmla="*/ 156 h 369"/>
                  <a:gd name="T68" fmla="*/ 47 w 202"/>
                  <a:gd name="T69" fmla="*/ 152 h 369"/>
                  <a:gd name="T70" fmla="*/ 52 w 202"/>
                  <a:gd name="T71" fmla="*/ 149 h 369"/>
                  <a:gd name="T72" fmla="*/ 61 w 202"/>
                  <a:gd name="T73" fmla="*/ 140 h 369"/>
                  <a:gd name="T74" fmla="*/ 71 w 202"/>
                  <a:gd name="T75" fmla="*/ 133 h 369"/>
                  <a:gd name="T76" fmla="*/ 79 w 202"/>
                  <a:gd name="T77" fmla="*/ 125 h 369"/>
                  <a:gd name="T78" fmla="*/ 87 w 202"/>
                  <a:gd name="T79" fmla="*/ 117 h 369"/>
                  <a:gd name="T80" fmla="*/ 94 w 202"/>
                  <a:gd name="T81" fmla="*/ 110 h 369"/>
                  <a:gd name="T82" fmla="*/ 97 w 202"/>
                  <a:gd name="T83" fmla="*/ 103 h 369"/>
                  <a:gd name="T84" fmla="*/ 100 w 202"/>
                  <a:gd name="T85" fmla="*/ 96 h 369"/>
                  <a:gd name="T86" fmla="*/ 101 w 202"/>
                  <a:gd name="T87" fmla="*/ 91 h 369"/>
                  <a:gd name="T88" fmla="*/ 100 w 202"/>
                  <a:gd name="T89" fmla="*/ 85 h 369"/>
                  <a:gd name="T90" fmla="*/ 99 w 202"/>
                  <a:gd name="T91" fmla="*/ 80 h 369"/>
                  <a:gd name="T92" fmla="*/ 99 w 202"/>
                  <a:gd name="T93" fmla="*/ 71 h 369"/>
                  <a:gd name="T94" fmla="*/ 99 w 202"/>
                  <a:gd name="T95" fmla="*/ 62 h 369"/>
                  <a:gd name="T96" fmla="*/ 99 w 202"/>
                  <a:gd name="T97" fmla="*/ 56 h 369"/>
                  <a:gd name="T98" fmla="*/ 99 w 202"/>
                  <a:gd name="T99" fmla="*/ 50 h 369"/>
                  <a:gd name="T100" fmla="*/ 100 w 202"/>
                  <a:gd name="T101" fmla="*/ 46 h 369"/>
                  <a:gd name="T102" fmla="*/ 101 w 202"/>
                  <a:gd name="T103" fmla="*/ 42 h 369"/>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w 202"/>
                  <a:gd name="T157" fmla="*/ 0 h 369"/>
                  <a:gd name="T158" fmla="*/ 202 w 202"/>
                  <a:gd name="T159" fmla="*/ 369 h 369"/>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T156" t="T157" r="T158" b="T159"/>
                <a:pathLst>
                  <a:path w="202" h="369">
                    <a:moveTo>
                      <a:pt x="202" y="85"/>
                    </a:moveTo>
                    <a:lnTo>
                      <a:pt x="128" y="0"/>
                    </a:lnTo>
                    <a:lnTo>
                      <a:pt x="124" y="7"/>
                    </a:lnTo>
                    <a:lnTo>
                      <a:pt x="120" y="19"/>
                    </a:lnTo>
                    <a:lnTo>
                      <a:pt x="116" y="23"/>
                    </a:lnTo>
                    <a:lnTo>
                      <a:pt x="115" y="28"/>
                    </a:lnTo>
                    <a:lnTo>
                      <a:pt x="113" y="34"/>
                    </a:lnTo>
                    <a:lnTo>
                      <a:pt x="111" y="40"/>
                    </a:lnTo>
                    <a:lnTo>
                      <a:pt x="109" y="45"/>
                    </a:lnTo>
                    <a:lnTo>
                      <a:pt x="107" y="51"/>
                    </a:lnTo>
                    <a:lnTo>
                      <a:pt x="103" y="57"/>
                    </a:lnTo>
                    <a:lnTo>
                      <a:pt x="101" y="64"/>
                    </a:lnTo>
                    <a:lnTo>
                      <a:pt x="99" y="72"/>
                    </a:lnTo>
                    <a:lnTo>
                      <a:pt x="97" y="78"/>
                    </a:lnTo>
                    <a:lnTo>
                      <a:pt x="94" y="85"/>
                    </a:lnTo>
                    <a:lnTo>
                      <a:pt x="92" y="93"/>
                    </a:lnTo>
                    <a:lnTo>
                      <a:pt x="90" y="100"/>
                    </a:lnTo>
                    <a:lnTo>
                      <a:pt x="86" y="106"/>
                    </a:lnTo>
                    <a:lnTo>
                      <a:pt x="84" y="114"/>
                    </a:lnTo>
                    <a:lnTo>
                      <a:pt x="82" y="123"/>
                    </a:lnTo>
                    <a:lnTo>
                      <a:pt x="78" y="131"/>
                    </a:lnTo>
                    <a:lnTo>
                      <a:pt x="77" y="137"/>
                    </a:lnTo>
                    <a:lnTo>
                      <a:pt x="73" y="144"/>
                    </a:lnTo>
                    <a:lnTo>
                      <a:pt x="71" y="154"/>
                    </a:lnTo>
                    <a:lnTo>
                      <a:pt x="69" y="161"/>
                    </a:lnTo>
                    <a:lnTo>
                      <a:pt x="65" y="169"/>
                    </a:lnTo>
                    <a:lnTo>
                      <a:pt x="63" y="177"/>
                    </a:lnTo>
                    <a:lnTo>
                      <a:pt x="59" y="184"/>
                    </a:lnTo>
                    <a:lnTo>
                      <a:pt x="58" y="192"/>
                    </a:lnTo>
                    <a:lnTo>
                      <a:pt x="56" y="199"/>
                    </a:lnTo>
                    <a:lnTo>
                      <a:pt x="52" y="209"/>
                    </a:lnTo>
                    <a:lnTo>
                      <a:pt x="50" y="216"/>
                    </a:lnTo>
                    <a:lnTo>
                      <a:pt x="48" y="222"/>
                    </a:lnTo>
                    <a:lnTo>
                      <a:pt x="44" y="232"/>
                    </a:lnTo>
                    <a:lnTo>
                      <a:pt x="42" y="237"/>
                    </a:lnTo>
                    <a:lnTo>
                      <a:pt x="38" y="245"/>
                    </a:lnTo>
                    <a:lnTo>
                      <a:pt x="37" y="253"/>
                    </a:lnTo>
                    <a:lnTo>
                      <a:pt x="35" y="260"/>
                    </a:lnTo>
                    <a:lnTo>
                      <a:pt x="33" y="268"/>
                    </a:lnTo>
                    <a:lnTo>
                      <a:pt x="29" y="275"/>
                    </a:lnTo>
                    <a:lnTo>
                      <a:pt x="27" y="281"/>
                    </a:lnTo>
                    <a:lnTo>
                      <a:pt x="25" y="287"/>
                    </a:lnTo>
                    <a:lnTo>
                      <a:pt x="23" y="294"/>
                    </a:lnTo>
                    <a:lnTo>
                      <a:pt x="21" y="300"/>
                    </a:lnTo>
                    <a:lnTo>
                      <a:pt x="19" y="306"/>
                    </a:lnTo>
                    <a:lnTo>
                      <a:pt x="18" y="312"/>
                    </a:lnTo>
                    <a:lnTo>
                      <a:pt x="16" y="317"/>
                    </a:lnTo>
                    <a:lnTo>
                      <a:pt x="14" y="323"/>
                    </a:lnTo>
                    <a:lnTo>
                      <a:pt x="10" y="332"/>
                    </a:lnTo>
                    <a:lnTo>
                      <a:pt x="8" y="342"/>
                    </a:lnTo>
                    <a:lnTo>
                      <a:pt x="4" y="350"/>
                    </a:lnTo>
                    <a:lnTo>
                      <a:pt x="2" y="357"/>
                    </a:lnTo>
                    <a:lnTo>
                      <a:pt x="0" y="361"/>
                    </a:lnTo>
                    <a:lnTo>
                      <a:pt x="0" y="365"/>
                    </a:lnTo>
                    <a:lnTo>
                      <a:pt x="0" y="367"/>
                    </a:lnTo>
                    <a:lnTo>
                      <a:pt x="0" y="369"/>
                    </a:lnTo>
                    <a:lnTo>
                      <a:pt x="0" y="367"/>
                    </a:lnTo>
                    <a:lnTo>
                      <a:pt x="8" y="363"/>
                    </a:lnTo>
                    <a:lnTo>
                      <a:pt x="12" y="359"/>
                    </a:lnTo>
                    <a:lnTo>
                      <a:pt x="18" y="357"/>
                    </a:lnTo>
                    <a:lnTo>
                      <a:pt x="23" y="351"/>
                    </a:lnTo>
                    <a:lnTo>
                      <a:pt x="33" y="348"/>
                    </a:lnTo>
                    <a:lnTo>
                      <a:pt x="38" y="342"/>
                    </a:lnTo>
                    <a:lnTo>
                      <a:pt x="48" y="336"/>
                    </a:lnTo>
                    <a:lnTo>
                      <a:pt x="56" y="331"/>
                    </a:lnTo>
                    <a:lnTo>
                      <a:pt x="65" y="325"/>
                    </a:lnTo>
                    <a:lnTo>
                      <a:pt x="75" y="317"/>
                    </a:lnTo>
                    <a:lnTo>
                      <a:pt x="84" y="312"/>
                    </a:lnTo>
                    <a:lnTo>
                      <a:pt x="88" y="308"/>
                    </a:lnTo>
                    <a:lnTo>
                      <a:pt x="94" y="304"/>
                    </a:lnTo>
                    <a:lnTo>
                      <a:pt x="99" y="300"/>
                    </a:lnTo>
                    <a:lnTo>
                      <a:pt x="105" y="298"/>
                    </a:lnTo>
                    <a:lnTo>
                      <a:pt x="113" y="289"/>
                    </a:lnTo>
                    <a:lnTo>
                      <a:pt x="122" y="281"/>
                    </a:lnTo>
                    <a:lnTo>
                      <a:pt x="132" y="274"/>
                    </a:lnTo>
                    <a:lnTo>
                      <a:pt x="141" y="266"/>
                    </a:lnTo>
                    <a:lnTo>
                      <a:pt x="151" y="258"/>
                    </a:lnTo>
                    <a:lnTo>
                      <a:pt x="158" y="251"/>
                    </a:lnTo>
                    <a:lnTo>
                      <a:pt x="166" y="243"/>
                    </a:lnTo>
                    <a:lnTo>
                      <a:pt x="173" y="235"/>
                    </a:lnTo>
                    <a:lnTo>
                      <a:pt x="179" y="228"/>
                    </a:lnTo>
                    <a:lnTo>
                      <a:pt x="187" y="220"/>
                    </a:lnTo>
                    <a:lnTo>
                      <a:pt x="191" y="213"/>
                    </a:lnTo>
                    <a:lnTo>
                      <a:pt x="194" y="207"/>
                    </a:lnTo>
                    <a:lnTo>
                      <a:pt x="198" y="199"/>
                    </a:lnTo>
                    <a:lnTo>
                      <a:pt x="200" y="192"/>
                    </a:lnTo>
                    <a:lnTo>
                      <a:pt x="202" y="188"/>
                    </a:lnTo>
                    <a:lnTo>
                      <a:pt x="202" y="182"/>
                    </a:lnTo>
                    <a:lnTo>
                      <a:pt x="200" y="177"/>
                    </a:lnTo>
                    <a:lnTo>
                      <a:pt x="200" y="171"/>
                    </a:lnTo>
                    <a:lnTo>
                      <a:pt x="198" y="165"/>
                    </a:lnTo>
                    <a:lnTo>
                      <a:pt x="198" y="161"/>
                    </a:lnTo>
                    <a:lnTo>
                      <a:pt x="198" y="150"/>
                    </a:lnTo>
                    <a:lnTo>
                      <a:pt x="198" y="142"/>
                    </a:lnTo>
                    <a:lnTo>
                      <a:pt x="198" y="133"/>
                    </a:lnTo>
                    <a:lnTo>
                      <a:pt x="198" y="125"/>
                    </a:lnTo>
                    <a:lnTo>
                      <a:pt x="198" y="118"/>
                    </a:lnTo>
                    <a:lnTo>
                      <a:pt x="198" y="112"/>
                    </a:lnTo>
                    <a:lnTo>
                      <a:pt x="198" y="104"/>
                    </a:lnTo>
                    <a:lnTo>
                      <a:pt x="198" y="100"/>
                    </a:lnTo>
                    <a:lnTo>
                      <a:pt x="200" y="95"/>
                    </a:lnTo>
                    <a:lnTo>
                      <a:pt x="200" y="93"/>
                    </a:lnTo>
                    <a:lnTo>
                      <a:pt x="202" y="87"/>
                    </a:lnTo>
                    <a:lnTo>
                      <a:pt x="202" y="85"/>
                    </a:lnTo>
                    <a:close/>
                  </a:path>
                </a:pathLst>
              </a:custGeom>
              <a:solidFill>
                <a:srgbClr val="85A19C"/>
              </a:solidFill>
              <a:ln w="9525">
                <a:noFill/>
                <a:round/>
              </a:ln>
            </p:spPr>
            <p:txBody>
              <a:bodyPr/>
              <a:lstStyle/>
              <a:p>
                <a:endParaRPr lang="en-US"/>
              </a:p>
            </p:txBody>
          </p:sp>
          <p:sp>
            <p:nvSpPr>
              <p:cNvPr id="1048936" name="Freeform 233"/>
              <p:cNvSpPr/>
              <p:nvPr/>
            </p:nvSpPr>
            <p:spPr bwMode="auto">
              <a:xfrm>
                <a:off x="1644" y="2427"/>
                <a:ext cx="332" cy="300"/>
              </a:xfrm>
              <a:custGeom>
                <a:avLst/>
                <a:gdLst>
                  <a:gd name="T0" fmla="*/ 182 w 663"/>
                  <a:gd name="T1" fmla="*/ 0 h 601"/>
                  <a:gd name="T2" fmla="*/ 0 w 663"/>
                  <a:gd name="T3" fmla="*/ 84 h 601"/>
                  <a:gd name="T4" fmla="*/ 155 w 663"/>
                  <a:gd name="T5" fmla="*/ 300 h 601"/>
                  <a:gd name="T6" fmla="*/ 332 w 663"/>
                  <a:gd name="T7" fmla="*/ 194 h 601"/>
                  <a:gd name="T8" fmla="*/ 182 w 663"/>
                  <a:gd name="T9" fmla="*/ 0 h 601"/>
                  <a:gd name="T10" fmla="*/ 182 w 663"/>
                  <a:gd name="T11" fmla="*/ 0 h 601"/>
                  <a:gd name="T12" fmla="*/ 0 60000 65536"/>
                  <a:gd name="T13" fmla="*/ 0 60000 65536"/>
                  <a:gd name="T14" fmla="*/ 0 60000 65536"/>
                  <a:gd name="T15" fmla="*/ 0 60000 65536"/>
                  <a:gd name="T16" fmla="*/ 0 60000 65536"/>
                  <a:gd name="T17" fmla="*/ 0 60000 65536"/>
                  <a:gd name="T18" fmla="*/ 0 w 663"/>
                  <a:gd name="T19" fmla="*/ 0 h 601"/>
                  <a:gd name="T20" fmla="*/ 663 w 663"/>
                  <a:gd name="T21" fmla="*/ 601 h 601"/>
                </a:gdLst>
                <a:ahLst/>
                <a:cxnLst>
                  <a:cxn ang="T12">
                    <a:pos x="T0" y="T1"/>
                  </a:cxn>
                  <a:cxn ang="T13">
                    <a:pos x="T2" y="T3"/>
                  </a:cxn>
                  <a:cxn ang="T14">
                    <a:pos x="T4" y="T5"/>
                  </a:cxn>
                  <a:cxn ang="T15">
                    <a:pos x="T6" y="T7"/>
                  </a:cxn>
                  <a:cxn ang="T16">
                    <a:pos x="T8" y="T9"/>
                  </a:cxn>
                  <a:cxn ang="T17">
                    <a:pos x="T10" y="T11"/>
                  </a:cxn>
                </a:cxnLst>
                <a:rect l="T18" t="T19" r="T20" b="T21"/>
                <a:pathLst>
                  <a:path w="663" h="601">
                    <a:moveTo>
                      <a:pt x="363" y="0"/>
                    </a:moveTo>
                    <a:lnTo>
                      <a:pt x="0" y="168"/>
                    </a:lnTo>
                    <a:lnTo>
                      <a:pt x="310" y="601"/>
                    </a:lnTo>
                    <a:lnTo>
                      <a:pt x="663" y="388"/>
                    </a:lnTo>
                    <a:lnTo>
                      <a:pt x="363" y="0"/>
                    </a:lnTo>
                    <a:close/>
                  </a:path>
                </a:pathLst>
              </a:custGeom>
              <a:solidFill>
                <a:srgbClr val="FFFFFF"/>
              </a:solidFill>
              <a:ln w="9525">
                <a:noFill/>
                <a:round/>
              </a:ln>
            </p:spPr>
            <p:txBody>
              <a:bodyPr/>
              <a:lstStyle/>
              <a:p>
                <a:endParaRPr lang="en-US"/>
              </a:p>
            </p:txBody>
          </p:sp>
          <p:sp>
            <p:nvSpPr>
              <p:cNvPr id="1048937" name="Freeform 234"/>
              <p:cNvSpPr/>
              <p:nvPr/>
            </p:nvSpPr>
            <p:spPr bwMode="auto">
              <a:xfrm>
                <a:off x="2179" y="2027"/>
                <a:ext cx="131" cy="197"/>
              </a:xfrm>
              <a:custGeom>
                <a:avLst/>
                <a:gdLst>
                  <a:gd name="T0" fmla="*/ 0 w 263"/>
                  <a:gd name="T1" fmla="*/ 0 h 393"/>
                  <a:gd name="T2" fmla="*/ 105 w 263"/>
                  <a:gd name="T3" fmla="*/ 22 h 393"/>
                  <a:gd name="T4" fmla="*/ 107 w 263"/>
                  <a:gd name="T5" fmla="*/ 24 h 393"/>
                  <a:gd name="T6" fmla="*/ 108 w 263"/>
                  <a:gd name="T7" fmla="*/ 26 h 393"/>
                  <a:gd name="T8" fmla="*/ 111 w 263"/>
                  <a:gd name="T9" fmla="*/ 29 h 393"/>
                  <a:gd name="T10" fmla="*/ 114 w 263"/>
                  <a:gd name="T11" fmla="*/ 33 h 393"/>
                  <a:gd name="T12" fmla="*/ 117 w 263"/>
                  <a:gd name="T13" fmla="*/ 37 h 393"/>
                  <a:gd name="T14" fmla="*/ 119 w 263"/>
                  <a:gd name="T15" fmla="*/ 39 h 393"/>
                  <a:gd name="T16" fmla="*/ 120 w 263"/>
                  <a:gd name="T17" fmla="*/ 42 h 393"/>
                  <a:gd name="T18" fmla="*/ 122 w 263"/>
                  <a:gd name="T19" fmla="*/ 44 h 393"/>
                  <a:gd name="T20" fmla="*/ 123 w 263"/>
                  <a:gd name="T21" fmla="*/ 47 h 393"/>
                  <a:gd name="T22" fmla="*/ 124 w 263"/>
                  <a:gd name="T23" fmla="*/ 50 h 393"/>
                  <a:gd name="T24" fmla="*/ 125 w 263"/>
                  <a:gd name="T25" fmla="*/ 52 h 393"/>
                  <a:gd name="T26" fmla="*/ 126 w 263"/>
                  <a:gd name="T27" fmla="*/ 55 h 393"/>
                  <a:gd name="T28" fmla="*/ 128 w 263"/>
                  <a:gd name="T29" fmla="*/ 57 h 393"/>
                  <a:gd name="T30" fmla="*/ 128 w 263"/>
                  <a:gd name="T31" fmla="*/ 60 h 393"/>
                  <a:gd name="T32" fmla="*/ 129 w 263"/>
                  <a:gd name="T33" fmla="*/ 63 h 393"/>
                  <a:gd name="T34" fmla="*/ 130 w 263"/>
                  <a:gd name="T35" fmla="*/ 66 h 393"/>
                  <a:gd name="T36" fmla="*/ 131 w 263"/>
                  <a:gd name="T37" fmla="*/ 69 h 393"/>
                  <a:gd name="T38" fmla="*/ 131 w 263"/>
                  <a:gd name="T39" fmla="*/ 71 h 393"/>
                  <a:gd name="T40" fmla="*/ 131 w 263"/>
                  <a:gd name="T41" fmla="*/ 73 h 393"/>
                  <a:gd name="T42" fmla="*/ 130 w 263"/>
                  <a:gd name="T43" fmla="*/ 76 h 393"/>
                  <a:gd name="T44" fmla="*/ 130 w 263"/>
                  <a:gd name="T45" fmla="*/ 79 h 393"/>
                  <a:gd name="T46" fmla="*/ 128 w 263"/>
                  <a:gd name="T47" fmla="*/ 84 h 393"/>
                  <a:gd name="T48" fmla="*/ 125 w 263"/>
                  <a:gd name="T49" fmla="*/ 89 h 393"/>
                  <a:gd name="T50" fmla="*/ 122 w 263"/>
                  <a:gd name="T51" fmla="*/ 92 h 393"/>
                  <a:gd name="T52" fmla="*/ 118 w 263"/>
                  <a:gd name="T53" fmla="*/ 96 h 393"/>
                  <a:gd name="T54" fmla="*/ 113 w 263"/>
                  <a:gd name="T55" fmla="*/ 100 h 393"/>
                  <a:gd name="T56" fmla="*/ 108 w 263"/>
                  <a:gd name="T57" fmla="*/ 104 h 393"/>
                  <a:gd name="T58" fmla="*/ 104 w 263"/>
                  <a:gd name="T59" fmla="*/ 107 h 393"/>
                  <a:gd name="T60" fmla="*/ 100 w 263"/>
                  <a:gd name="T61" fmla="*/ 110 h 393"/>
                  <a:gd name="T62" fmla="*/ 95 w 263"/>
                  <a:gd name="T63" fmla="*/ 112 h 393"/>
                  <a:gd name="T64" fmla="*/ 91 w 263"/>
                  <a:gd name="T65" fmla="*/ 116 h 393"/>
                  <a:gd name="T66" fmla="*/ 87 w 263"/>
                  <a:gd name="T67" fmla="*/ 118 h 393"/>
                  <a:gd name="T68" fmla="*/ 84 w 263"/>
                  <a:gd name="T69" fmla="*/ 120 h 393"/>
                  <a:gd name="T70" fmla="*/ 80 w 263"/>
                  <a:gd name="T71" fmla="*/ 122 h 393"/>
                  <a:gd name="T72" fmla="*/ 78 w 263"/>
                  <a:gd name="T73" fmla="*/ 124 h 393"/>
                  <a:gd name="T74" fmla="*/ 73 w 263"/>
                  <a:gd name="T75" fmla="*/ 126 h 393"/>
                  <a:gd name="T76" fmla="*/ 72 w 263"/>
                  <a:gd name="T77" fmla="*/ 127 h 393"/>
                  <a:gd name="T78" fmla="*/ 104 w 263"/>
                  <a:gd name="T79" fmla="*/ 188 h 393"/>
                  <a:gd name="T80" fmla="*/ 75 w 263"/>
                  <a:gd name="T81" fmla="*/ 197 h 393"/>
                  <a:gd name="T82" fmla="*/ 2 w 263"/>
                  <a:gd name="T83" fmla="*/ 197 h 393"/>
                  <a:gd name="T84" fmla="*/ 12 w 263"/>
                  <a:gd name="T85" fmla="*/ 111 h 393"/>
                  <a:gd name="T86" fmla="*/ 0 w 263"/>
                  <a:gd name="T87" fmla="*/ 0 h 393"/>
                  <a:gd name="T88" fmla="*/ 0 w 263"/>
                  <a:gd name="T89" fmla="*/ 0 h 393"/>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263"/>
                  <a:gd name="T136" fmla="*/ 0 h 393"/>
                  <a:gd name="T137" fmla="*/ 263 w 263"/>
                  <a:gd name="T138" fmla="*/ 393 h 393"/>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263" h="393">
                    <a:moveTo>
                      <a:pt x="0" y="0"/>
                    </a:moveTo>
                    <a:lnTo>
                      <a:pt x="211" y="44"/>
                    </a:lnTo>
                    <a:lnTo>
                      <a:pt x="215" y="47"/>
                    </a:lnTo>
                    <a:lnTo>
                      <a:pt x="217" y="51"/>
                    </a:lnTo>
                    <a:lnTo>
                      <a:pt x="223" y="57"/>
                    </a:lnTo>
                    <a:lnTo>
                      <a:pt x="228" y="65"/>
                    </a:lnTo>
                    <a:lnTo>
                      <a:pt x="234" y="74"/>
                    </a:lnTo>
                    <a:lnTo>
                      <a:pt x="238" y="78"/>
                    </a:lnTo>
                    <a:lnTo>
                      <a:pt x="240" y="84"/>
                    </a:lnTo>
                    <a:lnTo>
                      <a:pt x="244" y="87"/>
                    </a:lnTo>
                    <a:lnTo>
                      <a:pt x="247" y="93"/>
                    </a:lnTo>
                    <a:lnTo>
                      <a:pt x="249" y="99"/>
                    </a:lnTo>
                    <a:lnTo>
                      <a:pt x="251" y="104"/>
                    </a:lnTo>
                    <a:lnTo>
                      <a:pt x="253" y="110"/>
                    </a:lnTo>
                    <a:lnTo>
                      <a:pt x="257" y="114"/>
                    </a:lnTo>
                    <a:lnTo>
                      <a:pt x="257" y="120"/>
                    </a:lnTo>
                    <a:lnTo>
                      <a:pt x="259" y="125"/>
                    </a:lnTo>
                    <a:lnTo>
                      <a:pt x="261" y="131"/>
                    </a:lnTo>
                    <a:lnTo>
                      <a:pt x="263" y="137"/>
                    </a:lnTo>
                    <a:lnTo>
                      <a:pt x="263" y="142"/>
                    </a:lnTo>
                    <a:lnTo>
                      <a:pt x="263" y="146"/>
                    </a:lnTo>
                    <a:lnTo>
                      <a:pt x="261" y="152"/>
                    </a:lnTo>
                    <a:lnTo>
                      <a:pt x="261" y="158"/>
                    </a:lnTo>
                    <a:lnTo>
                      <a:pt x="257" y="167"/>
                    </a:lnTo>
                    <a:lnTo>
                      <a:pt x="251" y="177"/>
                    </a:lnTo>
                    <a:lnTo>
                      <a:pt x="244" y="184"/>
                    </a:lnTo>
                    <a:lnTo>
                      <a:pt x="236" y="192"/>
                    </a:lnTo>
                    <a:lnTo>
                      <a:pt x="227" y="200"/>
                    </a:lnTo>
                    <a:lnTo>
                      <a:pt x="217" y="207"/>
                    </a:lnTo>
                    <a:lnTo>
                      <a:pt x="209" y="213"/>
                    </a:lnTo>
                    <a:lnTo>
                      <a:pt x="200" y="220"/>
                    </a:lnTo>
                    <a:lnTo>
                      <a:pt x="190" y="224"/>
                    </a:lnTo>
                    <a:lnTo>
                      <a:pt x="183" y="232"/>
                    </a:lnTo>
                    <a:lnTo>
                      <a:pt x="175" y="236"/>
                    </a:lnTo>
                    <a:lnTo>
                      <a:pt x="168" y="239"/>
                    </a:lnTo>
                    <a:lnTo>
                      <a:pt x="160" y="243"/>
                    </a:lnTo>
                    <a:lnTo>
                      <a:pt x="156" y="247"/>
                    </a:lnTo>
                    <a:lnTo>
                      <a:pt x="147" y="251"/>
                    </a:lnTo>
                    <a:lnTo>
                      <a:pt x="145" y="253"/>
                    </a:lnTo>
                    <a:lnTo>
                      <a:pt x="208" y="376"/>
                    </a:lnTo>
                    <a:lnTo>
                      <a:pt x="150" y="393"/>
                    </a:lnTo>
                    <a:lnTo>
                      <a:pt x="4" y="393"/>
                    </a:lnTo>
                    <a:lnTo>
                      <a:pt x="25" y="222"/>
                    </a:lnTo>
                    <a:lnTo>
                      <a:pt x="0" y="0"/>
                    </a:lnTo>
                    <a:close/>
                  </a:path>
                </a:pathLst>
              </a:custGeom>
              <a:solidFill>
                <a:srgbClr val="FAC9B0"/>
              </a:solidFill>
              <a:ln w="9525">
                <a:noFill/>
                <a:round/>
              </a:ln>
            </p:spPr>
            <p:txBody>
              <a:bodyPr/>
              <a:lstStyle/>
              <a:p>
                <a:endParaRPr lang="en-US"/>
              </a:p>
            </p:txBody>
          </p:sp>
          <p:sp>
            <p:nvSpPr>
              <p:cNvPr id="1048938" name="Freeform 235"/>
              <p:cNvSpPr/>
              <p:nvPr/>
            </p:nvSpPr>
            <p:spPr bwMode="auto">
              <a:xfrm>
                <a:off x="1815" y="2502"/>
                <a:ext cx="144" cy="77"/>
              </a:xfrm>
              <a:custGeom>
                <a:avLst/>
                <a:gdLst>
                  <a:gd name="T0" fmla="*/ 139 w 287"/>
                  <a:gd name="T1" fmla="*/ 13 h 154"/>
                  <a:gd name="T2" fmla="*/ 139 w 287"/>
                  <a:gd name="T3" fmla="*/ 18 h 154"/>
                  <a:gd name="T4" fmla="*/ 140 w 287"/>
                  <a:gd name="T5" fmla="*/ 23 h 154"/>
                  <a:gd name="T6" fmla="*/ 141 w 287"/>
                  <a:gd name="T7" fmla="*/ 29 h 154"/>
                  <a:gd name="T8" fmla="*/ 142 w 287"/>
                  <a:gd name="T9" fmla="*/ 34 h 154"/>
                  <a:gd name="T10" fmla="*/ 143 w 287"/>
                  <a:gd name="T11" fmla="*/ 40 h 154"/>
                  <a:gd name="T12" fmla="*/ 143 w 287"/>
                  <a:gd name="T13" fmla="*/ 45 h 154"/>
                  <a:gd name="T14" fmla="*/ 144 w 287"/>
                  <a:gd name="T15" fmla="*/ 51 h 154"/>
                  <a:gd name="T16" fmla="*/ 144 w 287"/>
                  <a:gd name="T17" fmla="*/ 57 h 154"/>
                  <a:gd name="T18" fmla="*/ 144 w 287"/>
                  <a:gd name="T19" fmla="*/ 61 h 154"/>
                  <a:gd name="T20" fmla="*/ 144 w 287"/>
                  <a:gd name="T21" fmla="*/ 69 h 154"/>
                  <a:gd name="T22" fmla="*/ 142 w 287"/>
                  <a:gd name="T23" fmla="*/ 75 h 154"/>
                  <a:gd name="T24" fmla="*/ 138 w 287"/>
                  <a:gd name="T25" fmla="*/ 77 h 154"/>
                  <a:gd name="T26" fmla="*/ 131 w 287"/>
                  <a:gd name="T27" fmla="*/ 76 h 154"/>
                  <a:gd name="T28" fmla="*/ 123 w 287"/>
                  <a:gd name="T29" fmla="*/ 73 h 154"/>
                  <a:gd name="T30" fmla="*/ 114 w 287"/>
                  <a:gd name="T31" fmla="*/ 70 h 154"/>
                  <a:gd name="T32" fmla="*/ 105 w 287"/>
                  <a:gd name="T33" fmla="*/ 65 h 154"/>
                  <a:gd name="T34" fmla="*/ 95 w 287"/>
                  <a:gd name="T35" fmla="*/ 60 h 154"/>
                  <a:gd name="T36" fmla="*/ 90 w 287"/>
                  <a:gd name="T37" fmla="*/ 57 h 154"/>
                  <a:gd name="T38" fmla="*/ 85 w 287"/>
                  <a:gd name="T39" fmla="*/ 55 h 154"/>
                  <a:gd name="T40" fmla="*/ 1 w 287"/>
                  <a:gd name="T41" fmla="*/ 65 h 154"/>
                  <a:gd name="T42" fmla="*/ 0 w 287"/>
                  <a:gd name="T43" fmla="*/ 59 h 154"/>
                  <a:gd name="T44" fmla="*/ 1 w 287"/>
                  <a:gd name="T45" fmla="*/ 52 h 154"/>
                  <a:gd name="T46" fmla="*/ 1 w 287"/>
                  <a:gd name="T47" fmla="*/ 46 h 154"/>
                  <a:gd name="T48" fmla="*/ 2 w 287"/>
                  <a:gd name="T49" fmla="*/ 41 h 154"/>
                  <a:gd name="T50" fmla="*/ 4 w 287"/>
                  <a:gd name="T51" fmla="*/ 35 h 154"/>
                  <a:gd name="T52" fmla="*/ 7 w 287"/>
                  <a:gd name="T53" fmla="*/ 29 h 154"/>
                  <a:gd name="T54" fmla="*/ 10 w 287"/>
                  <a:gd name="T55" fmla="*/ 22 h 154"/>
                  <a:gd name="T56" fmla="*/ 14 w 287"/>
                  <a:gd name="T57" fmla="*/ 17 h 154"/>
                  <a:gd name="T58" fmla="*/ 20 w 287"/>
                  <a:gd name="T59" fmla="*/ 12 h 154"/>
                  <a:gd name="T60" fmla="*/ 27 w 287"/>
                  <a:gd name="T61" fmla="*/ 6 h 154"/>
                  <a:gd name="T62" fmla="*/ 34 w 287"/>
                  <a:gd name="T63" fmla="*/ 3 h 154"/>
                  <a:gd name="T64" fmla="*/ 42 w 287"/>
                  <a:gd name="T65" fmla="*/ 2 h 154"/>
                  <a:gd name="T66" fmla="*/ 48 w 287"/>
                  <a:gd name="T67" fmla="*/ 0 h 154"/>
                  <a:gd name="T68" fmla="*/ 53 w 287"/>
                  <a:gd name="T69" fmla="*/ 0 h 154"/>
                  <a:gd name="T70" fmla="*/ 59 w 287"/>
                  <a:gd name="T71" fmla="*/ 0 h 154"/>
                  <a:gd name="T72" fmla="*/ 66 w 287"/>
                  <a:gd name="T73" fmla="*/ 0 h 154"/>
                  <a:gd name="T74" fmla="*/ 72 w 287"/>
                  <a:gd name="T75" fmla="*/ 0 h 154"/>
                  <a:gd name="T76" fmla="*/ 78 w 287"/>
                  <a:gd name="T77" fmla="*/ 0 h 154"/>
                  <a:gd name="T78" fmla="*/ 84 w 287"/>
                  <a:gd name="T79" fmla="*/ 0 h 154"/>
                  <a:gd name="T80" fmla="*/ 91 w 287"/>
                  <a:gd name="T81" fmla="*/ 0 h 154"/>
                  <a:gd name="T82" fmla="*/ 100 w 287"/>
                  <a:gd name="T83" fmla="*/ 1 h 154"/>
                  <a:gd name="T84" fmla="*/ 108 w 287"/>
                  <a:gd name="T85" fmla="*/ 2 h 154"/>
                  <a:gd name="T86" fmla="*/ 115 w 287"/>
                  <a:gd name="T87" fmla="*/ 2 h 154"/>
                  <a:gd name="T88" fmla="*/ 120 w 287"/>
                  <a:gd name="T89" fmla="*/ 3 h 154"/>
                  <a:gd name="T90" fmla="*/ 126 w 287"/>
                  <a:gd name="T91" fmla="*/ 5 h 154"/>
                  <a:gd name="T92" fmla="*/ 130 w 287"/>
                  <a:gd name="T93" fmla="*/ 6 h 154"/>
                  <a:gd name="T94" fmla="*/ 134 w 287"/>
                  <a:gd name="T95" fmla="*/ 10 h 154"/>
                  <a:gd name="T96" fmla="*/ 138 w 287"/>
                  <a:gd name="T97" fmla="*/ 12 h 154"/>
                  <a:gd name="T98" fmla="*/ 139 w 287"/>
                  <a:gd name="T99" fmla="*/ 13 h 154"/>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w 287"/>
                  <a:gd name="T151" fmla="*/ 0 h 154"/>
                  <a:gd name="T152" fmla="*/ 287 w 287"/>
                  <a:gd name="T153" fmla="*/ 154 h 154"/>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T150" t="T151" r="T152" b="T153"/>
                <a:pathLst>
                  <a:path w="287" h="154">
                    <a:moveTo>
                      <a:pt x="278" y="26"/>
                    </a:moveTo>
                    <a:lnTo>
                      <a:pt x="278" y="26"/>
                    </a:lnTo>
                    <a:lnTo>
                      <a:pt x="278" y="30"/>
                    </a:lnTo>
                    <a:lnTo>
                      <a:pt x="278" y="36"/>
                    </a:lnTo>
                    <a:lnTo>
                      <a:pt x="279" y="43"/>
                    </a:lnTo>
                    <a:lnTo>
                      <a:pt x="279" y="47"/>
                    </a:lnTo>
                    <a:lnTo>
                      <a:pt x="281" y="53"/>
                    </a:lnTo>
                    <a:lnTo>
                      <a:pt x="281" y="59"/>
                    </a:lnTo>
                    <a:lnTo>
                      <a:pt x="283" y="62"/>
                    </a:lnTo>
                    <a:lnTo>
                      <a:pt x="283" y="68"/>
                    </a:lnTo>
                    <a:lnTo>
                      <a:pt x="283" y="74"/>
                    </a:lnTo>
                    <a:lnTo>
                      <a:pt x="285" y="80"/>
                    </a:lnTo>
                    <a:lnTo>
                      <a:pt x="285" y="85"/>
                    </a:lnTo>
                    <a:lnTo>
                      <a:pt x="285" y="91"/>
                    </a:lnTo>
                    <a:lnTo>
                      <a:pt x="287" y="97"/>
                    </a:lnTo>
                    <a:lnTo>
                      <a:pt x="287" y="102"/>
                    </a:lnTo>
                    <a:lnTo>
                      <a:pt x="287" y="108"/>
                    </a:lnTo>
                    <a:lnTo>
                      <a:pt x="287" y="114"/>
                    </a:lnTo>
                    <a:lnTo>
                      <a:pt x="287" y="118"/>
                    </a:lnTo>
                    <a:lnTo>
                      <a:pt x="287" y="123"/>
                    </a:lnTo>
                    <a:lnTo>
                      <a:pt x="287" y="129"/>
                    </a:lnTo>
                    <a:lnTo>
                      <a:pt x="287" y="137"/>
                    </a:lnTo>
                    <a:lnTo>
                      <a:pt x="285" y="144"/>
                    </a:lnTo>
                    <a:lnTo>
                      <a:pt x="283" y="150"/>
                    </a:lnTo>
                    <a:lnTo>
                      <a:pt x="281" y="154"/>
                    </a:lnTo>
                    <a:lnTo>
                      <a:pt x="276" y="154"/>
                    </a:lnTo>
                    <a:lnTo>
                      <a:pt x="270" y="154"/>
                    </a:lnTo>
                    <a:lnTo>
                      <a:pt x="262" y="152"/>
                    </a:lnTo>
                    <a:lnTo>
                      <a:pt x="257" y="150"/>
                    </a:lnTo>
                    <a:lnTo>
                      <a:pt x="245" y="146"/>
                    </a:lnTo>
                    <a:lnTo>
                      <a:pt x="236" y="142"/>
                    </a:lnTo>
                    <a:lnTo>
                      <a:pt x="228" y="139"/>
                    </a:lnTo>
                    <a:lnTo>
                      <a:pt x="219" y="135"/>
                    </a:lnTo>
                    <a:lnTo>
                      <a:pt x="209" y="129"/>
                    </a:lnTo>
                    <a:lnTo>
                      <a:pt x="200" y="125"/>
                    </a:lnTo>
                    <a:lnTo>
                      <a:pt x="190" y="120"/>
                    </a:lnTo>
                    <a:lnTo>
                      <a:pt x="184" y="118"/>
                    </a:lnTo>
                    <a:lnTo>
                      <a:pt x="179" y="114"/>
                    </a:lnTo>
                    <a:lnTo>
                      <a:pt x="173" y="112"/>
                    </a:lnTo>
                    <a:lnTo>
                      <a:pt x="169" y="110"/>
                    </a:lnTo>
                    <a:lnTo>
                      <a:pt x="2" y="131"/>
                    </a:lnTo>
                    <a:lnTo>
                      <a:pt x="2" y="129"/>
                    </a:lnTo>
                    <a:lnTo>
                      <a:pt x="2" y="125"/>
                    </a:lnTo>
                    <a:lnTo>
                      <a:pt x="0" y="118"/>
                    </a:lnTo>
                    <a:lnTo>
                      <a:pt x="2" y="110"/>
                    </a:lnTo>
                    <a:lnTo>
                      <a:pt x="2" y="104"/>
                    </a:lnTo>
                    <a:lnTo>
                      <a:pt x="2" y="99"/>
                    </a:lnTo>
                    <a:lnTo>
                      <a:pt x="2" y="93"/>
                    </a:lnTo>
                    <a:lnTo>
                      <a:pt x="4" y="89"/>
                    </a:lnTo>
                    <a:lnTo>
                      <a:pt x="4" y="83"/>
                    </a:lnTo>
                    <a:lnTo>
                      <a:pt x="6" y="78"/>
                    </a:lnTo>
                    <a:lnTo>
                      <a:pt x="8" y="70"/>
                    </a:lnTo>
                    <a:lnTo>
                      <a:pt x="11" y="64"/>
                    </a:lnTo>
                    <a:lnTo>
                      <a:pt x="13" y="59"/>
                    </a:lnTo>
                    <a:lnTo>
                      <a:pt x="15" y="53"/>
                    </a:lnTo>
                    <a:lnTo>
                      <a:pt x="19" y="45"/>
                    </a:lnTo>
                    <a:lnTo>
                      <a:pt x="23" y="40"/>
                    </a:lnTo>
                    <a:lnTo>
                      <a:pt x="28" y="34"/>
                    </a:lnTo>
                    <a:lnTo>
                      <a:pt x="34" y="30"/>
                    </a:lnTo>
                    <a:lnTo>
                      <a:pt x="40" y="24"/>
                    </a:lnTo>
                    <a:lnTo>
                      <a:pt x="48" y="19"/>
                    </a:lnTo>
                    <a:lnTo>
                      <a:pt x="53" y="13"/>
                    </a:lnTo>
                    <a:lnTo>
                      <a:pt x="61" y="9"/>
                    </a:lnTo>
                    <a:lnTo>
                      <a:pt x="68" y="7"/>
                    </a:lnTo>
                    <a:lnTo>
                      <a:pt x="78" y="4"/>
                    </a:lnTo>
                    <a:lnTo>
                      <a:pt x="84" y="4"/>
                    </a:lnTo>
                    <a:lnTo>
                      <a:pt x="89" y="2"/>
                    </a:lnTo>
                    <a:lnTo>
                      <a:pt x="95" y="0"/>
                    </a:lnTo>
                    <a:lnTo>
                      <a:pt x="99" y="0"/>
                    </a:lnTo>
                    <a:lnTo>
                      <a:pt x="105" y="0"/>
                    </a:lnTo>
                    <a:lnTo>
                      <a:pt x="112" y="0"/>
                    </a:lnTo>
                    <a:lnTo>
                      <a:pt x="118" y="0"/>
                    </a:lnTo>
                    <a:lnTo>
                      <a:pt x="125" y="0"/>
                    </a:lnTo>
                    <a:lnTo>
                      <a:pt x="131" y="0"/>
                    </a:lnTo>
                    <a:lnTo>
                      <a:pt x="137" y="0"/>
                    </a:lnTo>
                    <a:lnTo>
                      <a:pt x="144" y="0"/>
                    </a:lnTo>
                    <a:lnTo>
                      <a:pt x="150" y="0"/>
                    </a:lnTo>
                    <a:lnTo>
                      <a:pt x="156" y="0"/>
                    </a:lnTo>
                    <a:lnTo>
                      <a:pt x="162" y="0"/>
                    </a:lnTo>
                    <a:lnTo>
                      <a:pt x="167" y="0"/>
                    </a:lnTo>
                    <a:lnTo>
                      <a:pt x="173" y="0"/>
                    </a:lnTo>
                    <a:lnTo>
                      <a:pt x="181" y="0"/>
                    </a:lnTo>
                    <a:lnTo>
                      <a:pt x="192" y="0"/>
                    </a:lnTo>
                    <a:lnTo>
                      <a:pt x="200" y="2"/>
                    </a:lnTo>
                    <a:lnTo>
                      <a:pt x="209" y="4"/>
                    </a:lnTo>
                    <a:lnTo>
                      <a:pt x="215" y="4"/>
                    </a:lnTo>
                    <a:lnTo>
                      <a:pt x="222" y="4"/>
                    </a:lnTo>
                    <a:lnTo>
                      <a:pt x="230" y="4"/>
                    </a:lnTo>
                    <a:lnTo>
                      <a:pt x="236" y="5"/>
                    </a:lnTo>
                    <a:lnTo>
                      <a:pt x="240" y="7"/>
                    </a:lnTo>
                    <a:lnTo>
                      <a:pt x="245" y="9"/>
                    </a:lnTo>
                    <a:lnTo>
                      <a:pt x="251" y="9"/>
                    </a:lnTo>
                    <a:lnTo>
                      <a:pt x="255" y="11"/>
                    </a:lnTo>
                    <a:lnTo>
                      <a:pt x="260" y="13"/>
                    </a:lnTo>
                    <a:lnTo>
                      <a:pt x="266" y="17"/>
                    </a:lnTo>
                    <a:lnTo>
                      <a:pt x="268" y="19"/>
                    </a:lnTo>
                    <a:lnTo>
                      <a:pt x="272" y="21"/>
                    </a:lnTo>
                    <a:lnTo>
                      <a:pt x="276" y="24"/>
                    </a:lnTo>
                    <a:lnTo>
                      <a:pt x="278" y="26"/>
                    </a:lnTo>
                    <a:close/>
                  </a:path>
                </a:pathLst>
              </a:custGeom>
              <a:solidFill>
                <a:srgbClr val="FAC9B0"/>
              </a:solidFill>
              <a:ln w="9525">
                <a:noFill/>
                <a:round/>
              </a:ln>
            </p:spPr>
            <p:txBody>
              <a:bodyPr/>
              <a:lstStyle/>
              <a:p>
                <a:endParaRPr lang="en-US"/>
              </a:p>
            </p:txBody>
          </p:sp>
          <p:sp>
            <p:nvSpPr>
              <p:cNvPr id="1048939" name="Freeform 236"/>
              <p:cNvSpPr/>
              <p:nvPr/>
            </p:nvSpPr>
            <p:spPr bwMode="auto">
              <a:xfrm>
                <a:off x="2098" y="1996"/>
                <a:ext cx="142" cy="145"/>
              </a:xfrm>
              <a:custGeom>
                <a:avLst/>
                <a:gdLst>
                  <a:gd name="T0" fmla="*/ 140 w 285"/>
                  <a:gd name="T1" fmla="*/ 30 h 289"/>
                  <a:gd name="T2" fmla="*/ 130 w 285"/>
                  <a:gd name="T3" fmla="*/ 21 h 289"/>
                  <a:gd name="T4" fmla="*/ 119 w 285"/>
                  <a:gd name="T5" fmla="*/ 15 h 289"/>
                  <a:gd name="T6" fmla="*/ 110 w 285"/>
                  <a:gd name="T7" fmla="*/ 10 h 289"/>
                  <a:gd name="T8" fmla="*/ 99 w 285"/>
                  <a:gd name="T9" fmla="*/ 5 h 289"/>
                  <a:gd name="T10" fmla="*/ 89 w 285"/>
                  <a:gd name="T11" fmla="*/ 2 h 289"/>
                  <a:gd name="T12" fmla="*/ 77 w 285"/>
                  <a:gd name="T13" fmla="*/ 0 h 289"/>
                  <a:gd name="T14" fmla="*/ 64 w 285"/>
                  <a:gd name="T15" fmla="*/ 1 h 289"/>
                  <a:gd name="T16" fmla="*/ 53 w 285"/>
                  <a:gd name="T17" fmla="*/ 5 h 289"/>
                  <a:gd name="T18" fmla="*/ 41 w 285"/>
                  <a:gd name="T19" fmla="*/ 12 h 289"/>
                  <a:gd name="T20" fmla="*/ 31 w 285"/>
                  <a:gd name="T21" fmla="*/ 21 h 289"/>
                  <a:gd name="T22" fmla="*/ 21 w 285"/>
                  <a:gd name="T23" fmla="*/ 34 h 289"/>
                  <a:gd name="T24" fmla="*/ 13 w 285"/>
                  <a:gd name="T25" fmla="*/ 47 h 289"/>
                  <a:gd name="T26" fmla="*/ 10 w 285"/>
                  <a:gd name="T27" fmla="*/ 55 h 289"/>
                  <a:gd name="T28" fmla="*/ 7 w 285"/>
                  <a:gd name="T29" fmla="*/ 62 h 289"/>
                  <a:gd name="T30" fmla="*/ 3 w 285"/>
                  <a:gd name="T31" fmla="*/ 73 h 289"/>
                  <a:gd name="T32" fmla="*/ 1 w 285"/>
                  <a:gd name="T33" fmla="*/ 83 h 289"/>
                  <a:gd name="T34" fmla="*/ 0 w 285"/>
                  <a:gd name="T35" fmla="*/ 93 h 289"/>
                  <a:gd name="T36" fmla="*/ 0 w 285"/>
                  <a:gd name="T37" fmla="*/ 103 h 289"/>
                  <a:gd name="T38" fmla="*/ 1 w 285"/>
                  <a:gd name="T39" fmla="*/ 112 h 289"/>
                  <a:gd name="T40" fmla="*/ 5 w 285"/>
                  <a:gd name="T41" fmla="*/ 124 h 289"/>
                  <a:gd name="T42" fmla="*/ 12 w 285"/>
                  <a:gd name="T43" fmla="*/ 133 h 289"/>
                  <a:gd name="T44" fmla="*/ 22 w 285"/>
                  <a:gd name="T45" fmla="*/ 140 h 289"/>
                  <a:gd name="T46" fmla="*/ 32 w 285"/>
                  <a:gd name="T47" fmla="*/ 143 h 289"/>
                  <a:gd name="T48" fmla="*/ 42 w 285"/>
                  <a:gd name="T49" fmla="*/ 145 h 289"/>
                  <a:gd name="T50" fmla="*/ 52 w 285"/>
                  <a:gd name="T51" fmla="*/ 145 h 289"/>
                  <a:gd name="T52" fmla="*/ 61 w 285"/>
                  <a:gd name="T53" fmla="*/ 144 h 289"/>
                  <a:gd name="T54" fmla="*/ 72 w 285"/>
                  <a:gd name="T55" fmla="*/ 142 h 289"/>
                  <a:gd name="T56" fmla="*/ 84 w 285"/>
                  <a:gd name="T57" fmla="*/ 137 h 289"/>
                  <a:gd name="T58" fmla="*/ 91 w 285"/>
                  <a:gd name="T59" fmla="*/ 133 h 289"/>
                  <a:gd name="T60" fmla="*/ 91 w 285"/>
                  <a:gd name="T61" fmla="*/ 131 h 289"/>
                  <a:gd name="T62" fmla="*/ 90 w 285"/>
                  <a:gd name="T63" fmla="*/ 121 h 289"/>
                  <a:gd name="T64" fmla="*/ 90 w 285"/>
                  <a:gd name="T65" fmla="*/ 112 h 289"/>
                  <a:gd name="T66" fmla="*/ 90 w 285"/>
                  <a:gd name="T67" fmla="*/ 103 h 289"/>
                  <a:gd name="T68" fmla="*/ 90 w 285"/>
                  <a:gd name="T69" fmla="*/ 93 h 289"/>
                  <a:gd name="T70" fmla="*/ 92 w 285"/>
                  <a:gd name="T71" fmla="*/ 82 h 289"/>
                  <a:gd name="T72" fmla="*/ 95 w 285"/>
                  <a:gd name="T73" fmla="*/ 73 h 289"/>
                  <a:gd name="T74" fmla="*/ 98 w 285"/>
                  <a:gd name="T75" fmla="*/ 63 h 289"/>
                  <a:gd name="T76" fmla="*/ 104 w 285"/>
                  <a:gd name="T77" fmla="*/ 55 h 289"/>
                  <a:gd name="T78" fmla="*/ 114 w 285"/>
                  <a:gd name="T79" fmla="*/ 48 h 289"/>
                  <a:gd name="T80" fmla="*/ 125 w 285"/>
                  <a:gd name="T81" fmla="*/ 40 h 289"/>
                  <a:gd name="T82" fmla="*/ 133 w 285"/>
                  <a:gd name="T83" fmla="*/ 35 h 289"/>
                  <a:gd name="T84" fmla="*/ 140 w 285"/>
                  <a:gd name="T85" fmla="*/ 32 h 289"/>
                  <a:gd name="T86" fmla="*/ 142 w 285"/>
                  <a:gd name="T87" fmla="*/ 32 h 289"/>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285"/>
                  <a:gd name="T133" fmla="*/ 0 h 289"/>
                  <a:gd name="T134" fmla="*/ 285 w 285"/>
                  <a:gd name="T135" fmla="*/ 289 h 289"/>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285" h="289">
                    <a:moveTo>
                      <a:pt x="285" y="63"/>
                    </a:moveTo>
                    <a:lnTo>
                      <a:pt x="283" y="61"/>
                    </a:lnTo>
                    <a:lnTo>
                      <a:pt x="281" y="59"/>
                    </a:lnTo>
                    <a:lnTo>
                      <a:pt x="275" y="53"/>
                    </a:lnTo>
                    <a:lnTo>
                      <a:pt x="268" y="50"/>
                    </a:lnTo>
                    <a:lnTo>
                      <a:pt x="260" y="42"/>
                    </a:lnTo>
                    <a:lnTo>
                      <a:pt x="251" y="36"/>
                    </a:lnTo>
                    <a:lnTo>
                      <a:pt x="243" y="32"/>
                    </a:lnTo>
                    <a:lnTo>
                      <a:pt x="239" y="29"/>
                    </a:lnTo>
                    <a:lnTo>
                      <a:pt x="234" y="25"/>
                    </a:lnTo>
                    <a:lnTo>
                      <a:pt x="228" y="23"/>
                    </a:lnTo>
                    <a:lnTo>
                      <a:pt x="220" y="19"/>
                    </a:lnTo>
                    <a:lnTo>
                      <a:pt x="213" y="15"/>
                    </a:lnTo>
                    <a:lnTo>
                      <a:pt x="207" y="12"/>
                    </a:lnTo>
                    <a:lnTo>
                      <a:pt x="199" y="10"/>
                    </a:lnTo>
                    <a:lnTo>
                      <a:pt x="192" y="6"/>
                    </a:lnTo>
                    <a:lnTo>
                      <a:pt x="184" y="6"/>
                    </a:lnTo>
                    <a:lnTo>
                      <a:pt x="178" y="4"/>
                    </a:lnTo>
                    <a:lnTo>
                      <a:pt x="171" y="2"/>
                    </a:lnTo>
                    <a:lnTo>
                      <a:pt x="161" y="0"/>
                    </a:lnTo>
                    <a:lnTo>
                      <a:pt x="154" y="0"/>
                    </a:lnTo>
                    <a:lnTo>
                      <a:pt x="146" y="0"/>
                    </a:lnTo>
                    <a:lnTo>
                      <a:pt x="138" y="2"/>
                    </a:lnTo>
                    <a:lnTo>
                      <a:pt x="129" y="2"/>
                    </a:lnTo>
                    <a:lnTo>
                      <a:pt x="123" y="4"/>
                    </a:lnTo>
                    <a:lnTo>
                      <a:pt x="114" y="6"/>
                    </a:lnTo>
                    <a:lnTo>
                      <a:pt x="106" y="10"/>
                    </a:lnTo>
                    <a:lnTo>
                      <a:pt x="99" y="13"/>
                    </a:lnTo>
                    <a:lnTo>
                      <a:pt x="91" y="17"/>
                    </a:lnTo>
                    <a:lnTo>
                      <a:pt x="83" y="23"/>
                    </a:lnTo>
                    <a:lnTo>
                      <a:pt x="76" y="29"/>
                    </a:lnTo>
                    <a:lnTo>
                      <a:pt x="68" y="34"/>
                    </a:lnTo>
                    <a:lnTo>
                      <a:pt x="62" y="42"/>
                    </a:lnTo>
                    <a:lnTo>
                      <a:pt x="55" y="50"/>
                    </a:lnTo>
                    <a:lnTo>
                      <a:pt x="51" y="59"/>
                    </a:lnTo>
                    <a:lnTo>
                      <a:pt x="43" y="67"/>
                    </a:lnTo>
                    <a:lnTo>
                      <a:pt x="38" y="74"/>
                    </a:lnTo>
                    <a:lnTo>
                      <a:pt x="32" y="84"/>
                    </a:lnTo>
                    <a:lnTo>
                      <a:pt x="26" y="93"/>
                    </a:lnTo>
                    <a:lnTo>
                      <a:pt x="24" y="99"/>
                    </a:lnTo>
                    <a:lnTo>
                      <a:pt x="22" y="105"/>
                    </a:lnTo>
                    <a:lnTo>
                      <a:pt x="21" y="109"/>
                    </a:lnTo>
                    <a:lnTo>
                      <a:pt x="19" y="114"/>
                    </a:lnTo>
                    <a:lnTo>
                      <a:pt x="15" y="120"/>
                    </a:lnTo>
                    <a:lnTo>
                      <a:pt x="15" y="124"/>
                    </a:lnTo>
                    <a:lnTo>
                      <a:pt x="13" y="129"/>
                    </a:lnTo>
                    <a:lnTo>
                      <a:pt x="11" y="135"/>
                    </a:lnTo>
                    <a:lnTo>
                      <a:pt x="7" y="145"/>
                    </a:lnTo>
                    <a:lnTo>
                      <a:pt x="5" y="154"/>
                    </a:lnTo>
                    <a:lnTo>
                      <a:pt x="3" y="160"/>
                    </a:lnTo>
                    <a:lnTo>
                      <a:pt x="2" y="166"/>
                    </a:lnTo>
                    <a:lnTo>
                      <a:pt x="2" y="169"/>
                    </a:lnTo>
                    <a:lnTo>
                      <a:pt x="2" y="175"/>
                    </a:lnTo>
                    <a:lnTo>
                      <a:pt x="0" y="185"/>
                    </a:lnTo>
                    <a:lnTo>
                      <a:pt x="0" y="194"/>
                    </a:lnTo>
                    <a:lnTo>
                      <a:pt x="0" y="200"/>
                    </a:lnTo>
                    <a:lnTo>
                      <a:pt x="0" y="205"/>
                    </a:lnTo>
                    <a:lnTo>
                      <a:pt x="0" y="209"/>
                    </a:lnTo>
                    <a:lnTo>
                      <a:pt x="2" y="215"/>
                    </a:lnTo>
                    <a:lnTo>
                      <a:pt x="2" y="223"/>
                    </a:lnTo>
                    <a:lnTo>
                      <a:pt x="5" y="232"/>
                    </a:lnTo>
                    <a:lnTo>
                      <a:pt x="7" y="238"/>
                    </a:lnTo>
                    <a:lnTo>
                      <a:pt x="11" y="247"/>
                    </a:lnTo>
                    <a:lnTo>
                      <a:pt x="15" y="253"/>
                    </a:lnTo>
                    <a:lnTo>
                      <a:pt x="21" y="261"/>
                    </a:lnTo>
                    <a:lnTo>
                      <a:pt x="24" y="266"/>
                    </a:lnTo>
                    <a:lnTo>
                      <a:pt x="32" y="272"/>
                    </a:lnTo>
                    <a:lnTo>
                      <a:pt x="38" y="276"/>
                    </a:lnTo>
                    <a:lnTo>
                      <a:pt x="45" y="280"/>
                    </a:lnTo>
                    <a:lnTo>
                      <a:pt x="51" y="282"/>
                    </a:lnTo>
                    <a:lnTo>
                      <a:pt x="59" y="285"/>
                    </a:lnTo>
                    <a:lnTo>
                      <a:pt x="64" y="285"/>
                    </a:lnTo>
                    <a:lnTo>
                      <a:pt x="72" y="287"/>
                    </a:lnTo>
                    <a:lnTo>
                      <a:pt x="78" y="287"/>
                    </a:lnTo>
                    <a:lnTo>
                      <a:pt x="85" y="289"/>
                    </a:lnTo>
                    <a:lnTo>
                      <a:pt x="91" y="289"/>
                    </a:lnTo>
                    <a:lnTo>
                      <a:pt x="99" y="289"/>
                    </a:lnTo>
                    <a:lnTo>
                      <a:pt x="104" y="289"/>
                    </a:lnTo>
                    <a:lnTo>
                      <a:pt x="110" y="289"/>
                    </a:lnTo>
                    <a:lnTo>
                      <a:pt x="116" y="289"/>
                    </a:lnTo>
                    <a:lnTo>
                      <a:pt x="123" y="287"/>
                    </a:lnTo>
                    <a:lnTo>
                      <a:pt x="129" y="287"/>
                    </a:lnTo>
                    <a:lnTo>
                      <a:pt x="135" y="287"/>
                    </a:lnTo>
                    <a:lnTo>
                      <a:pt x="144" y="283"/>
                    </a:lnTo>
                    <a:lnTo>
                      <a:pt x="154" y="282"/>
                    </a:lnTo>
                    <a:lnTo>
                      <a:pt x="161" y="278"/>
                    </a:lnTo>
                    <a:lnTo>
                      <a:pt x="169" y="274"/>
                    </a:lnTo>
                    <a:lnTo>
                      <a:pt x="175" y="270"/>
                    </a:lnTo>
                    <a:lnTo>
                      <a:pt x="178" y="268"/>
                    </a:lnTo>
                    <a:lnTo>
                      <a:pt x="182" y="266"/>
                    </a:lnTo>
                    <a:lnTo>
                      <a:pt x="184" y="266"/>
                    </a:lnTo>
                    <a:lnTo>
                      <a:pt x="182" y="264"/>
                    </a:lnTo>
                    <a:lnTo>
                      <a:pt x="182" y="261"/>
                    </a:lnTo>
                    <a:lnTo>
                      <a:pt x="180" y="255"/>
                    </a:lnTo>
                    <a:lnTo>
                      <a:pt x="180" y="247"/>
                    </a:lnTo>
                    <a:lnTo>
                      <a:pt x="180" y="242"/>
                    </a:lnTo>
                    <a:lnTo>
                      <a:pt x="180" y="236"/>
                    </a:lnTo>
                    <a:lnTo>
                      <a:pt x="180" y="230"/>
                    </a:lnTo>
                    <a:lnTo>
                      <a:pt x="180" y="224"/>
                    </a:lnTo>
                    <a:lnTo>
                      <a:pt x="180" y="219"/>
                    </a:lnTo>
                    <a:lnTo>
                      <a:pt x="180" y="211"/>
                    </a:lnTo>
                    <a:lnTo>
                      <a:pt x="180" y="205"/>
                    </a:lnTo>
                    <a:lnTo>
                      <a:pt x="180" y="200"/>
                    </a:lnTo>
                    <a:lnTo>
                      <a:pt x="180" y="192"/>
                    </a:lnTo>
                    <a:lnTo>
                      <a:pt x="180" y="185"/>
                    </a:lnTo>
                    <a:lnTo>
                      <a:pt x="182" y="177"/>
                    </a:lnTo>
                    <a:lnTo>
                      <a:pt x="184" y="171"/>
                    </a:lnTo>
                    <a:lnTo>
                      <a:pt x="184" y="164"/>
                    </a:lnTo>
                    <a:lnTo>
                      <a:pt x="184" y="158"/>
                    </a:lnTo>
                    <a:lnTo>
                      <a:pt x="186" y="150"/>
                    </a:lnTo>
                    <a:lnTo>
                      <a:pt x="190" y="145"/>
                    </a:lnTo>
                    <a:lnTo>
                      <a:pt x="192" y="139"/>
                    </a:lnTo>
                    <a:lnTo>
                      <a:pt x="194" y="131"/>
                    </a:lnTo>
                    <a:lnTo>
                      <a:pt x="197" y="126"/>
                    </a:lnTo>
                    <a:lnTo>
                      <a:pt x="201" y="120"/>
                    </a:lnTo>
                    <a:lnTo>
                      <a:pt x="205" y="116"/>
                    </a:lnTo>
                    <a:lnTo>
                      <a:pt x="209" y="110"/>
                    </a:lnTo>
                    <a:lnTo>
                      <a:pt x="213" y="107"/>
                    </a:lnTo>
                    <a:lnTo>
                      <a:pt x="218" y="103"/>
                    </a:lnTo>
                    <a:lnTo>
                      <a:pt x="228" y="95"/>
                    </a:lnTo>
                    <a:lnTo>
                      <a:pt x="237" y="89"/>
                    </a:lnTo>
                    <a:lnTo>
                      <a:pt x="243" y="84"/>
                    </a:lnTo>
                    <a:lnTo>
                      <a:pt x="251" y="80"/>
                    </a:lnTo>
                    <a:lnTo>
                      <a:pt x="256" y="74"/>
                    </a:lnTo>
                    <a:lnTo>
                      <a:pt x="262" y="72"/>
                    </a:lnTo>
                    <a:lnTo>
                      <a:pt x="266" y="69"/>
                    </a:lnTo>
                    <a:lnTo>
                      <a:pt x="272" y="67"/>
                    </a:lnTo>
                    <a:lnTo>
                      <a:pt x="277" y="65"/>
                    </a:lnTo>
                    <a:lnTo>
                      <a:pt x="281" y="63"/>
                    </a:lnTo>
                    <a:lnTo>
                      <a:pt x="285" y="63"/>
                    </a:lnTo>
                    <a:close/>
                  </a:path>
                </a:pathLst>
              </a:custGeom>
              <a:solidFill>
                <a:srgbClr val="999999"/>
              </a:solidFill>
              <a:ln w="9525">
                <a:noFill/>
                <a:round/>
              </a:ln>
            </p:spPr>
            <p:txBody>
              <a:bodyPr/>
              <a:lstStyle/>
              <a:p>
                <a:endParaRPr lang="en-US"/>
              </a:p>
            </p:txBody>
          </p:sp>
          <p:sp>
            <p:nvSpPr>
              <p:cNvPr id="1048940" name="Freeform 237"/>
              <p:cNvSpPr/>
              <p:nvPr/>
            </p:nvSpPr>
            <p:spPr bwMode="auto">
              <a:xfrm>
                <a:off x="1873" y="2157"/>
                <a:ext cx="807" cy="417"/>
              </a:xfrm>
              <a:custGeom>
                <a:avLst/>
                <a:gdLst>
                  <a:gd name="T0" fmla="*/ 198 w 1614"/>
                  <a:gd name="T1" fmla="*/ 79 h 835"/>
                  <a:gd name="T2" fmla="*/ 225 w 1614"/>
                  <a:gd name="T3" fmla="*/ 74 h 835"/>
                  <a:gd name="T4" fmla="*/ 243 w 1614"/>
                  <a:gd name="T5" fmla="*/ 72 h 835"/>
                  <a:gd name="T6" fmla="*/ 263 w 1614"/>
                  <a:gd name="T7" fmla="*/ 70 h 835"/>
                  <a:gd name="T8" fmla="*/ 281 w 1614"/>
                  <a:gd name="T9" fmla="*/ 70 h 835"/>
                  <a:gd name="T10" fmla="*/ 309 w 1614"/>
                  <a:gd name="T11" fmla="*/ 73 h 835"/>
                  <a:gd name="T12" fmla="*/ 335 w 1614"/>
                  <a:gd name="T13" fmla="*/ 87 h 835"/>
                  <a:gd name="T14" fmla="*/ 361 w 1614"/>
                  <a:gd name="T15" fmla="*/ 112 h 835"/>
                  <a:gd name="T16" fmla="*/ 384 w 1614"/>
                  <a:gd name="T17" fmla="*/ 140 h 835"/>
                  <a:gd name="T18" fmla="*/ 399 w 1614"/>
                  <a:gd name="T19" fmla="*/ 161 h 835"/>
                  <a:gd name="T20" fmla="*/ 400 w 1614"/>
                  <a:gd name="T21" fmla="*/ 154 h 835"/>
                  <a:gd name="T22" fmla="*/ 398 w 1614"/>
                  <a:gd name="T23" fmla="*/ 128 h 835"/>
                  <a:gd name="T24" fmla="*/ 398 w 1614"/>
                  <a:gd name="T25" fmla="*/ 108 h 835"/>
                  <a:gd name="T26" fmla="*/ 400 w 1614"/>
                  <a:gd name="T27" fmla="*/ 87 h 835"/>
                  <a:gd name="T28" fmla="*/ 408 w 1614"/>
                  <a:gd name="T29" fmla="*/ 67 h 835"/>
                  <a:gd name="T30" fmla="*/ 426 w 1614"/>
                  <a:gd name="T31" fmla="*/ 46 h 835"/>
                  <a:gd name="T32" fmla="*/ 447 w 1614"/>
                  <a:gd name="T33" fmla="*/ 35 h 835"/>
                  <a:gd name="T34" fmla="*/ 476 w 1614"/>
                  <a:gd name="T35" fmla="*/ 31 h 835"/>
                  <a:gd name="T36" fmla="*/ 510 w 1614"/>
                  <a:gd name="T37" fmla="*/ 28 h 835"/>
                  <a:gd name="T38" fmla="*/ 549 w 1614"/>
                  <a:gd name="T39" fmla="*/ 24 h 835"/>
                  <a:gd name="T40" fmla="*/ 589 w 1614"/>
                  <a:gd name="T41" fmla="*/ 22 h 835"/>
                  <a:gd name="T42" fmla="*/ 628 w 1614"/>
                  <a:gd name="T43" fmla="*/ 19 h 835"/>
                  <a:gd name="T44" fmla="*/ 662 w 1614"/>
                  <a:gd name="T45" fmla="*/ 17 h 835"/>
                  <a:gd name="T46" fmla="*/ 693 w 1614"/>
                  <a:gd name="T47" fmla="*/ 14 h 835"/>
                  <a:gd name="T48" fmla="*/ 716 w 1614"/>
                  <a:gd name="T49" fmla="*/ 13 h 835"/>
                  <a:gd name="T50" fmla="*/ 733 w 1614"/>
                  <a:gd name="T51" fmla="*/ 13 h 835"/>
                  <a:gd name="T52" fmla="*/ 330 w 1614"/>
                  <a:gd name="T53" fmla="*/ 415 h 835"/>
                  <a:gd name="T54" fmla="*/ 334 w 1614"/>
                  <a:gd name="T55" fmla="*/ 395 h 835"/>
                  <a:gd name="T56" fmla="*/ 335 w 1614"/>
                  <a:gd name="T57" fmla="*/ 369 h 835"/>
                  <a:gd name="T58" fmla="*/ 333 w 1614"/>
                  <a:gd name="T59" fmla="*/ 349 h 835"/>
                  <a:gd name="T60" fmla="*/ 328 w 1614"/>
                  <a:gd name="T61" fmla="*/ 328 h 835"/>
                  <a:gd name="T62" fmla="*/ 320 w 1614"/>
                  <a:gd name="T63" fmla="*/ 307 h 835"/>
                  <a:gd name="T64" fmla="*/ 305 w 1614"/>
                  <a:gd name="T65" fmla="*/ 287 h 835"/>
                  <a:gd name="T66" fmla="*/ 285 w 1614"/>
                  <a:gd name="T67" fmla="*/ 268 h 835"/>
                  <a:gd name="T68" fmla="*/ 262 w 1614"/>
                  <a:gd name="T69" fmla="*/ 254 h 835"/>
                  <a:gd name="T70" fmla="*/ 237 w 1614"/>
                  <a:gd name="T71" fmla="*/ 245 h 835"/>
                  <a:gd name="T72" fmla="*/ 213 w 1614"/>
                  <a:gd name="T73" fmla="*/ 240 h 835"/>
                  <a:gd name="T74" fmla="*/ 189 w 1614"/>
                  <a:gd name="T75" fmla="*/ 240 h 835"/>
                  <a:gd name="T76" fmla="*/ 166 w 1614"/>
                  <a:gd name="T77" fmla="*/ 243 h 835"/>
                  <a:gd name="T78" fmla="*/ 145 w 1614"/>
                  <a:gd name="T79" fmla="*/ 250 h 835"/>
                  <a:gd name="T80" fmla="*/ 126 w 1614"/>
                  <a:gd name="T81" fmla="*/ 260 h 835"/>
                  <a:gd name="T82" fmla="*/ 103 w 1614"/>
                  <a:gd name="T83" fmla="*/ 287 h 835"/>
                  <a:gd name="T84" fmla="*/ 87 w 1614"/>
                  <a:gd name="T85" fmla="*/ 313 h 835"/>
                  <a:gd name="T86" fmla="*/ 69 w 1614"/>
                  <a:gd name="T87" fmla="*/ 335 h 835"/>
                  <a:gd name="T88" fmla="*/ 0 w 1614"/>
                  <a:gd name="T89" fmla="*/ 311 h 835"/>
                  <a:gd name="T90" fmla="*/ 10 w 1614"/>
                  <a:gd name="T91" fmla="*/ 291 h 835"/>
                  <a:gd name="T92" fmla="*/ 22 w 1614"/>
                  <a:gd name="T93" fmla="*/ 270 h 835"/>
                  <a:gd name="T94" fmla="*/ 39 w 1614"/>
                  <a:gd name="T95" fmla="*/ 243 h 835"/>
                  <a:gd name="T96" fmla="*/ 58 w 1614"/>
                  <a:gd name="T97" fmla="*/ 215 h 835"/>
                  <a:gd name="T98" fmla="*/ 78 w 1614"/>
                  <a:gd name="T99" fmla="*/ 186 h 835"/>
                  <a:gd name="T100" fmla="*/ 99 w 1614"/>
                  <a:gd name="T101" fmla="*/ 161 h 835"/>
                  <a:gd name="T102" fmla="*/ 117 w 1614"/>
                  <a:gd name="T103" fmla="*/ 140 h 835"/>
                  <a:gd name="T104" fmla="*/ 147 w 1614"/>
                  <a:gd name="T105" fmla="*/ 124 h 835"/>
                  <a:gd name="T106" fmla="*/ 169 w 1614"/>
                  <a:gd name="T107" fmla="*/ 109 h 835"/>
                  <a:gd name="T108" fmla="*/ 183 w 1614"/>
                  <a:gd name="T109" fmla="*/ 87 h 835"/>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1614"/>
                  <a:gd name="T166" fmla="*/ 0 h 835"/>
                  <a:gd name="T167" fmla="*/ 1614 w 1614"/>
                  <a:gd name="T168" fmla="*/ 835 h 835"/>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1614" h="835">
                    <a:moveTo>
                      <a:pt x="367" y="164"/>
                    </a:moveTo>
                    <a:lnTo>
                      <a:pt x="369" y="164"/>
                    </a:lnTo>
                    <a:lnTo>
                      <a:pt x="375" y="162"/>
                    </a:lnTo>
                    <a:lnTo>
                      <a:pt x="378" y="162"/>
                    </a:lnTo>
                    <a:lnTo>
                      <a:pt x="384" y="160"/>
                    </a:lnTo>
                    <a:lnTo>
                      <a:pt x="390" y="160"/>
                    </a:lnTo>
                    <a:lnTo>
                      <a:pt x="396" y="158"/>
                    </a:lnTo>
                    <a:lnTo>
                      <a:pt x="403" y="156"/>
                    </a:lnTo>
                    <a:lnTo>
                      <a:pt x="411" y="156"/>
                    </a:lnTo>
                    <a:lnTo>
                      <a:pt x="418" y="154"/>
                    </a:lnTo>
                    <a:lnTo>
                      <a:pt x="428" y="153"/>
                    </a:lnTo>
                    <a:lnTo>
                      <a:pt x="435" y="151"/>
                    </a:lnTo>
                    <a:lnTo>
                      <a:pt x="447" y="151"/>
                    </a:lnTo>
                    <a:lnTo>
                      <a:pt x="451" y="149"/>
                    </a:lnTo>
                    <a:lnTo>
                      <a:pt x="456" y="149"/>
                    </a:lnTo>
                    <a:lnTo>
                      <a:pt x="462" y="149"/>
                    </a:lnTo>
                    <a:lnTo>
                      <a:pt x="468" y="149"/>
                    </a:lnTo>
                    <a:lnTo>
                      <a:pt x="472" y="147"/>
                    </a:lnTo>
                    <a:lnTo>
                      <a:pt x="477" y="147"/>
                    </a:lnTo>
                    <a:lnTo>
                      <a:pt x="481" y="145"/>
                    </a:lnTo>
                    <a:lnTo>
                      <a:pt x="487" y="145"/>
                    </a:lnTo>
                    <a:lnTo>
                      <a:pt x="492" y="145"/>
                    </a:lnTo>
                    <a:lnTo>
                      <a:pt x="498" y="143"/>
                    </a:lnTo>
                    <a:lnTo>
                      <a:pt x="504" y="143"/>
                    </a:lnTo>
                    <a:lnTo>
                      <a:pt x="510" y="143"/>
                    </a:lnTo>
                    <a:lnTo>
                      <a:pt x="513" y="143"/>
                    </a:lnTo>
                    <a:lnTo>
                      <a:pt x="519" y="141"/>
                    </a:lnTo>
                    <a:lnTo>
                      <a:pt x="525" y="141"/>
                    </a:lnTo>
                    <a:lnTo>
                      <a:pt x="531" y="141"/>
                    </a:lnTo>
                    <a:lnTo>
                      <a:pt x="534" y="141"/>
                    </a:lnTo>
                    <a:lnTo>
                      <a:pt x="540" y="141"/>
                    </a:lnTo>
                    <a:lnTo>
                      <a:pt x="546" y="141"/>
                    </a:lnTo>
                    <a:lnTo>
                      <a:pt x="551" y="141"/>
                    </a:lnTo>
                    <a:lnTo>
                      <a:pt x="557" y="141"/>
                    </a:lnTo>
                    <a:lnTo>
                      <a:pt x="561" y="141"/>
                    </a:lnTo>
                    <a:lnTo>
                      <a:pt x="567" y="141"/>
                    </a:lnTo>
                    <a:lnTo>
                      <a:pt x="572" y="141"/>
                    </a:lnTo>
                    <a:lnTo>
                      <a:pt x="580" y="141"/>
                    </a:lnTo>
                    <a:lnTo>
                      <a:pt x="591" y="143"/>
                    </a:lnTo>
                    <a:lnTo>
                      <a:pt x="601" y="143"/>
                    </a:lnTo>
                    <a:lnTo>
                      <a:pt x="608" y="145"/>
                    </a:lnTo>
                    <a:lnTo>
                      <a:pt x="618" y="147"/>
                    </a:lnTo>
                    <a:lnTo>
                      <a:pt x="626" y="149"/>
                    </a:lnTo>
                    <a:lnTo>
                      <a:pt x="633" y="151"/>
                    </a:lnTo>
                    <a:lnTo>
                      <a:pt x="639" y="154"/>
                    </a:lnTo>
                    <a:lnTo>
                      <a:pt x="646" y="158"/>
                    </a:lnTo>
                    <a:lnTo>
                      <a:pt x="654" y="162"/>
                    </a:lnTo>
                    <a:lnTo>
                      <a:pt x="662" y="168"/>
                    </a:lnTo>
                    <a:lnTo>
                      <a:pt x="669" y="174"/>
                    </a:lnTo>
                    <a:lnTo>
                      <a:pt x="677" y="179"/>
                    </a:lnTo>
                    <a:lnTo>
                      <a:pt x="686" y="187"/>
                    </a:lnTo>
                    <a:lnTo>
                      <a:pt x="692" y="193"/>
                    </a:lnTo>
                    <a:lnTo>
                      <a:pt x="700" y="200"/>
                    </a:lnTo>
                    <a:lnTo>
                      <a:pt x="707" y="208"/>
                    </a:lnTo>
                    <a:lnTo>
                      <a:pt x="715" y="215"/>
                    </a:lnTo>
                    <a:lnTo>
                      <a:pt x="721" y="225"/>
                    </a:lnTo>
                    <a:lnTo>
                      <a:pt x="728" y="232"/>
                    </a:lnTo>
                    <a:lnTo>
                      <a:pt x="736" y="242"/>
                    </a:lnTo>
                    <a:lnTo>
                      <a:pt x="743" y="250"/>
                    </a:lnTo>
                    <a:lnTo>
                      <a:pt x="749" y="257"/>
                    </a:lnTo>
                    <a:lnTo>
                      <a:pt x="755" y="265"/>
                    </a:lnTo>
                    <a:lnTo>
                      <a:pt x="761" y="272"/>
                    </a:lnTo>
                    <a:lnTo>
                      <a:pt x="768" y="280"/>
                    </a:lnTo>
                    <a:lnTo>
                      <a:pt x="772" y="286"/>
                    </a:lnTo>
                    <a:lnTo>
                      <a:pt x="778" y="293"/>
                    </a:lnTo>
                    <a:lnTo>
                      <a:pt x="781" y="301"/>
                    </a:lnTo>
                    <a:lnTo>
                      <a:pt x="787" y="307"/>
                    </a:lnTo>
                    <a:lnTo>
                      <a:pt x="789" y="312"/>
                    </a:lnTo>
                    <a:lnTo>
                      <a:pt x="793" y="318"/>
                    </a:lnTo>
                    <a:lnTo>
                      <a:pt x="797" y="322"/>
                    </a:lnTo>
                    <a:lnTo>
                      <a:pt x="800" y="326"/>
                    </a:lnTo>
                    <a:lnTo>
                      <a:pt x="802" y="329"/>
                    </a:lnTo>
                    <a:lnTo>
                      <a:pt x="804" y="333"/>
                    </a:lnTo>
                    <a:lnTo>
                      <a:pt x="802" y="329"/>
                    </a:lnTo>
                    <a:lnTo>
                      <a:pt x="800" y="322"/>
                    </a:lnTo>
                    <a:lnTo>
                      <a:pt x="800" y="316"/>
                    </a:lnTo>
                    <a:lnTo>
                      <a:pt x="800" y="309"/>
                    </a:lnTo>
                    <a:lnTo>
                      <a:pt x="797" y="301"/>
                    </a:lnTo>
                    <a:lnTo>
                      <a:pt x="797" y="293"/>
                    </a:lnTo>
                    <a:lnTo>
                      <a:pt x="797" y="284"/>
                    </a:lnTo>
                    <a:lnTo>
                      <a:pt x="795" y="274"/>
                    </a:lnTo>
                    <a:lnTo>
                      <a:pt x="795" y="269"/>
                    </a:lnTo>
                    <a:lnTo>
                      <a:pt x="795" y="263"/>
                    </a:lnTo>
                    <a:lnTo>
                      <a:pt x="795" y="257"/>
                    </a:lnTo>
                    <a:lnTo>
                      <a:pt x="795" y="251"/>
                    </a:lnTo>
                    <a:lnTo>
                      <a:pt x="795" y="246"/>
                    </a:lnTo>
                    <a:lnTo>
                      <a:pt x="795" y="240"/>
                    </a:lnTo>
                    <a:lnTo>
                      <a:pt x="795" y="234"/>
                    </a:lnTo>
                    <a:lnTo>
                      <a:pt x="795" y="229"/>
                    </a:lnTo>
                    <a:lnTo>
                      <a:pt x="795" y="223"/>
                    </a:lnTo>
                    <a:lnTo>
                      <a:pt x="795" y="217"/>
                    </a:lnTo>
                    <a:lnTo>
                      <a:pt x="797" y="212"/>
                    </a:lnTo>
                    <a:lnTo>
                      <a:pt x="797" y="206"/>
                    </a:lnTo>
                    <a:lnTo>
                      <a:pt x="797" y="200"/>
                    </a:lnTo>
                    <a:lnTo>
                      <a:pt x="797" y="193"/>
                    </a:lnTo>
                    <a:lnTo>
                      <a:pt x="799" y="187"/>
                    </a:lnTo>
                    <a:lnTo>
                      <a:pt x="800" y="181"/>
                    </a:lnTo>
                    <a:lnTo>
                      <a:pt x="800" y="175"/>
                    </a:lnTo>
                    <a:lnTo>
                      <a:pt x="802" y="168"/>
                    </a:lnTo>
                    <a:lnTo>
                      <a:pt x="804" y="162"/>
                    </a:lnTo>
                    <a:lnTo>
                      <a:pt x="806" y="158"/>
                    </a:lnTo>
                    <a:lnTo>
                      <a:pt x="808" y="153"/>
                    </a:lnTo>
                    <a:lnTo>
                      <a:pt x="810" y="147"/>
                    </a:lnTo>
                    <a:lnTo>
                      <a:pt x="814" y="141"/>
                    </a:lnTo>
                    <a:lnTo>
                      <a:pt x="816" y="135"/>
                    </a:lnTo>
                    <a:lnTo>
                      <a:pt x="820" y="130"/>
                    </a:lnTo>
                    <a:lnTo>
                      <a:pt x="821" y="124"/>
                    </a:lnTo>
                    <a:lnTo>
                      <a:pt x="825" y="120"/>
                    </a:lnTo>
                    <a:lnTo>
                      <a:pt x="829" y="115"/>
                    </a:lnTo>
                    <a:lnTo>
                      <a:pt x="837" y="105"/>
                    </a:lnTo>
                    <a:lnTo>
                      <a:pt x="846" y="97"/>
                    </a:lnTo>
                    <a:lnTo>
                      <a:pt x="852" y="92"/>
                    </a:lnTo>
                    <a:lnTo>
                      <a:pt x="856" y="88"/>
                    </a:lnTo>
                    <a:lnTo>
                      <a:pt x="861" y="84"/>
                    </a:lnTo>
                    <a:lnTo>
                      <a:pt x="869" y="82"/>
                    </a:lnTo>
                    <a:lnTo>
                      <a:pt x="875" y="78"/>
                    </a:lnTo>
                    <a:lnTo>
                      <a:pt x="880" y="77"/>
                    </a:lnTo>
                    <a:lnTo>
                      <a:pt x="886" y="73"/>
                    </a:lnTo>
                    <a:lnTo>
                      <a:pt x="894" y="71"/>
                    </a:lnTo>
                    <a:lnTo>
                      <a:pt x="901" y="69"/>
                    </a:lnTo>
                    <a:lnTo>
                      <a:pt x="909" y="69"/>
                    </a:lnTo>
                    <a:lnTo>
                      <a:pt x="916" y="67"/>
                    </a:lnTo>
                    <a:lnTo>
                      <a:pt x="926" y="67"/>
                    </a:lnTo>
                    <a:lnTo>
                      <a:pt x="934" y="65"/>
                    </a:lnTo>
                    <a:lnTo>
                      <a:pt x="943" y="63"/>
                    </a:lnTo>
                    <a:lnTo>
                      <a:pt x="953" y="63"/>
                    </a:lnTo>
                    <a:lnTo>
                      <a:pt x="960" y="61"/>
                    </a:lnTo>
                    <a:lnTo>
                      <a:pt x="970" y="59"/>
                    </a:lnTo>
                    <a:lnTo>
                      <a:pt x="981" y="59"/>
                    </a:lnTo>
                    <a:lnTo>
                      <a:pt x="989" y="58"/>
                    </a:lnTo>
                    <a:lnTo>
                      <a:pt x="1000" y="58"/>
                    </a:lnTo>
                    <a:lnTo>
                      <a:pt x="1012" y="56"/>
                    </a:lnTo>
                    <a:lnTo>
                      <a:pt x="1021" y="56"/>
                    </a:lnTo>
                    <a:lnTo>
                      <a:pt x="1032" y="54"/>
                    </a:lnTo>
                    <a:lnTo>
                      <a:pt x="1042" y="54"/>
                    </a:lnTo>
                    <a:lnTo>
                      <a:pt x="1053" y="52"/>
                    </a:lnTo>
                    <a:lnTo>
                      <a:pt x="1065" y="52"/>
                    </a:lnTo>
                    <a:lnTo>
                      <a:pt x="1076" y="52"/>
                    </a:lnTo>
                    <a:lnTo>
                      <a:pt x="1088" y="52"/>
                    </a:lnTo>
                    <a:lnTo>
                      <a:pt x="1097" y="48"/>
                    </a:lnTo>
                    <a:lnTo>
                      <a:pt x="1109" y="48"/>
                    </a:lnTo>
                    <a:lnTo>
                      <a:pt x="1120" y="48"/>
                    </a:lnTo>
                    <a:lnTo>
                      <a:pt x="1131" y="48"/>
                    </a:lnTo>
                    <a:lnTo>
                      <a:pt x="1143" y="46"/>
                    </a:lnTo>
                    <a:lnTo>
                      <a:pt x="1154" y="46"/>
                    </a:lnTo>
                    <a:lnTo>
                      <a:pt x="1166" y="44"/>
                    </a:lnTo>
                    <a:lnTo>
                      <a:pt x="1177" y="44"/>
                    </a:lnTo>
                    <a:lnTo>
                      <a:pt x="1188" y="44"/>
                    </a:lnTo>
                    <a:lnTo>
                      <a:pt x="1200" y="42"/>
                    </a:lnTo>
                    <a:lnTo>
                      <a:pt x="1209" y="42"/>
                    </a:lnTo>
                    <a:lnTo>
                      <a:pt x="1221" y="42"/>
                    </a:lnTo>
                    <a:lnTo>
                      <a:pt x="1232" y="40"/>
                    </a:lnTo>
                    <a:lnTo>
                      <a:pt x="1243" y="40"/>
                    </a:lnTo>
                    <a:lnTo>
                      <a:pt x="1255" y="39"/>
                    </a:lnTo>
                    <a:lnTo>
                      <a:pt x="1264" y="39"/>
                    </a:lnTo>
                    <a:lnTo>
                      <a:pt x="1274" y="39"/>
                    </a:lnTo>
                    <a:lnTo>
                      <a:pt x="1285" y="37"/>
                    </a:lnTo>
                    <a:lnTo>
                      <a:pt x="1295" y="37"/>
                    </a:lnTo>
                    <a:lnTo>
                      <a:pt x="1306" y="37"/>
                    </a:lnTo>
                    <a:lnTo>
                      <a:pt x="1314" y="35"/>
                    </a:lnTo>
                    <a:lnTo>
                      <a:pt x="1323" y="35"/>
                    </a:lnTo>
                    <a:lnTo>
                      <a:pt x="1333" y="33"/>
                    </a:lnTo>
                    <a:lnTo>
                      <a:pt x="1342" y="33"/>
                    </a:lnTo>
                    <a:lnTo>
                      <a:pt x="1352" y="33"/>
                    </a:lnTo>
                    <a:lnTo>
                      <a:pt x="1361" y="31"/>
                    </a:lnTo>
                    <a:lnTo>
                      <a:pt x="1369" y="31"/>
                    </a:lnTo>
                    <a:lnTo>
                      <a:pt x="1378" y="31"/>
                    </a:lnTo>
                    <a:lnTo>
                      <a:pt x="1386" y="29"/>
                    </a:lnTo>
                    <a:lnTo>
                      <a:pt x="1394" y="29"/>
                    </a:lnTo>
                    <a:lnTo>
                      <a:pt x="1401" y="29"/>
                    </a:lnTo>
                    <a:lnTo>
                      <a:pt x="1409" y="29"/>
                    </a:lnTo>
                    <a:lnTo>
                      <a:pt x="1415" y="29"/>
                    </a:lnTo>
                    <a:lnTo>
                      <a:pt x="1420" y="29"/>
                    </a:lnTo>
                    <a:lnTo>
                      <a:pt x="1426" y="27"/>
                    </a:lnTo>
                    <a:lnTo>
                      <a:pt x="1432" y="27"/>
                    </a:lnTo>
                    <a:lnTo>
                      <a:pt x="1437" y="27"/>
                    </a:lnTo>
                    <a:lnTo>
                      <a:pt x="1443" y="27"/>
                    </a:lnTo>
                    <a:lnTo>
                      <a:pt x="1447" y="27"/>
                    </a:lnTo>
                    <a:lnTo>
                      <a:pt x="1451" y="27"/>
                    </a:lnTo>
                    <a:lnTo>
                      <a:pt x="1458" y="27"/>
                    </a:lnTo>
                    <a:lnTo>
                      <a:pt x="1464" y="27"/>
                    </a:lnTo>
                    <a:lnTo>
                      <a:pt x="1466" y="27"/>
                    </a:lnTo>
                    <a:lnTo>
                      <a:pt x="1468" y="27"/>
                    </a:lnTo>
                    <a:lnTo>
                      <a:pt x="1548" y="0"/>
                    </a:lnTo>
                    <a:lnTo>
                      <a:pt x="1614" y="134"/>
                    </a:lnTo>
                    <a:lnTo>
                      <a:pt x="1067" y="347"/>
                    </a:lnTo>
                    <a:lnTo>
                      <a:pt x="1122" y="491"/>
                    </a:lnTo>
                    <a:lnTo>
                      <a:pt x="660" y="835"/>
                    </a:lnTo>
                    <a:lnTo>
                      <a:pt x="660" y="831"/>
                    </a:lnTo>
                    <a:lnTo>
                      <a:pt x="662" y="826"/>
                    </a:lnTo>
                    <a:lnTo>
                      <a:pt x="662" y="822"/>
                    </a:lnTo>
                    <a:lnTo>
                      <a:pt x="664" y="816"/>
                    </a:lnTo>
                    <a:lnTo>
                      <a:pt x="664" y="811"/>
                    </a:lnTo>
                    <a:lnTo>
                      <a:pt x="666" y="805"/>
                    </a:lnTo>
                    <a:lnTo>
                      <a:pt x="666" y="797"/>
                    </a:lnTo>
                    <a:lnTo>
                      <a:pt x="667" y="790"/>
                    </a:lnTo>
                    <a:lnTo>
                      <a:pt x="667" y="780"/>
                    </a:lnTo>
                    <a:lnTo>
                      <a:pt x="669" y="772"/>
                    </a:lnTo>
                    <a:lnTo>
                      <a:pt x="669" y="763"/>
                    </a:lnTo>
                    <a:lnTo>
                      <a:pt x="669" y="753"/>
                    </a:lnTo>
                    <a:lnTo>
                      <a:pt x="669" y="748"/>
                    </a:lnTo>
                    <a:lnTo>
                      <a:pt x="669" y="744"/>
                    </a:lnTo>
                    <a:lnTo>
                      <a:pt x="669" y="738"/>
                    </a:lnTo>
                    <a:lnTo>
                      <a:pt x="671" y="733"/>
                    </a:lnTo>
                    <a:lnTo>
                      <a:pt x="669" y="727"/>
                    </a:lnTo>
                    <a:lnTo>
                      <a:pt x="669" y="721"/>
                    </a:lnTo>
                    <a:lnTo>
                      <a:pt x="667" y="715"/>
                    </a:lnTo>
                    <a:lnTo>
                      <a:pt x="667" y="710"/>
                    </a:lnTo>
                    <a:lnTo>
                      <a:pt x="667" y="704"/>
                    </a:lnTo>
                    <a:lnTo>
                      <a:pt x="666" y="698"/>
                    </a:lnTo>
                    <a:lnTo>
                      <a:pt x="666" y="693"/>
                    </a:lnTo>
                    <a:lnTo>
                      <a:pt x="664" y="687"/>
                    </a:lnTo>
                    <a:lnTo>
                      <a:pt x="664" y="681"/>
                    </a:lnTo>
                    <a:lnTo>
                      <a:pt x="662" y="674"/>
                    </a:lnTo>
                    <a:lnTo>
                      <a:pt x="660" y="668"/>
                    </a:lnTo>
                    <a:lnTo>
                      <a:pt x="660" y="664"/>
                    </a:lnTo>
                    <a:lnTo>
                      <a:pt x="656" y="656"/>
                    </a:lnTo>
                    <a:lnTo>
                      <a:pt x="654" y="651"/>
                    </a:lnTo>
                    <a:lnTo>
                      <a:pt x="652" y="645"/>
                    </a:lnTo>
                    <a:lnTo>
                      <a:pt x="650" y="639"/>
                    </a:lnTo>
                    <a:lnTo>
                      <a:pt x="646" y="634"/>
                    </a:lnTo>
                    <a:lnTo>
                      <a:pt x="645" y="626"/>
                    </a:lnTo>
                    <a:lnTo>
                      <a:pt x="641" y="620"/>
                    </a:lnTo>
                    <a:lnTo>
                      <a:pt x="639" y="615"/>
                    </a:lnTo>
                    <a:lnTo>
                      <a:pt x="635" y="609"/>
                    </a:lnTo>
                    <a:lnTo>
                      <a:pt x="631" y="603"/>
                    </a:lnTo>
                    <a:lnTo>
                      <a:pt x="627" y="598"/>
                    </a:lnTo>
                    <a:lnTo>
                      <a:pt x="624" y="592"/>
                    </a:lnTo>
                    <a:lnTo>
                      <a:pt x="620" y="586"/>
                    </a:lnTo>
                    <a:lnTo>
                      <a:pt x="614" y="580"/>
                    </a:lnTo>
                    <a:lnTo>
                      <a:pt x="610" y="575"/>
                    </a:lnTo>
                    <a:lnTo>
                      <a:pt x="607" y="569"/>
                    </a:lnTo>
                    <a:lnTo>
                      <a:pt x="601" y="563"/>
                    </a:lnTo>
                    <a:lnTo>
                      <a:pt x="595" y="558"/>
                    </a:lnTo>
                    <a:lnTo>
                      <a:pt x="589" y="554"/>
                    </a:lnTo>
                    <a:lnTo>
                      <a:pt x="584" y="548"/>
                    </a:lnTo>
                    <a:lnTo>
                      <a:pt x="576" y="542"/>
                    </a:lnTo>
                    <a:lnTo>
                      <a:pt x="570" y="537"/>
                    </a:lnTo>
                    <a:lnTo>
                      <a:pt x="563" y="531"/>
                    </a:lnTo>
                    <a:lnTo>
                      <a:pt x="557" y="527"/>
                    </a:lnTo>
                    <a:lnTo>
                      <a:pt x="550" y="523"/>
                    </a:lnTo>
                    <a:lnTo>
                      <a:pt x="544" y="520"/>
                    </a:lnTo>
                    <a:lnTo>
                      <a:pt x="536" y="516"/>
                    </a:lnTo>
                    <a:lnTo>
                      <a:pt x="531" y="512"/>
                    </a:lnTo>
                    <a:lnTo>
                      <a:pt x="523" y="508"/>
                    </a:lnTo>
                    <a:lnTo>
                      <a:pt x="517" y="504"/>
                    </a:lnTo>
                    <a:lnTo>
                      <a:pt x="510" y="501"/>
                    </a:lnTo>
                    <a:lnTo>
                      <a:pt x="502" y="499"/>
                    </a:lnTo>
                    <a:lnTo>
                      <a:pt x="496" y="497"/>
                    </a:lnTo>
                    <a:lnTo>
                      <a:pt x="489" y="493"/>
                    </a:lnTo>
                    <a:lnTo>
                      <a:pt x="481" y="491"/>
                    </a:lnTo>
                    <a:lnTo>
                      <a:pt x="475" y="491"/>
                    </a:lnTo>
                    <a:lnTo>
                      <a:pt x="468" y="487"/>
                    </a:lnTo>
                    <a:lnTo>
                      <a:pt x="460" y="485"/>
                    </a:lnTo>
                    <a:lnTo>
                      <a:pt x="453" y="483"/>
                    </a:lnTo>
                    <a:lnTo>
                      <a:pt x="447" y="483"/>
                    </a:lnTo>
                    <a:lnTo>
                      <a:pt x="439" y="482"/>
                    </a:lnTo>
                    <a:lnTo>
                      <a:pt x="434" y="482"/>
                    </a:lnTo>
                    <a:lnTo>
                      <a:pt x="426" y="480"/>
                    </a:lnTo>
                    <a:lnTo>
                      <a:pt x="420" y="480"/>
                    </a:lnTo>
                    <a:lnTo>
                      <a:pt x="413" y="480"/>
                    </a:lnTo>
                    <a:lnTo>
                      <a:pt x="405" y="480"/>
                    </a:lnTo>
                    <a:lnTo>
                      <a:pt x="397" y="480"/>
                    </a:lnTo>
                    <a:lnTo>
                      <a:pt x="392" y="480"/>
                    </a:lnTo>
                    <a:lnTo>
                      <a:pt x="384" y="480"/>
                    </a:lnTo>
                    <a:lnTo>
                      <a:pt x="378" y="480"/>
                    </a:lnTo>
                    <a:lnTo>
                      <a:pt x="371" y="480"/>
                    </a:lnTo>
                    <a:lnTo>
                      <a:pt x="365" y="482"/>
                    </a:lnTo>
                    <a:lnTo>
                      <a:pt x="357" y="482"/>
                    </a:lnTo>
                    <a:lnTo>
                      <a:pt x="352" y="483"/>
                    </a:lnTo>
                    <a:lnTo>
                      <a:pt x="344" y="483"/>
                    </a:lnTo>
                    <a:lnTo>
                      <a:pt x="337" y="485"/>
                    </a:lnTo>
                    <a:lnTo>
                      <a:pt x="331" y="487"/>
                    </a:lnTo>
                    <a:lnTo>
                      <a:pt x="325" y="489"/>
                    </a:lnTo>
                    <a:lnTo>
                      <a:pt x="319" y="489"/>
                    </a:lnTo>
                    <a:lnTo>
                      <a:pt x="314" y="493"/>
                    </a:lnTo>
                    <a:lnTo>
                      <a:pt x="308" y="495"/>
                    </a:lnTo>
                    <a:lnTo>
                      <a:pt x="300" y="497"/>
                    </a:lnTo>
                    <a:lnTo>
                      <a:pt x="295" y="499"/>
                    </a:lnTo>
                    <a:lnTo>
                      <a:pt x="289" y="501"/>
                    </a:lnTo>
                    <a:lnTo>
                      <a:pt x="283" y="502"/>
                    </a:lnTo>
                    <a:lnTo>
                      <a:pt x="280" y="506"/>
                    </a:lnTo>
                    <a:lnTo>
                      <a:pt x="274" y="508"/>
                    </a:lnTo>
                    <a:lnTo>
                      <a:pt x="268" y="512"/>
                    </a:lnTo>
                    <a:lnTo>
                      <a:pt x="262" y="516"/>
                    </a:lnTo>
                    <a:lnTo>
                      <a:pt x="259" y="518"/>
                    </a:lnTo>
                    <a:lnTo>
                      <a:pt x="253" y="521"/>
                    </a:lnTo>
                    <a:lnTo>
                      <a:pt x="249" y="525"/>
                    </a:lnTo>
                    <a:lnTo>
                      <a:pt x="240" y="531"/>
                    </a:lnTo>
                    <a:lnTo>
                      <a:pt x="232" y="539"/>
                    </a:lnTo>
                    <a:lnTo>
                      <a:pt x="224" y="548"/>
                    </a:lnTo>
                    <a:lnTo>
                      <a:pt x="219" y="556"/>
                    </a:lnTo>
                    <a:lnTo>
                      <a:pt x="211" y="563"/>
                    </a:lnTo>
                    <a:lnTo>
                      <a:pt x="207" y="575"/>
                    </a:lnTo>
                    <a:lnTo>
                      <a:pt x="202" y="582"/>
                    </a:lnTo>
                    <a:lnTo>
                      <a:pt x="196" y="590"/>
                    </a:lnTo>
                    <a:lnTo>
                      <a:pt x="192" y="598"/>
                    </a:lnTo>
                    <a:lnTo>
                      <a:pt x="186" y="607"/>
                    </a:lnTo>
                    <a:lnTo>
                      <a:pt x="181" y="613"/>
                    </a:lnTo>
                    <a:lnTo>
                      <a:pt x="177" y="620"/>
                    </a:lnTo>
                    <a:lnTo>
                      <a:pt x="173" y="626"/>
                    </a:lnTo>
                    <a:lnTo>
                      <a:pt x="169" y="634"/>
                    </a:lnTo>
                    <a:lnTo>
                      <a:pt x="164" y="639"/>
                    </a:lnTo>
                    <a:lnTo>
                      <a:pt x="160" y="643"/>
                    </a:lnTo>
                    <a:lnTo>
                      <a:pt x="154" y="649"/>
                    </a:lnTo>
                    <a:lnTo>
                      <a:pt x="150" y="655"/>
                    </a:lnTo>
                    <a:lnTo>
                      <a:pt x="145" y="662"/>
                    </a:lnTo>
                    <a:lnTo>
                      <a:pt x="137" y="670"/>
                    </a:lnTo>
                    <a:lnTo>
                      <a:pt x="129" y="676"/>
                    </a:lnTo>
                    <a:lnTo>
                      <a:pt x="124" y="681"/>
                    </a:lnTo>
                    <a:lnTo>
                      <a:pt x="120" y="685"/>
                    </a:lnTo>
                    <a:lnTo>
                      <a:pt x="116" y="689"/>
                    </a:lnTo>
                    <a:lnTo>
                      <a:pt x="108" y="693"/>
                    </a:lnTo>
                    <a:lnTo>
                      <a:pt x="107" y="695"/>
                    </a:lnTo>
                    <a:lnTo>
                      <a:pt x="0" y="622"/>
                    </a:lnTo>
                    <a:lnTo>
                      <a:pt x="0" y="620"/>
                    </a:lnTo>
                    <a:lnTo>
                      <a:pt x="2" y="617"/>
                    </a:lnTo>
                    <a:lnTo>
                      <a:pt x="4" y="613"/>
                    </a:lnTo>
                    <a:lnTo>
                      <a:pt x="8" y="607"/>
                    </a:lnTo>
                    <a:lnTo>
                      <a:pt x="11" y="598"/>
                    </a:lnTo>
                    <a:lnTo>
                      <a:pt x="15" y="588"/>
                    </a:lnTo>
                    <a:lnTo>
                      <a:pt x="19" y="582"/>
                    </a:lnTo>
                    <a:lnTo>
                      <a:pt x="21" y="579"/>
                    </a:lnTo>
                    <a:lnTo>
                      <a:pt x="25" y="573"/>
                    </a:lnTo>
                    <a:lnTo>
                      <a:pt x="30" y="567"/>
                    </a:lnTo>
                    <a:lnTo>
                      <a:pt x="32" y="560"/>
                    </a:lnTo>
                    <a:lnTo>
                      <a:pt x="36" y="554"/>
                    </a:lnTo>
                    <a:lnTo>
                      <a:pt x="40" y="548"/>
                    </a:lnTo>
                    <a:lnTo>
                      <a:pt x="44" y="540"/>
                    </a:lnTo>
                    <a:lnTo>
                      <a:pt x="48" y="533"/>
                    </a:lnTo>
                    <a:lnTo>
                      <a:pt x="53" y="527"/>
                    </a:lnTo>
                    <a:lnTo>
                      <a:pt x="57" y="520"/>
                    </a:lnTo>
                    <a:lnTo>
                      <a:pt x="63" y="512"/>
                    </a:lnTo>
                    <a:lnTo>
                      <a:pt x="67" y="502"/>
                    </a:lnTo>
                    <a:lnTo>
                      <a:pt x="72" y="497"/>
                    </a:lnTo>
                    <a:lnTo>
                      <a:pt x="78" y="487"/>
                    </a:lnTo>
                    <a:lnTo>
                      <a:pt x="84" y="480"/>
                    </a:lnTo>
                    <a:lnTo>
                      <a:pt x="89" y="472"/>
                    </a:lnTo>
                    <a:lnTo>
                      <a:pt x="95" y="464"/>
                    </a:lnTo>
                    <a:lnTo>
                      <a:pt x="99" y="455"/>
                    </a:lnTo>
                    <a:lnTo>
                      <a:pt x="105" y="447"/>
                    </a:lnTo>
                    <a:lnTo>
                      <a:pt x="110" y="440"/>
                    </a:lnTo>
                    <a:lnTo>
                      <a:pt x="116" y="430"/>
                    </a:lnTo>
                    <a:lnTo>
                      <a:pt x="122" y="423"/>
                    </a:lnTo>
                    <a:lnTo>
                      <a:pt x="127" y="415"/>
                    </a:lnTo>
                    <a:lnTo>
                      <a:pt x="133" y="405"/>
                    </a:lnTo>
                    <a:lnTo>
                      <a:pt x="139" y="398"/>
                    </a:lnTo>
                    <a:lnTo>
                      <a:pt x="145" y="388"/>
                    </a:lnTo>
                    <a:lnTo>
                      <a:pt x="150" y="381"/>
                    </a:lnTo>
                    <a:lnTo>
                      <a:pt x="156" y="373"/>
                    </a:lnTo>
                    <a:lnTo>
                      <a:pt x="162" y="364"/>
                    </a:lnTo>
                    <a:lnTo>
                      <a:pt x="167" y="358"/>
                    </a:lnTo>
                    <a:lnTo>
                      <a:pt x="173" y="350"/>
                    </a:lnTo>
                    <a:lnTo>
                      <a:pt x="179" y="341"/>
                    </a:lnTo>
                    <a:lnTo>
                      <a:pt x="184" y="335"/>
                    </a:lnTo>
                    <a:lnTo>
                      <a:pt x="190" y="328"/>
                    </a:lnTo>
                    <a:lnTo>
                      <a:pt x="198" y="322"/>
                    </a:lnTo>
                    <a:lnTo>
                      <a:pt x="202" y="314"/>
                    </a:lnTo>
                    <a:lnTo>
                      <a:pt x="207" y="309"/>
                    </a:lnTo>
                    <a:lnTo>
                      <a:pt x="213" y="301"/>
                    </a:lnTo>
                    <a:lnTo>
                      <a:pt x="219" y="297"/>
                    </a:lnTo>
                    <a:lnTo>
                      <a:pt x="224" y="291"/>
                    </a:lnTo>
                    <a:lnTo>
                      <a:pt x="228" y="286"/>
                    </a:lnTo>
                    <a:lnTo>
                      <a:pt x="234" y="280"/>
                    </a:lnTo>
                    <a:lnTo>
                      <a:pt x="240" y="276"/>
                    </a:lnTo>
                    <a:lnTo>
                      <a:pt x="249" y="267"/>
                    </a:lnTo>
                    <a:lnTo>
                      <a:pt x="259" y="261"/>
                    </a:lnTo>
                    <a:lnTo>
                      <a:pt x="268" y="255"/>
                    </a:lnTo>
                    <a:lnTo>
                      <a:pt x="278" y="253"/>
                    </a:lnTo>
                    <a:lnTo>
                      <a:pt x="285" y="250"/>
                    </a:lnTo>
                    <a:lnTo>
                      <a:pt x="293" y="248"/>
                    </a:lnTo>
                    <a:lnTo>
                      <a:pt x="299" y="244"/>
                    </a:lnTo>
                    <a:lnTo>
                      <a:pt x="306" y="240"/>
                    </a:lnTo>
                    <a:lnTo>
                      <a:pt x="312" y="236"/>
                    </a:lnTo>
                    <a:lnTo>
                      <a:pt x="318" y="232"/>
                    </a:lnTo>
                    <a:lnTo>
                      <a:pt x="323" y="229"/>
                    </a:lnTo>
                    <a:lnTo>
                      <a:pt x="329" y="227"/>
                    </a:lnTo>
                    <a:lnTo>
                      <a:pt x="337" y="219"/>
                    </a:lnTo>
                    <a:lnTo>
                      <a:pt x="344" y="212"/>
                    </a:lnTo>
                    <a:lnTo>
                      <a:pt x="350" y="204"/>
                    </a:lnTo>
                    <a:lnTo>
                      <a:pt x="356" y="198"/>
                    </a:lnTo>
                    <a:lnTo>
                      <a:pt x="359" y="191"/>
                    </a:lnTo>
                    <a:lnTo>
                      <a:pt x="363" y="185"/>
                    </a:lnTo>
                    <a:lnTo>
                      <a:pt x="365" y="179"/>
                    </a:lnTo>
                    <a:lnTo>
                      <a:pt x="365" y="174"/>
                    </a:lnTo>
                    <a:lnTo>
                      <a:pt x="367" y="166"/>
                    </a:lnTo>
                    <a:lnTo>
                      <a:pt x="367" y="164"/>
                    </a:lnTo>
                    <a:close/>
                  </a:path>
                </a:pathLst>
              </a:custGeom>
              <a:solidFill>
                <a:srgbClr val="A6BFFF"/>
              </a:solidFill>
              <a:ln w="9525">
                <a:noFill/>
                <a:round/>
              </a:ln>
            </p:spPr>
            <p:txBody>
              <a:bodyPr/>
              <a:lstStyle/>
              <a:p>
                <a:endParaRPr lang="en-US"/>
              </a:p>
            </p:txBody>
          </p:sp>
          <p:sp>
            <p:nvSpPr>
              <p:cNvPr id="1048941" name="Freeform 238"/>
              <p:cNvSpPr/>
              <p:nvPr/>
            </p:nvSpPr>
            <p:spPr bwMode="auto">
              <a:xfrm>
                <a:off x="1950" y="2448"/>
                <a:ext cx="713" cy="393"/>
              </a:xfrm>
              <a:custGeom>
                <a:avLst/>
                <a:gdLst>
                  <a:gd name="T0" fmla="*/ 293 w 1424"/>
                  <a:gd name="T1" fmla="*/ 84 h 788"/>
                  <a:gd name="T2" fmla="*/ 322 w 1424"/>
                  <a:gd name="T3" fmla="*/ 65 h 788"/>
                  <a:gd name="T4" fmla="*/ 361 w 1424"/>
                  <a:gd name="T5" fmla="*/ 44 h 788"/>
                  <a:gd name="T6" fmla="*/ 402 w 1424"/>
                  <a:gd name="T7" fmla="*/ 23 h 788"/>
                  <a:gd name="T8" fmla="*/ 444 w 1424"/>
                  <a:gd name="T9" fmla="*/ 7 h 788"/>
                  <a:gd name="T10" fmla="*/ 482 w 1424"/>
                  <a:gd name="T11" fmla="*/ 0 h 788"/>
                  <a:gd name="T12" fmla="*/ 514 w 1424"/>
                  <a:gd name="T13" fmla="*/ 3 h 788"/>
                  <a:gd name="T14" fmla="*/ 547 w 1424"/>
                  <a:gd name="T15" fmla="*/ 12 h 788"/>
                  <a:gd name="T16" fmla="*/ 583 w 1424"/>
                  <a:gd name="T17" fmla="*/ 25 h 788"/>
                  <a:gd name="T18" fmla="*/ 618 w 1424"/>
                  <a:gd name="T19" fmla="*/ 43 h 788"/>
                  <a:gd name="T20" fmla="*/ 650 w 1424"/>
                  <a:gd name="T21" fmla="*/ 66 h 788"/>
                  <a:gd name="T22" fmla="*/ 676 w 1424"/>
                  <a:gd name="T23" fmla="*/ 94 h 788"/>
                  <a:gd name="T24" fmla="*/ 695 w 1424"/>
                  <a:gd name="T25" fmla="*/ 130 h 788"/>
                  <a:gd name="T26" fmla="*/ 703 w 1424"/>
                  <a:gd name="T27" fmla="*/ 172 h 788"/>
                  <a:gd name="T28" fmla="*/ 708 w 1424"/>
                  <a:gd name="T29" fmla="*/ 214 h 788"/>
                  <a:gd name="T30" fmla="*/ 711 w 1424"/>
                  <a:gd name="T31" fmla="*/ 255 h 788"/>
                  <a:gd name="T32" fmla="*/ 712 w 1424"/>
                  <a:gd name="T33" fmla="*/ 293 h 788"/>
                  <a:gd name="T34" fmla="*/ 712 w 1424"/>
                  <a:gd name="T35" fmla="*/ 325 h 788"/>
                  <a:gd name="T36" fmla="*/ 712 w 1424"/>
                  <a:gd name="T37" fmla="*/ 349 h 788"/>
                  <a:gd name="T38" fmla="*/ 637 w 1424"/>
                  <a:gd name="T39" fmla="*/ 352 h 788"/>
                  <a:gd name="T40" fmla="*/ 627 w 1424"/>
                  <a:gd name="T41" fmla="*/ 326 h 788"/>
                  <a:gd name="T42" fmla="*/ 616 w 1424"/>
                  <a:gd name="T43" fmla="*/ 293 h 788"/>
                  <a:gd name="T44" fmla="*/ 603 w 1424"/>
                  <a:gd name="T45" fmla="*/ 255 h 788"/>
                  <a:gd name="T46" fmla="*/ 591 w 1424"/>
                  <a:gd name="T47" fmla="*/ 215 h 788"/>
                  <a:gd name="T48" fmla="*/ 582 w 1424"/>
                  <a:gd name="T49" fmla="*/ 179 h 788"/>
                  <a:gd name="T50" fmla="*/ 576 w 1424"/>
                  <a:gd name="T51" fmla="*/ 148 h 788"/>
                  <a:gd name="T52" fmla="*/ 565 w 1424"/>
                  <a:gd name="T53" fmla="*/ 123 h 788"/>
                  <a:gd name="T54" fmla="*/ 536 w 1424"/>
                  <a:gd name="T55" fmla="*/ 112 h 788"/>
                  <a:gd name="T56" fmla="*/ 508 w 1424"/>
                  <a:gd name="T57" fmla="*/ 111 h 788"/>
                  <a:gd name="T58" fmla="*/ 481 w 1424"/>
                  <a:gd name="T59" fmla="*/ 114 h 788"/>
                  <a:gd name="T60" fmla="*/ 454 w 1424"/>
                  <a:gd name="T61" fmla="*/ 118 h 788"/>
                  <a:gd name="T62" fmla="*/ 439 w 1424"/>
                  <a:gd name="T63" fmla="*/ 126 h 788"/>
                  <a:gd name="T64" fmla="*/ 440 w 1424"/>
                  <a:gd name="T65" fmla="*/ 150 h 788"/>
                  <a:gd name="T66" fmla="*/ 437 w 1424"/>
                  <a:gd name="T67" fmla="*/ 184 h 788"/>
                  <a:gd name="T68" fmla="*/ 430 w 1424"/>
                  <a:gd name="T69" fmla="*/ 226 h 788"/>
                  <a:gd name="T70" fmla="*/ 415 w 1424"/>
                  <a:gd name="T71" fmla="*/ 270 h 788"/>
                  <a:gd name="T72" fmla="*/ 390 w 1424"/>
                  <a:gd name="T73" fmla="*/ 314 h 788"/>
                  <a:gd name="T74" fmla="*/ 352 w 1424"/>
                  <a:gd name="T75" fmla="*/ 350 h 788"/>
                  <a:gd name="T76" fmla="*/ 299 w 1424"/>
                  <a:gd name="T77" fmla="*/ 376 h 788"/>
                  <a:gd name="T78" fmla="*/ 239 w 1424"/>
                  <a:gd name="T79" fmla="*/ 389 h 788"/>
                  <a:gd name="T80" fmla="*/ 176 w 1424"/>
                  <a:gd name="T81" fmla="*/ 393 h 788"/>
                  <a:gd name="T82" fmla="*/ 116 w 1424"/>
                  <a:gd name="T83" fmla="*/ 389 h 788"/>
                  <a:gd name="T84" fmla="*/ 63 w 1424"/>
                  <a:gd name="T85" fmla="*/ 383 h 788"/>
                  <a:gd name="T86" fmla="*/ 24 w 1424"/>
                  <a:gd name="T87" fmla="*/ 375 h 788"/>
                  <a:gd name="T88" fmla="*/ 0 w 1424"/>
                  <a:gd name="T89" fmla="*/ 370 h 788"/>
                  <a:gd name="T90" fmla="*/ 54 w 1424"/>
                  <a:gd name="T91" fmla="*/ 228 h 788"/>
                  <a:gd name="T92" fmla="*/ 78 w 1424"/>
                  <a:gd name="T93" fmla="*/ 251 h 788"/>
                  <a:gd name="T94" fmla="*/ 111 w 1424"/>
                  <a:gd name="T95" fmla="*/ 274 h 788"/>
                  <a:gd name="T96" fmla="*/ 151 w 1424"/>
                  <a:gd name="T97" fmla="*/ 293 h 788"/>
                  <a:gd name="T98" fmla="*/ 199 w 1424"/>
                  <a:gd name="T99" fmla="*/ 303 h 788"/>
                  <a:gd name="T100" fmla="*/ 251 w 1424"/>
                  <a:gd name="T101" fmla="*/ 298 h 788"/>
                  <a:gd name="T102" fmla="*/ 290 w 1424"/>
                  <a:gd name="T103" fmla="*/ 277 h 788"/>
                  <a:gd name="T104" fmla="*/ 308 w 1424"/>
                  <a:gd name="T105" fmla="*/ 244 h 788"/>
                  <a:gd name="T106" fmla="*/ 311 w 1424"/>
                  <a:gd name="T107" fmla="*/ 206 h 788"/>
                  <a:gd name="T108" fmla="*/ 303 w 1424"/>
                  <a:gd name="T109" fmla="*/ 166 h 788"/>
                  <a:gd name="T110" fmla="*/ 291 w 1424"/>
                  <a:gd name="T111" fmla="*/ 131 h 788"/>
                  <a:gd name="T112" fmla="*/ 276 w 1424"/>
                  <a:gd name="T113" fmla="*/ 102 h 788"/>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1424"/>
                  <a:gd name="T172" fmla="*/ 0 h 788"/>
                  <a:gd name="T173" fmla="*/ 1424 w 1424"/>
                  <a:gd name="T174" fmla="*/ 788 h 788"/>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1424" h="788">
                    <a:moveTo>
                      <a:pt x="548" y="196"/>
                    </a:moveTo>
                    <a:lnTo>
                      <a:pt x="548" y="194"/>
                    </a:lnTo>
                    <a:lnTo>
                      <a:pt x="551" y="194"/>
                    </a:lnTo>
                    <a:lnTo>
                      <a:pt x="555" y="190"/>
                    </a:lnTo>
                    <a:lnTo>
                      <a:pt x="561" y="187"/>
                    </a:lnTo>
                    <a:lnTo>
                      <a:pt x="568" y="181"/>
                    </a:lnTo>
                    <a:lnTo>
                      <a:pt x="576" y="175"/>
                    </a:lnTo>
                    <a:lnTo>
                      <a:pt x="582" y="171"/>
                    </a:lnTo>
                    <a:lnTo>
                      <a:pt x="586" y="168"/>
                    </a:lnTo>
                    <a:lnTo>
                      <a:pt x="591" y="164"/>
                    </a:lnTo>
                    <a:lnTo>
                      <a:pt x="599" y="162"/>
                    </a:lnTo>
                    <a:lnTo>
                      <a:pt x="605" y="156"/>
                    </a:lnTo>
                    <a:lnTo>
                      <a:pt x="610" y="152"/>
                    </a:lnTo>
                    <a:lnTo>
                      <a:pt x="616" y="149"/>
                    </a:lnTo>
                    <a:lnTo>
                      <a:pt x="624" y="145"/>
                    </a:lnTo>
                    <a:lnTo>
                      <a:pt x="629" y="139"/>
                    </a:lnTo>
                    <a:lnTo>
                      <a:pt x="637" y="135"/>
                    </a:lnTo>
                    <a:lnTo>
                      <a:pt x="644" y="130"/>
                    </a:lnTo>
                    <a:lnTo>
                      <a:pt x="652" y="126"/>
                    </a:lnTo>
                    <a:lnTo>
                      <a:pt x="660" y="120"/>
                    </a:lnTo>
                    <a:lnTo>
                      <a:pt x="667" y="116"/>
                    </a:lnTo>
                    <a:lnTo>
                      <a:pt x="677" y="113"/>
                    </a:lnTo>
                    <a:lnTo>
                      <a:pt x="684" y="107"/>
                    </a:lnTo>
                    <a:lnTo>
                      <a:pt x="694" y="103"/>
                    </a:lnTo>
                    <a:lnTo>
                      <a:pt x="702" y="97"/>
                    </a:lnTo>
                    <a:lnTo>
                      <a:pt x="711" y="94"/>
                    </a:lnTo>
                    <a:lnTo>
                      <a:pt x="721" y="88"/>
                    </a:lnTo>
                    <a:lnTo>
                      <a:pt x="728" y="84"/>
                    </a:lnTo>
                    <a:lnTo>
                      <a:pt x="738" y="78"/>
                    </a:lnTo>
                    <a:lnTo>
                      <a:pt x="747" y="74"/>
                    </a:lnTo>
                    <a:lnTo>
                      <a:pt x="757" y="69"/>
                    </a:lnTo>
                    <a:lnTo>
                      <a:pt x="766" y="63"/>
                    </a:lnTo>
                    <a:lnTo>
                      <a:pt x="776" y="59"/>
                    </a:lnTo>
                    <a:lnTo>
                      <a:pt x="783" y="55"/>
                    </a:lnTo>
                    <a:lnTo>
                      <a:pt x="795" y="52"/>
                    </a:lnTo>
                    <a:lnTo>
                      <a:pt x="802" y="46"/>
                    </a:lnTo>
                    <a:lnTo>
                      <a:pt x="812" y="42"/>
                    </a:lnTo>
                    <a:lnTo>
                      <a:pt x="821" y="36"/>
                    </a:lnTo>
                    <a:lnTo>
                      <a:pt x="833" y="35"/>
                    </a:lnTo>
                    <a:lnTo>
                      <a:pt x="840" y="31"/>
                    </a:lnTo>
                    <a:lnTo>
                      <a:pt x="850" y="27"/>
                    </a:lnTo>
                    <a:lnTo>
                      <a:pt x="859" y="23"/>
                    </a:lnTo>
                    <a:lnTo>
                      <a:pt x="869" y="21"/>
                    </a:lnTo>
                    <a:lnTo>
                      <a:pt x="878" y="17"/>
                    </a:lnTo>
                    <a:lnTo>
                      <a:pt x="886" y="14"/>
                    </a:lnTo>
                    <a:lnTo>
                      <a:pt x="895" y="12"/>
                    </a:lnTo>
                    <a:lnTo>
                      <a:pt x="905" y="10"/>
                    </a:lnTo>
                    <a:lnTo>
                      <a:pt x="913" y="6"/>
                    </a:lnTo>
                    <a:lnTo>
                      <a:pt x="922" y="4"/>
                    </a:lnTo>
                    <a:lnTo>
                      <a:pt x="930" y="4"/>
                    </a:lnTo>
                    <a:lnTo>
                      <a:pt x="939" y="2"/>
                    </a:lnTo>
                    <a:lnTo>
                      <a:pt x="947" y="0"/>
                    </a:lnTo>
                    <a:lnTo>
                      <a:pt x="954" y="0"/>
                    </a:lnTo>
                    <a:lnTo>
                      <a:pt x="962" y="0"/>
                    </a:lnTo>
                    <a:lnTo>
                      <a:pt x="970" y="0"/>
                    </a:lnTo>
                    <a:lnTo>
                      <a:pt x="977" y="0"/>
                    </a:lnTo>
                    <a:lnTo>
                      <a:pt x="985" y="0"/>
                    </a:lnTo>
                    <a:lnTo>
                      <a:pt x="992" y="0"/>
                    </a:lnTo>
                    <a:lnTo>
                      <a:pt x="1000" y="2"/>
                    </a:lnTo>
                    <a:lnTo>
                      <a:pt x="1006" y="2"/>
                    </a:lnTo>
                    <a:lnTo>
                      <a:pt x="1013" y="4"/>
                    </a:lnTo>
                    <a:lnTo>
                      <a:pt x="1019" y="4"/>
                    </a:lnTo>
                    <a:lnTo>
                      <a:pt x="1027" y="6"/>
                    </a:lnTo>
                    <a:lnTo>
                      <a:pt x="1032" y="8"/>
                    </a:lnTo>
                    <a:lnTo>
                      <a:pt x="1040" y="10"/>
                    </a:lnTo>
                    <a:lnTo>
                      <a:pt x="1048" y="12"/>
                    </a:lnTo>
                    <a:lnTo>
                      <a:pt x="1055" y="14"/>
                    </a:lnTo>
                    <a:lnTo>
                      <a:pt x="1063" y="16"/>
                    </a:lnTo>
                    <a:lnTo>
                      <a:pt x="1070" y="17"/>
                    </a:lnTo>
                    <a:lnTo>
                      <a:pt x="1078" y="19"/>
                    </a:lnTo>
                    <a:lnTo>
                      <a:pt x="1086" y="21"/>
                    </a:lnTo>
                    <a:lnTo>
                      <a:pt x="1093" y="25"/>
                    </a:lnTo>
                    <a:lnTo>
                      <a:pt x="1101" y="27"/>
                    </a:lnTo>
                    <a:lnTo>
                      <a:pt x="1108" y="31"/>
                    </a:lnTo>
                    <a:lnTo>
                      <a:pt x="1118" y="33"/>
                    </a:lnTo>
                    <a:lnTo>
                      <a:pt x="1126" y="35"/>
                    </a:lnTo>
                    <a:lnTo>
                      <a:pt x="1133" y="36"/>
                    </a:lnTo>
                    <a:lnTo>
                      <a:pt x="1141" y="40"/>
                    </a:lnTo>
                    <a:lnTo>
                      <a:pt x="1148" y="44"/>
                    </a:lnTo>
                    <a:lnTo>
                      <a:pt x="1156" y="46"/>
                    </a:lnTo>
                    <a:lnTo>
                      <a:pt x="1164" y="50"/>
                    </a:lnTo>
                    <a:lnTo>
                      <a:pt x="1173" y="54"/>
                    </a:lnTo>
                    <a:lnTo>
                      <a:pt x="1181" y="57"/>
                    </a:lnTo>
                    <a:lnTo>
                      <a:pt x="1188" y="59"/>
                    </a:lnTo>
                    <a:lnTo>
                      <a:pt x="1196" y="63"/>
                    </a:lnTo>
                    <a:lnTo>
                      <a:pt x="1203" y="67"/>
                    </a:lnTo>
                    <a:lnTo>
                      <a:pt x="1211" y="73"/>
                    </a:lnTo>
                    <a:lnTo>
                      <a:pt x="1219" y="76"/>
                    </a:lnTo>
                    <a:lnTo>
                      <a:pt x="1226" y="80"/>
                    </a:lnTo>
                    <a:lnTo>
                      <a:pt x="1234" y="86"/>
                    </a:lnTo>
                    <a:lnTo>
                      <a:pt x="1242" y="90"/>
                    </a:lnTo>
                    <a:lnTo>
                      <a:pt x="1249" y="94"/>
                    </a:lnTo>
                    <a:lnTo>
                      <a:pt x="1257" y="99"/>
                    </a:lnTo>
                    <a:lnTo>
                      <a:pt x="1264" y="105"/>
                    </a:lnTo>
                    <a:lnTo>
                      <a:pt x="1270" y="111"/>
                    </a:lnTo>
                    <a:lnTo>
                      <a:pt x="1278" y="114"/>
                    </a:lnTo>
                    <a:lnTo>
                      <a:pt x="1285" y="120"/>
                    </a:lnTo>
                    <a:lnTo>
                      <a:pt x="1291" y="126"/>
                    </a:lnTo>
                    <a:lnTo>
                      <a:pt x="1299" y="132"/>
                    </a:lnTo>
                    <a:lnTo>
                      <a:pt x="1304" y="137"/>
                    </a:lnTo>
                    <a:lnTo>
                      <a:pt x="1310" y="143"/>
                    </a:lnTo>
                    <a:lnTo>
                      <a:pt x="1318" y="149"/>
                    </a:lnTo>
                    <a:lnTo>
                      <a:pt x="1323" y="156"/>
                    </a:lnTo>
                    <a:lnTo>
                      <a:pt x="1329" y="162"/>
                    </a:lnTo>
                    <a:lnTo>
                      <a:pt x="1335" y="168"/>
                    </a:lnTo>
                    <a:lnTo>
                      <a:pt x="1340" y="175"/>
                    </a:lnTo>
                    <a:lnTo>
                      <a:pt x="1346" y="183"/>
                    </a:lnTo>
                    <a:lnTo>
                      <a:pt x="1350" y="189"/>
                    </a:lnTo>
                    <a:lnTo>
                      <a:pt x="1356" y="196"/>
                    </a:lnTo>
                    <a:lnTo>
                      <a:pt x="1359" y="202"/>
                    </a:lnTo>
                    <a:lnTo>
                      <a:pt x="1365" y="211"/>
                    </a:lnTo>
                    <a:lnTo>
                      <a:pt x="1369" y="219"/>
                    </a:lnTo>
                    <a:lnTo>
                      <a:pt x="1373" y="227"/>
                    </a:lnTo>
                    <a:lnTo>
                      <a:pt x="1376" y="234"/>
                    </a:lnTo>
                    <a:lnTo>
                      <a:pt x="1380" y="244"/>
                    </a:lnTo>
                    <a:lnTo>
                      <a:pt x="1384" y="253"/>
                    </a:lnTo>
                    <a:lnTo>
                      <a:pt x="1388" y="261"/>
                    </a:lnTo>
                    <a:lnTo>
                      <a:pt x="1390" y="268"/>
                    </a:lnTo>
                    <a:lnTo>
                      <a:pt x="1394" y="278"/>
                    </a:lnTo>
                    <a:lnTo>
                      <a:pt x="1396" y="286"/>
                    </a:lnTo>
                    <a:lnTo>
                      <a:pt x="1397" y="297"/>
                    </a:lnTo>
                    <a:lnTo>
                      <a:pt x="1401" y="306"/>
                    </a:lnTo>
                    <a:lnTo>
                      <a:pt x="1403" y="316"/>
                    </a:lnTo>
                    <a:lnTo>
                      <a:pt x="1403" y="325"/>
                    </a:lnTo>
                    <a:lnTo>
                      <a:pt x="1405" y="335"/>
                    </a:lnTo>
                    <a:lnTo>
                      <a:pt x="1405" y="345"/>
                    </a:lnTo>
                    <a:lnTo>
                      <a:pt x="1407" y="354"/>
                    </a:lnTo>
                    <a:lnTo>
                      <a:pt x="1409" y="364"/>
                    </a:lnTo>
                    <a:lnTo>
                      <a:pt x="1409" y="373"/>
                    </a:lnTo>
                    <a:lnTo>
                      <a:pt x="1411" y="383"/>
                    </a:lnTo>
                    <a:lnTo>
                      <a:pt x="1413" y="394"/>
                    </a:lnTo>
                    <a:lnTo>
                      <a:pt x="1413" y="402"/>
                    </a:lnTo>
                    <a:lnTo>
                      <a:pt x="1413" y="411"/>
                    </a:lnTo>
                    <a:lnTo>
                      <a:pt x="1415" y="421"/>
                    </a:lnTo>
                    <a:lnTo>
                      <a:pt x="1415" y="430"/>
                    </a:lnTo>
                    <a:lnTo>
                      <a:pt x="1415" y="440"/>
                    </a:lnTo>
                    <a:lnTo>
                      <a:pt x="1416" y="449"/>
                    </a:lnTo>
                    <a:lnTo>
                      <a:pt x="1416" y="459"/>
                    </a:lnTo>
                    <a:lnTo>
                      <a:pt x="1418" y="468"/>
                    </a:lnTo>
                    <a:lnTo>
                      <a:pt x="1418" y="478"/>
                    </a:lnTo>
                    <a:lnTo>
                      <a:pt x="1418" y="485"/>
                    </a:lnTo>
                    <a:lnTo>
                      <a:pt x="1418" y="495"/>
                    </a:lnTo>
                    <a:lnTo>
                      <a:pt x="1420" y="504"/>
                    </a:lnTo>
                    <a:lnTo>
                      <a:pt x="1420" y="512"/>
                    </a:lnTo>
                    <a:lnTo>
                      <a:pt x="1420" y="521"/>
                    </a:lnTo>
                    <a:lnTo>
                      <a:pt x="1420" y="531"/>
                    </a:lnTo>
                    <a:lnTo>
                      <a:pt x="1422" y="538"/>
                    </a:lnTo>
                    <a:lnTo>
                      <a:pt x="1422" y="548"/>
                    </a:lnTo>
                    <a:lnTo>
                      <a:pt x="1422" y="556"/>
                    </a:lnTo>
                    <a:lnTo>
                      <a:pt x="1422" y="563"/>
                    </a:lnTo>
                    <a:lnTo>
                      <a:pt x="1422" y="573"/>
                    </a:lnTo>
                    <a:lnTo>
                      <a:pt x="1422" y="580"/>
                    </a:lnTo>
                    <a:lnTo>
                      <a:pt x="1422" y="588"/>
                    </a:lnTo>
                    <a:lnTo>
                      <a:pt x="1422" y="595"/>
                    </a:lnTo>
                    <a:lnTo>
                      <a:pt x="1424" y="603"/>
                    </a:lnTo>
                    <a:lnTo>
                      <a:pt x="1422" y="611"/>
                    </a:lnTo>
                    <a:lnTo>
                      <a:pt x="1422" y="618"/>
                    </a:lnTo>
                    <a:lnTo>
                      <a:pt x="1422" y="624"/>
                    </a:lnTo>
                    <a:lnTo>
                      <a:pt x="1422" y="632"/>
                    </a:lnTo>
                    <a:lnTo>
                      <a:pt x="1422" y="637"/>
                    </a:lnTo>
                    <a:lnTo>
                      <a:pt x="1422" y="645"/>
                    </a:lnTo>
                    <a:lnTo>
                      <a:pt x="1422" y="651"/>
                    </a:lnTo>
                    <a:lnTo>
                      <a:pt x="1422" y="656"/>
                    </a:lnTo>
                    <a:lnTo>
                      <a:pt x="1422" y="662"/>
                    </a:lnTo>
                    <a:lnTo>
                      <a:pt x="1422" y="668"/>
                    </a:lnTo>
                    <a:lnTo>
                      <a:pt x="1422" y="673"/>
                    </a:lnTo>
                    <a:lnTo>
                      <a:pt x="1422" y="679"/>
                    </a:lnTo>
                    <a:lnTo>
                      <a:pt x="1422" y="683"/>
                    </a:lnTo>
                    <a:lnTo>
                      <a:pt x="1422" y="689"/>
                    </a:lnTo>
                    <a:lnTo>
                      <a:pt x="1422" y="694"/>
                    </a:lnTo>
                    <a:lnTo>
                      <a:pt x="1422" y="700"/>
                    </a:lnTo>
                    <a:lnTo>
                      <a:pt x="1420" y="706"/>
                    </a:lnTo>
                    <a:lnTo>
                      <a:pt x="1420" y="713"/>
                    </a:lnTo>
                    <a:lnTo>
                      <a:pt x="1420" y="719"/>
                    </a:lnTo>
                    <a:lnTo>
                      <a:pt x="1420" y="727"/>
                    </a:lnTo>
                    <a:lnTo>
                      <a:pt x="1420" y="732"/>
                    </a:lnTo>
                    <a:lnTo>
                      <a:pt x="1420" y="736"/>
                    </a:lnTo>
                    <a:lnTo>
                      <a:pt x="1274" y="711"/>
                    </a:lnTo>
                    <a:lnTo>
                      <a:pt x="1274" y="710"/>
                    </a:lnTo>
                    <a:lnTo>
                      <a:pt x="1272" y="706"/>
                    </a:lnTo>
                    <a:lnTo>
                      <a:pt x="1270" y="702"/>
                    </a:lnTo>
                    <a:lnTo>
                      <a:pt x="1268" y="696"/>
                    </a:lnTo>
                    <a:lnTo>
                      <a:pt x="1264" y="689"/>
                    </a:lnTo>
                    <a:lnTo>
                      <a:pt x="1262" y="681"/>
                    </a:lnTo>
                    <a:lnTo>
                      <a:pt x="1261" y="675"/>
                    </a:lnTo>
                    <a:lnTo>
                      <a:pt x="1259" y="670"/>
                    </a:lnTo>
                    <a:lnTo>
                      <a:pt x="1257" y="664"/>
                    </a:lnTo>
                    <a:lnTo>
                      <a:pt x="1255" y="660"/>
                    </a:lnTo>
                    <a:lnTo>
                      <a:pt x="1253" y="653"/>
                    </a:lnTo>
                    <a:lnTo>
                      <a:pt x="1251" y="647"/>
                    </a:lnTo>
                    <a:lnTo>
                      <a:pt x="1247" y="641"/>
                    </a:lnTo>
                    <a:lnTo>
                      <a:pt x="1245" y="634"/>
                    </a:lnTo>
                    <a:lnTo>
                      <a:pt x="1243" y="626"/>
                    </a:lnTo>
                    <a:lnTo>
                      <a:pt x="1240" y="620"/>
                    </a:lnTo>
                    <a:lnTo>
                      <a:pt x="1238" y="613"/>
                    </a:lnTo>
                    <a:lnTo>
                      <a:pt x="1236" y="605"/>
                    </a:lnTo>
                    <a:lnTo>
                      <a:pt x="1234" y="597"/>
                    </a:lnTo>
                    <a:lnTo>
                      <a:pt x="1230" y="588"/>
                    </a:lnTo>
                    <a:lnTo>
                      <a:pt x="1228" y="580"/>
                    </a:lnTo>
                    <a:lnTo>
                      <a:pt x="1224" y="573"/>
                    </a:lnTo>
                    <a:lnTo>
                      <a:pt x="1222" y="565"/>
                    </a:lnTo>
                    <a:lnTo>
                      <a:pt x="1219" y="557"/>
                    </a:lnTo>
                    <a:lnTo>
                      <a:pt x="1217" y="548"/>
                    </a:lnTo>
                    <a:lnTo>
                      <a:pt x="1215" y="540"/>
                    </a:lnTo>
                    <a:lnTo>
                      <a:pt x="1211" y="531"/>
                    </a:lnTo>
                    <a:lnTo>
                      <a:pt x="1209" y="521"/>
                    </a:lnTo>
                    <a:lnTo>
                      <a:pt x="1205" y="512"/>
                    </a:lnTo>
                    <a:lnTo>
                      <a:pt x="1203" y="504"/>
                    </a:lnTo>
                    <a:lnTo>
                      <a:pt x="1200" y="495"/>
                    </a:lnTo>
                    <a:lnTo>
                      <a:pt x="1198" y="485"/>
                    </a:lnTo>
                    <a:lnTo>
                      <a:pt x="1194" y="478"/>
                    </a:lnTo>
                    <a:lnTo>
                      <a:pt x="1192" y="468"/>
                    </a:lnTo>
                    <a:lnTo>
                      <a:pt x="1188" y="459"/>
                    </a:lnTo>
                    <a:lnTo>
                      <a:pt x="1186" y="449"/>
                    </a:lnTo>
                    <a:lnTo>
                      <a:pt x="1183" y="441"/>
                    </a:lnTo>
                    <a:lnTo>
                      <a:pt x="1181" y="432"/>
                    </a:lnTo>
                    <a:lnTo>
                      <a:pt x="1179" y="422"/>
                    </a:lnTo>
                    <a:lnTo>
                      <a:pt x="1177" y="415"/>
                    </a:lnTo>
                    <a:lnTo>
                      <a:pt x="1175" y="407"/>
                    </a:lnTo>
                    <a:lnTo>
                      <a:pt x="1173" y="398"/>
                    </a:lnTo>
                    <a:lnTo>
                      <a:pt x="1169" y="390"/>
                    </a:lnTo>
                    <a:lnTo>
                      <a:pt x="1167" y="381"/>
                    </a:lnTo>
                    <a:lnTo>
                      <a:pt x="1165" y="373"/>
                    </a:lnTo>
                    <a:lnTo>
                      <a:pt x="1164" y="365"/>
                    </a:lnTo>
                    <a:lnTo>
                      <a:pt x="1162" y="358"/>
                    </a:lnTo>
                    <a:lnTo>
                      <a:pt x="1160" y="348"/>
                    </a:lnTo>
                    <a:lnTo>
                      <a:pt x="1158" y="341"/>
                    </a:lnTo>
                    <a:lnTo>
                      <a:pt x="1158" y="335"/>
                    </a:lnTo>
                    <a:lnTo>
                      <a:pt x="1154" y="327"/>
                    </a:lnTo>
                    <a:lnTo>
                      <a:pt x="1154" y="322"/>
                    </a:lnTo>
                    <a:lnTo>
                      <a:pt x="1152" y="314"/>
                    </a:lnTo>
                    <a:lnTo>
                      <a:pt x="1152" y="308"/>
                    </a:lnTo>
                    <a:lnTo>
                      <a:pt x="1152" y="303"/>
                    </a:lnTo>
                    <a:lnTo>
                      <a:pt x="1150" y="297"/>
                    </a:lnTo>
                    <a:lnTo>
                      <a:pt x="1150" y="291"/>
                    </a:lnTo>
                    <a:lnTo>
                      <a:pt x="1150" y="286"/>
                    </a:lnTo>
                    <a:lnTo>
                      <a:pt x="1148" y="280"/>
                    </a:lnTo>
                    <a:lnTo>
                      <a:pt x="1148" y="276"/>
                    </a:lnTo>
                    <a:lnTo>
                      <a:pt x="1146" y="270"/>
                    </a:lnTo>
                    <a:lnTo>
                      <a:pt x="1145" y="267"/>
                    </a:lnTo>
                    <a:lnTo>
                      <a:pt x="1139" y="259"/>
                    </a:lnTo>
                    <a:lnTo>
                      <a:pt x="1135" y="253"/>
                    </a:lnTo>
                    <a:lnTo>
                      <a:pt x="1129" y="246"/>
                    </a:lnTo>
                    <a:lnTo>
                      <a:pt x="1122" y="242"/>
                    </a:lnTo>
                    <a:lnTo>
                      <a:pt x="1112" y="236"/>
                    </a:lnTo>
                    <a:lnTo>
                      <a:pt x="1103" y="232"/>
                    </a:lnTo>
                    <a:lnTo>
                      <a:pt x="1099" y="230"/>
                    </a:lnTo>
                    <a:lnTo>
                      <a:pt x="1093" y="229"/>
                    </a:lnTo>
                    <a:lnTo>
                      <a:pt x="1087" y="227"/>
                    </a:lnTo>
                    <a:lnTo>
                      <a:pt x="1082" y="227"/>
                    </a:lnTo>
                    <a:lnTo>
                      <a:pt x="1076" y="227"/>
                    </a:lnTo>
                    <a:lnTo>
                      <a:pt x="1070" y="225"/>
                    </a:lnTo>
                    <a:lnTo>
                      <a:pt x="1065" y="225"/>
                    </a:lnTo>
                    <a:lnTo>
                      <a:pt x="1059" y="225"/>
                    </a:lnTo>
                    <a:lnTo>
                      <a:pt x="1051" y="223"/>
                    </a:lnTo>
                    <a:lnTo>
                      <a:pt x="1046" y="223"/>
                    </a:lnTo>
                    <a:lnTo>
                      <a:pt x="1040" y="223"/>
                    </a:lnTo>
                    <a:lnTo>
                      <a:pt x="1034" y="223"/>
                    </a:lnTo>
                    <a:lnTo>
                      <a:pt x="1027" y="223"/>
                    </a:lnTo>
                    <a:lnTo>
                      <a:pt x="1021" y="223"/>
                    </a:lnTo>
                    <a:lnTo>
                      <a:pt x="1015" y="223"/>
                    </a:lnTo>
                    <a:lnTo>
                      <a:pt x="1010" y="225"/>
                    </a:lnTo>
                    <a:lnTo>
                      <a:pt x="1002" y="225"/>
                    </a:lnTo>
                    <a:lnTo>
                      <a:pt x="996" y="225"/>
                    </a:lnTo>
                    <a:lnTo>
                      <a:pt x="991" y="225"/>
                    </a:lnTo>
                    <a:lnTo>
                      <a:pt x="985" y="225"/>
                    </a:lnTo>
                    <a:lnTo>
                      <a:pt x="977" y="225"/>
                    </a:lnTo>
                    <a:lnTo>
                      <a:pt x="972" y="227"/>
                    </a:lnTo>
                    <a:lnTo>
                      <a:pt x="966" y="227"/>
                    </a:lnTo>
                    <a:lnTo>
                      <a:pt x="960" y="229"/>
                    </a:lnTo>
                    <a:lnTo>
                      <a:pt x="953" y="229"/>
                    </a:lnTo>
                    <a:lnTo>
                      <a:pt x="947" y="229"/>
                    </a:lnTo>
                    <a:lnTo>
                      <a:pt x="941" y="230"/>
                    </a:lnTo>
                    <a:lnTo>
                      <a:pt x="937" y="230"/>
                    </a:lnTo>
                    <a:lnTo>
                      <a:pt x="932" y="232"/>
                    </a:lnTo>
                    <a:lnTo>
                      <a:pt x="926" y="232"/>
                    </a:lnTo>
                    <a:lnTo>
                      <a:pt x="920" y="234"/>
                    </a:lnTo>
                    <a:lnTo>
                      <a:pt x="916" y="236"/>
                    </a:lnTo>
                    <a:lnTo>
                      <a:pt x="907" y="236"/>
                    </a:lnTo>
                    <a:lnTo>
                      <a:pt x="899" y="238"/>
                    </a:lnTo>
                    <a:lnTo>
                      <a:pt x="892" y="240"/>
                    </a:lnTo>
                    <a:lnTo>
                      <a:pt x="886" y="242"/>
                    </a:lnTo>
                    <a:lnTo>
                      <a:pt x="882" y="242"/>
                    </a:lnTo>
                    <a:lnTo>
                      <a:pt x="878" y="244"/>
                    </a:lnTo>
                    <a:lnTo>
                      <a:pt x="876" y="244"/>
                    </a:lnTo>
                    <a:lnTo>
                      <a:pt x="876" y="246"/>
                    </a:lnTo>
                    <a:lnTo>
                      <a:pt x="876" y="248"/>
                    </a:lnTo>
                    <a:lnTo>
                      <a:pt x="876" y="253"/>
                    </a:lnTo>
                    <a:lnTo>
                      <a:pt x="876" y="259"/>
                    </a:lnTo>
                    <a:lnTo>
                      <a:pt x="876" y="263"/>
                    </a:lnTo>
                    <a:lnTo>
                      <a:pt x="876" y="267"/>
                    </a:lnTo>
                    <a:lnTo>
                      <a:pt x="876" y="272"/>
                    </a:lnTo>
                    <a:lnTo>
                      <a:pt x="876" y="278"/>
                    </a:lnTo>
                    <a:lnTo>
                      <a:pt x="876" y="282"/>
                    </a:lnTo>
                    <a:lnTo>
                      <a:pt x="876" y="287"/>
                    </a:lnTo>
                    <a:lnTo>
                      <a:pt x="876" y="293"/>
                    </a:lnTo>
                    <a:lnTo>
                      <a:pt x="878" y="301"/>
                    </a:lnTo>
                    <a:lnTo>
                      <a:pt x="876" y="306"/>
                    </a:lnTo>
                    <a:lnTo>
                      <a:pt x="876" y="314"/>
                    </a:lnTo>
                    <a:lnTo>
                      <a:pt x="876" y="320"/>
                    </a:lnTo>
                    <a:lnTo>
                      <a:pt x="876" y="327"/>
                    </a:lnTo>
                    <a:lnTo>
                      <a:pt x="876" y="335"/>
                    </a:lnTo>
                    <a:lnTo>
                      <a:pt x="876" y="343"/>
                    </a:lnTo>
                    <a:lnTo>
                      <a:pt x="875" y="352"/>
                    </a:lnTo>
                    <a:lnTo>
                      <a:pt x="875" y="362"/>
                    </a:lnTo>
                    <a:lnTo>
                      <a:pt x="873" y="369"/>
                    </a:lnTo>
                    <a:lnTo>
                      <a:pt x="873" y="377"/>
                    </a:lnTo>
                    <a:lnTo>
                      <a:pt x="871" y="386"/>
                    </a:lnTo>
                    <a:lnTo>
                      <a:pt x="871" y="396"/>
                    </a:lnTo>
                    <a:lnTo>
                      <a:pt x="869" y="405"/>
                    </a:lnTo>
                    <a:lnTo>
                      <a:pt x="867" y="415"/>
                    </a:lnTo>
                    <a:lnTo>
                      <a:pt x="865" y="424"/>
                    </a:lnTo>
                    <a:lnTo>
                      <a:pt x="865" y="434"/>
                    </a:lnTo>
                    <a:lnTo>
                      <a:pt x="861" y="443"/>
                    </a:lnTo>
                    <a:lnTo>
                      <a:pt x="859" y="453"/>
                    </a:lnTo>
                    <a:lnTo>
                      <a:pt x="856" y="462"/>
                    </a:lnTo>
                    <a:lnTo>
                      <a:pt x="856" y="474"/>
                    </a:lnTo>
                    <a:lnTo>
                      <a:pt x="852" y="481"/>
                    </a:lnTo>
                    <a:lnTo>
                      <a:pt x="848" y="493"/>
                    </a:lnTo>
                    <a:lnTo>
                      <a:pt x="846" y="502"/>
                    </a:lnTo>
                    <a:lnTo>
                      <a:pt x="842" y="514"/>
                    </a:lnTo>
                    <a:lnTo>
                      <a:pt x="838" y="523"/>
                    </a:lnTo>
                    <a:lnTo>
                      <a:pt x="833" y="533"/>
                    </a:lnTo>
                    <a:lnTo>
                      <a:pt x="829" y="542"/>
                    </a:lnTo>
                    <a:lnTo>
                      <a:pt x="825" y="554"/>
                    </a:lnTo>
                    <a:lnTo>
                      <a:pt x="821" y="561"/>
                    </a:lnTo>
                    <a:lnTo>
                      <a:pt x="816" y="573"/>
                    </a:lnTo>
                    <a:lnTo>
                      <a:pt x="810" y="582"/>
                    </a:lnTo>
                    <a:lnTo>
                      <a:pt x="806" y="592"/>
                    </a:lnTo>
                    <a:lnTo>
                      <a:pt x="800" y="601"/>
                    </a:lnTo>
                    <a:lnTo>
                      <a:pt x="793" y="611"/>
                    </a:lnTo>
                    <a:lnTo>
                      <a:pt x="787" y="620"/>
                    </a:lnTo>
                    <a:lnTo>
                      <a:pt x="779" y="630"/>
                    </a:lnTo>
                    <a:lnTo>
                      <a:pt x="774" y="637"/>
                    </a:lnTo>
                    <a:lnTo>
                      <a:pt x="766" y="647"/>
                    </a:lnTo>
                    <a:lnTo>
                      <a:pt x="757" y="654"/>
                    </a:lnTo>
                    <a:lnTo>
                      <a:pt x="749" y="664"/>
                    </a:lnTo>
                    <a:lnTo>
                      <a:pt x="741" y="672"/>
                    </a:lnTo>
                    <a:lnTo>
                      <a:pt x="732" y="679"/>
                    </a:lnTo>
                    <a:lnTo>
                      <a:pt x="722" y="687"/>
                    </a:lnTo>
                    <a:lnTo>
                      <a:pt x="713" y="696"/>
                    </a:lnTo>
                    <a:lnTo>
                      <a:pt x="703" y="702"/>
                    </a:lnTo>
                    <a:lnTo>
                      <a:pt x="694" y="710"/>
                    </a:lnTo>
                    <a:lnTo>
                      <a:pt x="683" y="717"/>
                    </a:lnTo>
                    <a:lnTo>
                      <a:pt x="671" y="725"/>
                    </a:lnTo>
                    <a:lnTo>
                      <a:pt x="660" y="729"/>
                    </a:lnTo>
                    <a:lnTo>
                      <a:pt x="648" y="734"/>
                    </a:lnTo>
                    <a:lnTo>
                      <a:pt x="635" y="740"/>
                    </a:lnTo>
                    <a:lnTo>
                      <a:pt x="624" y="746"/>
                    </a:lnTo>
                    <a:lnTo>
                      <a:pt x="610" y="750"/>
                    </a:lnTo>
                    <a:lnTo>
                      <a:pt x="597" y="753"/>
                    </a:lnTo>
                    <a:lnTo>
                      <a:pt x="586" y="759"/>
                    </a:lnTo>
                    <a:lnTo>
                      <a:pt x="572" y="763"/>
                    </a:lnTo>
                    <a:lnTo>
                      <a:pt x="559" y="765"/>
                    </a:lnTo>
                    <a:lnTo>
                      <a:pt x="546" y="769"/>
                    </a:lnTo>
                    <a:lnTo>
                      <a:pt x="532" y="770"/>
                    </a:lnTo>
                    <a:lnTo>
                      <a:pt x="519" y="774"/>
                    </a:lnTo>
                    <a:lnTo>
                      <a:pt x="506" y="776"/>
                    </a:lnTo>
                    <a:lnTo>
                      <a:pt x="490" y="778"/>
                    </a:lnTo>
                    <a:lnTo>
                      <a:pt x="477" y="780"/>
                    </a:lnTo>
                    <a:lnTo>
                      <a:pt x="464" y="782"/>
                    </a:lnTo>
                    <a:lnTo>
                      <a:pt x="451" y="784"/>
                    </a:lnTo>
                    <a:lnTo>
                      <a:pt x="435" y="784"/>
                    </a:lnTo>
                    <a:lnTo>
                      <a:pt x="422" y="786"/>
                    </a:lnTo>
                    <a:lnTo>
                      <a:pt x="407" y="786"/>
                    </a:lnTo>
                    <a:lnTo>
                      <a:pt x="394" y="786"/>
                    </a:lnTo>
                    <a:lnTo>
                      <a:pt x="380" y="788"/>
                    </a:lnTo>
                    <a:lnTo>
                      <a:pt x="367" y="788"/>
                    </a:lnTo>
                    <a:lnTo>
                      <a:pt x="352" y="788"/>
                    </a:lnTo>
                    <a:lnTo>
                      <a:pt x="338" y="788"/>
                    </a:lnTo>
                    <a:lnTo>
                      <a:pt x="325" y="786"/>
                    </a:lnTo>
                    <a:lnTo>
                      <a:pt x="312" y="786"/>
                    </a:lnTo>
                    <a:lnTo>
                      <a:pt x="297" y="786"/>
                    </a:lnTo>
                    <a:lnTo>
                      <a:pt x="283" y="784"/>
                    </a:lnTo>
                    <a:lnTo>
                      <a:pt x="270" y="784"/>
                    </a:lnTo>
                    <a:lnTo>
                      <a:pt x="257" y="782"/>
                    </a:lnTo>
                    <a:lnTo>
                      <a:pt x="245" y="782"/>
                    </a:lnTo>
                    <a:lnTo>
                      <a:pt x="232" y="780"/>
                    </a:lnTo>
                    <a:lnTo>
                      <a:pt x="219" y="778"/>
                    </a:lnTo>
                    <a:lnTo>
                      <a:pt x="205" y="776"/>
                    </a:lnTo>
                    <a:lnTo>
                      <a:pt x="194" y="776"/>
                    </a:lnTo>
                    <a:lnTo>
                      <a:pt x="181" y="774"/>
                    </a:lnTo>
                    <a:lnTo>
                      <a:pt x="169" y="772"/>
                    </a:lnTo>
                    <a:lnTo>
                      <a:pt x="158" y="770"/>
                    </a:lnTo>
                    <a:lnTo>
                      <a:pt x="148" y="770"/>
                    </a:lnTo>
                    <a:lnTo>
                      <a:pt x="137" y="767"/>
                    </a:lnTo>
                    <a:lnTo>
                      <a:pt x="125" y="767"/>
                    </a:lnTo>
                    <a:lnTo>
                      <a:pt x="116" y="763"/>
                    </a:lnTo>
                    <a:lnTo>
                      <a:pt x="106" y="763"/>
                    </a:lnTo>
                    <a:lnTo>
                      <a:pt x="97" y="761"/>
                    </a:lnTo>
                    <a:lnTo>
                      <a:pt x="87" y="759"/>
                    </a:lnTo>
                    <a:lnTo>
                      <a:pt x="78" y="759"/>
                    </a:lnTo>
                    <a:lnTo>
                      <a:pt x="70" y="757"/>
                    </a:lnTo>
                    <a:lnTo>
                      <a:pt x="63" y="755"/>
                    </a:lnTo>
                    <a:lnTo>
                      <a:pt x="53" y="753"/>
                    </a:lnTo>
                    <a:lnTo>
                      <a:pt x="47" y="751"/>
                    </a:lnTo>
                    <a:lnTo>
                      <a:pt x="40" y="750"/>
                    </a:lnTo>
                    <a:lnTo>
                      <a:pt x="32" y="748"/>
                    </a:lnTo>
                    <a:lnTo>
                      <a:pt x="27" y="748"/>
                    </a:lnTo>
                    <a:lnTo>
                      <a:pt x="21" y="746"/>
                    </a:lnTo>
                    <a:lnTo>
                      <a:pt x="19" y="746"/>
                    </a:lnTo>
                    <a:lnTo>
                      <a:pt x="9" y="742"/>
                    </a:lnTo>
                    <a:lnTo>
                      <a:pt x="4" y="742"/>
                    </a:lnTo>
                    <a:lnTo>
                      <a:pt x="0" y="742"/>
                    </a:lnTo>
                    <a:lnTo>
                      <a:pt x="63" y="400"/>
                    </a:lnTo>
                    <a:lnTo>
                      <a:pt x="65" y="402"/>
                    </a:lnTo>
                    <a:lnTo>
                      <a:pt x="70" y="411"/>
                    </a:lnTo>
                    <a:lnTo>
                      <a:pt x="72" y="417"/>
                    </a:lnTo>
                    <a:lnTo>
                      <a:pt x="78" y="422"/>
                    </a:lnTo>
                    <a:lnTo>
                      <a:pt x="84" y="430"/>
                    </a:lnTo>
                    <a:lnTo>
                      <a:pt x="93" y="440"/>
                    </a:lnTo>
                    <a:lnTo>
                      <a:pt x="99" y="447"/>
                    </a:lnTo>
                    <a:lnTo>
                      <a:pt x="108" y="457"/>
                    </a:lnTo>
                    <a:lnTo>
                      <a:pt x="112" y="460"/>
                    </a:lnTo>
                    <a:lnTo>
                      <a:pt x="118" y="466"/>
                    </a:lnTo>
                    <a:lnTo>
                      <a:pt x="124" y="472"/>
                    </a:lnTo>
                    <a:lnTo>
                      <a:pt x="127" y="478"/>
                    </a:lnTo>
                    <a:lnTo>
                      <a:pt x="133" y="481"/>
                    </a:lnTo>
                    <a:lnTo>
                      <a:pt x="139" y="487"/>
                    </a:lnTo>
                    <a:lnTo>
                      <a:pt x="144" y="493"/>
                    </a:lnTo>
                    <a:lnTo>
                      <a:pt x="152" y="499"/>
                    </a:lnTo>
                    <a:lnTo>
                      <a:pt x="156" y="504"/>
                    </a:lnTo>
                    <a:lnTo>
                      <a:pt x="163" y="510"/>
                    </a:lnTo>
                    <a:lnTo>
                      <a:pt x="171" y="516"/>
                    </a:lnTo>
                    <a:lnTo>
                      <a:pt x="179" y="521"/>
                    </a:lnTo>
                    <a:lnTo>
                      <a:pt x="184" y="525"/>
                    </a:lnTo>
                    <a:lnTo>
                      <a:pt x="192" y="531"/>
                    </a:lnTo>
                    <a:lnTo>
                      <a:pt x="200" y="535"/>
                    </a:lnTo>
                    <a:lnTo>
                      <a:pt x="207" y="540"/>
                    </a:lnTo>
                    <a:lnTo>
                      <a:pt x="215" y="546"/>
                    </a:lnTo>
                    <a:lnTo>
                      <a:pt x="222" y="550"/>
                    </a:lnTo>
                    <a:lnTo>
                      <a:pt x="232" y="556"/>
                    </a:lnTo>
                    <a:lnTo>
                      <a:pt x="240" y="561"/>
                    </a:lnTo>
                    <a:lnTo>
                      <a:pt x="247" y="563"/>
                    </a:lnTo>
                    <a:lnTo>
                      <a:pt x="257" y="569"/>
                    </a:lnTo>
                    <a:lnTo>
                      <a:pt x="264" y="573"/>
                    </a:lnTo>
                    <a:lnTo>
                      <a:pt x="274" y="578"/>
                    </a:lnTo>
                    <a:lnTo>
                      <a:pt x="283" y="582"/>
                    </a:lnTo>
                    <a:lnTo>
                      <a:pt x="293" y="586"/>
                    </a:lnTo>
                    <a:lnTo>
                      <a:pt x="302" y="588"/>
                    </a:lnTo>
                    <a:lnTo>
                      <a:pt x="314" y="592"/>
                    </a:lnTo>
                    <a:lnTo>
                      <a:pt x="321" y="594"/>
                    </a:lnTo>
                    <a:lnTo>
                      <a:pt x="333" y="597"/>
                    </a:lnTo>
                    <a:lnTo>
                      <a:pt x="342" y="599"/>
                    </a:lnTo>
                    <a:lnTo>
                      <a:pt x="354" y="603"/>
                    </a:lnTo>
                    <a:lnTo>
                      <a:pt x="363" y="603"/>
                    </a:lnTo>
                    <a:lnTo>
                      <a:pt x="375" y="605"/>
                    </a:lnTo>
                    <a:lnTo>
                      <a:pt x="386" y="605"/>
                    </a:lnTo>
                    <a:lnTo>
                      <a:pt x="397" y="607"/>
                    </a:lnTo>
                    <a:lnTo>
                      <a:pt x="407" y="607"/>
                    </a:lnTo>
                    <a:lnTo>
                      <a:pt x="418" y="607"/>
                    </a:lnTo>
                    <a:lnTo>
                      <a:pt x="430" y="607"/>
                    </a:lnTo>
                    <a:lnTo>
                      <a:pt x="441" y="607"/>
                    </a:lnTo>
                    <a:lnTo>
                      <a:pt x="452" y="605"/>
                    </a:lnTo>
                    <a:lnTo>
                      <a:pt x="466" y="603"/>
                    </a:lnTo>
                    <a:lnTo>
                      <a:pt x="477" y="601"/>
                    </a:lnTo>
                    <a:lnTo>
                      <a:pt x="490" y="601"/>
                    </a:lnTo>
                    <a:lnTo>
                      <a:pt x="502" y="597"/>
                    </a:lnTo>
                    <a:lnTo>
                      <a:pt x="511" y="594"/>
                    </a:lnTo>
                    <a:lnTo>
                      <a:pt x="523" y="590"/>
                    </a:lnTo>
                    <a:lnTo>
                      <a:pt x="534" y="586"/>
                    </a:lnTo>
                    <a:lnTo>
                      <a:pt x="542" y="582"/>
                    </a:lnTo>
                    <a:lnTo>
                      <a:pt x="551" y="576"/>
                    </a:lnTo>
                    <a:lnTo>
                      <a:pt x="559" y="571"/>
                    </a:lnTo>
                    <a:lnTo>
                      <a:pt x="567" y="567"/>
                    </a:lnTo>
                    <a:lnTo>
                      <a:pt x="574" y="561"/>
                    </a:lnTo>
                    <a:lnTo>
                      <a:pt x="580" y="556"/>
                    </a:lnTo>
                    <a:lnTo>
                      <a:pt x="586" y="548"/>
                    </a:lnTo>
                    <a:lnTo>
                      <a:pt x="591" y="542"/>
                    </a:lnTo>
                    <a:lnTo>
                      <a:pt x="595" y="535"/>
                    </a:lnTo>
                    <a:lnTo>
                      <a:pt x="601" y="527"/>
                    </a:lnTo>
                    <a:lnTo>
                      <a:pt x="605" y="519"/>
                    </a:lnTo>
                    <a:lnTo>
                      <a:pt x="608" y="514"/>
                    </a:lnTo>
                    <a:lnTo>
                      <a:pt x="612" y="506"/>
                    </a:lnTo>
                    <a:lnTo>
                      <a:pt x="614" y="497"/>
                    </a:lnTo>
                    <a:lnTo>
                      <a:pt x="616" y="489"/>
                    </a:lnTo>
                    <a:lnTo>
                      <a:pt x="618" y="481"/>
                    </a:lnTo>
                    <a:lnTo>
                      <a:pt x="618" y="472"/>
                    </a:lnTo>
                    <a:lnTo>
                      <a:pt x="620" y="464"/>
                    </a:lnTo>
                    <a:lnTo>
                      <a:pt x="622" y="455"/>
                    </a:lnTo>
                    <a:lnTo>
                      <a:pt x="622" y="447"/>
                    </a:lnTo>
                    <a:lnTo>
                      <a:pt x="622" y="438"/>
                    </a:lnTo>
                    <a:lnTo>
                      <a:pt x="622" y="428"/>
                    </a:lnTo>
                    <a:lnTo>
                      <a:pt x="622" y="421"/>
                    </a:lnTo>
                    <a:lnTo>
                      <a:pt x="622" y="413"/>
                    </a:lnTo>
                    <a:lnTo>
                      <a:pt x="620" y="403"/>
                    </a:lnTo>
                    <a:lnTo>
                      <a:pt x="618" y="394"/>
                    </a:lnTo>
                    <a:lnTo>
                      <a:pt x="618" y="386"/>
                    </a:lnTo>
                    <a:lnTo>
                      <a:pt x="616" y="377"/>
                    </a:lnTo>
                    <a:lnTo>
                      <a:pt x="614" y="367"/>
                    </a:lnTo>
                    <a:lnTo>
                      <a:pt x="612" y="360"/>
                    </a:lnTo>
                    <a:lnTo>
                      <a:pt x="610" y="350"/>
                    </a:lnTo>
                    <a:lnTo>
                      <a:pt x="608" y="341"/>
                    </a:lnTo>
                    <a:lnTo>
                      <a:pt x="605" y="333"/>
                    </a:lnTo>
                    <a:lnTo>
                      <a:pt x="603" y="325"/>
                    </a:lnTo>
                    <a:lnTo>
                      <a:pt x="599" y="316"/>
                    </a:lnTo>
                    <a:lnTo>
                      <a:pt x="597" y="308"/>
                    </a:lnTo>
                    <a:lnTo>
                      <a:pt x="595" y="301"/>
                    </a:lnTo>
                    <a:lnTo>
                      <a:pt x="591" y="291"/>
                    </a:lnTo>
                    <a:lnTo>
                      <a:pt x="589" y="284"/>
                    </a:lnTo>
                    <a:lnTo>
                      <a:pt x="586" y="278"/>
                    </a:lnTo>
                    <a:lnTo>
                      <a:pt x="584" y="270"/>
                    </a:lnTo>
                    <a:lnTo>
                      <a:pt x="582" y="263"/>
                    </a:lnTo>
                    <a:lnTo>
                      <a:pt x="578" y="257"/>
                    </a:lnTo>
                    <a:lnTo>
                      <a:pt x="576" y="251"/>
                    </a:lnTo>
                    <a:lnTo>
                      <a:pt x="572" y="244"/>
                    </a:lnTo>
                    <a:lnTo>
                      <a:pt x="568" y="238"/>
                    </a:lnTo>
                    <a:lnTo>
                      <a:pt x="567" y="232"/>
                    </a:lnTo>
                    <a:lnTo>
                      <a:pt x="563" y="227"/>
                    </a:lnTo>
                    <a:lnTo>
                      <a:pt x="559" y="219"/>
                    </a:lnTo>
                    <a:lnTo>
                      <a:pt x="555" y="211"/>
                    </a:lnTo>
                    <a:lnTo>
                      <a:pt x="551" y="204"/>
                    </a:lnTo>
                    <a:lnTo>
                      <a:pt x="549" y="198"/>
                    </a:lnTo>
                    <a:lnTo>
                      <a:pt x="548" y="196"/>
                    </a:lnTo>
                    <a:close/>
                  </a:path>
                </a:pathLst>
              </a:custGeom>
              <a:solidFill>
                <a:srgbClr val="B5667A"/>
              </a:solidFill>
              <a:ln w="9525">
                <a:noFill/>
                <a:round/>
              </a:ln>
            </p:spPr>
            <p:txBody>
              <a:bodyPr/>
              <a:lstStyle/>
              <a:p>
                <a:endParaRPr lang="en-US"/>
              </a:p>
            </p:txBody>
          </p:sp>
          <p:sp>
            <p:nvSpPr>
              <p:cNvPr id="1048942" name="Freeform 239"/>
              <p:cNvSpPr/>
              <p:nvPr/>
            </p:nvSpPr>
            <p:spPr bwMode="auto">
              <a:xfrm>
                <a:off x="2199" y="2024"/>
                <a:ext cx="110" cy="114"/>
              </a:xfrm>
              <a:custGeom>
                <a:avLst/>
                <a:gdLst>
                  <a:gd name="T0" fmla="*/ 31 w 221"/>
                  <a:gd name="T1" fmla="*/ 0 h 228"/>
                  <a:gd name="T2" fmla="*/ 40 w 221"/>
                  <a:gd name="T3" fmla="*/ 3 h 228"/>
                  <a:gd name="T4" fmla="*/ 48 w 221"/>
                  <a:gd name="T5" fmla="*/ 6 h 228"/>
                  <a:gd name="T6" fmla="*/ 58 w 221"/>
                  <a:gd name="T7" fmla="*/ 10 h 228"/>
                  <a:gd name="T8" fmla="*/ 67 w 221"/>
                  <a:gd name="T9" fmla="*/ 14 h 228"/>
                  <a:gd name="T10" fmla="*/ 75 w 221"/>
                  <a:gd name="T11" fmla="*/ 20 h 228"/>
                  <a:gd name="T12" fmla="*/ 84 w 221"/>
                  <a:gd name="T13" fmla="*/ 26 h 228"/>
                  <a:gd name="T14" fmla="*/ 91 w 221"/>
                  <a:gd name="T15" fmla="*/ 33 h 228"/>
                  <a:gd name="T16" fmla="*/ 98 w 221"/>
                  <a:gd name="T17" fmla="*/ 38 h 228"/>
                  <a:gd name="T18" fmla="*/ 103 w 221"/>
                  <a:gd name="T19" fmla="*/ 46 h 228"/>
                  <a:gd name="T20" fmla="*/ 106 w 221"/>
                  <a:gd name="T21" fmla="*/ 54 h 228"/>
                  <a:gd name="T22" fmla="*/ 109 w 221"/>
                  <a:gd name="T23" fmla="*/ 61 h 228"/>
                  <a:gd name="T24" fmla="*/ 109 w 221"/>
                  <a:gd name="T25" fmla="*/ 70 h 228"/>
                  <a:gd name="T26" fmla="*/ 107 w 221"/>
                  <a:gd name="T27" fmla="*/ 78 h 228"/>
                  <a:gd name="T28" fmla="*/ 104 w 221"/>
                  <a:gd name="T29" fmla="*/ 87 h 228"/>
                  <a:gd name="T30" fmla="*/ 99 w 221"/>
                  <a:gd name="T31" fmla="*/ 95 h 228"/>
                  <a:gd name="T32" fmla="*/ 91 w 221"/>
                  <a:gd name="T33" fmla="*/ 103 h 228"/>
                  <a:gd name="T34" fmla="*/ 84 w 221"/>
                  <a:gd name="T35" fmla="*/ 108 h 228"/>
                  <a:gd name="T36" fmla="*/ 75 w 221"/>
                  <a:gd name="T37" fmla="*/ 112 h 228"/>
                  <a:gd name="T38" fmla="*/ 65 w 221"/>
                  <a:gd name="T39" fmla="*/ 114 h 228"/>
                  <a:gd name="T40" fmla="*/ 57 w 221"/>
                  <a:gd name="T41" fmla="*/ 114 h 228"/>
                  <a:gd name="T42" fmla="*/ 47 w 221"/>
                  <a:gd name="T43" fmla="*/ 114 h 228"/>
                  <a:gd name="T44" fmla="*/ 40 w 221"/>
                  <a:gd name="T45" fmla="*/ 113 h 228"/>
                  <a:gd name="T46" fmla="*/ 34 w 221"/>
                  <a:gd name="T47" fmla="*/ 110 h 228"/>
                  <a:gd name="T48" fmla="*/ 36 w 221"/>
                  <a:gd name="T49" fmla="*/ 108 h 228"/>
                  <a:gd name="T50" fmla="*/ 44 w 221"/>
                  <a:gd name="T51" fmla="*/ 106 h 228"/>
                  <a:gd name="T52" fmla="*/ 51 w 221"/>
                  <a:gd name="T53" fmla="*/ 104 h 228"/>
                  <a:gd name="T54" fmla="*/ 59 w 221"/>
                  <a:gd name="T55" fmla="*/ 102 h 228"/>
                  <a:gd name="T56" fmla="*/ 66 w 221"/>
                  <a:gd name="T57" fmla="*/ 98 h 228"/>
                  <a:gd name="T58" fmla="*/ 72 w 221"/>
                  <a:gd name="T59" fmla="*/ 95 h 228"/>
                  <a:gd name="T60" fmla="*/ 79 w 221"/>
                  <a:gd name="T61" fmla="*/ 90 h 228"/>
                  <a:gd name="T62" fmla="*/ 84 w 221"/>
                  <a:gd name="T63" fmla="*/ 86 h 228"/>
                  <a:gd name="T64" fmla="*/ 87 w 221"/>
                  <a:gd name="T65" fmla="*/ 80 h 228"/>
                  <a:gd name="T66" fmla="*/ 91 w 221"/>
                  <a:gd name="T67" fmla="*/ 75 h 228"/>
                  <a:gd name="T68" fmla="*/ 93 w 221"/>
                  <a:gd name="T69" fmla="*/ 69 h 228"/>
                  <a:gd name="T70" fmla="*/ 93 w 221"/>
                  <a:gd name="T71" fmla="*/ 62 h 228"/>
                  <a:gd name="T72" fmla="*/ 91 w 221"/>
                  <a:gd name="T73" fmla="*/ 56 h 228"/>
                  <a:gd name="T74" fmla="*/ 88 w 221"/>
                  <a:gd name="T75" fmla="*/ 50 h 228"/>
                  <a:gd name="T76" fmla="*/ 84 w 221"/>
                  <a:gd name="T77" fmla="*/ 44 h 228"/>
                  <a:gd name="T78" fmla="*/ 77 w 221"/>
                  <a:gd name="T79" fmla="*/ 37 h 228"/>
                  <a:gd name="T80" fmla="*/ 69 w 221"/>
                  <a:gd name="T81" fmla="*/ 31 h 228"/>
                  <a:gd name="T82" fmla="*/ 60 w 221"/>
                  <a:gd name="T83" fmla="*/ 27 h 228"/>
                  <a:gd name="T84" fmla="*/ 51 w 221"/>
                  <a:gd name="T85" fmla="*/ 24 h 228"/>
                  <a:gd name="T86" fmla="*/ 43 w 221"/>
                  <a:gd name="T87" fmla="*/ 22 h 228"/>
                  <a:gd name="T88" fmla="*/ 33 w 221"/>
                  <a:gd name="T89" fmla="*/ 20 h 228"/>
                  <a:gd name="T90" fmla="*/ 24 w 221"/>
                  <a:gd name="T91" fmla="*/ 19 h 228"/>
                  <a:gd name="T92" fmla="*/ 17 w 221"/>
                  <a:gd name="T93" fmla="*/ 18 h 228"/>
                  <a:gd name="T94" fmla="*/ 11 w 221"/>
                  <a:gd name="T95" fmla="*/ 18 h 228"/>
                  <a:gd name="T96" fmla="*/ 5 w 221"/>
                  <a:gd name="T97" fmla="*/ 17 h 228"/>
                  <a:gd name="T98" fmla="*/ 26 w 221"/>
                  <a:gd name="T99" fmla="*/ 0 h 228"/>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w 221"/>
                  <a:gd name="T151" fmla="*/ 0 h 228"/>
                  <a:gd name="T152" fmla="*/ 221 w 221"/>
                  <a:gd name="T153" fmla="*/ 228 h 228"/>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T150" t="T151" r="T152" b="T153"/>
                <a:pathLst>
                  <a:path w="221" h="228">
                    <a:moveTo>
                      <a:pt x="53" y="0"/>
                    </a:moveTo>
                    <a:lnTo>
                      <a:pt x="63" y="0"/>
                    </a:lnTo>
                    <a:lnTo>
                      <a:pt x="71" y="4"/>
                    </a:lnTo>
                    <a:lnTo>
                      <a:pt x="80" y="6"/>
                    </a:lnTo>
                    <a:lnTo>
                      <a:pt x="90" y="10"/>
                    </a:lnTo>
                    <a:lnTo>
                      <a:pt x="97" y="12"/>
                    </a:lnTo>
                    <a:lnTo>
                      <a:pt x="109" y="15"/>
                    </a:lnTo>
                    <a:lnTo>
                      <a:pt x="116" y="19"/>
                    </a:lnTo>
                    <a:lnTo>
                      <a:pt x="126" y="25"/>
                    </a:lnTo>
                    <a:lnTo>
                      <a:pt x="135" y="29"/>
                    </a:lnTo>
                    <a:lnTo>
                      <a:pt x="143" y="34"/>
                    </a:lnTo>
                    <a:lnTo>
                      <a:pt x="150" y="40"/>
                    </a:lnTo>
                    <a:lnTo>
                      <a:pt x="160" y="46"/>
                    </a:lnTo>
                    <a:lnTo>
                      <a:pt x="168" y="52"/>
                    </a:lnTo>
                    <a:lnTo>
                      <a:pt x="175" y="57"/>
                    </a:lnTo>
                    <a:lnTo>
                      <a:pt x="183" y="65"/>
                    </a:lnTo>
                    <a:lnTo>
                      <a:pt x="190" y="71"/>
                    </a:lnTo>
                    <a:lnTo>
                      <a:pt x="196" y="76"/>
                    </a:lnTo>
                    <a:lnTo>
                      <a:pt x="202" y="84"/>
                    </a:lnTo>
                    <a:lnTo>
                      <a:pt x="206" y="92"/>
                    </a:lnTo>
                    <a:lnTo>
                      <a:pt x="211" y="99"/>
                    </a:lnTo>
                    <a:lnTo>
                      <a:pt x="213" y="107"/>
                    </a:lnTo>
                    <a:lnTo>
                      <a:pt x="217" y="114"/>
                    </a:lnTo>
                    <a:lnTo>
                      <a:pt x="219" y="122"/>
                    </a:lnTo>
                    <a:lnTo>
                      <a:pt x="221" y="131"/>
                    </a:lnTo>
                    <a:lnTo>
                      <a:pt x="219" y="139"/>
                    </a:lnTo>
                    <a:lnTo>
                      <a:pt x="219" y="147"/>
                    </a:lnTo>
                    <a:lnTo>
                      <a:pt x="215" y="156"/>
                    </a:lnTo>
                    <a:lnTo>
                      <a:pt x="213" y="164"/>
                    </a:lnTo>
                    <a:lnTo>
                      <a:pt x="209" y="173"/>
                    </a:lnTo>
                    <a:lnTo>
                      <a:pt x="204" y="181"/>
                    </a:lnTo>
                    <a:lnTo>
                      <a:pt x="198" y="190"/>
                    </a:lnTo>
                    <a:lnTo>
                      <a:pt x="190" y="202"/>
                    </a:lnTo>
                    <a:lnTo>
                      <a:pt x="183" y="206"/>
                    </a:lnTo>
                    <a:lnTo>
                      <a:pt x="175" y="211"/>
                    </a:lnTo>
                    <a:lnTo>
                      <a:pt x="168" y="215"/>
                    </a:lnTo>
                    <a:lnTo>
                      <a:pt x="160" y="219"/>
                    </a:lnTo>
                    <a:lnTo>
                      <a:pt x="150" y="223"/>
                    </a:lnTo>
                    <a:lnTo>
                      <a:pt x="143" y="225"/>
                    </a:lnTo>
                    <a:lnTo>
                      <a:pt x="131" y="227"/>
                    </a:lnTo>
                    <a:lnTo>
                      <a:pt x="124" y="228"/>
                    </a:lnTo>
                    <a:lnTo>
                      <a:pt x="114" y="228"/>
                    </a:lnTo>
                    <a:lnTo>
                      <a:pt x="105" y="228"/>
                    </a:lnTo>
                    <a:lnTo>
                      <a:pt x="95" y="228"/>
                    </a:lnTo>
                    <a:lnTo>
                      <a:pt x="88" y="228"/>
                    </a:lnTo>
                    <a:lnTo>
                      <a:pt x="80" y="225"/>
                    </a:lnTo>
                    <a:lnTo>
                      <a:pt x="74" y="223"/>
                    </a:lnTo>
                    <a:lnTo>
                      <a:pt x="69" y="219"/>
                    </a:lnTo>
                    <a:lnTo>
                      <a:pt x="65" y="217"/>
                    </a:lnTo>
                    <a:lnTo>
                      <a:pt x="72" y="215"/>
                    </a:lnTo>
                    <a:lnTo>
                      <a:pt x="80" y="213"/>
                    </a:lnTo>
                    <a:lnTo>
                      <a:pt x="88" y="211"/>
                    </a:lnTo>
                    <a:lnTo>
                      <a:pt x="95" y="211"/>
                    </a:lnTo>
                    <a:lnTo>
                      <a:pt x="103" y="208"/>
                    </a:lnTo>
                    <a:lnTo>
                      <a:pt x="110" y="206"/>
                    </a:lnTo>
                    <a:lnTo>
                      <a:pt x="118" y="204"/>
                    </a:lnTo>
                    <a:lnTo>
                      <a:pt x="126" y="202"/>
                    </a:lnTo>
                    <a:lnTo>
                      <a:pt x="133" y="196"/>
                    </a:lnTo>
                    <a:lnTo>
                      <a:pt x="139" y="192"/>
                    </a:lnTo>
                    <a:lnTo>
                      <a:pt x="145" y="189"/>
                    </a:lnTo>
                    <a:lnTo>
                      <a:pt x="152" y="185"/>
                    </a:lnTo>
                    <a:lnTo>
                      <a:pt x="158" y="179"/>
                    </a:lnTo>
                    <a:lnTo>
                      <a:pt x="164" y="175"/>
                    </a:lnTo>
                    <a:lnTo>
                      <a:pt x="168" y="171"/>
                    </a:lnTo>
                    <a:lnTo>
                      <a:pt x="173" y="166"/>
                    </a:lnTo>
                    <a:lnTo>
                      <a:pt x="175" y="160"/>
                    </a:lnTo>
                    <a:lnTo>
                      <a:pt x="179" y="154"/>
                    </a:lnTo>
                    <a:lnTo>
                      <a:pt x="183" y="149"/>
                    </a:lnTo>
                    <a:lnTo>
                      <a:pt x="185" y="143"/>
                    </a:lnTo>
                    <a:lnTo>
                      <a:pt x="187" y="137"/>
                    </a:lnTo>
                    <a:lnTo>
                      <a:pt x="187" y="130"/>
                    </a:lnTo>
                    <a:lnTo>
                      <a:pt x="187" y="124"/>
                    </a:lnTo>
                    <a:lnTo>
                      <a:pt x="187" y="118"/>
                    </a:lnTo>
                    <a:lnTo>
                      <a:pt x="183" y="112"/>
                    </a:lnTo>
                    <a:lnTo>
                      <a:pt x="181" y="105"/>
                    </a:lnTo>
                    <a:lnTo>
                      <a:pt x="177" y="99"/>
                    </a:lnTo>
                    <a:lnTo>
                      <a:pt x="173" y="93"/>
                    </a:lnTo>
                    <a:lnTo>
                      <a:pt x="168" y="88"/>
                    </a:lnTo>
                    <a:lnTo>
                      <a:pt x="162" y="80"/>
                    </a:lnTo>
                    <a:lnTo>
                      <a:pt x="154" y="74"/>
                    </a:lnTo>
                    <a:lnTo>
                      <a:pt x="148" y="69"/>
                    </a:lnTo>
                    <a:lnTo>
                      <a:pt x="139" y="63"/>
                    </a:lnTo>
                    <a:lnTo>
                      <a:pt x="129" y="57"/>
                    </a:lnTo>
                    <a:lnTo>
                      <a:pt x="120" y="54"/>
                    </a:lnTo>
                    <a:lnTo>
                      <a:pt x="112" y="50"/>
                    </a:lnTo>
                    <a:lnTo>
                      <a:pt x="103" y="48"/>
                    </a:lnTo>
                    <a:lnTo>
                      <a:pt x="93" y="46"/>
                    </a:lnTo>
                    <a:lnTo>
                      <a:pt x="86" y="44"/>
                    </a:lnTo>
                    <a:lnTo>
                      <a:pt x="76" y="42"/>
                    </a:lnTo>
                    <a:lnTo>
                      <a:pt x="67" y="40"/>
                    </a:lnTo>
                    <a:lnTo>
                      <a:pt x="57" y="40"/>
                    </a:lnTo>
                    <a:lnTo>
                      <a:pt x="48" y="38"/>
                    </a:lnTo>
                    <a:lnTo>
                      <a:pt x="38" y="38"/>
                    </a:lnTo>
                    <a:lnTo>
                      <a:pt x="34" y="36"/>
                    </a:lnTo>
                    <a:lnTo>
                      <a:pt x="29" y="36"/>
                    </a:lnTo>
                    <a:lnTo>
                      <a:pt x="23" y="36"/>
                    </a:lnTo>
                    <a:lnTo>
                      <a:pt x="19" y="34"/>
                    </a:lnTo>
                    <a:lnTo>
                      <a:pt x="10" y="33"/>
                    </a:lnTo>
                    <a:lnTo>
                      <a:pt x="0" y="33"/>
                    </a:lnTo>
                    <a:lnTo>
                      <a:pt x="53" y="0"/>
                    </a:lnTo>
                    <a:close/>
                  </a:path>
                </a:pathLst>
              </a:custGeom>
              <a:solidFill>
                <a:srgbClr val="000000"/>
              </a:solidFill>
              <a:ln w="9525">
                <a:noFill/>
                <a:round/>
              </a:ln>
            </p:spPr>
            <p:txBody>
              <a:bodyPr/>
              <a:lstStyle/>
              <a:p>
                <a:endParaRPr lang="en-US"/>
              </a:p>
            </p:txBody>
          </p:sp>
          <p:sp>
            <p:nvSpPr>
              <p:cNvPr id="1048943" name="Freeform 240"/>
              <p:cNvSpPr/>
              <p:nvPr/>
            </p:nvSpPr>
            <p:spPr bwMode="auto">
              <a:xfrm>
                <a:off x="2306" y="2159"/>
                <a:ext cx="318" cy="33"/>
              </a:xfrm>
              <a:custGeom>
                <a:avLst/>
                <a:gdLst>
                  <a:gd name="T0" fmla="*/ 304 w 635"/>
                  <a:gd name="T1" fmla="*/ 3 h 67"/>
                  <a:gd name="T2" fmla="*/ 313 w 635"/>
                  <a:gd name="T3" fmla="*/ 12 h 67"/>
                  <a:gd name="T4" fmla="*/ 318 w 635"/>
                  <a:gd name="T5" fmla="*/ 22 h 67"/>
                  <a:gd name="T6" fmla="*/ 302 w 635"/>
                  <a:gd name="T7" fmla="*/ 22 h 67"/>
                  <a:gd name="T8" fmla="*/ 285 w 635"/>
                  <a:gd name="T9" fmla="*/ 22 h 67"/>
                  <a:gd name="T10" fmla="*/ 270 w 635"/>
                  <a:gd name="T11" fmla="*/ 22 h 67"/>
                  <a:gd name="T12" fmla="*/ 255 w 635"/>
                  <a:gd name="T13" fmla="*/ 22 h 67"/>
                  <a:gd name="T14" fmla="*/ 241 w 635"/>
                  <a:gd name="T15" fmla="*/ 21 h 67"/>
                  <a:gd name="T16" fmla="*/ 227 w 635"/>
                  <a:gd name="T17" fmla="*/ 20 h 67"/>
                  <a:gd name="T18" fmla="*/ 212 w 635"/>
                  <a:gd name="T19" fmla="*/ 19 h 67"/>
                  <a:gd name="T20" fmla="*/ 199 w 635"/>
                  <a:gd name="T21" fmla="*/ 19 h 67"/>
                  <a:gd name="T22" fmla="*/ 185 w 635"/>
                  <a:gd name="T23" fmla="*/ 17 h 67"/>
                  <a:gd name="T24" fmla="*/ 171 w 635"/>
                  <a:gd name="T25" fmla="*/ 17 h 67"/>
                  <a:gd name="T26" fmla="*/ 158 w 635"/>
                  <a:gd name="T27" fmla="*/ 16 h 67"/>
                  <a:gd name="T28" fmla="*/ 144 w 635"/>
                  <a:gd name="T29" fmla="*/ 16 h 67"/>
                  <a:gd name="T30" fmla="*/ 130 w 635"/>
                  <a:gd name="T31" fmla="*/ 16 h 67"/>
                  <a:gd name="T32" fmla="*/ 116 w 635"/>
                  <a:gd name="T33" fmla="*/ 16 h 67"/>
                  <a:gd name="T34" fmla="*/ 101 w 635"/>
                  <a:gd name="T35" fmla="*/ 16 h 67"/>
                  <a:gd name="T36" fmla="*/ 87 w 635"/>
                  <a:gd name="T37" fmla="*/ 18 h 67"/>
                  <a:gd name="T38" fmla="*/ 72 w 635"/>
                  <a:gd name="T39" fmla="*/ 19 h 67"/>
                  <a:gd name="T40" fmla="*/ 56 w 635"/>
                  <a:gd name="T41" fmla="*/ 22 h 67"/>
                  <a:gd name="T42" fmla="*/ 40 w 635"/>
                  <a:gd name="T43" fmla="*/ 24 h 67"/>
                  <a:gd name="T44" fmla="*/ 23 w 635"/>
                  <a:gd name="T45" fmla="*/ 27 h 67"/>
                  <a:gd name="T46" fmla="*/ 6 w 635"/>
                  <a:gd name="T47" fmla="*/ 31 h 67"/>
                  <a:gd name="T48" fmla="*/ 0 w 635"/>
                  <a:gd name="T49" fmla="*/ 26 h 67"/>
                  <a:gd name="T50" fmla="*/ 5 w 635"/>
                  <a:gd name="T51" fmla="*/ 16 h 67"/>
                  <a:gd name="T52" fmla="*/ 19 w 635"/>
                  <a:gd name="T53" fmla="*/ 15 h 67"/>
                  <a:gd name="T54" fmla="*/ 34 w 635"/>
                  <a:gd name="T55" fmla="*/ 14 h 67"/>
                  <a:gd name="T56" fmla="*/ 47 w 635"/>
                  <a:gd name="T57" fmla="*/ 13 h 67"/>
                  <a:gd name="T58" fmla="*/ 61 w 635"/>
                  <a:gd name="T59" fmla="*/ 12 h 67"/>
                  <a:gd name="T60" fmla="*/ 75 w 635"/>
                  <a:gd name="T61" fmla="*/ 12 h 67"/>
                  <a:gd name="T62" fmla="*/ 89 w 635"/>
                  <a:gd name="T63" fmla="*/ 11 h 67"/>
                  <a:gd name="T64" fmla="*/ 103 w 635"/>
                  <a:gd name="T65" fmla="*/ 10 h 67"/>
                  <a:gd name="T66" fmla="*/ 117 w 635"/>
                  <a:gd name="T67" fmla="*/ 10 h 67"/>
                  <a:gd name="T68" fmla="*/ 131 w 635"/>
                  <a:gd name="T69" fmla="*/ 10 h 67"/>
                  <a:gd name="T70" fmla="*/ 146 w 635"/>
                  <a:gd name="T71" fmla="*/ 9 h 67"/>
                  <a:gd name="T72" fmla="*/ 160 w 635"/>
                  <a:gd name="T73" fmla="*/ 8 h 67"/>
                  <a:gd name="T74" fmla="*/ 174 w 635"/>
                  <a:gd name="T75" fmla="*/ 8 h 67"/>
                  <a:gd name="T76" fmla="*/ 188 w 635"/>
                  <a:gd name="T77" fmla="*/ 7 h 67"/>
                  <a:gd name="T78" fmla="*/ 203 w 635"/>
                  <a:gd name="T79" fmla="*/ 7 h 67"/>
                  <a:gd name="T80" fmla="*/ 217 w 635"/>
                  <a:gd name="T81" fmla="*/ 7 h 67"/>
                  <a:gd name="T82" fmla="*/ 230 w 635"/>
                  <a:gd name="T83" fmla="*/ 6 h 67"/>
                  <a:gd name="T84" fmla="*/ 246 w 635"/>
                  <a:gd name="T85" fmla="*/ 5 h 67"/>
                  <a:gd name="T86" fmla="*/ 259 w 635"/>
                  <a:gd name="T87" fmla="*/ 4 h 67"/>
                  <a:gd name="T88" fmla="*/ 273 w 635"/>
                  <a:gd name="T89" fmla="*/ 3 h 67"/>
                  <a:gd name="T90" fmla="*/ 287 w 635"/>
                  <a:gd name="T91" fmla="*/ 1 h 67"/>
                  <a:gd name="T92" fmla="*/ 303 w 635"/>
                  <a:gd name="T93" fmla="*/ 0 h 67"/>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w 635"/>
                  <a:gd name="T142" fmla="*/ 0 h 67"/>
                  <a:gd name="T143" fmla="*/ 635 w 635"/>
                  <a:gd name="T144" fmla="*/ 67 h 67"/>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T141" t="T142" r="T143" b="T144"/>
                <a:pathLst>
                  <a:path w="635" h="67">
                    <a:moveTo>
                      <a:pt x="605" y="0"/>
                    </a:moveTo>
                    <a:lnTo>
                      <a:pt x="607" y="2"/>
                    </a:lnTo>
                    <a:lnTo>
                      <a:pt x="608" y="6"/>
                    </a:lnTo>
                    <a:lnTo>
                      <a:pt x="614" y="12"/>
                    </a:lnTo>
                    <a:lnTo>
                      <a:pt x="620" y="17"/>
                    </a:lnTo>
                    <a:lnTo>
                      <a:pt x="626" y="25"/>
                    </a:lnTo>
                    <a:lnTo>
                      <a:pt x="631" y="33"/>
                    </a:lnTo>
                    <a:lnTo>
                      <a:pt x="633" y="40"/>
                    </a:lnTo>
                    <a:lnTo>
                      <a:pt x="635" y="44"/>
                    </a:lnTo>
                    <a:lnTo>
                      <a:pt x="624" y="44"/>
                    </a:lnTo>
                    <a:lnTo>
                      <a:pt x="612" y="44"/>
                    </a:lnTo>
                    <a:lnTo>
                      <a:pt x="603" y="44"/>
                    </a:lnTo>
                    <a:lnTo>
                      <a:pt x="591" y="44"/>
                    </a:lnTo>
                    <a:lnTo>
                      <a:pt x="580" y="44"/>
                    </a:lnTo>
                    <a:lnTo>
                      <a:pt x="570" y="44"/>
                    </a:lnTo>
                    <a:lnTo>
                      <a:pt x="559" y="44"/>
                    </a:lnTo>
                    <a:lnTo>
                      <a:pt x="551" y="44"/>
                    </a:lnTo>
                    <a:lnTo>
                      <a:pt x="540" y="44"/>
                    </a:lnTo>
                    <a:lnTo>
                      <a:pt x="529" y="44"/>
                    </a:lnTo>
                    <a:lnTo>
                      <a:pt x="519" y="44"/>
                    </a:lnTo>
                    <a:lnTo>
                      <a:pt x="510" y="44"/>
                    </a:lnTo>
                    <a:lnTo>
                      <a:pt x="500" y="42"/>
                    </a:lnTo>
                    <a:lnTo>
                      <a:pt x="491" y="42"/>
                    </a:lnTo>
                    <a:lnTo>
                      <a:pt x="481" y="42"/>
                    </a:lnTo>
                    <a:lnTo>
                      <a:pt x="472" y="42"/>
                    </a:lnTo>
                    <a:lnTo>
                      <a:pt x="462" y="42"/>
                    </a:lnTo>
                    <a:lnTo>
                      <a:pt x="453" y="40"/>
                    </a:lnTo>
                    <a:lnTo>
                      <a:pt x="443" y="40"/>
                    </a:lnTo>
                    <a:lnTo>
                      <a:pt x="434" y="40"/>
                    </a:lnTo>
                    <a:lnTo>
                      <a:pt x="424" y="38"/>
                    </a:lnTo>
                    <a:lnTo>
                      <a:pt x="416" y="38"/>
                    </a:lnTo>
                    <a:lnTo>
                      <a:pt x="407" y="38"/>
                    </a:lnTo>
                    <a:lnTo>
                      <a:pt x="397" y="38"/>
                    </a:lnTo>
                    <a:lnTo>
                      <a:pt x="388" y="36"/>
                    </a:lnTo>
                    <a:lnTo>
                      <a:pt x="378" y="36"/>
                    </a:lnTo>
                    <a:lnTo>
                      <a:pt x="369" y="35"/>
                    </a:lnTo>
                    <a:lnTo>
                      <a:pt x="361" y="35"/>
                    </a:lnTo>
                    <a:lnTo>
                      <a:pt x="352" y="35"/>
                    </a:lnTo>
                    <a:lnTo>
                      <a:pt x="342" y="35"/>
                    </a:lnTo>
                    <a:lnTo>
                      <a:pt x="335" y="35"/>
                    </a:lnTo>
                    <a:lnTo>
                      <a:pt x="325" y="35"/>
                    </a:lnTo>
                    <a:lnTo>
                      <a:pt x="316" y="33"/>
                    </a:lnTo>
                    <a:lnTo>
                      <a:pt x="306" y="33"/>
                    </a:lnTo>
                    <a:lnTo>
                      <a:pt x="297" y="33"/>
                    </a:lnTo>
                    <a:lnTo>
                      <a:pt x="287" y="33"/>
                    </a:lnTo>
                    <a:lnTo>
                      <a:pt x="278" y="33"/>
                    </a:lnTo>
                    <a:lnTo>
                      <a:pt x="270" y="33"/>
                    </a:lnTo>
                    <a:lnTo>
                      <a:pt x="259" y="33"/>
                    </a:lnTo>
                    <a:lnTo>
                      <a:pt x="251" y="33"/>
                    </a:lnTo>
                    <a:lnTo>
                      <a:pt x="242" y="33"/>
                    </a:lnTo>
                    <a:lnTo>
                      <a:pt x="232" y="33"/>
                    </a:lnTo>
                    <a:lnTo>
                      <a:pt x="222" y="33"/>
                    </a:lnTo>
                    <a:lnTo>
                      <a:pt x="213" y="33"/>
                    </a:lnTo>
                    <a:lnTo>
                      <a:pt x="202" y="33"/>
                    </a:lnTo>
                    <a:lnTo>
                      <a:pt x="194" y="35"/>
                    </a:lnTo>
                    <a:lnTo>
                      <a:pt x="183" y="35"/>
                    </a:lnTo>
                    <a:lnTo>
                      <a:pt x="173" y="36"/>
                    </a:lnTo>
                    <a:lnTo>
                      <a:pt x="164" y="36"/>
                    </a:lnTo>
                    <a:lnTo>
                      <a:pt x="152" y="38"/>
                    </a:lnTo>
                    <a:lnTo>
                      <a:pt x="143" y="38"/>
                    </a:lnTo>
                    <a:lnTo>
                      <a:pt x="133" y="40"/>
                    </a:lnTo>
                    <a:lnTo>
                      <a:pt x="122" y="42"/>
                    </a:lnTo>
                    <a:lnTo>
                      <a:pt x="112" y="44"/>
                    </a:lnTo>
                    <a:lnTo>
                      <a:pt x="101" y="44"/>
                    </a:lnTo>
                    <a:lnTo>
                      <a:pt x="91" y="48"/>
                    </a:lnTo>
                    <a:lnTo>
                      <a:pt x="80" y="48"/>
                    </a:lnTo>
                    <a:lnTo>
                      <a:pt x="68" y="50"/>
                    </a:lnTo>
                    <a:lnTo>
                      <a:pt x="57" y="52"/>
                    </a:lnTo>
                    <a:lnTo>
                      <a:pt x="46" y="55"/>
                    </a:lnTo>
                    <a:lnTo>
                      <a:pt x="34" y="57"/>
                    </a:lnTo>
                    <a:lnTo>
                      <a:pt x="23" y="61"/>
                    </a:lnTo>
                    <a:lnTo>
                      <a:pt x="11" y="63"/>
                    </a:lnTo>
                    <a:lnTo>
                      <a:pt x="0" y="67"/>
                    </a:lnTo>
                    <a:lnTo>
                      <a:pt x="0" y="59"/>
                    </a:lnTo>
                    <a:lnTo>
                      <a:pt x="0" y="52"/>
                    </a:lnTo>
                    <a:lnTo>
                      <a:pt x="0" y="42"/>
                    </a:lnTo>
                    <a:lnTo>
                      <a:pt x="2" y="35"/>
                    </a:lnTo>
                    <a:lnTo>
                      <a:pt x="10" y="33"/>
                    </a:lnTo>
                    <a:lnTo>
                      <a:pt x="19" y="33"/>
                    </a:lnTo>
                    <a:lnTo>
                      <a:pt x="29" y="31"/>
                    </a:lnTo>
                    <a:lnTo>
                      <a:pt x="38" y="31"/>
                    </a:lnTo>
                    <a:lnTo>
                      <a:pt x="48" y="31"/>
                    </a:lnTo>
                    <a:lnTo>
                      <a:pt x="57" y="29"/>
                    </a:lnTo>
                    <a:lnTo>
                      <a:pt x="67" y="29"/>
                    </a:lnTo>
                    <a:lnTo>
                      <a:pt x="76" y="29"/>
                    </a:lnTo>
                    <a:lnTo>
                      <a:pt x="84" y="27"/>
                    </a:lnTo>
                    <a:lnTo>
                      <a:pt x="93" y="27"/>
                    </a:lnTo>
                    <a:lnTo>
                      <a:pt x="103" y="27"/>
                    </a:lnTo>
                    <a:lnTo>
                      <a:pt x="112" y="27"/>
                    </a:lnTo>
                    <a:lnTo>
                      <a:pt x="122" y="25"/>
                    </a:lnTo>
                    <a:lnTo>
                      <a:pt x="131" y="25"/>
                    </a:lnTo>
                    <a:lnTo>
                      <a:pt x="141" y="25"/>
                    </a:lnTo>
                    <a:lnTo>
                      <a:pt x="150" y="25"/>
                    </a:lnTo>
                    <a:lnTo>
                      <a:pt x="160" y="23"/>
                    </a:lnTo>
                    <a:lnTo>
                      <a:pt x="169" y="23"/>
                    </a:lnTo>
                    <a:lnTo>
                      <a:pt x="177" y="23"/>
                    </a:lnTo>
                    <a:lnTo>
                      <a:pt x="188" y="23"/>
                    </a:lnTo>
                    <a:lnTo>
                      <a:pt x="198" y="21"/>
                    </a:lnTo>
                    <a:lnTo>
                      <a:pt x="205" y="21"/>
                    </a:lnTo>
                    <a:lnTo>
                      <a:pt x="215" y="21"/>
                    </a:lnTo>
                    <a:lnTo>
                      <a:pt x="226" y="21"/>
                    </a:lnTo>
                    <a:lnTo>
                      <a:pt x="234" y="21"/>
                    </a:lnTo>
                    <a:lnTo>
                      <a:pt x="243" y="21"/>
                    </a:lnTo>
                    <a:lnTo>
                      <a:pt x="253" y="21"/>
                    </a:lnTo>
                    <a:lnTo>
                      <a:pt x="262" y="21"/>
                    </a:lnTo>
                    <a:lnTo>
                      <a:pt x="272" y="19"/>
                    </a:lnTo>
                    <a:lnTo>
                      <a:pt x="281" y="19"/>
                    </a:lnTo>
                    <a:lnTo>
                      <a:pt x="291" y="19"/>
                    </a:lnTo>
                    <a:lnTo>
                      <a:pt x="302" y="19"/>
                    </a:lnTo>
                    <a:lnTo>
                      <a:pt x="310" y="17"/>
                    </a:lnTo>
                    <a:lnTo>
                      <a:pt x="319" y="17"/>
                    </a:lnTo>
                    <a:lnTo>
                      <a:pt x="329" y="17"/>
                    </a:lnTo>
                    <a:lnTo>
                      <a:pt x="338" y="17"/>
                    </a:lnTo>
                    <a:lnTo>
                      <a:pt x="348" y="17"/>
                    </a:lnTo>
                    <a:lnTo>
                      <a:pt x="357" y="17"/>
                    </a:lnTo>
                    <a:lnTo>
                      <a:pt x="367" y="15"/>
                    </a:lnTo>
                    <a:lnTo>
                      <a:pt x="376" y="15"/>
                    </a:lnTo>
                    <a:lnTo>
                      <a:pt x="386" y="15"/>
                    </a:lnTo>
                    <a:lnTo>
                      <a:pt x="396" y="15"/>
                    </a:lnTo>
                    <a:lnTo>
                      <a:pt x="405" y="14"/>
                    </a:lnTo>
                    <a:lnTo>
                      <a:pt x="415" y="14"/>
                    </a:lnTo>
                    <a:lnTo>
                      <a:pt x="422" y="14"/>
                    </a:lnTo>
                    <a:lnTo>
                      <a:pt x="434" y="14"/>
                    </a:lnTo>
                    <a:lnTo>
                      <a:pt x="443" y="14"/>
                    </a:lnTo>
                    <a:lnTo>
                      <a:pt x="453" y="14"/>
                    </a:lnTo>
                    <a:lnTo>
                      <a:pt x="460" y="12"/>
                    </a:lnTo>
                    <a:lnTo>
                      <a:pt x="470" y="12"/>
                    </a:lnTo>
                    <a:lnTo>
                      <a:pt x="479" y="10"/>
                    </a:lnTo>
                    <a:lnTo>
                      <a:pt x="491" y="10"/>
                    </a:lnTo>
                    <a:lnTo>
                      <a:pt x="498" y="10"/>
                    </a:lnTo>
                    <a:lnTo>
                      <a:pt x="508" y="8"/>
                    </a:lnTo>
                    <a:lnTo>
                      <a:pt x="517" y="8"/>
                    </a:lnTo>
                    <a:lnTo>
                      <a:pt x="527" y="8"/>
                    </a:lnTo>
                    <a:lnTo>
                      <a:pt x="536" y="6"/>
                    </a:lnTo>
                    <a:lnTo>
                      <a:pt x="546" y="6"/>
                    </a:lnTo>
                    <a:lnTo>
                      <a:pt x="555" y="4"/>
                    </a:lnTo>
                    <a:lnTo>
                      <a:pt x="565" y="4"/>
                    </a:lnTo>
                    <a:lnTo>
                      <a:pt x="574" y="2"/>
                    </a:lnTo>
                    <a:lnTo>
                      <a:pt x="584" y="2"/>
                    </a:lnTo>
                    <a:lnTo>
                      <a:pt x="593" y="0"/>
                    </a:lnTo>
                    <a:lnTo>
                      <a:pt x="605" y="0"/>
                    </a:lnTo>
                    <a:close/>
                  </a:path>
                </a:pathLst>
              </a:custGeom>
              <a:solidFill>
                <a:srgbClr val="000000"/>
              </a:solidFill>
              <a:ln w="9525">
                <a:noFill/>
                <a:round/>
              </a:ln>
            </p:spPr>
            <p:txBody>
              <a:bodyPr/>
              <a:lstStyle/>
              <a:p>
                <a:endParaRPr lang="en-US"/>
              </a:p>
            </p:txBody>
          </p:sp>
          <p:sp>
            <p:nvSpPr>
              <p:cNvPr id="1048944" name="Freeform 241"/>
              <p:cNvSpPr/>
              <p:nvPr/>
            </p:nvSpPr>
            <p:spPr bwMode="auto">
              <a:xfrm>
                <a:off x="2107" y="2278"/>
                <a:ext cx="136" cy="274"/>
              </a:xfrm>
              <a:custGeom>
                <a:avLst/>
                <a:gdLst>
                  <a:gd name="T0" fmla="*/ 14 w 272"/>
                  <a:gd name="T1" fmla="*/ 3 h 547"/>
                  <a:gd name="T2" fmla="*/ 15 w 272"/>
                  <a:gd name="T3" fmla="*/ 11 h 547"/>
                  <a:gd name="T4" fmla="*/ 17 w 272"/>
                  <a:gd name="T5" fmla="*/ 19 h 547"/>
                  <a:gd name="T6" fmla="*/ 20 w 272"/>
                  <a:gd name="T7" fmla="*/ 28 h 547"/>
                  <a:gd name="T8" fmla="*/ 22 w 272"/>
                  <a:gd name="T9" fmla="*/ 37 h 547"/>
                  <a:gd name="T10" fmla="*/ 25 w 272"/>
                  <a:gd name="T11" fmla="*/ 47 h 547"/>
                  <a:gd name="T12" fmla="*/ 28 w 272"/>
                  <a:gd name="T13" fmla="*/ 54 h 547"/>
                  <a:gd name="T14" fmla="*/ 30 w 272"/>
                  <a:gd name="T15" fmla="*/ 59 h 547"/>
                  <a:gd name="T16" fmla="*/ 32 w 272"/>
                  <a:gd name="T17" fmla="*/ 64 h 547"/>
                  <a:gd name="T18" fmla="*/ 35 w 272"/>
                  <a:gd name="T19" fmla="*/ 70 h 547"/>
                  <a:gd name="T20" fmla="*/ 39 w 272"/>
                  <a:gd name="T21" fmla="*/ 76 h 547"/>
                  <a:gd name="T22" fmla="*/ 41 w 272"/>
                  <a:gd name="T23" fmla="*/ 84 h 547"/>
                  <a:gd name="T24" fmla="*/ 44 w 272"/>
                  <a:gd name="T25" fmla="*/ 89 h 547"/>
                  <a:gd name="T26" fmla="*/ 47 w 272"/>
                  <a:gd name="T27" fmla="*/ 94 h 547"/>
                  <a:gd name="T28" fmla="*/ 50 w 272"/>
                  <a:gd name="T29" fmla="*/ 99 h 547"/>
                  <a:gd name="T30" fmla="*/ 53 w 272"/>
                  <a:gd name="T31" fmla="*/ 104 h 547"/>
                  <a:gd name="T32" fmla="*/ 56 w 272"/>
                  <a:gd name="T33" fmla="*/ 110 h 547"/>
                  <a:gd name="T34" fmla="*/ 60 w 272"/>
                  <a:gd name="T35" fmla="*/ 116 h 547"/>
                  <a:gd name="T36" fmla="*/ 68 w 272"/>
                  <a:gd name="T37" fmla="*/ 126 h 547"/>
                  <a:gd name="T38" fmla="*/ 74 w 272"/>
                  <a:gd name="T39" fmla="*/ 134 h 547"/>
                  <a:gd name="T40" fmla="*/ 81 w 272"/>
                  <a:gd name="T41" fmla="*/ 143 h 547"/>
                  <a:gd name="T42" fmla="*/ 89 w 272"/>
                  <a:gd name="T43" fmla="*/ 151 h 547"/>
                  <a:gd name="T44" fmla="*/ 96 w 272"/>
                  <a:gd name="T45" fmla="*/ 158 h 547"/>
                  <a:gd name="T46" fmla="*/ 101 w 272"/>
                  <a:gd name="T47" fmla="*/ 166 h 547"/>
                  <a:gd name="T48" fmla="*/ 108 w 272"/>
                  <a:gd name="T49" fmla="*/ 173 h 547"/>
                  <a:gd name="T50" fmla="*/ 113 w 272"/>
                  <a:gd name="T51" fmla="*/ 181 h 547"/>
                  <a:gd name="T52" fmla="*/ 117 w 272"/>
                  <a:gd name="T53" fmla="*/ 187 h 547"/>
                  <a:gd name="T54" fmla="*/ 122 w 272"/>
                  <a:gd name="T55" fmla="*/ 195 h 547"/>
                  <a:gd name="T56" fmla="*/ 126 w 272"/>
                  <a:gd name="T57" fmla="*/ 202 h 547"/>
                  <a:gd name="T58" fmla="*/ 129 w 272"/>
                  <a:gd name="T59" fmla="*/ 209 h 547"/>
                  <a:gd name="T60" fmla="*/ 131 w 272"/>
                  <a:gd name="T61" fmla="*/ 217 h 547"/>
                  <a:gd name="T62" fmla="*/ 133 w 272"/>
                  <a:gd name="T63" fmla="*/ 225 h 547"/>
                  <a:gd name="T64" fmla="*/ 135 w 272"/>
                  <a:gd name="T65" fmla="*/ 233 h 547"/>
                  <a:gd name="T66" fmla="*/ 136 w 272"/>
                  <a:gd name="T67" fmla="*/ 241 h 547"/>
                  <a:gd name="T68" fmla="*/ 136 w 272"/>
                  <a:gd name="T69" fmla="*/ 249 h 547"/>
                  <a:gd name="T70" fmla="*/ 135 w 272"/>
                  <a:gd name="T71" fmla="*/ 259 h 547"/>
                  <a:gd name="T72" fmla="*/ 135 w 272"/>
                  <a:gd name="T73" fmla="*/ 266 h 547"/>
                  <a:gd name="T74" fmla="*/ 134 w 272"/>
                  <a:gd name="T75" fmla="*/ 271 h 547"/>
                  <a:gd name="T76" fmla="*/ 0 w 272"/>
                  <a:gd name="T77" fmla="*/ 29 h 547"/>
                  <a:gd name="T78" fmla="*/ 14 w 272"/>
                  <a:gd name="T79" fmla="*/ 0 h 547"/>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w 272"/>
                  <a:gd name="T121" fmla="*/ 0 h 547"/>
                  <a:gd name="T122" fmla="*/ 272 w 272"/>
                  <a:gd name="T123" fmla="*/ 547 h 547"/>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T120" t="T121" r="T122" b="T123"/>
                <a:pathLst>
                  <a:path w="272" h="547">
                    <a:moveTo>
                      <a:pt x="28" y="0"/>
                    </a:moveTo>
                    <a:lnTo>
                      <a:pt x="28" y="6"/>
                    </a:lnTo>
                    <a:lnTo>
                      <a:pt x="28" y="13"/>
                    </a:lnTo>
                    <a:lnTo>
                      <a:pt x="30" y="21"/>
                    </a:lnTo>
                    <a:lnTo>
                      <a:pt x="32" y="30"/>
                    </a:lnTo>
                    <a:lnTo>
                      <a:pt x="34" y="38"/>
                    </a:lnTo>
                    <a:lnTo>
                      <a:pt x="36" y="45"/>
                    </a:lnTo>
                    <a:lnTo>
                      <a:pt x="40" y="55"/>
                    </a:lnTo>
                    <a:lnTo>
                      <a:pt x="42" y="65"/>
                    </a:lnTo>
                    <a:lnTo>
                      <a:pt x="45" y="74"/>
                    </a:lnTo>
                    <a:lnTo>
                      <a:pt x="47" y="84"/>
                    </a:lnTo>
                    <a:lnTo>
                      <a:pt x="51" y="93"/>
                    </a:lnTo>
                    <a:lnTo>
                      <a:pt x="57" y="103"/>
                    </a:lnTo>
                    <a:lnTo>
                      <a:pt x="57" y="108"/>
                    </a:lnTo>
                    <a:lnTo>
                      <a:pt x="59" y="112"/>
                    </a:lnTo>
                    <a:lnTo>
                      <a:pt x="61" y="118"/>
                    </a:lnTo>
                    <a:lnTo>
                      <a:pt x="62" y="123"/>
                    </a:lnTo>
                    <a:lnTo>
                      <a:pt x="64" y="127"/>
                    </a:lnTo>
                    <a:lnTo>
                      <a:pt x="68" y="133"/>
                    </a:lnTo>
                    <a:lnTo>
                      <a:pt x="70" y="139"/>
                    </a:lnTo>
                    <a:lnTo>
                      <a:pt x="74" y="142"/>
                    </a:lnTo>
                    <a:lnTo>
                      <a:pt x="78" y="152"/>
                    </a:lnTo>
                    <a:lnTo>
                      <a:pt x="81" y="163"/>
                    </a:lnTo>
                    <a:lnTo>
                      <a:pt x="83" y="167"/>
                    </a:lnTo>
                    <a:lnTo>
                      <a:pt x="87" y="173"/>
                    </a:lnTo>
                    <a:lnTo>
                      <a:pt x="89" y="177"/>
                    </a:lnTo>
                    <a:lnTo>
                      <a:pt x="93" y="182"/>
                    </a:lnTo>
                    <a:lnTo>
                      <a:pt x="95" y="188"/>
                    </a:lnTo>
                    <a:lnTo>
                      <a:pt x="99" y="194"/>
                    </a:lnTo>
                    <a:lnTo>
                      <a:pt x="100" y="198"/>
                    </a:lnTo>
                    <a:lnTo>
                      <a:pt x="104" y="203"/>
                    </a:lnTo>
                    <a:lnTo>
                      <a:pt x="106" y="207"/>
                    </a:lnTo>
                    <a:lnTo>
                      <a:pt x="110" y="213"/>
                    </a:lnTo>
                    <a:lnTo>
                      <a:pt x="112" y="219"/>
                    </a:lnTo>
                    <a:lnTo>
                      <a:pt x="116" y="224"/>
                    </a:lnTo>
                    <a:lnTo>
                      <a:pt x="121" y="232"/>
                    </a:lnTo>
                    <a:lnTo>
                      <a:pt x="129" y="241"/>
                    </a:lnTo>
                    <a:lnTo>
                      <a:pt x="135" y="251"/>
                    </a:lnTo>
                    <a:lnTo>
                      <a:pt x="142" y="260"/>
                    </a:lnTo>
                    <a:lnTo>
                      <a:pt x="148" y="268"/>
                    </a:lnTo>
                    <a:lnTo>
                      <a:pt x="156" y="277"/>
                    </a:lnTo>
                    <a:lnTo>
                      <a:pt x="163" y="285"/>
                    </a:lnTo>
                    <a:lnTo>
                      <a:pt x="171" y="295"/>
                    </a:lnTo>
                    <a:lnTo>
                      <a:pt x="178" y="302"/>
                    </a:lnTo>
                    <a:lnTo>
                      <a:pt x="184" y="310"/>
                    </a:lnTo>
                    <a:lnTo>
                      <a:pt x="192" y="316"/>
                    </a:lnTo>
                    <a:lnTo>
                      <a:pt x="197" y="325"/>
                    </a:lnTo>
                    <a:lnTo>
                      <a:pt x="203" y="331"/>
                    </a:lnTo>
                    <a:lnTo>
                      <a:pt x="211" y="338"/>
                    </a:lnTo>
                    <a:lnTo>
                      <a:pt x="216" y="346"/>
                    </a:lnTo>
                    <a:lnTo>
                      <a:pt x="222" y="354"/>
                    </a:lnTo>
                    <a:lnTo>
                      <a:pt x="226" y="361"/>
                    </a:lnTo>
                    <a:lnTo>
                      <a:pt x="232" y="369"/>
                    </a:lnTo>
                    <a:lnTo>
                      <a:pt x="235" y="374"/>
                    </a:lnTo>
                    <a:lnTo>
                      <a:pt x="241" y="382"/>
                    </a:lnTo>
                    <a:lnTo>
                      <a:pt x="245" y="390"/>
                    </a:lnTo>
                    <a:lnTo>
                      <a:pt x="249" y="395"/>
                    </a:lnTo>
                    <a:lnTo>
                      <a:pt x="253" y="403"/>
                    </a:lnTo>
                    <a:lnTo>
                      <a:pt x="256" y="412"/>
                    </a:lnTo>
                    <a:lnTo>
                      <a:pt x="258" y="418"/>
                    </a:lnTo>
                    <a:lnTo>
                      <a:pt x="260" y="426"/>
                    </a:lnTo>
                    <a:lnTo>
                      <a:pt x="262" y="433"/>
                    </a:lnTo>
                    <a:lnTo>
                      <a:pt x="266" y="441"/>
                    </a:lnTo>
                    <a:lnTo>
                      <a:pt x="266" y="449"/>
                    </a:lnTo>
                    <a:lnTo>
                      <a:pt x="268" y="456"/>
                    </a:lnTo>
                    <a:lnTo>
                      <a:pt x="270" y="466"/>
                    </a:lnTo>
                    <a:lnTo>
                      <a:pt x="272" y="473"/>
                    </a:lnTo>
                    <a:lnTo>
                      <a:pt x="272" y="481"/>
                    </a:lnTo>
                    <a:lnTo>
                      <a:pt x="272" y="490"/>
                    </a:lnTo>
                    <a:lnTo>
                      <a:pt x="272" y="498"/>
                    </a:lnTo>
                    <a:lnTo>
                      <a:pt x="272" y="509"/>
                    </a:lnTo>
                    <a:lnTo>
                      <a:pt x="270" y="517"/>
                    </a:lnTo>
                    <a:lnTo>
                      <a:pt x="270" y="527"/>
                    </a:lnTo>
                    <a:lnTo>
                      <a:pt x="270" y="532"/>
                    </a:lnTo>
                    <a:lnTo>
                      <a:pt x="270" y="536"/>
                    </a:lnTo>
                    <a:lnTo>
                      <a:pt x="268" y="542"/>
                    </a:lnTo>
                    <a:lnTo>
                      <a:pt x="268" y="547"/>
                    </a:lnTo>
                    <a:lnTo>
                      <a:pt x="0" y="57"/>
                    </a:lnTo>
                    <a:lnTo>
                      <a:pt x="28" y="0"/>
                    </a:lnTo>
                    <a:close/>
                  </a:path>
                </a:pathLst>
              </a:custGeom>
              <a:solidFill>
                <a:srgbClr val="000000"/>
              </a:solidFill>
              <a:ln w="9525">
                <a:noFill/>
                <a:round/>
              </a:ln>
            </p:spPr>
            <p:txBody>
              <a:bodyPr/>
              <a:lstStyle/>
              <a:p>
                <a:endParaRPr lang="en-US"/>
              </a:p>
            </p:txBody>
          </p:sp>
          <p:sp>
            <p:nvSpPr>
              <p:cNvPr id="1048945" name="Freeform 242"/>
              <p:cNvSpPr/>
              <p:nvPr/>
            </p:nvSpPr>
            <p:spPr bwMode="auto">
              <a:xfrm>
                <a:off x="2220" y="2195"/>
                <a:ext cx="114" cy="199"/>
              </a:xfrm>
              <a:custGeom>
                <a:avLst/>
                <a:gdLst>
                  <a:gd name="T0" fmla="*/ 16 w 226"/>
                  <a:gd name="T1" fmla="*/ 4 h 399"/>
                  <a:gd name="T2" fmla="*/ 10 w 226"/>
                  <a:gd name="T3" fmla="*/ 14 h 399"/>
                  <a:gd name="T4" fmla="*/ 3 w 226"/>
                  <a:gd name="T5" fmla="*/ 24 h 399"/>
                  <a:gd name="T6" fmla="*/ 0 w 226"/>
                  <a:gd name="T7" fmla="*/ 35 h 399"/>
                  <a:gd name="T8" fmla="*/ 7 w 226"/>
                  <a:gd name="T9" fmla="*/ 42 h 399"/>
                  <a:gd name="T10" fmla="*/ 16 w 226"/>
                  <a:gd name="T11" fmla="*/ 46 h 399"/>
                  <a:gd name="T12" fmla="*/ 25 w 226"/>
                  <a:gd name="T13" fmla="*/ 53 h 399"/>
                  <a:gd name="T14" fmla="*/ 33 w 226"/>
                  <a:gd name="T15" fmla="*/ 61 h 399"/>
                  <a:gd name="T16" fmla="*/ 38 w 226"/>
                  <a:gd name="T17" fmla="*/ 68 h 399"/>
                  <a:gd name="T18" fmla="*/ 34 w 226"/>
                  <a:gd name="T19" fmla="*/ 72 h 399"/>
                  <a:gd name="T20" fmla="*/ 31 w 226"/>
                  <a:gd name="T21" fmla="*/ 80 h 399"/>
                  <a:gd name="T22" fmla="*/ 27 w 226"/>
                  <a:gd name="T23" fmla="*/ 88 h 399"/>
                  <a:gd name="T24" fmla="*/ 24 w 226"/>
                  <a:gd name="T25" fmla="*/ 98 h 399"/>
                  <a:gd name="T26" fmla="*/ 21 w 226"/>
                  <a:gd name="T27" fmla="*/ 108 h 399"/>
                  <a:gd name="T28" fmla="*/ 20 w 226"/>
                  <a:gd name="T29" fmla="*/ 118 h 399"/>
                  <a:gd name="T30" fmla="*/ 20 w 226"/>
                  <a:gd name="T31" fmla="*/ 130 h 399"/>
                  <a:gd name="T32" fmla="*/ 23 w 226"/>
                  <a:gd name="T33" fmla="*/ 141 h 399"/>
                  <a:gd name="T34" fmla="*/ 30 w 226"/>
                  <a:gd name="T35" fmla="*/ 153 h 399"/>
                  <a:gd name="T36" fmla="*/ 38 w 226"/>
                  <a:gd name="T37" fmla="*/ 163 h 399"/>
                  <a:gd name="T38" fmla="*/ 47 w 226"/>
                  <a:gd name="T39" fmla="*/ 172 h 399"/>
                  <a:gd name="T40" fmla="*/ 58 w 226"/>
                  <a:gd name="T41" fmla="*/ 179 h 399"/>
                  <a:gd name="T42" fmla="*/ 67 w 226"/>
                  <a:gd name="T43" fmla="*/ 184 h 399"/>
                  <a:gd name="T44" fmla="*/ 78 w 226"/>
                  <a:gd name="T45" fmla="*/ 189 h 399"/>
                  <a:gd name="T46" fmla="*/ 87 w 226"/>
                  <a:gd name="T47" fmla="*/ 193 h 399"/>
                  <a:gd name="T48" fmla="*/ 96 w 226"/>
                  <a:gd name="T49" fmla="*/ 195 h 399"/>
                  <a:gd name="T50" fmla="*/ 108 w 226"/>
                  <a:gd name="T51" fmla="*/ 198 h 399"/>
                  <a:gd name="T52" fmla="*/ 114 w 226"/>
                  <a:gd name="T53" fmla="*/ 199 h 399"/>
                  <a:gd name="T54" fmla="*/ 110 w 226"/>
                  <a:gd name="T55" fmla="*/ 193 h 399"/>
                  <a:gd name="T56" fmla="*/ 106 w 226"/>
                  <a:gd name="T57" fmla="*/ 187 h 399"/>
                  <a:gd name="T58" fmla="*/ 101 w 226"/>
                  <a:gd name="T59" fmla="*/ 177 h 399"/>
                  <a:gd name="T60" fmla="*/ 96 w 226"/>
                  <a:gd name="T61" fmla="*/ 167 h 399"/>
                  <a:gd name="T62" fmla="*/ 90 w 226"/>
                  <a:gd name="T63" fmla="*/ 154 h 399"/>
                  <a:gd name="T64" fmla="*/ 83 w 226"/>
                  <a:gd name="T65" fmla="*/ 143 h 399"/>
                  <a:gd name="T66" fmla="*/ 79 w 226"/>
                  <a:gd name="T67" fmla="*/ 132 h 399"/>
                  <a:gd name="T68" fmla="*/ 74 w 226"/>
                  <a:gd name="T69" fmla="*/ 122 h 399"/>
                  <a:gd name="T70" fmla="*/ 70 w 226"/>
                  <a:gd name="T71" fmla="*/ 114 h 399"/>
                  <a:gd name="T72" fmla="*/ 69 w 226"/>
                  <a:gd name="T73" fmla="*/ 108 h 399"/>
                  <a:gd name="T74" fmla="*/ 66 w 226"/>
                  <a:gd name="T75" fmla="*/ 97 h 399"/>
                  <a:gd name="T76" fmla="*/ 64 w 226"/>
                  <a:gd name="T77" fmla="*/ 89 h 399"/>
                  <a:gd name="T78" fmla="*/ 61 w 226"/>
                  <a:gd name="T79" fmla="*/ 79 h 399"/>
                  <a:gd name="T80" fmla="*/ 56 w 226"/>
                  <a:gd name="T81" fmla="*/ 69 h 399"/>
                  <a:gd name="T82" fmla="*/ 52 w 226"/>
                  <a:gd name="T83" fmla="*/ 58 h 399"/>
                  <a:gd name="T84" fmla="*/ 49 w 226"/>
                  <a:gd name="T85" fmla="*/ 48 h 399"/>
                  <a:gd name="T86" fmla="*/ 45 w 226"/>
                  <a:gd name="T87" fmla="*/ 39 h 399"/>
                  <a:gd name="T88" fmla="*/ 41 w 226"/>
                  <a:gd name="T89" fmla="*/ 30 h 399"/>
                  <a:gd name="T90" fmla="*/ 38 w 226"/>
                  <a:gd name="T91" fmla="*/ 22 h 399"/>
                  <a:gd name="T92" fmla="*/ 31 w 226"/>
                  <a:gd name="T93" fmla="*/ 11 h 399"/>
                  <a:gd name="T94" fmla="*/ 23 w 226"/>
                  <a:gd name="T95" fmla="*/ 0 h 399"/>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226"/>
                  <a:gd name="T145" fmla="*/ 0 h 399"/>
                  <a:gd name="T146" fmla="*/ 226 w 226"/>
                  <a:gd name="T147" fmla="*/ 399 h 399"/>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226" h="399">
                    <a:moveTo>
                      <a:pt x="44" y="0"/>
                    </a:moveTo>
                    <a:lnTo>
                      <a:pt x="40" y="1"/>
                    </a:lnTo>
                    <a:lnTo>
                      <a:pt x="32" y="9"/>
                    </a:lnTo>
                    <a:lnTo>
                      <a:pt x="28" y="15"/>
                    </a:lnTo>
                    <a:lnTo>
                      <a:pt x="23" y="20"/>
                    </a:lnTo>
                    <a:lnTo>
                      <a:pt x="19" y="28"/>
                    </a:lnTo>
                    <a:lnTo>
                      <a:pt x="15" y="36"/>
                    </a:lnTo>
                    <a:lnTo>
                      <a:pt x="9" y="41"/>
                    </a:lnTo>
                    <a:lnTo>
                      <a:pt x="6" y="49"/>
                    </a:lnTo>
                    <a:lnTo>
                      <a:pt x="2" y="57"/>
                    </a:lnTo>
                    <a:lnTo>
                      <a:pt x="2" y="64"/>
                    </a:lnTo>
                    <a:lnTo>
                      <a:pt x="0" y="70"/>
                    </a:lnTo>
                    <a:lnTo>
                      <a:pt x="4" y="76"/>
                    </a:lnTo>
                    <a:lnTo>
                      <a:pt x="8" y="79"/>
                    </a:lnTo>
                    <a:lnTo>
                      <a:pt x="13" y="85"/>
                    </a:lnTo>
                    <a:lnTo>
                      <a:pt x="21" y="87"/>
                    </a:lnTo>
                    <a:lnTo>
                      <a:pt x="27" y="89"/>
                    </a:lnTo>
                    <a:lnTo>
                      <a:pt x="32" y="93"/>
                    </a:lnTo>
                    <a:lnTo>
                      <a:pt x="38" y="98"/>
                    </a:lnTo>
                    <a:lnTo>
                      <a:pt x="44" y="102"/>
                    </a:lnTo>
                    <a:lnTo>
                      <a:pt x="49" y="106"/>
                    </a:lnTo>
                    <a:lnTo>
                      <a:pt x="53" y="112"/>
                    </a:lnTo>
                    <a:lnTo>
                      <a:pt x="59" y="116"/>
                    </a:lnTo>
                    <a:lnTo>
                      <a:pt x="65" y="123"/>
                    </a:lnTo>
                    <a:lnTo>
                      <a:pt x="72" y="129"/>
                    </a:lnTo>
                    <a:lnTo>
                      <a:pt x="74" y="135"/>
                    </a:lnTo>
                    <a:lnTo>
                      <a:pt x="76" y="136"/>
                    </a:lnTo>
                    <a:lnTo>
                      <a:pt x="74" y="136"/>
                    </a:lnTo>
                    <a:lnTo>
                      <a:pt x="72" y="138"/>
                    </a:lnTo>
                    <a:lnTo>
                      <a:pt x="68" y="144"/>
                    </a:lnTo>
                    <a:lnTo>
                      <a:pt x="65" y="152"/>
                    </a:lnTo>
                    <a:lnTo>
                      <a:pt x="63" y="155"/>
                    </a:lnTo>
                    <a:lnTo>
                      <a:pt x="61" y="161"/>
                    </a:lnTo>
                    <a:lnTo>
                      <a:pt x="57" y="167"/>
                    </a:lnTo>
                    <a:lnTo>
                      <a:pt x="55" y="171"/>
                    </a:lnTo>
                    <a:lnTo>
                      <a:pt x="53" y="176"/>
                    </a:lnTo>
                    <a:lnTo>
                      <a:pt x="49" y="182"/>
                    </a:lnTo>
                    <a:lnTo>
                      <a:pt x="49" y="190"/>
                    </a:lnTo>
                    <a:lnTo>
                      <a:pt x="47" y="197"/>
                    </a:lnTo>
                    <a:lnTo>
                      <a:pt x="46" y="201"/>
                    </a:lnTo>
                    <a:lnTo>
                      <a:pt x="44" y="209"/>
                    </a:lnTo>
                    <a:lnTo>
                      <a:pt x="42" y="216"/>
                    </a:lnTo>
                    <a:lnTo>
                      <a:pt x="42" y="224"/>
                    </a:lnTo>
                    <a:lnTo>
                      <a:pt x="40" y="230"/>
                    </a:lnTo>
                    <a:lnTo>
                      <a:pt x="40" y="237"/>
                    </a:lnTo>
                    <a:lnTo>
                      <a:pt x="40" y="245"/>
                    </a:lnTo>
                    <a:lnTo>
                      <a:pt x="40" y="252"/>
                    </a:lnTo>
                    <a:lnTo>
                      <a:pt x="40" y="260"/>
                    </a:lnTo>
                    <a:lnTo>
                      <a:pt x="42" y="268"/>
                    </a:lnTo>
                    <a:lnTo>
                      <a:pt x="44" y="275"/>
                    </a:lnTo>
                    <a:lnTo>
                      <a:pt x="46" y="283"/>
                    </a:lnTo>
                    <a:lnTo>
                      <a:pt x="49" y="290"/>
                    </a:lnTo>
                    <a:lnTo>
                      <a:pt x="53" y="298"/>
                    </a:lnTo>
                    <a:lnTo>
                      <a:pt x="59" y="306"/>
                    </a:lnTo>
                    <a:lnTo>
                      <a:pt x="65" y="313"/>
                    </a:lnTo>
                    <a:lnTo>
                      <a:pt x="70" y="321"/>
                    </a:lnTo>
                    <a:lnTo>
                      <a:pt x="76" y="327"/>
                    </a:lnTo>
                    <a:lnTo>
                      <a:pt x="80" y="332"/>
                    </a:lnTo>
                    <a:lnTo>
                      <a:pt x="87" y="338"/>
                    </a:lnTo>
                    <a:lnTo>
                      <a:pt x="93" y="344"/>
                    </a:lnTo>
                    <a:lnTo>
                      <a:pt x="101" y="349"/>
                    </a:lnTo>
                    <a:lnTo>
                      <a:pt x="106" y="353"/>
                    </a:lnTo>
                    <a:lnTo>
                      <a:pt x="114" y="359"/>
                    </a:lnTo>
                    <a:lnTo>
                      <a:pt x="120" y="363"/>
                    </a:lnTo>
                    <a:lnTo>
                      <a:pt x="127" y="367"/>
                    </a:lnTo>
                    <a:lnTo>
                      <a:pt x="133" y="368"/>
                    </a:lnTo>
                    <a:lnTo>
                      <a:pt x="141" y="372"/>
                    </a:lnTo>
                    <a:lnTo>
                      <a:pt x="146" y="376"/>
                    </a:lnTo>
                    <a:lnTo>
                      <a:pt x="154" y="378"/>
                    </a:lnTo>
                    <a:lnTo>
                      <a:pt x="160" y="382"/>
                    </a:lnTo>
                    <a:lnTo>
                      <a:pt x="167" y="386"/>
                    </a:lnTo>
                    <a:lnTo>
                      <a:pt x="173" y="386"/>
                    </a:lnTo>
                    <a:lnTo>
                      <a:pt x="179" y="387"/>
                    </a:lnTo>
                    <a:lnTo>
                      <a:pt x="182" y="389"/>
                    </a:lnTo>
                    <a:lnTo>
                      <a:pt x="190" y="391"/>
                    </a:lnTo>
                    <a:lnTo>
                      <a:pt x="200" y="393"/>
                    </a:lnTo>
                    <a:lnTo>
                      <a:pt x="209" y="395"/>
                    </a:lnTo>
                    <a:lnTo>
                      <a:pt x="215" y="397"/>
                    </a:lnTo>
                    <a:lnTo>
                      <a:pt x="220" y="397"/>
                    </a:lnTo>
                    <a:lnTo>
                      <a:pt x="224" y="397"/>
                    </a:lnTo>
                    <a:lnTo>
                      <a:pt x="226" y="399"/>
                    </a:lnTo>
                    <a:lnTo>
                      <a:pt x="224" y="395"/>
                    </a:lnTo>
                    <a:lnTo>
                      <a:pt x="220" y="391"/>
                    </a:lnTo>
                    <a:lnTo>
                      <a:pt x="219" y="387"/>
                    </a:lnTo>
                    <a:lnTo>
                      <a:pt x="217" y="384"/>
                    </a:lnTo>
                    <a:lnTo>
                      <a:pt x="213" y="378"/>
                    </a:lnTo>
                    <a:lnTo>
                      <a:pt x="211" y="374"/>
                    </a:lnTo>
                    <a:lnTo>
                      <a:pt x="209" y="367"/>
                    </a:lnTo>
                    <a:lnTo>
                      <a:pt x="205" y="361"/>
                    </a:lnTo>
                    <a:lnTo>
                      <a:pt x="201" y="355"/>
                    </a:lnTo>
                    <a:lnTo>
                      <a:pt x="198" y="348"/>
                    </a:lnTo>
                    <a:lnTo>
                      <a:pt x="194" y="340"/>
                    </a:lnTo>
                    <a:lnTo>
                      <a:pt x="190" y="334"/>
                    </a:lnTo>
                    <a:lnTo>
                      <a:pt x="186" y="327"/>
                    </a:lnTo>
                    <a:lnTo>
                      <a:pt x="182" y="319"/>
                    </a:lnTo>
                    <a:lnTo>
                      <a:pt x="179" y="309"/>
                    </a:lnTo>
                    <a:lnTo>
                      <a:pt x="175" y="302"/>
                    </a:lnTo>
                    <a:lnTo>
                      <a:pt x="169" y="294"/>
                    </a:lnTo>
                    <a:lnTo>
                      <a:pt x="165" y="287"/>
                    </a:lnTo>
                    <a:lnTo>
                      <a:pt x="162" y="279"/>
                    </a:lnTo>
                    <a:lnTo>
                      <a:pt x="158" y="271"/>
                    </a:lnTo>
                    <a:lnTo>
                      <a:pt x="156" y="264"/>
                    </a:lnTo>
                    <a:lnTo>
                      <a:pt x="152" y="258"/>
                    </a:lnTo>
                    <a:lnTo>
                      <a:pt x="148" y="251"/>
                    </a:lnTo>
                    <a:lnTo>
                      <a:pt x="146" y="245"/>
                    </a:lnTo>
                    <a:lnTo>
                      <a:pt x="143" y="237"/>
                    </a:lnTo>
                    <a:lnTo>
                      <a:pt x="143" y="233"/>
                    </a:lnTo>
                    <a:lnTo>
                      <a:pt x="139" y="228"/>
                    </a:lnTo>
                    <a:lnTo>
                      <a:pt x="139" y="224"/>
                    </a:lnTo>
                    <a:lnTo>
                      <a:pt x="137" y="220"/>
                    </a:lnTo>
                    <a:lnTo>
                      <a:pt x="137" y="216"/>
                    </a:lnTo>
                    <a:lnTo>
                      <a:pt x="135" y="209"/>
                    </a:lnTo>
                    <a:lnTo>
                      <a:pt x="133" y="199"/>
                    </a:lnTo>
                    <a:lnTo>
                      <a:pt x="131" y="195"/>
                    </a:lnTo>
                    <a:lnTo>
                      <a:pt x="129" y="190"/>
                    </a:lnTo>
                    <a:lnTo>
                      <a:pt x="127" y="184"/>
                    </a:lnTo>
                    <a:lnTo>
                      <a:pt x="127" y="178"/>
                    </a:lnTo>
                    <a:lnTo>
                      <a:pt x="124" y="173"/>
                    </a:lnTo>
                    <a:lnTo>
                      <a:pt x="122" y="167"/>
                    </a:lnTo>
                    <a:lnTo>
                      <a:pt x="120" y="159"/>
                    </a:lnTo>
                    <a:lnTo>
                      <a:pt x="118" y="154"/>
                    </a:lnTo>
                    <a:lnTo>
                      <a:pt x="114" y="146"/>
                    </a:lnTo>
                    <a:lnTo>
                      <a:pt x="112" y="138"/>
                    </a:lnTo>
                    <a:lnTo>
                      <a:pt x="110" y="133"/>
                    </a:lnTo>
                    <a:lnTo>
                      <a:pt x="108" y="125"/>
                    </a:lnTo>
                    <a:lnTo>
                      <a:pt x="104" y="117"/>
                    </a:lnTo>
                    <a:lnTo>
                      <a:pt x="103" y="112"/>
                    </a:lnTo>
                    <a:lnTo>
                      <a:pt x="101" y="104"/>
                    </a:lnTo>
                    <a:lnTo>
                      <a:pt x="97" y="97"/>
                    </a:lnTo>
                    <a:lnTo>
                      <a:pt x="95" y="91"/>
                    </a:lnTo>
                    <a:lnTo>
                      <a:pt x="91" y="85"/>
                    </a:lnTo>
                    <a:lnTo>
                      <a:pt x="89" y="79"/>
                    </a:lnTo>
                    <a:lnTo>
                      <a:pt x="87" y="74"/>
                    </a:lnTo>
                    <a:lnTo>
                      <a:pt x="84" y="66"/>
                    </a:lnTo>
                    <a:lnTo>
                      <a:pt x="82" y="60"/>
                    </a:lnTo>
                    <a:lnTo>
                      <a:pt x="80" y="57"/>
                    </a:lnTo>
                    <a:lnTo>
                      <a:pt x="78" y="53"/>
                    </a:lnTo>
                    <a:lnTo>
                      <a:pt x="76" y="45"/>
                    </a:lnTo>
                    <a:lnTo>
                      <a:pt x="72" y="39"/>
                    </a:lnTo>
                    <a:lnTo>
                      <a:pt x="66" y="30"/>
                    </a:lnTo>
                    <a:lnTo>
                      <a:pt x="61" y="22"/>
                    </a:lnTo>
                    <a:lnTo>
                      <a:pt x="55" y="15"/>
                    </a:lnTo>
                    <a:lnTo>
                      <a:pt x="51" y="9"/>
                    </a:lnTo>
                    <a:lnTo>
                      <a:pt x="46" y="1"/>
                    </a:lnTo>
                    <a:lnTo>
                      <a:pt x="44" y="0"/>
                    </a:lnTo>
                    <a:close/>
                  </a:path>
                </a:pathLst>
              </a:custGeom>
              <a:solidFill>
                <a:srgbClr val="FF1FC7"/>
              </a:solidFill>
              <a:ln w="9525">
                <a:noFill/>
                <a:round/>
              </a:ln>
            </p:spPr>
            <p:txBody>
              <a:bodyPr/>
              <a:lstStyle/>
              <a:p>
                <a:endParaRPr lang="en-US"/>
              </a:p>
            </p:txBody>
          </p:sp>
          <p:sp>
            <p:nvSpPr>
              <p:cNvPr id="1048946" name="Freeform 243"/>
              <p:cNvSpPr/>
              <p:nvPr/>
            </p:nvSpPr>
            <p:spPr bwMode="auto">
              <a:xfrm>
                <a:off x="1968" y="2505"/>
                <a:ext cx="442" cy="336"/>
              </a:xfrm>
              <a:custGeom>
                <a:avLst/>
                <a:gdLst>
                  <a:gd name="T0" fmla="*/ 440 w 884"/>
                  <a:gd name="T1" fmla="*/ 39 h 674"/>
                  <a:gd name="T2" fmla="*/ 442 w 884"/>
                  <a:gd name="T3" fmla="*/ 58 h 674"/>
                  <a:gd name="T4" fmla="*/ 442 w 884"/>
                  <a:gd name="T5" fmla="*/ 79 h 674"/>
                  <a:gd name="T6" fmla="*/ 440 w 884"/>
                  <a:gd name="T7" fmla="*/ 101 h 674"/>
                  <a:gd name="T8" fmla="*/ 437 w 884"/>
                  <a:gd name="T9" fmla="*/ 124 h 674"/>
                  <a:gd name="T10" fmla="*/ 430 w 884"/>
                  <a:gd name="T11" fmla="*/ 146 h 674"/>
                  <a:gd name="T12" fmla="*/ 422 w 884"/>
                  <a:gd name="T13" fmla="*/ 168 h 674"/>
                  <a:gd name="T14" fmla="*/ 414 w 884"/>
                  <a:gd name="T15" fmla="*/ 192 h 674"/>
                  <a:gd name="T16" fmla="*/ 402 w 884"/>
                  <a:gd name="T17" fmla="*/ 213 h 674"/>
                  <a:gd name="T18" fmla="*/ 389 w 884"/>
                  <a:gd name="T19" fmla="*/ 234 h 674"/>
                  <a:gd name="T20" fmla="*/ 374 w 884"/>
                  <a:gd name="T21" fmla="*/ 254 h 674"/>
                  <a:gd name="T22" fmla="*/ 358 w 884"/>
                  <a:gd name="T23" fmla="*/ 273 h 674"/>
                  <a:gd name="T24" fmla="*/ 341 w 884"/>
                  <a:gd name="T25" fmla="*/ 289 h 674"/>
                  <a:gd name="T26" fmla="*/ 321 w 884"/>
                  <a:gd name="T27" fmla="*/ 304 h 674"/>
                  <a:gd name="T28" fmla="*/ 301 w 884"/>
                  <a:gd name="T29" fmla="*/ 316 h 674"/>
                  <a:gd name="T30" fmla="*/ 279 w 884"/>
                  <a:gd name="T31" fmla="*/ 326 h 674"/>
                  <a:gd name="T32" fmla="*/ 264 w 884"/>
                  <a:gd name="T33" fmla="*/ 329 h 674"/>
                  <a:gd name="T34" fmla="*/ 249 w 884"/>
                  <a:gd name="T35" fmla="*/ 332 h 674"/>
                  <a:gd name="T36" fmla="*/ 232 w 884"/>
                  <a:gd name="T37" fmla="*/ 334 h 674"/>
                  <a:gd name="T38" fmla="*/ 213 w 884"/>
                  <a:gd name="T39" fmla="*/ 335 h 674"/>
                  <a:gd name="T40" fmla="*/ 193 w 884"/>
                  <a:gd name="T41" fmla="*/ 336 h 674"/>
                  <a:gd name="T42" fmla="*/ 172 w 884"/>
                  <a:gd name="T43" fmla="*/ 336 h 674"/>
                  <a:gd name="T44" fmla="*/ 151 w 884"/>
                  <a:gd name="T45" fmla="*/ 335 h 674"/>
                  <a:gd name="T46" fmla="*/ 129 w 884"/>
                  <a:gd name="T47" fmla="*/ 335 h 674"/>
                  <a:gd name="T48" fmla="*/ 108 w 884"/>
                  <a:gd name="T49" fmla="*/ 333 h 674"/>
                  <a:gd name="T50" fmla="*/ 87 w 884"/>
                  <a:gd name="T51" fmla="*/ 332 h 674"/>
                  <a:gd name="T52" fmla="*/ 67 w 884"/>
                  <a:gd name="T53" fmla="*/ 331 h 674"/>
                  <a:gd name="T54" fmla="*/ 50 w 884"/>
                  <a:gd name="T55" fmla="*/ 330 h 674"/>
                  <a:gd name="T56" fmla="*/ 35 w 884"/>
                  <a:gd name="T57" fmla="*/ 328 h 674"/>
                  <a:gd name="T58" fmla="*/ 21 w 884"/>
                  <a:gd name="T59" fmla="*/ 327 h 674"/>
                  <a:gd name="T60" fmla="*/ 12 w 884"/>
                  <a:gd name="T61" fmla="*/ 327 h 674"/>
                  <a:gd name="T62" fmla="*/ 0 w 884"/>
                  <a:gd name="T63" fmla="*/ 307 h 674"/>
                  <a:gd name="T64" fmla="*/ 315 w 884"/>
                  <a:gd name="T65" fmla="*/ 296 h 674"/>
                  <a:gd name="T66" fmla="*/ 329 w 884"/>
                  <a:gd name="T67" fmla="*/ 284 h 674"/>
                  <a:gd name="T68" fmla="*/ 343 w 884"/>
                  <a:gd name="T69" fmla="*/ 269 h 674"/>
                  <a:gd name="T70" fmla="*/ 354 w 884"/>
                  <a:gd name="T71" fmla="*/ 253 h 674"/>
                  <a:gd name="T72" fmla="*/ 363 w 884"/>
                  <a:gd name="T73" fmla="*/ 235 h 674"/>
                  <a:gd name="T74" fmla="*/ 372 w 884"/>
                  <a:gd name="T75" fmla="*/ 214 h 674"/>
                  <a:gd name="T76" fmla="*/ 379 w 884"/>
                  <a:gd name="T77" fmla="*/ 194 h 674"/>
                  <a:gd name="T78" fmla="*/ 385 w 884"/>
                  <a:gd name="T79" fmla="*/ 172 h 674"/>
                  <a:gd name="T80" fmla="*/ 390 w 884"/>
                  <a:gd name="T81" fmla="*/ 150 h 674"/>
                  <a:gd name="T82" fmla="*/ 395 w 884"/>
                  <a:gd name="T83" fmla="*/ 127 h 674"/>
                  <a:gd name="T84" fmla="*/ 399 w 884"/>
                  <a:gd name="T85" fmla="*/ 105 h 674"/>
                  <a:gd name="T86" fmla="*/ 402 w 884"/>
                  <a:gd name="T87" fmla="*/ 83 h 674"/>
                  <a:gd name="T88" fmla="*/ 404 w 884"/>
                  <a:gd name="T89" fmla="*/ 62 h 674"/>
                  <a:gd name="T90" fmla="*/ 407 w 884"/>
                  <a:gd name="T91" fmla="*/ 41 h 674"/>
                  <a:gd name="T92" fmla="*/ 409 w 884"/>
                  <a:gd name="T93" fmla="*/ 21 h 674"/>
                  <a:gd name="T94" fmla="*/ 411 w 884"/>
                  <a:gd name="T95" fmla="*/ 4 h 674"/>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884"/>
                  <a:gd name="T145" fmla="*/ 0 h 674"/>
                  <a:gd name="T146" fmla="*/ 884 w 884"/>
                  <a:gd name="T147" fmla="*/ 674 h 674"/>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884" h="674">
                    <a:moveTo>
                      <a:pt x="875" y="52"/>
                    </a:moveTo>
                    <a:lnTo>
                      <a:pt x="877" y="59"/>
                    </a:lnTo>
                    <a:lnTo>
                      <a:pt x="877" y="69"/>
                    </a:lnTo>
                    <a:lnTo>
                      <a:pt x="879" y="78"/>
                    </a:lnTo>
                    <a:lnTo>
                      <a:pt x="880" y="88"/>
                    </a:lnTo>
                    <a:lnTo>
                      <a:pt x="882" y="95"/>
                    </a:lnTo>
                    <a:lnTo>
                      <a:pt x="882" y="107"/>
                    </a:lnTo>
                    <a:lnTo>
                      <a:pt x="884" y="116"/>
                    </a:lnTo>
                    <a:lnTo>
                      <a:pt x="884" y="128"/>
                    </a:lnTo>
                    <a:lnTo>
                      <a:pt x="884" y="137"/>
                    </a:lnTo>
                    <a:lnTo>
                      <a:pt x="884" y="147"/>
                    </a:lnTo>
                    <a:lnTo>
                      <a:pt x="884" y="158"/>
                    </a:lnTo>
                    <a:lnTo>
                      <a:pt x="884" y="168"/>
                    </a:lnTo>
                    <a:lnTo>
                      <a:pt x="882" y="179"/>
                    </a:lnTo>
                    <a:lnTo>
                      <a:pt x="880" y="191"/>
                    </a:lnTo>
                    <a:lnTo>
                      <a:pt x="880" y="202"/>
                    </a:lnTo>
                    <a:lnTo>
                      <a:pt x="879" y="213"/>
                    </a:lnTo>
                    <a:lnTo>
                      <a:pt x="877" y="225"/>
                    </a:lnTo>
                    <a:lnTo>
                      <a:pt x="875" y="236"/>
                    </a:lnTo>
                    <a:lnTo>
                      <a:pt x="873" y="248"/>
                    </a:lnTo>
                    <a:lnTo>
                      <a:pt x="871" y="257"/>
                    </a:lnTo>
                    <a:lnTo>
                      <a:pt x="867" y="269"/>
                    </a:lnTo>
                    <a:lnTo>
                      <a:pt x="863" y="280"/>
                    </a:lnTo>
                    <a:lnTo>
                      <a:pt x="860" y="293"/>
                    </a:lnTo>
                    <a:lnTo>
                      <a:pt x="858" y="305"/>
                    </a:lnTo>
                    <a:lnTo>
                      <a:pt x="852" y="316"/>
                    </a:lnTo>
                    <a:lnTo>
                      <a:pt x="850" y="327"/>
                    </a:lnTo>
                    <a:lnTo>
                      <a:pt x="844" y="337"/>
                    </a:lnTo>
                    <a:lnTo>
                      <a:pt x="841" y="350"/>
                    </a:lnTo>
                    <a:lnTo>
                      <a:pt x="837" y="362"/>
                    </a:lnTo>
                    <a:lnTo>
                      <a:pt x="831" y="373"/>
                    </a:lnTo>
                    <a:lnTo>
                      <a:pt x="827" y="385"/>
                    </a:lnTo>
                    <a:lnTo>
                      <a:pt x="822" y="396"/>
                    </a:lnTo>
                    <a:lnTo>
                      <a:pt x="816" y="405"/>
                    </a:lnTo>
                    <a:lnTo>
                      <a:pt x="810" y="417"/>
                    </a:lnTo>
                    <a:lnTo>
                      <a:pt x="804" y="428"/>
                    </a:lnTo>
                    <a:lnTo>
                      <a:pt x="799" y="440"/>
                    </a:lnTo>
                    <a:lnTo>
                      <a:pt x="791" y="449"/>
                    </a:lnTo>
                    <a:lnTo>
                      <a:pt x="784" y="461"/>
                    </a:lnTo>
                    <a:lnTo>
                      <a:pt x="778" y="470"/>
                    </a:lnTo>
                    <a:lnTo>
                      <a:pt x="770" y="481"/>
                    </a:lnTo>
                    <a:lnTo>
                      <a:pt x="765" y="491"/>
                    </a:lnTo>
                    <a:lnTo>
                      <a:pt x="757" y="501"/>
                    </a:lnTo>
                    <a:lnTo>
                      <a:pt x="747" y="510"/>
                    </a:lnTo>
                    <a:lnTo>
                      <a:pt x="742" y="520"/>
                    </a:lnTo>
                    <a:lnTo>
                      <a:pt x="732" y="529"/>
                    </a:lnTo>
                    <a:lnTo>
                      <a:pt x="725" y="539"/>
                    </a:lnTo>
                    <a:lnTo>
                      <a:pt x="715" y="548"/>
                    </a:lnTo>
                    <a:lnTo>
                      <a:pt x="709" y="558"/>
                    </a:lnTo>
                    <a:lnTo>
                      <a:pt x="698" y="563"/>
                    </a:lnTo>
                    <a:lnTo>
                      <a:pt x="690" y="573"/>
                    </a:lnTo>
                    <a:lnTo>
                      <a:pt x="681" y="580"/>
                    </a:lnTo>
                    <a:lnTo>
                      <a:pt x="671" y="588"/>
                    </a:lnTo>
                    <a:lnTo>
                      <a:pt x="662" y="596"/>
                    </a:lnTo>
                    <a:lnTo>
                      <a:pt x="652" y="603"/>
                    </a:lnTo>
                    <a:lnTo>
                      <a:pt x="641" y="609"/>
                    </a:lnTo>
                    <a:lnTo>
                      <a:pt x="633" y="617"/>
                    </a:lnTo>
                    <a:lnTo>
                      <a:pt x="622" y="622"/>
                    </a:lnTo>
                    <a:lnTo>
                      <a:pt x="610" y="628"/>
                    </a:lnTo>
                    <a:lnTo>
                      <a:pt x="601" y="634"/>
                    </a:lnTo>
                    <a:lnTo>
                      <a:pt x="590" y="639"/>
                    </a:lnTo>
                    <a:lnTo>
                      <a:pt x="578" y="645"/>
                    </a:lnTo>
                    <a:lnTo>
                      <a:pt x="569" y="649"/>
                    </a:lnTo>
                    <a:lnTo>
                      <a:pt x="557" y="653"/>
                    </a:lnTo>
                    <a:lnTo>
                      <a:pt x="546" y="658"/>
                    </a:lnTo>
                    <a:lnTo>
                      <a:pt x="540" y="658"/>
                    </a:lnTo>
                    <a:lnTo>
                      <a:pt x="533" y="660"/>
                    </a:lnTo>
                    <a:lnTo>
                      <a:pt x="527" y="660"/>
                    </a:lnTo>
                    <a:lnTo>
                      <a:pt x="521" y="662"/>
                    </a:lnTo>
                    <a:lnTo>
                      <a:pt x="514" y="664"/>
                    </a:lnTo>
                    <a:lnTo>
                      <a:pt x="506" y="664"/>
                    </a:lnTo>
                    <a:lnTo>
                      <a:pt x="498" y="666"/>
                    </a:lnTo>
                    <a:lnTo>
                      <a:pt x="491" y="668"/>
                    </a:lnTo>
                    <a:lnTo>
                      <a:pt x="481" y="668"/>
                    </a:lnTo>
                    <a:lnTo>
                      <a:pt x="474" y="668"/>
                    </a:lnTo>
                    <a:lnTo>
                      <a:pt x="464" y="670"/>
                    </a:lnTo>
                    <a:lnTo>
                      <a:pt x="455" y="670"/>
                    </a:lnTo>
                    <a:lnTo>
                      <a:pt x="445" y="670"/>
                    </a:lnTo>
                    <a:lnTo>
                      <a:pt x="436" y="672"/>
                    </a:lnTo>
                    <a:lnTo>
                      <a:pt x="426" y="672"/>
                    </a:lnTo>
                    <a:lnTo>
                      <a:pt x="418" y="674"/>
                    </a:lnTo>
                    <a:lnTo>
                      <a:pt x="407" y="674"/>
                    </a:lnTo>
                    <a:lnTo>
                      <a:pt x="396" y="674"/>
                    </a:lnTo>
                    <a:lnTo>
                      <a:pt x="386" y="674"/>
                    </a:lnTo>
                    <a:lnTo>
                      <a:pt x="377" y="674"/>
                    </a:lnTo>
                    <a:lnTo>
                      <a:pt x="365" y="674"/>
                    </a:lnTo>
                    <a:lnTo>
                      <a:pt x="356" y="674"/>
                    </a:lnTo>
                    <a:lnTo>
                      <a:pt x="344" y="674"/>
                    </a:lnTo>
                    <a:lnTo>
                      <a:pt x="335" y="674"/>
                    </a:lnTo>
                    <a:lnTo>
                      <a:pt x="323" y="672"/>
                    </a:lnTo>
                    <a:lnTo>
                      <a:pt x="312" y="672"/>
                    </a:lnTo>
                    <a:lnTo>
                      <a:pt x="301" y="672"/>
                    </a:lnTo>
                    <a:lnTo>
                      <a:pt x="289" y="672"/>
                    </a:lnTo>
                    <a:lnTo>
                      <a:pt x="280" y="672"/>
                    </a:lnTo>
                    <a:lnTo>
                      <a:pt x="268" y="672"/>
                    </a:lnTo>
                    <a:lnTo>
                      <a:pt x="257" y="672"/>
                    </a:lnTo>
                    <a:lnTo>
                      <a:pt x="247" y="672"/>
                    </a:lnTo>
                    <a:lnTo>
                      <a:pt x="236" y="670"/>
                    </a:lnTo>
                    <a:lnTo>
                      <a:pt x="226" y="670"/>
                    </a:lnTo>
                    <a:lnTo>
                      <a:pt x="215" y="668"/>
                    </a:lnTo>
                    <a:lnTo>
                      <a:pt x="204" y="668"/>
                    </a:lnTo>
                    <a:lnTo>
                      <a:pt x="194" y="668"/>
                    </a:lnTo>
                    <a:lnTo>
                      <a:pt x="183" y="666"/>
                    </a:lnTo>
                    <a:lnTo>
                      <a:pt x="173" y="666"/>
                    </a:lnTo>
                    <a:lnTo>
                      <a:pt x="164" y="666"/>
                    </a:lnTo>
                    <a:lnTo>
                      <a:pt x="152" y="666"/>
                    </a:lnTo>
                    <a:lnTo>
                      <a:pt x="145" y="664"/>
                    </a:lnTo>
                    <a:lnTo>
                      <a:pt x="133" y="664"/>
                    </a:lnTo>
                    <a:lnTo>
                      <a:pt x="126" y="664"/>
                    </a:lnTo>
                    <a:lnTo>
                      <a:pt x="116" y="662"/>
                    </a:lnTo>
                    <a:lnTo>
                      <a:pt x="109" y="662"/>
                    </a:lnTo>
                    <a:lnTo>
                      <a:pt x="99" y="662"/>
                    </a:lnTo>
                    <a:lnTo>
                      <a:pt x="93" y="662"/>
                    </a:lnTo>
                    <a:lnTo>
                      <a:pt x="84" y="660"/>
                    </a:lnTo>
                    <a:lnTo>
                      <a:pt x="76" y="660"/>
                    </a:lnTo>
                    <a:lnTo>
                      <a:pt x="69" y="658"/>
                    </a:lnTo>
                    <a:lnTo>
                      <a:pt x="63" y="658"/>
                    </a:lnTo>
                    <a:lnTo>
                      <a:pt x="55" y="658"/>
                    </a:lnTo>
                    <a:lnTo>
                      <a:pt x="48" y="658"/>
                    </a:lnTo>
                    <a:lnTo>
                      <a:pt x="42" y="656"/>
                    </a:lnTo>
                    <a:lnTo>
                      <a:pt x="38" y="656"/>
                    </a:lnTo>
                    <a:lnTo>
                      <a:pt x="33" y="656"/>
                    </a:lnTo>
                    <a:lnTo>
                      <a:pt x="27" y="656"/>
                    </a:lnTo>
                    <a:lnTo>
                      <a:pt x="23" y="656"/>
                    </a:lnTo>
                    <a:lnTo>
                      <a:pt x="19" y="656"/>
                    </a:lnTo>
                    <a:lnTo>
                      <a:pt x="13" y="656"/>
                    </a:lnTo>
                    <a:lnTo>
                      <a:pt x="10" y="656"/>
                    </a:lnTo>
                    <a:lnTo>
                      <a:pt x="0" y="615"/>
                    </a:lnTo>
                    <a:lnTo>
                      <a:pt x="607" y="609"/>
                    </a:lnTo>
                    <a:lnTo>
                      <a:pt x="614" y="603"/>
                    </a:lnTo>
                    <a:lnTo>
                      <a:pt x="622" y="599"/>
                    </a:lnTo>
                    <a:lnTo>
                      <a:pt x="630" y="594"/>
                    </a:lnTo>
                    <a:lnTo>
                      <a:pt x="637" y="588"/>
                    </a:lnTo>
                    <a:lnTo>
                      <a:pt x="645" y="582"/>
                    </a:lnTo>
                    <a:lnTo>
                      <a:pt x="652" y="577"/>
                    </a:lnTo>
                    <a:lnTo>
                      <a:pt x="658" y="569"/>
                    </a:lnTo>
                    <a:lnTo>
                      <a:pt x="666" y="563"/>
                    </a:lnTo>
                    <a:lnTo>
                      <a:pt x="671" y="556"/>
                    </a:lnTo>
                    <a:lnTo>
                      <a:pt x="677" y="548"/>
                    </a:lnTo>
                    <a:lnTo>
                      <a:pt x="685" y="540"/>
                    </a:lnTo>
                    <a:lnTo>
                      <a:pt x="690" y="533"/>
                    </a:lnTo>
                    <a:lnTo>
                      <a:pt x="696" y="525"/>
                    </a:lnTo>
                    <a:lnTo>
                      <a:pt x="702" y="516"/>
                    </a:lnTo>
                    <a:lnTo>
                      <a:pt x="707" y="508"/>
                    </a:lnTo>
                    <a:lnTo>
                      <a:pt x="713" y="501"/>
                    </a:lnTo>
                    <a:lnTo>
                      <a:pt x="715" y="489"/>
                    </a:lnTo>
                    <a:lnTo>
                      <a:pt x="721" y="480"/>
                    </a:lnTo>
                    <a:lnTo>
                      <a:pt x="725" y="472"/>
                    </a:lnTo>
                    <a:lnTo>
                      <a:pt x="730" y="462"/>
                    </a:lnTo>
                    <a:lnTo>
                      <a:pt x="734" y="451"/>
                    </a:lnTo>
                    <a:lnTo>
                      <a:pt x="740" y="442"/>
                    </a:lnTo>
                    <a:lnTo>
                      <a:pt x="744" y="430"/>
                    </a:lnTo>
                    <a:lnTo>
                      <a:pt x="747" y="421"/>
                    </a:lnTo>
                    <a:lnTo>
                      <a:pt x="749" y="411"/>
                    </a:lnTo>
                    <a:lnTo>
                      <a:pt x="753" y="400"/>
                    </a:lnTo>
                    <a:lnTo>
                      <a:pt x="757" y="390"/>
                    </a:lnTo>
                    <a:lnTo>
                      <a:pt x="761" y="379"/>
                    </a:lnTo>
                    <a:lnTo>
                      <a:pt x="765" y="367"/>
                    </a:lnTo>
                    <a:lnTo>
                      <a:pt x="768" y="358"/>
                    </a:lnTo>
                    <a:lnTo>
                      <a:pt x="770" y="346"/>
                    </a:lnTo>
                    <a:lnTo>
                      <a:pt x="774" y="335"/>
                    </a:lnTo>
                    <a:lnTo>
                      <a:pt x="776" y="324"/>
                    </a:lnTo>
                    <a:lnTo>
                      <a:pt x="778" y="312"/>
                    </a:lnTo>
                    <a:lnTo>
                      <a:pt x="780" y="301"/>
                    </a:lnTo>
                    <a:lnTo>
                      <a:pt x="784" y="289"/>
                    </a:lnTo>
                    <a:lnTo>
                      <a:pt x="785" y="278"/>
                    </a:lnTo>
                    <a:lnTo>
                      <a:pt x="787" y="267"/>
                    </a:lnTo>
                    <a:lnTo>
                      <a:pt x="789" y="255"/>
                    </a:lnTo>
                    <a:lnTo>
                      <a:pt x="793" y="246"/>
                    </a:lnTo>
                    <a:lnTo>
                      <a:pt x="793" y="232"/>
                    </a:lnTo>
                    <a:lnTo>
                      <a:pt x="797" y="221"/>
                    </a:lnTo>
                    <a:lnTo>
                      <a:pt x="797" y="211"/>
                    </a:lnTo>
                    <a:lnTo>
                      <a:pt x="799" y="200"/>
                    </a:lnTo>
                    <a:lnTo>
                      <a:pt x="801" y="189"/>
                    </a:lnTo>
                    <a:lnTo>
                      <a:pt x="803" y="177"/>
                    </a:lnTo>
                    <a:lnTo>
                      <a:pt x="804" y="166"/>
                    </a:lnTo>
                    <a:lnTo>
                      <a:pt x="806" y="156"/>
                    </a:lnTo>
                    <a:lnTo>
                      <a:pt x="806" y="145"/>
                    </a:lnTo>
                    <a:lnTo>
                      <a:pt x="808" y="135"/>
                    </a:lnTo>
                    <a:lnTo>
                      <a:pt x="808" y="124"/>
                    </a:lnTo>
                    <a:lnTo>
                      <a:pt x="810" y="113"/>
                    </a:lnTo>
                    <a:lnTo>
                      <a:pt x="812" y="103"/>
                    </a:lnTo>
                    <a:lnTo>
                      <a:pt x="812" y="92"/>
                    </a:lnTo>
                    <a:lnTo>
                      <a:pt x="814" y="82"/>
                    </a:lnTo>
                    <a:lnTo>
                      <a:pt x="816" y="73"/>
                    </a:lnTo>
                    <a:lnTo>
                      <a:pt x="816" y="61"/>
                    </a:lnTo>
                    <a:lnTo>
                      <a:pt x="818" y="54"/>
                    </a:lnTo>
                    <a:lnTo>
                      <a:pt x="818" y="42"/>
                    </a:lnTo>
                    <a:lnTo>
                      <a:pt x="820" y="35"/>
                    </a:lnTo>
                    <a:lnTo>
                      <a:pt x="820" y="25"/>
                    </a:lnTo>
                    <a:lnTo>
                      <a:pt x="822" y="18"/>
                    </a:lnTo>
                    <a:lnTo>
                      <a:pt x="822" y="8"/>
                    </a:lnTo>
                    <a:lnTo>
                      <a:pt x="823" y="0"/>
                    </a:lnTo>
                    <a:lnTo>
                      <a:pt x="875" y="52"/>
                    </a:lnTo>
                    <a:close/>
                  </a:path>
                </a:pathLst>
              </a:custGeom>
              <a:solidFill>
                <a:srgbClr val="000000"/>
              </a:solidFill>
              <a:ln w="9525">
                <a:noFill/>
                <a:round/>
              </a:ln>
            </p:spPr>
            <p:txBody>
              <a:bodyPr/>
              <a:lstStyle/>
              <a:p>
                <a:endParaRPr lang="en-US"/>
              </a:p>
            </p:txBody>
          </p:sp>
          <p:sp>
            <p:nvSpPr>
              <p:cNvPr id="1048947" name="Freeform 244"/>
              <p:cNvSpPr/>
              <p:nvPr/>
            </p:nvSpPr>
            <p:spPr bwMode="auto">
              <a:xfrm>
                <a:off x="1969" y="2525"/>
                <a:ext cx="294" cy="228"/>
              </a:xfrm>
              <a:custGeom>
                <a:avLst/>
                <a:gdLst>
                  <a:gd name="T0" fmla="*/ 291 w 587"/>
                  <a:gd name="T1" fmla="*/ 12 h 457"/>
                  <a:gd name="T2" fmla="*/ 292 w 587"/>
                  <a:gd name="T3" fmla="*/ 22 h 457"/>
                  <a:gd name="T4" fmla="*/ 293 w 587"/>
                  <a:gd name="T5" fmla="*/ 33 h 457"/>
                  <a:gd name="T6" fmla="*/ 293 w 587"/>
                  <a:gd name="T7" fmla="*/ 44 h 457"/>
                  <a:gd name="T8" fmla="*/ 294 w 587"/>
                  <a:gd name="T9" fmla="*/ 55 h 457"/>
                  <a:gd name="T10" fmla="*/ 293 w 587"/>
                  <a:gd name="T11" fmla="*/ 66 h 457"/>
                  <a:gd name="T12" fmla="*/ 292 w 587"/>
                  <a:gd name="T13" fmla="*/ 79 h 457"/>
                  <a:gd name="T14" fmla="*/ 291 w 587"/>
                  <a:gd name="T15" fmla="*/ 90 h 457"/>
                  <a:gd name="T16" fmla="*/ 289 w 587"/>
                  <a:gd name="T17" fmla="*/ 103 h 457"/>
                  <a:gd name="T18" fmla="*/ 287 w 587"/>
                  <a:gd name="T19" fmla="*/ 114 h 457"/>
                  <a:gd name="T20" fmla="*/ 286 w 587"/>
                  <a:gd name="T21" fmla="*/ 125 h 457"/>
                  <a:gd name="T22" fmla="*/ 283 w 587"/>
                  <a:gd name="T23" fmla="*/ 136 h 457"/>
                  <a:gd name="T24" fmla="*/ 280 w 587"/>
                  <a:gd name="T25" fmla="*/ 147 h 457"/>
                  <a:gd name="T26" fmla="*/ 276 w 587"/>
                  <a:gd name="T27" fmla="*/ 158 h 457"/>
                  <a:gd name="T28" fmla="*/ 272 w 587"/>
                  <a:gd name="T29" fmla="*/ 168 h 457"/>
                  <a:gd name="T30" fmla="*/ 268 w 587"/>
                  <a:gd name="T31" fmla="*/ 178 h 457"/>
                  <a:gd name="T32" fmla="*/ 263 w 587"/>
                  <a:gd name="T33" fmla="*/ 187 h 457"/>
                  <a:gd name="T34" fmla="*/ 258 w 587"/>
                  <a:gd name="T35" fmla="*/ 195 h 457"/>
                  <a:gd name="T36" fmla="*/ 253 w 587"/>
                  <a:gd name="T37" fmla="*/ 202 h 457"/>
                  <a:gd name="T38" fmla="*/ 241 w 587"/>
                  <a:gd name="T39" fmla="*/ 215 h 457"/>
                  <a:gd name="T40" fmla="*/ 231 w 587"/>
                  <a:gd name="T41" fmla="*/ 220 h 457"/>
                  <a:gd name="T42" fmla="*/ 221 w 587"/>
                  <a:gd name="T43" fmla="*/ 223 h 457"/>
                  <a:gd name="T44" fmla="*/ 211 w 587"/>
                  <a:gd name="T45" fmla="*/ 226 h 457"/>
                  <a:gd name="T46" fmla="*/ 200 w 587"/>
                  <a:gd name="T47" fmla="*/ 227 h 457"/>
                  <a:gd name="T48" fmla="*/ 188 w 587"/>
                  <a:gd name="T49" fmla="*/ 227 h 457"/>
                  <a:gd name="T50" fmla="*/ 175 w 587"/>
                  <a:gd name="T51" fmla="*/ 227 h 457"/>
                  <a:gd name="T52" fmla="*/ 162 w 587"/>
                  <a:gd name="T53" fmla="*/ 226 h 457"/>
                  <a:gd name="T54" fmla="*/ 148 w 587"/>
                  <a:gd name="T55" fmla="*/ 224 h 457"/>
                  <a:gd name="T56" fmla="*/ 134 w 587"/>
                  <a:gd name="T57" fmla="*/ 221 h 457"/>
                  <a:gd name="T58" fmla="*/ 120 w 587"/>
                  <a:gd name="T59" fmla="*/ 219 h 457"/>
                  <a:gd name="T60" fmla="*/ 107 w 587"/>
                  <a:gd name="T61" fmla="*/ 216 h 457"/>
                  <a:gd name="T62" fmla="*/ 92 w 587"/>
                  <a:gd name="T63" fmla="*/ 212 h 457"/>
                  <a:gd name="T64" fmla="*/ 79 w 587"/>
                  <a:gd name="T65" fmla="*/ 207 h 457"/>
                  <a:gd name="T66" fmla="*/ 66 w 587"/>
                  <a:gd name="T67" fmla="*/ 203 h 457"/>
                  <a:gd name="T68" fmla="*/ 54 w 587"/>
                  <a:gd name="T69" fmla="*/ 199 h 457"/>
                  <a:gd name="T70" fmla="*/ 42 w 587"/>
                  <a:gd name="T71" fmla="*/ 194 h 457"/>
                  <a:gd name="T72" fmla="*/ 32 w 587"/>
                  <a:gd name="T73" fmla="*/ 190 h 457"/>
                  <a:gd name="T74" fmla="*/ 22 w 587"/>
                  <a:gd name="T75" fmla="*/ 185 h 457"/>
                  <a:gd name="T76" fmla="*/ 15 w 587"/>
                  <a:gd name="T77" fmla="*/ 181 h 457"/>
                  <a:gd name="T78" fmla="*/ 7 w 587"/>
                  <a:gd name="T79" fmla="*/ 177 h 457"/>
                  <a:gd name="T80" fmla="*/ 0 w 587"/>
                  <a:gd name="T81" fmla="*/ 170 h 457"/>
                  <a:gd name="T82" fmla="*/ 240 w 587"/>
                  <a:gd name="T83" fmla="*/ 198 h 457"/>
                  <a:gd name="T84" fmla="*/ 247 w 587"/>
                  <a:gd name="T85" fmla="*/ 187 h 457"/>
                  <a:gd name="T86" fmla="*/ 253 w 587"/>
                  <a:gd name="T87" fmla="*/ 174 h 457"/>
                  <a:gd name="T88" fmla="*/ 257 w 587"/>
                  <a:gd name="T89" fmla="*/ 163 h 457"/>
                  <a:gd name="T90" fmla="*/ 260 w 587"/>
                  <a:gd name="T91" fmla="*/ 156 h 457"/>
                  <a:gd name="T92" fmla="*/ 263 w 587"/>
                  <a:gd name="T93" fmla="*/ 147 h 457"/>
                  <a:gd name="T94" fmla="*/ 265 w 587"/>
                  <a:gd name="T95" fmla="*/ 138 h 457"/>
                  <a:gd name="T96" fmla="*/ 266 w 587"/>
                  <a:gd name="T97" fmla="*/ 128 h 457"/>
                  <a:gd name="T98" fmla="*/ 268 w 587"/>
                  <a:gd name="T99" fmla="*/ 119 h 457"/>
                  <a:gd name="T100" fmla="*/ 270 w 587"/>
                  <a:gd name="T101" fmla="*/ 108 h 457"/>
                  <a:gd name="T102" fmla="*/ 272 w 587"/>
                  <a:gd name="T103" fmla="*/ 98 h 457"/>
                  <a:gd name="T104" fmla="*/ 273 w 587"/>
                  <a:gd name="T105" fmla="*/ 86 h 457"/>
                  <a:gd name="T106" fmla="*/ 274 w 587"/>
                  <a:gd name="T107" fmla="*/ 76 h 457"/>
                  <a:gd name="T108" fmla="*/ 276 w 587"/>
                  <a:gd name="T109" fmla="*/ 65 h 457"/>
                  <a:gd name="T110" fmla="*/ 277 w 587"/>
                  <a:gd name="T111" fmla="*/ 52 h 457"/>
                  <a:gd name="T112" fmla="*/ 278 w 587"/>
                  <a:gd name="T113" fmla="*/ 41 h 457"/>
                  <a:gd name="T114" fmla="*/ 279 w 587"/>
                  <a:gd name="T115" fmla="*/ 28 h 457"/>
                  <a:gd name="T116" fmla="*/ 281 w 587"/>
                  <a:gd name="T117" fmla="*/ 16 h 457"/>
                  <a:gd name="T118" fmla="*/ 282 w 587"/>
                  <a:gd name="T119" fmla="*/ 4 h 457"/>
                  <a:gd name="T120" fmla="*/ 290 w 587"/>
                  <a:gd name="T121" fmla="*/ 7 h 45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587"/>
                  <a:gd name="T184" fmla="*/ 0 h 457"/>
                  <a:gd name="T185" fmla="*/ 587 w 587"/>
                  <a:gd name="T186" fmla="*/ 457 h 457"/>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587" h="457">
                    <a:moveTo>
                      <a:pt x="580" y="14"/>
                    </a:moveTo>
                    <a:lnTo>
                      <a:pt x="580" y="17"/>
                    </a:lnTo>
                    <a:lnTo>
                      <a:pt x="582" y="25"/>
                    </a:lnTo>
                    <a:lnTo>
                      <a:pt x="582" y="31"/>
                    </a:lnTo>
                    <a:lnTo>
                      <a:pt x="584" y="38"/>
                    </a:lnTo>
                    <a:lnTo>
                      <a:pt x="584" y="44"/>
                    </a:lnTo>
                    <a:lnTo>
                      <a:pt x="584" y="52"/>
                    </a:lnTo>
                    <a:lnTo>
                      <a:pt x="586" y="57"/>
                    </a:lnTo>
                    <a:lnTo>
                      <a:pt x="586" y="67"/>
                    </a:lnTo>
                    <a:lnTo>
                      <a:pt x="586" y="73"/>
                    </a:lnTo>
                    <a:lnTo>
                      <a:pt x="586" y="80"/>
                    </a:lnTo>
                    <a:lnTo>
                      <a:pt x="586" y="88"/>
                    </a:lnTo>
                    <a:lnTo>
                      <a:pt x="587" y="95"/>
                    </a:lnTo>
                    <a:lnTo>
                      <a:pt x="587" y="103"/>
                    </a:lnTo>
                    <a:lnTo>
                      <a:pt x="587" y="111"/>
                    </a:lnTo>
                    <a:lnTo>
                      <a:pt x="587" y="118"/>
                    </a:lnTo>
                    <a:lnTo>
                      <a:pt x="587" y="126"/>
                    </a:lnTo>
                    <a:lnTo>
                      <a:pt x="586" y="133"/>
                    </a:lnTo>
                    <a:lnTo>
                      <a:pt x="586" y="141"/>
                    </a:lnTo>
                    <a:lnTo>
                      <a:pt x="584" y="149"/>
                    </a:lnTo>
                    <a:lnTo>
                      <a:pt x="584" y="158"/>
                    </a:lnTo>
                    <a:lnTo>
                      <a:pt x="584" y="164"/>
                    </a:lnTo>
                    <a:lnTo>
                      <a:pt x="582" y="173"/>
                    </a:lnTo>
                    <a:lnTo>
                      <a:pt x="582" y="181"/>
                    </a:lnTo>
                    <a:lnTo>
                      <a:pt x="582" y="189"/>
                    </a:lnTo>
                    <a:lnTo>
                      <a:pt x="580" y="196"/>
                    </a:lnTo>
                    <a:lnTo>
                      <a:pt x="578" y="206"/>
                    </a:lnTo>
                    <a:lnTo>
                      <a:pt x="578" y="211"/>
                    </a:lnTo>
                    <a:lnTo>
                      <a:pt x="578" y="221"/>
                    </a:lnTo>
                    <a:lnTo>
                      <a:pt x="574" y="229"/>
                    </a:lnTo>
                    <a:lnTo>
                      <a:pt x="574" y="236"/>
                    </a:lnTo>
                    <a:lnTo>
                      <a:pt x="572" y="244"/>
                    </a:lnTo>
                    <a:lnTo>
                      <a:pt x="572" y="251"/>
                    </a:lnTo>
                    <a:lnTo>
                      <a:pt x="568" y="259"/>
                    </a:lnTo>
                    <a:lnTo>
                      <a:pt x="567" y="267"/>
                    </a:lnTo>
                    <a:lnTo>
                      <a:pt x="565" y="272"/>
                    </a:lnTo>
                    <a:lnTo>
                      <a:pt x="563" y="282"/>
                    </a:lnTo>
                    <a:lnTo>
                      <a:pt x="561" y="287"/>
                    </a:lnTo>
                    <a:lnTo>
                      <a:pt x="559" y="295"/>
                    </a:lnTo>
                    <a:lnTo>
                      <a:pt x="557" y="303"/>
                    </a:lnTo>
                    <a:lnTo>
                      <a:pt x="555" y="310"/>
                    </a:lnTo>
                    <a:lnTo>
                      <a:pt x="551" y="316"/>
                    </a:lnTo>
                    <a:lnTo>
                      <a:pt x="549" y="324"/>
                    </a:lnTo>
                    <a:lnTo>
                      <a:pt x="548" y="329"/>
                    </a:lnTo>
                    <a:lnTo>
                      <a:pt x="544" y="337"/>
                    </a:lnTo>
                    <a:lnTo>
                      <a:pt x="542" y="343"/>
                    </a:lnTo>
                    <a:lnTo>
                      <a:pt x="538" y="350"/>
                    </a:lnTo>
                    <a:lnTo>
                      <a:pt x="536" y="356"/>
                    </a:lnTo>
                    <a:lnTo>
                      <a:pt x="532" y="364"/>
                    </a:lnTo>
                    <a:lnTo>
                      <a:pt x="529" y="369"/>
                    </a:lnTo>
                    <a:lnTo>
                      <a:pt x="525" y="375"/>
                    </a:lnTo>
                    <a:lnTo>
                      <a:pt x="523" y="381"/>
                    </a:lnTo>
                    <a:lnTo>
                      <a:pt x="519" y="384"/>
                    </a:lnTo>
                    <a:lnTo>
                      <a:pt x="515" y="390"/>
                    </a:lnTo>
                    <a:lnTo>
                      <a:pt x="511" y="396"/>
                    </a:lnTo>
                    <a:lnTo>
                      <a:pt x="508" y="400"/>
                    </a:lnTo>
                    <a:lnTo>
                      <a:pt x="506" y="405"/>
                    </a:lnTo>
                    <a:lnTo>
                      <a:pt x="496" y="413"/>
                    </a:lnTo>
                    <a:lnTo>
                      <a:pt x="489" y="422"/>
                    </a:lnTo>
                    <a:lnTo>
                      <a:pt x="481" y="430"/>
                    </a:lnTo>
                    <a:lnTo>
                      <a:pt x="473" y="438"/>
                    </a:lnTo>
                    <a:lnTo>
                      <a:pt x="468" y="438"/>
                    </a:lnTo>
                    <a:lnTo>
                      <a:pt x="462" y="441"/>
                    </a:lnTo>
                    <a:lnTo>
                      <a:pt x="454" y="443"/>
                    </a:lnTo>
                    <a:lnTo>
                      <a:pt x="449" y="445"/>
                    </a:lnTo>
                    <a:lnTo>
                      <a:pt x="441" y="447"/>
                    </a:lnTo>
                    <a:lnTo>
                      <a:pt x="435" y="449"/>
                    </a:lnTo>
                    <a:lnTo>
                      <a:pt x="430" y="451"/>
                    </a:lnTo>
                    <a:lnTo>
                      <a:pt x="422" y="453"/>
                    </a:lnTo>
                    <a:lnTo>
                      <a:pt x="414" y="453"/>
                    </a:lnTo>
                    <a:lnTo>
                      <a:pt x="407" y="455"/>
                    </a:lnTo>
                    <a:lnTo>
                      <a:pt x="399" y="455"/>
                    </a:lnTo>
                    <a:lnTo>
                      <a:pt x="392" y="455"/>
                    </a:lnTo>
                    <a:lnTo>
                      <a:pt x="384" y="455"/>
                    </a:lnTo>
                    <a:lnTo>
                      <a:pt x="376" y="455"/>
                    </a:lnTo>
                    <a:lnTo>
                      <a:pt x="367" y="455"/>
                    </a:lnTo>
                    <a:lnTo>
                      <a:pt x="359" y="457"/>
                    </a:lnTo>
                    <a:lnTo>
                      <a:pt x="350" y="455"/>
                    </a:lnTo>
                    <a:lnTo>
                      <a:pt x="340" y="455"/>
                    </a:lnTo>
                    <a:lnTo>
                      <a:pt x="333" y="453"/>
                    </a:lnTo>
                    <a:lnTo>
                      <a:pt x="323" y="453"/>
                    </a:lnTo>
                    <a:lnTo>
                      <a:pt x="314" y="451"/>
                    </a:lnTo>
                    <a:lnTo>
                      <a:pt x="304" y="451"/>
                    </a:lnTo>
                    <a:lnTo>
                      <a:pt x="295" y="449"/>
                    </a:lnTo>
                    <a:lnTo>
                      <a:pt x="287" y="447"/>
                    </a:lnTo>
                    <a:lnTo>
                      <a:pt x="278" y="445"/>
                    </a:lnTo>
                    <a:lnTo>
                      <a:pt x="268" y="443"/>
                    </a:lnTo>
                    <a:lnTo>
                      <a:pt x="259" y="441"/>
                    </a:lnTo>
                    <a:lnTo>
                      <a:pt x="249" y="440"/>
                    </a:lnTo>
                    <a:lnTo>
                      <a:pt x="240" y="438"/>
                    </a:lnTo>
                    <a:lnTo>
                      <a:pt x="230" y="436"/>
                    </a:lnTo>
                    <a:lnTo>
                      <a:pt x="221" y="434"/>
                    </a:lnTo>
                    <a:lnTo>
                      <a:pt x="213" y="432"/>
                    </a:lnTo>
                    <a:lnTo>
                      <a:pt x="202" y="430"/>
                    </a:lnTo>
                    <a:lnTo>
                      <a:pt x="194" y="426"/>
                    </a:lnTo>
                    <a:lnTo>
                      <a:pt x="184" y="424"/>
                    </a:lnTo>
                    <a:lnTo>
                      <a:pt x="175" y="421"/>
                    </a:lnTo>
                    <a:lnTo>
                      <a:pt x="165" y="419"/>
                    </a:lnTo>
                    <a:lnTo>
                      <a:pt x="158" y="415"/>
                    </a:lnTo>
                    <a:lnTo>
                      <a:pt x="148" y="413"/>
                    </a:lnTo>
                    <a:lnTo>
                      <a:pt x="141" y="409"/>
                    </a:lnTo>
                    <a:lnTo>
                      <a:pt x="131" y="407"/>
                    </a:lnTo>
                    <a:lnTo>
                      <a:pt x="124" y="403"/>
                    </a:lnTo>
                    <a:lnTo>
                      <a:pt x="116" y="402"/>
                    </a:lnTo>
                    <a:lnTo>
                      <a:pt x="108" y="398"/>
                    </a:lnTo>
                    <a:lnTo>
                      <a:pt x="99" y="394"/>
                    </a:lnTo>
                    <a:lnTo>
                      <a:pt x="91" y="392"/>
                    </a:lnTo>
                    <a:lnTo>
                      <a:pt x="84" y="388"/>
                    </a:lnTo>
                    <a:lnTo>
                      <a:pt x="78" y="386"/>
                    </a:lnTo>
                    <a:lnTo>
                      <a:pt x="68" y="383"/>
                    </a:lnTo>
                    <a:lnTo>
                      <a:pt x="63" y="381"/>
                    </a:lnTo>
                    <a:lnTo>
                      <a:pt x="55" y="377"/>
                    </a:lnTo>
                    <a:lnTo>
                      <a:pt x="49" y="373"/>
                    </a:lnTo>
                    <a:lnTo>
                      <a:pt x="44" y="371"/>
                    </a:lnTo>
                    <a:lnTo>
                      <a:pt x="38" y="367"/>
                    </a:lnTo>
                    <a:lnTo>
                      <a:pt x="34" y="365"/>
                    </a:lnTo>
                    <a:lnTo>
                      <a:pt x="29" y="362"/>
                    </a:lnTo>
                    <a:lnTo>
                      <a:pt x="23" y="360"/>
                    </a:lnTo>
                    <a:lnTo>
                      <a:pt x="19" y="356"/>
                    </a:lnTo>
                    <a:lnTo>
                      <a:pt x="13" y="354"/>
                    </a:lnTo>
                    <a:lnTo>
                      <a:pt x="9" y="352"/>
                    </a:lnTo>
                    <a:lnTo>
                      <a:pt x="4" y="346"/>
                    </a:lnTo>
                    <a:lnTo>
                      <a:pt x="0" y="341"/>
                    </a:lnTo>
                    <a:lnTo>
                      <a:pt x="25" y="348"/>
                    </a:lnTo>
                    <a:lnTo>
                      <a:pt x="473" y="403"/>
                    </a:lnTo>
                    <a:lnTo>
                      <a:pt x="479" y="396"/>
                    </a:lnTo>
                    <a:lnTo>
                      <a:pt x="485" y="390"/>
                    </a:lnTo>
                    <a:lnTo>
                      <a:pt x="489" y="383"/>
                    </a:lnTo>
                    <a:lnTo>
                      <a:pt x="494" y="375"/>
                    </a:lnTo>
                    <a:lnTo>
                      <a:pt x="496" y="365"/>
                    </a:lnTo>
                    <a:lnTo>
                      <a:pt x="502" y="358"/>
                    </a:lnTo>
                    <a:lnTo>
                      <a:pt x="506" y="348"/>
                    </a:lnTo>
                    <a:lnTo>
                      <a:pt x="511" y="339"/>
                    </a:lnTo>
                    <a:lnTo>
                      <a:pt x="511" y="333"/>
                    </a:lnTo>
                    <a:lnTo>
                      <a:pt x="513" y="327"/>
                    </a:lnTo>
                    <a:lnTo>
                      <a:pt x="515" y="324"/>
                    </a:lnTo>
                    <a:lnTo>
                      <a:pt x="517" y="318"/>
                    </a:lnTo>
                    <a:lnTo>
                      <a:pt x="519" y="312"/>
                    </a:lnTo>
                    <a:lnTo>
                      <a:pt x="521" y="306"/>
                    </a:lnTo>
                    <a:lnTo>
                      <a:pt x="523" y="301"/>
                    </a:lnTo>
                    <a:lnTo>
                      <a:pt x="525" y="295"/>
                    </a:lnTo>
                    <a:lnTo>
                      <a:pt x="525" y="289"/>
                    </a:lnTo>
                    <a:lnTo>
                      <a:pt x="527" y="282"/>
                    </a:lnTo>
                    <a:lnTo>
                      <a:pt x="529" y="276"/>
                    </a:lnTo>
                    <a:lnTo>
                      <a:pt x="530" y="270"/>
                    </a:lnTo>
                    <a:lnTo>
                      <a:pt x="530" y="265"/>
                    </a:lnTo>
                    <a:lnTo>
                      <a:pt x="532" y="257"/>
                    </a:lnTo>
                    <a:lnTo>
                      <a:pt x="534" y="251"/>
                    </a:lnTo>
                    <a:lnTo>
                      <a:pt x="536" y="246"/>
                    </a:lnTo>
                    <a:lnTo>
                      <a:pt x="536" y="238"/>
                    </a:lnTo>
                    <a:lnTo>
                      <a:pt x="538" y="230"/>
                    </a:lnTo>
                    <a:lnTo>
                      <a:pt x="538" y="223"/>
                    </a:lnTo>
                    <a:lnTo>
                      <a:pt x="540" y="217"/>
                    </a:lnTo>
                    <a:lnTo>
                      <a:pt x="542" y="210"/>
                    </a:lnTo>
                    <a:lnTo>
                      <a:pt x="542" y="204"/>
                    </a:lnTo>
                    <a:lnTo>
                      <a:pt x="544" y="196"/>
                    </a:lnTo>
                    <a:lnTo>
                      <a:pt x="546" y="189"/>
                    </a:lnTo>
                    <a:lnTo>
                      <a:pt x="546" y="181"/>
                    </a:lnTo>
                    <a:lnTo>
                      <a:pt x="546" y="173"/>
                    </a:lnTo>
                    <a:lnTo>
                      <a:pt x="548" y="166"/>
                    </a:lnTo>
                    <a:lnTo>
                      <a:pt x="548" y="158"/>
                    </a:lnTo>
                    <a:lnTo>
                      <a:pt x="548" y="152"/>
                    </a:lnTo>
                    <a:lnTo>
                      <a:pt x="549" y="145"/>
                    </a:lnTo>
                    <a:lnTo>
                      <a:pt x="551" y="137"/>
                    </a:lnTo>
                    <a:lnTo>
                      <a:pt x="551" y="130"/>
                    </a:lnTo>
                    <a:lnTo>
                      <a:pt x="551" y="122"/>
                    </a:lnTo>
                    <a:lnTo>
                      <a:pt x="553" y="113"/>
                    </a:lnTo>
                    <a:lnTo>
                      <a:pt x="553" y="105"/>
                    </a:lnTo>
                    <a:lnTo>
                      <a:pt x="555" y="97"/>
                    </a:lnTo>
                    <a:lnTo>
                      <a:pt x="555" y="90"/>
                    </a:lnTo>
                    <a:lnTo>
                      <a:pt x="555" y="82"/>
                    </a:lnTo>
                    <a:lnTo>
                      <a:pt x="557" y="73"/>
                    </a:lnTo>
                    <a:lnTo>
                      <a:pt x="557" y="67"/>
                    </a:lnTo>
                    <a:lnTo>
                      <a:pt x="557" y="57"/>
                    </a:lnTo>
                    <a:lnTo>
                      <a:pt x="559" y="50"/>
                    </a:lnTo>
                    <a:lnTo>
                      <a:pt x="559" y="40"/>
                    </a:lnTo>
                    <a:lnTo>
                      <a:pt x="561" y="33"/>
                    </a:lnTo>
                    <a:lnTo>
                      <a:pt x="561" y="25"/>
                    </a:lnTo>
                    <a:lnTo>
                      <a:pt x="563" y="17"/>
                    </a:lnTo>
                    <a:lnTo>
                      <a:pt x="563" y="8"/>
                    </a:lnTo>
                    <a:lnTo>
                      <a:pt x="565" y="0"/>
                    </a:lnTo>
                    <a:lnTo>
                      <a:pt x="580" y="14"/>
                    </a:lnTo>
                    <a:close/>
                  </a:path>
                </a:pathLst>
              </a:custGeom>
              <a:solidFill>
                <a:srgbClr val="000000"/>
              </a:solidFill>
              <a:ln w="9525">
                <a:noFill/>
                <a:round/>
              </a:ln>
            </p:spPr>
            <p:txBody>
              <a:bodyPr/>
              <a:lstStyle/>
              <a:p>
                <a:endParaRPr lang="en-US"/>
              </a:p>
            </p:txBody>
          </p:sp>
          <p:sp>
            <p:nvSpPr>
              <p:cNvPr id="1048948" name="Freeform 245"/>
              <p:cNvSpPr/>
              <p:nvPr/>
            </p:nvSpPr>
            <p:spPr bwMode="auto">
              <a:xfrm>
                <a:off x="1861" y="2747"/>
                <a:ext cx="123" cy="118"/>
              </a:xfrm>
              <a:custGeom>
                <a:avLst/>
                <a:gdLst>
                  <a:gd name="T0" fmla="*/ 34 w 246"/>
                  <a:gd name="T1" fmla="*/ 11 h 236"/>
                  <a:gd name="T2" fmla="*/ 31 w 246"/>
                  <a:gd name="T3" fmla="*/ 17 h 236"/>
                  <a:gd name="T4" fmla="*/ 31 w 246"/>
                  <a:gd name="T5" fmla="*/ 20 h 236"/>
                  <a:gd name="T6" fmla="*/ 31 w 246"/>
                  <a:gd name="T7" fmla="*/ 26 h 236"/>
                  <a:gd name="T8" fmla="*/ 29 w 246"/>
                  <a:gd name="T9" fmla="*/ 33 h 236"/>
                  <a:gd name="T10" fmla="*/ 28 w 246"/>
                  <a:gd name="T11" fmla="*/ 39 h 236"/>
                  <a:gd name="T12" fmla="*/ 27 w 246"/>
                  <a:gd name="T13" fmla="*/ 47 h 236"/>
                  <a:gd name="T14" fmla="*/ 26 w 246"/>
                  <a:gd name="T15" fmla="*/ 55 h 236"/>
                  <a:gd name="T16" fmla="*/ 24 w 246"/>
                  <a:gd name="T17" fmla="*/ 61 h 236"/>
                  <a:gd name="T18" fmla="*/ 23 w 246"/>
                  <a:gd name="T19" fmla="*/ 69 h 236"/>
                  <a:gd name="T20" fmla="*/ 21 w 246"/>
                  <a:gd name="T21" fmla="*/ 76 h 236"/>
                  <a:gd name="T22" fmla="*/ 20 w 246"/>
                  <a:gd name="T23" fmla="*/ 82 h 236"/>
                  <a:gd name="T24" fmla="*/ 19 w 246"/>
                  <a:gd name="T25" fmla="*/ 87 h 236"/>
                  <a:gd name="T26" fmla="*/ 18 w 246"/>
                  <a:gd name="T27" fmla="*/ 92 h 236"/>
                  <a:gd name="T28" fmla="*/ 17 w 246"/>
                  <a:gd name="T29" fmla="*/ 97 h 236"/>
                  <a:gd name="T30" fmla="*/ 24 w 246"/>
                  <a:gd name="T31" fmla="*/ 96 h 236"/>
                  <a:gd name="T32" fmla="*/ 31 w 246"/>
                  <a:gd name="T33" fmla="*/ 95 h 236"/>
                  <a:gd name="T34" fmla="*/ 37 w 246"/>
                  <a:gd name="T35" fmla="*/ 94 h 236"/>
                  <a:gd name="T36" fmla="*/ 44 w 246"/>
                  <a:gd name="T37" fmla="*/ 93 h 236"/>
                  <a:gd name="T38" fmla="*/ 49 w 246"/>
                  <a:gd name="T39" fmla="*/ 90 h 236"/>
                  <a:gd name="T40" fmla="*/ 54 w 246"/>
                  <a:gd name="T41" fmla="*/ 88 h 236"/>
                  <a:gd name="T42" fmla="*/ 63 w 246"/>
                  <a:gd name="T43" fmla="*/ 81 h 236"/>
                  <a:gd name="T44" fmla="*/ 72 w 246"/>
                  <a:gd name="T45" fmla="*/ 73 h 236"/>
                  <a:gd name="T46" fmla="*/ 75 w 246"/>
                  <a:gd name="T47" fmla="*/ 68 h 236"/>
                  <a:gd name="T48" fmla="*/ 80 w 246"/>
                  <a:gd name="T49" fmla="*/ 62 h 236"/>
                  <a:gd name="T50" fmla="*/ 85 w 246"/>
                  <a:gd name="T51" fmla="*/ 56 h 236"/>
                  <a:gd name="T52" fmla="*/ 90 w 246"/>
                  <a:gd name="T53" fmla="*/ 49 h 236"/>
                  <a:gd name="T54" fmla="*/ 94 w 246"/>
                  <a:gd name="T55" fmla="*/ 40 h 236"/>
                  <a:gd name="T56" fmla="*/ 100 w 246"/>
                  <a:gd name="T57" fmla="*/ 33 h 236"/>
                  <a:gd name="T58" fmla="*/ 123 w 246"/>
                  <a:gd name="T59" fmla="*/ 45 h 236"/>
                  <a:gd name="T60" fmla="*/ 120 w 246"/>
                  <a:gd name="T61" fmla="*/ 54 h 236"/>
                  <a:gd name="T62" fmla="*/ 116 w 246"/>
                  <a:gd name="T63" fmla="*/ 63 h 236"/>
                  <a:gd name="T64" fmla="*/ 112 w 246"/>
                  <a:gd name="T65" fmla="*/ 71 h 236"/>
                  <a:gd name="T66" fmla="*/ 105 w 246"/>
                  <a:gd name="T67" fmla="*/ 79 h 236"/>
                  <a:gd name="T68" fmla="*/ 97 w 246"/>
                  <a:gd name="T69" fmla="*/ 86 h 236"/>
                  <a:gd name="T70" fmla="*/ 88 w 246"/>
                  <a:gd name="T71" fmla="*/ 93 h 236"/>
                  <a:gd name="T72" fmla="*/ 79 w 246"/>
                  <a:gd name="T73" fmla="*/ 98 h 236"/>
                  <a:gd name="T74" fmla="*/ 72 w 246"/>
                  <a:gd name="T75" fmla="*/ 102 h 236"/>
                  <a:gd name="T76" fmla="*/ 66 w 246"/>
                  <a:gd name="T77" fmla="*/ 104 h 236"/>
                  <a:gd name="T78" fmla="*/ 61 w 246"/>
                  <a:gd name="T79" fmla="*/ 107 h 236"/>
                  <a:gd name="T80" fmla="*/ 56 w 246"/>
                  <a:gd name="T81" fmla="*/ 109 h 236"/>
                  <a:gd name="T82" fmla="*/ 51 w 246"/>
                  <a:gd name="T83" fmla="*/ 111 h 236"/>
                  <a:gd name="T84" fmla="*/ 45 w 246"/>
                  <a:gd name="T85" fmla="*/ 112 h 236"/>
                  <a:gd name="T86" fmla="*/ 38 w 246"/>
                  <a:gd name="T87" fmla="*/ 114 h 236"/>
                  <a:gd name="T88" fmla="*/ 29 w 246"/>
                  <a:gd name="T89" fmla="*/ 116 h 236"/>
                  <a:gd name="T90" fmla="*/ 19 w 246"/>
                  <a:gd name="T91" fmla="*/ 118 h 236"/>
                  <a:gd name="T92" fmla="*/ 11 w 246"/>
                  <a:gd name="T93" fmla="*/ 118 h 236"/>
                  <a:gd name="T94" fmla="*/ 3 w 246"/>
                  <a:gd name="T95" fmla="*/ 118 h 236"/>
                  <a:gd name="T96" fmla="*/ 27 w 246"/>
                  <a:gd name="T97" fmla="*/ 0 h 2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w 246"/>
                  <a:gd name="T148" fmla="*/ 0 h 236"/>
                  <a:gd name="T149" fmla="*/ 246 w 246"/>
                  <a:gd name="T150" fmla="*/ 236 h 236"/>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T147" t="T148" r="T149" b="T150"/>
                <a:pathLst>
                  <a:path w="246" h="236">
                    <a:moveTo>
                      <a:pt x="53" y="0"/>
                    </a:moveTo>
                    <a:lnTo>
                      <a:pt x="67" y="21"/>
                    </a:lnTo>
                    <a:lnTo>
                      <a:pt x="67" y="25"/>
                    </a:lnTo>
                    <a:lnTo>
                      <a:pt x="63" y="33"/>
                    </a:lnTo>
                    <a:lnTo>
                      <a:pt x="63" y="36"/>
                    </a:lnTo>
                    <a:lnTo>
                      <a:pt x="63" y="40"/>
                    </a:lnTo>
                    <a:lnTo>
                      <a:pt x="61" y="46"/>
                    </a:lnTo>
                    <a:lnTo>
                      <a:pt x="61" y="52"/>
                    </a:lnTo>
                    <a:lnTo>
                      <a:pt x="59" y="57"/>
                    </a:lnTo>
                    <a:lnTo>
                      <a:pt x="57" y="65"/>
                    </a:lnTo>
                    <a:lnTo>
                      <a:pt x="55" y="71"/>
                    </a:lnTo>
                    <a:lnTo>
                      <a:pt x="55" y="78"/>
                    </a:lnTo>
                    <a:lnTo>
                      <a:pt x="53" y="86"/>
                    </a:lnTo>
                    <a:lnTo>
                      <a:pt x="53" y="93"/>
                    </a:lnTo>
                    <a:lnTo>
                      <a:pt x="52" y="101"/>
                    </a:lnTo>
                    <a:lnTo>
                      <a:pt x="52" y="109"/>
                    </a:lnTo>
                    <a:lnTo>
                      <a:pt x="50" y="114"/>
                    </a:lnTo>
                    <a:lnTo>
                      <a:pt x="48" y="122"/>
                    </a:lnTo>
                    <a:lnTo>
                      <a:pt x="46" y="130"/>
                    </a:lnTo>
                    <a:lnTo>
                      <a:pt x="46" y="137"/>
                    </a:lnTo>
                    <a:lnTo>
                      <a:pt x="44" y="143"/>
                    </a:lnTo>
                    <a:lnTo>
                      <a:pt x="42" y="151"/>
                    </a:lnTo>
                    <a:lnTo>
                      <a:pt x="40" y="156"/>
                    </a:lnTo>
                    <a:lnTo>
                      <a:pt x="40" y="164"/>
                    </a:lnTo>
                    <a:lnTo>
                      <a:pt x="38" y="168"/>
                    </a:lnTo>
                    <a:lnTo>
                      <a:pt x="38" y="173"/>
                    </a:lnTo>
                    <a:lnTo>
                      <a:pt x="36" y="179"/>
                    </a:lnTo>
                    <a:lnTo>
                      <a:pt x="36" y="183"/>
                    </a:lnTo>
                    <a:lnTo>
                      <a:pt x="34" y="190"/>
                    </a:lnTo>
                    <a:lnTo>
                      <a:pt x="34" y="194"/>
                    </a:lnTo>
                    <a:lnTo>
                      <a:pt x="40" y="192"/>
                    </a:lnTo>
                    <a:lnTo>
                      <a:pt x="48" y="192"/>
                    </a:lnTo>
                    <a:lnTo>
                      <a:pt x="55" y="190"/>
                    </a:lnTo>
                    <a:lnTo>
                      <a:pt x="63" y="190"/>
                    </a:lnTo>
                    <a:lnTo>
                      <a:pt x="69" y="189"/>
                    </a:lnTo>
                    <a:lnTo>
                      <a:pt x="74" y="187"/>
                    </a:lnTo>
                    <a:lnTo>
                      <a:pt x="80" y="185"/>
                    </a:lnTo>
                    <a:lnTo>
                      <a:pt x="88" y="185"/>
                    </a:lnTo>
                    <a:lnTo>
                      <a:pt x="92" y="181"/>
                    </a:lnTo>
                    <a:lnTo>
                      <a:pt x="97" y="179"/>
                    </a:lnTo>
                    <a:lnTo>
                      <a:pt x="101" y="177"/>
                    </a:lnTo>
                    <a:lnTo>
                      <a:pt x="107" y="175"/>
                    </a:lnTo>
                    <a:lnTo>
                      <a:pt x="116" y="168"/>
                    </a:lnTo>
                    <a:lnTo>
                      <a:pt x="126" y="162"/>
                    </a:lnTo>
                    <a:lnTo>
                      <a:pt x="135" y="154"/>
                    </a:lnTo>
                    <a:lnTo>
                      <a:pt x="143" y="145"/>
                    </a:lnTo>
                    <a:lnTo>
                      <a:pt x="147" y="139"/>
                    </a:lnTo>
                    <a:lnTo>
                      <a:pt x="150" y="135"/>
                    </a:lnTo>
                    <a:lnTo>
                      <a:pt x="156" y="130"/>
                    </a:lnTo>
                    <a:lnTo>
                      <a:pt x="160" y="124"/>
                    </a:lnTo>
                    <a:lnTo>
                      <a:pt x="164" y="116"/>
                    </a:lnTo>
                    <a:lnTo>
                      <a:pt x="169" y="111"/>
                    </a:lnTo>
                    <a:lnTo>
                      <a:pt x="173" y="103"/>
                    </a:lnTo>
                    <a:lnTo>
                      <a:pt x="179" y="97"/>
                    </a:lnTo>
                    <a:lnTo>
                      <a:pt x="183" y="88"/>
                    </a:lnTo>
                    <a:lnTo>
                      <a:pt x="188" y="80"/>
                    </a:lnTo>
                    <a:lnTo>
                      <a:pt x="194" y="73"/>
                    </a:lnTo>
                    <a:lnTo>
                      <a:pt x="200" y="65"/>
                    </a:lnTo>
                    <a:lnTo>
                      <a:pt x="246" y="80"/>
                    </a:lnTo>
                    <a:lnTo>
                      <a:pt x="246" y="90"/>
                    </a:lnTo>
                    <a:lnTo>
                      <a:pt x="244" y="99"/>
                    </a:lnTo>
                    <a:lnTo>
                      <a:pt x="240" y="107"/>
                    </a:lnTo>
                    <a:lnTo>
                      <a:pt x="238" y="116"/>
                    </a:lnTo>
                    <a:lnTo>
                      <a:pt x="232" y="126"/>
                    </a:lnTo>
                    <a:lnTo>
                      <a:pt x="226" y="133"/>
                    </a:lnTo>
                    <a:lnTo>
                      <a:pt x="223" y="141"/>
                    </a:lnTo>
                    <a:lnTo>
                      <a:pt x="217" y="151"/>
                    </a:lnTo>
                    <a:lnTo>
                      <a:pt x="209" y="158"/>
                    </a:lnTo>
                    <a:lnTo>
                      <a:pt x="202" y="164"/>
                    </a:lnTo>
                    <a:lnTo>
                      <a:pt x="194" y="171"/>
                    </a:lnTo>
                    <a:lnTo>
                      <a:pt x="185" y="179"/>
                    </a:lnTo>
                    <a:lnTo>
                      <a:pt x="175" y="185"/>
                    </a:lnTo>
                    <a:lnTo>
                      <a:pt x="168" y="190"/>
                    </a:lnTo>
                    <a:lnTo>
                      <a:pt x="158" y="196"/>
                    </a:lnTo>
                    <a:lnTo>
                      <a:pt x="149" y="202"/>
                    </a:lnTo>
                    <a:lnTo>
                      <a:pt x="143" y="204"/>
                    </a:lnTo>
                    <a:lnTo>
                      <a:pt x="137" y="206"/>
                    </a:lnTo>
                    <a:lnTo>
                      <a:pt x="131" y="208"/>
                    </a:lnTo>
                    <a:lnTo>
                      <a:pt x="128" y="211"/>
                    </a:lnTo>
                    <a:lnTo>
                      <a:pt x="122" y="213"/>
                    </a:lnTo>
                    <a:lnTo>
                      <a:pt x="118" y="215"/>
                    </a:lnTo>
                    <a:lnTo>
                      <a:pt x="112" y="217"/>
                    </a:lnTo>
                    <a:lnTo>
                      <a:pt x="107" y="219"/>
                    </a:lnTo>
                    <a:lnTo>
                      <a:pt x="101" y="221"/>
                    </a:lnTo>
                    <a:lnTo>
                      <a:pt x="95" y="223"/>
                    </a:lnTo>
                    <a:lnTo>
                      <a:pt x="90" y="223"/>
                    </a:lnTo>
                    <a:lnTo>
                      <a:pt x="86" y="225"/>
                    </a:lnTo>
                    <a:lnTo>
                      <a:pt x="76" y="228"/>
                    </a:lnTo>
                    <a:lnTo>
                      <a:pt x="67" y="232"/>
                    </a:lnTo>
                    <a:lnTo>
                      <a:pt x="57" y="232"/>
                    </a:lnTo>
                    <a:lnTo>
                      <a:pt x="48" y="234"/>
                    </a:lnTo>
                    <a:lnTo>
                      <a:pt x="38" y="236"/>
                    </a:lnTo>
                    <a:lnTo>
                      <a:pt x="31" y="236"/>
                    </a:lnTo>
                    <a:lnTo>
                      <a:pt x="21" y="236"/>
                    </a:lnTo>
                    <a:lnTo>
                      <a:pt x="14" y="236"/>
                    </a:lnTo>
                    <a:lnTo>
                      <a:pt x="6" y="236"/>
                    </a:lnTo>
                    <a:lnTo>
                      <a:pt x="0" y="236"/>
                    </a:lnTo>
                    <a:lnTo>
                      <a:pt x="53" y="0"/>
                    </a:lnTo>
                    <a:close/>
                  </a:path>
                </a:pathLst>
              </a:custGeom>
              <a:solidFill>
                <a:srgbClr val="000000"/>
              </a:solidFill>
              <a:ln w="9525">
                <a:noFill/>
                <a:round/>
              </a:ln>
            </p:spPr>
            <p:txBody>
              <a:bodyPr/>
              <a:lstStyle/>
              <a:p>
                <a:endParaRPr lang="en-US"/>
              </a:p>
            </p:txBody>
          </p:sp>
          <p:sp>
            <p:nvSpPr>
              <p:cNvPr id="1048949" name="Freeform 246"/>
              <p:cNvSpPr/>
              <p:nvPr/>
            </p:nvSpPr>
            <p:spPr bwMode="auto">
              <a:xfrm>
                <a:off x="2374" y="2533"/>
                <a:ext cx="207" cy="70"/>
              </a:xfrm>
              <a:custGeom>
                <a:avLst/>
                <a:gdLst>
                  <a:gd name="T0" fmla="*/ 206 w 413"/>
                  <a:gd name="T1" fmla="*/ 64 h 139"/>
                  <a:gd name="T2" fmla="*/ 202 w 413"/>
                  <a:gd name="T3" fmla="*/ 69 h 139"/>
                  <a:gd name="T4" fmla="*/ 194 w 413"/>
                  <a:gd name="T5" fmla="*/ 69 h 139"/>
                  <a:gd name="T6" fmla="*/ 185 w 413"/>
                  <a:gd name="T7" fmla="*/ 69 h 139"/>
                  <a:gd name="T8" fmla="*/ 177 w 413"/>
                  <a:gd name="T9" fmla="*/ 68 h 139"/>
                  <a:gd name="T10" fmla="*/ 168 w 413"/>
                  <a:gd name="T11" fmla="*/ 67 h 139"/>
                  <a:gd name="T12" fmla="*/ 159 w 413"/>
                  <a:gd name="T13" fmla="*/ 66 h 139"/>
                  <a:gd name="T14" fmla="*/ 150 w 413"/>
                  <a:gd name="T15" fmla="*/ 65 h 139"/>
                  <a:gd name="T16" fmla="*/ 141 w 413"/>
                  <a:gd name="T17" fmla="*/ 64 h 139"/>
                  <a:gd name="T18" fmla="*/ 133 w 413"/>
                  <a:gd name="T19" fmla="*/ 63 h 139"/>
                  <a:gd name="T20" fmla="*/ 128 w 413"/>
                  <a:gd name="T21" fmla="*/ 62 h 139"/>
                  <a:gd name="T22" fmla="*/ 123 w 413"/>
                  <a:gd name="T23" fmla="*/ 60 h 139"/>
                  <a:gd name="T24" fmla="*/ 118 w 413"/>
                  <a:gd name="T25" fmla="*/ 59 h 139"/>
                  <a:gd name="T26" fmla="*/ 113 w 413"/>
                  <a:gd name="T27" fmla="*/ 58 h 139"/>
                  <a:gd name="T28" fmla="*/ 108 w 413"/>
                  <a:gd name="T29" fmla="*/ 58 h 139"/>
                  <a:gd name="T30" fmla="*/ 102 w 413"/>
                  <a:gd name="T31" fmla="*/ 57 h 139"/>
                  <a:gd name="T32" fmla="*/ 97 w 413"/>
                  <a:gd name="T33" fmla="*/ 56 h 139"/>
                  <a:gd name="T34" fmla="*/ 91 w 413"/>
                  <a:gd name="T35" fmla="*/ 55 h 139"/>
                  <a:gd name="T36" fmla="*/ 86 w 413"/>
                  <a:gd name="T37" fmla="*/ 53 h 139"/>
                  <a:gd name="T38" fmla="*/ 79 w 413"/>
                  <a:gd name="T39" fmla="*/ 51 h 139"/>
                  <a:gd name="T40" fmla="*/ 73 w 413"/>
                  <a:gd name="T41" fmla="*/ 50 h 139"/>
                  <a:gd name="T42" fmla="*/ 68 w 413"/>
                  <a:gd name="T43" fmla="*/ 48 h 139"/>
                  <a:gd name="T44" fmla="*/ 61 w 413"/>
                  <a:gd name="T45" fmla="*/ 46 h 139"/>
                  <a:gd name="T46" fmla="*/ 55 w 413"/>
                  <a:gd name="T47" fmla="*/ 44 h 139"/>
                  <a:gd name="T48" fmla="*/ 49 w 413"/>
                  <a:gd name="T49" fmla="*/ 42 h 139"/>
                  <a:gd name="T50" fmla="*/ 43 w 413"/>
                  <a:gd name="T51" fmla="*/ 40 h 139"/>
                  <a:gd name="T52" fmla="*/ 36 w 413"/>
                  <a:gd name="T53" fmla="*/ 39 h 139"/>
                  <a:gd name="T54" fmla="*/ 32 w 413"/>
                  <a:gd name="T55" fmla="*/ 37 h 139"/>
                  <a:gd name="T56" fmla="*/ 26 w 413"/>
                  <a:gd name="T57" fmla="*/ 35 h 139"/>
                  <a:gd name="T58" fmla="*/ 20 w 413"/>
                  <a:gd name="T59" fmla="*/ 33 h 139"/>
                  <a:gd name="T60" fmla="*/ 14 w 413"/>
                  <a:gd name="T61" fmla="*/ 30 h 139"/>
                  <a:gd name="T62" fmla="*/ 8 w 413"/>
                  <a:gd name="T63" fmla="*/ 27 h 139"/>
                  <a:gd name="T64" fmla="*/ 4 w 413"/>
                  <a:gd name="T65" fmla="*/ 25 h 139"/>
                  <a:gd name="T66" fmla="*/ 1 w 413"/>
                  <a:gd name="T67" fmla="*/ 21 h 139"/>
                  <a:gd name="T68" fmla="*/ 0 w 413"/>
                  <a:gd name="T69" fmla="*/ 16 h 139"/>
                  <a:gd name="T70" fmla="*/ 5 w 413"/>
                  <a:gd name="T71" fmla="*/ 9 h 139"/>
                  <a:gd name="T72" fmla="*/ 8 w 413"/>
                  <a:gd name="T73" fmla="*/ 2 h 139"/>
                  <a:gd name="T74" fmla="*/ 10 w 413"/>
                  <a:gd name="T75" fmla="*/ 0 h 139"/>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413"/>
                  <a:gd name="T115" fmla="*/ 0 h 139"/>
                  <a:gd name="T116" fmla="*/ 413 w 413"/>
                  <a:gd name="T117" fmla="*/ 139 h 139"/>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413" h="139">
                    <a:moveTo>
                      <a:pt x="19" y="0"/>
                    </a:moveTo>
                    <a:lnTo>
                      <a:pt x="411" y="128"/>
                    </a:lnTo>
                    <a:lnTo>
                      <a:pt x="413" y="139"/>
                    </a:lnTo>
                    <a:lnTo>
                      <a:pt x="403" y="137"/>
                    </a:lnTo>
                    <a:lnTo>
                      <a:pt x="395" y="137"/>
                    </a:lnTo>
                    <a:lnTo>
                      <a:pt x="388" y="137"/>
                    </a:lnTo>
                    <a:lnTo>
                      <a:pt x="378" y="137"/>
                    </a:lnTo>
                    <a:lnTo>
                      <a:pt x="369" y="137"/>
                    </a:lnTo>
                    <a:lnTo>
                      <a:pt x="361" y="137"/>
                    </a:lnTo>
                    <a:lnTo>
                      <a:pt x="354" y="135"/>
                    </a:lnTo>
                    <a:lnTo>
                      <a:pt x="344" y="135"/>
                    </a:lnTo>
                    <a:lnTo>
                      <a:pt x="335" y="134"/>
                    </a:lnTo>
                    <a:lnTo>
                      <a:pt x="327" y="134"/>
                    </a:lnTo>
                    <a:lnTo>
                      <a:pt x="317" y="132"/>
                    </a:lnTo>
                    <a:lnTo>
                      <a:pt x="310" y="132"/>
                    </a:lnTo>
                    <a:lnTo>
                      <a:pt x="300" y="130"/>
                    </a:lnTo>
                    <a:lnTo>
                      <a:pt x="291" y="130"/>
                    </a:lnTo>
                    <a:lnTo>
                      <a:pt x="281" y="128"/>
                    </a:lnTo>
                    <a:lnTo>
                      <a:pt x="272" y="128"/>
                    </a:lnTo>
                    <a:lnTo>
                      <a:pt x="266" y="126"/>
                    </a:lnTo>
                    <a:lnTo>
                      <a:pt x="260" y="124"/>
                    </a:lnTo>
                    <a:lnTo>
                      <a:pt x="255" y="124"/>
                    </a:lnTo>
                    <a:lnTo>
                      <a:pt x="251" y="122"/>
                    </a:lnTo>
                    <a:lnTo>
                      <a:pt x="245" y="120"/>
                    </a:lnTo>
                    <a:lnTo>
                      <a:pt x="241" y="120"/>
                    </a:lnTo>
                    <a:lnTo>
                      <a:pt x="236" y="118"/>
                    </a:lnTo>
                    <a:lnTo>
                      <a:pt x="230" y="118"/>
                    </a:lnTo>
                    <a:lnTo>
                      <a:pt x="226" y="116"/>
                    </a:lnTo>
                    <a:lnTo>
                      <a:pt x="220" y="116"/>
                    </a:lnTo>
                    <a:lnTo>
                      <a:pt x="215" y="115"/>
                    </a:lnTo>
                    <a:lnTo>
                      <a:pt x="209" y="115"/>
                    </a:lnTo>
                    <a:lnTo>
                      <a:pt x="203" y="113"/>
                    </a:lnTo>
                    <a:lnTo>
                      <a:pt x="200" y="111"/>
                    </a:lnTo>
                    <a:lnTo>
                      <a:pt x="194" y="111"/>
                    </a:lnTo>
                    <a:lnTo>
                      <a:pt x="188" y="109"/>
                    </a:lnTo>
                    <a:lnTo>
                      <a:pt x="182" y="109"/>
                    </a:lnTo>
                    <a:lnTo>
                      <a:pt x="177" y="107"/>
                    </a:lnTo>
                    <a:lnTo>
                      <a:pt x="171" y="105"/>
                    </a:lnTo>
                    <a:lnTo>
                      <a:pt x="165" y="103"/>
                    </a:lnTo>
                    <a:lnTo>
                      <a:pt x="158" y="101"/>
                    </a:lnTo>
                    <a:lnTo>
                      <a:pt x="152" y="101"/>
                    </a:lnTo>
                    <a:lnTo>
                      <a:pt x="146" y="99"/>
                    </a:lnTo>
                    <a:lnTo>
                      <a:pt x="143" y="97"/>
                    </a:lnTo>
                    <a:lnTo>
                      <a:pt x="135" y="96"/>
                    </a:lnTo>
                    <a:lnTo>
                      <a:pt x="129" y="94"/>
                    </a:lnTo>
                    <a:lnTo>
                      <a:pt x="122" y="92"/>
                    </a:lnTo>
                    <a:lnTo>
                      <a:pt x="118" y="90"/>
                    </a:lnTo>
                    <a:lnTo>
                      <a:pt x="110" y="88"/>
                    </a:lnTo>
                    <a:lnTo>
                      <a:pt x="105" y="86"/>
                    </a:lnTo>
                    <a:lnTo>
                      <a:pt x="97" y="84"/>
                    </a:lnTo>
                    <a:lnTo>
                      <a:pt x="91" y="82"/>
                    </a:lnTo>
                    <a:lnTo>
                      <a:pt x="85" y="80"/>
                    </a:lnTo>
                    <a:lnTo>
                      <a:pt x="78" y="78"/>
                    </a:lnTo>
                    <a:lnTo>
                      <a:pt x="72" y="77"/>
                    </a:lnTo>
                    <a:lnTo>
                      <a:pt x="66" y="75"/>
                    </a:lnTo>
                    <a:lnTo>
                      <a:pt x="63" y="73"/>
                    </a:lnTo>
                    <a:lnTo>
                      <a:pt x="57" y="71"/>
                    </a:lnTo>
                    <a:lnTo>
                      <a:pt x="51" y="69"/>
                    </a:lnTo>
                    <a:lnTo>
                      <a:pt x="47" y="69"/>
                    </a:lnTo>
                    <a:lnTo>
                      <a:pt x="40" y="65"/>
                    </a:lnTo>
                    <a:lnTo>
                      <a:pt x="32" y="61"/>
                    </a:lnTo>
                    <a:lnTo>
                      <a:pt x="27" y="59"/>
                    </a:lnTo>
                    <a:lnTo>
                      <a:pt x="21" y="56"/>
                    </a:lnTo>
                    <a:lnTo>
                      <a:pt x="15" y="54"/>
                    </a:lnTo>
                    <a:lnTo>
                      <a:pt x="11" y="52"/>
                    </a:lnTo>
                    <a:lnTo>
                      <a:pt x="8" y="50"/>
                    </a:lnTo>
                    <a:lnTo>
                      <a:pt x="6" y="48"/>
                    </a:lnTo>
                    <a:lnTo>
                      <a:pt x="2" y="42"/>
                    </a:lnTo>
                    <a:lnTo>
                      <a:pt x="0" y="38"/>
                    </a:lnTo>
                    <a:lnTo>
                      <a:pt x="0" y="31"/>
                    </a:lnTo>
                    <a:lnTo>
                      <a:pt x="8" y="23"/>
                    </a:lnTo>
                    <a:lnTo>
                      <a:pt x="9" y="18"/>
                    </a:lnTo>
                    <a:lnTo>
                      <a:pt x="13" y="12"/>
                    </a:lnTo>
                    <a:lnTo>
                      <a:pt x="15" y="4"/>
                    </a:lnTo>
                    <a:lnTo>
                      <a:pt x="19" y="0"/>
                    </a:lnTo>
                    <a:close/>
                  </a:path>
                </a:pathLst>
              </a:custGeom>
              <a:solidFill>
                <a:srgbClr val="000000"/>
              </a:solidFill>
              <a:ln w="9525">
                <a:noFill/>
                <a:round/>
              </a:ln>
            </p:spPr>
            <p:txBody>
              <a:bodyPr/>
              <a:lstStyle/>
              <a:p>
                <a:endParaRPr lang="en-US"/>
              </a:p>
            </p:txBody>
          </p:sp>
          <p:sp>
            <p:nvSpPr>
              <p:cNvPr id="1048950" name="Freeform 247"/>
              <p:cNvSpPr/>
              <p:nvPr/>
            </p:nvSpPr>
            <p:spPr bwMode="auto">
              <a:xfrm>
                <a:off x="2432" y="2445"/>
                <a:ext cx="238" cy="353"/>
              </a:xfrm>
              <a:custGeom>
                <a:avLst/>
                <a:gdLst>
                  <a:gd name="T0" fmla="*/ 181 w 477"/>
                  <a:gd name="T1" fmla="*/ 70 h 705"/>
                  <a:gd name="T2" fmla="*/ 195 w 477"/>
                  <a:gd name="T3" fmla="*/ 86 h 705"/>
                  <a:gd name="T4" fmla="*/ 205 w 477"/>
                  <a:gd name="T5" fmla="*/ 100 h 705"/>
                  <a:gd name="T6" fmla="*/ 216 w 477"/>
                  <a:gd name="T7" fmla="*/ 116 h 705"/>
                  <a:gd name="T8" fmla="*/ 222 w 477"/>
                  <a:gd name="T9" fmla="*/ 130 h 705"/>
                  <a:gd name="T10" fmla="*/ 228 w 477"/>
                  <a:gd name="T11" fmla="*/ 145 h 705"/>
                  <a:gd name="T12" fmla="*/ 232 w 477"/>
                  <a:gd name="T13" fmla="*/ 160 h 705"/>
                  <a:gd name="T14" fmla="*/ 236 w 477"/>
                  <a:gd name="T15" fmla="*/ 174 h 705"/>
                  <a:gd name="T16" fmla="*/ 237 w 477"/>
                  <a:gd name="T17" fmla="*/ 189 h 705"/>
                  <a:gd name="T18" fmla="*/ 238 w 477"/>
                  <a:gd name="T19" fmla="*/ 204 h 705"/>
                  <a:gd name="T20" fmla="*/ 238 w 477"/>
                  <a:gd name="T21" fmla="*/ 219 h 705"/>
                  <a:gd name="T22" fmla="*/ 238 w 477"/>
                  <a:gd name="T23" fmla="*/ 234 h 705"/>
                  <a:gd name="T24" fmla="*/ 237 w 477"/>
                  <a:gd name="T25" fmla="*/ 249 h 705"/>
                  <a:gd name="T26" fmla="*/ 237 w 477"/>
                  <a:gd name="T27" fmla="*/ 264 h 705"/>
                  <a:gd name="T28" fmla="*/ 237 w 477"/>
                  <a:gd name="T29" fmla="*/ 281 h 705"/>
                  <a:gd name="T30" fmla="*/ 237 w 477"/>
                  <a:gd name="T31" fmla="*/ 297 h 705"/>
                  <a:gd name="T32" fmla="*/ 216 w 477"/>
                  <a:gd name="T33" fmla="*/ 346 h 705"/>
                  <a:gd name="T34" fmla="*/ 217 w 477"/>
                  <a:gd name="T35" fmla="*/ 337 h 705"/>
                  <a:gd name="T36" fmla="*/ 219 w 477"/>
                  <a:gd name="T37" fmla="*/ 324 h 705"/>
                  <a:gd name="T38" fmla="*/ 223 w 477"/>
                  <a:gd name="T39" fmla="*/ 308 h 705"/>
                  <a:gd name="T40" fmla="*/ 224 w 477"/>
                  <a:gd name="T41" fmla="*/ 298 h 705"/>
                  <a:gd name="T42" fmla="*/ 225 w 477"/>
                  <a:gd name="T43" fmla="*/ 286 h 705"/>
                  <a:gd name="T44" fmla="*/ 225 w 477"/>
                  <a:gd name="T45" fmla="*/ 275 h 705"/>
                  <a:gd name="T46" fmla="*/ 226 w 477"/>
                  <a:gd name="T47" fmla="*/ 262 h 705"/>
                  <a:gd name="T48" fmla="*/ 225 w 477"/>
                  <a:gd name="T49" fmla="*/ 247 h 705"/>
                  <a:gd name="T50" fmla="*/ 224 w 477"/>
                  <a:gd name="T51" fmla="*/ 231 h 705"/>
                  <a:gd name="T52" fmla="*/ 222 w 477"/>
                  <a:gd name="T53" fmla="*/ 214 h 705"/>
                  <a:gd name="T54" fmla="*/ 220 w 477"/>
                  <a:gd name="T55" fmla="*/ 196 h 705"/>
                  <a:gd name="T56" fmla="*/ 217 w 477"/>
                  <a:gd name="T57" fmla="*/ 177 h 705"/>
                  <a:gd name="T58" fmla="*/ 211 w 477"/>
                  <a:gd name="T59" fmla="*/ 160 h 705"/>
                  <a:gd name="T60" fmla="*/ 205 w 477"/>
                  <a:gd name="T61" fmla="*/ 143 h 705"/>
                  <a:gd name="T62" fmla="*/ 197 w 477"/>
                  <a:gd name="T63" fmla="*/ 128 h 705"/>
                  <a:gd name="T64" fmla="*/ 187 w 477"/>
                  <a:gd name="T65" fmla="*/ 114 h 705"/>
                  <a:gd name="T66" fmla="*/ 177 w 477"/>
                  <a:gd name="T67" fmla="*/ 101 h 705"/>
                  <a:gd name="T68" fmla="*/ 164 w 477"/>
                  <a:gd name="T69" fmla="*/ 88 h 705"/>
                  <a:gd name="T70" fmla="*/ 152 w 477"/>
                  <a:gd name="T71" fmla="*/ 77 h 705"/>
                  <a:gd name="T72" fmla="*/ 137 w 477"/>
                  <a:gd name="T73" fmla="*/ 67 h 705"/>
                  <a:gd name="T74" fmla="*/ 121 w 477"/>
                  <a:gd name="T75" fmla="*/ 56 h 705"/>
                  <a:gd name="T76" fmla="*/ 103 w 477"/>
                  <a:gd name="T77" fmla="*/ 46 h 705"/>
                  <a:gd name="T78" fmla="*/ 85 w 477"/>
                  <a:gd name="T79" fmla="*/ 37 h 705"/>
                  <a:gd name="T80" fmla="*/ 66 w 477"/>
                  <a:gd name="T81" fmla="*/ 29 h 705"/>
                  <a:gd name="T82" fmla="*/ 44 w 477"/>
                  <a:gd name="T83" fmla="*/ 20 h 705"/>
                  <a:gd name="T84" fmla="*/ 23 w 477"/>
                  <a:gd name="T85" fmla="*/ 12 h 705"/>
                  <a:gd name="T86" fmla="*/ 0 w 477"/>
                  <a:gd name="T87" fmla="*/ 5 h 705"/>
                  <a:gd name="T88" fmla="*/ 7 w 477"/>
                  <a:gd name="T89" fmla="*/ 3 h 705"/>
                  <a:gd name="T90" fmla="*/ 21 w 477"/>
                  <a:gd name="T91" fmla="*/ 0 h 705"/>
                  <a:gd name="T92" fmla="*/ 34 w 477"/>
                  <a:gd name="T93" fmla="*/ 0 h 705"/>
                  <a:gd name="T94" fmla="*/ 44 w 477"/>
                  <a:gd name="T95" fmla="*/ 0 h 705"/>
                  <a:gd name="T96" fmla="*/ 57 w 477"/>
                  <a:gd name="T97" fmla="*/ 2 h 705"/>
                  <a:gd name="T98" fmla="*/ 69 w 477"/>
                  <a:gd name="T99" fmla="*/ 4 h 705"/>
                  <a:gd name="T100" fmla="*/ 83 w 477"/>
                  <a:gd name="T101" fmla="*/ 7 h 705"/>
                  <a:gd name="T102" fmla="*/ 98 w 477"/>
                  <a:gd name="T103" fmla="*/ 12 h 705"/>
                  <a:gd name="T104" fmla="*/ 112 w 477"/>
                  <a:gd name="T105" fmla="*/ 19 h 705"/>
                  <a:gd name="T106" fmla="*/ 128 w 477"/>
                  <a:gd name="T107" fmla="*/ 29 h 705"/>
                  <a:gd name="T108" fmla="*/ 144 w 477"/>
                  <a:gd name="T109" fmla="*/ 39 h 705"/>
                  <a:gd name="T110" fmla="*/ 161 w 477"/>
                  <a:gd name="T111" fmla="*/ 52 h 705"/>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w 477"/>
                  <a:gd name="T169" fmla="*/ 0 h 705"/>
                  <a:gd name="T170" fmla="*/ 477 w 477"/>
                  <a:gd name="T171" fmla="*/ 705 h 705"/>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T168" t="T169" r="T170" b="T171"/>
                <a:pathLst>
                  <a:path w="477" h="705">
                    <a:moveTo>
                      <a:pt x="340" y="119"/>
                    </a:moveTo>
                    <a:lnTo>
                      <a:pt x="348" y="125"/>
                    </a:lnTo>
                    <a:lnTo>
                      <a:pt x="356" y="135"/>
                    </a:lnTo>
                    <a:lnTo>
                      <a:pt x="363" y="140"/>
                    </a:lnTo>
                    <a:lnTo>
                      <a:pt x="371" y="148"/>
                    </a:lnTo>
                    <a:lnTo>
                      <a:pt x="376" y="156"/>
                    </a:lnTo>
                    <a:lnTo>
                      <a:pt x="384" y="163"/>
                    </a:lnTo>
                    <a:lnTo>
                      <a:pt x="390" y="171"/>
                    </a:lnTo>
                    <a:lnTo>
                      <a:pt x="395" y="178"/>
                    </a:lnTo>
                    <a:lnTo>
                      <a:pt x="401" y="186"/>
                    </a:lnTo>
                    <a:lnTo>
                      <a:pt x="407" y="194"/>
                    </a:lnTo>
                    <a:lnTo>
                      <a:pt x="411" y="199"/>
                    </a:lnTo>
                    <a:lnTo>
                      <a:pt x="416" y="209"/>
                    </a:lnTo>
                    <a:lnTo>
                      <a:pt x="422" y="216"/>
                    </a:lnTo>
                    <a:lnTo>
                      <a:pt x="426" y="224"/>
                    </a:lnTo>
                    <a:lnTo>
                      <a:pt x="432" y="232"/>
                    </a:lnTo>
                    <a:lnTo>
                      <a:pt x="435" y="239"/>
                    </a:lnTo>
                    <a:lnTo>
                      <a:pt x="439" y="245"/>
                    </a:lnTo>
                    <a:lnTo>
                      <a:pt x="441" y="253"/>
                    </a:lnTo>
                    <a:lnTo>
                      <a:pt x="445" y="260"/>
                    </a:lnTo>
                    <a:lnTo>
                      <a:pt x="449" y="268"/>
                    </a:lnTo>
                    <a:lnTo>
                      <a:pt x="451" y="275"/>
                    </a:lnTo>
                    <a:lnTo>
                      <a:pt x="454" y="283"/>
                    </a:lnTo>
                    <a:lnTo>
                      <a:pt x="456" y="289"/>
                    </a:lnTo>
                    <a:lnTo>
                      <a:pt x="460" y="298"/>
                    </a:lnTo>
                    <a:lnTo>
                      <a:pt x="462" y="304"/>
                    </a:lnTo>
                    <a:lnTo>
                      <a:pt x="462" y="311"/>
                    </a:lnTo>
                    <a:lnTo>
                      <a:pt x="464" y="319"/>
                    </a:lnTo>
                    <a:lnTo>
                      <a:pt x="468" y="327"/>
                    </a:lnTo>
                    <a:lnTo>
                      <a:pt x="468" y="334"/>
                    </a:lnTo>
                    <a:lnTo>
                      <a:pt x="470" y="340"/>
                    </a:lnTo>
                    <a:lnTo>
                      <a:pt x="472" y="348"/>
                    </a:lnTo>
                    <a:lnTo>
                      <a:pt x="473" y="357"/>
                    </a:lnTo>
                    <a:lnTo>
                      <a:pt x="473" y="363"/>
                    </a:lnTo>
                    <a:lnTo>
                      <a:pt x="473" y="370"/>
                    </a:lnTo>
                    <a:lnTo>
                      <a:pt x="475" y="378"/>
                    </a:lnTo>
                    <a:lnTo>
                      <a:pt x="475" y="386"/>
                    </a:lnTo>
                    <a:lnTo>
                      <a:pt x="475" y="391"/>
                    </a:lnTo>
                    <a:lnTo>
                      <a:pt x="477" y="399"/>
                    </a:lnTo>
                    <a:lnTo>
                      <a:pt x="477" y="407"/>
                    </a:lnTo>
                    <a:lnTo>
                      <a:pt x="477" y="414"/>
                    </a:lnTo>
                    <a:lnTo>
                      <a:pt x="477" y="422"/>
                    </a:lnTo>
                    <a:lnTo>
                      <a:pt x="477" y="429"/>
                    </a:lnTo>
                    <a:lnTo>
                      <a:pt x="477" y="437"/>
                    </a:lnTo>
                    <a:lnTo>
                      <a:pt x="477" y="445"/>
                    </a:lnTo>
                    <a:lnTo>
                      <a:pt x="477" y="452"/>
                    </a:lnTo>
                    <a:lnTo>
                      <a:pt x="477" y="460"/>
                    </a:lnTo>
                    <a:lnTo>
                      <a:pt x="477" y="467"/>
                    </a:lnTo>
                    <a:lnTo>
                      <a:pt x="477" y="475"/>
                    </a:lnTo>
                    <a:lnTo>
                      <a:pt x="477" y="483"/>
                    </a:lnTo>
                    <a:lnTo>
                      <a:pt x="477" y="490"/>
                    </a:lnTo>
                    <a:lnTo>
                      <a:pt x="475" y="498"/>
                    </a:lnTo>
                    <a:lnTo>
                      <a:pt x="475" y="505"/>
                    </a:lnTo>
                    <a:lnTo>
                      <a:pt x="475" y="513"/>
                    </a:lnTo>
                    <a:lnTo>
                      <a:pt x="475" y="521"/>
                    </a:lnTo>
                    <a:lnTo>
                      <a:pt x="475" y="528"/>
                    </a:lnTo>
                    <a:lnTo>
                      <a:pt x="475" y="538"/>
                    </a:lnTo>
                    <a:lnTo>
                      <a:pt x="475" y="543"/>
                    </a:lnTo>
                    <a:lnTo>
                      <a:pt x="475" y="553"/>
                    </a:lnTo>
                    <a:lnTo>
                      <a:pt x="475" y="561"/>
                    </a:lnTo>
                    <a:lnTo>
                      <a:pt x="475" y="568"/>
                    </a:lnTo>
                    <a:lnTo>
                      <a:pt x="475" y="578"/>
                    </a:lnTo>
                    <a:lnTo>
                      <a:pt x="475" y="585"/>
                    </a:lnTo>
                    <a:lnTo>
                      <a:pt x="475" y="593"/>
                    </a:lnTo>
                    <a:lnTo>
                      <a:pt x="477" y="602"/>
                    </a:lnTo>
                    <a:lnTo>
                      <a:pt x="430" y="705"/>
                    </a:lnTo>
                    <a:lnTo>
                      <a:pt x="430" y="697"/>
                    </a:lnTo>
                    <a:lnTo>
                      <a:pt x="432" y="692"/>
                    </a:lnTo>
                    <a:lnTo>
                      <a:pt x="432" y="686"/>
                    </a:lnTo>
                    <a:lnTo>
                      <a:pt x="432" y="682"/>
                    </a:lnTo>
                    <a:lnTo>
                      <a:pt x="434" y="678"/>
                    </a:lnTo>
                    <a:lnTo>
                      <a:pt x="435" y="673"/>
                    </a:lnTo>
                    <a:lnTo>
                      <a:pt x="435" y="667"/>
                    </a:lnTo>
                    <a:lnTo>
                      <a:pt x="437" y="661"/>
                    </a:lnTo>
                    <a:lnTo>
                      <a:pt x="439" y="654"/>
                    </a:lnTo>
                    <a:lnTo>
                      <a:pt x="439" y="648"/>
                    </a:lnTo>
                    <a:lnTo>
                      <a:pt x="441" y="640"/>
                    </a:lnTo>
                    <a:lnTo>
                      <a:pt x="443" y="631"/>
                    </a:lnTo>
                    <a:lnTo>
                      <a:pt x="445" y="623"/>
                    </a:lnTo>
                    <a:lnTo>
                      <a:pt x="447" y="616"/>
                    </a:lnTo>
                    <a:lnTo>
                      <a:pt x="447" y="610"/>
                    </a:lnTo>
                    <a:lnTo>
                      <a:pt x="447" y="604"/>
                    </a:lnTo>
                    <a:lnTo>
                      <a:pt x="447" y="599"/>
                    </a:lnTo>
                    <a:lnTo>
                      <a:pt x="449" y="595"/>
                    </a:lnTo>
                    <a:lnTo>
                      <a:pt x="449" y="589"/>
                    </a:lnTo>
                    <a:lnTo>
                      <a:pt x="449" y="583"/>
                    </a:lnTo>
                    <a:lnTo>
                      <a:pt x="449" y="578"/>
                    </a:lnTo>
                    <a:lnTo>
                      <a:pt x="451" y="572"/>
                    </a:lnTo>
                    <a:lnTo>
                      <a:pt x="451" y="566"/>
                    </a:lnTo>
                    <a:lnTo>
                      <a:pt x="451" y="561"/>
                    </a:lnTo>
                    <a:lnTo>
                      <a:pt x="451" y="555"/>
                    </a:lnTo>
                    <a:lnTo>
                      <a:pt x="451" y="549"/>
                    </a:lnTo>
                    <a:lnTo>
                      <a:pt x="451" y="542"/>
                    </a:lnTo>
                    <a:lnTo>
                      <a:pt x="451" y="536"/>
                    </a:lnTo>
                    <a:lnTo>
                      <a:pt x="451" y="530"/>
                    </a:lnTo>
                    <a:lnTo>
                      <a:pt x="453" y="523"/>
                    </a:lnTo>
                    <a:lnTo>
                      <a:pt x="451" y="515"/>
                    </a:lnTo>
                    <a:lnTo>
                      <a:pt x="451" y="509"/>
                    </a:lnTo>
                    <a:lnTo>
                      <a:pt x="451" y="502"/>
                    </a:lnTo>
                    <a:lnTo>
                      <a:pt x="451" y="494"/>
                    </a:lnTo>
                    <a:lnTo>
                      <a:pt x="449" y="485"/>
                    </a:lnTo>
                    <a:lnTo>
                      <a:pt x="449" y="479"/>
                    </a:lnTo>
                    <a:lnTo>
                      <a:pt x="449" y="469"/>
                    </a:lnTo>
                    <a:lnTo>
                      <a:pt x="449" y="462"/>
                    </a:lnTo>
                    <a:lnTo>
                      <a:pt x="447" y="454"/>
                    </a:lnTo>
                    <a:lnTo>
                      <a:pt x="447" y="445"/>
                    </a:lnTo>
                    <a:lnTo>
                      <a:pt x="445" y="435"/>
                    </a:lnTo>
                    <a:lnTo>
                      <a:pt x="445" y="427"/>
                    </a:lnTo>
                    <a:lnTo>
                      <a:pt x="443" y="418"/>
                    </a:lnTo>
                    <a:lnTo>
                      <a:pt x="443" y="408"/>
                    </a:lnTo>
                    <a:lnTo>
                      <a:pt x="441" y="399"/>
                    </a:lnTo>
                    <a:lnTo>
                      <a:pt x="441" y="391"/>
                    </a:lnTo>
                    <a:lnTo>
                      <a:pt x="439" y="382"/>
                    </a:lnTo>
                    <a:lnTo>
                      <a:pt x="435" y="372"/>
                    </a:lnTo>
                    <a:lnTo>
                      <a:pt x="435" y="363"/>
                    </a:lnTo>
                    <a:lnTo>
                      <a:pt x="434" y="353"/>
                    </a:lnTo>
                    <a:lnTo>
                      <a:pt x="430" y="344"/>
                    </a:lnTo>
                    <a:lnTo>
                      <a:pt x="428" y="336"/>
                    </a:lnTo>
                    <a:lnTo>
                      <a:pt x="424" y="327"/>
                    </a:lnTo>
                    <a:lnTo>
                      <a:pt x="422" y="319"/>
                    </a:lnTo>
                    <a:lnTo>
                      <a:pt x="418" y="311"/>
                    </a:lnTo>
                    <a:lnTo>
                      <a:pt x="416" y="302"/>
                    </a:lnTo>
                    <a:lnTo>
                      <a:pt x="413" y="294"/>
                    </a:lnTo>
                    <a:lnTo>
                      <a:pt x="411" y="285"/>
                    </a:lnTo>
                    <a:lnTo>
                      <a:pt x="405" y="277"/>
                    </a:lnTo>
                    <a:lnTo>
                      <a:pt x="401" y="270"/>
                    </a:lnTo>
                    <a:lnTo>
                      <a:pt x="397" y="262"/>
                    </a:lnTo>
                    <a:lnTo>
                      <a:pt x="394" y="256"/>
                    </a:lnTo>
                    <a:lnTo>
                      <a:pt x="388" y="249"/>
                    </a:lnTo>
                    <a:lnTo>
                      <a:pt x="384" y="241"/>
                    </a:lnTo>
                    <a:lnTo>
                      <a:pt x="380" y="234"/>
                    </a:lnTo>
                    <a:lnTo>
                      <a:pt x="375" y="228"/>
                    </a:lnTo>
                    <a:lnTo>
                      <a:pt x="369" y="220"/>
                    </a:lnTo>
                    <a:lnTo>
                      <a:pt x="363" y="214"/>
                    </a:lnTo>
                    <a:lnTo>
                      <a:pt x="357" y="207"/>
                    </a:lnTo>
                    <a:lnTo>
                      <a:pt x="354" y="201"/>
                    </a:lnTo>
                    <a:lnTo>
                      <a:pt x="348" y="195"/>
                    </a:lnTo>
                    <a:lnTo>
                      <a:pt x="342" y="188"/>
                    </a:lnTo>
                    <a:lnTo>
                      <a:pt x="335" y="182"/>
                    </a:lnTo>
                    <a:lnTo>
                      <a:pt x="329" y="176"/>
                    </a:lnTo>
                    <a:lnTo>
                      <a:pt x="323" y="171"/>
                    </a:lnTo>
                    <a:lnTo>
                      <a:pt x="318" y="165"/>
                    </a:lnTo>
                    <a:lnTo>
                      <a:pt x="310" y="159"/>
                    </a:lnTo>
                    <a:lnTo>
                      <a:pt x="304" y="154"/>
                    </a:lnTo>
                    <a:lnTo>
                      <a:pt x="297" y="148"/>
                    </a:lnTo>
                    <a:lnTo>
                      <a:pt x="289" y="144"/>
                    </a:lnTo>
                    <a:lnTo>
                      <a:pt x="281" y="138"/>
                    </a:lnTo>
                    <a:lnTo>
                      <a:pt x="274" y="133"/>
                    </a:lnTo>
                    <a:lnTo>
                      <a:pt x="266" y="127"/>
                    </a:lnTo>
                    <a:lnTo>
                      <a:pt x="259" y="121"/>
                    </a:lnTo>
                    <a:lnTo>
                      <a:pt x="249" y="118"/>
                    </a:lnTo>
                    <a:lnTo>
                      <a:pt x="243" y="112"/>
                    </a:lnTo>
                    <a:lnTo>
                      <a:pt x="234" y="106"/>
                    </a:lnTo>
                    <a:lnTo>
                      <a:pt x="224" y="100"/>
                    </a:lnTo>
                    <a:lnTo>
                      <a:pt x="217" y="97"/>
                    </a:lnTo>
                    <a:lnTo>
                      <a:pt x="207" y="91"/>
                    </a:lnTo>
                    <a:lnTo>
                      <a:pt x="198" y="87"/>
                    </a:lnTo>
                    <a:lnTo>
                      <a:pt x="190" y="83"/>
                    </a:lnTo>
                    <a:lnTo>
                      <a:pt x="181" y="78"/>
                    </a:lnTo>
                    <a:lnTo>
                      <a:pt x="171" y="74"/>
                    </a:lnTo>
                    <a:lnTo>
                      <a:pt x="162" y="68"/>
                    </a:lnTo>
                    <a:lnTo>
                      <a:pt x="152" y="64"/>
                    </a:lnTo>
                    <a:lnTo>
                      <a:pt x="141" y="60"/>
                    </a:lnTo>
                    <a:lnTo>
                      <a:pt x="133" y="57"/>
                    </a:lnTo>
                    <a:lnTo>
                      <a:pt x="122" y="53"/>
                    </a:lnTo>
                    <a:lnTo>
                      <a:pt x="112" y="49"/>
                    </a:lnTo>
                    <a:lnTo>
                      <a:pt x="101" y="43"/>
                    </a:lnTo>
                    <a:lnTo>
                      <a:pt x="89" y="40"/>
                    </a:lnTo>
                    <a:lnTo>
                      <a:pt x="80" y="36"/>
                    </a:lnTo>
                    <a:lnTo>
                      <a:pt x="68" y="32"/>
                    </a:lnTo>
                    <a:lnTo>
                      <a:pt x="57" y="28"/>
                    </a:lnTo>
                    <a:lnTo>
                      <a:pt x="46" y="24"/>
                    </a:lnTo>
                    <a:lnTo>
                      <a:pt x="34" y="19"/>
                    </a:lnTo>
                    <a:lnTo>
                      <a:pt x="23" y="17"/>
                    </a:lnTo>
                    <a:lnTo>
                      <a:pt x="11" y="11"/>
                    </a:lnTo>
                    <a:lnTo>
                      <a:pt x="0" y="9"/>
                    </a:lnTo>
                    <a:lnTo>
                      <a:pt x="2" y="9"/>
                    </a:lnTo>
                    <a:lnTo>
                      <a:pt x="6" y="5"/>
                    </a:lnTo>
                    <a:lnTo>
                      <a:pt x="10" y="5"/>
                    </a:lnTo>
                    <a:lnTo>
                      <a:pt x="15" y="5"/>
                    </a:lnTo>
                    <a:lnTo>
                      <a:pt x="21" y="3"/>
                    </a:lnTo>
                    <a:lnTo>
                      <a:pt x="29" y="3"/>
                    </a:lnTo>
                    <a:lnTo>
                      <a:pt x="32" y="2"/>
                    </a:lnTo>
                    <a:lnTo>
                      <a:pt x="42" y="0"/>
                    </a:lnTo>
                    <a:lnTo>
                      <a:pt x="49" y="0"/>
                    </a:lnTo>
                    <a:lnTo>
                      <a:pt x="59" y="0"/>
                    </a:lnTo>
                    <a:lnTo>
                      <a:pt x="63" y="0"/>
                    </a:lnTo>
                    <a:lnTo>
                      <a:pt x="68" y="0"/>
                    </a:lnTo>
                    <a:lnTo>
                      <a:pt x="74" y="0"/>
                    </a:lnTo>
                    <a:lnTo>
                      <a:pt x="80" y="0"/>
                    </a:lnTo>
                    <a:lnTo>
                      <a:pt x="86" y="0"/>
                    </a:lnTo>
                    <a:lnTo>
                      <a:pt x="89" y="0"/>
                    </a:lnTo>
                    <a:lnTo>
                      <a:pt x="95" y="2"/>
                    </a:lnTo>
                    <a:lnTo>
                      <a:pt x="103" y="2"/>
                    </a:lnTo>
                    <a:lnTo>
                      <a:pt x="108" y="2"/>
                    </a:lnTo>
                    <a:lnTo>
                      <a:pt x="114" y="3"/>
                    </a:lnTo>
                    <a:lnTo>
                      <a:pt x="120" y="3"/>
                    </a:lnTo>
                    <a:lnTo>
                      <a:pt x="125" y="5"/>
                    </a:lnTo>
                    <a:lnTo>
                      <a:pt x="131" y="5"/>
                    </a:lnTo>
                    <a:lnTo>
                      <a:pt x="139" y="7"/>
                    </a:lnTo>
                    <a:lnTo>
                      <a:pt x="145" y="9"/>
                    </a:lnTo>
                    <a:lnTo>
                      <a:pt x="152" y="11"/>
                    </a:lnTo>
                    <a:lnTo>
                      <a:pt x="160" y="11"/>
                    </a:lnTo>
                    <a:lnTo>
                      <a:pt x="167" y="13"/>
                    </a:lnTo>
                    <a:lnTo>
                      <a:pt x="173" y="17"/>
                    </a:lnTo>
                    <a:lnTo>
                      <a:pt x="181" y="19"/>
                    </a:lnTo>
                    <a:lnTo>
                      <a:pt x="188" y="22"/>
                    </a:lnTo>
                    <a:lnTo>
                      <a:pt x="196" y="24"/>
                    </a:lnTo>
                    <a:lnTo>
                      <a:pt x="202" y="28"/>
                    </a:lnTo>
                    <a:lnTo>
                      <a:pt x="211" y="32"/>
                    </a:lnTo>
                    <a:lnTo>
                      <a:pt x="219" y="36"/>
                    </a:lnTo>
                    <a:lnTo>
                      <a:pt x="224" y="38"/>
                    </a:lnTo>
                    <a:lnTo>
                      <a:pt x="232" y="41"/>
                    </a:lnTo>
                    <a:lnTo>
                      <a:pt x="241" y="47"/>
                    </a:lnTo>
                    <a:lnTo>
                      <a:pt x="247" y="51"/>
                    </a:lnTo>
                    <a:lnTo>
                      <a:pt x="257" y="57"/>
                    </a:lnTo>
                    <a:lnTo>
                      <a:pt x="264" y="62"/>
                    </a:lnTo>
                    <a:lnTo>
                      <a:pt x="274" y="66"/>
                    </a:lnTo>
                    <a:lnTo>
                      <a:pt x="281" y="72"/>
                    </a:lnTo>
                    <a:lnTo>
                      <a:pt x="289" y="78"/>
                    </a:lnTo>
                    <a:lnTo>
                      <a:pt x="299" y="83"/>
                    </a:lnTo>
                    <a:lnTo>
                      <a:pt x="306" y="91"/>
                    </a:lnTo>
                    <a:lnTo>
                      <a:pt x="314" y="97"/>
                    </a:lnTo>
                    <a:lnTo>
                      <a:pt x="323" y="104"/>
                    </a:lnTo>
                    <a:lnTo>
                      <a:pt x="331" y="112"/>
                    </a:lnTo>
                    <a:lnTo>
                      <a:pt x="340" y="119"/>
                    </a:lnTo>
                    <a:close/>
                  </a:path>
                </a:pathLst>
              </a:custGeom>
              <a:solidFill>
                <a:srgbClr val="000000"/>
              </a:solidFill>
              <a:ln w="9525">
                <a:noFill/>
                <a:round/>
              </a:ln>
            </p:spPr>
            <p:txBody>
              <a:bodyPr/>
              <a:lstStyle/>
              <a:p>
                <a:endParaRPr lang="en-US"/>
              </a:p>
            </p:txBody>
          </p:sp>
          <p:sp>
            <p:nvSpPr>
              <p:cNvPr id="1048951" name="Freeform 248"/>
              <p:cNvSpPr/>
              <p:nvPr/>
            </p:nvSpPr>
            <p:spPr bwMode="auto">
              <a:xfrm>
                <a:off x="2133" y="2011"/>
                <a:ext cx="70" cy="17"/>
              </a:xfrm>
              <a:custGeom>
                <a:avLst/>
                <a:gdLst>
                  <a:gd name="T0" fmla="*/ 22 w 141"/>
                  <a:gd name="T1" fmla="*/ 3 h 34"/>
                  <a:gd name="T2" fmla="*/ 25 w 141"/>
                  <a:gd name="T3" fmla="*/ 2 h 34"/>
                  <a:gd name="T4" fmla="*/ 29 w 141"/>
                  <a:gd name="T5" fmla="*/ 1 h 34"/>
                  <a:gd name="T6" fmla="*/ 32 w 141"/>
                  <a:gd name="T7" fmla="*/ 1 h 34"/>
                  <a:gd name="T8" fmla="*/ 36 w 141"/>
                  <a:gd name="T9" fmla="*/ 1 h 34"/>
                  <a:gd name="T10" fmla="*/ 39 w 141"/>
                  <a:gd name="T11" fmla="*/ 0 h 34"/>
                  <a:gd name="T12" fmla="*/ 42 w 141"/>
                  <a:gd name="T13" fmla="*/ 0 h 34"/>
                  <a:gd name="T14" fmla="*/ 44 w 141"/>
                  <a:gd name="T15" fmla="*/ 0 h 34"/>
                  <a:gd name="T16" fmla="*/ 47 w 141"/>
                  <a:gd name="T17" fmla="*/ 1 h 34"/>
                  <a:gd name="T18" fmla="*/ 50 w 141"/>
                  <a:gd name="T19" fmla="*/ 1 h 34"/>
                  <a:gd name="T20" fmla="*/ 53 w 141"/>
                  <a:gd name="T21" fmla="*/ 1 h 34"/>
                  <a:gd name="T22" fmla="*/ 56 w 141"/>
                  <a:gd name="T23" fmla="*/ 1 h 34"/>
                  <a:gd name="T24" fmla="*/ 59 w 141"/>
                  <a:gd name="T25" fmla="*/ 1 h 34"/>
                  <a:gd name="T26" fmla="*/ 62 w 141"/>
                  <a:gd name="T27" fmla="*/ 2 h 34"/>
                  <a:gd name="T28" fmla="*/ 64 w 141"/>
                  <a:gd name="T29" fmla="*/ 3 h 34"/>
                  <a:gd name="T30" fmla="*/ 67 w 141"/>
                  <a:gd name="T31" fmla="*/ 4 h 34"/>
                  <a:gd name="T32" fmla="*/ 70 w 141"/>
                  <a:gd name="T33" fmla="*/ 6 h 34"/>
                  <a:gd name="T34" fmla="*/ 69 w 141"/>
                  <a:gd name="T35" fmla="*/ 7 h 34"/>
                  <a:gd name="T36" fmla="*/ 67 w 141"/>
                  <a:gd name="T37" fmla="*/ 9 h 34"/>
                  <a:gd name="T38" fmla="*/ 64 w 141"/>
                  <a:gd name="T39" fmla="*/ 10 h 34"/>
                  <a:gd name="T40" fmla="*/ 62 w 141"/>
                  <a:gd name="T41" fmla="*/ 12 h 34"/>
                  <a:gd name="T42" fmla="*/ 60 w 141"/>
                  <a:gd name="T43" fmla="*/ 13 h 34"/>
                  <a:gd name="T44" fmla="*/ 57 w 141"/>
                  <a:gd name="T45" fmla="*/ 14 h 34"/>
                  <a:gd name="T46" fmla="*/ 56 w 141"/>
                  <a:gd name="T47" fmla="*/ 15 h 34"/>
                  <a:gd name="T48" fmla="*/ 55 w 141"/>
                  <a:gd name="T49" fmla="*/ 17 h 34"/>
                  <a:gd name="T50" fmla="*/ 0 w 141"/>
                  <a:gd name="T51" fmla="*/ 17 h 34"/>
                  <a:gd name="T52" fmla="*/ 1 w 141"/>
                  <a:gd name="T53" fmla="*/ 14 h 34"/>
                  <a:gd name="T54" fmla="*/ 4 w 141"/>
                  <a:gd name="T55" fmla="*/ 11 h 34"/>
                  <a:gd name="T56" fmla="*/ 5 w 141"/>
                  <a:gd name="T57" fmla="*/ 9 h 34"/>
                  <a:gd name="T58" fmla="*/ 9 w 141"/>
                  <a:gd name="T59" fmla="*/ 9 h 34"/>
                  <a:gd name="T60" fmla="*/ 12 w 141"/>
                  <a:gd name="T61" fmla="*/ 6 h 34"/>
                  <a:gd name="T62" fmla="*/ 15 w 141"/>
                  <a:gd name="T63" fmla="*/ 5 h 34"/>
                  <a:gd name="T64" fmla="*/ 18 w 141"/>
                  <a:gd name="T65" fmla="*/ 4 h 34"/>
                  <a:gd name="T66" fmla="*/ 22 w 141"/>
                  <a:gd name="T67" fmla="*/ 3 h 34"/>
                  <a:gd name="T68" fmla="*/ 22 w 141"/>
                  <a:gd name="T69" fmla="*/ 3 h 34"/>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141"/>
                  <a:gd name="T106" fmla="*/ 0 h 34"/>
                  <a:gd name="T107" fmla="*/ 141 w 141"/>
                  <a:gd name="T108" fmla="*/ 34 h 34"/>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141" h="34">
                    <a:moveTo>
                      <a:pt x="44" y="7"/>
                    </a:moveTo>
                    <a:lnTo>
                      <a:pt x="51" y="5"/>
                    </a:lnTo>
                    <a:lnTo>
                      <a:pt x="59" y="3"/>
                    </a:lnTo>
                    <a:lnTo>
                      <a:pt x="65" y="1"/>
                    </a:lnTo>
                    <a:lnTo>
                      <a:pt x="72" y="1"/>
                    </a:lnTo>
                    <a:lnTo>
                      <a:pt x="78" y="0"/>
                    </a:lnTo>
                    <a:lnTo>
                      <a:pt x="84" y="0"/>
                    </a:lnTo>
                    <a:lnTo>
                      <a:pt x="89" y="0"/>
                    </a:lnTo>
                    <a:lnTo>
                      <a:pt x="95" y="1"/>
                    </a:lnTo>
                    <a:lnTo>
                      <a:pt x="101" y="1"/>
                    </a:lnTo>
                    <a:lnTo>
                      <a:pt x="106" y="1"/>
                    </a:lnTo>
                    <a:lnTo>
                      <a:pt x="112" y="3"/>
                    </a:lnTo>
                    <a:lnTo>
                      <a:pt x="118" y="3"/>
                    </a:lnTo>
                    <a:lnTo>
                      <a:pt x="124" y="5"/>
                    </a:lnTo>
                    <a:lnTo>
                      <a:pt x="129" y="7"/>
                    </a:lnTo>
                    <a:lnTo>
                      <a:pt x="135" y="9"/>
                    </a:lnTo>
                    <a:lnTo>
                      <a:pt x="141" y="13"/>
                    </a:lnTo>
                    <a:lnTo>
                      <a:pt x="139" y="15"/>
                    </a:lnTo>
                    <a:lnTo>
                      <a:pt x="135" y="19"/>
                    </a:lnTo>
                    <a:lnTo>
                      <a:pt x="129" y="20"/>
                    </a:lnTo>
                    <a:lnTo>
                      <a:pt x="125" y="24"/>
                    </a:lnTo>
                    <a:lnTo>
                      <a:pt x="120" y="26"/>
                    </a:lnTo>
                    <a:lnTo>
                      <a:pt x="114" y="28"/>
                    </a:lnTo>
                    <a:lnTo>
                      <a:pt x="112" y="30"/>
                    </a:lnTo>
                    <a:lnTo>
                      <a:pt x="110" y="34"/>
                    </a:lnTo>
                    <a:lnTo>
                      <a:pt x="0" y="34"/>
                    </a:lnTo>
                    <a:lnTo>
                      <a:pt x="2" y="28"/>
                    </a:lnTo>
                    <a:lnTo>
                      <a:pt x="8" y="22"/>
                    </a:lnTo>
                    <a:lnTo>
                      <a:pt x="11" y="19"/>
                    </a:lnTo>
                    <a:lnTo>
                      <a:pt x="19" y="17"/>
                    </a:lnTo>
                    <a:lnTo>
                      <a:pt x="25" y="13"/>
                    </a:lnTo>
                    <a:lnTo>
                      <a:pt x="30" y="11"/>
                    </a:lnTo>
                    <a:lnTo>
                      <a:pt x="36" y="9"/>
                    </a:lnTo>
                    <a:lnTo>
                      <a:pt x="44" y="7"/>
                    </a:lnTo>
                    <a:close/>
                  </a:path>
                </a:pathLst>
              </a:custGeom>
              <a:solidFill>
                <a:srgbClr val="000000"/>
              </a:solidFill>
              <a:ln w="9525">
                <a:noFill/>
                <a:round/>
              </a:ln>
            </p:spPr>
            <p:txBody>
              <a:bodyPr/>
              <a:lstStyle/>
              <a:p>
                <a:endParaRPr lang="en-US"/>
              </a:p>
            </p:txBody>
          </p:sp>
          <p:sp>
            <p:nvSpPr>
              <p:cNvPr id="1048952" name="Freeform 249"/>
              <p:cNvSpPr/>
              <p:nvPr/>
            </p:nvSpPr>
            <p:spPr bwMode="auto">
              <a:xfrm>
                <a:off x="2108" y="2041"/>
                <a:ext cx="80" cy="23"/>
              </a:xfrm>
              <a:custGeom>
                <a:avLst/>
                <a:gdLst>
                  <a:gd name="T0" fmla="*/ 80 w 159"/>
                  <a:gd name="T1" fmla="*/ 0 h 46"/>
                  <a:gd name="T2" fmla="*/ 72 w 159"/>
                  <a:gd name="T3" fmla="*/ 15 h 46"/>
                  <a:gd name="T4" fmla="*/ 69 w 159"/>
                  <a:gd name="T5" fmla="*/ 17 h 46"/>
                  <a:gd name="T6" fmla="*/ 68 w 159"/>
                  <a:gd name="T7" fmla="*/ 17 h 46"/>
                  <a:gd name="T8" fmla="*/ 65 w 159"/>
                  <a:gd name="T9" fmla="*/ 18 h 46"/>
                  <a:gd name="T10" fmla="*/ 63 w 159"/>
                  <a:gd name="T11" fmla="*/ 19 h 46"/>
                  <a:gd name="T12" fmla="*/ 59 w 159"/>
                  <a:gd name="T13" fmla="*/ 19 h 46"/>
                  <a:gd name="T14" fmla="*/ 56 w 159"/>
                  <a:gd name="T15" fmla="*/ 20 h 46"/>
                  <a:gd name="T16" fmla="*/ 53 w 159"/>
                  <a:gd name="T17" fmla="*/ 20 h 46"/>
                  <a:gd name="T18" fmla="*/ 50 w 159"/>
                  <a:gd name="T19" fmla="*/ 20 h 46"/>
                  <a:gd name="T20" fmla="*/ 47 w 159"/>
                  <a:gd name="T21" fmla="*/ 20 h 46"/>
                  <a:gd name="T22" fmla="*/ 43 w 159"/>
                  <a:gd name="T23" fmla="*/ 21 h 46"/>
                  <a:gd name="T24" fmla="*/ 40 w 159"/>
                  <a:gd name="T25" fmla="*/ 21 h 46"/>
                  <a:gd name="T26" fmla="*/ 36 w 159"/>
                  <a:gd name="T27" fmla="*/ 22 h 46"/>
                  <a:gd name="T28" fmla="*/ 32 w 159"/>
                  <a:gd name="T29" fmla="*/ 22 h 46"/>
                  <a:gd name="T30" fmla="*/ 30 w 159"/>
                  <a:gd name="T31" fmla="*/ 22 h 46"/>
                  <a:gd name="T32" fmla="*/ 27 w 159"/>
                  <a:gd name="T33" fmla="*/ 22 h 46"/>
                  <a:gd name="T34" fmla="*/ 24 w 159"/>
                  <a:gd name="T35" fmla="*/ 23 h 46"/>
                  <a:gd name="T36" fmla="*/ 20 w 159"/>
                  <a:gd name="T37" fmla="*/ 22 h 46"/>
                  <a:gd name="T38" fmla="*/ 17 w 159"/>
                  <a:gd name="T39" fmla="*/ 22 h 46"/>
                  <a:gd name="T40" fmla="*/ 14 w 159"/>
                  <a:gd name="T41" fmla="*/ 22 h 46"/>
                  <a:gd name="T42" fmla="*/ 12 w 159"/>
                  <a:gd name="T43" fmla="*/ 22 h 46"/>
                  <a:gd name="T44" fmla="*/ 10 w 159"/>
                  <a:gd name="T45" fmla="*/ 22 h 46"/>
                  <a:gd name="T46" fmla="*/ 7 w 159"/>
                  <a:gd name="T47" fmla="*/ 22 h 46"/>
                  <a:gd name="T48" fmla="*/ 5 w 159"/>
                  <a:gd name="T49" fmla="*/ 21 h 46"/>
                  <a:gd name="T50" fmla="*/ 4 w 159"/>
                  <a:gd name="T51" fmla="*/ 21 h 46"/>
                  <a:gd name="T52" fmla="*/ 1 w 159"/>
                  <a:gd name="T53" fmla="*/ 20 h 46"/>
                  <a:gd name="T54" fmla="*/ 0 w 159"/>
                  <a:gd name="T55" fmla="*/ 20 h 46"/>
                  <a:gd name="T56" fmla="*/ 0 w 159"/>
                  <a:gd name="T57" fmla="*/ 19 h 46"/>
                  <a:gd name="T58" fmla="*/ 3 w 159"/>
                  <a:gd name="T59" fmla="*/ 18 h 46"/>
                  <a:gd name="T60" fmla="*/ 5 w 159"/>
                  <a:gd name="T61" fmla="*/ 13 h 46"/>
                  <a:gd name="T62" fmla="*/ 8 w 159"/>
                  <a:gd name="T63" fmla="*/ 10 h 46"/>
                  <a:gd name="T64" fmla="*/ 11 w 159"/>
                  <a:gd name="T65" fmla="*/ 7 h 46"/>
                  <a:gd name="T66" fmla="*/ 16 w 159"/>
                  <a:gd name="T67" fmla="*/ 6 h 46"/>
                  <a:gd name="T68" fmla="*/ 18 w 159"/>
                  <a:gd name="T69" fmla="*/ 4 h 46"/>
                  <a:gd name="T70" fmla="*/ 21 w 159"/>
                  <a:gd name="T71" fmla="*/ 4 h 46"/>
                  <a:gd name="T72" fmla="*/ 24 w 159"/>
                  <a:gd name="T73" fmla="*/ 3 h 46"/>
                  <a:gd name="T74" fmla="*/ 27 w 159"/>
                  <a:gd name="T75" fmla="*/ 3 h 46"/>
                  <a:gd name="T76" fmla="*/ 29 w 159"/>
                  <a:gd name="T77" fmla="*/ 2 h 46"/>
                  <a:gd name="T78" fmla="*/ 31 w 159"/>
                  <a:gd name="T79" fmla="*/ 2 h 46"/>
                  <a:gd name="T80" fmla="*/ 35 w 159"/>
                  <a:gd name="T81" fmla="*/ 2 h 46"/>
                  <a:gd name="T82" fmla="*/ 38 w 159"/>
                  <a:gd name="T83" fmla="*/ 2 h 46"/>
                  <a:gd name="T84" fmla="*/ 41 w 159"/>
                  <a:gd name="T85" fmla="*/ 1 h 46"/>
                  <a:gd name="T86" fmla="*/ 44 w 159"/>
                  <a:gd name="T87" fmla="*/ 1 h 46"/>
                  <a:gd name="T88" fmla="*/ 47 w 159"/>
                  <a:gd name="T89" fmla="*/ 1 h 46"/>
                  <a:gd name="T90" fmla="*/ 49 w 159"/>
                  <a:gd name="T91" fmla="*/ 1 h 46"/>
                  <a:gd name="T92" fmla="*/ 52 w 159"/>
                  <a:gd name="T93" fmla="*/ 1 h 46"/>
                  <a:gd name="T94" fmla="*/ 55 w 159"/>
                  <a:gd name="T95" fmla="*/ 1 h 46"/>
                  <a:gd name="T96" fmla="*/ 58 w 159"/>
                  <a:gd name="T97" fmla="*/ 1 h 46"/>
                  <a:gd name="T98" fmla="*/ 62 w 159"/>
                  <a:gd name="T99" fmla="*/ 1 h 46"/>
                  <a:gd name="T100" fmla="*/ 64 w 159"/>
                  <a:gd name="T101" fmla="*/ 1 h 46"/>
                  <a:gd name="T102" fmla="*/ 67 w 159"/>
                  <a:gd name="T103" fmla="*/ 1 h 46"/>
                  <a:gd name="T104" fmla="*/ 68 w 159"/>
                  <a:gd name="T105" fmla="*/ 1 h 46"/>
                  <a:gd name="T106" fmla="*/ 71 w 159"/>
                  <a:gd name="T107" fmla="*/ 1 h 46"/>
                  <a:gd name="T108" fmla="*/ 76 w 159"/>
                  <a:gd name="T109" fmla="*/ 0 h 46"/>
                  <a:gd name="T110" fmla="*/ 80 w 159"/>
                  <a:gd name="T111" fmla="*/ 0 h 46"/>
                  <a:gd name="T112" fmla="*/ 80 w 159"/>
                  <a:gd name="T113" fmla="*/ 0 h 4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159"/>
                  <a:gd name="T172" fmla="*/ 0 h 46"/>
                  <a:gd name="T173" fmla="*/ 159 w 159"/>
                  <a:gd name="T174" fmla="*/ 46 h 46"/>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159" h="46">
                    <a:moveTo>
                      <a:pt x="159" y="0"/>
                    </a:moveTo>
                    <a:lnTo>
                      <a:pt x="144" y="31"/>
                    </a:lnTo>
                    <a:lnTo>
                      <a:pt x="138" y="33"/>
                    </a:lnTo>
                    <a:lnTo>
                      <a:pt x="135" y="33"/>
                    </a:lnTo>
                    <a:lnTo>
                      <a:pt x="129" y="35"/>
                    </a:lnTo>
                    <a:lnTo>
                      <a:pt x="125" y="37"/>
                    </a:lnTo>
                    <a:lnTo>
                      <a:pt x="117" y="37"/>
                    </a:lnTo>
                    <a:lnTo>
                      <a:pt x="112" y="39"/>
                    </a:lnTo>
                    <a:lnTo>
                      <a:pt x="106" y="39"/>
                    </a:lnTo>
                    <a:lnTo>
                      <a:pt x="100" y="40"/>
                    </a:lnTo>
                    <a:lnTo>
                      <a:pt x="93" y="40"/>
                    </a:lnTo>
                    <a:lnTo>
                      <a:pt x="85" y="42"/>
                    </a:lnTo>
                    <a:lnTo>
                      <a:pt x="79" y="42"/>
                    </a:lnTo>
                    <a:lnTo>
                      <a:pt x="72" y="44"/>
                    </a:lnTo>
                    <a:lnTo>
                      <a:pt x="64" y="44"/>
                    </a:lnTo>
                    <a:lnTo>
                      <a:pt x="59" y="44"/>
                    </a:lnTo>
                    <a:lnTo>
                      <a:pt x="53" y="44"/>
                    </a:lnTo>
                    <a:lnTo>
                      <a:pt x="47" y="46"/>
                    </a:lnTo>
                    <a:lnTo>
                      <a:pt x="40" y="44"/>
                    </a:lnTo>
                    <a:lnTo>
                      <a:pt x="34" y="44"/>
                    </a:lnTo>
                    <a:lnTo>
                      <a:pt x="28" y="44"/>
                    </a:lnTo>
                    <a:lnTo>
                      <a:pt x="24" y="44"/>
                    </a:lnTo>
                    <a:lnTo>
                      <a:pt x="19" y="44"/>
                    </a:lnTo>
                    <a:lnTo>
                      <a:pt x="13" y="44"/>
                    </a:lnTo>
                    <a:lnTo>
                      <a:pt x="9" y="42"/>
                    </a:lnTo>
                    <a:lnTo>
                      <a:pt x="7" y="42"/>
                    </a:lnTo>
                    <a:lnTo>
                      <a:pt x="1" y="40"/>
                    </a:lnTo>
                    <a:lnTo>
                      <a:pt x="0" y="39"/>
                    </a:lnTo>
                    <a:lnTo>
                      <a:pt x="0" y="37"/>
                    </a:lnTo>
                    <a:lnTo>
                      <a:pt x="5" y="35"/>
                    </a:lnTo>
                    <a:lnTo>
                      <a:pt x="9" y="27"/>
                    </a:lnTo>
                    <a:lnTo>
                      <a:pt x="15" y="20"/>
                    </a:lnTo>
                    <a:lnTo>
                      <a:pt x="22" y="14"/>
                    </a:lnTo>
                    <a:lnTo>
                      <a:pt x="32" y="12"/>
                    </a:lnTo>
                    <a:lnTo>
                      <a:pt x="36" y="8"/>
                    </a:lnTo>
                    <a:lnTo>
                      <a:pt x="41" y="8"/>
                    </a:lnTo>
                    <a:lnTo>
                      <a:pt x="47" y="6"/>
                    </a:lnTo>
                    <a:lnTo>
                      <a:pt x="53" y="6"/>
                    </a:lnTo>
                    <a:lnTo>
                      <a:pt x="57" y="4"/>
                    </a:lnTo>
                    <a:lnTo>
                      <a:pt x="62" y="4"/>
                    </a:lnTo>
                    <a:lnTo>
                      <a:pt x="70" y="4"/>
                    </a:lnTo>
                    <a:lnTo>
                      <a:pt x="76" y="4"/>
                    </a:lnTo>
                    <a:lnTo>
                      <a:pt x="81" y="2"/>
                    </a:lnTo>
                    <a:lnTo>
                      <a:pt x="87" y="2"/>
                    </a:lnTo>
                    <a:lnTo>
                      <a:pt x="93" y="2"/>
                    </a:lnTo>
                    <a:lnTo>
                      <a:pt x="98" y="2"/>
                    </a:lnTo>
                    <a:lnTo>
                      <a:pt x="104" y="2"/>
                    </a:lnTo>
                    <a:lnTo>
                      <a:pt x="110" y="2"/>
                    </a:lnTo>
                    <a:lnTo>
                      <a:pt x="116" y="2"/>
                    </a:lnTo>
                    <a:lnTo>
                      <a:pt x="123" y="2"/>
                    </a:lnTo>
                    <a:lnTo>
                      <a:pt x="127" y="2"/>
                    </a:lnTo>
                    <a:lnTo>
                      <a:pt x="133" y="2"/>
                    </a:lnTo>
                    <a:lnTo>
                      <a:pt x="136" y="2"/>
                    </a:lnTo>
                    <a:lnTo>
                      <a:pt x="142" y="2"/>
                    </a:lnTo>
                    <a:lnTo>
                      <a:pt x="152" y="0"/>
                    </a:lnTo>
                    <a:lnTo>
                      <a:pt x="159" y="0"/>
                    </a:lnTo>
                    <a:close/>
                  </a:path>
                </a:pathLst>
              </a:custGeom>
              <a:solidFill>
                <a:srgbClr val="000000"/>
              </a:solidFill>
              <a:ln w="9525">
                <a:noFill/>
                <a:round/>
              </a:ln>
            </p:spPr>
            <p:txBody>
              <a:bodyPr/>
              <a:lstStyle/>
              <a:p>
                <a:endParaRPr lang="en-US"/>
              </a:p>
            </p:txBody>
          </p:sp>
          <p:sp>
            <p:nvSpPr>
              <p:cNvPr id="1048953" name="Freeform 250"/>
              <p:cNvSpPr/>
              <p:nvPr/>
            </p:nvSpPr>
            <p:spPr bwMode="auto">
              <a:xfrm>
                <a:off x="2122" y="2071"/>
                <a:ext cx="76" cy="33"/>
              </a:xfrm>
              <a:custGeom>
                <a:avLst/>
                <a:gdLst>
                  <a:gd name="T0" fmla="*/ 61 w 152"/>
                  <a:gd name="T1" fmla="*/ 0 h 67"/>
                  <a:gd name="T2" fmla="*/ 63 w 152"/>
                  <a:gd name="T3" fmla="*/ 2 h 67"/>
                  <a:gd name="T4" fmla="*/ 65 w 152"/>
                  <a:gd name="T5" fmla="*/ 5 h 67"/>
                  <a:gd name="T6" fmla="*/ 68 w 152"/>
                  <a:gd name="T7" fmla="*/ 8 h 67"/>
                  <a:gd name="T8" fmla="*/ 70 w 152"/>
                  <a:gd name="T9" fmla="*/ 9 h 67"/>
                  <a:gd name="T10" fmla="*/ 73 w 152"/>
                  <a:gd name="T11" fmla="*/ 12 h 67"/>
                  <a:gd name="T12" fmla="*/ 74 w 152"/>
                  <a:gd name="T13" fmla="*/ 14 h 67"/>
                  <a:gd name="T14" fmla="*/ 76 w 152"/>
                  <a:gd name="T15" fmla="*/ 16 h 67"/>
                  <a:gd name="T16" fmla="*/ 0 w 152"/>
                  <a:gd name="T17" fmla="*/ 33 h 67"/>
                  <a:gd name="T18" fmla="*/ 0 w 152"/>
                  <a:gd name="T19" fmla="*/ 30 h 67"/>
                  <a:gd name="T20" fmla="*/ 1 w 152"/>
                  <a:gd name="T21" fmla="*/ 28 h 67"/>
                  <a:gd name="T22" fmla="*/ 2 w 152"/>
                  <a:gd name="T23" fmla="*/ 26 h 67"/>
                  <a:gd name="T24" fmla="*/ 3 w 152"/>
                  <a:gd name="T25" fmla="*/ 25 h 67"/>
                  <a:gd name="T26" fmla="*/ 5 w 152"/>
                  <a:gd name="T27" fmla="*/ 21 h 67"/>
                  <a:gd name="T28" fmla="*/ 7 w 152"/>
                  <a:gd name="T29" fmla="*/ 18 h 67"/>
                  <a:gd name="T30" fmla="*/ 10 w 152"/>
                  <a:gd name="T31" fmla="*/ 15 h 67"/>
                  <a:gd name="T32" fmla="*/ 14 w 152"/>
                  <a:gd name="T33" fmla="*/ 12 h 67"/>
                  <a:gd name="T34" fmla="*/ 19 w 152"/>
                  <a:gd name="T35" fmla="*/ 11 h 67"/>
                  <a:gd name="T36" fmla="*/ 24 w 152"/>
                  <a:gd name="T37" fmla="*/ 9 h 67"/>
                  <a:gd name="T38" fmla="*/ 27 w 152"/>
                  <a:gd name="T39" fmla="*/ 8 h 67"/>
                  <a:gd name="T40" fmla="*/ 33 w 152"/>
                  <a:gd name="T41" fmla="*/ 7 h 67"/>
                  <a:gd name="T42" fmla="*/ 36 w 152"/>
                  <a:gd name="T43" fmla="*/ 6 h 67"/>
                  <a:gd name="T44" fmla="*/ 38 w 152"/>
                  <a:gd name="T45" fmla="*/ 6 h 67"/>
                  <a:gd name="T46" fmla="*/ 40 w 152"/>
                  <a:gd name="T47" fmla="*/ 5 h 67"/>
                  <a:gd name="T48" fmla="*/ 43 w 152"/>
                  <a:gd name="T49" fmla="*/ 5 h 67"/>
                  <a:gd name="T50" fmla="*/ 47 w 152"/>
                  <a:gd name="T51" fmla="*/ 4 h 67"/>
                  <a:gd name="T52" fmla="*/ 52 w 152"/>
                  <a:gd name="T53" fmla="*/ 3 h 67"/>
                  <a:gd name="T54" fmla="*/ 56 w 152"/>
                  <a:gd name="T55" fmla="*/ 1 h 67"/>
                  <a:gd name="T56" fmla="*/ 61 w 152"/>
                  <a:gd name="T57" fmla="*/ 0 h 67"/>
                  <a:gd name="T58" fmla="*/ 61 w 152"/>
                  <a:gd name="T59" fmla="*/ 0 h 67"/>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152"/>
                  <a:gd name="T91" fmla="*/ 0 h 67"/>
                  <a:gd name="T92" fmla="*/ 152 w 152"/>
                  <a:gd name="T93" fmla="*/ 67 h 67"/>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152" h="67">
                    <a:moveTo>
                      <a:pt x="122" y="0"/>
                    </a:moveTo>
                    <a:lnTo>
                      <a:pt x="126" y="4"/>
                    </a:lnTo>
                    <a:lnTo>
                      <a:pt x="129" y="10"/>
                    </a:lnTo>
                    <a:lnTo>
                      <a:pt x="135" y="16"/>
                    </a:lnTo>
                    <a:lnTo>
                      <a:pt x="139" y="19"/>
                    </a:lnTo>
                    <a:lnTo>
                      <a:pt x="145" y="25"/>
                    </a:lnTo>
                    <a:lnTo>
                      <a:pt x="148" y="29"/>
                    </a:lnTo>
                    <a:lnTo>
                      <a:pt x="152" y="33"/>
                    </a:lnTo>
                    <a:lnTo>
                      <a:pt x="0" y="67"/>
                    </a:lnTo>
                    <a:lnTo>
                      <a:pt x="0" y="61"/>
                    </a:lnTo>
                    <a:lnTo>
                      <a:pt x="2" y="57"/>
                    </a:lnTo>
                    <a:lnTo>
                      <a:pt x="4" y="52"/>
                    </a:lnTo>
                    <a:lnTo>
                      <a:pt x="6" y="50"/>
                    </a:lnTo>
                    <a:lnTo>
                      <a:pt x="10" y="42"/>
                    </a:lnTo>
                    <a:lnTo>
                      <a:pt x="15" y="36"/>
                    </a:lnTo>
                    <a:lnTo>
                      <a:pt x="21" y="31"/>
                    </a:lnTo>
                    <a:lnTo>
                      <a:pt x="29" y="25"/>
                    </a:lnTo>
                    <a:lnTo>
                      <a:pt x="38" y="23"/>
                    </a:lnTo>
                    <a:lnTo>
                      <a:pt x="48" y="19"/>
                    </a:lnTo>
                    <a:lnTo>
                      <a:pt x="55" y="17"/>
                    </a:lnTo>
                    <a:lnTo>
                      <a:pt x="65" y="14"/>
                    </a:lnTo>
                    <a:lnTo>
                      <a:pt x="71" y="12"/>
                    </a:lnTo>
                    <a:lnTo>
                      <a:pt x="76" y="12"/>
                    </a:lnTo>
                    <a:lnTo>
                      <a:pt x="80" y="10"/>
                    </a:lnTo>
                    <a:lnTo>
                      <a:pt x="86" y="10"/>
                    </a:lnTo>
                    <a:lnTo>
                      <a:pt x="95" y="8"/>
                    </a:lnTo>
                    <a:lnTo>
                      <a:pt x="105" y="6"/>
                    </a:lnTo>
                    <a:lnTo>
                      <a:pt x="112" y="2"/>
                    </a:lnTo>
                    <a:lnTo>
                      <a:pt x="122" y="0"/>
                    </a:lnTo>
                    <a:close/>
                  </a:path>
                </a:pathLst>
              </a:custGeom>
              <a:solidFill>
                <a:srgbClr val="000000"/>
              </a:solidFill>
              <a:ln w="9525">
                <a:noFill/>
                <a:round/>
              </a:ln>
            </p:spPr>
            <p:txBody>
              <a:bodyPr/>
              <a:lstStyle/>
              <a:p>
                <a:endParaRPr lang="en-US"/>
              </a:p>
            </p:txBody>
          </p:sp>
          <p:sp>
            <p:nvSpPr>
              <p:cNvPr id="1048954" name="Freeform 251"/>
              <p:cNvSpPr/>
              <p:nvPr/>
            </p:nvSpPr>
            <p:spPr bwMode="auto">
              <a:xfrm>
                <a:off x="2121" y="2102"/>
                <a:ext cx="86" cy="38"/>
              </a:xfrm>
              <a:custGeom>
                <a:avLst/>
                <a:gdLst>
                  <a:gd name="T0" fmla="*/ 66 w 173"/>
                  <a:gd name="T1" fmla="*/ 0 h 76"/>
                  <a:gd name="T2" fmla="*/ 71 w 173"/>
                  <a:gd name="T3" fmla="*/ 3 h 76"/>
                  <a:gd name="T4" fmla="*/ 78 w 173"/>
                  <a:gd name="T5" fmla="*/ 7 h 76"/>
                  <a:gd name="T6" fmla="*/ 84 w 173"/>
                  <a:gd name="T7" fmla="*/ 11 h 76"/>
                  <a:gd name="T8" fmla="*/ 84 w 173"/>
                  <a:gd name="T9" fmla="*/ 14 h 76"/>
                  <a:gd name="T10" fmla="*/ 78 w 173"/>
                  <a:gd name="T11" fmla="*/ 15 h 76"/>
                  <a:gd name="T12" fmla="*/ 72 w 173"/>
                  <a:gd name="T13" fmla="*/ 17 h 76"/>
                  <a:gd name="T14" fmla="*/ 66 w 173"/>
                  <a:gd name="T15" fmla="*/ 17 h 76"/>
                  <a:gd name="T16" fmla="*/ 61 w 173"/>
                  <a:gd name="T17" fmla="*/ 19 h 76"/>
                  <a:gd name="T18" fmla="*/ 56 w 173"/>
                  <a:gd name="T19" fmla="*/ 21 h 76"/>
                  <a:gd name="T20" fmla="*/ 50 w 173"/>
                  <a:gd name="T21" fmla="*/ 22 h 76"/>
                  <a:gd name="T22" fmla="*/ 45 w 173"/>
                  <a:gd name="T23" fmla="*/ 24 h 76"/>
                  <a:gd name="T24" fmla="*/ 40 w 173"/>
                  <a:gd name="T25" fmla="*/ 26 h 76"/>
                  <a:gd name="T26" fmla="*/ 34 w 173"/>
                  <a:gd name="T27" fmla="*/ 27 h 76"/>
                  <a:gd name="T28" fmla="*/ 28 w 173"/>
                  <a:gd name="T29" fmla="*/ 28 h 76"/>
                  <a:gd name="T30" fmla="*/ 24 w 173"/>
                  <a:gd name="T31" fmla="*/ 30 h 76"/>
                  <a:gd name="T32" fmla="*/ 19 w 173"/>
                  <a:gd name="T33" fmla="*/ 33 h 76"/>
                  <a:gd name="T34" fmla="*/ 13 w 173"/>
                  <a:gd name="T35" fmla="*/ 35 h 76"/>
                  <a:gd name="T36" fmla="*/ 8 w 173"/>
                  <a:gd name="T37" fmla="*/ 36 h 76"/>
                  <a:gd name="T38" fmla="*/ 3 w 173"/>
                  <a:gd name="T39" fmla="*/ 37 h 76"/>
                  <a:gd name="T40" fmla="*/ 0 w 173"/>
                  <a:gd name="T41" fmla="*/ 36 h 76"/>
                  <a:gd name="T42" fmla="*/ 0 w 173"/>
                  <a:gd name="T43" fmla="*/ 29 h 76"/>
                  <a:gd name="T44" fmla="*/ 3 w 173"/>
                  <a:gd name="T45" fmla="*/ 23 h 76"/>
                  <a:gd name="T46" fmla="*/ 9 w 173"/>
                  <a:gd name="T47" fmla="*/ 17 h 76"/>
                  <a:gd name="T48" fmla="*/ 16 w 173"/>
                  <a:gd name="T49" fmla="*/ 12 h 76"/>
                  <a:gd name="T50" fmla="*/ 21 w 173"/>
                  <a:gd name="T51" fmla="*/ 11 h 76"/>
                  <a:gd name="T52" fmla="*/ 27 w 173"/>
                  <a:gd name="T53" fmla="*/ 10 h 76"/>
                  <a:gd name="T54" fmla="*/ 31 w 173"/>
                  <a:gd name="T55" fmla="*/ 9 h 76"/>
                  <a:gd name="T56" fmla="*/ 37 w 173"/>
                  <a:gd name="T57" fmla="*/ 6 h 76"/>
                  <a:gd name="T58" fmla="*/ 43 w 173"/>
                  <a:gd name="T59" fmla="*/ 6 h 76"/>
                  <a:gd name="T60" fmla="*/ 47 w 173"/>
                  <a:gd name="T61" fmla="*/ 5 h 76"/>
                  <a:gd name="T62" fmla="*/ 53 w 173"/>
                  <a:gd name="T63" fmla="*/ 4 h 76"/>
                  <a:gd name="T64" fmla="*/ 58 w 173"/>
                  <a:gd name="T65" fmla="*/ 3 h 76"/>
                  <a:gd name="T66" fmla="*/ 63 w 173"/>
                  <a:gd name="T67" fmla="*/ 1 h 76"/>
                  <a:gd name="T68" fmla="*/ 65 w 173"/>
                  <a:gd name="T69" fmla="*/ 0 h 7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173"/>
                  <a:gd name="T106" fmla="*/ 0 h 76"/>
                  <a:gd name="T107" fmla="*/ 173 w 173"/>
                  <a:gd name="T108" fmla="*/ 76 h 76"/>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173" h="76">
                    <a:moveTo>
                      <a:pt x="130" y="0"/>
                    </a:moveTo>
                    <a:lnTo>
                      <a:pt x="133" y="0"/>
                    </a:lnTo>
                    <a:lnTo>
                      <a:pt x="139" y="2"/>
                    </a:lnTo>
                    <a:lnTo>
                      <a:pt x="143" y="6"/>
                    </a:lnTo>
                    <a:lnTo>
                      <a:pt x="150" y="10"/>
                    </a:lnTo>
                    <a:lnTo>
                      <a:pt x="156" y="15"/>
                    </a:lnTo>
                    <a:lnTo>
                      <a:pt x="164" y="19"/>
                    </a:lnTo>
                    <a:lnTo>
                      <a:pt x="168" y="23"/>
                    </a:lnTo>
                    <a:lnTo>
                      <a:pt x="173" y="29"/>
                    </a:lnTo>
                    <a:lnTo>
                      <a:pt x="168" y="29"/>
                    </a:lnTo>
                    <a:lnTo>
                      <a:pt x="162" y="29"/>
                    </a:lnTo>
                    <a:lnTo>
                      <a:pt x="156" y="31"/>
                    </a:lnTo>
                    <a:lnTo>
                      <a:pt x="150" y="31"/>
                    </a:lnTo>
                    <a:lnTo>
                      <a:pt x="145" y="33"/>
                    </a:lnTo>
                    <a:lnTo>
                      <a:pt x="139" y="34"/>
                    </a:lnTo>
                    <a:lnTo>
                      <a:pt x="133" y="34"/>
                    </a:lnTo>
                    <a:lnTo>
                      <a:pt x="128" y="36"/>
                    </a:lnTo>
                    <a:lnTo>
                      <a:pt x="122" y="38"/>
                    </a:lnTo>
                    <a:lnTo>
                      <a:pt x="116" y="40"/>
                    </a:lnTo>
                    <a:lnTo>
                      <a:pt x="112" y="42"/>
                    </a:lnTo>
                    <a:lnTo>
                      <a:pt x="107" y="44"/>
                    </a:lnTo>
                    <a:lnTo>
                      <a:pt x="101" y="44"/>
                    </a:lnTo>
                    <a:lnTo>
                      <a:pt x="95" y="48"/>
                    </a:lnTo>
                    <a:lnTo>
                      <a:pt x="90" y="48"/>
                    </a:lnTo>
                    <a:lnTo>
                      <a:pt x="86" y="50"/>
                    </a:lnTo>
                    <a:lnTo>
                      <a:pt x="80" y="52"/>
                    </a:lnTo>
                    <a:lnTo>
                      <a:pt x="74" y="53"/>
                    </a:lnTo>
                    <a:lnTo>
                      <a:pt x="69" y="55"/>
                    </a:lnTo>
                    <a:lnTo>
                      <a:pt x="63" y="57"/>
                    </a:lnTo>
                    <a:lnTo>
                      <a:pt x="57" y="57"/>
                    </a:lnTo>
                    <a:lnTo>
                      <a:pt x="54" y="61"/>
                    </a:lnTo>
                    <a:lnTo>
                      <a:pt x="48" y="61"/>
                    </a:lnTo>
                    <a:lnTo>
                      <a:pt x="44" y="65"/>
                    </a:lnTo>
                    <a:lnTo>
                      <a:pt x="38" y="65"/>
                    </a:lnTo>
                    <a:lnTo>
                      <a:pt x="33" y="67"/>
                    </a:lnTo>
                    <a:lnTo>
                      <a:pt x="27" y="69"/>
                    </a:lnTo>
                    <a:lnTo>
                      <a:pt x="21" y="71"/>
                    </a:lnTo>
                    <a:lnTo>
                      <a:pt x="16" y="71"/>
                    </a:lnTo>
                    <a:lnTo>
                      <a:pt x="12" y="72"/>
                    </a:lnTo>
                    <a:lnTo>
                      <a:pt x="6" y="74"/>
                    </a:lnTo>
                    <a:lnTo>
                      <a:pt x="2" y="76"/>
                    </a:lnTo>
                    <a:lnTo>
                      <a:pt x="0" y="71"/>
                    </a:lnTo>
                    <a:lnTo>
                      <a:pt x="0" y="65"/>
                    </a:lnTo>
                    <a:lnTo>
                      <a:pt x="0" y="59"/>
                    </a:lnTo>
                    <a:lnTo>
                      <a:pt x="2" y="53"/>
                    </a:lnTo>
                    <a:lnTo>
                      <a:pt x="6" y="46"/>
                    </a:lnTo>
                    <a:lnTo>
                      <a:pt x="14" y="40"/>
                    </a:lnTo>
                    <a:lnTo>
                      <a:pt x="19" y="33"/>
                    </a:lnTo>
                    <a:lnTo>
                      <a:pt x="29" y="29"/>
                    </a:lnTo>
                    <a:lnTo>
                      <a:pt x="33" y="25"/>
                    </a:lnTo>
                    <a:lnTo>
                      <a:pt x="36" y="25"/>
                    </a:lnTo>
                    <a:lnTo>
                      <a:pt x="42" y="23"/>
                    </a:lnTo>
                    <a:lnTo>
                      <a:pt x="48" y="21"/>
                    </a:lnTo>
                    <a:lnTo>
                      <a:pt x="54" y="19"/>
                    </a:lnTo>
                    <a:lnTo>
                      <a:pt x="57" y="17"/>
                    </a:lnTo>
                    <a:lnTo>
                      <a:pt x="63" y="17"/>
                    </a:lnTo>
                    <a:lnTo>
                      <a:pt x="69" y="15"/>
                    </a:lnTo>
                    <a:lnTo>
                      <a:pt x="74" y="13"/>
                    </a:lnTo>
                    <a:lnTo>
                      <a:pt x="80" y="13"/>
                    </a:lnTo>
                    <a:lnTo>
                      <a:pt x="86" y="12"/>
                    </a:lnTo>
                    <a:lnTo>
                      <a:pt x="92" y="12"/>
                    </a:lnTo>
                    <a:lnTo>
                      <a:pt x="95" y="10"/>
                    </a:lnTo>
                    <a:lnTo>
                      <a:pt x="101" y="10"/>
                    </a:lnTo>
                    <a:lnTo>
                      <a:pt x="107" y="8"/>
                    </a:lnTo>
                    <a:lnTo>
                      <a:pt x="112" y="8"/>
                    </a:lnTo>
                    <a:lnTo>
                      <a:pt x="116" y="6"/>
                    </a:lnTo>
                    <a:lnTo>
                      <a:pt x="120" y="4"/>
                    </a:lnTo>
                    <a:lnTo>
                      <a:pt x="126" y="2"/>
                    </a:lnTo>
                    <a:lnTo>
                      <a:pt x="130" y="0"/>
                    </a:lnTo>
                    <a:close/>
                  </a:path>
                </a:pathLst>
              </a:custGeom>
              <a:solidFill>
                <a:srgbClr val="000000"/>
              </a:solidFill>
              <a:ln w="9525">
                <a:noFill/>
                <a:round/>
              </a:ln>
            </p:spPr>
            <p:txBody>
              <a:bodyPr/>
              <a:lstStyle/>
              <a:p>
                <a:endParaRPr lang="en-US"/>
              </a:p>
            </p:txBody>
          </p:sp>
          <p:sp>
            <p:nvSpPr>
              <p:cNvPr id="1048955" name="Freeform 252"/>
              <p:cNvSpPr/>
              <p:nvPr/>
            </p:nvSpPr>
            <p:spPr bwMode="auto">
              <a:xfrm>
                <a:off x="2270" y="2181"/>
                <a:ext cx="37" cy="138"/>
              </a:xfrm>
              <a:custGeom>
                <a:avLst/>
                <a:gdLst>
                  <a:gd name="T0" fmla="*/ 14 w 74"/>
                  <a:gd name="T1" fmla="*/ 3 h 278"/>
                  <a:gd name="T2" fmla="*/ 18 w 74"/>
                  <a:gd name="T3" fmla="*/ 9 h 278"/>
                  <a:gd name="T4" fmla="*/ 20 w 74"/>
                  <a:gd name="T5" fmla="*/ 17 h 278"/>
                  <a:gd name="T6" fmla="*/ 22 w 74"/>
                  <a:gd name="T7" fmla="*/ 24 h 278"/>
                  <a:gd name="T8" fmla="*/ 22 w 74"/>
                  <a:gd name="T9" fmla="*/ 32 h 278"/>
                  <a:gd name="T10" fmla="*/ 21 w 74"/>
                  <a:gd name="T11" fmla="*/ 41 h 278"/>
                  <a:gd name="T12" fmla="*/ 20 w 74"/>
                  <a:gd name="T13" fmla="*/ 49 h 278"/>
                  <a:gd name="T14" fmla="*/ 19 w 74"/>
                  <a:gd name="T15" fmla="*/ 58 h 278"/>
                  <a:gd name="T16" fmla="*/ 18 w 74"/>
                  <a:gd name="T17" fmla="*/ 66 h 278"/>
                  <a:gd name="T18" fmla="*/ 16 w 74"/>
                  <a:gd name="T19" fmla="*/ 74 h 278"/>
                  <a:gd name="T20" fmla="*/ 16 w 74"/>
                  <a:gd name="T21" fmla="*/ 83 h 278"/>
                  <a:gd name="T22" fmla="*/ 16 w 74"/>
                  <a:gd name="T23" fmla="*/ 91 h 278"/>
                  <a:gd name="T24" fmla="*/ 17 w 74"/>
                  <a:gd name="T25" fmla="*/ 99 h 278"/>
                  <a:gd name="T26" fmla="*/ 19 w 74"/>
                  <a:gd name="T27" fmla="*/ 106 h 278"/>
                  <a:gd name="T28" fmla="*/ 22 w 74"/>
                  <a:gd name="T29" fmla="*/ 113 h 278"/>
                  <a:gd name="T30" fmla="*/ 28 w 74"/>
                  <a:gd name="T31" fmla="*/ 120 h 278"/>
                  <a:gd name="T32" fmla="*/ 33 w 74"/>
                  <a:gd name="T33" fmla="*/ 127 h 278"/>
                  <a:gd name="T34" fmla="*/ 35 w 74"/>
                  <a:gd name="T35" fmla="*/ 134 h 278"/>
                  <a:gd name="T36" fmla="*/ 32 w 74"/>
                  <a:gd name="T37" fmla="*/ 137 h 278"/>
                  <a:gd name="T38" fmla="*/ 24 w 74"/>
                  <a:gd name="T39" fmla="*/ 135 h 278"/>
                  <a:gd name="T40" fmla="*/ 19 w 74"/>
                  <a:gd name="T41" fmla="*/ 132 h 278"/>
                  <a:gd name="T42" fmla="*/ 14 w 74"/>
                  <a:gd name="T43" fmla="*/ 128 h 278"/>
                  <a:gd name="T44" fmla="*/ 9 w 74"/>
                  <a:gd name="T45" fmla="*/ 123 h 278"/>
                  <a:gd name="T46" fmla="*/ 6 w 74"/>
                  <a:gd name="T47" fmla="*/ 117 h 278"/>
                  <a:gd name="T48" fmla="*/ 3 w 74"/>
                  <a:gd name="T49" fmla="*/ 110 h 278"/>
                  <a:gd name="T50" fmla="*/ 2 w 74"/>
                  <a:gd name="T51" fmla="*/ 103 h 278"/>
                  <a:gd name="T52" fmla="*/ 1 w 74"/>
                  <a:gd name="T53" fmla="*/ 95 h 278"/>
                  <a:gd name="T54" fmla="*/ 0 w 74"/>
                  <a:gd name="T55" fmla="*/ 87 h 278"/>
                  <a:gd name="T56" fmla="*/ 0 w 74"/>
                  <a:gd name="T57" fmla="*/ 78 h 278"/>
                  <a:gd name="T58" fmla="*/ 0 w 74"/>
                  <a:gd name="T59" fmla="*/ 70 h 278"/>
                  <a:gd name="T60" fmla="*/ 1 w 74"/>
                  <a:gd name="T61" fmla="*/ 63 h 278"/>
                  <a:gd name="T62" fmla="*/ 1 w 74"/>
                  <a:gd name="T63" fmla="*/ 55 h 278"/>
                  <a:gd name="T64" fmla="*/ 2 w 74"/>
                  <a:gd name="T65" fmla="*/ 47 h 278"/>
                  <a:gd name="T66" fmla="*/ 2 w 74"/>
                  <a:gd name="T67" fmla="*/ 42 h 278"/>
                  <a:gd name="T68" fmla="*/ 3 w 74"/>
                  <a:gd name="T69" fmla="*/ 36 h 278"/>
                  <a:gd name="T70" fmla="*/ 5 w 74"/>
                  <a:gd name="T71" fmla="*/ 31 h 278"/>
                  <a:gd name="T72" fmla="*/ 5 w 74"/>
                  <a:gd name="T73" fmla="*/ 25 h 278"/>
                  <a:gd name="T74" fmla="*/ 6 w 74"/>
                  <a:gd name="T75" fmla="*/ 20 h 278"/>
                  <a:gd name="T76" fmla="*/ 9 w 74"/>
                  <a:gd name="T77" fmla="*/ 14 h 278"/>
                  <a:gd name="T78" fmla="*/ 9 w 74"/>
                  <a:gd name="T79" fmla="*/ 8 h 278"/>
                  <a:gd name="T80" fmla="*/ 11 w 74"/>
                  <a:gd name="T81" fmla="*/ 3 h 278"/>
                  <a:gd name="T82" fmla="*/ 12 w 74"/>
                  <a:gd name="T83" fmla="*/ 0 h 278"/>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74"/>
                  <a:gd name="T127" fmla="*/ 0 h 278"/>
                  <a:gd name="T128" fmla="*/ 74 w 74"/>
                  <a:gd name="T129" fmla="*/ 278 h 278"/>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74" h="278">
                    <a:moveTo>
                      <a:pt x="25" y="0"/>
                    </a:moveTo>
                    <a:lnTo>
                      <a:pt x="28" y="6"/>
                    </a:lnTo>
                    <a:lnTo>
                      <a:pt x="32" y="13"/>
                    </a:lnTo>
                    <a:lnTo>
                      <a:pt x="36" y="19"/>
                    </a:lnTo>
                    <a:lnTo>
                      <a:pt x="38" y="29"/>
                    </a:lnTo>
                    <a:lnTo>
                      <a:pt x="40" y="34"/>
                    </a:lnTo>
                    <a:lnTo>
                      <a:pt x="42" y="42"/>
                    </a:lnTo>
                    <a:lnTo>
                      <a:pt x="44" y="49"/>
                    </a:lnTo>
                    <a:lnTo>
                      <a:pt x="44" y="59"/>
                    </a:lnTo>
                    <a:lnTo>
                      <a:pt x="44" y="65"/>
                    </a:lnTo>
                    <a:lnTo>
                      <a:pt x="44" y="74"/>
                    </a:lnTo>
                    <a:lnTo>
                      <a:pt x="42" y="82"/>
                    </a:lnTo>
                    <a:lnTo>
                      <a:pt x="42" y="89"/>
                    </a:lnTo>
                    <a:lnTo>
                      <a:pt x="40" y="99"/>
                    </a:lnTo>
                    <a:lnTo>
                      <a:pt x="40" y="108"/>
                    </a:lnTo>
                    <a:lnTo>
                      <a:pt x="38" y="116"/>
                    </a:lnTo>
                    <a:lnTo>
                      <a:pt x="38" y="126"/>
                    </a:lnTo>
                    <a:lnTo>
                      <a:pt x="36" y="133"/>
                    </a:lnTo>
                    <a:lnTo>
                      <a:pt x="34" y="141"/>
                    </a:lnTo>
                    <a:lnTo>
                      <a:pt x="32" y="150"/>
                    </a:lnTo>
                    <a:lnTo>
                      <a:pt x="32" y="158"/>
                    </a:lnTo>
                    <a:lnTo>
                      <a:pt x="32" y="167"/>
                    </a:lnTo>
                    <a:lnTo>
                      <a:pt x="32" y="175"/>
                    </a:lnTo>
                    <a:lnTo>
                      <a:pt x="32" y="183"/>
                    </a:lnTo>
                    <a:lnTo>
                      <a:pt x="34" y="192"/>
                    </a:lnTo>
                    <a:lnTo>
                      <a:pt x="34" y="200"/>
                    </a:lnTo>
                    <a:lnTo>
                      <a:pt x="36" y="205"/>
                    </a:lnTo>
                    <a:lnTo>
                      <a:pt x="38" y="213"/>
                    </a:lnTo>
                    <a:lnTo>
                      <a:pt x="44" y="222"/>
                    </a:lnTo>
                    <a:lnTo>
                      <a:pt x="45" y="228"/>
                    </a:lnTo>
                    <a:lnTo>
                      <a:pt x="51" y="236"/>
                    </a:lnTo>
                    <a:lnTo>
                      <a:pt x="57" y="241"/>
                    </a:lnTo>
                    <a:lnTo>
                      <a:pt x="64" y="249"/>
                    </a:lnTo>
                    <a:lnTo>
                      <a:pt x="66" y="255"/>
                    </a:lnTo>
                    <a:lnTo>
                      <a:pt x="68" y="262"/>
                    </a:lnTo>
                    <a:lnTo>
                      <a:pt x="70" y="270"/>
                    </a:lnTo>
                    <a:lnTo>
                      <a:pt x="74" y="278"/>
                    </a:lnTo>
                    <a:lnTo>
                      <a:pt x="64" y="276"/>
                    </a:lnTo>
                    <a:lnTo>
                      <a:pt x="57" y="276"/>
                    </a:lnTo>
                    <a:lnTo>
                      <a:pt x="49" y="272"/>
                    </a:lnTo>
                    <a:lnTo>
                      <a:pt x="44" y="270"/>
                    </a:lnTo>
                    <a:lnTo>
                      <a:pt x="38" y="266"/>
                    </a:lnTo>
                    <a:lnTo>
                      <a:pt x="32" y="262"/>
                    </a:lnTo>
                    <a:lnTo>
                      <a:pt x="28" y="257"/>
                    </a:lnTo>
                    <a:lnTo>
                      <a:pt x="25" y="253"/>
                    </a:lnTo>
                    <a:lnTo>
                      <a:pt x="19" y="247"/>
                    </a:lnTo>
                    <a:lnTo>
                      <a:pt x="15" y="241"/>
                    </a:lnTo>
                    <a:lnTo>
                      <a:pt x="13" y="236"/>
                    </a:lnTo>
                    <a:lnTo>
                      <a:pt x="9" y="228"/>
                    </a:lnTo>
                    <a:lnTo>
                      <a:pt x="7" y="222"/>
                    </a:lnTo>
                    <a:lnTo>
                      <a:pt x="5" y="215"/>
                    </a:lnTo>
                    <a:lnTo>
                      <a:pt x="4" y="207"/>
                    </a:lnTo>
                    <a:lnTo>
                      <a:pt x="4" y="200"/>
                    </a:lnTo>
                    <a:lnTo>
                      <a:pt x="2" y="192"/>
                    </a:lnTo>
                    <a:lnTo>
                      <a:pt x="2" y="183"/>
                    </a:lnTo>
                    <a:lnTo>
                      <a:pt x="0" y="175"/>
                    </a:lnTo>
                    <a:lnTo>
                      <a:pt x="0" y="167"/>
                    </a:lnTo>
                    <a:lnTo>
                      <a:pt x="0" y="158"/>
                    </a:lnTo>
                    <a:lnTo>
                      <a:pt x="0" y="150"/>
                    </a:lnTo>
                    <a:lnTo>
                      <a:pt x="0" y="141"/>
                    </a:lnTo>
                    <a:lnTo>
                      <a:pt x="2" y="133"/>
                    </a:lnTo>
                    <a:lnTo>
                      <a:pt x="2" y="126"/>
                    </a:lnTo>
                    <a:lnTo>
                      <a:pt x="2" y="116"/>
                    </a:lnTo>
                    <a:lnTo>
                      <a:pt x="2" y="110"/>
                    </a:lnTo>
                    <a:lnTo>
                      <a:pt x="2" y="103"/>
                    </a:lnTo>
                    <a:lnTo>
                      <a:pt x="4" y="95"/>
                    </a:lnTo>
                    <a:lnTo>
                      <a:pt x="5" y="87"/>
                    </a:lnTo>
                    <a:lnTo>
                      <a:pt x="5" y="84"/>
                    </a:lnTo>
                    <a:lnTo>
                      <a:pt x="7" y="78"/>
                    </a:lnTo>
                    <a:lnTo>
                      <a:pt x="7" y="72"/>
                    </a:lnTo>
                    <a:lnTo>
                      <a:pt x="7" y="68"/>
                    </a:lnTo>
                    <a:lnTo>
                      <a:pt x="9" y="63"/>
                    </a:lnTo>
                    <a:lnTo>
                      <a:pt x="9" y="59"/>
                    </a:lnTo>
                    <a:lnTo>
                      <a:pt x="11" y="51"/>
                    </a:lnTo>
                    <a:lnTo>
                      <a:pt x="13" y="46"/>
                    </a:lnTo>
                    <a:lnTo>
                      <a:pt x="13" y="40"/>
                    </a:lnTo>
                    <a:lnTo>
                      <a:pt x="15" y="34"/>
                    </a:lnTo>
                    <a:lnTo>
                      <a:pt x="17" y="29"/>
                    </a:lnTo>
                    <a:lnTo>
                      <a:pt x="17" y="23"/>
                    </a:lnTo>
                    <a:lnTo>
                      <a:pt x="19" y="17"/>
                    </a:lnTo>
                    <a:lnTo>
                      <a:pt x="21" y="13"/>
                    </a:lnTo>
                    <a:lnTo>
                      <a:pt x="23" y="6"/>
                    </a:lnTo>
                    <a:lnTo>
                      <a:pt x="25" y="0"/>
                    </a:lnTo>
                    <a:close/>
                  </a:path>
                </a:pathLst>
              </a:custGeom>
              <a:solidFill>
                <a:srgbClr val="000000"/>
              </a:solidFill>
              <a:ln w="9525">
                <a:noFill/>
                <a:round/>
              </a:ln>
            </p:spPr>
            <p:txBody>
              <a:bodyPr/>
              <a:lstStyle/>
              <a:p>
                <a:endParaRPr lang="en-US"/>
              </a:p>
            </p:txBody>
          </p:sp>
          <p:sp>
            <p:nvSpPr>
              <p:cNvPr id="1048956" name="Freeform 253"/>
              <p:cNvSpPr/>
              <p:nvPr/>
            </p:nvSpPr>
            <p:spPr bwMode="auto">
              <a:xfrm>
                <a:off x="1873" y="2459"/>
                <a:ext cx="82" cy="88"/>
              </a:xfrm>
              <a:custGeom>
                <a:avLst/>
                <a:gdLst>
                  <a:gd name="T0" fmla="*/ 0 w 163"/>
                  <a:gd name="T1" fmla="*/ 0 h 177"/>
                  <a:gd name="T2" fmla="*/ 82 w 163"/>
                  <a:gd name="T3" fmla="*/ 28 h 177"/>
                  <a:gd name="T4" fmla="*/ 75 w 163"/>
                  <a:gd name="T5" fmla="*/ 88 h 177"/>
                  <a:gd name="T6" fmla="*/ 0 w 163"/>
                  <a:gd name="T7" fmla="*/ 17 h 177"/>
                  <a:gd name="T8" fmla="*/ 0 w 163"/>
                  <a:gd name="T9" fmla="*/ 0 h 177"/>
                  <a:gd name="T10" fmla="*/ 0 w 163"/>
                  <a:gd name="T11" fmla="*/ 0 h 177"/>
                  <a:gd name="T12" fmla="*/ 0 60000 65536"/>
                  <a:gd name="T13" fmla="*/ 0 60000 65536"/>
                  <a:gd name="T14" fmla="*/ 0 60000 65536"/>
                  <a:gd name="T15" fmla="*/ 0 60000 65536"/>
                  <a:gd name="T16" fmla="*/ 0 60000 65536"/>
                  <a:gd name="T17" fmla="*/ 0 60000 65536"/>
                  <a:gd name="T18" fmla="*/ 0 w 163"/>
                  <a:gd name="T19" fmla="*/ 0 h 177"/>
                  <a:gd name="T20" fmla="*/ 163 w 163"/>
                  <a:gd name="T21" fmla="*/ 177 h 177"/>
                </a:gdLst>
                <a:ahLst/>
                <a:cxnLst>
                  <a:cxn ang="T12">
                    <a:pos x="T0" y="T1"/>
                  </a:cxn>
                  <a:cxn ang="T13">
                    <a:pos x="T2" y="T3"/>
                  </a:cxn>
                  <a:cxn ang="T14">
                    <a:pos x="T4" y="T5"/>
                  </a:cxn>
                  <a:cxn ang="T15">
                    <a:pos x="T6" y="T7"/>
                  </a:cxn>
                  <a:cxn ang="T16">
                    <a:pos x="T8" y="T9"/>
                  </a:cxn>
                  <a:cxn ang="T17">
                    <a:pos x="T10" y="T11"/>
                  </a:cxn>
                </a:cxnLst>
                <a:rect l="T18" t="T19" r="T20" b="T21"/>
                <a:pathLst>
                  <a:path w="163" h="177">
                    <a:moveTo>
                      <a:pt x="0" y="0"/>
                    </a:moveTo>
                    <a:lnTo>
                      <a:pt x="163" y="57"/>
                    </a:lnTo>
                    <a:lnTo>
                      <a:pt x="150" y="177"/>
                    </a:lnTo>
                    <a:lnTo>
                      <a:pt x="0" y="34"/>
                    </a:lnTo>
                    <a:lnTo>
                      <a:pt x="0" y="0"/>
                    </a:lnTo>
                    <a:close/>
                  </a:path>
                </a:pathLst>
              </a:custGeom>
              <a:solidFill>
                <a:srgbClr val="FFFFFF"/>
              </a:solidFill>
              <a:ln w="9525">
                <a:noFill/>
                <a:round/>
              </a:ln>
            </p:spPr>
            <p:txBody>
              <a:bodyPr/>
              <a:lstStyle/>
              <a:p>
                <a:endParaRPr lang="en-US"/>
              </a:p>
            </p:txBody>
          </p:sp>
          <p:sp>
            <p:nvSpPr>
              <p:cNvPr id="1048957" name="Freeform 254"/>
              <p:cNvSpPr/>
              <p:nvPr/>
            </p:nvSpPr>
            <p:spPr bwMode="auto">
              <a:xfrm>
                <a:off x="2180" y="2219"/>
                <a:ext cx="62" cy="155"/>
              </a:xfrm>
              <a:custGeom>
                <a:avLst/>
                <a:gdLst>
                  <a:gd name="T0" fmla="*/ 9 w 126"/>
                  <a:gd name="T1" fmla="*/ 0 h 310"/>
                  <a:gd name="T2" fmla="*/ 16 w 126"/>
                  <a:gd name="T3" fmla="*/ 2 h 310"/>
                  <a:gd name="T4" fmla="*/ 23 w 126"/>
                  <a:gd name="T5" fmla="*/ 4 h 310"/>
                  <a:gd name="T6" fmla="*/ 27 w 126"/>
                  <a:gd name="T7" fmla="*/ 5 h 310"/>
                  <a:gd name="T8" fmla="*/ 35 w 126"/>
                  <a:gd name="T9" fmla="*/ 9 h 310"/>
                  <a:gd name="T10" fmla="*/ 43 w 126"/>
                  <a:gd name="T11" fmla="*/ 14 h 310"/>
                  <a:gd name="T12" fmla="*/ 50 w 126"/>
                  <a:gd name="T13" fmla="*/ 20 h 310"/>
                  <a:gd name="T14" fmla="*/ 54 w 126"/>
                  <a:gd name="T15" fmla="*/ 25 h 310"/>
                  <a:gd name="T16" fmla="*/ 58 w 126"/>
                  <a:gd name="T17" fmla="*/ 34 h 310"/>
                  <a:gd name="T18" fmla="*/ 61 w 126"/>
                  <a:gd name="T19" fmla="*/ 41 h 310"/>
                  <a:gd name="T20" fmla="*/ 58 w 126"/>
                  <a:gd name="T21" fmla="*/ 155 h 310"/>
                  <a:gd name="T22" fmla="*/ 52 w 126"/>
                  <a:gd name="T23" fmla="*/ 147 h 310"/>
                  <a:gd name="T24" fmla="*/ 48 w 126"/>
                  <a:gd name="T25" fmla="*/ 139 h 310"/>
                  <a:gd name="T26" fmla="*/ 44 w 126"/>
                  <a:gd name="T27" fmla="*/ 130 h 310"/>
                  <a:gd name="T28" fmla="*/ 42 w 126"/>
                  <a:gd name="T29" fmla="*/ 120 h 310"/>
                  <a:gd name="T30" fmla="*/ 41 w 126"/>
                  <a:gd name="T31" fmla="*/ 115 h 310"/>
                  <a:gd name="T32" fmla="*/ 41 w 126"/>
                  <a:gd name="T33" fmla="*/ 110 h 310"/>
                  <a:gd name="T34" fmla="*/ 40 w 126"/>
                  <a:gd name="T35" fmla="*/ 104 h 310"/>
                  <a:gd name="T36" fmla="*/ 40 w 126"/>
                  <a:gd name="T37" fmla="*/ 100 h 310"/>
                  <a:gd name="T38" fmla="*/ 40 w 126"/>
                  <a:gd name="T39" fmla="*/ 95 h 310"/>
                  <a:gd name="T40" fmla="*/ 40 w 126"/>
                  <a:gd name="T41" fmla="*/ 89 h 310"/>
                  <a:gd name="T42" fmla="*/ 39 w 126"/>
                  <a:gd name="T43" fmla="*/ 80 h 310"/>
                  <a:gd name="T44" fmla="*/ 38 w 126"/>
                  <a:gd name="T45" fmla="*/ 74 h 310"/>
                  <a:gd name="T46" fmla="*/ 38 w 126"/>
                  <a:gd name="T47" fmla="*/ 70 h 310"/>
                  <a:gd name="T48" fmla="*/ 37 w 126"/>
                  <a:gd name="T49" fmla="*/ 60 h 310"/>
                  <a:gd name="T50" fmla="*/ 35 w 126"/>
                  <a:gd name="T51" fmla="*/ 50 h 310"/>
                  <a:gd name="T52" fmla="*/ 33 w 126"/>
                  <a:gd name="T53" fmla="*/ 42 h 310"/>
                  <a:gd name="T54" fmla="*/ 27 w 126"/>
                  <a:gd name="T55" fmla="*/ 34 h 310"/>
                  <a:gd name="T56" fmla="*/ 22 w 126"/>
                  <a:gd name="T57" fmla="*/ 24 h 310"/>
                  <a:gd name="T58" fmla="*/ 14 w 126"/>
                  <a:gd name="T59" fmla="*/ 18 h 310"/>
                  <a:gd name="T60" fmla="*/ 9 w 126"/>
                  <a:gd name="T61" fmla="*/ 15 h 310"/>
                  <a:gd name="T62" fmla="*/ 5 w 126"/>
                  <a:gd name="T63" fmla="*/ 12 h 310"/>
                  <a:gd name="T64" fmla="*/ 1 w 126"/>
                  <a:gd name="T65" fmla="*/ 10 h 310"/>
                  <a:gd name="T66" fmla="*/ 1 w 126"/>
                  <a:gd name="T67" fmla="*/ 6 h 310"/>
                  <a:gd name="T68" fmla="*/ 6 w 126"/>
                  <a:gd name="T69" fmla="*/ 0 h 310"/>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126"/>
                  <a:gd name="T106" fmla="*/ 0 h 310"/>
                  <a:gd name="T107" fmla="*/ 126 w 126"/>
                  <a:gd name="T108" fmla="*/ 310 h 310"/>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126" h="310">
                    <a:moveTo>
                      <a:pt x="12" y="0"/>
                    </a:moveTo>
                    <a:lnTo>
                      <a:pt x="19" y="0"/>
                    </a:lnTo>
                    <a:lnTo>
                      <a:pt x="25" y="2"/>
                    </a:lnTo>
                    <a:lnTo>
                      <a:pt x="32" y="4"/>
                    </a:lnTo>
                    <a:lnTo>
                      <a:pt x="40" y="6"/>
                    </a:lnTo>
                    <a:lnTo>
                      <a:pt x="46" y="8"/>
                    </a:lnTo>
                    <a:lnTo>
                      <a:pt x="50" y="9"/>
                    </a:lnTo>
                    <a:lnTo>
                      <a:pt x="55" y="11"/>
                    </a:lnTo>
                    <a:lnTo>
                      <a:pt x="63" y="13"/>
                    </a:lnTo>
                    <a:lnTo>
                      <a:pt x="72" y="17"/>
                    </a:lnTo>
                    <a:lnTo>
                      <a:pt x="80" y="23"/>
                    </a:lnTo>
                    <a:lnTo>
                      <a:pt x="88" y="28"/>
                    </a:lnTo>
                    <a:lnTo>
                      <a:pt x="97" y="34"/>
                    </a:lnTo>
                    <a:lnTo>
                      <a:pt x="101" y="40"/>
                    </a:lnTo>
                    <a:lnTo>
                      <a:pt x="107" y="46"/>
                    </a:lnTo>
                    <a:lnTo>
                      <a:pt x="110" y="51"/>
                    </a:lnTo>
                    <a:lnTo>
                      <a:pt x="114" y="59"/>
                    </a:lnTo>
                    <a:lnTo>
                      <a:pt x="118" y="67"/>
                    </a:lnTo>
                    <a:lnTo>
                      <a:pt x="120" y="72"/>
                    </a:lnTo>
                    <a:lnTo>
                      <a:pt x="124" y="82"/>
                    </a:lnTo>
                    <a:lnTo>
                      <a:pt x="126" y="89"/>
                    </a:lnTo>
                    <a:lnTo>
                      <a:pt x="118" y="310"/>
                    </a:lnTo>
                    <a:lnTo>
                      <a:pt x="110" y="300"/>
                    </a:lnTo>
                    <a:lnTo>
                      <a:pt x="105" y="293"/>
                    </a:lnTo>
                    <a:lnTo>
                      <a:pt x="99" y="285"/>
                    </a:lnTo>
                    <a:lnTo>
                      <a:pt x="97" y="278"/>
                    </a:lnTo>
                    <a:lnTo>
                      <a:pt x="93" y="268"/>
                    </a:lnTo>
                    <a:lnTo>
                      <a:pt x="90" y="259"/>
                    </a:lnTo>
                    <a:lnTo>
                      <a:pt x="88" y="249"/>
                    </a:lnTo>
                    <a:lnTo>
                      <a:pt x="86" y="240"/>
                    </a:lnTo>
                    <a:lnTo>
                      <a:pt x="86" y="234"/>
                    </a:lnTo>
                    <a:lnTo>
                      <a:pt x="84" y="230"/>
                    </a:lnTo>
                    <a:lnTo>
                      <a:pt x="84" y="224"/>
                    </a:lnTo>
                    <a:lnTo>
                      <a:pt x="84" y="221"/>
                    </a:lnTo>
                    <a:lnTo>
                      <a:pt x="82" y="215"/>
                    </a:lnTo>
                    <a:lnTo>
                      <a:pt x="82" y="209"/>
                    </a:lnTo>
                    <a:lnTo>
                      <a:pt x="82" y="203"/>
                    </a:lnTo>
                    <a:lnTo>
                      <a:pt x="82" y="200"/>
                    </a:lnTo>
                    <a:lnTo>
                      <a:pt x="82" y="194"/>
                    </a:lnTo>
                    <a:lnTo>
                      <a:pt x="82" y="190"/>
                    </a:lnTo>
                    <a:lnTo>
                      <a:pt x="82" y="184"/>
                    </a:lnTo>
                    <a:lnTo>
                      <a:pt x="82" y="179"/>
                    </a:lnTo>
                    <a:lnTo>
                      <a:pt x="80" y="169"/>
                    </a:lnTo>
                    <a:lnTo>
                      <a:pt x="80" y="160"/>
                    </a:lnTo>
                    <a:lnTo>
                      <a:pt x="80" y="154"/>
                    </a:lnTo>
                    <a:lnTo>
                      <a:pt x="78" y="148"/>
                    </a:lnTo>
                    <a:lnTo>
                      <a:pt x="78" y="144"/>
                    </a:lnTo>
                    <a:lnTo>
                      <a:pt x="78" y="139"/>
                    </a:lnTo>
                    <a:lnTo>
                      <a:pt x="76" y="129"/>
                    </a:lnTo>
                    <a:lnTo>
                      <a:pt x="76" y="120"/>
                    </a:lnTo>
                    <a:lnTo>
                      <a:pt x="74" y="110"/>
                    </a:lnTo>
                    <a:lnTo>
                      <a:pt x="72" y="101"/>
                    </a:lnTo>
                    <a:lnTo>
                      <a:pt x="69" y="91"/>
                    </a:lnTo>
                    <a:lnTo>
                      <a:pt x="67" y="84"/>
                    </a:lnTo>
                    <a:lnTo>
                      <a:pt x="61" y="74"/>
                    </a:lnTo>
                    <a:lnTo>
                      <a:pt x="55" y="67"/>
                    </a:lnTo>
                    <a:lnTo>
                      <a:pt x="50" y="57"/>
                    </a:lnTo>
                    <a:lnTo>
                      <a:pt x="44" y="49"/>
                    </a:lnTo>
                    <a:lnTo>
                      <a:pt x="36" y="42"/>
                    </a:lnTo>
                    <a:lnTo>
                      <a:pt x="29" y="36"/>
                    </a:lnTo>
                    <a:lnTo>
                      <a:pt x="23" y="32"/>
                    </a:lnTo>
                    <a:lnTo>
                      <a:pt x="19" y="30"/>
                    </a:lnTo>
                    <a:lnTo>
                      <a:pt x="13" y="27"/>
                    </a:lnTo>
                    <a:lnTo>
                      <a:pt x="10" y="25"/>
                    </a:lnTo>
                    <a:lnTo>
                      <a:pt x="4" y="21"/>
                    </a:lnTo>
                    <a:lnTo>
                      <a:pt x="2" y="19"/>
                    </a:lnTo>
                    <a:lnTo>
                      <a:pt x="0" y="15"/>
                    </a:lnTo>
                    <a:lnTo>
                      <a:pt x="2" y="13"/>
                    </a:lnTo>
                    <a:lnTo>
                      <a:pt x="6" y="6"/>
                    </a:lnTo>
                    <a:lnTo>
                      <a:pt x="12" y="0"/>
                    </a:lnTo>
                    <a:close/>
                  </a:path>
                </a:pathLst>
              </a:custGeom>
              <a:solidFill>
                <a:srgbClr val="000000"/>
              </a:solidFill>
              <a:ln w="9525">
                <a:noFill/>
                <a:round/>
              </a:ln>
            </p:spPr>
            <p:txBody>
              <a:bodyPr/>
              <a:lstStyle/>
              <a:p>
                <a:endParaRPr lang="en-US"/>
              </a:p>
            </p:txBody>
          </p:sp>
          <p:sp>
            <p:nvSpPr>
              <p:cNvPr id="1048958" name="Freeform 255"/>
              <p:cNvSpPr/>
              <p:nvPr/>
            </p:nvSpPr>
            <p:spPr bwMode="auto">
              <a:xfrm>
                <a:off x="2612" y="2132"/>
                <a:ext cx="75" cy="102"/>
              </a:xfrm>
              <a:custGeom>
                <a:avLst/>
                <a:gdLst>
                  <a:gd name="T0" fmla="*/ 9 w 150"/>
                  <a:gd name="T1" fmla="*/ 0 h 203"/>
                  <a:gd name="T2" fmla="*/ 75 w 150"/>
                  <a:gd name="T3" fmla="*/ 84 h 203"/>
                  <a:gd name="T4" fmla="*/ 42 w 150"/>
                  <a:gd name="T5" fmla="*/ 102 h 203"/>
                  <a:gd name="T6" fmla="*/ 0 w 150"/>
                  <a:gd name="T7" fmla="*/ 44 h 203"/>
                  <a:gd name="T8" fmla="*/ 9 w 150"/>
                  <a:gd name="T9" fmla="*/ 0 h 203"/>
                  <a:gd name="T10" fmla="*/ 9 w 150"/>
                  <a:gd name="T11" fmla="*/ 0 h 203"/>
                  <a:gd name="T12" fmla="*/ 0 60000 65536"/>
                  <a:gd name="T13" fmla="*/ 0 60000 65536"/>
                  <a:gd name="T14" fmla="*/ 0 60000 65536"/>
                  <a:gd name="T15" fmla="*/ 0 60000 65536"/>
                  <a:gd name="T16" fmla="*/ 0 60000 65536"/>
                  <a:gd name="T17" fmla="*/ 0 60000 65536"/>
                  <a:gd name="T18" fmla="*/ 0 w 150"/>
                  <a:gd name="T19" fmla="*/ 0 h 203"/>
                  <a:gd name="T20" fmla="*/ 150 w 150"/>
                  <a:gd name="T21" fmla="*/ 203 h 203"/>
                </a:gdLst>
                <a:ahLst/>
                <a:cxnLst>
                  <a:cxn ang="T12">
                    <a:pos x="T0" y="T1"/>
                  </a:cxn>
                  <a:cxn ang="T13">
                    <a:pos x="T2" y="T3"/>
                  </a:cxn>
                  <a:cxn ang="T14">
                    <a:pos x="T4" y="T5"/>
                  </a:cxn>
                  <a:cxn ang="T15">
                    <a:pos x="T6" y="T7"/>
                  </a:cxn>
                  <a:cxn ang="T16">
                    <a:pos x="T8" y="T9"/>
                  </a:cxn>
                  <a:cxn ang="T17">
                    <a:pos x="T10" y="T11"/>
                  </a:cxn>
                </a:cxnLst>
                <a:rect l="T18" t="T19" r="T20" b="T21"/>
                <a:pathLst>
                  <a:path w="150" h="203">
                    <a:moveTo>
                      <a:pt x="17" y="0"/>
                    </a:moveTo>
                    <a:lnTo>
                      <a:pt x="150" y="167"/>
                    </a:lnTo>
                    <a:lnTo>
                      <a:pt x="84" y="203"/>
                    </a:lnTo>
                    <a:lnTo>
                      <a:pt x="0" y="88"/>
                    </a:lnTo>
                    <a:lnTo>
                      <a:pt x="17" y="0"/>
                    </a:lnTo>
                    <a:close/>
                  </a:path>
                </a:pathLst>
              </a:custGeom>
              <a:solidFill>
                <a:srgbClr val="FFFFFF"/>
              </a:solidFill>
              <a:ln w="9525">
                <a:noFill/>
                <a:round/>
              </a:ln>
            </p:spPr>
            <p:txBody>
              <a:bodyPr/>
              <a:lstStyle/>
              <a:p>
                <a:endParaRPr lang="en-US"/>
              </a:p>
            </p:txBody>
          </p:sp>
          <p:sp>
            <p:nvSpPr>
              <p:cNvPr id="1048959" name="Freeform 256"/>
              <p:cNvSpPr/>
              <p:nvPr/>
            </p:nvSpPr>
            <p:spPr bwMode="auto">
              <a:xfrm>
                <a:off x="2546" y="2606"/>
                <a:ext cx="88" cy="195"/>
              </a:xfrm>
              <a:custGeom>
                <a:avLst/>
                <a:gdLst>
                  <a:gd name="T0" fmla="*/ 88 w 177"/>
                  <a:gd name="T1" fmla="*/ 195 h 390"/>
                  <a:gd name="T2" fmla="*/ 81 w 177"/>
                  <a:gd name="T3" fmla="*/ 194 h 390"/>
                  <a:gd name="T4" fmla="*/ 75 w 177"/>
                  <a:gd name="T5" fmla="*/ 192 h 390"/>
                  <a:gd name="T6" fmla="*/ 69 w 177"/>
                  <a:gd name="T7" fmla="*/ 189 h 390"/>
                  <a:gd name="T8" fmla="*/ 64 w 177"/>
                  <a:gd name="T9" fmla="*/ 187 h 390"/>
                  <a:gd name="T10" fmla="*/ 59 w 177"/>
                  <a:gd name="T11" fmla="*/ 182 h 390"/>
                  <a:gd name="T12" fmla="*/ 53 w 177"/>
                  <a:gd name="T13" fmla="*/ 178 h 390"/>
                  <a:gd name="T14" fmla="*/ 48 w 177"/>
                  <a:gd name="T15" fmla="*/ 172 h 390"/>
                  <a:gd name="T16" fmla="*/ 45 w 177"/>
                  <a:gd name="T17" fmla="*/ 168 h 390"/>
                  <a:gd name="T18" fmla="*/ 40 w 177"/>
                  <a:gd name="T19" fmla="*/ 161 h 390"/>
                  <a:gd name="T20" fmla="*/ 36 w 177"/>
                  <a:gd name="T21" fmla="*/ 154 h 390"/>
                  <a:gd name="T22" fmla="*/ 31 w 177"/>
                  <a:gd name="T23" fmla="*/ 148 h 390"/>
                  <a:gd name="T24" fmla="*/ 28 w 177"/>
                  <a:gd name="T25" fmla="*/ 141 h 390"/>
                  <a:gd name="T26" fmla="*/ 25 w 177"/>
                  <a:gd name="T27" fmla="*/ 133 h 390"/>
                  <a:gd name="T28" fmla="*/ 22 w 177"/>
                  <a:gd name="T29" fmla="*/ 125 h 390"/>
                  <a:gd name="T30" fmla="*/ 19 w 177"/>
                  <a:gd name="T31" fmla="*/ 118 h 390"/>
                  <a:gd name="T32" fmla="*/ 16 w 177"/>
                  <a:gd name="T33" fmla="*/ 109 h 390"/>
                  <a:gd name="T34" fmla="*/ 13 w 177"/>
                  <a:gd name="T35" fmla="*/ 101 h 390"/>
                  <a:gd name="T36" fmla="*/ 11 w 177"/>
                  <a:gd name="T37" fmla="*/ 93 h 390"/>
                  <a:gd name="T38" fmla="*/ 9 w 177"/>
                  <a:gd name="T39" fmla="*/ 85 h 390"/>
                  <a:gd name="T40" fmla="*/ 7 w 177"/>
                  <a:gd name="T41" fmla="*/ 77 h 390"/>
                  <a:gd name="T42" fmla="*/ 6 w 177"/>
                  <a:gd name="T43" fmla="*/ 69 h 390"/>
                  <a:gd name="T44" fmla="*/ 5 w 177"/>
                  <a:gd name="T45" fmla="*/ 61 h 390"/>
                  <a:gd name="T46" fmla="*/ 3 w 177"/>
                  <a:gd name="T47" fmla="*/ 53 h 390"/>
                  <a:gd name="T48" fmla="*/ 2 w 177"/>
                  <a:gd name="T49" fmla="*/ 47 h 390"/>
                  <a:gd name="T50" fmla="*/ 1 w 177"/>
                  <a:gd name="T51" fmla="*/ 39 h 390"/>
                  <a:gd name="T52" fmla="*/ 0 w 177"/>
                  <a:gd name="T53" fmla="*/ 33 h 390"/>
                  <a:gd name="T54" fmla="*/ 0 w 177"/>
                  <a:gd name="T55" fmla="*/ 25 h 390"/>
                  <a:gd name="T56" fmla="*/ 0 w 177"/>
                  <a:gd name="T57" fmla="*/ 21 h 390"/>
                  <a:gd name="T58" fmla="*/ 0 w 177"/>
                  <a:gd name="T59" fmla="*/ 15 h 390"/>
                  <a:gd name="T60" fmla="*/ 0 w 177"/>
                  <a:gd name="T61" fmla="*/ 11 h 390"/>
                  <a:gd name="T62" fmla="*/ 1 w 177"/>
                  <a:gd name="T63" fmla="*/ 3 h 390"/>
                  <a:gd name="T64" fmla="*/ 6 w 177"/>
                  <a:gd name="T65" fmla="*/ 0 h 390"/>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77"/>
                  <a:gd name="T100" fmla="*/ 0 h 390"/>
                  <a:gd name="T101" fmla="*/ 177 w 177"/>
                  <a:gd name="T102" fmla="*/ 390 h 390"/>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77" h="390">
                    <a:moveTo>
                      <a:pt x="13" y="0"/>
                    </a:moveTo>
                    <a:lnTo>
                      <a:pt x="177" y="390"/>
                    </a:lnTo>
                    <a:lnTo>
                      <a:pt x="169" y="388"/>
                    </a:lnTo>
                    <a:lnTo>
                      <a:pt x="162" y="388"/>
                    </a:lnTo>
                    <a:lnTo>
                      <a:pt x="156" y="384"/>
                    </a:lnTo>
                    <a:lnTo>
                      <a:pt x="150" y="384"/>
                    </a:lnTo>
                    <a:lnTo>
                      <a:pt x="145" y="380"/>
                    </a:lnTo>
                    <a:lnTo>
                      <a:pt x="139" y="378"/>
                    </a:lnTo>
                    <a:lnTo>
                      <a:pt x="133" y="374"/>
                    </a:lnTo>
                    <a:lnTo>
                      <a:pt x="128" y="373"/>
                    </a:lnTo>
                    <a:lnTo>
                      <a:pt x="124" y="367"/>
                    </a:lnTo>
                    <a:lnTo>
                      <a:pt x="118" y="363"/>
                    </a:lnTo>
                    <a:lnTo>
                      <a:pt x="112" y="359"/>
                    </a:lnTo>
                    <a:lnTo>
                      <a:pt x="107" y="355"/>
                    </a:lnTo>
                    <a:lnTo>
                      <a:pt x="101" y="350"/>
                    </a:lnTo>
                    <a:lnTo>
                      <a:pt x="97" y="344"/>
                    </a:lnTo>
                    <a:lnTo>
                      <a:pt x="93" y="338"/>
                    </a:lnTo>
                    <a:lnTo>
                      <a:pt x="90" y="335"/>
                    </a:lnTo>
                    <a:lnTo>
                      <a:pt x="84" y="329"/>
                    </a:lnTo>
                    <a:lnTo>
                      <a:pt x="80" y="321"/>
                    </a:lnTo>
                    <a:lnTo>
                      <a:pt x="74" y="316"/>
                    </a:lnTo>
                    <a:lnTo>
                      <a:pt x="72" y="308"/>
                    </a:lnTo>
                    <a:lnTo>
                      <a:pt x="67" y="302"/>
                    </a:lnTo>
                    <a:lnTo>
                      <a:pt x="63" y="295"/>
                    </a:lnTo>
                    <a:lnTo>
                      <a:pt x="59" y="287"/>
                    </a:lnTo>
                    <a:lnTo>
                      <a:pt x="57" y="281"/>
                    </a:lnTo>
                    <a:lnTo>
                      <a:pt x="53" y="274"/>
                    </a:lnTo>
                    <a:lnTo>
                      <a:pt x="50" y="266"/>
                    </a:lnTo>
                    <a:lnTo>
                      <a:pt x="46" y="258"/>
                    </a:lnTo>
                    <a:lnTo>
                      <a:pt x="44" y="251"/>
                    </a:lnTo>
                    <a:lnTo>
                      <a:pt x="40" y="243"/>
                    </a:lnTo>
                    <a:lnTo>
                      <a:pt x="38" y="236"/>
                    </a:lnTo>
                    <a:lnTo>
                      <a:pt x="34" y="226"/>
                    </a:lnTo>
                    <a:lnTo>
                      <a:pt x="32" y="219"/>
                    </a:lnTo>
                    <a:lnTo>
                      <a:pt x="31" y="211"/>
                    </a:lnTo>
                    <a:lnTo>
                      <a:pt x="27" y="203"/>
                    </a:lnTo>
                    <a:lnTo>
                      <a:pt x="25" y="194"/>
                    </a:lnTo>
                    <a:lnTo>
                      <a:pt x="23" y="186"/>
                    </a:lnTo>
                    <a:lnTo>
                      <a:pt x="19" y="179"/>
                    </a:lnTo>
                    <a:lnTo>
                      <a:pt x="19" y="169"/>
                    </a:lnTo>
                    <a:lnTo>
                      <a:pt x="17" y="162"/>
                    </a:lnTo>
                    <a:lnTo>
                      <a:pt x="15" y="154"/>
                    </a:lnTo>
                    <a:lnTo>
                      <a:pt x="13" y="146"/>
                    </a:lnTo>
                    <a:lnTo>
                      <a:pt x="12" y="137"/>
                    </a:lnTo>
                    <a:lnTo>
                      <a:pt x="10" y="129"/>
                    </a:lnTo>
                    <a:lnTo>
                      <a:pt x="10" y="122"/>
                    </a:lnTo>
                    <a:lnTo>
                      <a:pt x="8" y="114"/>
                    </a:lnTo>
                    <a:lnTo>
                      <a:pt x="6" y="106"/>
                    </a:lnTo>
                    <a:lnTo>
                      <a:pt x="4" y="99"/>
                    </a:lnTo>
                    <a:lnTo>
                      <a:pt x="4" y="93"/>
                    </a:lnTo>
                    <a:lnTo>
                      <a:pt x="2" y="84"/>
                    </a:lnTo>
                    <a:lnTo>
                      <a:pt x="2" y="78"/>
                    </a:lnTo>
                    <a:lnTo>
                      <a:pt x="0" y="70"/>
                    </a:lnTo>
                    <a:lnTo>
                      <a:pt x="0" y="65"/>
                    </a:lnTo>
                    <a:lnTo>
                      <a:pt x="0" y="57"/>
                    </a:lnTo>
                    <a:lnTo>
                      <a:pt x="0" y="51"/>
                    </a:lnTo>
                    <a:lnTo>
                      <a:pt x="0" y="47"/>
                    </a:lnTo>
                    <a:lnTo>
                      <a:pt x="0" y="42"/>
                    </a:lnTo>
                    <a:lnTo>
                      <a:pt x="0" y="36"/>
                    </a:lnTo>
                    <a:lnTo>
                      <a:pt x="0" y="30"/>
                    </a:lnTo>
                    <a:lnTo>
                      <a:pt x="0" y="25"/>
                    </a:lnTo>
                    <a:lnTo>
                      <a:pt x="0" y="21"/>
                    </a:lnTo>
                    <a:lnTo>
                      <a:pt x="0" y="13"/>
                    </a:lnTo>
                    <a:lnTo>
                      <a:pt x="2" y="7"/>
                    </a:lnTo>
                    <a:lnTo>
                      <a:pt x="13" y="0"/>
                    </a:lnTo>
                    <a:close/>
                  </a:path>
                </a:pathLst>
              </a:custGeom>
              <a:solidFill>
                <a:srgbClr val="000000"/>
              </a:solidFill>
              <a:ln w="9525">
                <a:noFill/>
                <a:round/>
              </a:ln>
            </p:spPr>
            <p:txBody>
              <a:bodyPr/>
              <a:lstStyle/>
              <a:p>
                <a:endParaRPr lang="en-US"/>
              </a:p>
            </p:txBody>
          </p:sp>
          <p:sp>
            <p:nvSpPr>
              <p:cNvPr id="1048960" name="Freeform 257"/>
              <p:cNvSpPr/>
              <p:nvPr/>
            </p:nvSpPr>
            <p:spPr bwMode="auto">
              <a:xfrm>
                <a:off x="2636" y="2777"/>
                <a:ext cx="129" cy="86"/>
              </a:xfrm>
              <a:custGeom>
                <a:avLst/>
                <a:gdLst>
                  <a:gd name="T0" fmla="*/ 27 w 258"/>
                  <a:gd name="T1" fmla="*/ 4 h 173"/>
                  <a:gd name="T2" fmla="*/ 33 w 258"/>
                  <a:gd name="T3" fmla="*/ 1 h 173"/>
                  <a:gd name="T4" fmla="*/ 40 w 258"/>
                  <a:gd name="T5" fmla="*/ 0 h 173"/>
                  <a:gd name="T6" fmla="*/ 47 w 258"/>
                  <a:gd name="T7" fmla="*/ 0 h 173"/>
                  <a:gd name="T8" fmla="*/ 55 w 258"/>
                  <a:gd name="T9" fmla="*/ 0 h 173"/>
                  <a:gd name="T10" fmla="*/ 63 w 258"/>
                  <a:gd name="T11" fmla="*/ 2 h 173"/>
                  <a:gd name="T12" fmla="*/ 72 w 258"/>
                  <a:gd name="T13" fmla="*/ 5 h 173"/>
                  <a:gd name="T14" fmla="*/ 81 w 258"/>
                  <a:gd name="T15" fmla="*/ 7 h 173"/>
                  <a:gd name="T16" fmla="*/ 89 w 258"/>
                  <a:gd name="T17" fmla="*/ 10 h 173"/>
                  <a:gd name="T18" fmla="*/ 98 w 258"/>
                  <a:gd name="T19" fmla="*/ 15 h 173"/>
                  <a:gd name="T20" fmla="*/ 105 w 258"/>
                  <a:gd name="T21" fmla="*/ 20 h 173"/>
                  <a:gd name="T22" fmla="*/ 112 w 258"/>
                  <a:gd name="T23" fmla="*/ 26 h 173"/>
                  <a:gd name="T24" fmla="*/ 118 w 258"/>
                  <a:gd name="T25" fmla="*/ 31 h 173"/>
                  <a:gd name="T26" fmla="*/ 122 w 258"/>
                  <a:gd name="T27" fmla="*/ 37 h 173"/>
                  <a:gd name="T28" fmla="*/ 126 w 258"/>
                  <a:gd name="T29" fmla="*/ 43 h 173"/>
                  <a:gd name="T30" fmla="*/ 128 w 258"/>
                  <a:gd name="T31" fmla="*/ 49 h 173"/>
                  <a:gd name="T32" fmla="*/ 0 w 258"/>
                  <a:gd name="T33" fmla="*/ 86 h 173"/>
                  <a:gd name="T34" fmla="*/ 3 w 258"/>
                  <a:gd name="T35" fmla="*/ 82 h 173"/>
                  <a:gd name="T36" fmla="*/ 10 w 258"/>
                  <a:gd name="T37" fmla="*/ 78 h 173"/>
                  <a:gd name="T38" fmla="*/ 16 w 258"/>
                  <a:gd name="T39" fmla="*/ 74 h 173"/>
                  <a:gd name="T40" fmla="*/ 24 w 258"/>
                  <a:gd name="T41" fmla="*/ 70 h 173"/>
                  <a:gd name="T42" fmla="*/ 31 w 258"/>
                  <a:gd name="T43" fmla="*/ 67 h 173"/>
                  <a:gd name="T44" fmla="*/ 40 w 258"/>
                  <a:gd name="T45" fmla="*/ 65 h 173"/>
                  <a:gd name="T46" fmla="*/ 48 w 258"/>
                  <a:gd name="T47" fmla="*/ 62 h 173"/>
                  <a:gd name="T48" fmla="*/ 57 w 258"/>
                  <a:gd name="T49" fmla="*/ 59 h 173"/>
                  <a:gd name="T50" fmla="*/ 65 w 258"/>
                  <a:gd name="T51" fmla="*/ 56 h 173"/>
                  <a:gd name="T52" fmla="*/ 72 w 258"/>
                  <a:gd name="T53" fmla="*/ 54 h 173"/>
                  <a:gd name="T54" fmla="*/ 79 w 258"/>
                  <a:gd name="T55" fmla="*/ 51 h 173"/>
                  <a:gd name="T56" fmla="*/ 86 w 258"/>
                  <a:gd name="T57" fmla="*/ 50 h 173"/>
                  <a:gd name="T58" fmla="*/ 92 w 258"/>
                  <a:gd name="T59" fmla="*/ 48 h 173"/>
                  <a:gd name="T60" fmla="*/ 98 w 258"/>
                  <a:gd name="T61" fmla="*/ 46 h 173"/>
                  <a:gd name="T62" fmla="*/ 104 w 258"/>
                  <a:gd name="T63" fmla="*/ 44 h 173"/>
                  <a:gd name="T64" fmla="*/ 25 w 258"/>
                  <a:gd name="T65" fmla="*/ 6 h 173"/>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258"/>
                  <a:gd name="T100" fmla="*/ 0 h 173"/>
                  <a:gd name="T101" fmla="*/ 258 w 258"/>
                  <a:gd name="T102" fmla="*/ 173 h 173"/>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258" h="173">
                    <a:moveTo>
                      <a:pt x="51" y="12"/>
                    </a:moveTo>
                    <a:lnTo>
                      <a:pt x="55" y="8"/>
                    </a:lnTo>
                    <a:lnTo>
                      <a:pt x="61" y="4"/>
                    </a:lnTo>
                    <a:lnTo>
                      <a:pt x="66" y="2"/>
                    </a:lnTo>
                    <a:lnTo>
                      <a:pt x="72" y="2"/>
                    </a:lnTo>
                    <a:lnTo>
                      <a:pt x="80" y="0"/>
                    </a:lnTo>
                    <a:lnTo>
                      <a:pt x="85" y="0"/>
                    </a:lnTo>
                    <a:lnTo>
                      <a:pt x="95" y="0"/>
                    </a:lnTo>
                    <a:lnTo>
                      <a:pt x="102" y="0"/>
                    </a:lnTo>
                    <a:lnTo>
                      <a:pt x="110" y="0"/>
                    </a:lnTo>
                    <a:lnTo>
                      <a:pt x="118" y="2"/>
                    </a:lnTo>
                    <a:lnTo>
                      <a:pt x="127" y="4"/>
                    </a:lnTo>
                    <a:lnTo>
                      <a:pt x="137" y="6"/>
                    </a:lnTo>
                    <a:lnTo>
                      <a:pt x="144" y="10"/>
                    </a:lnTo>
                    <a:lnTo>
                      <a:pt x="154" y="12"/>
                    </a:lnTo>
                    <a:lnTo>
                      <a:pt x="163" y="15"/>
                    </a:lnTo>
                    <a:lnTo>
                      <a:pt x="171" y="19"/>
                    </a:lnTo>
                    <a:lnTo>
                      <a:pt x="179" y="21"/>
                    </a:lnTo>
                    <a:lnTo>
                      <a:pt x="188" y="27"/>
                    </a:lnTo>
                    <a:lnTo>
                      <a:pt x="196" y="31"/>
                    </a:lnTo>
                    <a:lnTo>
                      <a:pt x="203" y="36"/>
                    </a:lnTo>
                    <a:lnTo>
                      <a:pt x="211" y="40"/>
                    </a:lnTo>
                    <a:lnTo>
                      <a:pt x="218" y="46"/>
                    </a:lnTo>
                    <a:lnTo>
                      <a:pt x="224" y="52"/>
                    </a:lnTo>
                    <a:lnTo>
                      <a:pt x="232" y="57"/>
                    </a:lnTo>
                    <a:lnTo>
                      <a:pt x="237" y="63"/>
                    </a:lnTo>
                    <a:lnTo>
                      <a:pt x="241" y="69"/>
                    </a:lnTo>
                    <a:lnTo>
                      <a:pt x="245" y="74"/>
                    </a:lnTo>
                    <a:lnTo>
                      <a:pt x="251" y="80"/>
                    </a:lnTo>
                    <a:lnTo>
                      <a:pt x="253" y="86"/>
                    </a:lnTo>
                    <a:lnTo>
                      <a:pt x="255" y="93"/>
                    </a:lnTo>
                    <a:lnTo>
                      <a:pt x="256" y="99"/>
                    </a:lnTo>
                    <a:lnTo>
                      <a:pt x="258" y="105"/>
                    </a:lnTo>
                    <a:lnTo>
                      <a:pt x="0" y="173"/>
                    </a:lnTo>
                    <a:lnTo>
                      <a:pt x="4" y="168"/>
                    </a:lnTo>
                    <a:lnTo>
                      <a:pt x="7" y="164"/>
                    </a:lnTo>
                    <a:lnTo>
                      <a:pt x="13" y="160"/>
                    </a:lnTo>
                    <a:lnTo>
                      <a:pt x="21" y="156"/>
                    </a:lnTo>
                    <a:lnTo>
                      <a:pt x="26" y="152"/>
                    </a:lnTo>
                    <a:lnTo>
                      <a:pt x="32" y="149"/>
                    </a:lnTo>
                    <a:lnTo>
                      <a:pt x="40" y="145"/>
                    </a:lnTo>
                    <a:lnTo>
                      <a:pt x="49" y="141"/>
                    </a:lnTo>
                    <a:lnTo>
                      <a:pt x="55" y="137"/>
                    </a:lnTo>
                    <a:lnTo>
                      <a:pt x="63" y="135"/>
                    </a:lnTo>
                    <a:lnTo>
                      <a:pt x="72" y="131"/>
                    </a:lnTo>
                    <a:lnTo>
                      <a:pt x="80" y="130"/>
                    </a:lnTo>
                    <a:lnTo>
                      <a:pt x="87" y="126"/>
                    </a:lnTo>
                    <a:lnTo>
                      <a:pt x="97" y="124"/>
                    </a:lnTo>
                    <a:lnTo>
                      <a:pt x="104" y="120"/>
                    </a:lnTo>
                    <a:lnTo>
                      <a:pt x="114" y="118"/>
                    </a:lnTo>
                    <a:lnTo>
                      <a:pt x="121" y="116"/>
                    </a:lnTo>
                    <a:lnTo>
                      <a:pt x="129" y="112"/>
                    </a:lnTo>
                    <a:lnTo>
                      <a:pt x="137" y="111"/>
                    </a:lnTo>
                    <a:lnTo>
                      <a:pt x="144" y="109"/>
                    </a:lnTo>
                    <a:lnTo>
                      <a:pt x="152" y="105"/>
                    </a:lnTo>
                    <a:lnTo>
                      <a:pt x="159" y="103"/>
                    </a:lnTo>
                    <a:lnTo>
                      <a:pt x="165" y="101"/>
                    </a:lnTo>
                    <a:lnTo>
                      <a:pt x="173" y="101"/>
                    </a:lnTo>
                    <a:lnTo>
                      <a:pt x="179" y="97"/>
                    </a:lnTo>
                    <a:lnTo>
                      <a:pt x="184" y="97"/>
                    </a:lnTo>
                    <a:lnTo>
                      <a:pt x="190" y="93"/>
                    </a:lnTo>
                    <a:lnTo>
                      <a:pt x="196" y="93"/>
                    </a:lnTo>
                    <a:lnTo>
                      <a:pt x="203" y="90"/>
                    </a:lnTo>
                    <a:lnTo>
                      <a:pt x="209" y="88"/>
                    </a:lnTo>
                    <a:lnTo>
                      <a:pt x="51" y="12"/>
                    </a:lnTo>
                    <a:close/>
                  </a:path>
                </a:pathLst>
              </a:custGeom>
              <a:solidFill>
                <a:srgbClr val="000000"/>
              </a:solidFill>
              <a:ln w="9525">
                <a:noFill/>
                <a:round/>
              </a:ln>
            </p:spPr>
            <p:txBody>
              <a:bodyPr/>
              <a:lstStyle/>
              <a:p>
                <a:endParaRPr lang="en-US"/>
              </a:p>
            </p:txBody>
          </p:sp>
          <p:sp>
            <p:nvSpPr>
              <p:cNvPr id="1048961" name="Freeform 258"/>
              <p:cNvSpPr/>
              <p:nvPr/>
            </p:nvSpPr>
            <p:spPr bwMode="auto">
              <a:xfrm>
                <a:off x="2400" y="2216"/>
                <a:ext cx="43" cy="242"/>
              </a:xfrm>
              <a:custGeom>
                <a:avLst/>
                <a:gdLst>
                  <a:gd name="T0" fmla="*/ 4 w 86"/>
                  <a:gd name="T1" fmla="*/ 4 h 485"/>
                  <a:gd name="T2" fmla="*/ 5 w 86"/>
                  <a:gd name="T3" fmla="*/ 10 h 485"/>
                  <a:gd name="T4" fmla="*/ 7 w 86"/>
                  <a:gd name="T5" fmla="*/ 22 h 485"/>
                  <a:gd name="T6" fmla="*/ 11 w 86"/>
                  <a:gd name="T7" fmla="*/ 35 h 485"/>
                  <a:gd name="T8" fmla="*/ 13 w 86"/>
                  <a:gd name="T9" fmla="*/ 46 h 485"/>
                  <a:gd name="T10" fmla="*/ 15 w 86"/>
                  <a:gd name="T11" fmla="*/ 54 h 485"/>
                  <a:gd name="T12" fmla="*/ 17 w 86"/>
                  <a:gd name="T13" fmla="*/ 63 h 485"/>
                  <a:gd name="T14" fmla="*/ 19 w 86"/>
                  <a:gd name="T15" fmla="*/ 71 h 485"/>
                  <a:gd name="T16" fmla="*/ 21 w 86"/>
                  <a:gd name="T17" fmla="*/ 80 h 485"/>
                  <a:gd name="T18" fmla="*/ 23 w 86"/>
                  <a:gd name="T19" fmla="*/ 89 h 485"/>
                  <a:gd name="T20" fmla="*/ 26 w 86"/>
                  <a:gd name="T21" fmla="*/ 99 h 485"/>
                  <a:gd name="T22" fmla="*/ 27 w 86"/>
                  <a:gd name="T23" fmla="*/ 108 h 485"/>
                  <a:gd name="T24" fmla="*/ 29 w 86"/>
                  <a:gd name="T25" fmla="*/ 118 h 485"/>
                  <a:gd name="T26" fmla="*/ 31 w 86"/>
                  <a:gd name="T27" fmla="*/ 127 h 485"/>
                  <a:gd name="T28" fmla="*/ 34 w 86"/>
                  <a:gd name="T29" fmla="*/ 136 h 485"/>
                  <a:gd name="T30" fmla="*/ 35 w 86"/>
                  <a:gd name="T31" fmla="*/ 145 h 485"/>
                  <a:gd name="T32" fmla="*/ 37 w 86"/>
                  <a:gd name="T33" fmla="*/ 154 h 485"/>
                  <a:gd name="T34" fmla="*/ 38 w 86"/>
                  <a:gd name="T35" fmla="*/ 163 h 485"/>
                  <a:gd name="T36" fmla="*/ 40 w 86"/>
                  <a:gd name="T37" fmla="*/ 177 h 485"/>
                  <a:gd name="T38" fmla="*/ 41 w 86"/>
                  <a:gd name="T39" fmla="*/ 187 h 485"/>
                  <a:gd name="T40" fmla="*/ 42 w 86"/>
                  <a:gd name="T41" fmla="*/ 197 h 485"/>
                  <a:gd name="T42" fmla="*/ 42 w 86"/>
                  <a:gd name="T43" fmla="*/ 204 h 485"/>
                  <a:gd name="T44" fmla="*/ 42 w 86"/>
                  <a:gd name="T45" fmla="*/ 215 h 485"/>
                  <a:gd name="T46" fmla="*/ 40 w 86"/>
                  <a:gd name="T47" fmla="*/ 227 h 485"/>
                  <a:gd name="T48" fmla="*/ 38 w 86"/>
                  <a:gd name="T49" fmla="*/ 237 h 485"/>
                  <a:gd name="T50" fmla="*/ 35 w 86"/>
                  <a:gd name="T51" fmla="*/ 242 h 485"/>
                  <a:gd name="T52" fmla="*/ 25 w 86"/>
                  <a:gd name="T53" fmla="*/ 242 h 485"/>
                  <a:gd name="T54" fmla="*/ 23 w 86"/>
                  <a:gd name="T55" fmla="*/ 231 h 485"/>
                  <a:gd name="T56" fmla="*/ 22 w 86"/>
                  <a:gd name="T57" fmla="*/ 221 h 485"/>
                  <a:gd name="T58" fmla="*/ 21 w 86"/>
                  <a:gd name="T59" fmla="*/ 209 h 485"/>
                  <a:gd name="T60" fmla="*/ 20 w 86"/>
                  <a:gd name="T61" fmla="*/ 199 h 485"/>
                  <a:gd name="T62" fmla="*/ 19 w 86"/>
                  <a:gd name="T63" fmla="*/ 188 h 485"/>
                  <a:gd name="T64" fmla="*/ 18 w 86"/>
                  <a:gd name="T65" fmla="*/ 177 h 485"/>
                  <a:gd name="T66" fmla="*/ 17 w 86"/>
                  <a:gd name="T67" fmla="*/ 166 h 485"/>
                  <a:gd name="T68" fmla="*/ 17 w 86"/>
                  <a:gd name="T69" fmla="*/ 156 h 485"/>
                  <a:gd name="T70" fmla="*/ 15 w 86"/>
                  <a:gd name="T71" fmla="*/ 144 h 485"/>
                  <a:gd name="T72" fmla="*/ 14 w 86"/>
                  <a:gd name="T73" fmla="*/ 134 h 485"/>
                  <a:gd name="T74" fmla="*/ 14 w 86"/>
                  <a:gd name="T75" fmla="*/ 123 h 485"/>
                  <a:gd name="T76" fmla="*/ 12 w 86"/>
                  <a:gd name="T77" fmla="*/ 112 h 485"/>
                  <a:gd name="T78" fmla="*/ 11 w 86"/>
                  <a:gd name="T79" fmla="*/ 102 h 485"/>
                  <a:gd name="T80" fmla="*/ 11 w 86"/>
                  <a:gd name="T81" fmla="*/ 91 h 485"/>
                  <a:gd name="T82" fmla="*/ 10 w 86"/>
                  <a:gd name="T83" fmla="*/ 80 h 485"/>
                  <a:gd name="T84" fmla="*/ 9 w 86"/>
                  <a:gd name="T85" fmla="*/ 70 h 485"/>
                  <a:gd name="T86" fmla="*/ 7 w 86"/>
                  <a:gd name="T87" fmla="*/ 60 h 485"/>
                  <a:gd name="T88" fmla="*/ 6 w 86"/>
                  <a:gd name="T89" fmla="*/ 49 h 485"/>
                  <a:gd name="T90" fmla="*/ 4 w 86"/>
                  <a:gd name="T91" fmla="*/ 39 h 485"/>
                  <a:gd name="T92" fmla="*/ 3 w 86"/>
                  <a:gd name="T93" fmla="*/ 29 h 485"/>
                  <a:gd name="T94" fmla="*/ 1 w 86"/>
                  <a:gd name="T95" fmla="*/ 19 h 485"/>
                  <a:gd name="T96" fmla="*/ 0 w 86"/>
                  <a:gd name="T97" fmla="*/ 11 h 485"/>
                  <a:gd name="T98" fmla="*/ 2 w 86"/>
                  <a:gd name="T99" fmla="*/ 4 h 485"/>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w 86"/>
                  <a:gd name="T151" fmla="*/ 0 h 485"/>
                  <a:gd name="T152" fmla="*/ 86 w 86"/>
                  <a:gd name="T153" fmla="*/ 485 h 485"/>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T150" t="T151" r="T152" b="T153"/>
                <a:pathLst>
                  <a:path w="86" h="485">
                    <a:moveTo>
                      <a:pt x="6" y="0"/>
                    </a:moveTo>
                    <a:lnTo>
                      <a:pt x="6" y="2"/>
                    </a:lnTo>
                    <a:lnTo>
                      <a:pt x="8" y="8"/>
                    </a:lnTo>
                    <a:lnTo>
                      <a:pt x="8" y="12"/>
                    </a:lnTo>
                    <a:lnTo>
                      <a:pt x="10" y="16"/>
                    </a:lnTo>
                    <a:lnTo>
                      <a:pt x="10" y="21"/>
                    </a:lnTo>
                    <a:lnTo>
                      <a:pt x="12" y="29"/>
                    </a:lnTo>
                    <a:lnTo>
                      <a:pt x="12" y="36"/>
                    </a:lnTo>
                    <a:lnTo>
                      <a:pt x="14" y="44"/>
                    </a:lnTo>
                    <a:lnTo>
                      <a:pt x="15" y="52"/>
                    </a:lnTo>
                    <a:lnTo>
                      <a:pt x="19" y="61"/>
                    </a:lnTo>
                    <a:lnTo>
                      <a:pt x="21" y="71"/>
                    </a:lnTo>
                    <a:lnTo>
                      <a:pt x="25" y="80"/>
                    </a:lnTo>
                    <a:lnTo>
                      <a:pt x="25" y="86"/>
                    </a:lnTo>
                    <a:lnTo>
                      <a:pt x="27" y="92"/>
                    </a:lnTo>
                    <a:lnTo>
                      <a:pt x="29" y="97"/>
                    </a:lnTo>
                    <a:lnTo>
                      <a:pt x="31" y="103"/>
                    </a:lnTo>
                    <a:lnTo>
                      <a:pt x="31" y="109"/>
                    </a:lnTo>
                    <a:lnTo>
                      <a:pt x="33" y="114"/>
                    </a:lnTo>
                    <a:lnTo>
                      <a:pt x="33" y="120"/>
                    </a:lnTo>
                    <a:lnTo>
                      <a:pt x="34" y="126"/>
                    </a:lnTo>
                    <a:lnTo>
                      <a:pt x="36" y="130"/>
                    </a:lnTo>
                    <a:lnTo>
                      <a:pt x="38" y="137"/>
                    </a:lnTo>
                    <a:lnTo>
                      <a:pt x="38" y="143"/>
                    </a:lnTo>
                    <a:lnTo>
                      <a:pt x="40" y="149"/>
                    </a:lnTo>
                    <a:lnTo>
                      <a:pt x="40" y="154"/>
                    </a:lnTo>
                    <a:lnTo>
                      <a:pt x="42" y="160"/>
                    </a:lnTo>
                    <a:lnTo>
                      <a:pt x="44" y="168"/>
                    </a:lnTo>
                    <a:lnTo>
                      <a:pt x="46" y="173"/>
                    </a:lnTo>
                    <a:lnTo>
                      <a:pt x="46" y="179"/>
                    </a:lnTo>
                    <a:lnTo>
                      <a:pt x="48" y="185"/>
                    </a:lnTo>
                    <a:lnTo>
                      <a:pt x="50" y="192"/>
                    </a:lnTo>
                    <a:lnTo>
                      <a:pt x="52" y="198"/>
                    </a:lnTo>
                    <a:lnTo>
                      <a:pt x="52" y="204"/>
                    </a:lnTo>
                    <a:lnTo>
                      <a:pt x="54" y="211"/>
                    </a:lnTo>
                    <a:lnTo>
                      <a:pt x="54" y="217"/>
                    </a:lnTo>
                    <a:lnTo>
                      <a:pt x="55" y="223"/>
                    </a:lnTo>
                    <a:lnTo>
                      <a:pt x="57" y="229"/>
                    </a:lnTo>
                    <a:lnTo>
                      <a:pt x="59" y="236"/>
                    </a:lnTo>
                    <a:lnTo>
                      <a:pt x="59" y="242"/>
                    </a:lnTo>
                    <a:lnTo>
                      <a:pt x="61" y="249"/>
                    </a:lnTo>
                    <a:lnTo>
                      <a:pt x="63" y="255"/>
                    </a:lnTo>
                    <a:lnTo>
                      <a:pt x="63" y="261"/>
                    </a:lnTo>
                    <a:lnTo>
                      <a:pt x="65" y="267"/>
                    </a:lnTo>
                    <a:lnTo>
                      <a:pt x="67" y="272"/>
                    </a:lnTo>
                    <a:lnTo>
                      <a:pt x="67" y="278"/>
                    </a:lnTo>
                    <a:lnTo>
                      <a:pt x="69" y="286"/>
                    </a:lnTo>
                    <a:lnTo>
                      <a:pt x="69" y="291"/>
                    </a:lnTo>
                    <a:lnTo>
                      <a:pt x="71" y="297"/>
                    </a:lnTo>
                    <a:lnTo>
                      <a:pt x="71" y="303"/>
                    </a:lnTo>
                    <a:lnTo>
                      <a:pt x="73" y="308"/>
                    </a:lnTo>
                    <a:lnTo>
                      <a:pt x="73" y="314"/>
                    </a:lnTo>
                    <a:lnTo>
                      <a:pt x="74" y="320"/>
                    </a:lnTo>
                    <a:lnTo>
                      <a:pt x="76" y="327"/>
                    </a:lnTo>
                    <a:lnTo>
                      <a:pt x="78" y="337"/>
                    </a:lnTo>
                    <a:lnTo>
                      <a:pt x="78" y="346"/>
                    </a:lnTo>
                    <a:lnTo>
                      <a:pt x="80" y="354"/>
                    </a:lnTo>
                    <a:lnTo>
                      <a:pt x="80" y="362"/>
                    </a:lnTo>
                    <a:lnTo>
                      <a:pt x="82" y="369"/>
                    </a:lnTo>
                    <a:lnTo>
                      <a:pt x="82" y="375"/>
                    </a:lnTo>
                    <a:lnTo>
                      <a:pt x="84" y="383"/>
                    </a:lnTo>
                    <a:lnTo>
                      <a:pt x="84" y="386"/>
                    </a:lnTo>
                    <a:lnTo>
                      <a:pt x="84" y="394"/>
                    </a:lnTo>
                    <a:lnTo>
                      <a:pt x="84" y="398"/>
                    </a:lnTo>
                    <a:lnTo>
                      <a:pt x="84" y="403"/>
                    </a:lnTo>
                    <a:lnTo>
                      <a:pt x="84" y="409"/>
                    </a:lnTo>
                    <a:lnTo>
                      <a:pt x="86" y="413"/>
                    </a:lnTo>
                    <a:lnTo>
                      <a:pt x="84" y="421"/>
                    </a:lnTo>
                    <a:lnTo>
                      <a:pt x="84" y="430"/>
                    </a:lnTo>
                    <a:lnTo>
                      <a:pt x="82" y="438"/>
                    </a:lnTo>
                    <a:lnTo>
                      <a:pt x="82" y="445"/>
                    </a:lnTo>
                    <a:lnTo>
                      <a:pt x="80" y="455"/>
                    </a:lnTo>
                    <a:lnTo>
                      <a:pt x="78" y="464"/>
                    </a:lnTo>
                    <a:lnTo>
                      <a:pt x="76" y="468"/>
                    </a:lnTo>
                    <a:lnTo>
                      <a:pt x="76" y="474"/>
                    </a:lnTo>
                    <a:lnTo>
                      <a:pt x="74" y="480"/>
                    </a:lnTo>
                    <a:lnTo>
                      <a:pt x="74" y="485"/>
                    </a:lnTo>
                    <a:lnTo>
                      <a:pt x="69" y="485"/>
                    </a:lnTo>
                    <a:lnTo>
                      <a:pt x="63" y="485"/>
                    </a:lnTo>
                    <a:lnTo>
                      <a:pt x="55" y="485"/>
                    </a:lnTo>
                    <a:lnTo>
                      <a:pt x="50" y="485"/>
                    </a:lnTo>
                    <a:lnTo>
                      <a:pt x="48" y="478"/>
                    </a:lnTo>
                    <a:lnTo>
                      <a:pt x="46" y="470"/>
                    </a:lnTo>
                    <a:lnTo>
                      <a:pt x="46" y="462"/>
                    </a:lnTo>
                    <a:lnTo>
                      <a:pt x="46" y="457"/>
                    </a:lnTo>
                    <a:lnTo>
                      <a:pt x="44" y="449"/>
                    </a:lnTo>
                    <a:lnTo>
                      <a:pt x="44" y="442"/>
                    </a:lnTo>
                    <a:lnTo>
                      <a:pt x="42" y="434"/>
                    </a:lnTo>
                    <a:lnTo>
                      <a:pt x="42" y="428"/>
                    </a:lnTo>
                    <a:lnTo>
                      <a:pt x="42" y="419"/>
                    </a:lnTo>
                    <a:lnTo>
                      <a:pt x="40" y="413"/>
                    </a:lnTo>
                    <a:lnTo>
                      <a:pt x="40" y="405"/>
                    </a:lnTo>
                    <a:lnTo>
                      <a:pt x="40" y="398"/>
                    </a:lnTo>
                    <a:lnTo>
                      <a:pt x="40" y="390"/>
                    </a:lnTo>
                    <a:lnTo>
                      <a:pt x="38" y="383"/>
                    </a:lnTo>
                    <a:lnTo>
                      <a:pt x="38" y="377"/>
                    </a:lnTo>
                    <a:lnTo>
                      <a:pt x="38" y="369"/>
                    </a:lnTo>
                    <a:lnTo>
                      <a:pt x="36" y="362"/>
                    </a:lnTo>
                    <a:lnTo>
                      <a:pt x="36" y="354"/>
                    </a:lnTo>
                    <a:lnTo>
                      <a:pt x="34" y="346"/>
                    </a:lnTo>
                    <a:lnTo>
                      <a:pt x="34" y="341"/>
                    </a:lnTo>
                    <a:lnTo>
                      <a:pt x="34" y="333"/>
                    </a:lnTo>
                    <a:lnTo>
                      <a:pt x="34" y="326"/>
                    </a:lnTo>
                    <a:lnTo>
                      <a:pt x="33" y="318"/>
                    </a:lnTo>
                    <a:lnTo>
                      <a:pt x="33" y="312"/>
                    </a:lnTo>
                    <a:lnTo>
                      <a:pt x="33" y="303"/>
                    </a:lnTo>
                    <a:lnTo>
                      <a:pt x="31" y="297"/>
                    </a:lnTo>
                    <a:lnTo>
                      <a:pt x="31" y="289"/>
                    </a:lnTo>
                    <a:lnTo>
                      <a:pt x="31" y="282"/>
                    </a:lnTo>
                    <a:lnTo>
                      <a:pt x="31" y="274"/>
                    </a:lnTo>
                    <a:lnTo>
                      <a:pt x="29" y="268"/>
                    </a:lnTo>
                    <a:lnTo>
                      <a:pt x="29" y="261"/>
                    </a:lnTo>
                    <a:lnTo>
                      <a:pt x="29" y="255"/>
                    </a:lnTo>
                    <a:lnTo>
                      <a:pt x="29" y="246"/>
                    </a:lnTo>
                    <a:lnTo>
                      <a:pt x="27" y="240"/>
                    </a:lnTo>
                    <a:lnTo>
                      <a:pt x="27" y="232"/>
                    </a:lnTo>
                    <a:lnTo>
                      <a:pt x="25" y="225"/>
                    </a:lnTo>
                    <a:lnTo>
                      <a:pt x="25" y="217"/>
                    </a:lnTo>
                    <a:lnTo>
                      <a:pt x="23" y="211"/>
                    </a:lnTo>
                    <a:lnTo>
                      <a:pt x="23" y="204"/>
                    </a:lnTo>
                    <a:lnTo>
                      <a:pt x="23" y="196"/>
                    </a:lnTo>
                    <a:lnTo>
                      <a:pt x="21" y="189"/>
                    </a:lnTo>
                    <a:lnTo>
                      <a:pt x="21" y="183"/>
                    </a:lnTo>
                    <a:lnTo>
                      <a:pt x="19" y="175"/>
                    </a:lnTo>
                    <a:lnTo>
                      <a:pt x="19" y="168"/>
                    </a:lnTo>
                    <a:lnTo>
                      <a:pt x="19" y="160"/>
                    </a:lnTo>
                    <a:lnTo>
                      <a:pt x="17" y="154"/>
                    </a:lnTo>
                    <a:lnTo>
                      <a:pt x="17" y="147"/>
                    </a:lnTo>
                    <a:lnTo>
                      <a:pt x="17" y="141"/>
                    </a:lnTo>
                    <a:lnTo>
                      <a:pt x="15" y="133"/>
                    </a:lnTo>
                    <a:lnTo>
                      <a:pt x="15" y="128"/>
                    </a:lnTo>
                    <a:lnTo>
                      <a:pt x="14" y="120"/>
                    </a:lnTo>
                    <a:lnTo>
                      <a:pt x="14" y="113"/>
                    </a:lnTo>
                    <a:lnTo>
                      <a:pt x="12" y="105"/>
                    </a:lnTo>
                    <a:lnTo>
                      <a:pt x="12" y="99"/>
                    </a:lnTo>
                    <a:lnTo>
                      <a:pt x="10" y="92"/>
                    </a:lnTo>
                    <a:lnTo>
                      <a:pt x="10" y="86"/>
                    </a:lnTo>
                    <a:lnTo>
                      <a:pt x="8" y="78"/>
                    </a:lnTo>
                    <a:lnTo>
                      <a:pt x="8" y="71"/>
                    </a:lnTo>
                    <a:lnTo>
                      <a:pt x="6" y="65"/>
                    </a:lnTo>
                    <a:lnTo>
                      <a:pt x="6" y="59"/>
                    </a:lnTo>
                    <a:lnTo>
                      <a:pt x="4" y="52"/>
                    </a:lnTo>
                    <a:lnTo>
                      <a:pt x="2" y="46"/>
                    </a:lnTo>
                    <a:lnTo>
                      <a:pt x="2" y="38"/>
                    </a:lnTo>
                    <a:lnTo>
                      <a:pt x="0" y="33"/>
                    </a:lnTo>
                    <a:lnTo>
                      <a:pt x="0" y="27"/>
                    </a:lnTo>
                    <a:lnTo>
                      <a:pt x="0" y="23"/>
                    </a:lnTo>
                    <a:lnTo>
                      <a:pt x="2" y="17"/>
                    </a:lnTo>
                    <a:lnTo>
                      <a:pt x="2" y="16"/>
                    </a:lnTo>
                    <a:lnTo>
                      <a:pt x="4" y="8"/>
                    </a:lnTo>
                    <a:lnTo>
                      <a:pt x="6" y="0"/>
                    </a:lnTo>
                    <a:close/>
                  </a:path>
                </a:pathLst>
              </a:custGeom>
              <a:solidFill>
                <a:srgbClr val="000000"/>
              </a:solidFill>
              <a:ln w="9525">
                <a:noFill/>
                <a:round/>
              </a:ln>
            </p:spPr>
            <p:txBody>
              <a:bodyPr/>
              <a:lstStyle/>
              <a:p>
                <a:endParaRPr lang="en-US"/>
              </a:p>
            </p:txBody>
          </p:sp>
          <p:sp>
            <p:nvSpPr>
              <p:cNvPr id="1048962" name="Freeform 259"/>
              <p:cNvSpPr/>
              <p:nvPr/>
            </p:nvSpPr>
            <p:spPr bwMode="auto">
              <a:xfrm>
                <a:off x="1827" y="2492"/>
                <a:ext cx="120" cy="102"/>
              </a:xfrm>
              <a:custGeom>
                <a:avLst/>
                <a:gdLst>
                  <a:gd name="T0" fmla="*/ 36 w 239"/>
                  <a:gd name="T1" fmla="*/ 0 h 203"/>
                  <a:gd name="T2" fmla="*/ 41 w 239"/>
                  <a:gd name="T3" fmla="*/ 0 h 203"/>
                  <a:gd name="T4" fmla="*/ 48 w 239"/>
                  <a:gd name="T5" fmla="*/ 0 h 203"/>
                  <a:gd name="T6" fmla="*/ 52 w 239"/>
                  <a:gd name="T7" fmla="*/ 1 h 203"/>
                  <a:gd name="T8" fmla="*/ 58 w 239"/>
                  <a:gd name="T9" fmla="*/ 1 h 203"/>
                  <a:gd name="T10" fmla="*/ 64 w 239"/>
                  <a:gd name="T11" fmla="*/ 3 h 203"/>
                  <a:gd name="T12" fmla="*/ 70 w 239"/>
                  <a:gd name="T13" fmla="*/ 4 h 203"/>
                  <a:gd name="T14" fmla="*/ 75 w 239"/>
                  <a:gd name="T15" fmla="*/ 6 h 203"/>
                  <a:gd name="T16" fmla="*/ 80 w 239"/>
                  <a:gd name="T17" fmla="*/ 8 h 203"/>
                  <a:gd name="T18" fmla="*/ 85 w 239"/>
                  <a:gd name="T19" fmla="*/ 10 h 203"/>
                  <a:gd name="T20" fmla="*/ 90 w 239"/>
                  <a:gd name="T21" fmla="*/ 12 h 203"/>
                  <a:gd name="T22" fmla="*/ 95 w 239"/>
                  <a:gd name="T23" fmla="*/ 14 h 203"/>
                  <a:gd name="T24" fmla="*/ 100 w 239"/>
                  <a:gd name="T25" fmla="*/ 16 h 203"/>
                  <a:gd name="T26" fmla="*/ 106 w 239"/>
                  <a:gd name="T27" fmla="*/ 18 h 203"/>
                  <a:gd name="T28" fmla="*/ 111 w 239"/>
                  <a:gd name="T29" fmla="*/ 20 h 203"/>
                  <a:gd name="T30" fmla="*/ 117 w 239"/>
                  <a:gd name="T31" fmla="*/ 22 h 203"/>
                  <a:gd name="T32" fmla="*/ 120 w 239"/>
                  <a:gd name="T33" fmla="*/ 26 h 203"/>
                  <a:gd name="T34" fmla="*/ 120 w 239"/>
                  <a:gd name="T35" fmla="*/ 31 h 203"/>
                  <a:gd name="T36" fmla="*/ 115 w 239"/>
                  <a:gd name="T37" fmla="*/ 35 h 203"/>
                  <a:gd name="T38" fmla="*/ 107 w 239"/>
                  <a:gd name="T39" fmla="*/ 36 h 203"/>
                  <a:gd name="T40" fmla="*/ 99 w 239"/>
                  <a:gd name="T41" fmla="*/ 35 h 203"/>
                  <a:gd name="T42" fmla="*/ 91 w 239"/>
                  <a:gd name="T43" fmla="*/ 33 h 203"/>
                  <a:gd name="T44" fmla="*/ 83 w 239"/>
                  <a:gd name="T45" fmla="*/ 31 h 203"/>
                  <a:gd name="T46" fmla="*/ 74 w 239"/>
                  <a:gd name="T47" fmla="*/ 28 h 203"/>
                  <a:gd name="T48" fmla="*/ 66 w 239"/>
                  <a:gd name="T49" fmla="*/ 26 h 203"/>
                  <a:gd name="T50" fmla="*/ 59 w 239"/>
                  <a:gd name="T51" fmla="*/ 23 h 203"/>
                  <a:gd name="T52" fmla="*/ 51 w 239"/>
                  <a:gd name="T53" fmla="*/ 21 h 203"/>
                  <a:gd name="T54" fmla="*/ 45 w 239"/>
                  <a:gd name="T55" fmla="*/ 20 h 203"/>
                  <a:gd name="T56" fmla="*/ 38 w 239"/>
                  <a:gd name="T57" fmla="*/ 21 h 203"/>
                  <a:gd name="T58" fmla="*/ 33 w 239"/>
                  <a:gd name="T59" fmla="*/ 24 h 203"/>
                  <a:gd name="T60" fmla="*/ 29 w 239"/>
                  <a:gd name="T61" fmla="*/ 28 h 203"/>
                  <a:gd name="T62" fmla="*/ 26 w 239"/>
                  <a:gd name="T63" fmla="*/ 33 h 203"/>
                  <a:gd name="T64" fmla="*/ 25 w 239"/>
                  <a:gd name="T65" fmla="*/ 38 h 203"/>
                  <a:gd name="T66" fmla="*/ 24 w 239"/>
                  <a:gd name="T67" fmla="*/ 43 h 203"/>
                  <a:gd name="T68" fmla="*/ 23 w 239"/>
                  <a:gd name="T69" fmla="*/ 49 h 203"/>
                  <a:gd name="T70" fmla="*/ 22 w 239"/>
                  <a:gd name="T71" fmla="*/ 55 h 203"/>
                  <a:gd name="T72" fmla="*/ 22 w 239"/>
                  <a:gd name="T73" fmla="*/ 63 h 203"/>
                  <a:gd name="T74" fmla="*/ 79 w 239"/>
                  <a:gd name="T75" fmla="*/ 61 h 203"/>
                  <a:gd name="T76" fmla="*/ 85 w 239"/>
                  <a:gd name="T77" fmla="*/ 61 h 203"/>
                  <a:gd name="T78" fmla="*/ 90 w 239"/>
                  <a:gd name="T79" fmla="*/ 61 h 203"/>
                  <a:gd name="T80" fmla="*/ 99 w 239"/>
                  <a:gd name="T81" fmla="*/ 61 h 203"/>
                  <a:gd name="T82" fmla="*/ 7 w 239"/>
                  <a:gd name="T83" fmla="*/ 97 h 203"/>
                  <a:gd name="T84" fmla="*/ 4 w 239"/>
                  <a:gd name="T85" fmla="*/ 90 h 203"/>
                  <a:gd name="T86" fmla="*/ 2 w 239"/>
                  <a:gd name="T87" fmla="*/ 83 h 203"/>
                  <a:gd name="T88" fmla="*/ 1 w 239"/>
                  <a:gd name="T89" fmla="*/ 75 h 203"/>
                  <a:gd name="T90" fmla="*/ 0 w 239"/>
                  <a:gd name="T91" fmla="*/ 68 h 203"/>
                  <a:gd name="T92" fmla="*/ 1 w 239"/>
                  <a:gd name="T93" fmla="*/ 60 h 203"/>
                  <a:gd name="T94" fmla="*/ 1 w 239"/>
                  <a:gd name="T95" fmla="*/ 53 h 203"/>
                  <a:gd name="T96" fmla="*/ 3 w 239"/>
                  <a:gd name="T97" fmla="*/ 47 h 203"/>
                  <a:gd name="T98" fmla="*/ 6 w 239"/>
                  <a:gd name="T99" fmla="*/ 40 h 203"/>
                  <a:gd name="T100" fmla="*/ 8 w 239"/>
                  <a:gd name="T101" fmla="*/ 33 h 203"/>
                  <a:gd name="T102" fmla="*/ 12 w 239"/>
                  <a:gd name="T103" fmla="*/ 27 h 203"/>
                  <a:gd name="T104" fmla="*/ 14 w 239"/>
                  <a:gd name="T105" fmla="*/ 22 h 203"/>
                  <a:gd name="T106" fmla="*/ 17 w 239"/>
                  <a:gd name="T107" fmla="*/ 16 h 203"/>
                  <a:gd name="T108" fmla="*/ 22 w 239"/>
                  <a:gd name="T109" fmla="*/ 11 h 203"/>
                  <a:gd name="T110" fmla="*/ 29 w 239"/>
                  <a:gd name="T111" fmla="*/ 5 h 203"/>
                  <a:gd name="T112" fmla="*/ 33 w 239"/>
                  <a:gd name="T113" fmla="*/ 1 h 203"/>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239"/>
                  <a:gd name="T172" fmla="*/ 0 h 203"/>
                  <a:gd name="T173" fmla="*/ 239 w 239"/>
                  <a:gd name="T174" fmla="*/ 203 h 203"/>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239" h="203">
                    <a:moveTo>
                      <a:pt x="66" y="2"/>
                    </a:moveTo>
                    <a:lnTo>
                      <a:pt x="72" y="0"/>
                    </a:lnTo>
                    <a:lnTo>
                      <a:pt x="76" y="0"/>
                    </a:lnTo>
                    <a:lnTo>
                      <a:pt x="82" y="0"/>
                    </a:lnTo>
                    <a:lnTo>
                      <a:pt x="89" y="0"/>
                    </a:lnTo>
                    <a:lnTo>
                      <a:pt x="95" y="0"/>
                    </a:lnTo>
                    <a:lnTo>
                      <a:pt x="101" y="0"/>
                    </a:lnTo>
                    <a:lnTo>
                      <a:pt x="104" y="2"/>
                    </a:lnTo>
                    <a:lnTo>
                      <a:pt x="112" y="2"/>
                    </a:lnTo>
                    <a:lnTo>
                      <a:pt x="116" y="2"/>
                    </a:lnTo>
                    <a:lnTo>
                      <a:pt x="121" y="4"/>
                    </a:lnTo>
                    <a:lnTo>
                      <a:pt x="127" y="5"/>
                    </a:lnTo>
                    <a:lnTo>
                      <a:pt x="133" y="7"/>
                    </a:lnTo>
                    <a:lnTo>
                      <a:pt x="139" y="7"/>
                    </a:lnTo>
                    <a:lnTo>
                      <a:pt x="144" y="11"/>
                    </a:lnTo>
                    <a:lnTo>
                      <a:pt x="150" y="11"/>
                    </a:lnTo>
                    <a:lnTo>
                      <a:pt x="156" y="15"/>
                    </a:lnTo>
                    <a:lnTo>
                      <a:pt x="160" y="15"/>
                    </a:lnTo>
                    <a:lnTo>
                      <a:pt x="163" y="17"/>
                    </a:lnTo>
                    <a:lnTo>
                      <a:pt x="169" y="19"/>
                    </a:lnTo>
                    <a:lnTo>
                      <a:pt x="175" y="23"/>
                    </a:lnTo>
                    <a:lnTo>
                      <a:pt x="180" y="23"/>
                    </a:lnTo>
                    <a:lnTo>
                      <a:pt x="184" y="26"/>
                    </a:lnTo>
                    <a:lnTo>
                      <a:pt x="190" y="28"/>
                    </a:lnTo>
                    <a:lnTo>
                      <a:pt x="196" y="30"/>
                    </a:lnTo>
                    <a:lnTo>
                      <a:pt x="199" y="32"/>
                    </a:lnTo>
                    <a:lnTo>
                      <a:pt x="205" y="34"/>
                    </a:lnTo>
                    <a:lnTo>
                      <a:pt x="211" y="36"/>
                    </a:lnTo>
                    <a:lnTo>
                      <a:pt x="217" y="38"/>
                    </a:lnTo>
                    <a:lnTo>
                      <a:pt x="222" y="40"/>
                    </a:lnTo>
                    <a:lnTo>
                      <a:pt x="228" y="42"/>
                    </a:lnTo>
                    <a:lnTo>
                      <a:pt x="234" y="43"/>
                    </a:lnTo>
                    <a:lnTo>
                      <a:pt x="239" y="47"/>
                    </a:lnTo>
                    <a:lnTo>
                      <a:pt x="239" y="51"/>
                    </a:lnTo>
                    <a:lnTo>
                      <a:pt x="239" y="57"/>
                    </a:lnTo>
                    <a:lnTo>
                      <a:pt x="239" y="62"/>
                    </a:lnTo>
                    <a:lnTo>
                      <a:pt x="239" y="68"/>
                    </a:lnTo>
                    <a:lnTo>
                      <a:pt x="230" y="70"/>
                    </a:lnTo>
                    <a:lnTo>
                      <a:pt x="222" y="72"/>
                    </a:lnTo>
                    <a:lnTo>
                      <a:pt x="213" y="72"/>
                    </a:lnTo>
                    <a:lnTo>
                      <a:pt x="207" y="72"/>
                    </a:lnTo>
                    <a:lnTo>
                      <a:pt x="198" y="70"/>
                    </a:lnTo>
                    <a:lnTo>
                      <a:pt x="190" y="68"/>
                    </a:lnTo>
                    <a:lnTo>
                      <a:pt x="182" y="66"/>
                    </a:lnTo>
                    <a:lnTo>
                      <a:pt x="173" y="64"/>
                    </a:lnTo>
                    <a:lnTo>
                      <a:pt x="165" y="61"/>
                    </a:lnTo>
                    <a:lnTo>
                      <a:pt x="158" y="59"/>
                    </a:lnTo>
                    <a:lnTo>
                      <a:pt x="148" y="55"/>
                    </a:lnTo>
                    <a:lnTo>
                      <a:pt x="140" y="53"/>
                    </a:lnTo>
                    <a:lnTo>
                      <a:pt x="131" y="51"/>
                    </a:lnTo>
                    <a:lnTo>
                      <a:pt x="125" y="47"/>
                    </a:lnTo>
                    <a:lnTo>
                      <a:pt x="118" y="45"/>
                    </a:lnTo>
                    <a:lnTo>
                      <a:pt x="110" y="43"/>
                    </a:lnTo>
                    <a:lnTo>
                      <a:pt x="102" y="42"/>
                    </a:lnTo>
                    <a:lnTo>
                      <a:pt x="97" y="42"/>
                    </a:lnTo>
                    <a:lnTo>
                      <a:pt x="89" y="40"/>
                    </a:lnTo>
                    <a:lnTo>
                      <a:pt x="83" y="42"/>
                    </a:lnTo>
                    <a:lnTo>
                      <a:pt x="76" y="42"/>
                    </a:lnTo>
                    <a:lnTo>
                      <a:pt x="72" y="43"/>
                    </a:lnTo>
                    <a:lnTo>
                      <a:pt x="66" y="47"/>
                    </a:lnTo>
                    <a:lnTo>
                      <a:pt x="63" y="51"/>
                    </a:lnTo>
                    <a:lnTo>
                      <a:pt x="57" y="55"/>
                    </a:lnTo>
                    <a:lnTo>
                      <a:pt x="53" y="62"/>
                    </a:lnTo>
                    <a:lnTo>
                      <a:pt x="51" y="66"/>
                    </a:lnTo>
                    <a:lnTo>
                      <a:pt x="51" y="70"/>
                    </a:lnTo>
                    <a:lnTo>
                      <a:pt x="49" y="76"/>
                    </a:lnTo>
                    <a:lnTo>
                      <a:pt x="49" y="81"/>
                    </a:lnTo>
                    <a:lnTo>
                      <a:pt x="47" y="85"/>
                    </a:lnTo>
                    <a:lnTo>
                      <a:pt x="45" y="91"/>
                    </a:lnTo>
                    <a:lnTo>
                      <a:pt x="45" y="97"/>
                    </a:lnTo>
                    <a:lnTo>
                      <a:pt x="45" y="104"/>
                    </a:lnTo>
                    <a:lnTo>
                      <a:pt x="44" y="110"/>
                    </a:lnTo>
                    <a:lnTo>
                      <a:pt x="44" y="118"/>
                    </a:lnTo>
                    <a:lnTo>
                      <a:pt x="44" y="125"/>
                    </a:lnTo>
                    <a:lnTo>
                      <a:pt x="44" y="135"/>
                    </a:lnTo>
                    <a:lnTo>
                      <a:pt x="158" y="121"/>
                    </a:lnTo>
                    <a:lnTo>
                      <a:pt x="163" y="121"/>
                    </a:lnTo>
                    <a:lnTo>
                      <a:pt x="169" y="121"/>
                    </a:lnTo>
                    <a:lnTo>
                      <a:pt x="173" y="121"/>
                    </a:lnTo>
                    <a:lnTo>
                      <a:pt x="179" y="121"/>
                    </a:lnTo>
                    <a:lnTo>
                      <a:pt x="188" y="121"/>
                    </a:lnTo>
                    <a:lnTo>
                      <a:pt x="198" y="121"/>
                    </a:lnTo>
                    <a:lnTo>
                      <a:pt x="19" y="203"/>
                    </a:lnTo>
                    <a:lnTo>
                      <a:pt x="13" y="194"/>
                    </a:lnTo>
                    <a:lnTo>
                      <a:pt x="11" y="188"/>
                    </a:lnTo>
                    <a:lnTo>
                      <a:pt x="7" y="180"/>
                    </a:lnTo>
                    <a:lnTo>
                      <a:pt x="5" y="173"/>
                    </a:lnTo>
                    <a:lnTo>
                      <a:pt x="4" y="165"/>
                    </a:lnTo>
                    <a:lnTo>
                      <a:pt x="2" y="158"/>
                    </a:lnTo>
                    <a:lnTo>
                      <a:pt x="2" y="150"/>
                    </a:lnTo>
                    <a:lnTo>
                      <a:pt x="2" y="142"/>
                    </a:lnTo>
                    <a:lnTo>
                      <a:pt x="0" y="135"/>
                    </a:lnTo>
                    <a:lnTo>
                      <a:pt x="0" y="129"/>
                    </a:lnTo>
                    <a:lnTo>
                      <a:pt x="2" y="119"/>
                    </a:lnTo>
                    <a:lnTo>
                      <a:pt x="2" y="114"/>
                    </a:lnTo>
                    <a:lnTo>
                      <a:pt x="2" y="106"/>
                    </a:lnTo>
                    <a:lnTo>
                      <a:pt x="4" y="100"/>
                    </a:lnTo>
                    <a:lnTo>
                      <a:pt x="5" y="93"/>
                    </a:lnTo>
                    <a:lnTo>
                      <a:pt x="9" y="87"/>
                    </a:lnTo>
                    <a:lnTo>
                      <a:pt x="11" y="80"/>
                    </a:lnTo>
                    <a:lnTo>
                      <a:pt x="13" y="74"/>
                    </a:lnTo>
                    <a:lnTo>
                      <a:pt x="15" y="66"/>
                    </a:lnTo>
                    <a:lnTo>
                      <a:pt x="19" y="61"/>
                    </a:lnTo>
                    <a:lnTo>
                      <a:pt x="23" y="53"/>
                    </a:lnTo>
                    <a:lnTo>
                      <a:pt x="25" y="49"/>
                    </a:lnTo>
                    <a:lnTo>
                      <a:pt x="28" y="43"/>
                    </a:lnTo>
                    <a:lnTo>
                      <a:pt x="32" y="38"/>
                    </a:lnTo>
                    <a:lnTo>
                      <a:pt x="34" y="32"/>
                    </a:lnTo>
                    <a:lnTo>
                      <a:pt x="40" y="26"/>
                    </a:lnTo>
                    <a:lnTo>
                      <a:pt x="44" y="21"/>
                    </a:lnTo>
                    <a:lnTo>
                      <a:pt x="47" y="17"/>
                    </a:lnTo>
                    <a:lnTo>
                      <a:pt x="57" y="9"/>
                    </a:lnTo>
                    <a:lnTo>
                      <a:pt x="66" y="2"/>
                    </a:lnTo>
                    <a:close/>
                  </a:path>
                </a:pathLst>
              </a:custGeom>
              <a:solidFill>
                <a:srgbClr val="000000"/>
              </a:solidFill>
              <a:ln w="9525">
                <a:noFill/>
                <a:round/>
              </a:ln>
            </p:spPr>
            <p:txBody>
              <a:bodyPr/>
              <a:lstStyle/>
              <a:p>
                <a:endParaRPr lang="en-US"/>
              </a:p>
            </p:txBody>
          </p:sp>
          <p:sp>
            <p:nvSpPr>
              <p:cNvPr id="1048963" name="Freeform 260"/>
              <p:cNvSpPr/>
              <p:nvPr/>
            </p:nvSpPr>
            <p:spPr bwMode="auto">
              <a:xfrm>
                <a:off x="2424" y="2187"/>
                <a:ext cx="240" cy="136"/>
              </a:xfrm>
              <a:custGeom>
                <a:avLst/>
                <a:gdLst>
                  <a:gd name="T0" fmla="*/ 236 w 481"/>
                  <a:gd name="T1" fmla="*/ 27 h 272"/>
                  <a:gd name="T2" fmla="*/ 225 w 481"/>
                  <a:gd name="T3" fmla="*/ 36 h 272"/>
                  <a:gd name="T4" fmla="*/ 214 w 481"/>
                  <a:gd name="T5" fmla="*/ 45 h 272"/>
                  <a:gd name="T6" fmla="*/ 202 w 481"/>
                  <a:gd name="T7" fmla="*/ 51 h 272"/>
                  <a:gd name="T8" fmla="*/ 190 w 481"/>
                  <a:gd name="T9" fmla="*/ 59 h 272"/>
                  <a:gd name="T10" fmla="*/ 178 w 481"/>
                  <a:gd name="T11" fmla="*/ 67 h 272"/>
                  <a:gd name="T12" fmla="*/ 165 w 481"/>
                  <a:gd name="T13" fmla="*/ 72 h 272"/>
                  <a:gd name="T14" fmla="*/ 153 w 481"/>
                  <a:gd name="T15" fmla="*/ 79 h 272"/>
                  <a:gd name="T16" fmla="*/ 139 w 481"/>
                  <a:gd name="T17" fmla="*/ 85 h 272"/>
                  <a:gd name="T18" fmla="*/ 127 w 481"/>
                  <a:gd name="T19" fmla="*/ 90 h 272"/>
                  <a:gd name="T20" fmla="*/ 115 w 481"/>
                  <a:gd name="T21" fmla="*/ 95 h 272"/>
                  <a:gd name="T22" fmla="*/ 102 w 481"/>
                  <a:gd name="T23" fmla="*/ 101 h 272"/>
                  <a:gd name="T24" fmla="*/ 90 w 481"/>
                  <a:gd name="T25" fmla="*/ 105 h 272"/>
                  <a:gd name="T26" fmla="*/ 78 w 481"/>
                  <a:gd name="T27" fmla="*/ 110 h 272"/>
                  <a:gd name="T28" fmla="*/ 65 w 481"/>
                  <a:gd name="T29" fmla="*/ 114 h 272"/>
                  <a:gd name="T30" fmla="*/ 54 w 481"/>
                  <a:gd name="T31" fmla="*/ 118 h 272"/>
                  <a:gd name="T32" fmla="*/ 43 w 481"/>
                  <a:gd name="T33" fmla="*/ 122 h 272"/>
                  <a:gd name="T34" fmla="*/ 33 w 481"/>
                  <a:gd name="T35" fmla="*/ 124 h 272"/>
                  <a:gd name="T36" fmla="*/ 23 w 481"/>
                  <a:gd name="T37" fmla="*/ 127 h 272"/>
                  <a:gd name="T38" fmla="*/ 15 w 481"/>
                  <a:gd name="T39" fmla="*/ 131 h 272"/>
                  <a:gd name="T40" fmla="*/ 6 w 481"/>
                  <a:gd name="T41" fmla="*/ 134 h 272"/>
                  <a:gd name="T42" fmla="*/ 0 w 481"/>
                  <a:gd name="T43" fmla="*/ 136 h 272"/>
                  <a:gd name="T44" fmla="*/ 7 w 481"/>
                  <a:gd name="T45" fmla="*/ 120 h 272"/>
                  <a:gd name="T46" fmla="*/ 16 w 481"/>
                  <a:gd name="T47" fmla="*/ 116 h 272"/>
                  <a:gd name="T48" fmla="*/ 25 w 481"/>
                  <a:gd name="T49" fmla="*/ 112 h 272"/>
                  <a:gd name="T50" fmla="*/ 35 w 481"/>
                  <a:gd name="T51" fmla="*/ 106 h 272"/>
                  <a:gd name="T52" fmla="*/ 46 w 481"/>
                  <a:gd name="T53" fmla="*/ 103 h 272"/>
                  <a:gd name="T54" fmla="*/ 58 w 481"/>
                  <a:gd name="T55" fmla="*/ 97 h 272"/>
                  <a:gd name="T56" fmla="*/ 69 w 481"/>
                  <a:gd name="T57" fmla="*/ 91 h 272"/>
                  <a:gd name="T58" fmla="*/ 81 w 481"/>
                  <a:gd name="T59" fmla="*/ 85 h 272"/>
                  <a:gd name="T60" fmla="*/ 94 w 481"/>
                  <a:gd name="T61" fmla="*/ 79 h 272"/>
                  <a:gd name="T62" fmla="*/ 106 w 481"/>
                  <a:gd name="T63" fmla="*/ 73 h 272"/>
                  <a:gd name="T64" fmla="*/ 118 w 481"/>
                  <a:gd name="T65" fmla="*/ 67 h 272"/>
                  <a:gd name="T66" fmla="*/ 131 w 481"/>
                  <a:gd name="T67" fmla="*/ 60 h 272"/>
                  <a:gd name="T68" fmla="*/ 144 w 481"/>
                  <a:gd name="T69" fmla="*/ 53 h 272"/>
                  <a:gd name="T70" fmla="*/ 156 w 481"/>
                  <a:gd name="T71" fmla="*/ 46 h 272"/>
                  <a:gd name="T72" fmla="*/ 168 w 481"/>
                  <a:gd name="T73" fmla="*/ 40 h 272"/>
                  <a:gd name="T74" fmla="*/ 180 w 481"/>
                  <a:gd name="T75" fmla="*/ 34 h 272"/>
                  <a:gd name="T76" fmla="*/ 192 w 481"/>
                  <a:gd name="T77" fmla="*/ 27 h 272"/>
                  <a:gd name="T78" fmla="*/ 202 w 481"/>
                  <a:gd name="T79" fmla="*/ 20 h 272"/>
                  <a:gd name="T80" fmla="*/ 213 w 481"/>
                  <a:gd name="T81" fmla="*/ 14 h 272"/>
                  <a:gd name="T82" fmla="*/ 222 w 481"/>
                  <a:gd name="T83" fmla="*/ 9 h 272"/>
                  <a:gd name="T84" fmla="*/ 232 w 481"/>
                  <a:gd name="T85" fmla="*/ 3 h 272"/>
                  <a:gd name="T86" fmla="*/ 237 w 481"/>
                  <a:gd name="T87" fmla="*/ 0 h 272"/>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481"/>
                  <a:gd name="T133" fmla="*/ 0 h 272"/>
                  <a:gd name="T134" fmla="*/ 481 w 481"/>
                  <a:gd name="T135" fmla="*/ 272 h 272"/>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481" h="272">
                    <a:moveTo>
                      <a:pt x="475" y="0"/>
                    </a:moveTo>
                    <a:lnTo>
                      <a:pt x="481" y="52"/>
                    </a:lnTo>
                    <a:lnTo>
                      <a:pt x="473" y="55"/>
                    </a:lnTo>
                    <a:lnTo>
                      <a:pt x="466" y="61"/>
                    </a:lnTo>
                    <a:lnTo>
                      <a:pt x="458" y="67"/>
                    </a:lnTo>
                    <a:lnTo>
                      <a:pt x="450" y="73"/>
                    </a:lnTo>
                    <a:lnTo>
                      <a:pt x="445" y="78"/>
                    </a:lnTo>
                    <a:lnTo>
                      <a:pt x="437" y="84"/>
                    </a:lnTo>
                    <a:lnTo>
                      <a:pt x="429" y="90"/>
                    </a:lnTo>
                    <a:lnTo>
                      <a:pt x="422" y="95"/>
                    </a:lnTo>
                    <a:lnTo>
                      <a:pt x="414" y="99"/>
                    </a:lnTo>
                    <a:lnTo>
                      <a:pt x="405" y="103"/>
                    </a:lnTo>
                    <a:lnTo>
                      <a:pt x="397" y="109"/>
                    </a:lnTo>
                    <a:lnTo>
                      <a:pt x="390" y="114"/>
                    </a:lnTo>
                    <a:lnTo>
                      <a:pt x="380" y="118"/>
                    </a:lnTo>
                    <a:lnTo>
                      <a:pt x="372" y="124"/>
                    </a:lnTo>
                    <a:lnTo>
                      <a:pt x="365" y="128"/>
                    </a:lnTo>
                    <a:lnTo>
                      <a:pt x="357" y="133"/>
                    </a:lnTo>
                    <a:lnTo>
                      <a:pt x="348" y="137"/>
                    </a:lnTo>
                    <a:lnTo>
                      <a:pt x="340" y="141"/>
                    </a:lnTo>
                    <a:lnTo>
                      <a:pt x="331" y="145"/>
                    </a:lnTo>
                    <a:lnTo>
                      <a:pt x="323" y="151"/>
                    </a:lnTo>
                    <a:lnTo>
                      <a:pt x="314" y="154"/>
                    </a:lnTo>
                    <a:lnTo>
                      <a:pt x="306" y="158"/>
                    </a:lnTo>
                    <a:lnTo>
                      <a:pt x="296" y="162"/>
                    </a:lnTo>
                    <a:lnTo>
                      <a:pt x="289" y="166"/>
                    </a:lnTo>
                    <a:lnTo>
                      <a:pt x="279" y="170"/>
                    </a:lnTo>
                    <a:lnTo>
                      <a:pt x="272" y="173"/>
                    </a:lnTo>
                    <a:lnTo>
                      <a:pt x="262" y="177"/>
                    </a:lnTo>
                    <a:lnTo>
                      <a:pt x="255" y="181"/>
                    </a:lnTo>
                    <a:lnTo>
                      <a:pt x="247" y="185"/>
                    </a:lnTo>
                    <a:lnTo>
                      <a:pt x="237" y="189"/>
                    </a:lnTo>
                    <a:lnTo>
                      <a:pt x="230" y="190"/>
                    </a:lnTo>
                    <a:lnTo>
                      <a:pt x="222" y="196"/>
                    </a:lnTo>
                    <a:lnTo>
                      <a:pt x="213" y="198"/>
                    </a:lnTo>
                    <a:lnTo>
                      <a:pt x="205" y="202"/>
                    </a:lnTo>
                    <a:lnTo>
                      <a:pt x="196" y="206"/>
                    </a:lnTo>
                    <a:lnTo>
                      <a:pt x="188" y="209"/>
                    </a:lnTo>
                    <a:lnTo>
                      <a:pt x="180" y="211"/>
                    </a:lnTo>
                    <a:lnTo>
                      <a:pt x="171" y="213"/>
                    </a:lnTo>
                    <a:lnTo>
                      <a:pt x="163" y="217"/>
                    </a:lnTo>
                    <a:lnTo>
                      <a:pt x="156" y="221"/>
                    </a:lnTo>
                    <a:lnTo>
                      <a:pt x="148" y="223"/>
                    </a:lnTo>
                    <a:lnTo>
                      <a:pt x="139" y="225"/>
                    </a:lnTo>
                    <a:lnTo>
                      <a:pt x="131" y="228"/>
                    </a:lnTo>
                    <a:lnTo>
                      <a:pt x="125" y="230"/>
                    </a:lnTo>
                    <a:lnTo>
                      <a:pt x="116" y="234"/>
                    </a:lnTo>
                    <a:lnTo>
                      <a:pt x="108" y="236"/>
                    </a:lnTo>
                    <a:lnTo>
                      <a:pt x="101" y="240"/>
                    </a:lnTo>
                    <a:lnTo>
                      <a:pt x="95" y="242"/>
                    </a:lnTo>
                    <a:lnTo>
                      <a:pt x="87" y="244"/>
                    </a:lnTo>
                    <a:lnTo>
                      <a:pt x="80" y="246"/>
                    </a:lnTo>
                    <a:lnTo>
                      <a:pt x="74" y="248"/>
                    </a:lnTo>
                    <a:lnTo>
                      <a:pt x="66" y="249"/>
                    </a:lnTo>
                    <a:lnTo>
                      <a:pt x="61" y="251"/>
                    </a:lnTo>
                    <a:lnTo>
                      <a:pt x="53" y="253"/>
                    </a:lnTo>
                    <a:lnTo>
                      <a:pt x="47" y="255"/>
                    </a:lnTo>
                    <a:lnTo>
                      <a:pt x="42" y="259"/>
                    </a:lnTo>
                    <a:lnTo>
                      <a:pt x="36" y="259"/>
                    </a:lnTo>
                    <a:lnTo>
                      <a:pt x="30" y="261"/>
                    </a:lnTo>
                    <a:lnTo>
                      <a:pt x="25" y="263"/>
                    </a:lnTo>
                    <a:lnTo>
                      <a:pt x="19" y="265"/>
                    </a:lnTo>
                    <a:lnTo>
                      <a:pt x="13" y="267"/>
                    </a:lnTo>
                    <a:lnTo>
                      <a:pt x="7" y="268"/>
                    </a:lnTo>
                    <a:lnTo>
                      <a:pt x="4" y="268"/>
                    </a:lnTo>
                    <a:lnTo>
                      <a:pt x="0" y="272"/>
                    </a:lnTo>
                    <a:lnTo>
                      <a:pt x="6" y="244"/>
                    </a:lnTo>
                    <a:lnTo>
                      <a:pt x="9" y="242"/>
                    </a:lnTo>
                    <a:lnTo>
                      <a:pt x="15" y="240"/>
                    </a:lnTo>
                    <a:lnTo>
                      <a:pt x="19" y="238"/>
                    </a:lnTo>
                    <a:lnTo>
                      <a:pt x="26" y="236"/>
                    </a:lnTo>
                    <a:lnTo>
                      <a:pt x="32" y="232"/>
                    </a:lnTo>
                    <a:lnTo>
                      <a:pt x="38" y="230"/>
                    </a:lnTo>
                    <a:lnTo>
                      <a:pt x="44" y="227"/>
                    </a:lnTo>
                    <a:lnTo>
                      <a:pt x="51" y="225"/>
                    </a:lnTo>
                    <a:lnTo>
                      <a:pt x="57" y="221"/>
                    </a:lnTo>
                    <a:lnTo>
                      <a:pt x="64" y="217"/>
                    </a:lnTo>
                    <a:lnTo>
                      <a:pt x="70" y="213"/>
                    </a:lnTo>
                    <a:lnTo>
                      <a:pt x="78" y="211"/>
                    </a:lnTo>
                    <a:lnTo>
                      <a:pt x="85" y="208"/>
                    </a:lnTo>
                    <a:lnTo>
                      <a:pt x="93" y="206"/>
                    </a:lnTo>
                    <a:lnTo>
                      <a:pt x="101" y="202"/>
                    </a:lnTo>
                    <a:lnTo>
                      <a:pt x="108" y="198"/>
                    </a:lnTo>
                    <a:lnTo>
                      <a:pt x="116" y="194"/>
                    </a:lnTo>
                    <a:lnTo>
                      <a:pt x="123" y="190"/>
                    </a:lnTo>
                    <a:lnTo>
                      <a:pt x="129" y="187"/>
                    </a:lnTo>
                    <a:lnTo>
                      <a:pt x="139" y="183"/>
                    </a:lnTo>
                    <a:lnTo>
                      <a:pt x="146" y="179"/>
                    </a:lnTo>
                    <a:lnTo>
                      <a:pt x="156" y="175"/>
                    </a:lnTo>
                    <a:lnTo>
                      <a:pt x="163" y="171"/>
                    </a:lnTo>
                    <a:lnTo>
                      <a:pt x="171" y="168"/>
                    </a:lnTo>
                    <a:lnTo>
                      <a:pt x="180" y="162"/>
                    </a:lnTo>
                    <a:lnTo>
                      <a:pt x="188" y="158"/>
                    </a:lnTo>
                    <a:lnTo>
                      <a:pt x="196" y="154"/>
                    </a:lnTo>
                    <a:lnTo>
                      <a:pt x="205" y="151"/>
                    </a:lnTo>
                    <a:lnTo>
                      <a:pt x="213" y="147"/>
                    </a:lnTo>
                    <a:lnTo>
                      <a:pt x="220" y="143"/>
                    </a:lnTo>
                    <a:lnTo>
                      <a:pt x="230" y="137"/>
                    </a:lnTo>
                    <a:lnTo>
                      <a:pt x="237" y="133"/>
                    </a:lnTo>
                    <a:lnTo>
                      <a:pt x="247" y="128"/>
                    </a:lnTo>
                    <a:lnTo>
                      <a:pt x="255" y="126"/>
                    </a:lnTo>
                    <a:lnTo>
                      <a:pt x="262" y="120"/>
                    </a:lnTo>
                    <a:lnTo>
                      <a:pt x="272" y="116"/>
                    </a:lnTo>
                    <a:lnTo>
                      <a:pt x="279" y="111"/>
                    </a:lnTo>
                    <a:lnTo>
                      <a:pt x="289" y="107"/>
                    </a:lnTo>
                    <a:lnTo>
                      <a:pt x="296" y="101"/>
                    </a:lnTo>
                    <a:lnTo>
                      <a:pt x="304" y="99"/>
                    </a:lnTo>
                    <a:lnTo>
                      <a:pt x="312" y="93"/>
                    </a:lnTo>
                    <a:lnTo>
                      <a:pt x="319" y="90"/>
                    </a:lnTo>
                    <a:lnTo>
                      <a:pt x="329" y="84"/>
                    </a:lnTo>
                    <a:lnTo>
                      <a:pt x="336" y="80"/>
                    </a:lnTo>
                    <a:lnTo>
                      <a:pt x="344" y="74"/>
                    </a:lnTo>
                    <a:lnTo>
                      <a:pt x="352" y="71"/>
                    </a:lnTo>
                    <a:lnTo>
                      <a:pt x="361" y="67"/>
                    </a:lnTo>
                    <a:lnTo>
                      <a:pt x="369" y="63"/>
                    </a:lnTo>
                    <a:lnTo>
                      <a:pt x="374" y="57"/>
                    </a:lnTo>
                    <a:lnTo>
                      <a:pt x="384" y="54"/>
                    </a:lnTo>
                    <a:lnTo>
                      <a:pt x="390" y="48"/>
                    </a:lnTo>
                    <a:lnTo>
                      <a:pt x="399" y="46"/>
                    </a:lnTo>
                    <a:lnTo>
                      <a:pt x="405" y="40"/>
                    </a:lnTo>
                    <a:lnTo>
                      <a:pt x="412" y="36"/>
                    </a:lnTo>
                    <a:lnTo>
                      <a:pt x="420" y="33"/>
                    </a:lnTo>
                    <a:lnTo>
                      <a:pt x="426" y="29"/>
                    </a:lnTo>
                    <a:lnTo>
                      <a:pt x="431" y="25"/>
                    </a:lnTo>
                    <a:lnTo>
                      <a:pt x="439" y="21"/>
                    </a:lnTo>
                    <a:lnTo>
                      <a:pt x="445" y="17"/>
                    </a:lnTo>
                    <a:lnTo>
                      <a:pt x="450" y="14"/>
                    </a:lnTo>
                    <a:lnTo>
                      <a:pt x="456" y="10"/>
                    </a:lnTo>
                    <a:lnTo>
                      <a:pt x="464" y="6"/>
                    </a:lnTo>
                    <a:lnTo>
                      <a:pt x="469" y="2"/>
                    </a:lnTo>
                    <a:lnTo>
                      <a:pt x="475" y="0"/>
                    </a:lnTo>
                    <a:close/>
                  </a:path>
                </a:pathLst>
              </a:custGeom>
              <a:solidFill>
                <a:srgbClr val="000000"/>
              </a:solidFill>
              <a:ln w="9525">
                <a:noFill/>
                <a:round/>
              </a:ln>
            </p:spPr>
            <p:txBody>
              <a:bodyPr/>
              <a:lstStyle/>
              <a:p>
                <a:endParaRPr lang="en-US"/>
              </a:p>
            </p:txBody>
          </p:sp>
          <p:sp>
            <p:nvSpPr>
              <p:cNvPr id="1048964" name="Freeform 261"/>
              <p:cNvSpPr/>
              <p:nvPr/>
            </p:nvSpPr>
            <p:spPr bwMode="auto">
              <a:xfrm>
                <a:off x="2626" y="2136"/>
                <a:ext cx="46" cy="77"/>
              </a:xfrm>
              <a:custGeom>
                <a:avLst/>
                <a:gdLst>
                  <a:gd name="T0" fmla="*/ 0 w 91"/>
                  <a:gd name="T1" fmla="*/ 0 h 154"/>
                  <a:gd name="T2" fmla="*/ 3 w 91"/>
                  <a:gd name="T3" fmla="*/ 1 h 154"/>
                  <a:gd name="T4" fmla="*/ 7 w 91"/>
                  <a:gd name="T5" fmla="*/ 3 h 154"/>
                  <a:gd name="T6" fmla="*/ 10 w 91"/>
                  <a:gd name="T7" fmla="*/ 6 h 154"/>
                  <a:gd name="T8" fmla="*/ 12 w 91"/>
                  <a:gd name="T9" fmla="*/ 10 h 154"/>
                  <a:gd name="T10" fmla="*/ 16 w 91"/>
                  <a:gd name="T11" fmla="*/ 14 h 154"/>
                  <a:gd name="T12" fmla="*/ 19 w 91"/>
                  <a:gd name="T13" fmla="*/ 19 h 154"/>
                  <a:gd name="T14" fmla="*/ 23 w 91"/>
                  <a:gd name="T15" fmla="*/ 23 h 154"/>
                  <a:gd name="T16" fmla="*/ 26 w 91"/>
                  <a:gd name="T17" fmla="*/ 28 h 154"/>
                  <a:gd name="T18" fmla="*/ 29 w 91"/>
                  <a:gd name="T19" fmla="*/ 33 h 154"/>
                  <a:gd name="T20" fmla="*/ 32 w 91"/>
                  <a:gd name="T21" fmla="*/ 38 h 154"/>
                  <a:gd name="T22" fmla="*/ 34 w 91"/>
                  <a:gd name="T23" fmla="*/ 42 h 154"/>
                  <a:gd name="T24" fmla="*/ 37 w 91"/>
                  <a:gd name="T25" fmla="*/ 47 h 154"/>
                  <a:gd name="T26" fmla="*/ 39 w 91"/>
                  <a:gd name="T27" fmla="*/ 52 h 154"/>
                  <a:gd name="T28" fmla="*/ 42 w 91"/>
                  <a:gd name="T29" fmla="*/ 57 h 154"/>
                  <a:gd name="T30" fmla="*/ 44 w 91"/>
                  <a:gd name="T31" fmla="*/ 59 h 154"/>
                  <a:gd name="T32" fmla="*/ 46 w 91"/>
                  <a:gd name="T33" fmla="*/ 63 h 154"/>
                  <a:gd name="T34" fmla="*/ 38 w 91"/>
                  <a:gd name="T35" fmla="*/ 77 h 154"/>
                  <a:gd name="T36" fmla="*/ 34 w 91"/>
                  <a:gd name="T37" fmla="*/ 73 h 154"/>
                  <a:gd name="T38" fmla="*/ 31 w 91"/>
                  <a:gd name="T39" fmla="*/ 69 h 154"/>
                  <a:gd name="T40" fmla="*/ 26 w 91"/>
                  <a:gd name="T41" fmla="*/ 65 h 154"/>
                  <a:gd name="T42" fmla="*/ 23 w 91"/>
                  <a:gd name="T43" fmla="*/ 60 h 154"/>
                  <a:gd name="T44" fmla="*/ 19 w 91"/>
                  <a:gd name="T45" fmla="*/ 56 h 154"/>
                  <a:gd name="T46" fmla="*/ 16 w 91"/>
                  <a:gd name="T47" fmla="*/ 51 h 154"/>
                  <a:gd name="T48" fmla="*/ 13 w 91"/>
                  <a:gd name="T49" fmla="*/ 46 h 154"/>
                  <a:gd name="T50" fmla="*/ 11 w 91"/>
                  <a:gd name="T51" fmla="*/ 41 h 154"/>
                  <a:gd name="T52" fmla="*/ 10 w 91"/>
                  <a:gd name="T53" fmla="*/ 39 h 154"/>
                  <a:gd name="T54" fmla="*/ 9 w 91"/>
                  <a:gd name="T55" fmla="*/ 36 h 154"/>
                  <a:gd name="T56" fmla="*/ 7 w 91"/>
                  <a:gd name="T57" fmla="*/ 33 h 154"/>
                  <a:gd name="T58" fmla="*/ 6 w 91"/>
                  <a:gd name="T59" fmla="*/ 31 h 154"/>
                  <a:gd name="T60" fmla="*/ 5 w 91"/>
                  <a:gd name="T61" fmla="*/ 28 h 154"/>
                  <a:gd name="T62" fmla="*/ 4 w 91"/>
                  <a:gd name="T63" fmla="*/ 25 h 154"/>
                  <a:gd name="T64" fmla="*/ 3 w 91"/>
                  <a:gd name="T65" fmla="*/ 22 h 154"/>
                  <a:gd name="T66" fmla="*/ 3 w 91"/>
                  <a:gd name="T67" fmla="*/ 20 h 154"/>
                  <a:gd name="T68" fmla="*/ 2 w 91"/>
                  <a:gd name="T69" fmla="*/ 17 h 154"/>
                  <a:gd name="T70" fmla="*/ 1 w 91"/>
                  <a:gd name="T71" fmla="*/ 15 h 154"/>
                  <a:gd name="T72" fmla="*/ 1 w 91"/>
                  <a:gd name="T73" fmla="*/ 12 h 154"/>
                  <a:gd name="T74" fmla="*/ 1 w 91"/>
                  <a:gd name="T75" fmla="*/ 10 h 154"/>
                  <a:gd name="T76" fmla="*/ 0 w 91"/>
                  <a:gd name="T77" fmla="*/ 5 h 154"/>
                  <a:gd name="T78" fmla="*/ 0 w 91"/>
                  <a:gd name="T79" fmla="*/ 0 h 154"/>
                  <a:gd name="T80" fmla="*/ 0 w 91"/>
                  <a:gd name="T81" fmla="*/ 0 h 154"/>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91"/>
                  <a:gd name="T124" fmla="*/ 0 h 154"/>
                  <a:gd name="T125" fmla="*/ 91 w 91"/>
                  <a:gd name="T126" fmla="*/ 154 h 154"/>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91" h="154">
                    <a:moveTo>
                      <a:pt x="0" y="0"/>
                    </a:moveTo>
                    <a:lnTo>
                      <a:pt x="5" y="3"/>
                    </a:lnTo>
                    <a:lnTo>
                      <a:pt x="13" y="7"/>
                    </a:lnTo>
                    <a:lnTo>
                      <a:pt x="19" y="13"/>
                    </a:lnTo>
                    <a:lnTo>
                      <a:pt x="24" y="21"/>
                    </a:lnTo>
                    <a:lnTo>
                      <a:pt x="32" y="28"/>
                    </a:lnTo>
                    <a:lnTo>
                      <a:pt x="38" y="38"/>
                    </a:lnTo>
                    <a:lnTo>
                      <a:pt x="45" y="47"/>
                    </a:lnTo>
                    <a:lnTo>
                      <a:pt x="51" y="57"/>
                    </a:lnTo>
                    <a:lnTo>
                      <a:pt x="57" y="66"/>
                    </a:lnTo>
                    <a:lnTo>
                      <a:pt x="63" y="76"/>
                    </a:lnTo>
                    <a:lnTo>
                      <a:pt x="68" y="85"/>
                    </a:lnTo>
                    <a:lnTo>
                      <a:pt x="74" y="95"/>
                    </a:lnTo>
                    <a:lnTo>
                      <a:pt x="78" y="104"/>
                    </a:lnTo>
                    <a:lnTo>
                      <a:pt x="83" y="114"/>
                    </a:lnTo>
                    <a:lnTo>
                      <a:pt x="87" y="119"/>
                    </a:lnTo>
                    <a:lnTo>
                      <a:pt x="91" y="127"/>
                    </a:lnTo>
                    <a:lnTo>
                      <a:pt x="76" y="154"/>
                    </a:lnTo>
                    <a:lnTo>
                      <a:pt x="68" y="146"/>
                    </a:lnTo>
                    <a:lnTo>
                      <a:pt x="61" y="138"/>
                    </a:lnTo>
                    <a:lnTo>
                      <a:pt x="51" y="129"/>
                    </a:lnTo>
                    <a:lnTo>
                      <a:pt x="45" y="121"/>
                    </a:lnTo>
                    <a:lnTo>
                      <a:pt x="38" y="112"/>
                    </a:lnTo>
                    <a:lnTo>
                      <a:pt x="32" y="102"/>
                    </a:lnTo>
                    <a:lnTo>
                      <a:pt x="26" y="93"/>
                    </a:lnTo>
                    <a:lnTo>
                      <a:pt x="21" y="83"/>
                    </a:lnTo>
                    <a:lnTo>
                      <a:pt x="19" y="78"/>
                    </a:lnTo>
                    <a:lnTo>
                      <a:pt x="17" y="72"/>
                    </a:lnTo>
                    <a:lnTo>
                      <a:pt x="13" y="66"/>
                    </a:lnTo>
                    <a:lnTo>
                      <a:pt x="11" y="62"/>
                    </a:lnTo>
                    <a:lnTo>
                      <a:pt x="9" y="57"/>
                    </a:lnTo>
                    <a:lnTo>
                      <a:pt x="7" y="51"/>
                    </a:lnTo>
                    <a:lnTo>
                      <a:pt x="5" y="45"/>
                    </a:lnTo>
                    <a:lnTo>
                      <a:pt x="5" y="40"/>
                    </a:lnTo>
                    <a:lnTo>
                      <a:pt x="4" y="34"/>
                    </a:lnTo>
                    <a:lnTo>
                      <a:pt x="2" y="30"/>
                    </a:lnTo>
                    <a:lnTo>
                      <a:pt x="2" y="24"/>
                    </a:lnTo>
                    <a:lnTo>
                      <a:pt x="2" y="19"/>
                    </a:lnTo>
                    <a:lnTo>
                      <a:pt x="0" y="9"/>
                    </a:lnTo>
                    <a:lnTo>
                      <a:pt x="0" y="0"/>
                    </a:lnTo>
                    <a:close/>
                  </a:path>
                </a:pathLst>
              </a:custGeom>
              <a:solidFill>
                <a:srgbClr val="000000"/>
              </a:solidFill>
              <a:ln w="9525">
                <a:noFill/>
                <a:round/>
              </a:ln>
            </p:spPr>
            <p:txBody>
              <a:bodyPr/>
              <a:lstStyle/>
              <a:p>
                <a:endParaRPr lang="en-US"/>
              </a:p>
            </p:txBody>
          </p:sp>
          <p:sp>
            <p:nvSpPr>
              <p:cNvPr id="1048965" name="Freeform 262"/>
              <p:cNvSpPr/>
              <p:nvPr/>
            </p:nvSpPr>
            <p:spPr bwMode="auto">
              <a:xfrm>
                <a:off x="2624" y="2113"/>
                <a:ext cx="160" cy="59"/>
              </a:xfrm>
              <a:custGeom>
                <a:avLst/>
                <a:gdLst>
                  <a:gd name="T0" fmla="*/ 64 w 319"/>
                  <a:gd name="T1" fmla="*/ 0 h 118"/>
                  <a:gd name="T2" fmla="*/ 71 w 319"/>
                  <a:gd name="T3" fmla="*/ 0 h 118"/>
                  <a:gd name="T4" fmla="*/ 77 w 319"/>
                  <a:gd name="T5" fmla="*/ 0 h 118"/>
                  <a:gd name="T6" fmla="*/ 85 w 319"/>
                  <a:gd name="T7" fmla="*/ 0 h 118"/>
                  <a:gd name="T8" fmla="*/ 91 w 319"/>
                  <a:gd name="T9" fmla="*/ 2 h 118"/>
                  <a:gd name="T10" fmla="*/ 98 w 319"/>
                  <a:gd name="T11" fmla="*/ 4 h 118"/>
                  <a:gd name="T12" fmla="*/ 105 w 319"/>
                  <a:gd name="T13" fmla="*/ 7 h 118"/>
                  <a:gd name="T14" fmla="*/ 111 w 319"/>
                  <a:gd name="T15" fmla="*/ 10 h 118"/>
                  <a:gd name="T16" fmla="*/ 118 w 319"/>
                  <a:gd name="T17" fmla="*/ 14 h 118"/>
                  <a:gd name="T18" fmla="*/ 124 w 319"/>
                  <a:gd name="T19" fmla="*/ 17 h 118"/>
                  <a:gd name="T20" fmla="*/ 130 w 319"/>
                  <a:gd name="T21" fmla="*/ 22 h 118"/>
                  <a:gd name="T22" fmla="*/ 135 w 319"/>
                  <a:gd name="T23" fmla="*/ 27 h 118"/>
                  <a:gd name="T24" fmla="*/ 141 w 319"/>
                  <a:gd name="T25" fmla="*/ 31 h 118"/>
                  <a:gd name="T26" fmla="*/ 147 w 319"/>
                  <a:gd name="T27" fmla="*/ 37 h 118"/>
                  <a:gd name="T28" fmla="*/ 152 w 319"/>
                  <a:gd name="T29" fmla="*/ 43 h 118"/>
                  <a:gd name="T30" fmla="*/ 158 w 319"/>
                  <a:gd name="T31" fmla="*/ 50 h 118"/>
                  <a:gd name="T32" fmla="*/ 160 w 319"/>
                  <a:gd name="T33" fmla="*/ 54 h 118"/>
                  <a:gd name="T34" fmla="*/ 160 w 319"/>
                  <a:gd name="T35" fmla="*/ 56 h 118"/>
                  <a:gd name="T36" fmla="*/ 155 w 319"/>
                  <a:gd name="T37" fmla="*/ 55 h 118"/>
                  <a:gd name="T38" fmla="*/ 147 w 319"/>
                  <a:gd name="T39" fmla="*/ 50 h 118"/>
                  <a:gd name="T40" fmla="*/ 139 w 319"/>
                  <a:gd name="T41" fmla="*/ 44 h 118"/>
                  <a:gd name="T42" fmla="*/ 130 w 319"/>
                  <a:gd name="T43" fmla="*/ 40 h 118"/>
                  <a:gd name="T44" fmla="*/ 121 w 319"/>
                  <a:gd name="T45" fmla="*/ 36 h 118"/>
                  <a:gd name="T46" fmla="*/ 112 w 319"/>
                  <a:gd name="T47" fmla="*/ 34 h 118"/>
                  <a:gd name="T48" fmla="*/ 103 w 319"/>
                  <a:gd name="T49" fmla="*/ 31 h 118"/>
                  <a:gd name="T50" fmla="*/ 93 w 319"/>
                  <a:gd name="T51" fmla="*/ 30 h 118"/>
                  <a:gd name="T52" fmla="*/ 85 w 319"/>
                  <a:gd name="T53" fmla="*/ 30 h 118"/>
                  <a:gd name="T54" fmla="*/ 75 w 319"/>
                  <a:gd name="T55" fmla="*/ 30 h 118"/>
                  <a:gd name="T56" fmla="*/ 66 w 319"/>
                  <a:gd name="T57" fmla="*/ 31 h 118"/>
                  <a:gd name="T58" fmla="*/ 55 w 319"/>
                  <a:gd name="T59" fmla="*/ 34 h 118"/>
                  <a:gd name="T60" fmla="*/ 47 w 319"/>
                  <a:gd name="T61" fmla="*/ 37 h 118"/>
                  <a:gd name="T62" fmla="*/ 38 w 319"/>
                  <a:gd name="T63" fmla="*/ 40 h 118"/>
                  <a:gd name="T64" fmla="*/ 29 w 319"/>
                  <a:gd name="T65" fmla="*/ 45 h 118"/>
                  <a:gd name="T66" fmla="*/ 21 w 319"/>
                  <a:gd name="T67" fmla="*/ 50 h 118"/>
                  <a:gd name="T68" fmla="*/ 13 w 319"/>
                  <a:gd name="T69" fmla="*/ 50 h 118"/>
                  <a:gd name="T70" fmla="*/ 4 w 319"/>
                  <a:gd name="T71" fmla="*/ 45 h 118"/>
                  <a:gd name="T72" fmla="*/ 3 w 319"/>
                  <a:gd name="T73" fmla="*/ 39 h 118"/>
                  <a:gd name="T74" fmla="*/ 11 w 319"/>
                  <a:gd name="T75" fmla="*/ 34 h 118"/>
                  <a:gd name="T76" fmla="*/ 17 w 319"/>
                  <a:gd name="T77" fmla="*/ 28 h 118"/>
                  <a:gd name="T78" fmla="*/ 25 w 319"/>
                  <a:gd name="T79" fmla="*/ 22 h 118"/>
                  <a:gd name="T80" fmla="*/ 33 w 319"/>
                  <a:gd name="T81" fmla="*/ 16 h 118"/>
                  <a:gd name="T82" fmla="*/ 39 w 319"/>
                  <a:gd name="T83" fmla="*/ 11 h 118"/>
                  <a:gd name="T84" fmla="*/ 48 w 319"/>
                  <a:gd name="T85" fmla="*/ 6 h 118"/>
                  <a:gd name="T86" fmla="*/ 56 w 319"/>
                  <a:gd name="T87" fmla="*/ 2 h 118"/>
                  <a:gd name="T88" fmla="*/ 60 w 319"/>
                  <a:gd name="T89" fmla="*/ 2 h 118"/>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319"/>
                  <a:gd name="T136" fmla="*/ 0 h 118"/>
                  <a:gd name="T137" fmla="*/ 319 w 319"/>
                  <a:gd name="T138" fmla="*/ 118 h 118"/>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319" h="118">
                    <a:moveTo>
                      <a:pt x="120" y="4"/>
                    </a:moveTo>
                    <a:lnTo>
                      <a:pt x="127" y="0"/>
                    </a:lnTo>
                    <a:lnTo>
                      <a:pt x="133" y="0"/>
                    </a:lnTo>
                    <a:lnTo>
                      <a:pt x="141" y="0"/>
                    </a:lnTo>
                    <a:lnTo>
                      <a:pt x="148" y="0"/>
                    </a:lnTo>
                    <a:lnTo>
                      <a:pt x="154" y="0"/>
                    </a:lnTo>
                    <a:lnTo>
                      <a:pt x="162" y="0"/>
                    </a:lnTo>
                    <a:lnTo>
                      <a:pt x="169" y="0"/>
                    </a:lnTo>
                    <a:lnTo>
                      <a:pt x="177" y="2"/>
                    </a:lnTo>
                    <a:lnTo>
                      <a:pt x="182" y="4"/>
                    </a:lnTo>
                    <a:lnTo>
                      <a:pt x="188" y="6"/>
                    </a:lnTo>
                    <a:lnTo>
                      <a:pt x="196" y="8"/>
                    </a:lnTo>
                    <a:lnTo>
                      <a:pt x="203" y="10"/>
                    </a:lnTo>
                    <a:lnTo>
                      <a:pt x="209" y="13"/>
                    </a:lnTo>
                    <a:lnTo>
                      <a:pt x="215" y="15"/>
                    </a:lnTo>
                    <a:lnTo>
                      <a:pt x="222" y="19"/>
                    </a:lnTo>
                    <a:lnTo>
                      <a:pt x="230" y="23"/>
                    </a:lnTo>
                    <a:lnTo>
                      <a:pt x="236" y="27"/>
                    </a:lnTo>
                    <a:lnTo>
                      <a:pt x="241" y="30"/>
                    </a:lnTo>
                    <a:lnTo>
                      <a:pt x="247" y="34"/>
                    </a:lnTo>
                    <a:lnTo>
                      <a:pt x="253" y="38"/>
                    </a:lnTo>
                    <a:lnTo>
                      <a:pt x="259" y="44"/>
                    </a:lnTo>
                    <a:lnTo>
                      <a:pt x="264" y="48"/>
                    </a:lnTo>
                    <a:lnTo>
                      <a:pt x="270" y="53"/>
                    </a:lnTo>
                    <a:lnTo>
                      <a:pt x="278" y="59"/>
                    </a:lnTo>
                    <a:lnTo>
                      <a:pt x="281" y="63"/>
                    </a:lnTo>
                    <a:lnTo>
                      <a:pt x="287" y="68"/>
                    </a:lnTo>
                    <a:lnTo>
                      <a:pt x="293" y="74"/>
                    </a:lnTo>
                    <a:lnTo>
                      <a:pt x="298" y="80"/>
                    </a:lnTo>
                    <a:lnTo>
                      <a:pt x="304" y="86"/>
                    </a:lnTo>
                    <a:lnTo>
                      <a:pt x="310" y="93"/>
                    </a:lnTo>
                    <a:lnTo>
                      <a:pt x="316" y="99"/>
                    </a:lnTo>
                    <a:lnTo>
                      <a:pt x="319" y="106"/>
                    </a:lnTo>
                    <a:lnTo>
                      <a:pt x="319" y="108"/>
                    </a:lnTo>
                    <a:lnTo>
                      <a:pt x="319" y="110"/>
                    </a:lnTo>
                    <a:lnTo>
                      <a:pt x="319" y="112"/>
                    </a:lnTo>
                    <a:lnTo>
                      <a:pt x="319" y="118"/>
                    </a:lnTo>
                    <a:lnTo>
                      <a:pt x="310" y="110"/>
                    </a:lnTo>
                    <a:lnTo>
                      <a:pt x="302" y="105"/>
                    </a:lnTo>
                    <a:lnTo>
                      <a:pt x="293" y="99"/>
                    </a:lnTo>
                    <a:lnTo>
                      <a:pt x="287" y="93"/>
                    </a:lnTo>
                    <a:lnTo>
                      <a:pt x="278" y="87"/>
                    </a:lnTo>
                    <a:lnTo>
                      <a:pt x="268" y="84"/>
                    </a:lnTo>
                    <a:lnTo>
                      <a:pt x="260" y="80"/>
                    </a:lnTo>
                    <a:lnTo>
                      <a:pt x="253" y="76"/>
                    </a:lnTo>
                    <a:lnTo>
                      <a:pt x="241" y="72"/>
                    </a:lnTo>
                    <a:lnTo>
                      <a:pt x="234" y="68"/>
                    </a:lnTo>
                    <a:lnTo>
                      <a:pt x="224" y="67"/>
                    </a:lnTo>
                    <a:lnTo>
                      <a:pt x="215" y="65"/>
                    </a:lnTo>
                    <a:lnTo>
                      <a:pt x="205" y="63"/>
                    </a:lnTo>
                    <a:lnTo>
                      <a:pt x="198" y="61"/>
                    </a:lnTo>
                    <a:lnTo>
                      <a:pt x="186" y="61"/>
                    </a:lnTo>
                    <a:lnTo>
                      <a:pt x="179" y="61"/>
                    </a:lnTo>
                    <a:lnTo>
                      <a:pt x="169" y="59"/>
                    </a:lnTo>
                    <a:lnTo>
                      <a:pt x="160" y="59"/>
                    </a:lnTo>
                    <a:lnTo>
                      <a:pt x="150" y="61"/>
                    </a:lnTo>
                    <a:lnTo>
                      <a:pt x="141" y="61"/>
                    </a:lnTo>
                    <a:lnTo>
                      <a:pt x="131" y="63"/>
                    </a:lnTo>
                    <a:lnTo>
                      <a:pt x="122" y="65"/>
                    </a:lnTo>
                    <a:lnTo>
                      <a:pt x="110" y="67"/>
                    </a:lnTo>
                    <a:lnTo>
                      <a:pt x="103" y="70"/>
                    </a:lnTo>
                    <a:lnTo>
                      <a:pt x="93" y="74"/>
                    </a:lnTo>
                    <a:lnTo>
                      <a:pt x="84" y="76"/>
                    </a:lnTo>
                    <a:lnTo>
                      <a:pt x="76" y="80"/>
                    </a:lnTo>
                    <a:lnTo>
                      <a:pt x="67" y="84"/>
                    </a:lnTo>
                    <a:lnTo>
                      <a:pt x="57" y="89"/>
                    </a:lnTo>
                    <a:lnTo>
                      <a:pt x="49" y="93"/>
                    </a:lnTo>
                    <a:lnTo>
                      <a:pt x="42" y="99"/>
                    </a:lnTo>
                    <a:lnTo>
                      <a:pt x="32" y="106"/>
                    </a:lnTo>
                    <a:lnTo>
                      <a:pt x="25" y="99"/>
                    </a:lnTo>
                    <a:lnTo>
                      <a:pt x="15" y="95"/>
                    </a:lnTo>
                    <a:lnTo>
                      <a:pt x="8" y="89"/>
                    </a:lnTo>
                    <a:lnTo>
                      <a:pt x="0" y="84"/>
                    </a:lnTo>
                    <a:lnTo>
                      <a:pt x="6" y="78"/>
                    </a:lnTo>
                    <a:lnTo>
                      <a:pt x="13" y="74"/>
                    </a:lnTo>
                    <a:lnTo>
                      <a:pt x="21" y="68"/>
                    </a:lnTo>
                    <a:lnTo>
                      <a:pt x="27" y="63"/>
                    </a:lnTo>
                    <a:lnTo>
                      <a:pt x="34" y="55"/>
                    </a:lnTo>
                    <a:lnTo>
                      <a:pt x="42" y="51"/>
                    </a:lnTo>
                    <a:lnTo>
                      <a:pt x="49" y="44"/>
                    </a:lnTo>
                    <a:lnTo>
                      <a:pt x="57" y="38"/>
                    </a:lnTo>
                    <a:lnTo>
                      <a:pt x="65" y="32"/>
                    </a:lnTo>
                    <a:lnTo>
                      <a:pt x="72" y="27"/>
                    </a:lnTo>
                    <a:lnTo>
                      <a:pt x="78" y="21"/>
                    </a:lnTo>
                    <a:lnTo>
                      <a:pt x="87" y="17"/>
                    </a:lnTo>
                    <a:lnTo>
                      <a:pt x="95" y="11"/>
                    </a:lnTo>
                    <a:lnTo>
                      <a:pt x="105" y="8"/>
                    </a:lnTo>
                    <a:lnTo>
                      <a:pt x="112" y="4"/>
                    </a:lnTo>
                    <a:lnTo>
                      <a:pt x="120" y="4"/>
                    </a:lnTo>
                    <a:close/>
                  </a:path>
                </a:pathLst>
              </a:custGeom>
              <a:solidFill>
                <a:srgbClr val="000000"/>
              </a:solidFill>
              <a:ln w="9525">
                <a:noFill/>
                <a:round/>
              </a:ln>
            </p:spPr>
            <p:txBody>
              <a:bodyPr/>
              <a:lstStyle/>
              <a:p>
                <a:endParaRPr lang="en-US"/>
              </a:p>
            </p:txBody>
          </p:sp>
          <p:sp>
            <p:nvSpPr>
              <p:cNvPr id="1048966" name="Freeform 263"/>
              <p:cNvSpPr/>
              <p:nvPr/>
            </p:nvSpPr>
            <p:spPr bwMode="auto">
              <a:xfrm>
                <a:off x="1939" y="2366"/>
                <a:ext cx="217" cy="160"/>
              </a:xfrm>
              <a:custGeom>
                <a:avLst/>
                <a:gdLst>
                  <a:gd name="T0" fmla="*/ 214 w 434"/>
                  <a:gd name="T1" fmla="*/ 6 h 319"/>
                  <a:gd name="T2" fmla="*/ 208 w 434"/>
                  <a:gd name="T3" fmla="*/ 6 h 319"/>
                  <a:gd name="T4" fmla="*/ 205 w 434"/>
                  <a:gd name="T5" fmla="*/ 6 h 319"/>
                  <a:gd name="T6" fmla="*/ 199 w 434"/>
                  <a:gd name="T7" fmla="*/ 5 h 319"/>
                  <a:gd name="T8" fmla="*/ 193 w 434"/>
                  <a:gd name="T9" fmla="*/ 4 h 319"/>
                  <a:gd name="T10" fmla="*/ 186 w 434"/>
                  <a:gd name="T11" fmla="*/ 3 h 319"/>
                  <a:gd name="T12" fmla="*/ 178 w 434"/>
                  <a:gd name="T13" fmla="*/ 2 h 319"/>
                  <a:gd name="T14" fmla="*/ 170 w 434"/>
                  <a:gd name="T15" fmla="*/ 1 h 319"/>
                  <a:gd name="T16" fmla="*/ 160 w 434"/>
                  <a:gd name="T17" fmla="*/ 1 h 319"/>
                  <a:gd name="T18" fmla="*/ 151 w 434"/>
                  <a:gd name="T19" fmla="*/ 1 h 319"/>
                  <a:gd name="T20" fmla="*/ 142 w 434"/>
                  <a:gd name="T21" fmla="*/ 0 h 319"/>
                  <a:gd name="T22" fmla="*/ 132 w 434"/>
                  <a:gd name="T23" fmla="*/ 0 h 319"/>
                  <a:gd name="T24" fmla="*/ 122 w 434"/>
                  <a:gd name="T25" fmla="*/ 1 h 319"/>
                  <a:gd name="T26" fmla="*/ 113 w 434"/>
                  <a:gd name="T27" fmla="*/ 2 h 319"/>
                  <a:gd name="T28" fmla="*/ 104 w 434"/>
                  <a:gd name="T29" fmla="*/ 3 h 319"/>
                  <a:gd name="T30" fmla="*/ 95 w 434"/>
                  <a:gd name="T31" fmla="*/ 5 h 319"/>
                  <a:gd name="T32" fmla="*/ 88 w 434"/>
                  <a:gd name="T33" fmla="*/ 8 h 319"/>
                  <a:gd name="T34" fmla="*/ 81 w 434"/>
                  <a:gd name="T35" fmla="*/ 12 h 319"/>
                  <a:gd name="T36" fmla="*/ 74 w 434"/>
                  <a:gd name="T37" fmla="*/ 14 h 319"/>
                  <a:gd name="T38" fmla="*/ 68 w 434"/>
                  <a:gd name="T39" fmla="*/ 19 h 319"/>
                  <a:gd name="T40" fmla="*/ 62 w 434"/>
                  <a:gd name="T41" fmla="*/ 24 h 319"/>
                  <a:gd name="T42" fmla="*/ 56 w 434"/>
                  <a:gd name="T43" fmla="*/ 30 h 319"/>
                  <a:gd name="T44" fmla="*/ 50 w 434"/>
                  <a:gd name="T45" fmla="*/ 35 h 319"/>
                  <a:gd name="T46" fmla="*/ 44 w 434"/>
                  <a:gd name="T47" fmla="*/ 42 h 319"/>
                  <a:gd name="T48" fmla="*/ 38 w 434"/>
                  <a:gd name="T49" fmla="*/ 50 h 319"/>
                  <a:gd name="T50" fmla="*/ 34 w 434"/>
                  <a:gd name="T51" fmla="*/ 57 h 319"/>
                  <a:gd name="T52" fmla="*/ 27 w 434"/>
                  <a:gd name="T53" fmla="*/ 66 h 319"/>
                  <a:gd name="T54" fmla="*/ 23 w 434"/>
                  <a:gd name="T55" fmla="*/ 75 h 319"/>
                  <a:gd name="T56" fmla="*/ 19 w 434"/>
                  <a:gd name="T57" fmla="*/ 82 h 319"/>
                  <a:gd name="T58" fmla="*/ 17 w 434"/>
                  <a:gd name="T59" fmla="*/ 88 h 319"/>
                  <a:gd name="T60" fmla="*/ 14 w 434"/>
                  <a:gd name="T61" fmla="*/ 93 h 319"/>
                  <a:gd name="T62" fmla="*/ 13 w 434"/>
                  <a:gd name="T63" fmla="*/ 99 h 319"/>
                  <a:gd name="T64" fmla="*/ 11 w 434"/>
                  <a:gd name="T65" fmla="*/ 105 h 319"/>
                  <a:gd name="T66" fmla="*/ 9 w 434"/>
                  <a:gd name="T67" fmla="*/ 110 h 319"/>
                  <a:gd name="T68" fmla="*/ 7 w 434"/>
                  <a:gd name="T69" fmla="*/ 117 h 319"/>
                  <a:gd name="T70" fmla="*/ 6 w 434"/>
                  <a:gd name="T71" fmla="*/ 124 h 319"/>
                  <a:gd name="T72" fmla="*/ 4 w 434"/>
                  <a:gd name="T73" fmla="*/ 130 h 319"/>
                  <a:gd name="T74" fmla="*/ 2 w 434"/>
                  <a:gd name="T75" fmla="*/ 138 h 319"/>
                  <a:gd name="T76" fmla="*/ 1 w 434"/>
                  <a:gd name="T77" fmla="*/ 145 h 319"/>
                  <a:gd name="T78" fmla="*/ 0 w 434"/>
                  <a:gd name="T79" fmla="*/ 152 h 319"/>
                  <a:gd name="T80" fmla="*/ 2 w 434"/>
                  <a:gd name="T81" fmla="*/ 157 h 319"/>
                  <a:gd name="T82" fmla="*/ 4 w 434"/>
                  <a:gd name="T83" fmla="*/ 158 h 319"/>
                  <a:gd name="T84" fmla="*/ 7 w 434"/>
                  <a:gd name="T85" fmla="*/ 159 h 319"/>
                  <a:gd name="T86" fmla="*/ 12 w 434"/>
                  <a:gd name="T87" fmla="*/ 159 h 319"/>
                  <a:gd name="T88" fmla="*/ 81 w 434"/>
                  <a:gd name="T89" fmla="*/ 22 h 319"/>
                  <a:gd name="T90" fmla="*/ 217 w 434"/>
                  <a:gd name="T91" fmla="*/ 8 h 319"/>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w 434"/>
                  <a:gd name="T139" fmla="*/ 0 h 319"/>
                  <a:gd name="T140" fmla="*/ 434 w 434"/>
                  <a:gd name="T141" fmla="*/ 319 h 319"/>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T138" t="T139" r="T140" b="T141"/>
                <a:pathLst>
                  <a:path w="434" h="319">
                    <a:moveTo>
                      <a:pt x="434" y="15"/>
                    </a:moveTo>
                    <a:lnTo>
                      <a:pt x="428" y="11"/>
                    </a:lnTo>
                    <a:lnTo>
                      <a:pt x="420" y="11"/>
                    </a:lnTo>
                    <a:lnTo>
                      <a:pt x="415" y="11"/>
                    </a:lnTo>
                    <a:lnTo>
                      <a:pt x="413" y="13"/>
                    </a:lnTo>
                    <a:lnTo>
                      <a:pt x="409" y="11"/>
                    </a:lnTo>
                    <a:lnTo>
                      <a:pt x="403" y="11"/>
                    </a:lnTo>
                    <a:lnTo>
                      <a:pt x="398" y="9"/>
                    </a:lnTo>
                    <a:lnTo>
                      <a:pt x="394" y="9"/>
                    </a:lnTo>
                    <a:lnTo>
                      <a:pt x="386" y="7"/>
                    </a:lnTo>
                    <a:lnTo>
                      <a:pt x="379" y="7"/>
                    </a:lnTo>
                    <a:lnTo>
                      <a:pt x="371" y="6"/>
                    </a:lnTo>
                    <a:lnTo>
                      <a:pt x="365" y="6"/>
                    </a:lnTo>
                    <a:lnTo>
                      <a:pt x="356" y="4"/>
                    </a:lnTo>
                    <a:lnTo>
                      <a:pt x="346" y="4"/>
                    </a:lnTo>
                    <a:lnTo>
                      <a:pt x="339" y="2"/>
                    </a:lnTo>
                    <a:lnTo>
                      <a:pt x="329" y="2"/>
                    </a:lnTo>
                    <a:lnTo>
                      <a:pt x="320" y="2"/>
                    </a:lnTo>
                    <a:lnTo>
                      <a:pt x="312" y="2"/>
                    </a:lnTo>
                    <a:lnTo>
                      <a:pt x="302" y="2"/>
                    </a:lnTo>
                    <a:lnTo>
                      <a:pt x="293" y="2"/>
                    </a:lnTo>
                    <a:lnTo>
                      <a:pt x="283" y="0"/>
                    </a:lnTo>
                    <a:lnTo>
                      <a:pt x="274" y="0"/>
                    </a:lnTo>
                    <a:lnTo>
                      <a:pt x="263" y="0"/>
                    </a:lnTo>
                    <a:lnTo>
                      <a:pt x="255" y="2"/>
                    </a:lnTo>
                    <a:lnTo>
                      <a:pt x="244" y="2"/>
                    </a:lnTo>
                    <a:lnTo>
                      <a:pt x="234" y="2"/>
                    </a:lnTo>
                    <a:lnTo>
                      <a:pt x="226" y="4"/>
                    </a:lnTo>
                    <a:lnTo>
                      <a:pt x="217" y="6"/>
                    </a:lnTo>
                    <a:lnTo>
                      <a:pt x="207" y="6"/>
                    </a:lnTo>
                    <a:lnTo>
                      <a:pt x="200" y="7"/>
                    </a:lnTo>
                    <a:lnTo>
                      <a:pt x="190" y="9"/>
                    </a:lnTo>
                    <a:lnTo>
                      <a:pt x="183" y="13"/>
                    </a:lnTo>
                    <a:lnTo>
                      <a:pt x="175" y="15"/>
                    </a:lnTo>
                    <a:lnTo>
                      <a:pt x="167" y="19"/>
                    </a:lnTo>
                    <a:lnTo>
                      <a:pt x="162" y="23"/>
                    </a:lnTo>
                    <a:lnTo>
                      <a:pt x="156" y="26"/>
                    </a:lnTo>
                    <a:lnTo>
                      <a:pt x="148" y="28"/>
                    </a:lnTo>
                    <a:lnTo>
                      <a:pt x="143" y="34"/>
                    </a:lnTo>
                    <a:lnTo>
                      <a:pt x="135" y="38"/>
                    </a:lnTo>
                    <a:lnTo>
                      <a:pt x="129" y="44"/>
                    </a:lnTo>
                    <a:lnTo>
                      <a:pt x="124" y="47"/>
                    </a:lnTo>
                    <a:lnTo>
                      <a:pt x="118" y="53"/>
                    </a:lnTo>
                    <a:lnTo>
                      <a:pt x="112" y="59"/>
                    </a:lnTo>
                    <a:lnTo>
                      <a:pt x="107" y="64"/>
                    </a:lnTo>
                    <a:lnTo>
                      <a:pt x="99" y="70"/>
                    </a:lnTo>
                    <a:lnTo>
                      <a:pt x="93" y="78"/>
                    </a:lnTo>
                    <a:lnTo>
                      <a:pt x="88" y="83"/>
                    </a:lnTo>
                    <a:lnTo>
                      <a:pt x="82" y="91"/>
                    </a:lnTo>
                    <a:lnTo>
                      <a:pt x="76" y="99"/>
                    </a:lnTo>
                    <a:lnTo>
                      <a:pt x="70" y="106"/>
                    </a:lnTo>
                    <a:lnTo>
                      <a:pt x="67" y="114"/>
                    </a:lnTo>
                    <a:lnTo>
                      <a:pt x="61" y="123"/>
                    </a:lnTo>
                    <a:lnTo>
                      <a:pt x="55" y="131"/>
                    </a:lnTo>
                    <a:lnTo>
                      <a:pt x="50" y="141"/>
                    </a:lnTo>
                    <a:lnTo>
                      <a:pt x="46" y="150"/>
                    </a:lnTo>
                    <a:lnTo>
                      <a:pt x="42" y="160"/>
                    </a:lnTo>
                    <a:lnTo>
                      <a:pt x="38" y="163"/>
                    </a:lnTo>
                    <a:lnTo>
                      <a:pt x="36" y="169"/>
                    </a:lnTo>
                    <a:lnTo>
                      <a:pt x="34" y="175"/>
                    </a:lnTo>
                    <a:lnTo>
                      <a:pt x="32" y="180"/>
                    </a:lnTo>
                    <a:lnTo>
                      <a:pt x="29" y="186"/>
                    </a:lnTo>
                    <a:lnTo>
                      <a:pt x="27" y="192"/>
                    </a:lnTo>
                    <a:lnTo>
                      <a:pt x="25" y="198"/>
                    </a:lnTo>
                    <a:lnTo>
                      <a:pt x="23" y="203"/>
                    </a:lnTo>
                    <a:lnTo>
                      <a:pt x="21" y="209"/>
                    </a:lnTo>
                    <a:lnTo>
                      <a:pt x="19" y="215"/>
                    </a:lnTo>
                    <a:lnTo>
                      <a:pt x="17" y="220"/>
                    </a:lnTo>
                    <a:lnTo>
                      <a:pt x="15" y="228"/>
                    </a:lnTo>
                    <a:lnTo>
                      <a:pt x="13" y="234"/>
                    </a:lnTo>
                    <a:lnTo>
                      <a:pt x="13" y="241"/>
                    </a:lnTo>
                    <a:lnTo>
                      <a:pt x="12" y="247"/>
                    </a:lnTo>
                    <a:lnTo>
                      <a:pt x="10" y="255"/>
                    </a:lnTo>
                    <a:lnTo>
                      <a:pt x="8" y="260"/>
                    </a:lnTo>
                    <a:lnTo>
                      <a:pt x="6" y="268"/>
                    </a:lnTo>
                    <a:lnTo>
                      <a:pt x="4" y="276"/>
                    </a:lnTo>
                    <a:lnTo>
                      <a:pt x="4" y="281"/>
                    </a:lnTo>
                    <a:lnTo>
                      <a:pt x="2" y="289"/>
                    </a:lnTo>
                    <a:lnTo>
                      <a:pt x="2" y="296"/>
                    </a:lnTo>
                    <a:lnTo>
                      <a:pt x="0" y="304"/>
                    </a:lnTo>
                    <a:lnTo>
                      <a:pt x="0" y="314"/>
                    </a:lnTo>
                    <a:lnTo>
                      <a:pt x="4" y="314"/>
                    </a:lnTo>
                    <a:lnTo>
                      <a:pt x="8" y="315"/>
                    </a:lnTo>
                    <a:lnTo>
                      <a:pt x="13" y="317"/>
                    </a:lnTo>
                    <a:lnTo>
                      <a:pt x="15" y="317"/>
                    </a:lnTo>
                    <a:lnTo>
                      <a:pt x="17" y="317"/>
                    </a:lnTo>
                    <a:lnTo>
                      <a:pt x="23" y="317"/>
                    </a:lnTo>
                    <a:lnTo>
                      <a:pt x="29" y="319"/>
                    </a:lnTo>
                    <a:lnTo>
                      <a:pt x="162" y="44"/>
                    </a:lnTo>
                    <a:lnTo>
                      <a:pt x="434" y="15"/>
                    </a:lnTo>
                    <a:close/>
                  </a:path>
                </a:pathLst>
              </a:custGeom>
              <a:solidFill>
                <a:srgbClr val="000000"/>
              </a:solidFill>
              <a:ln w="9525">
                <a:noFill/>
                <a:round/>
              </a:ln>
            </p:spPr>
            <p:txBody>
              <a:bodyPr/>
              <a:lstStyle/>
              <a:p>
                <a:endParaRPr lang="en-US"/>
              </a:p>
            </p:txBody>
          </p:sp>
          <p:sp>
            <p:nvSpPr>
              <p:cNvPr id="1048967" name="Freeform 264"/>
              <p:cNvSpPr/>
              <p:nvPr/>
            </p:nvSpPr>
            <p:spPr bwMode="auto">
              <a:xfrm>
                <a:off x="1886" y="2120"/>
                <a:ext cx="315" cy="358"/>
              </a:xfrm>
              <a:custGeom>
                <a:avLst/>
                <a:gdLst>
                  <a:gd name="T0" fmla="*/ 293 w 629"/>
                  <a:gd name="T1" fmla="*/ 102 h 717"/>
                  <a:gd name="T2" fmla="*/ 276 w 629"/>
                  <a:gd name="T3" fmla="*/ 102 h 717"/>
                  <a:gd name="T4" fmla="*/ 258 w 629"/>
                  <a:gd name="T5" fmla="*/ 104 h 717"/>
                  <a:gd name="T6" fmla="*/ 239 w 629"/>
                  <a:gd name="T7" fmla="*/ 104 h 717"/>
                  <a:gd name="T8" fmla="*/ 221 w 629"/>
                  <a:gd name="T9" fmla="*/ 106 h 717"/>
                  <a:gd name="T10" fmla="*/ 202 w 629"/>
                  <a:gd name="T11" fmla="*/ 109 h 717"/>
                  <a:gd name="T12" fmla="*/ 185 w 629"/>
                  <a:gd name="T13" fmla="*/ 113 h 717"/>
                  <a:gd name="T14" fmla="*/ 169 w 629"/>
                  <a:gd name="T15" fmla="*/ 117 h 717"/>
                  <a:gd name="T16" fmla="*/ 156 w 629"/>
                  <a:gd name="T17" fmla="*/ 122 h 717"/>
                  <a:gd name="T18" fmla="*/ 144 w 629"/>
                  <a:gd name="T19" fmla="*/ 126 h 717"/>
                  <a:gd name="T20" fmla="*/ 129 w 629"/>
                  <a:gd name="T21" fmla="*/ 131 h 717"/>
                  <a:gd name="T22" fmla="*/ 114 w 629"/>
                  <a:gd name="T23" fmla="*/ 139 h 717"/>
                  <a:gd name="T24" fmla="*/ 100 w 629"/>
                  <a:gd name="T25" fmla="*/ 147 h 717"/>
                  <a:gd name="T26" fmla="*/ 85 w 629"/>
                  <a:gd name="T27" fmla="*/ 160 h 717"/>
                  <a:gd name="T28" fmla="*/ 69 w 629"/>
                  <a:gd name="T29" fmla="*/ 175 h 717"/>
                  <a:gd name="T30" fmla="*/ 58 w 629"/>
                  <a:gd name="T31" fmla="*/ 189 h 717"/>
                  <a:gd name="T32" fmla="*/ 51 w 629"/>
                  <a:gd name="T33" fmla="*/ 201 h 717"/>
                  <a:gd name="T34" fmla="*/ 45 w 629"/>
                  <a:gd name="T35" fmla="*/ 213 h 717"/>
                  <a:gd name="T36" fmla="*/ 38 w 629"/>
                  <a:gd name="T37" fmla="*/ 226 h 717"/>
                  <a:gd name="T38" fmla="*/ 32 w 629"/>
                  <a:gd name="T39" fmla="*/ 239 h 717"/>
                  <a:gd name="T40" fmla="*/ 27 w 629"/>
                  <a:gd name="T41" fmla="*/ 251 h 717"/>
                  <a:gd name="T42" fmla="*/ 22 w 629"/>
                  <a:gd name="T43" fmla="*/ 261 h 717"/>
                  <a:gd name="T44" fmla="*/ 15 w 629"/>
                  <a:gd name="T45" fmla="*/ 277 h 717"/>
                  <a:gd name="T46" fmla="*/ 9 w 629"/>
                  <a:gd name="T47" fmla="*/ 294 h 717"/>
                  <a:gd name="T48" fmla="*/ 4 w 629"/>
                  <a:gd name="T49" fmla="*/ 310 h 717"/>
                  <a:gd name="T50" fmla="*/ 1 w 629"/>
                  <a:gd name="T51" fmla="*/ 324 h 717"/>
                  <a:gd name="T52" fmla="*/ 0 w 629"/>
                  <a:gd name="T53" fmla="*/ 337 h 717"/>
                  <a:gd name="T54" fmla="*/ 1 w 629"/>
                  <a:gd name="T55" fmla="*/ 352 h 717"/>
                  <a:gd name="T56" fmla="*/ 10 w 629"/>
                  <a:gd name="T57" fmla="*/ 353 h 717"/>
                  <a:gd name="T58" fmla="*/ 18 w 629"/>
                  <a:gd name="T59" fmla="*/ 340 h 717"/>
                  <a:gd name="T60" fmla="*/ 22 w 629"/>
                  <a:gd name="T61" fmla="*/ 326 h 717"/>
                  <a:gd name="T62" fmla="*/ 28 w 629"/>
                  <a:gd name="T63" fmla="*/ 309 h 717"/>
                  <a:gd name="T64" fmla="*/ 34 w 629"/>
                  <a:gd name="T65" fmla="*/ 291 h 717"/>
                  <a:gd name="T66" fmla="*/ 41 w 629"/>
                  <a:gd name="T67" fmla="*/ 277 h 717"/>
                  <a:gd name="T68" fmla="*/ 47 w 629"/>
                  <a:gd name="T69" fmla="*/ 266 h 717"/>
                  <a:gd name="T70" fmla="*/ 52 w 629"/>
                  <a:gd name="T71" fmla="*/ 256 h 717"/>
                  <a:gd name="T72" fmla="*/ 58 w 629"/>
                  <a:gd name="T73" fmla="*/ 244 h 717"/>
                  <a:gd name="T74" fmla="*/ 66 w 629"/>
                  <a:gd name="T75" fmla="*/ 232 h 717"/>
                  <a:gd name="T76" fmla="*/ 74 w 629"/>
                  <a:gd name="T77" fmla="*/ 220 h 717"/>
                  <a:gd name="T78" fmla="*/ 82 w 629"/>
                  <a:gd name="T79" fmla="*/ 208 h 717"/>
                  <a:gd name="T80" fmla="*/ 92 w 629"/>
                  <a:gd name="T81" fmla="*/ 195 h 717"/>
                  <a:gd name="T82" fmla="*/ 103 w 629"/>
                  <a:gd name="T83" fmla="*/ 181 h 717"/>
                  <a:gd name="T84" fmla="*/ 114 w 629"/>
                  <a:gd name="T85" fmla="*/ 168 h 717"/>
                  <a:gd name="T86" fmla="*/ 127 w 629"/>
                  <a:gd name="T87" fmla="*/ 157 h 717"/>
                  <a:gd name="T88" fmla="*/ 140 w 629"/>
                  <a:gd name="T89" fmla="*/ 146 h 717"/>
                  <a:gd name="T90" fmla="*/ 153 w 629"/>
                  <a:gd name="T91" fmla="*/ 138 h 717"/>
                  <a:gd name="T92" fmla="*/ 166 w 629"/>
                  <a:gd name="T93" fmla="*/ 130 h 717"/>
                  <a:gd name="T94" fmla="*/ 181 w 629"/>
                  <a:gd name="T95" fmla="*/ 124 h 717"/>
                  <a:gd name="T96" fmla="*/ 195 w 629"/>
                  <a:gd name="T97" fmla="*/ 118 h 717"/>
                  <a:gd name="T98" fmla="*/ 209 w 629"/>
                  <a:gd name="T99" fmla="*/ 114 h 717"/>
                  <a:gd name="T100" fmla="*/ 224 w 629"/>
                  <a:gd name="T101" fmla="*/ 111 h 717"/>
                  <a:gd name="T102" fmla="*/ 238 w 629"/>
                  <a:gd name="T103" fmla="*/ 108 h 717"/>
                  <a:gd name="T104" fmla="*/ 253 w 629"/>
                  <a:gd name="T105" fmla="*/ 108 h 717"/>
                  <a:gd name="T106" fmla="*/ 267 w 629"/>
                  <a:gd name="T107" fmla="*/ 108 h 717"/>
                  <a:gd name="T108" fmla="*/ 281 w 629"/>
                  <a:gd name="T109" fmla="*/ 109 h 717"/>
                  <a:gd name="T110" fmla="*/ 294 w 629"/>
                  <a:gd name="T111" fmla="*/ 112 h 717"/>
                  <a:gd name="T112" fmla="*/ 307 w 629"/>
                  <a:gd name="T113" fmla="*/ 116 h 717"/>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629"/>
                  <a:gd name="T172" fmla="*/ 0 h 717"/>
                  <a:gd name="T173" fmla="*/ 629 w 629"/>
                  <a:gd name="T174" fmla="*/ 717 h 717"/>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629" h="717">
                    <a:moveTo>
                      <a:pt x="629" y="236"/>
                    </a:moveTo>
                    <a:lnTo>
                      <a:pt x="606" y="0"/>
                    </a:lnTo>
                    <a:lnTo>
                      <a:pt x="599" y="12"/>
                    </a:lnTo>
                    <a:lnTo>
                      <a:pt x="585" y="204"/>
                    </a:lnTo>
                    <a:lnTo>
                      <a:pt x="576" y="204"/>
                    </a:lnTo>
                    <a:lnTo>
                      <a:pt x="568" y="204"/>
                    </a:lnTo>
                    <a:lnTo>
                      <a:pt x="559" y="204"/>
                    </a:lnTo>
                    <a:lnTo>
                      <a:pt x="551" y="204"/>
                    </a:lnTo>
                    <a:lnTo>
                      <a:pt x="542" y="204"/>
                    </a:lnTo>
                    <a:lnTo>
                      <a:pt x="532" y="206"/>
                    </a:lnTo>
                    <a:lnTo>
                      <a:pt x="524" y="206"/>
                    </a:lnTo>
                    <a:lnTo>
                      <a:pt x="515" y="208"/>
                    </a:lnTo>
                    <a:lnTo>
                      <a:pt x="505" y="208"/>
                    </a:lnTo>
                    <a:lnTo>
                      <a:pt x="496" y="208"/>
                    </a:lnTo>
                    <a:lnTo>
                      <a:pt x="486" y="208"/>
                    </a:lnTo>
                    <a:lnTo>
                      <a:pt x="477" y="209"/>
                    </a:lnTo>
                    <a:lnTo>
                      <a:pt x="467" y="209"/>
                    </a:lnTo>
                    <a:lnTo>
                      <a:pt x="458" y="211"/>
                    </a:lnTo>
                    <a:lnTo>
                      <a:pt x="448" y="211"/>
                    </a:lnTo>
                    <a:lnTo>
                      <a:pt x="441" y="213"/>
                    </a:lnTo>
                    <a:lnTo>
                      <a:pt x="429" y="213"/>
                    </a:lnTo>
                    <a:lnTo>
                      <a:pt x="420" y="215"/>
                    </a:lnTo>
                    <a:lnTo>
                      <a:pt x="410" y="217"/>
                    </a:lnTo>
                    <a:lnTo>
                      <a:pt x="403" y="219"/>
                    </a:lnTo>
                    <a:lnTo>
                      <a:pt x="393" y="219"/>
                    </a:lnTo>
                    <a:lnTo>
                      <a:pt x="386" y="221"/>
                    </a:lnTo>
                    <a:lnTo>
                      <a:pt x="376" y="223"/>
                    </a:lnTo>
                    <a:lnTo>
                      <a:pt x="369" y="227"/>
                    </a:lnTo>
                    <a:lnTo>
                      <a:pt x="361" y="227"/>
                    </a:lnTo>
                    <a:lnTo>
                      <a:pt x="351" y="228"/>
                    </a:lnTo>
                    <a:lnTo>
                      <a:pt x="344" y="230"/>
                    </a:lnTo>
                    <a:lnTo>
                      <a:pt x="338" y="234"/>
                    </a:lnTo>
                    <a:lnTo>
                      <a:pt x="330" y="236"/>
                    </a:lnTo>
                    <a:lnTo>
                      <a:pt x="323" y="238"/>
                    </a:lnTo>
                    <a:lnTo>
                      <a:pt x="317" y="240"/>
                    </a:lnTo>
                    <a:lnTo>
                      <a:pt x="311" y="244"/>
                    </a:lnTo>
                    <a:lnTo>
                      <a:pt x="306" y="246"/>
                    </a:lnTo>
                    <a:lnTo>
                      <a:pt x="300" y="248"/>
                    </a:lnTo>
                    <a:lnTo>
                      <a:pt x="292" y="249"/>
                    </a:lnTo>
                    <a:lnTo>
                      <a:pt x="287" y="253"/>
                    </a:lnTo>
                    <a:lnTo>
                      <a:pt x="279" y="255"/>
                    </a:lnTo>
                    <a:lnTo>
                      <a:pt x="273" y="257"/>
                    </a:lnTo>
                    <a:lnTo>
                      <a:pt x="266" y="261"/>
                    </a:lnTo>
                    <a:lnTo>
                      <a:pt x="258" y="263"/>
                    </a:lnTo>
                    <a:lnTo>
                      <a:pt x="251" y="267"/>
                    </a:lnTo>
                    <a:lnTo>
                      <a:pt x="243" y="268"/>
                    </a:lnTo>
                    <a:lnTo>
                      <a:pt x="235" y="272"/>
                    </a:lnTo>
                    <a:lnTo>
                      <a:pt x="228" y="278"/>
                    </a:lnTo>
                    <a:lnTo>
                      <a:pt x="222" y="282"/>
                    </a:lnTo>
                    <a:lnTo>
                      <a:pt x="215" y="286"/>
                    </a:lnTo>
                    <a:lnTo>
                      <a:pt x="207" y="289"/>
                    </a:lnTo>
                    <a:lnTo>
                      <a:pt x="199" y="295"/>
                    </a:lnTo>
                    <a:lnTo>
                      <a:pt x="192" y="301"/>
                    </a:lnTo>
                    <a:lnTo>
                      <a:pt x="184" y="306"/>
                    </a:lnTo>
                    <a:lnTo>
                      <a:pt x="176" y="312"/>
                    </a:lnTo>
                    <a:lnTo>
                      <a:pt x="169" y="320"/>
                    </a:lnTo>
                    <a:lnTo>
                      <a:pt x="159" y="325"/>
                    </a:lnTo>
                    <a:lnTo>
                      <a:pt x="152" y="333"/>
                    </a:lnTo>
                    <a:lnTo>
                      <a:pt x="146" y="341"/>
                    </a:lnTo>
                    <a:lnTo>
                      <a:pt x="138" y="350"/>
                    </a:lnTo>
                    <a:lnTo>
                      <a:pt x="131" y="358"/>
                    </a:lnTo>
                    <a:lnTo>
                      <a:pt x="123" y="369"/>
                    </a:lnTo>
                    <a:lnTo>
                      <a:pt x="119" y="373"/>
                    </a:lnTo>
                    <a:lnTo>
                      <a:pt x="116" y="379"/>
                    </a:lnTo>
                    <a:lnTo>
                      <a:pt x="112" y="384"/>
                    </a:lnTo>
                    <a:lnTo>
                      <a:pt x="110" y="390"/>
                    </a:lnTo>
                    <a:lnTo>
                      <a:pt x="106" y="396"/>
                    </a:lnTo>
                    <a:lnTo>
                      <a:pt x="102" y="402"/>
                    </a:lnTo>
                    <a:lnTo>
                      <a:pt x="99" y="407"/>
                    </a:lnTo>
                    <a:lnTo>
                      <a:pt x="95" y="413"/>
                    </a:lnTo>
                    <a:lnTo>
                      <a:pt x="93" y="419"/>
                    </a:lnTo>
                    <a:lnTo>
                      <a:pt x="89" y="426"/>
                    </a:lnTo>
                    <a:lnTo>
                      <a:pt x="87" y="434"/>
                    </a:lnTo>
                    <a:lnTo>
                      <a:pt x="83" y="441"/>
                    </a:lnTo>
                    <a:lnTo>
                      <a:pt x="80" y="447"/>
                    </a:lnTo>
                    <a:lnTo>
                      <a:pt x="76" y="453"/>
                    </a:lnTo>
                    <a:lnTo>
                      <a:pt x="72" y="460"/>
                    </a:lnTo>
                    <a:lnTo>
                      <a:pt x="70" y="466"/>
                    </a:lnTo>
                    <a:lnTo>
                      <a:pt x="68" y="472"/>
                    </a:lnTo>
                    <a:lnTo>
                      <a:pt x="64" y="478"/>
                    </a:lnTo>
                    <a:lnTo>
                      <a:pt x="62" y="485"/>
                    </a:lnTo>
                    <a:lnTo>
                      <a:pt x="59" y="491"/>
                    </a:lnTo>
                    <a:lnTo>
                      <a:pt x="57" y="497"/>
                    </a:lnTo>
                    <a:lnTo>
                      <a:pt x="53" y="502"/>
                    </a:lnTo>
                    <a:lnTo>
                      <a:pt x="51" y="508"/>
                    </a:lnTo>
                    <a:lnTo>
                      <a:pt x="47" y="514"/>
                    </a:lnTo>
                    <a:lnTo>
                      <a:pt x="45" y="518"/>
                    </a:lnTo>
                    <a:lnTo>
                      <a:pt x="43" y="523"/>
                    </a:lnTo>
                    <a:lnTo>
                      <a:pt x="42" y="529"/>
                    </a:lnTo>
                    <a:lnTo>
                      <a:pt x="40" y="535"/>
                    </a:lnTo>
                    <a:lnTo>
                      <a:pt x="34" y="544"/>
                    </a:lnTo>
                    <a:lnTo>
                      <a:pt x="30" y="554"/>
                    </a:lnTo>
                    <a:lnTo>
                      <a:pt x="26" y="563"/>
                    </a:lnTo>
                    <a:lnTo>
                      <a:pt x="22" y="573"/>
                    </a:lnTo>
                    <a:lnTo>
                      <a:pt x="19" y="580"/>
                    </a:lnTo>
                    <a:lnTo>
                      <a:pt x="17" y="588"/>
                    </a:lnTo>
                    <a:lnTo>
                      <a:pt x="13" y="597"/>
                    </a:lnTo>
                    <a:lnTo>
                      <a:pt x="13" y="605"/>
                    </a:lnTo>
                    <a:lnTo>
                      <a:pt x="9" y="613"/>
                    </a:lnTo>
                    <a:lnTo>
                      <a:pt x="7" y="620"/>
                    </a:lnTo>
                    <a:lnTo>
                      <a:pt x="5" y="628"/>
                    </a:lnTo>
                    <a:lnTo>
                      <a:pt x="3" y="634"/>
                    </a:lnTo>
                    <a:lnTo>
                      <a:pt x="2" y="641"/>
                    </a:lnTo>
                    <a:lnTo>
                      <a:pt x="2" y="649"/>
                    </a:lnTo>
                    <a:lnTo>
                      <a:pt x="0" y="656"/>
                    </a:lnTo>
                    <a:lnTo>
                      <a:pt x="0" y="662"/>
                    </a:lnTo>
                    <a:lnTo>
                      <a:pt x="0" y="668"/>
                    </a:lnTo>
                    <a:lnTo>
                      <a:pt x="0" y="675"/>
                    </a:lnTo>
                    <a:lnTo>
                      <a:pt x="0" y="683"/>
                    </a:lnTo>
                    <a:lnTo>
                      <a:pt x="0" y="689"/>
                    </a:lnTo>
                    <a:lnTo>
                      <a:pt x="0" y="696"/>
                    </a:lnTo>
                    <a:lnTo>
                      <a:pt x="2" y="704"/>
                    </a:lnTo>
                    <a:lnTo>
                      <a:pt x="3" y="710"/>
                    </a:lnTo>
                    <a:lnTo>
                      <a:pt x="5" y="717"/>
                    </a:lnTo>
                    <a:lnTo>
                      <a:pt x="11" y="711"/>
                    </a:lnTo>
                    <a:lnTo>
                      <a:pt x="19" y="706"/>
                    </a:lnTo>
                    <a:lnTo>
                      <a:pt x="24" y="700"/>
                    </a:lnTo>
                    <a:lnTo>
                      <a:pt x="32" y="696"/>
                    </a:lnTo>
                    <a:lnTo>
                      <a:pt x="34" y="689"/>
                    </a:lnTo>
                    <a:lnTo>
                      <a:pt x="36" y="681"/>
                    </a:lnTo>
                    <a:lnTo>
                      <a:pt x="38" y="673"/>
                    </a:lnTo>
                    <a:lnTo>
                      <a:pt x="40" y="668"/>
                    </a:lnTo>
                    <a:lnTo>
                      <a:pt x="42" y="660"/>
                    </a:lnTo>
                    <a:lnTo>
                      <a:pt x="43" y="653"/>
                    </a:lnTo>
                    <a:lnTo>
                      <a:pt x="47" y="643"/>
                    </a:lnTo>
                    <a:lnTo>
                      <a:pt x="49" y="635"/>
                    </a:lnTo>
                    <a:lnTo>
                      <a:pt x="53" y="628"/>
                    </a:lnTo>
                    <a:lnTo>
                      <a:pt x="55" y="618"/>
                    </a:lnTo>
                    <a:lnTo>
                      <a:pt x="59" y="609"/>
                    </a:lnTo>
                    <a:lnTo>
                      <a:pt x="62" y="601"/>
                    </a:lnTo>
                    <a:lnTo>
                      <a:pt x="64" y="592"/>
                    </a:lnTo>
                    <a:lnTo>
                      <a:pt x="68" y="582"/>
                    </a:lnTo>
                    <a:lnTo>
                      <a:pt x="72" y="575"/>
                    </a:lnTo>
                    <a:lnTo>
                      <a:pt x="78" y="565"/>
                    </a:lnTo>
                    <a:lnTo>
                      <a:pt x="80" y="559"/>
                    </a:lnTo>
                    <a:lnTo>
                      <a:pt x="81" y="554"/>
                    </a:lnTo>
                    <a:lnTo>
                      <a:pt x="83" y="548"/>
                    </a:lnTo>
                    <a:lnTo>
                      <a:pt x="87" y="544"/>
                    </a:lnTo>
                    <a:lnTo>
                      <a:pt x="89" y="538"/>
                    </a:lnTo>
                    <a:lnTo>
                      <a:pt x="93" y="533"/>
                    </a:lnTo>
                    <a:lnTo>
                      <a:pt x="95" y="527"/>
                    </a:lnTo>
                    <a:lnTo>
                      <a:pt x="99" y="521"/>
                    </a:lnTo>
                    <a:lnTo>
                      <a:pt x="100" y="516"/>
                    </a:lnTo>
                    <a:lnTo>
                      <a:pt x="104" y="512"/>
                    </a:lnTo>
                    <a:lnTo>
                      <a:pt x="106" y="506"/>
                    </a:lnTo>
                    <a:lnTo>
                      <a:pt x="110" y="500"/>
                    </a:lnTo>
                    <a:lnTo>
                      <a:pt x="112" y="495"/>
                    </a:lnTo>
                    <a:lnTo>
                      <a:pt x="116" y="489"/>
                    </a:lnTo>
                    <a:lnTo>
                      <a:pt x="119" y="483"/>
                    </a:lnTo>
                    <a:lnTo>
                      <a:pt x="123" y="478"/>
                    </a:lnTo>
                    <a:lnTo>
                      <a:pt x="127" y="472"/>
                    </a:lnTo>
                    <a:lnTo>
                      <a:pt x="131" y="464"/>
                    </a:lnTo>
                    <a:lnTo>
                      <a:pt x="135" y="459"/>
                    </a:lnTo>
                    <a:lnTo>
                      <a:pt x="138" y="453"/>
                    </a:lnTo>
                    <a:lnTo>
                      <a:pt x="142" y="447"/>
                    </a:lnTo>
                    <a:lnTo>
                      <a:pt x="148" y="441"/>
                    </a:lnTo>
                    <a:lnTo>
                      <a:pt x="150" y="434"/>
                    </a:lnTo>
                    <a:lnTo>
                      <a:pt x="156" y="430"/>
                    </a:lnTo>
                    <a:lnTo>
                      <a:pt x="159" y="422"/>
                    </a:lnTo>
                    <a:lnTo>
                      <a:pt x="163" y="417"/>
                    </a:lnTo>
                    <a:lnTo>
                      <a:pt x="169" y="409"/>
                    </a:lnTo>
                    <a:lnTo>
                      <a:pt x="173" y="403"/>
                    </a:lnTo>
                    <a:lnTo>
                      <a:pt x="178" y="396"/>
                    </a:lnTo>
                    <a:lnTo>
                      <a:pt x="184" y="390"/>
                    </a:lnTo>
                    <a:lnTo>
                      <a:pt x="190" y="383"/>
                    </a:lnTo>
                    <a:lnTo>
                      <a:pt x="196" y="377"/>
                    </a:lnTo>
                    <a:lnTo>
                      <a:pt x="201" y="369"/>
                    </a:lnTo>
                    <a:lnTo>
                      <a:pt x="205" y="362"/>
                    </a:lnTo>
                    <a:lnTo>
                      <a:pt x="211" y="354"/>
                    </a:lnTo>
                    <a:lnTo>
                      <a:pt x="216" y="348"/>
                    </a:lnTo>
                    <a:lnTo>
                      <a:pt x="222" y="343"/>
                    </a:lnTo>
                    <a:lnTo>
                      <a:pt x="228" y="337"/>
                    </a:lnTo>
                    <a:lnTo>
                      <a:pt x="234" y="331"/>
                    </a:lnTo>
                    <a:lnTo>
                      <a:pt x="241" y="325"/>
                    </a:lnTo>
                    <a:lnTo>
                      <a:pt x="247" y="320"/>
                    </a:lnTo>
                    <a:lnTo>
                      <a:pt x="253" y="314"/>
                    </a:lnTo>
                    <a:lnTo>
                      <a:pt x="258" y="308"/>
                    </a:lnTo>
                    <a:lnTo>
                      <a:pt x="266" y="303"/>
                    </a:lnTo>
                    <a:lnTo>
                      <a:pt x="272" y="297"/>
                    </a:lnTo>
                    <a:lnTo>
                      <a:pt x="279" y="293"/>
                    </a:lnTo>
                    <a:lnTo>
                      <a:pt x="285" y="289"/>
                    </a:lnTo>
                    <a:lnTo>
                      <a:pt x="292" y="286"/>
                    </a:lnTo>
                    <a:lnTo>
                      <a:pt x="298" y="280"/>
                    </a:lnTo>
                    <a:lnTo>
                      <a:pt x="306" y="276"/>
                    </a:lnTo>
                    <a:lnTo>
                      <a:pt x="311" y="270"/>
                    </a:lnTo>
                    <a:lnTo>
                      <a:pt x="319" y="267"/>
                    </a:lnTo>
                    <a:lnTo>
                      <a:pt x="325" y="263"/>
                    </a:lnTo>
                    <a:lnTo>
                      <a:pt x="332" y="261"/>
                    </a:lnTo>
                    <a:lnTo>
                      <a:pt x="338" y="257"/>
                    </a:lnTo>
                    <a:lnTo>
                      <a:pt x="346" y="253"/>
                    </a:lnTo>
                    <a:lnTo>
                      <a:pt x="353" y="249"/>
                    </a:lnTo>
                    <a:lnTo>
                      <a:pt x="361" y="248"/>
                    </a:lnTo>
                    <a:lnTo>
                      <a:pt x="367" y="244"/>
                    </a:lnTo>
                    <a:lnTo>
                      <a:pt x="374" y="242"/>
                    </a:lnTo>
                    <a:lnTo>
                      <a:pt x="382" y="238"/>
                    </a:lnTo>
                    <a:lnTo>
                      <a:pt x="389" y="236"/>
                    </a:lnTo>
                    <a:lnTo>
                      <a:pt x="395" y="236"/>
                    </a:lnTo>
                    <a:lnTo>
                      <a:pt x="405" y="234"/>
                    </a:lnTo>
                    <a:lnTo>
                      <a:pt x="410" y="230"/>
                    </a:lnTo>
                    <a:lnTo>
                      <a:pt x="418" y="228"/>
                    </a:lnTo>
                    <a:lnTo>
                      <a:pt x="426" y="227"/>
                    </a:lnTo>
                    <a:lnTo>
                      <a:pt x="433" y="225"/>
                    </a:lnTo>
                    <a:lnTo>
                      <a:pt x="439" y="223"/>
                    </a:lnTo>
                    <a:lnTo>
                      <a:pt x="448" y="223"/>
                    </a:lnTo>
                    <a:lnTo>
                      <a:pt x="454" y="221"/>
                    </a:lnTo>
                    <a:lnTo>
                      <a:pt x="462" y="221"/>
                    </a:lnTo>
                    <a:lnTo>
                      <a:pt x="469" y="219"/>
                    </a:lnTo>
                    <a:lnTo>
                      <a:pt x="475" y="217"/>
                    </a:lnTo>
                    <a:lnTo>
                      <a:pt x="483" y="217"/>
                    </a:lnTo>
                    <a:lnTo>
                      <a:pt x="490" y="217"/>
                    </a:lnTo>
                    <a:lnTo>
                      <a:pt x="498" y="217"/>
                    </a:lnTo>
                    <a:lnTo>
                      <a:pt x="505" y="217"/>
                    </a:lnTo>
                    <a:lnTo>
                      <a:pt x="511" y="217"/>
                    </a:lnTo>
                    <a:lnTo>
                      <a:pt x="521" y="217"/>
                    </a:lnTo>
                    <a:lnTo>
                      <a:pt x="526" y="217"/>
                    </a:lnTo>
                    <a:lnTo>
                      <a:pt x="534" y="217"/>
                    </a:lnTo>
                    <a:lnTo>
                      <a:pt x="540" y="217"/>
                    </a:lnTo>
                    <a:lnTo>
                      <a:pt x="547" y="217"/>
                    </a:lnTo>
                    <a:lnTo>
                      <a:pt x="553" y="217"/>
                    </a:lnTo>
                    <a:lnTo>
                      <a:pt x="561" y="219"/>
                    </a:lnTo>
                    <a:lnTo>
                      <a:pt x="568" y="221"/>
                    </a:lnTo>
                    <a:lnTo>
                      <a:pt x="576" y="223"/>
                    </a:lnTo>
                    <a:lnTo>
                      <a:pt x="581" y="223"/>
                    </a:lnTo>
                    <a:lnTo>
                      <a:pt x="587" y="225"/>
                    </a:lnTo>
                    <a:lnTo>
                      <a:pt x="595" y="227"/>
                    </a:lnTo>
                    <a:lnTo>
                      <a:pt x="602" y="228"/>
                    </a:lnTo>
                    <a:lnTo>
                      <a:pt x="608" y="230"/>
                    </a:lnTo>
                    <a:lnTo>
                      <a:pt x="614" y="232"/>
                    </a:lnTo>
                    <a:lnTo>
                      <a:pt x="621" y="234"/>
                    </a:lnTo>
                    <a:lnTo>
                      <a:pt x="629" y="236"/>
                    </a:lnTo>
                    <a:close/>
                  </a:path>
                </a:pathLst>
              </a:custGeom>
              <a:solidFill>
                <a:srgbClr val="000000"/>
              </a:solidFill>
              <a:ln w="9525">
                <a:noFill/>
                <a:round/>
              </a:ln>
            </p:spPr>
            <p:txBody>
              <a:bodyPr/>
              <a:lstStyle/>
              <a:p>
                <a:endParaRPr lang="en-US"/>
              </a:p>
            </p:txBody>
          </p:sp>
          <p:sp>
            <p:nvSpPr>
              <p:cNvPr id="1048968" name="Freeform 265"/>
              <p:cNvSpPr/>
              <p:nvPr/>
            </p:nvSpPr>
            <p:spPr bwMode="auto">
              <a:xfrm>
                <a:off x="2254" y="2366"/>
                <a:ext cx="90" cy="180"/>
              </a:xfrm>
              <a:custGeom>
                <a:avLst/>
                <a:gdLst>
                  <a:gd name="T0" fmla="*/ 69 w 181"/>
                  <a:gd name="T1" fmla="*/ 5 h 359"/>
                  <a:gd name="T2" fmla="*/ 75 w 181"/>
                  <a:gd name="T3" fmla="*/ 13 h 359"/>
                  <a:gd name="T4" fmla="*/ 82 w 181"/>
                  <a:gd name="T5" fmla="*/ 22 h 359"/>
                  <a:gd name="T6" fmla="*/ 86 w 181"/>
                  <a:gd name="T7" fmla="*/ 30 h 359"/>
                  <a:gd name="T8" fmla="*/ 87 w 181"/>
                  <a:gd name="T9" fmla="*/ 39 h 359"/>
                  <a:gd name="T10" fmla="*/ 89 w 181"/>
                  <a:gd name="T11" fmla="*/ 49 h 359"/>
                  <a:gd name="T12" fmla="*/ 90 w 181"/>
                  <a:gd name="T13" fmla="*/ 58 h 359"/>
                  <a:gd name="T14" fmla="*/ 89 w 181"/>
                  <a:gd name="T15" fmla="*/ 68 h 359"/>
                  <a:gd name="T16" fmla="*/ 88 w 181"/>
                  <a:gd name="T17" fmla="*/ 76 h 359"/>
                  <a:gd name="T18" fmla="*/ 86 w 181"/>
                  <a:gd name="T19" fmla="*/ 86 h 359"/>
                  <a:gd name="T20" fmla="*/ 83 w 181"/>
                  <a:gd name="T21" fmla="*/ 96 h 359"/>
                  <a:gd name="T22" fmla="*/ 78 w 181"/>
                  <a:gd name="T23" fmla="*/ 105 h 359"/>
                  <a:gd name="T24" fmla="*/ 73 w 181"/>
                  <a:gd name="T25" fmla="*/ 114 h 359"/>
                  <a:gd name="T26" fmla="*/ 67 w 181"/>
                  <a:gd name="T27" fmla="*/ 124 h 359"/>
                  <a:gd name="T28" fmla="*/ 62 w 181"/>
                  <a:gd name="T29" fmla="*/ 132 h 359"/>
                  <a:gd name="T30" fmla="*/ 55 w 181"/>
                  <a:gd name="T31" fmla="*/ 140 h 359"/>
                  <a:gd name="T32" fmla="*/ 48 w 181"/>
                  <a:gd name="T33" fmla="*/ 148 h 359"/>
                  <a:gd name="T34" fmla="*/ 40 w 181"/>
                  <a:gd name="T35" fmla="*/ 156 h 359"/>
                  <a:gd name="T36" fmla="*/ 32 w 181"/>
                  <a:gd name="T37" fmla="*/ 164 h 359"/>
                  <a:gd name="T38" fmla="*/ 24 w 181"/>
                  <a:gd name="T39" fmla="*/ 169 h 359"/>
                  <a:gd name="T40" fmla="*/ 16 w 181"/>
                  <a:gd name="T41" fmla="*/ 176 h 359"/>
                  <a:gd name="T42" fmla="*/ 8 w 181"/>
                  <a:gd name="T43" fmla="*/ 180 h 359"/>
                  <a:gd name="T44" fmla="*/ 0 w 181"/>
                  <a:gd name="T45" fmla="*/ 180 h 359"/>
                  <a:gd name="T46" fmla="*/ 2 w 181"/>
                  <a:gd name="T47" fmla="*/ 168 h 359"/>
                  <a:gd name="T48" fmla="*/ 7 w 181"/>
                  <a:gd name="T49" fmla="*/ 160 h 359"/>
                  <a:gd name="T50" fmla="*/ 13 w 181"/>
                  <a:gd name="T51" fmla="*/ 152 h 359"/>
                  <a:gd name="T52" fmla="*/ 21 w 181"/>
                  <a:gd name="T53" fmla="*/ 144 h 359"/>
                  <a:gd name="T54" fmla="*/ 29 w 181"/>
                  <a:gd name="T55" fmla="*/ 136 h 359"/>
                  <a:gd name="T56" fmla="*/ 38 w 181"/>
                  <a:gd name="T57" fmla="*/ 128 h 359"/>
                  <a:gd name="T58" fmla="*/ 46 w 181"/>
                  <a:gd name="T59" fmla="*/ 120 h 359"/>
                  <a:gd name="T60" fmla="*/ 53 w 181"/>
                  <a:gd name="T61" fmla="*/ 111 h 359"/>
                  <a:gd name="T62" fmla="*/ 58 w 181"/>
                  <a:gd name="T63" fmla="*/ 103 h 359"/>
                  <a:gd name="T64" fmla="*/ 63 w 181"/>
                  <a:gd name="T65" fmla="*/ 93 h 359"/>
                  <a:gd name="T66" fmla="*/ 65 w 181"/>
                  <a:gd name="T67" fmla="*/ 84 h 359"/>
                  <a:gd name="T68" fmla="*/ 67 w 181"/>
                  <a:gd name="T69" fmla="*/ 77 h 359"/>
                  <a:gd name="T70" fmla="*/ 68 w 181"/>
                  <a:gd name="T71" fmla="*/ 65 h 359"/>
                  <a:gd name="T72" fmla="*/ 68 w 181"/>
                  <a:gd name="T73" fmla="*/ 56 h 359"/>
                  <a:gd name="T74" fmla="*/ 68 w 181"/>
                  <a:gd name="T75" fmla="*/ 49 h 359"/>
                  <a:gd name="T76" fmla="*/ 67 w 181"/>
                  <a:gd name="T77" fmla="*/ 41 h 359"/>
                  <a:gd name="T78" fmla="*/ 65 w 181"/>
                  <a:gd name="T79" fmla="*/ 31 h 359"/>
                  <a:gd name="T80" fmla="*/ 58 w 181"/>
                  <a:gd name="T81" fmla="*/ 16 h 359"/>
                  <a:gd name="T82" fmla="*/ 56 w 181"/>
                  <a:gd name="T83" fmla="*/ 7 h 359"/>
                  <a:gd name="T84" fmla="*/ 64 w 181"/>
                  <a:gd name="T85" fmla="*/ 0 h 359"/>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181"/>
                  <a:gd name="T130" fmla="*/ 0 h 359"/>
                  <a:gd name="T131" fmla="*/ 181 w 181"/>
                  <a:gd name="T132" fmla="*/ 359 h 359"/>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181" h="359">
                    <a:moveTo>
                      <a:pt x="128" y="0"/>
                    </a:moveTo>
                    <a:lnTo>
                      <a:pt x="134" y="6"/>
                    </a:lnTo>
                    <a:lnTo>
                      <a:pt x="139" y="9"/>
                    </a:lnTo>
                    <a:lnTo>
                      <a:pt x="143" y="15"/>
                    </a:lnTo>
                    <a:lnTo>
                      <a:pt x="147" y="21"/>
                    </a:lnTo>
                    <a:lnTo>
                      <a:pt x="151" y="26"/>
                    </a:lnTo>
                    <a:lnTo>
                      <a:pt x="156" y="32"/>
                    </a:lnTo>
                    <a:lnTo>
                      <a:pt x="160" y="38"/>
                    </a:lnTo>
                    <a:lnTo>
                      <a:pt x="164" y="44"/>
                    </a:lnTo>
                    <a:lnTo>
                      <a:pt x="166" y="49"/>
                    </a:lnTo>
                    <a:lnTo>
                      <a:pt x="168" y="53"/>
                    </a:lnTo>
                    <a:lnTo>
                      <a:pt x="172" y="59"/>
                    </a:lnTo>
                    <a:lnTo>
                      <a:pt x="173" y="66"/>
                    </a:lnTo>
                    <a:lnTo>
                      <a:pt x="173" y="72"/>
                    </a:lnTo>
                    <a:lnTo>
                      <a:pt x="175" y="78"/>
                    </a:lnTo>
                    <a:lnTo>
                      <a:pt x="177" y="83"/>
                    </a:lnTo>
                    <a:lnTo>
                      <a:pt x="179" y="91"/>
                    </a:lnTo>
                    <a:lnTo>
                      <a:pt x="179" y="97"/>
                    </a:lnTo>
                    <a:lnTo>
                      <a:pt x="181" y="102"/>
                    </a:lnTo>
                    <a:lnTo>
                      <a:pt x="181" y="108"/>
                    </a:lnTo>
                    <a:lnTo>
                      <a:pt x="181" y="116"/>
                    </a:lnTo>
                    <a:lnTo>
                      <a:pt x="181" y="121"/>
                    </a:lnTo>
                    <a:lnTo>
                      <a:pt x="181" y="127"/>
                    </a:lnTo>
                    <a:lnTo>
                      <a:pt x="179" y="135"/>
                    </a:lnTo>
                    <a:lnTo>
                      <a:pt x="179" y="141"/>
                    </a:lnTo>
                    <a:lnTo>
                      <a:pt x="177" y="146"/>
                    </a:lnTo>
                    <a:lnTo>
                      <a:pt x="177" y="152"/>
                    </a:lnTo>
                    <a:lnTo>
                      <a:pt x="175" y="160"/>
                    </a:lnTo>
                    <a:lnTo>
                      <a:pt x="173" y="167"/>
                    </a:lnTo>
                    <a:lnTo>
                      <a:pt x="172" y="171"/>
                    </a:lnTo>
                    <a:lnTo>
                      <a:pt x="170" y="179"/>
                    </a:lnTo>
                    <a:lnTo>
                      <a:pt x="168" y="184"/>
                    </a:lnTo>
                    <a:lnTo>
                      <a:pt x="166" y="192"/>
                    </a:lnTo>
                    <a:lnTo>
                      <a:pt x="162" y="198"/>
                    </a:lnTo>
                    <a:lnTo>
                      <a:pt x="160" y="203"/>
                    </a:lnTo>
                    <a:lnTo>
                      <a:pt x="156" y="209"/>
                    </a:lnTo>
                    <a:lnTo>
                      <a:pt x="154" y="217"/>
                    </a:lnTo>
                    <a:lnTo>
                      <a:pt x="151" y="220"/>
                    </a:lnTo>
                    <a:lnTo>
                      <a:pt x="147" y="228"/>
                    </a:lnTo>
                    <a:lnTo>
                      <a:pt x="143" y="234"/>
                    </a:lnTo>
                    <a:lnTo>
                      <a:pt x="141" y="241"/>
                    </a:lnTo>
                    <a:lnTo>
                      <a:pt x="135" y="247"/>
                    </a:lnTo>
                    <a:lnTo>
                      <a:pt x="132" y="251"/>
                    </a:lnTo>
                    <a:lnTo>
                      <a:pt x="128" y="257"/>
                    </a:lnTo>
                    <a:lnTo>
                      <a:pt x="124" y="264"/>
                    </a:lnTo>
                    <a:lnTo>
                      <a:pt x="118" y="270"/>
                    </a:lnTo>
                    <a:lnTo>
                      <a:pt x="115" y="276"/>
                    </a:lnTo>
                    <a:lnTo>
                      <a:pt x="111" y="279"/>
                    </a:lnTo>
                    <a:lnTo>
                      <a:pt x="107" y="287"/>
                    </a:lnTo>
                    <a:lnTo>
                      <a:pt x="101" y="291"/>
                    </a:lnTo>
                    <a:lnTo>
                      <a:pt x="96" y="296"/>
                    </a:lnTo>
                    <a:lnTo>
                      <a:pt x="90" y="302"/>
                    </a:lnTo>
                    <a:lnTo>
                      <a:pt x="86" y="306"/>
                    </a:lnTo>
                    <a:lnTo>
                      <a:pt x="80" y="312"/>
                    </a:lnTo>
                    <a:lnTo>
                      <a:pt x="75" y="315"/>
                    </a:lnTo>
                    <a:lnTo>
                      <a:pt x="69" y="321"/>
                    </a:lnTo>
                    <a:lnTo>
                      <a:pt x="65" y="327"/>
                    </a:lnTo>
                    <a:lnTo>
                      <a:pt x="59" y="331"/>
                    </a:lnTo>
                    <a:lnTo>
                      <a:pt x="54" y="334"/>
                    </a:lnTo>
                    <a:lnTo>
                      <a:pt x="48" y="338"/>
                    </a:lnTo>
                    <a:lnTo>
                      <a:pt x="42" y="342"/>
                    </a:lnTo>
                    <a:lnTo>
                      <a:pt x="38" y="346"/>
                    </a:lnTo>
                    <a:lnTo>
                      <a:pt x="33" y="352"/>
                    </a:lnTo>
                    <a:lnTo>
                      <a:pt x="27" y="355"/>
                    </a:lnTo>
                    <a:lnTo>
                      <a:pt x="21" y="359"/>
                    </a:lnTo>
                    <a:lnTo>
                      <a:pt x="16" y="359"/>
                    </a:lnTo>
                    <a:lnTo>
                      <a:pt x="10" y="359"/>
                    </a:lnTo>
                    <a:lnTo>
                      <a:pt x="6" y="359"/>
                    </a:lnTo>
                    <a:lnTo>
                      <a:pt x="0" y="359"/>
                    </a:lnTo>
                    <a:lnTo>
                      <a:pt x="0" y="352"/>
                    </a:lnTo>
                    <a:lnTo>
                      <a:pt x="2" y="344"/>
                    </a:lnTo>
                    <a:lnTo>
                      <a:pt x="4" y="336"/>
                    </a:lnTo>
                    <a:lnTo>
                      <a:pt x="6" y="331"/>
                    </a:lnTo>
                    <a:lnTo>
                      <a:pt x="10" y="325"/>
                    </a:lnTo>
                    <a:lnTo>
                      <a:pt x="14" y="319"/>
                    </a:lnTo>
                    <a:lnTo>
                      <a:pt x="18" y="314"/>
                    </a:lnTo>
                    <a:lnTo>
                      <a:pt x="23" y="308"/>
                    </a:lnTo>
                    <a:lnTo>
                      <a:pt x="27" y="304"/>
                    </a:lnTo>
                    <a:lnTo>
                      <a:pt x="33" y="298"/>
                    </a:lnTo>
                    <a:lnTo>
                      <a:pt x="38" y="293"/>
                    </a:lnTo>
                    <a:lnTo>
                      <a:pt x="42" y="287"/>
                    </a:lnTo>
                    <a:lnTo>
                      <a:pt x="48" y="281"/>
                    </a:lnTo>
                    <a:lnTo>
                      <a:pt x="54" y="276"/>
                    </a:lnTo>
                    <a:lnTo>
                      <a:pt x="59" y="272"/>
                    </a:lnTo>
                    <a:lnTo>
                      <a:pt x="65" y="266"/>
                    </a:lnTo>
                    <a:lnTo>
                      <a:pt x="71" y="260"/>
                    </a:lnTo>
                    <a:lnTo>
                      <a:pt x="77" y="255"/>
                    </a:lnTo>
                    <a:lnTo>
                      <a:pt x="82" y="249"/>
                    </a:lnTo>
                    <a:lnTo>
                      <a:pt x="88" y="245"/>
                    </a:lnTo>
                    <a:lnTo>
                      <a:pt x="92" y="239"/>
                    </a:lnTo>
                    <a:lnTo>
                      <a:pt x="97" y="234"/>
                    </a:lnTo>
                    <a:lnTo>
                      <a:pt x="101" y="228"/>
                    </a:lnTo>
                    <a:lnTo>
                      <a:pt x="107" y="222"/>
                    </a:lnTo>
                    <a:lnTo>
                      <a:pt x="111" y="217"/>
                    </a:lnTo>
                    <a:lnTo>
                      <a:pt x="115" y="211"/>
                    </a:lnTo>
                    <a:lnTo>
                      <a:pt x="116" y="205"/>
                    </a:lnTo>
                    <a:lnTo>
                      <a:pt x="120" y="199"/>
                    </a:lnTo>
                    <a:lnTo>
                      <a:pt x="122" y="194"/>
                    </a:lnTo>
                    <a:lnTo>
                      <a:pt x="126" y="186"/>
                    </a:lnTo>
                    <a:lnTo>
                      <a:pt x="126" y="180"/>
                    </a:lnTo>
                    <a:lnTo>
                      <a:pt x="128" y="173"/>
                    </a:lnTo>
                    <a:lnTo>
                      <a:pt x="130" y="167"/>
                    </a:lnTo>
                    <a:lnTo>
                      <a:pt x="130" y="163"/>
                    </a:lnTo>
                    <a:lnTo>
                      <a:pt x="132" y="158"/>
                    </a:lnTo>
                    <a:lnTo>
                      <a:pt x="134" y="154"/>
                    </a:lnTo>
                    <a:lnTo>
                      <a:pt x="135" y="142"/>
                    </a:lnTo>
                    <a:lnTo>
                      <a:pt x="137" y="135"/>
                    </a:lnTo>
                    <a:lnTo>
                      <a:pt x="137" y="129"/>
                    </a:lnTo>
                    <a:lnTo>
                      <a:pt x="137" y="123"/>
                    </a:lnTo>
                    <a:lnTo>
                      <a:pt x="137" y="118"/>
                    </a:lnTo>
                    <a:lnTo>
                      <a:pt x="137" y="112"/>
                    </a:lnTo>
                    <a:lnTo>
                      <a:pt x="137" y="108"/>
                    </a:lnTo>
                    <a:lnTo>
                      <a:pt x="137" y="102"/>
                    </a:lnTo>
                    <a:lnTo>
                      <a:pt x="137" y="97"/>
                    </a:lnTo>
                    <a:lnTo>
                      <a:pt x="137" y="93"/>
                    </a:lnTo>
                    <a:lnTo>
                      <a:pt x="135" y="87"/>
                    </a:lnTo>
                    <a:lnTo>
                      <a:pt x="135" y="82"/>
                    </a:lnTo>
                    <a:lnTo>
                      <a:pt x="134" y="76"/>
                    </a:lnTo>
                    <a:lnTo>
                      <a:pt x="134" y="70"/>
                    </a:lnTo>
                    <a:lnTo>
                      <a:pt x="130" y="61"/>
                    </a:lnTo>
                    <a:lnTo>
                      <a:pt x="126" y="51"/>
                    </a:lnTo>
                    <a:lnTo>
                      <a:pt x="122" y="42"/>
                    </a:lnTo>
                    <a:lnTo>
                      <a:pt x="116" y="32"/>
                    </a:lnTo>
                    <a:lnTo>
                      <a:pt x="113" y="25"/>
                    </a:lnTo>
                    <a:lnTo>
                      <a:pt x="107" y="17"/>
                    </a:lnTo>
                    <a:lnTo>
                      <a:pt x="113" y="13"/>
                    </a:lnTo>
                    <a:lnTo>
                      <a:pt x="116" y="9"/>
                    </a:lnTo>
                    <a:lnTo>
                      <a:pt x="122" y="4"/>
                    </a:lnTo>
                    <a:lnTo>
                      <a:pt x="128" y="0"/>
                    </a:lnTo>
                    <a:close/>
                  </a:path>
                </a:pathLst>
              </a:custGeom>
              <a:solidFill>
                <a:srgbClr val="000000"/>
              </a:solidFill>
              <a:ln w="9525">
                <a:noFill/>
                <a:round/>
              </a:ln>
            </p:spPr>
            <p:txBody>
              <a:bodyPr/>
              <a:lstStyle/>
              <a:p>
                <a:endParaRPr lang="en-US"/>
              </a:p>
            </p:txBody>
          </p:sp>
          <p:sp>
            <p:nvSpPr>
              <p:cNvPr id="1048969" name="Freeform 266"/>
              <p:cNvSpPr/>
              <p:nvPr/>
            </p:nvSpPr>
            <p:spPr bwMode="auto">
              <a:xfrm>
                <a:off x="2066" y="2413"/>
                <a:ext cx="106" cy="62"/>
              </a:xfrm>
              <a:custGeom>
                <a:avLst/>
                <a:gdLst>
                  <a:gd name="T0" fmla="*/ 1 w 211"/>
                  <a:gd name="T1" fmla="*/ 0 h 123"/>
                  <a:gd name="T2" fmla="*/ 5 w 211"/>
                  <a:gd name="T3" fmla="*/ 0 h 123"/>
                  <a:gd name="T4" fmla="*/ 9 w 211"/>
                  <a:gd name="T5" fmla="*/ 0 h 123"/>
                  <a:gd name="T6" fmla="*/ 13 w 211"/>
                  <a:gd name="T7" fmla="*/ 0 h 123"/>
                  <a:gd name="T8" fmla="*/ 16 w 211"/>
                  <a:gd name="T9" fmla="*/ 2 h 123"/>
                  <a:gd name="T10" fmla="*/ 21 w 211"/>
                  <a:gd name="T11" fmla="*/ 2 h 123"/>
                  <a:gd name="T12" fmla="*/ 25 w 211"/>
                  <a:gd name="T13" fmla="*/ 4 h 123"/>
                  <a:gd name="T14" fmla="*/ 30 w 211"/>
                  <a:gd name="T15" fmla="*/ 5 h 123"/>
                  <a:gd name="T16" fmla="*/ 33 w 211"/>
                  <a:gd name="T17" fmla="*/ 7 h 123"/>
                  <a:gd name="T18" fmla="*/ 38 w 211"/>
                  <a:gd name="T19" fmla="*/ 8 h 123"/>
                  <a:gd name="T20" fmla="*/ 42 w 211"/>
                  <a:gd name="T21" fmla="*/ 10 h 123"/>
                  <a:gd name="T22" fmla="*/ 46 w 211"/>
                  <a:gd name="T23" fmla="*/ 12 h 123"/>
                  <a:gd name="T24" fmla="*/ 51 w 211"/>
                  <a:gd name="T25" fmla="*/ 14 h 123"/>
                  <a:gd name="T26" fmla="*/ 54 w 211"/>
                  <a:gd name="T27" fmla="*/ 16 h 123"/>
                  <a:gd name="T28" fmla="*/ 58 w 211"/>
                  <a:gd name="T29" fmla="*/ 19 h 123"/>
                  <a:gd name="T30" fmla="*/ 62 w 211"/>
                  <a:gd name="T31" fmla="*/ 21 h 123"/>
                  <a:gd name="T32" fmla="*/ 67 w 211"/>
                  <a:gd name="T33" fmla="*/ 24 h 123"/>
                  <a:gd name="T34" fmla="*/ 70 w 211"/>
                  <a:gd name="T35" fmla="*/ 27 h 123"/>
                  <a:gd name="T36" fmla="*/ 73 w 211"/>
                  <a:gd name="T37" fmla="*/ 29 h 123"/>
                  <a:gd name="T38" fmla="*/ 76 w 211"/>
                  <a:gd name="T39" fmla="*/ 32 h 123"/>
                  <a:gd name="T40" fmla="*/ 80 w 211"/>
                  <a:gd name="T41" fmla="*/ 34 h 123"/>
                  <a:gd name="T42" fmla="*/ 83 w 211"/>
                  <a:gd name="T43" fmla="*/ 36 h 123"/>
                  <a:gd name="T44" fmla="*/ 86 w 211"/>
                  <a:gd name="T45" fmla="*/ 39 h 123"/>
                  <a:gd name="T46" fmla="*/ 89 w 211"/>
                  <a:gd name="T47" fmla="*/ 42 h 123"/>
                  <a:gd name="T48" fmla="*/ 92 w 211"/>
                  <a:gd name="T49" fmla="*/ 45 h 123"/>
                  <a:gd name="T50" fmla="*/ 94 w 211"/>
                  <a:gd name="T51" fmla="*/ 47 h 123"/>
                  <a:gd name="T52" fmla="*/ 96 w 211"/>
                  <a:gd name="T53" fmla="*/ 50 h 123"/>
                  <a:gd name="T54" fmla="*/ 98 w 211"/>
                  <a:gd name="T55" fmla="*/ 52 h 123"/>
                  <a:gd name="T56" fmla="*/ 101 w 211"/>
                  <a:gd name="T57" fmla="*/ 53 h 123"/>
                  <a:gd name="T58" fmla="*/ 104 w 211"/>
                  <a:gd name="T59" fmla="*/ 58 h 123"/>
                  <a:gd name="T60" fmla="*/ 106 w 211"/>
                  <a:gd name="T61" fmla="*/ 62 h 123"/>
                  <a:gd name="T62" fmla="*/ 1 w 211"/>
                  <a:gd name="T63" fmla="*/ 17 h 123"/>
                  <a:gd name="T64" fmla="*/ 0 w 211"/>
                  <a:gd name="T65" fmla="*/ 14 h 123"/>
                  <a:gd name="T66" fmla="*/ 0 w 211"/>
                  <a:gd name="T67" fmla="*/ 13 h 123"/>
                  <a:gd name="T68" fmla="*/ 0 w 211"/>
                  <a:gd name="T69" fmla="*/ 10 h 123"/>
                  <a:gd name="T70" fmla="*/ 0 w 211"/>
                  <a:gd name="T71" fmla="*/ 7 h 123"/>
                  <a:gd name="T72" fmla="*/ 0 w 211"/>
                  <a:gd name="T73" fmla="*/ 5 h 123"/>
                  <a:gd name="T74" fmla="*/ 0 w 211"/>
                  <a:gd name="T75" fmla="*/ 2 h 123"/>
                  <a:gd name="T76" fmla="*/ 0 w 211"/>
                  <a:gd name="T77" fmla="*/ 0 h 123"/>
                  <a:gd name="T78" fmla="*/ 1 w 211"/>
                  <a:gd name="T79" fmla="*/ 0 h 123"/>
                  <a:gd name="T80" fmla="*/ 1 w 211"/>
                  <a:gd name="T81" fmla="*/ 0 h 123"/>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211"/>
                  <a:gd name="T124" fmla="*/ 0 h 123"/>
                  <a:gd name="T125" fmla="*/ 211 w 211"/>
                  <a:gd name="T126" fmla="*/ 123 h 123"/>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211" h="123">
                    <a:moveTo>
                      <a:pt x="2" y="0"/>
                    </a:moveTo>
                    <a:lnTo>
                      <a:pt x="9" y="0"/>
                    </a:lnTo>
                    <a:lnTo>
                      <a:pt x="17" y="0"/>
                    </a:lnTo>
                    <a:lnTo>
                      <a:pt x="25" y="0"/>
                    </a:lnTo>
                    <a:lnTo>
                      <a:pt x="32" y="4"/>
                    </a:lnTo>
                    <a:lnTo>
                      <a:pt x="42" y="4"/>
                    </a:lnTo>
                    <a:lnTo>
                      <a:pt x="49" y="7"/>
                    </a:lnTo>
                    <a:lnTo>
                      <a:pt x="59" y="9"/>
                    </a:lnTo>
                    <a:lnTo>
                      <a:pt x="66" y="13"/>
                    </a:lnTo>
                    <a:lnTo>
                      <a:pt x="76" y="15"/>
                    </a:lnTo>
                    <a:lnTo>
                      <a:pt x="84" y="19"/>
                    </a:lnTo>
                    <a:lnTo>
                      <a:pt x="91" y="23"/>
                    </a:lnTo>
                    <a:lnTo>
                      <a:pt x="101" y="28"/>
                    </a:lnTo>
                    <a:lnTo>
                      <a:pt x="108" y="32"/>
                    </a:lnTo>
                    <a:lnTo>
                      <a:pt x="116" y="38"/>
                    </a:lnTo>
                    <a:lnTo>
                      <a:pt x="124" y="42"/>
                    </a:lnTo>
                    <a:lnTo>
                      <a:pt x="133" y="47"/>
                    </a:lnTo>
                    <a:lnTo>
                      <a:pt x="139" y="53"/>
                    </a:lnTo>
                    <a:lnTo>
                      <a:pt x="146" y="57"/>
                    </a:lnTo>
                    <a:lnTo>
                      <a:pt x="152" y="63"/>
                    </a:lnTo>
                    <a:lnTo>
                      <a:pt x="160" y="68"/>
                    </a:lnTo>
                    <a:lnTo>
                      <a:pt x="165" y="72"/>
                    </a:lnTo>
                    <a:lnTo>
                      <a:pt x="171" y="78"/>
                    </a:lnTo>
                    <a:lnTo>
                      <a:pt x="177" y="84"/>
                    </a:lnTo>
                    <a:lnTo>
                      <a:pt x="184" y="89"/>
                    </a:lnTo>
                    <a:lnTo>
                      <a:pt x="188" y="93"/>
                    </a:lnTo>
                    <a:lnTo>
                      <a:pt x="192" y="99"/>
                    </a:lnTo>
                    <a:lnTo>
                      <a:pt x="196" y="103"/>
                    </a:lnTo>
                    <a:lnTo>
                      <a:pt x="201" y="106"/>
                    </a:lnTo>
                    <a:lnTo>
                      <a:pt x="207" y="116"/>
                    </a:lnTo>
                    <a:lnTo>
                      <a:pt x="211" y="123"/>
                    </a:lnTo>
                    <a:lnTo>
                      <a:pt x="2" y="34"/>
                    </a:lnTo>
                    <a:lnTo>
                      <a:pt x="0" y="28"/>
                    </a:lnTo>
                    <a:lnTo>
                      <a:pt x="0" y="25"/>
                    </a:lnTo>
                    <a:lnTo>
                      <a:pt x="0" y="19"/>
                    </a:lnTo>
                    <a:lnTo>
                      <a:pt x="0" y="13"/>
                    </a:lnTo>
                    <a:lnTo>
                      <a:pt x="0" y="9"/>
                    </a:lnTo>
                    <a:lnTo>
                      <a:pt x="0" y="4"/>
                    </a:lnTo>
                    <a:lnTo>
                      <a:pt x="0" y="0"/>
                    </a:lnTo>
                    <a:lnTo>
                      <a:pt x="2" y="0"/>
                    </a:lnTo>
                    <a:close/>
                  </a:path>
                </a:pathLst>
              </a:custGeom>
              <a:solidFill>
                <a:srgbClr val="000000"/>
              </a:solidFill>
              <a:ln w="9525">
                <a:noFill/>
                <a:round/>
              </a:ln>
            </p:spPr>
            <p:txBody>
              <a:bodyPr/>
              <a:lstStyle/>
              <a:p>
                <a:endParaRPr lang="en-US"/>
              </a:p>
            </p:txBody>
          </p:sp>
          <p:sp>
            <p:nvSpPr>
              <p:cNvPr id="1048970" name="Freeform 267"/>
              <p:cNvSpPr/>
              <p:nvPr/>
            </p:nvSpPr>
            <p:spPr bwMode="auto">
              <a:xfrm>
                <a:off x="2307" y="2758"/>
                <a:ext cx="124" cy="94"/>
              </a:xfrm>
              <a:custGeom>
                <a:avLst/>
                <a:gdLst>
                  <a:gd name="T0" fmla="*/ 80 w 247"/>
                  <a:gd name="T1" fmla="*/ 69 h 188"/>
                  <a:gd name="T2" fmla="*/ 74 w 247"/>
                  <a:gd name="T3" fmla="*/ 73 h 188"/>
                  <a:gd name="T4" fmla="*/ 69 w 247"/>
                  <a:gd name="T5" fmla="*/ 77 h 188"/>
                  <a:gd name="T6" fmla="*/ 63 w 247"/>
                  <a:gd name="T7" fmla="*/ 81 h 188"/>
                  <a:gd name="T8" fmla="*/ 58 w 247"/>
                  <a:gd name="T9" fmla="*/ 84 h 188"/>
                  <a:gd name="T10" fmla="*/ 53 w 247"/>
                  <a:gd name="T11" fmla="*/ 86 h 188"/>
                  <a:gd name="T12" fmla="*/ 47 w 247"/>
                  <a:gd name="T13" fmla="*/ 89 h 188"/>
                  <a:gd name="T14" fmla="*/ 42 w 247"/>
                  <a:gd name="T15" fmla="*/ 91 h 188"/>
                  <a:gd name="T16" fmla="*/ 36 w 247"/>
                  <a:gd name="T17" fmla="*/ 93 h 188"/>
                  <a:gd name="T18" fmla="*/ 32 w 247"/>
                  <a:gd name="T19" fmla="*/ 94 h 188"/>
                  <a:gd name="T20" fmla="*/ 26 w 247"/>
                  <a:gd name="T21" fmla="*/ 94 h 188"/>
                  <a:gd name="T22" fmla="*/ 21 w 247"/>
                  <a:gd name="T23" fmla="*/ 94 h 188"/>
                  <a:gd name="T24" fmla="*/ 14 w 247"/>
                  <a:gd name="T25" fmla="*/ 94 h 188"/>
                  <a:gd name="T26" fmla="*/ 4 w 247"/>
                  <a:gd name="T27" fmla="*/ 94 h 188"/>
                  <a:gd name="T28" fmla="*/ 3 w 247"/>
                  <a:gd name="T29" fmla="*/ 92 h 188"/>
                  <a:gd name="T30" fmla="*/ 11 w 247"/>
                  <a:gd name="T31" fmla="*/ 86 h 188"/>
                  <a:gd name="T32" fmla="*/ 18 w 247"/>
                  <a:gd name="T33" fmla="*/ 81 h 188"/>
                  <a:gd name="T34" fmla="*/ 26 w 247"/>
                  <a:gd name="T35" fmla="*/ 76 h 188"/>
                  <a:gd name="T36" fmla="*/ 33 w 247"/>
                  <a:gd name="T37" fmla="*/ 72 h 188"/>
                  <a:gd name="T38" fmla="*/ 41 w 247"/>
                  <a:gd name="T39" fmla="*/ 67 h 188"/>
                  <a:gd name="T40" fmla="*/ 49 w 247"/>
                  <a:gd name="T41" fmla="*/ 61 h 188"/>
                  <a:gd name="T42" fmla="*/ 56 w 247"/>
                  <a:gd name="T43" fmla="*/ 56 h 188"/>
                  <a:gd name="T44" fmla="*/ 63 w 247"/>
                  <a:gd name="T45" fmla="*/ 51 h 188"/>
                  <a:gd name="T46" fmla="*/ 70 w 247"/>
                  <a:gd name="T47" fmla="*/ 46 h 188"/>
                  <a:gd name="T48" fmla="*/ 76 w 247"/>
                  <a:gd name="T49" fmla="*/ 41 h 188"/>
                  <a:gd name="T50" fmla="*/ 83 w 247"/>
                  <a:gd name="T51" fmla="*/ 36 h 188"/>
                  <a:gd name="T52" fmla="*/ 88 w 247"/>
                  <a:gd name="T53" fmla="*/ 30 h 188"/>
                  <a:gd name="T54" fmla="*/ 93 w 247"/>
                  <a:gd name="T55" fmla="*/ 26 h 188"/>
                  <a:gd name="T56" fmla="*/ 100 w 247"/>
                  <a:gd name="T57" fmla="*/ 18 h 188"/>
                  <a:gd name="T58" fmla="*/ 124 w 247"/>
                  <a:gd name="T59" fmla="*/ 0 h 188"/>
                  <a:gd name="T60" fmla="*/ 120 w 247"/>
                  <a:gd name="T61" fmla="*/ 10 h 188"/>
                  <a:gd name="T62" fmla="*/ 116 w 247"/>
                  <a:gd name="T63" fmla="*/ 17 h 188"/>
                  <a:gd name="T64" fmla="*/ 111 w 247"/>
                  <a:gd name="T65" fmla="*/ 26 h 188"/>
                  <a:gd name="T66" fmla="*/ 107 w 247"/>
                  <a:gd name="T67" fmla="*/ 35 h 188"/>
                  <a:gd name="T68" fmla="*/ 103 w 247"/>
                  <a:gd name="T69" fmla="*/ 40 h 188"/>
                  <a:gd name="T70" fmla="*/ 99 w 247"/>
                  <a:gd name="T71" fmla="*/ 46 h 188"/>
                  <a:gd name="T72" fmla="*/ 94 w 247"/>
                  <a:gd name="T73" fmla="*/ 51 h 188"/>
                  <a:gd name="T74" fmla="*/ 90 w 247"/>
                  <a:gd name="T75" fmla="*/ 57 h 188"/>
                  <a:gd name="T76" fmla="*/ 85 w 247"/>
                  <a:gd name="T77" fmla="*/ 63 h 188"/>
                  <a:gd name="T78" fmla="*/ 83 w 247"/>
                  <a:gd name="T79" fmla="*/ 66 h 188"/>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w 247"/>
                  <a:gd name="T121" fmla="*/ 0 h 188"/>
                  <a:gd name="T122" fmla="*/ 247 w 247"/>
                  <a:gd name="T123" fmla="*/ 188 h 188"/>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T120" t="T121" r="T122" b="T123"/>
                <a:pathLst>
                  <a:path w="247" h="188">
                    <a:moveTo>
                      <a:pt x="165" y="131"/>
                    </a:moveTo>
                    <a:lnTo>
                      <a:pt x="160" y="137"/>
                    </a:lnTo>
                    <a:lnTo>
                      <a:pt x="154" y="141"/>
                    </a:lnTo>
                    <a:lnTo>
                      <a:pt x="148" y="145"/>
                    </a:lnTo>
                    <a:lnTo>
                      <a:pt x="143" y="150"/>
                    </a:lnTo>
                    <a:lnTo>
                      <a:pt x="137" y="154"/>
                    </a:lnTo>
                    <a:lnTo>
                      <a:pt x="131" y="158"/>
                    </a:lnTo>
                    <a:lnTo>
                      <a:pt x="125" y="162"/>
                    </a:lnTo>
                    <a:lnTo>
                      <a:pt x="120" y="166"/>
                    </a:lnTo>
                    <a:lnTo>
                      <a:pt x="116" y="168"/>
                    </a:lnTo>
                    <a:lnTo>
                      <a:pt x="110" y="169"/>
                    </a:lnTo>
                    <a:lnTo>
                      <a:pt x="105" y="171"/>
                    </a:lnTo>
                    <a:lnTo>
                      <a:pt x="99" y="175"/>
                    </a:lnTo>
                    <a:lnTo>
                      <a:pt x="93" y="177"/>
                    </a:lnTo>
                    <a:lnTo>
                      <a:pt x="89" y="179"/>
                    </a:lnTo>
                    <a:lnTo>
                      <a:pt x="84" y="181"/>
                    </a:lnTo>
                    <a:lnTo>
                      <a:pt x="78" y="183"/>
                    </a:lnTo>
                    <a:lnTo>
                      <a:pt x="72" y="185"/>
                    </a:lnTo>
                    <a:lnTo>
                      <a:pt x="66" y="185"/>
                    </a:lnTo>
                    <a:lnTo>
                      <a:pt x="63" y="187"/>
                    </a:lnTo>
                    <a:lnTo>
                      <a:pt x="57" y="187"/>
                    </a:lnTo>
                    <a:lnTo>
                      <a:pt x="51" y="187"/>
                    </a:lnTo>
                    <a:lnTo>
                      <a:pt x="47" y="188"/>
                    </a:lnTo>
                    <a:lnTo>
                      <a:pt x="42" y="188"/>
                    </a:lnTo>
                    <a:lnTo>
                      <a:pt x="36" y="188"/>
                    </a:lnTo>
                    <a:lnTo>
                      <a:pt x="27" y="188"/>
                    </a:lnTo>
                    <a:lnTo>
                      <a:pt x="17" y="188"/>
                    </a:lnTo>
                    <a:lnTo>
                      <a:pt x="8" y="188"/>
                    </a:lnTo>
                    <a:lnTo>
                      <a:pt x="0" y="188"/>
                    </a:lnTo>
                    <a:lnTo>
                      <a:pt x="6" y="183"/>
                    </a:lnTo>
                    <a:lnTo>
                      <a:pt x="13" y="177"/>
                    </a:lnTo>
                    <a:lnTo>
                      <a:pt x="21" y="171"/>
                    </a:lnTo>
                    <a:lnTo>
                      <a:pt x="28" y="168"/>
                    </a:lnTo>
                    <a:lnTo>
                      <a:pt x="36" y="162"/>
                    </a:lnTo>
                    <a:lnTo>
                      <a:pt x="44" y="158"/>
                    </a:lnTo>
                    <a:lnTo>
                      <a:pt x="51" y="152"/>
                    </a:lnTo>
                    <a:lnTo>
                      <a:pt x="59" y="149"/>
                    </a:lnTo>
                    <a:lnTo>
                      <a:pt x="66" y="143"/>
                    </a:lnTo>
                    <a:lnTo>
                      <a:pt x="74" y="139"/>
                    </a:lnTo>
                    <a:lnTo>
                      <a:pt x="82" y="133"/>
                    </a:lnTo>
                    <a:lnTo>
                      <a:pt x="89" y="128"/>
                    </a:lnTo>
                    <a:lnTo>
                      <a:pt x="97" y="122"/>
                    </a:lnTo>
                    <a:lnTo>
                      <a:pt x="105" y="118"/>
                    </a:lnTo>
                    <a:lnTo>
                      <a:pt x="112" y="112"/>
                    </a:lnTo>
                    <a:lnTo>
                      <a:pt x="120" y="109"/>
                    </a:lnTo>
                    <a:lnTo>
                      <a:pt x="125" y="103"/>
                    </a:lnTo>
                    <a:lnTo>
                      <a:pt x="133" y="97"/>
                    </a:lnTo>
                    <a:lnTo>
                      <a:pt x="139" y="91"/>
                    </a:lnTo>
                    <a:lnTo>
                      <a:pt x="146" y="86"/>
                    </a:lnTo>
                    <a:lnTo>
                      <a:pt x="152" y="82"/>
                    </a:lnTo>
                    <a:lnTo>
                      <a:pt x="158" y="76"/>
                    </a:lnTo>
                    <a:lnTo>
                      <a:pt x="165" y="71"/>
                    </a:lnTo>
                    <a:lnTo>
                      <a:pt x="171" y="67"/>
                    </a:lnTo>
                    <a:lnTo>
                      <a:pt x="175" y="61"/>
                    </a:lnTo>
                    <a:lnTo>
                      <a:pt x="181" y="55"/>
                    </a:lnTo>
                    <a:lnTo>
                      <a:pt x="186" y="52"/>
                    </a:lnTo>
                    <a:lnTo>
                      <a:pt x="192" y="46"/>
                    </a:lnTo>
                    <a:lnTo>
                      <a:pt x="200" y="36"/>
                    </a:lnTo>
                    <a:lnTo>
                      <a:pt x="209" y="27"/>
                    </a:lnTo>
                    <a:lnTo>
                      <a:pt x="247" y="0"/>
                    </a:lnTo>
                    <a:lnTo>
                      <a:pt x="241" y="14"/>
                    </a:lnTo>
                    <a:lnTo>
                      <a:pt x="240" y="19"/>
                    </a:lnTo>
                    <a:lnTo>
                      <a:pt x="236" y="27"/>
                    </a:lnTo>
                    <a:lnTo>
                      <a:pt x="232" y="34"/>
                    </a:lnTo>
                    <a:lnTo>
                      <a:pt x="228" y="44"/>
                    </a:lnTo>
                    <a:lnTo>
                      <a:pt x="222" y="53"/>
                    </a:lnTo>
                    <a:lnTo>
                      <a:pt x="217" y="63"/>
                    </a:lnTo>
                    <a:lnTo>
                      <a:pt x="213" y="69"/>
                    </a:lnTo>
                    <a:lnTo>
                      <a:pt x="209" y="74"/>
                    </a:lnTo>
                    <a:lnTo>
                      <a:pt x="205" y="80"/>
                    </a:lnTo>
                    <a:lnTo>
                      <a:pt x="201" y="86"/>
                    </a:lnTo>
                    <a:lnTo>
                      <a:pt x="198" y="91"/>
                    </a:lnTo>
                    <a:lnTo>
                      <a:pt x="192" y="97"/>
                    </a:lnTo>
                    <a:lnTo>
                      <a:pt x="188" y="103"/>
                    </a:lnTo>
                    <a:lnTo>
                      <a:pt x="184" y="109"/>
                    </a:lnTo>
                    <a:lnTo>
                      <a:pt x="179" y="114"/>
                    </a:lnTo>
                    <a:lnTo>
                      <a:pt x="175" y="120"/>
                    </a:lnTo>
                    <a:lnTo>
                      <a:pt x="169" y="126"/>
                    </a:lnTo>
                    <a:lnTo>
                      <a:pt x="165" y="131"/>
                    </a:lnTo>
                    <a:close/>
                  </a:path>
                </a:pathLst>
              </a:custGeom>
              <a:solidFill>
                <a:srgbClr val="000000"/>
              </a:solidFill>
              <a:ln w="9525">
                <a:noFill/>
                <a:round/>
              </a:ln>
            </p:spPr>
            <p:txBody>
              <a:bodyPr/>
              <a:lstStyle/>
              <a:p>
                <a:endParaRPr lang="en-US"/>
              </a:p>
            </p:txBody>
          </p:sp>
          <p:sp>
            <p:nvSpPr>
              <p:cNvPr id="1048971" name="Freeform 268"/>
              <p:cNvSpPr/>
              <p:nvPr/>
            </p:nvSpPr>
            <p:spPr bwMode="auto">
              <a:xfrm>
                <a:off x="2387" y="2381"/>
                <a:ext cx="19" cy="85"/>
              </a:xfrm>
              <a:custGeom>
                <a:avLst/>
                <a:gdLst>
                  <a:gd name="T0" fmla="*/ 10 w 38"/>
                  <a:gd name="T1" fmla="*/ 0 h 169"/>
                  <a:gd name="T2" fmla="*/ 19 w 38"/>
                  <a:gd name="T3" fmla="*/ 82 h 169"/>
                  <a:gd name="T4" fmla="*/ 3 w 38"/>
                  <a:gd name="T5" fmla="*/ 85 h 169"/>
                  <a:gd name="T6" fmla="*/ 2 w 38"/>
                  <a:gd name="T7" fmla="*/ 80 h 169"/>
                  <a:gd name="T8" fmla="*/ 1 w 38"/>
                  <a:gd name="T9" fmla="*/ 75 h 169"/>
                  <a:gd name="T10" fmla="*/ 1 w 38"/>
                  <a:gd name="T11" fmla="*/ 73 h 169"/>
                  <a:gd name="T12" fmla="*/ 1 w 38"/>
                  <a:gd name="T13" fmla="*/ 71 h 169"/>
                  <a:gd name="T14" fmla="*/ 1 w 38"/>
                  <a:gd name="T15" fmla="*/ 68 h 169"/>
                  <a:gd name="T16" fmla="*/ 1 w 38"/>
                  <a:gd name="T17" fmla="*/ 66 h 169"/>
                  <a:gd name="T18" fmla="*/ 0 w 38"/>
                  <a:gd name="T19" fmla="*/ 63 h 169"/>
                  <a:gd name="T20" fmla="*/ 0 w 38"/>
                  <a:gd name="T21" fmla="*/ 60 h 169"/>
                  <a:gd name="T22" fmla="*/ 0 w 38"/>
                  <a:gd name="T23" fmla="*/ 57 h 169"/>
                  <a:gd name="T24" fmla="*/ 0 w 38"/>
                  <a:gd name="T25" fmla="*/ 55 h 169"/>
                  <a:gd name="T26" fmla="*/ 0 w 38"/>
                  <a:gd name="T27" fmla="*/ 52 h 169"/>
                  <a:gd name="T28" fmla="*/ 1 w 38"/>
                  <a:gd name="T29" fmla="*/ 49 h 169"/>
                  <a:gd name="T30" fmla="*/ 1 w 38"/>
                  <a:gd name="T31" fmla="*/ 46 h 169"/>
                  <a:gd name="T32" fmla="*/ 1 w 38"/>
                  <a:gd name="T33" fmla="*/ 43 h 169"/>
                  <a:gd name="T34" fmla="*/ 1 w 38"/>
                  <a:gd name="T35" fmla="*/ 40 h 169"/>
                  <a:gd name="T36" fmla="*/ 1 w 38"/>
                  <a:gd name="T37" fmla="*/ 37 h 169"/>
                  <a:gd name="T38" fmla="*/ 2 w 38"/>
                  <a:gd name="T39" fmla="*/ 35 h 169"/>
                  <a:gd name="T40" fmla="*/ 2 w 38"/>
                  <a:gd name="T41" fmla="*/ 32 h 169"/>
                  <a:gd name="T42" fmla="*/ 3 w 38"/>
                  <a:gd name="T43" fmla="*/ 29 h 169"/>
                  <a:gd name="T44" fmla="*/ 3 w 38"/>
                  <a:gd name="T45" fmla="*/ 26 h 169"/>
                  <a:gd name="T46" fmla="*/ 5 w 38"/>
                  <a:gd name="T47" fmla="*/ 24 h 169"/>
                  <a:gd name="T48" fmla="*/ 5 w 38"/>
                  <a:gd name="T49" fmla="*/ 21 h 169"/>
                  <a:gd name="T50" fmla="*/ 5 w 38"/>
                  <a:gd name="T51" fmla="*/ 18 h 169"/>
                  <a:gd name="T52" fmla="*/ 6 w 38"/>
                  <a:gd name="T53" fmla="*/ 16 h 169"/>
                  <a:gd name="T54" fmla="*/ 6 w 38"/>
                  <a:gd name="T55" fmla="*/ 13 h 169"/>
                  <a:gd name="T56" fmla="*/ 7 w 38"/>
                  <a:gd name="T57" fmla="*/ 10 h 169"/>
                  <a:gd name="T58" fmla="*/ 10 w 38"/>
                  <a:gd name="T59" fmla="*/ 5 h 169"/>
                  <a:gd name="T60" fmla="*/ 10 w 38"/>
                  <a:gd name="T61" fmla="*/ 0 h 169"/>
                  <a:gd name="T62" fmla="*/ 10 w 38"/>
                  <a:gd name="T63" fmla="*/ 0 h 169"/>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38"/>
                  <a:gd name="T97" fmla="*/ 0 h 169"/>
                  <a:gd name="T98" fmla="*/ 38 w 38"/>
                  <a:gd name="T99" fmla="*/ 169 h 169"/>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38" h="169">
                    <a:moveTo>
                      <a:pt x="21" y="0"/>
                    </a:moveTo>
                    <a:lnTo>
                      <a:pt x="38" y="164"/>
                    </a:lnTo>
                    <a:lnTo>
                      <a:pt x="7" y="169"/>
                    </a:lnTo>
                    <a:lnTo>
                      <a:pt x="5" y="160"/>
                    </a:lnTo>
                    <a:lnTo>
                      <a:pt x="3" y="150"/>
                    </a:lnTo>
                    <a:lnTo>
                      <a:pt x="2" y="145"/>
                    </a:lnTo>
                    <a:lnTo>
                      <a:pt x="2" y="141"/>
                    </a:lnTo>
                    <a:lnTo>
                      <a:pt x="2" y="135"/>
                    </a:lnTo>
                    <a:lnTo>
                      <a:pt x="2" y="131"/>
                    </a:lnTo>
                    <a:lnTo>
                      <a:pt x="0" y="126"/>
                    </a:lnTo>
                    <a:lnTo>
                      <a:pt x="0" y="120"/>
                    </a:lnTo>
                    <a:lnTo>
                      <a:pt x="0" y="114"/>
                    </a:lnTo>
                    <a:lnTo>
                      <a:pt x="0" y="109"/>
                    </a:lnTo>
                    <a:lnTo>
                      <a:pt x="0" y="103"/>
                    </a:lnTo>
                    <a:lnTo>
                      <a:pt x="2" y="97"/>
                    </a:lnTo>
                    <a:lnTo>
                      <a:pt x="2" y="91"/>
                    </a:lnTo>
                    <a:lnTo>
                      <a:pt x="3" y="86"/>
                    </a:lnTo>
                    <a:lnTo>
                      <a:pt x="3" y="80"/>
                    </a:lnTo>
                    <a:lnTo>
                      <a:pt x="3" y="74"/>
                    </a:lnTo>
                    <a:lnTo>
                      <a:pt x="5" y="69"/>
                    </a:lnTo>
                    <a:lnTo>
                      <a:pt x="5" y="63"/>
                    </a:lnTo>
                    <a:lnTo>
                      <a:pt x="7" y="57"/>
                    </a:lnTo>
                    <a:lnTo>
                      <a:pt x="7" y="52"/>
                    </a:lnTo>
                    <a:lnTo>
                      <a:pt x="9" y="48"/>
                    </a:lnTo>
                    <a:lnTo>
                      <a:pt x="11" y="42"/>
                    </a:lnTo>
                    <a:lnTo>
                      <a:pt x="11" y="36"/>
                    </a:lnTo>
                    <a:lnTo>
                      <a:pt x="13" y="31"/>
                    </a:lnTo>
                    <a:lnTo>
                      <a:pt x="13" y="25"/>
                    </a:lnTo>
                    <a:lnTo>
                      <a:pt x="15" y="19"/>
                    </a:lnTo>
                    <a:lnTo>
                      <a:pt x="19" y="10"/>
                    </a:lnTo>
                    <a:lnTo>
                      <a:pt x="21" y="0"/>
                    </a:lnTo>
                    <a:close/>
                  </a:path>
                </a:pathLst>
              </a:custGeom>
              <a:solidFill>
                <a:srgbClr val="000000"/>
              </a:solidFill>
              <a:ln w="9525">
                <a:noFill/>
                <a:round/>
              </a:ln>
            </p:spPr>
            <p:txBody>
              <a:bodyPr/>
              <a:lstStyle/>
              <a:p>
                <a:endParaRPr lang="en-US"/>
              </a:p>
            </p:txBody>
          </p:sp>
          <p:sp>
            <p:nvSpPr>
              <p:cNvPr id="1048972" name="Freeform 269"/>
              <p:cNvSpPr/>
              <p:nvPr/>
            </p:nvSpPr>
            <p:spPr bwMode="auto">
              <a:xfrm>
                <a:off x="2310" y="2183"/>
                <a:ext cx="96" cy="33"/>
              </a:xfrm>
              <a:custGeom>
                <a:avLst/>
                <a:gdLst>
                  <a:gd name="T0" fmla="*/ 16 w 192"/>
                  <a:gd name="T1" fmla="*/ 8 h 64"/>
                  <a:gd name="T2" fmla="*/ 96 w 192"/>
                  <a:gd name="T3" fmla="*/ 0 h 64"/>
                  <a:gd name="T4" fmla="*/ 94 w 192"/>
                  <a:gd name="T5" fmla="*/ 1 h 64"/>
                  <a:gd name="T6" fmla="*/ 91 w 192"/>
                  <a:gd name="T7" fmla="*/ 2 h 64"/>
                  <a:gd name="T8" fmla="*/ 88 w 192"/>
                  <a:gd name="T9" fmla="*/ 3 h 64"/>
                  <a:gd name="T10" fmla="*/ 86 w 192"/>
                  <a:gd name="T11" fmla="*/ 5 h 64"/>
                  <a:gd name="T12" fmla="*/ 83 w 192"/>
                  <a:gd name="T13" fmla="*/ 6 h 64"/>
                  <a:gd name="T14" fmla="*/ 80 w 192"/>
                  <a:gd name="T15" fmla="*/ 7 h 64"/>
                  <a:gd name="T16" fmla="*/ 77 w 192"/>
                  <a:gd name="T17" fmla="*/ 8 h 64"/>
                  <a:gd name="T18" fmla="*/ 74 w 192"/>
                  <a:gd name="T19" fmla="*/ 9 h 64"/>
                  <a:gd name="T20" fmla="*/ 70 w 192"/>
                  <a:gd name="T21" fmla="*/ 10 h 64"/>
                  <a:gd name="T22" fmla="*/ 68 w 192"/>
                  <a:gd name="T23" fmla="*/ 11 h 64"/>
                  <a:gd name="T24" fmla="*/ 65 w 192"/>
                  <a:gd name="T25" fmla="*/ 11 h 64"/>
                  <a:gd name="T26" fmla="*/ 60 w 192"/>
                  <a:gd name="T27" fmla="*/ 12 h 64"/>
                  <a:gd name="T28" fmla="*/ 57 w 192"/>
                  <a:gd name="T29" fmla="*/ 12 h 64"/>
                  <a:gd name="T30" fmla="*/ 54 w 192"/>
                  <a:gd name="T31" fmla="*/ 13 h 64"/>
                  <a:gd name="T32" fmla="*/ 51 w 192"/>
                  <a:gd name="T33" fmla="*/ 13 h 64"/>
                  <a:gd name="T34" fmla="*/ 48 w 192"/>
                  <a:gd name="T35" fmla="*/ 15 h 64"/>
                  <a:gd name="T36" fmla="*/ 44 w 192"/>
                  <a:gd name="T37" fmla="*/ 15 h 64"/>
                  <a:gd name="T38" fmla="*/ 41 w 192"/>
                  <a:gd name="T39" fmla="*/ 17 h 64"/>
                  <a:gd name="T40" fmla="*/ 37 w 192"/>
                  <a:gd name="T41" fmla="*/ 18 h 64"/>
                  <a:gd name="T42" fmla="*/ 34 w 192"/>
                  <a:gd name="T43" fmla="*/ 19 h 64"/>
                  <a:gd name="T44" fmla="*/ 30 w 192"/>
                  <a:gd name="T45" fmla="*/ 19 h 64"/>
                  <a:gd name="T46" fmla="*/ 27 w 192"/>
                  <a:gd name="T47" fmla="*/ 20 h 64"/>
                  <a:gd name="T48" fmla="*/ 24 w 192"/>
                  <a:gd name="T49" fmla="*/ 21 h 64"/>
                  <a:gd name="T50" fmla="*/ 21 w 192"/>
                  <a:gd name="T51" fmla="*/ 22 h 64"/>
                  <a:gd name="T52" fmla="*/ 18 w 192"/>
                  <a:gd name="T53" fmla="*/ 23 h 64"/>
                  <a:gd name="T54" fmla="*/ 15 w 192"/>
                  <a:gd name="T55" fmla="*/ 24 h 64"/>
                  <a:gd name="T56" fmla="*/ 12 w 192"/>
                  <a:gd name="T57" fmla="*/ 25 h 64"/>
                  <a:gd name="T58" fmla="*/ 10 w 192"/>
                  <a:gd name="T59" fmla="*/ 27 h 64"/>
                  <a:gd name="T60" fmla="*/ 6 w 192"/>
                  <a:gd name="T61" fmla="*/ 28 h 64"/>
                  <a:gd name="T62" fmla="*/ 3 w 192"/>
                  <a:gd name="T63" fmla="*/ 29 h 64"/>
                  <a:gd name="T64" fmla="*/ 2 w 192"/>
                  <a:gd name="T65" fmla="*/ 31 h 64"/>
                  <a:gd name="T66" fmla="*/ 0 w 192"/>
                  <a:gd name="T67" fmla="*/ 33 h 64"/>
                  <a:gd name="T68" fmla="*/ 16 w 192"/>
                  <a:gd name="T69" fmla="*/ 8 h 64"/>
                  <a:gd name="T70" fmla="*/ 16 w 192"/>
                  <a:gd name="T71" fmla="*/ 8 h 64"/>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192"/>
                  <a:gd name="T109" fmla="*/ 0 h 64"/>
                  <a:gd name="T110" fmla="*/ 192 w 192"/>
                  <a:gd name="T111" fmla="*/ 64 h 64"/>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192" h="64">
                    <a:moveTo>
                      <a:pt x="32" y="15"/>
                    </a:moveTo>
                    <a:lnTo>
                      <a:pt x="192" y="0"/>
                    </a:lnTo>
                    <a:lnTo>
                      <a:pt x="188" y="2"/>
                    </a:lnTo>
                    <a:lnTo>
                      <a:pt x="182" y="4"/>
                    </a:lnTo>
                    <a:lnTo>
                      <a:pt x="176" y="5"/>
                    </a:lnTo>
                    <a:lnTo>
                      <a:pt x="171" y="9"/>
                    </a:lnTo>
                    <a:lnTo>
                      <a:pt x="165" y="11"/>
                    </a:lnTo>
                    <a:lnTo>
                      <a:pt x="159" y="13"/>
                    </a:lnTo>
                    <a:lnTo>
                      <a:pt x="154" y="15"/>
                    </a:lnTo>
                    <a:lnTo>
                      <a:pt x="148" y="17"/>
                    </a:lnTo>
                    <a:lnTo>
                      <a:pt x="140" y="19"/>
                    </a:lnTo>
                    <a:lnTo>
                      <a:pt x="135" y="21"/>
                    </a:lnTo>
                    <a:lnTo>
                      <a:pt x="129" y="21"/>
                    </a:lnTo>
                    <a:lnTo>
                      <a:pt x="121" y="24"/>
                    </a:lnTo>
                    <a:lnTo>
                      <a:pt x="114" y="24"/>
                    </a:lnTo>
                    <a:lnTo>
                      <a:pt x="108" y="26"/>
                    </a:lnTo>
                    <a:lnTo>
                      <a:pt x="102" y="26"/>
                    </a:lnTo>
                    <a:lnTo>
                      <a:pt x="95" y="30"/>
                    </a:lnTo>
                    <a:lnTo>
                      <a:pt x="87" y="30"/>
                    </a:lnTo>
                    <a:lnTo>
                      <a:pt x="81" y="32"/>
                    </a:lnTo>
                    <a:lnTo>
                      <a:pt x="74" y="34"/>
                    </a:lnTo>
                    <a:lnTo>
                      <a:pt x="68" y="36"/>
                    </a:lnTo>
                    <a:lnTo>
                      <a:pt x="60" y="36"/>
                    </a:lnTo>
                    <a:lnTo>
                      <a:pt x="55" y="38"/>
                    </a:lnTo>
                    <a:lnTo>
                      <a:pt x="47" y="40"/>
                    </a:lnTo>
                    <a:lnTo>
                      <a:pt x="41" y="43"/>
                    </a:lnTo>
                    <a:lnTo>
                      <a:pt x="36" y="45"/>
                    </a:lnTo>
                    <a:lnTo>
                      <a:pt x="30" y="47"/>
                    </a:lnTo>
                    <a:lnTo>
                      <a:pt x="24" y="49"/>
                    </a:lnTo>
                    <a:lnTo>
                      <a:pt x="19" y="53"/>
                    </a:lnTo>
                    <a:lnTo>
                      <a:pt x="13" y="55"/>
                    </a:lnTo>
                    <a:lnTo>
                      <a:pt x="7" y="57"/>
                    </a:lnTo>
                    <a:lnTo>
                      <a:pt x="3" y="61"/>
                    </a:lnTo>
                    <a:lnTo>
                      <a:pt x="0" y="64"/>
                    </a:lnTo>
                    <a:lnTo>
                      <a:pt x="32" y="15"/>
                    </a:lnTo>
                    <a:close/>
                  </a:path>
                </a:pathLst>
              </a:custGeom>
              <a:solidFill>
                <a:srgbClr val="000000"/>
              </a:solidFill>
              <a:ln w="9525">
                <a:noFill/>
                <a:round/>
              </a:ln>
            </p:spPr>
            <p:txBody>
              <a:bodyPr/>
              <a:lstStyle/>
              <a:p>
                <a:endParaRPr lang="en-US"/>
              </a:p>
            </p:txBody>
          </p:sp>
          <p:sp>
            <p:nvSpPr>
              <p:cNvPr id="1048973" name="Freeform 270"/>
              <p:cNvSpPr/>
              <p:nvPr/>
            </p:nvSpPr>
            <p:spPr bwMode="auto">
              <a:xfrm>
                <a:off x="1648" y="2419"/>
                <a:ext cx="167" cy="172"/>
              </a:xfrm>
              <a:custGeom>
                <a:avLst/>
                <a:gdLst>
                  <a:gd name="T0" fmla="*/ 124 w 335"/>
                  <a:gd name="T1" fmla="*/ 48 h 344"/>
                  <a:gd name="T2" fmla="*/ 66 w 335"/>
                  <a:gd name="T3" fmla="*/ 170 h 344"/>
                  <a:gd name="T4" fmla="*/ 61 w 335"/>
                  <a:gd name="T5" fmla="*/ 172 h 344"/>
                  <a:gd name="T6" fmla="*/ 55 w 335"/>
                  <a:gd name="T7" fmla="*/ 172 h 344"/>
                  <a:gd name="T8" fmla="*/ 49 w 335"/>
                  <a:gd name="T9" fmla="*/ 172 h 344"/>
                  <a:gd name="T10" fmla="*/ 44 w 335"/>
                  <a:gd name="T11" fmla="*/ 170 h 344"/>
                  <a:gd name="T12" fmla="*/ 38 w 335"/>
                  <a:gd name="T13" fmla="*/ 167 h 344"/>
                  <a:gd name="T14" fmla="*/ 32 w 335"/>
                  <a:gd name="T15" fmla="*/ 163 h 344"/>
                  <a:gd name="T16" fmla="*/ 27 w 335"/>
                  <a:gd name="T17" fmla="*/ 158 h 344"/>
                  <a:gd name="T18" fmla="*/ 23 w 335"/>
                  <a:gd name="T19" fmla="*/ 153 h 344"/>
                  <a:gd name="T20" fmla="*/ 17 w 335"/>
                  <a:gd name="T21" fmla="*/ 148 h 344"/>
                  <a:gd name="T22" fmla="*/ 13 w 335"/>
                  <a:gd name="T23" fmla="*/ 141 h 344"/>
                  <a:gd name="T24" fmla="*/ 8 w 335"/>
                  <a:gd name="T25" fmla="*/ 134 h 344"/>
                  <a:gd name="T26" fmla="*/ 6 w 335"/>
                  <a:gd name="T27" fmla="*/ 127 h 344"/>
                  <a:gd name="T28" fmla="*/ 3 w 335"/>
                  <a:gd name="T29" fmla="*/ 121 h 344"/>
                  <a:gd name="T30" fmla="*/ 1 w 335"/>
                  <a:gd name="T31" fmla="*/ 114 h 344"/>
                  <a:gd name="T32" fmla="*/ 0 w 335"/>
                  <a:gd name="T33" fmla="*/ 106 h 344"/>
                  <a:gd name="T34" fmla="*/ 1 w 335"/>
                  <a:gd name="T35" fmla="*/ 101 h 344"/>
                  <a:gd name="T36" fmla="*/ 1 w 335"/>
                  <a:gd name="T37" fmla="*/ 95 h 344"/>
                  <a:gd name="T38" fmla="*/ 2 w 335"/>
                  <a:gd name="T39" fmla="*/ 89 h 344"/>
                  <a:gd name="T40" fmla="*/ 8 w 335"/>
                  <a:gd name="T41" fmla="*/ 82 h 344"/>
                  <a:gd name="T42" fmla="*/ 15 w 335"/>
                  <a:gd name="T43" fmla="*/ 76 h 344"/>
                  <a:gd name="T44" fmla="*/ 20 w 335"/>
                  <a:gd name="T45" fmla="*/ 75 h 344"/>
                  <a:gd name="T46" fmla="*/ 26 w 335"/>
                  <a:gd name="T47" fmla="*/ 74 h 344"/>
                  <a:gd name="T48" fmla="*/ 29 w 335"/>
                  <a:gd name="T49" fmla="*/ 72 h 344"/>
                  <a:gd name="T50" fmla="*/ 35 w 335"/>
                  <a:gd name="T51" fmla="*/ 71 h 344"/>
                  <a:gd name="T52" fmla="*/ 41 w 335"/>
                  <a:gd name="T53" fmla="*/ 69 h 344"/>
                  <a:gd name="T54" fmla="*/ 46 w 335"/>
                  <a:gd name="T55" fmla="*/ 68 h 344"/>
                  <a:gd name="T56" fmla="*/ 51 w 335"/>
                  <a:gd name="T57" fmla="*/ 66 h 344"/>
                  <a:gd name="T58" fmla="*/ 56 w 335"/>
                  <a:gd name="T59" fmla="*/ 64 h 344"/>
                  <a:gd name="T60" fmla="*/ 66 w 335"/>
                  <a:gd name="T61" fmla="*/ 59 h 344"/>
                  <a:gd name="T62" fmla="*/ 72 w 335"/>
                  <a:gd name="T63" fmla="*/ 56 h 344"/>
                  <a:gd name="T64" fmla="*/ 79 w 335"/>
                  <a:gd name="T65" fmla="*/ 53 h 344"/>
                  <a:gd name="T66" fmla="*/ 85 w 335"/>
                  <a:gd name="T67" fmla="*/ 49 h 344"/>
                  <a:gd name="T68" fmla="*/ 91 w 335"/>
                  <a:gd name="T69" fmla="*/ 46 h 344"/>
                  <a:gd name="T70" fmla="*/ 97 w 335"/>
                  <a:gd name="T71" fmla="*/ 42 h 344"/>
                  <a:gd name="T72" fmla="*/ 104 w 335"/>
                  <a:gd name="T73" fmla="*/ 37 h 344"/>
                  <a:gd name="T74" fmla="*/ 110 w 335"/>
                  <a:gd name="T75" fmla="*/ 34 h 344"/>
                  <a:gd name="T76" fmla="*/ 117 w 335"/>
                  <a:gd name="T77" fmla="*/ 28 h 344"/>
                  <a:gd name="T78" fmla="*/ 123 w 335"/>
                  <a:gd name="T79" fmla="*/ 25 h 344"/>
                  <a:gd name="T80" fmla="*/ 129 w 335"/>
                  <a:gd name="T81" fmla="*/ 20 h 344"/>
                  <a:gd name="T82" fmla="*/ 135 w 335"/>
                  <a:gd name="T83" fmla="*/ 17 h 344"/>
                  <a:gd name="T84" fmla="*/ 142 w 335"/>
                  <a:gd name="T85" fmla="*/ 12 h 344"/>
                  <a:gd name="T86" fmla="*/ 147 w 335"/>
                  <a:gd name="T87" fmla="*/ 9 h 344"/>
                  <a:gd name="T88" fmla="*/ 154 w 335"/>
                  <a:gd name="T89" fmla="*/ 5 h 344"/>
                  <a:gd name="T90" fmla="*/ 161 w 335"/>
                  <a:gd name="T91" fmla="*/ 2 h 344"/>
                  <a:gd name="T92" fmla="*/ 167 w 335"/>
                  <a:gd name="T93" fmla="*/ 0 h 344"/>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w 335"/>
                  <a:gd name="T142" fmla="*/ 0 h 344"/>
                  <a:gd name="T143" fmla="*/ 335 w 335"/>
                  <a:gd name="T144" fmla="*/ 344 h 344"/>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T141" t="T142" r="T143" b="T144"/>
                <a:pathLst>
                  <a:path w="335" h="344">
                    <a:moveTo>
                      <a:pt x="335" y="0"/>
                    </a:moveTo>
                    <a:lnTo>
                      <a:pt x="248" y="97"/>
                    </a:lnTo>
                    <a:lnTo>
                      <a:pt x="48" y="213"/>
                    </a:lnTo>
                    <a:lnTo>
                      <a:pt x="133" y="339"/>
                    </a:lnTo>
                    <a:lnTo>
                      <a:pt x="128" y="341"/>
                    </a:lnTo>
                    <a:lnTo>
                      <a:pt x="122" y="343"/>
                    </a:lnTo>
                    <a:lnTo>
                      <a:pt x="116" y="343"/>
                    </a:lnTo>
                    <a:lnTo>
                      <a:pt x="111" y="344"/>
                    </a:lnTo>
                    <a:lnTo>
                      <a:pt x="105" y="343"/>
                    </a:lnTo>
                    <a:lnTo>
                      <a:pt x="99" y="343"/>
                    </a:lnTo>
                    <a:lnTo>
                      <a:pt x="94" y="341"/>
                    </a:lnTo>
                    <a:lnTo>
                      <a:pt x="88" y="339"/>
                    </a:lnTo>
                    <a:lnTo>
                      <a:pt x="82" y="337"/>
                    </a:lnTo>
                    <a:lnTo>
                      <a:pt x="76" y="333"/>
                    </a:lnTo>
                    <a:lnTo>
                      <a:pt x="71" y="329"/>
                    </a:lnTo>
                    <a:lnTo>
                      <a:pt x="65" y="325"/>
                    </a:lnTo>
                    <a:lnTo>
                      <a:pt x="59" y="322"/>
                    </a:lnTo>
                    <a:lnTo>
                      <a:pt x="55" y="316"/>
                    </a:lnTo>
                    <a:lnTo>
                      <a:pt x="50" y="310"/>
                    </a:lnTo>
                    <a:lnTo>
                      <a:pt x="46" y="306"/>
                    </a:lnTo>
                    <a:lnTo>
                      <a:pt x="40" y="301"/>
                    </a:lnTo>
                    <a:lnTo>
                      <a:pt x="35" y="295"/>
                    </a:lnTo>
                    <a:lnTo>
                      <a:pt x="29" y="287"/>
                    </a:lnTo>
                    <a:lnTo>
                      <a:pt x="27" y="282"/>
                    </a:lnTo>
                    <a:lnTo>
                      <a:pt x="21" y="274"/>
                    </a:lnTo>
                    <a:lnTo>
                      <a:pt x="17" y="268"/>
                    </a:lnTo>
                    <a:lnTo>
                      <a:pt x="16" y="261"/>
                    </a:lnTo>
                    <a:lnTo>
                      <a:pt x="12" y="255"/>
                    </a:lnTo>
                    <a:lnTo>
                      <a:pt x="10" y="247"/>
                    </a:lnTo>
                    <a:lnTo>
                      <a:pt x="6" y="242"/>
                    </a:lnTo>
                    <a:lnTo>
                      <a:pt x="4" y="234"/>
                    </a:lnTo>
                    <a:lnTo>
                      <a:pt x="2" y="228"/>
                    </a:lnTo>
                    <a:lnTo>
                      <a:pt x="2" y="221"/>
                    </a:lnTo>
                    <a:lnTo>
                      <a:pt x="0" y="213"/>
                    </a:lnTo>
                    <a:lnTo>
                      <a:pt x="0" y="208"/>
                    </a:lnTo>
                    <a:lnTo>
                      <a:pt x="2" y="202"/>
                    </a:lnTo>
                    <a:lnTo>
                      <a:pt x="2" y="196"/>
                    </a:lnTo>
                    <a:lnTo>
                      <a:pt x="2" y="190"/>
                    </a:lnTo>
                    <a:lnTo>
                      <a:pt x="2" y="185"/>
                    </a:lnTo>
                    <a:lnTo>
                      <a:pt x="4" y="179"/>
                    </a:lnTo>
                    <a:lnTo>
                      <a:pt x="10" y="170"/>
                    </a:lnTo>
                    <a:lnTo>
                      <a:pt x="16" y="164"/>
                    </a:lnTo>
                    <a:lnTo>
                      <a:pt x="23" y="158"/>
                    </a:lnTo>
                    <a:lnTo>
                      <a:pt x="31" y="152"/>
                    </a:lnTo>
                    <a:lnTo>
                      <a:pt x="35" y="151"/>
                    </a:lnTo>
                    <a:lnTo>
                      <a:pt x="40" y="149"/>
                    </a:lnTo>
                    <a:lnTo>
                      <a:pt x="46" y="147"/>
                    </a:lnTo>
                    <a:lnTo>
                      <a:pt x="52" y="147"/>
                    </a:lnTo>
                    <a:lnTo>
                      <a:pt x="55" y="143"/>
                    </a:lnTo>
                    <a:lnTo>
                      <a:pt x="59" y="143"/>
                    </a:lnTo>
                    <a:lnTo>
                      <a:pt x="65" y="141"/>
                    </a:lnTo>
                    <a:lnTo>
                      <a:pt x="71" y="141"/>
                    </a:lnTo>
                    <a:lnTo>
                      <a:pt x="76" y="139"/>
                    </a:lnTo>
                    <a:lnTo>
                      <a:pt x="82" y="137"/>
                    </a:lnTo>
                    <a:lnTo>
                      <a:pt x="86" y="135"/>
                    </a:lnTo>
                    <a:lnTo>
                      <a:pt x="92" y="135"/>
                    </a:lnTo>
                    <a:lnTo>
                      <a:pt x="97" y="133"/>
                    </a:lnTo>
                    <a:lnTo>
                      <a:pt x="103" y="131"/>
                    </a:lnTo>
                    <a:lnTo>
                      <a:pt x="109" y="130"/>
                    </a:lnTo>
                    <a:lnTo>
                      <a:pt x="113" y="128"/>
                    </a:lnTo>
                    <a:lnTo>
                      <a:pt x="122" y="124"/>
                    </a:lnTo>
                    <a:lnTo>
                      <a:pt x="132" y="118"/>
                    </a:lnTo>
                    <a:lnTo>
                      <a:pt x="137" y="114"/>
                    </a:lnTo>
                    <a:lnTo>
                      <a:pt x="145" y="112"/>
                    </a:lnTo>
                    <a:lnTo>
                      <a:pt x="151" y="109"/>
                    </a:lnTo>
                    <a:lnTo>
                      <a:pt x="158" y="107"/>
                    </a:lnTo>
                    <a:lnTo>
                      <a:pt x="164" y="103"/>
                    </a:lnTo>
                    <a:lnTo>
                      <a:pt x="170" y="99"/>
                    </a:lnTo>
                    <a:lnTo>
                      <a:pt x="175" y="95"/>
                    </a:lnTo>
                    <a:lnTo>
                      <a:pt x="183" y="92"/>
                    </a:lnTo>
                    <a:lnTo>
                      <a:pt x="189" y="88"/>
                    </a:lnTo>
                    <a:lnTo>
                      <a:pt x="194" y="84"/>
                    </a:lnTo>
                    <a:lnTo>
                      <a:pt x="202" y="78"/>
                    </a:lnTo>
                    <a:lnTo>
                      <a:pt x="208" y="74"/>
                    </a:lnTo>
                    <a:lnTo>
                      <a:pt x="215" y="71"/>
                    </a:lnTo>
                    <a:lnTo>
                      <a:pt x="221" y="67"/>
                    </a:lnTo>
                    <a:lnTo>
                      <a:pt x="227" y="61"/>
                    </a:lnTo>
                    <a:lnTo>
                      <a:pt x="234" y="57"/>
                    </a:lnTo>
                    <a:lnTo>
                      <a:pt x="240" y="54"/>
                    </a:lnTo>
                    <a:lnTo>
                      <a:pt x="246" y="50"/>
                    </a:lnTo>
                    <a:lnTo>
                      <a:pt x="251" y="44"/>
                    </a:lnTo>
                    <a:lnTo>
                      <a:pt x="259" y="40"/>
                    </a:lnTo>
                    <a:lnTo>
                      <a:pt x="265" y="36"/>
                    </a:lnTo>
                    <a:lnTo>
                      <a:pt x="270" y="33"/>
                    </a:lnTo>
                    <a:lnTo>
                      <a:pt x="276" y="29"/>
                    </a:lnTo>
                    <a:lnTo>
                      <a:pt x="284" y="25"/>
                    </a:lnTo>
                    <a:lnTo>
                      <a:pt x="289" y="21"/>
                    </a:lnTo>
                    <a:lnTo>
                      <a:pt x="295" y="17"/>
                    </a:lnTo>
                    <a:lnTo>
                      <a:pt x="301" y="14"/>
                    </a:lnTo>
                    <a:lnTo>
                      <a:pt x="308" y="10"/>
                    </a:lnTo>
                    <a:lnTo>
                      <a:pt x="314" y="8"/>
                    </a:lnTo>
                    <a:lnTo>
                      <a:pt x="322" y="4"/>
                    </a:lnTo>
                    <a:lnTo>
                      <a:pt x="327" y="2"/>
                    </a:lnTo>
                    <a:lnTo>
                      <a:pt x="335" y="0"/>
                    </a:lnTo>
                    <a:close/>
                  </a:path>
                </a:pathLst>
              </a:custGeom>
              <a:solidFill>
                <a:srgbClr val="000000"/>
              </a:solidFill>
              <a:ln w="9525">
                <a:noFill/>
                <a:round/>
              </a:ln>
            </p:spPr>
            <p:txBody>
              <a:bodyPr/>
              <a:lstStyle/>
              <a:p>
                <a:endParaRPr lang="en-US"/>
              </a:p>
            </p:txBody>
          </p:sp>
          <p:sp>
            <p:nvSpPr>
              <p:cNvPr id="1048974" name="Freeform 271"/>
              <p:cNvSpPr/>
              <p:nvPr/>
            </p:nvSpPr>
            <p:spPr bwMode="auto">
              <a:xfrm>
                <a:off x="1718" y="2547"/>
                <a:ext cx="278" cy="187"/>
              </a:xfrm>
              <a:custGeom>
                <a:avLst/>
                <a:gdLst>
                  <a:gd name="T0" fmla="*/ 264 w 557"/>
                  <a:gd name="T1" fmla="*/ 45 h 373"/>
                  <a:gd name="T2" fmla="*/ 255 w 557"/>
                  <a:gd name="T3" fmla="*/ 35 h 373"/>
                  <a:gd name="T4" fmla="*/ 245 w 557"/>
                  <a:gd name="T5" fmla="*/ 26 h 373"/>
                  <a:gd name="T6" fmla="*/ 237 w 557"/>
                  <a:gd name="T7" fmla="*/ 16 h 373"/>
                  <a:gd name="T8" fmla="*/ 228 w 557"/>
                  <a:gd name="T9" fmla="*/ 9 h 373"/>
                  <a:gd name="T10" fmla="*/ 221 w 557"/>
                  <a:gd name="T11" fmla="*/ 0 h 373"/>
                  <a:gd name="T12" fmla="*/ 213 w 557"/>
                  <a:gd name="T13" fmla="*/ 5 h 373"/>
                  <a:gd name="T14" fmla="*/ 207 w 557"/>
                  <a:gd name="T15" fmla="*/ 14 h 373"/>
                  <a:gd name="T16" fmla="*/ 208 w 557"/>
                  <a:gd name="T17" fmla="*/ 25 h 373"/>
                  <a:gd name="T18" fmla="*/ 218 w 557"/>
                  <a:gd name="T19" fmla="*/ 36 h 373"/>
                  <a:gd name="T20" fmla="*/ 230 w 557"/>
                  <a:gd name="T21" fmla="*/ 48 h 373"/>
                  <a:gd name="T22" fmla="*/ 240 w 557"/>
                  <a:gd name="T23" fmla="*/ 56 h 373"/>
                  <a:gd name="T24" fmla="*/ 243 w 557"/>
                  <a:gd name="T25" fmla="*/ 61 h 373"/>
                  <a:gd name="T26" fmla="*/ 236 w 557"/>
                  <a:gd name="T27" fmla="*/ 64 h 373"/>
                  <a:gd name="T28" fmla="*/ 228 w 557"/>
                  <a:gd name="T29" fmla="*/ 68 h 373"/>
                  <a:gd name="T30" fmla="*/ 219 w 557"/>
                  <a:gd name="T31" fmla="*/ 73 h 373"/>
                  <a:gd name="T32" fmla="*/ 212 w 557"/>
                  <a:gd name="T33" fmla="*/ 77 h 373"/>
                  <a:gd name="T34" fmla="*/ 203 w 557"/>
                  <a:gd name="T35" fmla="*/ 84 h 373"/>
                  <a:gd name="T36" fmla="*/ 195 w 557"/>
                  <a:gd name="T37" fmla="*/ 90 h 373"/>
                  <a:gd name="T38" fmla="*/ 186 w 557"/>
                  <a:gd name="T39" fmla="*/ 96 h 373"/>
                  <a:gd name="T40" fmla="*/ 178 w 557"/>
                  <a:gd name="T41" fmla="*/ 102 h 373"/>
                  <a:gd name="T42" fmla="*/ 169 w 557"/>
                  <a:gd name="T43" fmla="*/ 109 h 373"/>
                  <a:gd name="T44" fmla="*/ 160 w 557"/>
                  <a:gd name="T45" fmla="*/ 114 h 373"/>
                  <a:gd name="T46" fmla="*/ 153 w 557"/>
                  <a:gd name="T47" fmla="*/ 121 h 373"/>
                  <a:gd name="T48" fmla="*/ 144 w 557"/>
                  <a:gd name="T49" fmla="*/ 127 h 373"/>
                  <a:gd name="T50" fmla="*/ 137 w 557"/>
                  <a:gd name="T51" fmla="*/ 133 h 373"/>
                  <a:gd name="T52" fmla="*/ 129 w 557"/>
                  <a:gd name="T53" fmla="*/ 138 h 373"/>
                  <a:gd name="T54" fmla="*/ 119 w 557"/>
                  <a:gd name="T55" fmla="*/ 146 h 373"/>
                  <a:gd name="T56" fmla="*/ 107 w 557"/>
                  <a:gd name="T57" fmla="*/ 152 h 373"/>
                  <a:gd name="T58" fmla="*/ 99 w 557"/>
                  <a:gd name="T59" fmla="*/ 156 h 373"/>
                  <a:gd name="T60" fmla="*/ 92 w 557"/>
                  <a:gd name="T61" fmla="*/ 153 h 373"/>
                  <a:gd name="T62" fmla="*/ 85 w 557"/>
                  <a:gd name="T63" fmla="*/ 146 h 373"/>
                  <a:gd name="T64" fmla="*/ 77 w 557"/>
                  <a:gd name="T65" fmla="*/ 136 h 373"/>
                  <a:gd name="T66" fmla="*/ 68 w 557"/>
                  <a:gd name="T67" fmla="*/ 125 h 373"/>
                  <a:gd name="T68" fmla="*/ 60 w 557"/>
                  <a:gd name="T69" fmla="*/ 113 h 373"/>
                  <a:gd name="T70" fmla="*/ 51 w 557"/>
                  <a:gd name="T71" fmla="*/ 102 h 373"/>
                  <a:gd name="T72" fmla="*/ 41 w 557"/>
                  <a:gd name="T73" fmla="*/ 91 h 373"/>
                  <a:gd name="T74" fmla="*/ 31 w 557"/>
                  <a:gd name="T75" fmla="*/ 81 h 373"/>
                  <a:gd name="T76" fmla="*/ 21 w 557"/>
                  <a:gd name="T77" fmla="*/ 73 h 373"/>
                  <a:gd name="T78" fmla="*/ 12 w 557"/>
                  <a:gd name="T79" fmla="*/ 70 h 373"/>
                  <a:gd name="T80" fmla="*/ 2 w 557"/>
                  <a:gd name="T81" fmla="*/ 68 h 373"/>
                  <a:gd name="T82" fmla="*/ 105 w 557"/>
                  <a:gd name="T83" fmla="*/ 185 h 373"/>
                  <a:gd name="T84" fmla="*/ 117 w 557"/>
                  <a:gd name="T85" fmla="*/ 180 h 373"/>
                  <a:gd name="T86" fmla="*/ 126 w 557"/>
                  <a:gd name="T87" fmla="*/ 174 h 373"/>
                  <a:gd name="T88" fmla="*/ 135 w 557"/>
                  <a:gd name="T89" fmla="*/ 168 h 373"/>
                  <a:gd name="T90" fmla="*/ 143 w 557"/>
                  <a:gd name="T91" fmla="*/ 159 h 373"/>
                  <a:gd name="T92" fmla="*/ 152 w 557"/>
                  <a:gd name="T93" fmla="*/ 151 h 373"/>
                  <a:gd name="T94" fmla="*/ 159 w 557"/>
                  <a:gd name="T95" fmla="*/ 141 h 373"/>
                  <a:gd name="T96" fmla="*/ 166 w 557"/>
                  <a:gd name="T97" fmla="*/ 132 h 373"/>
                  <a:gd name="T98" fmla="*/ 175 w 557"/>
                  <a:gd name="T99" fmla="*/ 123 h 373"/>
                  <a:gd name="T100" fmla="*/ 183 w 557"/>
                  <a:gd name="T101" fmla="*/ 113 h 373"/>
                  <a:gd name="T102" fmla="*/ 192 w 557"/>
                  <a:gd name="T103" fmla="*/ 105 h 373"/>
                  <a:gd name="T104" fmla="*/ 201 w 557"/>
                  <a:gd name="T105" fmla="*/ 96 h 373"/>
                  <a:gd name="T106" fmla="*/ 211 w 557"/>
                  <a:gd name="T107" fmla="*/ 89 h 373"/>
                  <a:gd name="T108" fmla="*/ 219 w 557"/>
                  <a:gd name="T109" fmla="*/ 83 h 373"/>
                  <a:gd name="T110" fmla="*/ 228 w 557"/>
                  <a:gd name="T111" fmla="*/ 78 h 373"/>
                  <a:gd name="T112" fmla="*/ 236 w 557"/>
                  <a:gd name="T113" fmla="*/ 74 h 373"/>
                  <a:gd name="T114" fmla="*/ 246 w 557"/>
                  <a:gd name="T115" fmla="*/ 72 h 373"/>
                  <a:gd name="T116" fmla="*/ 260 w 557"/>
                  <a:gd name="T117" fmla="*/ 68 h 373"/>
                  <a:gd name="T118" fmla="*/ 274 w 557"/>
                  <a:gd name="T119" fmla="*/ 65 h 373"/>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w 557"/>
                  <a:gd name="T181" fmla="*/ 0 h 373"/>
                  <a:gd name="T182" fmla="*/ 557 w 557"/>
                  <a:gd name="T183" fmla="*/ 373 h 373"/>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T180" t="T181" r="T182" b="T183"/>
                <a:pathLst>
                  <a:path w="557" h="373">
                    <a:moveTo>
                      <a:pt x="557" y="129"/>
                    </a:moveTo>
                    <a:lnTo>
                      <a:pt x="536" y="97"/>
                    </a:lnTo>
                    <a:lnTo>
                      <a:pt x="529" y="89"/>
                    </a:lnTo>
                    <a:lnTo>
                      <a:pt x="523" y="82"/>
                    </a:lnTo>
                    <a:lnTo>
                      <a:pt x="515" y="76"/>
                    </a:lnTo>
                    <a:lnTo>
                      <a:pt x="510" y="70"/>
                    </a:lnTo>
                    <a:lnTo>
                      <a:pt x="504" y="63"/>
                    </a:lnTo>
                    <a:lnTo>
                      <a:pt x="498" y="57"/>
                    </a:lnTo>
                    <a:lnTo>
                      <a:pt x="491" y="51"/>
                    </a:lnTo>
                    <a:lnTo>
                      <a:pt x="487" y="46"/>
                    </a:lnTo>
                    <a:lnTo>
                      <a:pt x="479" y="38"/>
                    </a:lnTo>
                    <a:lnTo>
                      <a:pt x="474" y="32"/>
                    </a:lnTo>
                    <a:lnTo>
                      <a:pt x="468" y="27"/>
                    </a:lnTo>
                    <a:lnTo>
                      <a:pt x="462" y="23"/>
                    </a:lnTo>
                    <a:lnTo>
                      <a:pt x="456" y="17"/>
                    </a:lnTo>
                    <a:lnTo>
                      <a:pt x="451" y="11"/>
                    </a:lnTo>
                    <a:lnTo>
                      <a:pt x="447" y="6"/>
                    </a:lnTo>
                    <a:lnTo>
                      <a:pt x="443" y="0"/>
                    </a:lnTo>
                    <a:lnTo>
                      <a:pt x="436" y="4"/>
                    </a:lnTo>
                    <a:lnTo>
                      <a:pt x="432" y="6"/>
                    </a:lnTo>
                    <a:lnTo>
                      <a:pt x="426" y="9"/>
                    </a:lnTo>
                    <a:lnTo>
                      <a:pt x="422" y="13"/>
                    </a:lnTo>
                    <a:lnTo>
                      <a:pt x="417" y="19"/>
                    </a:lnTo>
                    <a:lnTo>
                      <a:pt x="415" y="27"/>
                    </a:lnTo>
                    <a:lnTo>
                      <a:pt x="413" y="34"/>
                    </a:lnTo>
                    <a:lnTo>
                      <a:pt x="415" y="42"/>
                    </a:lnTo>
                    <a:lnTo>
                      <a:pt x="417" y="49"/>
                    </a:lnTo>
                    <a:lnTo>
                      <a:pt x="422" y="57"/>
                    </a:lnTo>
                    <a:lnTo>
                      <a:pt x="428" y="65"/>
                    </a:lnTo>
                    <a:lnTo>
                      <a:pt x="436" y="72"/>
                    </a:lnTo>
                    <a:lnTo>
                      <a:pt x="443" y="80"/>
                    </a:lnTo>
                    <a:lnTo>
                      <a:pt x="453" y="87"/>
                    </a:lnTo>
                    <a:lnTo>
                      <a:pt x="460" y="95"/>
                    </a:lnTo>
                    <a:lnTo>
                      <a:pt x="472" y="105"/>
                    </a:lnTo>
                    <a:lnTo>
                      <a:pt x="475" y="108"/>
                    </a:lnTo>
                    <a:lnTo>
                      <a:pt x="481" y="112"/>
                    </a:lnTo>
                    <a:lnTo>
                      <a:pt x="487" y="116"/>
                    </a:lnTo>
                    <a:lnTo>
                      <a:pt x="491" y="120"/>
                    </a:lnTo>
                    <a:lnTo>
                      <a:pt x="487" y="122"/>
                    </a:lnTo>
                    <a:lnTo>
                      <a:pt x="481" y="124"/>
                    </a:lnTo>
                    <a:lnTo>
                      <a:pt x="475" y="125"/>
                    </a:lnTo>
                    <a:lnTo>
                      <a:pt x="472" y="127"/>
                    </a:lnTo>
                    <a:lnTo>
                      <a:pt x="466" y="131"/>
                    </a:lnTo>
                    <a:lnTo>
                      <a:pt x="460" y="133"/>
                    </a:lnTo>
                    <a:lnTo>
                      <a:pt x="456" y="135"/>
                    </a:lnTo>
                    <a:lnTo>
                      <a:pt x="451" y="139"/>
                    </a:lnTo>
                    <a:lnTo>
                      <a:pt x="445" y="141"/>
                    </a:lnTo>
                    <a:lnTo>
                      <a:pt x="439" y="145"/>
                    </a:lnTo>
                    <a:lnTo>
                      <a:pt x="434" y="148"/>
                    </a:lnTo>
                    <a:lnTo>
                      <a:pt x="430" y="152"/>
                    </a:lnTo>
                    <a:lnTo>
                      <a:pt x="424" y="154"/>
                    </a:lnTo>
                    <a:lnTo>
                      <a:pt x="418" y="160"/>
                    </a:lnTo>
                    <a:lnTo>
                      <a:pt x="413" y="164"/>
                    </a:lnTo>
                    <a:lnTo>
                      <a:pt x="407" y="167"/>
                    </a:lnTo>
                    <a:lnTo>
                      <a:pt x="401" y="169"/>
                    </a:lnTo>
                    <a:lnTo>
                      <a:pt x="396" y="175"/>
                    </a:lnTo>
                    <a:lnTo>
                      <a:pt x="390" y="179"/>
                    </a:lnTo>
                    <a:lnTo>
                      <a:pt x="384" y="183"/>
                    </a:lnTo>
                    <a:lnTo>
                      <a:pt x="379" y="186"/>
                    </a:lnTo>
                    <a:lnTo>
                      <a:pt x="373" y="192"/>
                    </a:lnTo>
                    <a:lnTo>
                      <a:pt x="367" y="194"/>
                    </a:lnTo>
                    <a:lnTo>
                      <a:pt x="361" y="200"/>
                    </a:lnTo>
                    <a:lnTo>
                      <a:pt x="356" y="203"/>
                    </a:lnTo>
                    <a:lnTo>
                      <a:pt x="350" y="207"/>
                    </a:lnTo>
                    <a:lnTo>
                      <a:pt x="344" y="211"/>
                    </a:lnTo>
                    <a:lnTo>
                      <a:pt x="339" y="217"/>
                    </a:lnTo>
                    <a:lnTo>
                      <a:pt x="333" y="221"/>
                    </a:lnTo>
                    <a:lnTo>
                      <a:pt x="327" y="224"/>
                    </a:lnTo>
                    <a:lnTo>
                      <a:pt x="321" y="228"/>
                    </a:lnTo>
                    <a:lnTo>
                      <a:pt x="318" y="234"/>
                    </a:lnTo>
                    <a:lnTo>
                      <a:pt x="312" y="238"/>
                    </a:lnTo>
                    <a:lnTo>
                      <a:pt x="306" y="241"/>
                    </a:lnTo>
                    <a:lnTo>
                      <a:pt x="301" y="245"/>
                    </a:lnTo>
                    <a:lnTo>
                      <a:pt x="295" y="249"/>
                    </a:lnTo>
                    <a:lnTo>
                      <a:pt x="289" y="253"/>
                    </a:lnTo>
                    <a:lnTo>
                      <a:pt x="283" y="257"/>
                    </a:lnTo>
                    <a:lnTo>
                      <a:pt x="280" y="260"/>
                    </a:lnTo>
                    <a:lnTo>
                      <a:pt x="274" y="266"/>
                    </a:lnTo>
                    <a:lnTo>
                      <a:pt x="270" y="268"/>
                    </a:lnTo>
                    <a:lnTo>
                      <a:pt x="264" y="272"/>
                    </a:lnTo>
                    <a:lnTo>
                      <a:pt x="259" y="276"/>
                    </a:lnTo>
                    <a:lnTo>
                      <a:pt x="255" y="280"/>
                    </a:lnTo>
                    <a:lnTo>
                      <a:pt x="245" y="285"/>
                    </a:lnTo>
                    <a:lnTo>
                      <a:pt x="238" y="291"/>
                    </a:lnTo>
                    <a:lnTo>
                      <a:pt x="230" y="297"/>
                    </a:lnTo>
                    <a:lnTo>
                      <a:pt x="221" y="300"/>
                    </a:lnTo>
                    <a:lnTo>
                      <a:pt x="215" y="304"/>
                    </a:lnTo>
                    <a:lnTo>
                      <a:pt x="209" y="308"/>
                    </a:lnTo>
                    <a:lnTo>
                      <a:pt x="202" y="310"/>
                    </a:lnTo>
                    <a:lnTo>
                      <a:pt x="198" y="312"/>
                    </a:lnTo>
                    <a:lnTo>
                      <a:pt x="192" y="312"/>
                    </a:lnTo>
                    <a:lnTo>
                      <a:pt x="188" y="312"/>
                    </a:lnTo>
                    <a:lnTo>
                      <a:pt x="185" y="306"/>
                    </a:lnTo>
                    <a:lnTo>
                      <a:pt x="181" y="302"/>
                    </a:lnTo>
                    <a:lnTo>
                      <a:pt x="175" y="297"/>
                    </a:lnTo>
                    <a:lnTo>
                      <a:pt x="171" y="291"/>
                    </a:lnTo>
                    <a:lnTo>
                      <a:pt x="166" y="285"/>
                    </a:lnTo>
                    <a:lnTo>
                      <a:pt x="160" y="280"/>
                    </a:lnTo>
                    <a:lnTo>
                      <a:pt x="154" y="272"/>
                    </a:lnTo>
                    <a:lnTo>
                      <a:pt x="150" y="264"/>
                    </a:lnTo>
                    <a:lnTo>
                      <a:pt x="143" y="257"/>
                    </a:lnTo>
                    <a:lnTo>
                      <a:pt x="137" y="249"/>
                    </a:lnTo>
                    <a:lnTo>
                      <a:pt x="131" y="241"/>
                    </a:lnTo>
                    <a:lnTo>
                      <a:pt x="126" y="234"/>
                    </a:lnTo>
                    <a:lnTo>
                      <a:pt x="120" y="226"/>
                    </a:lnTo>
                    <a:lnTo>
                      <a:pt x="114" y="219"/>
                    </a:lnTo>
                    <a:lnTo>
                      <a:pt x="107" y="211"/>
                    </a:lnTo>
                    <a:lnTo>
                      <a:pt x="103" y="203"/>
                    </a:lnTo>
                    <a:lnTo>
                      <a:pt x="95" y="196"/>
                    </a:lnTo>
                    <a:lnTo>
                      <a:pt x="88" y="188"/>
                    </a:lnTo>
                    <a:lnTo>
                      <a:pt x="82" y="181"/>
                    </a:lnTo>
                    <a:lnTo>
                      <a:pt x="76" y="175"/>
                    </a:lnTo>
                    <a:lnTo>
                      <a:pt x="69" y="167"/>
                    </a:lnTo>
                    <a:lnTo>
                      <a:pt x="63" y="162"/>
                    </a:lnTo>
                    <a:lnTo>
                      <a:pt x="55" y="156"/>
                    </a:lnTo>
                    <a:lnTo>
                      <a:pt x="50" y="152"/>
                    </a:lnTo>
                    <a:lnTo>
                      <a:pt x="42" y="146"/>
                    </a:lnTo>
                    <a:lnTo>
                      <a:pt x="36" y="143"/>
                    </a:lnTo>
                    <a:lnTo>
                      <a:pt x="29" y="139"/>
                    </a:lnTo>
                    <a:lnTo>
                      <a:pt x="25" y="139"/>
                    </a:lnTo>
                    <a:lnTo>
                      <a:pt x="17" y="135"/>
                    </a:lnTo>
                    <a:lnTo>
                      <a:pt x="12" y="135"/>
                    </a:lnTo>
                    <a:lnTo>
                      <a:pt x="4" y="135"/>
                    </a:lnTo>
                    <a:lnTo>
                      <a:pt x="0" y="137"/>
                    </a:lnTo>
                    <a:lnTo>
                      <a:pt x="204" y="373"/>
                    </a:lnTo>
                    <a:lnTo>
                      <a:pt x="211" y="369"/>
                    </a:lnTo>
                    <a:lnTo>
                      <a:pt x="219" y="367"/>
                    </a:lnTo>
                    <a:lnTo>
                      <a:pt x="226" y="363"/>
                    </a:lnTo>
                    <a:lnTo>
                      <a:pt x="234" y="359"/>
                    </a:lnTo>
                    <a:lnTo>
                      <a:pt x="240" y="356"/>
                    </a:lnTo>
                    <a:lnTo>
                      <a:pt x="245" y="352"/>
                    </a:lnTo>
                    <a:lnTo>
                      <a:pt x="253" y="348"/>
                    </a:lnTo>
                    <a:lnTo>
                      <a:pt x="259" y="344"/>
                    </a:lnTo>
                    <a:lnTo>
                      <a:pt x="264" y="338"/>
                    </a:lnTo>
                    <a:lnTo>
                      <a:pt x="270" y="335"/>
                    </a:lnTo>
                    <a:lnTo>
                      <a:pt x="276" y="329"/>
                    </a:lnTo>
                    <a:lnTo>
                      <a:pt x="282" y="323"/>
                    </a:lnTo>
                    <a:lnTo>
                      <a:pt x="287" y="318"/>
                    </a:lnTo>
                    <a:lnTo>
                      <a:pt x="293" y="312"/>
                    </a:lnTo>
                    <a:lnTo>
                      <a:pt x="299" y="306"/>
                    </a:lnTo>
                    <a:lnTo>
                      <a:pt x="304" y="302"/>
                    </a:lnTo>
                    <a:lnTo>
                      <a:pt x="308" y="295"/>
                    </a:lnTo>
                    <a:lnTo>
                      <a:pt x="314" y="289"/>
                    </a:lnTo>
                    <a:lnTo>
                      <a:pt x="318" y="281"/>
                    </a:lnTo>
                    <a:lnTo>
                      <a:pt x="323" y="278"/>
                    </a:lnTo>
                    <a:lnTo>
                      <a:pt x="327" y="270"/>
                    </a:lnTo>
                    <a:lnTo>
                      <a:pt x="333" y="264"/>
                    </a:lnTo>
                    <a:lnTo>
                      <a:pt x="339" y="257"/>
                    </a:lnTo>
                    <a:lnTo>
                      <a:pt x="344" y="251"/>
                    </a:lnTo>
                    <a:lnTo>
                      <a:pt x="350" y="245"/>
                    </a:lnTo>
                    <a:lnTo>
                      <a:pt x="354" y="240"/>
                    </a:lnTo>
                    <a:lnTo>
                      <a:pt x="359" y="232"/>
                    </a:lnTo>
                    <a:lnTo>
                      <a:pt x="367" y="226"/>
                    </a:lnTo>
                    <a:lnTo>
                      <a:pt x="373" y="221"/>
                    </a:lnTo>
                    <a:lnTo>
                      <a:pt x="377" y="215"/>
                    </a:lnTo>
                    <a:lnTo>
                      <a:pt x="384" y="209"/>
                    </a:lnTo>
                    <a:lnTo>
                      <a:pt x="392" y="203"/>
                    </a:lnTo>
                    <a:lnTo>
                      <a:pt x="398" y="196"/>
                    </a:lnTo>
                    <a:lnTo>
                      <a:pt x="403" y="192"/>
                    </a:lnTo>
                    <a:lnTo>
                      <a:pt x="409" y="186"/>
                    </a:lnTo>
                    <a:lnTo>
                      <a:pt x="417" y="183"/>
                    </a:lnTo>
                    <a:lnTo>
                      <a:pt x="422" y="177"/>
                    </a:lnTo>
                    <a:lnTo>
                      <a:pt x="428" y="173"/>
                    </a:lnTo>
                    <a:lnTo>
                      <a:pt x="434" y="169"/>
                    </a:lnTo>
                    <a:lnTo>
                      <a:pt x="439" y="165"/>
                    </a:lnTo>
                    <a:lnTo>
                      <a:pt x="445" y="164"/>
                    </a:lnTo>
                    <a:lnTo>
                      <a:pt x="451" y="160"/>
                    </a:lnTo>
                    <a:lnTo>
                      <a:pt x="456" y="156"/>
                    </a:lnTo>
                    <a:lnTo>
                      <a:pt x="462" y="154"/>
                    </a:lnTo>
                    <a:lnTo>
                      <a:pt x="466" y="152"/>
                    </a:lnTo>
                    <a:lnTo>
                      <a:pt x="472" y="148"/>
                    </a:lnTo>
                    <a:lnTo>
                      <a:pt x="477" y="146"/>
                    </a:lnTo>
                    <a:lnTo>
                      <a:pt x="483" y="146"/>
                    </a:lnTo>
                    <a:lnTo>
                      <a:pt x="493" y="143"/>
                    </a:lnTo>
                    <a:lnTo>
                      <a:pt x="502" y="139"/>
                    </a:lnTo>
                    <a:lnTo>
                      <a:pt x="510" y="137"/>
                    </a:lnTo>
                    <a:lnTo>
                      <a:pt x="521" y="135"/>
                    </a:lnTo>
                    <a:lnTo>
                      <a:pt x="531" y="133"/>
                    </a:lnTo>
                    <a:lnTo>
                      <a:pt x="538" y="131"/>
                    </a:lnTo>
                    <a:lnTo>
                      <a:pt x="548" y="129"/>
                    </a:lnTo>
                    <a:lnTo>
                      <a:pt x="557" y="129"/>
                    </a:lnTo>
                    <a:close/>
                  </a:path>
                </a:pathLst>
              </a:custGeom>
              <a:solidFill>
                <a:srgbClr val="000000"/>
              </a:solidFill>
              <a:ln w="9525">
                <a:noFill/>
                <a:round/>
              </a:ln>
            </p:spPr>
            <p:txBody>
              <a:bodyPr/>
              <a:lstStyle/>
              <a:p>
                <a:endParaRPr lang="en-US"/>
              </a:p>
            </p:txBody>
          </p:sp>
          <p:sp>
            <p:nvSpPr>
              <p:cNvPr id="1048975" name="Freeform 272"/>
              <p:cNvSpPr/>
              <p:nvPr/>
            </p:nvSpPr>
            <p:spPr bwMode="auto">
              <a:xfrm>
                <a:off x="1695" y="2452"/>
                <a:ext cx="250" cy="209"/>
              </a:xfrm>
              <a:custGeom>
                <a:avLst/>
                <a:gdLst>
                  <a:gd name="T0" fmla="*/ 87 w 500"/>
                  <a:gd name="T1" fmla="*/ 87 h 416"/>
                  <a:gd name="T2" fmla="*/ 76 w 500"/>
                  <a:gd name="T3" fmla="*/ 88 h 416"/>
                  <a:gd name="T4" fmla="*/ 65 w 500"/>
                  <a:gd name="T5" fmla="*/ 88 h 416"/>
                  <a:gd name="T6" fmla="*/ 53 w 500"/>
                  <a:gd name="T7" fmla="*/ 86 h 416"/>
                  <a:gd name="T8" fmla="*/ 42 w 500"/>
                  <a:gd name="T9" fmla="*/ 84 h 416"/>
                  <a:gd name="T10" fmla="*/ 31 w 500"/>
                  <a:gd name="T11" fmla="*/ 81 h 416"/>
                  <a:gd name="T12" fmla="*/ 20 w 500"/>
                  <a:gd name="T13" fmla="*/ 79 h 416"/>
                  <a:gd name="T14" fmla="*/ 8 w 500"/>
                  <a:gd name="T15" fmla="*/ 74 h 416"/>
                  <a:gd name="T16" fmla="*/ 0 w 500"/>
                  <a:gd name="T17" fmla="*/ 78 h 416"/>
                  <a:gd name="T18" fmla="*/ 5 w 500"/>
                  <a:gd name="T19" fmla="*/ 87 h 416"/>
                  <a:gd name="T20" fmla="*/ 15 w 500"/>
                  <a:gd name="T21" fmla="*/ 99 h 416"/>
                  <a:gd name="T22" fmla="*/ 26 w 500"/>
                  <a:gd name="T23" fmla="*/ 104 h 416"/>
                  <a:gd name="T24" fmla="*/ 37 w 500"/>
                  <a:gd name="T25" fmla="*/ 105 h 416"/>
                  <a:gd name="T26" fmla="*/ 50 w 500"/>
                  <a:gd name="T27" fmla="*/ 106 h 416"/>
                  <a:gd name="T28" fmla="*/ 63 w 500"/>
                  <a:gd name="T29" fmla="*/ 104 h 416"/>
                  <a:gd name="T30" fmla="*/ 75 w 500"/>
                  <a:gd name="T31" fmla="*/ 103 h 416"/>
                  <a:gd name="T32" fmla="*/ 87 w 500"/>
                  <a:gd name="T33" fmla="*/ 102 h 416"/>
                  <a:gd name="T34" fmla="*/ 95 w 500"/>
                  <a:gd name="T35" fmla="*/ 106 h 416"/>
                  <a:gd name="T36" fmla="*/ 92 w 500"/>
                  <a:gd name="T37" fmla="*/ 122 h 416"/>
                  <a:gd name="T38" fmla="*/ 94 w 500"/>
                  <a:gd name="T39" fmla="*/ 140 h 416"/>
                  <a:gd name="T40" fmla="*/ 103 w 500"/>
                  <a:gd name="T41" fmla="*/ 154 h 416"/>
                  <a:gd name="T42" fmla="*/ 115 w 500"/>
                  <a:gd name="T43" fmla="*/ 163 h 416"/>
                  <a:gd name="T44" fmla="*/ 125 w 500"/>
                  <a:gd name="T45" fmla="*/ 173 h 416"/>
                  <a:gd name="T46" fmla="*/ 123 w 500"/>
                  <a:gd name="T47" fmla="*/ 191 h 416"/>
                  <a:gd name="T48" fmla="*/ 123 w 500"/>
                  <a:gd name="T49" fmla="*/ 204 h 416"/>
                  <a:gd name="T50" fmla="*/ 131 w 500"/>
                  <a:gd name="T51" fmla="*/ 209 h 416"/>
                  <a:gd name="T52" fmla="*/ 142 w 500"/>
                  <a:gd name="T53" fmla="*/ 207 h 416"/>
                  <a:gd name="T54" fmla="*/ 220 w 500"/>
                  <a:gd name="T55" fmla="*/ 185 h 416"/>
                  <a:gd name="T56" fmla="*/ 231 w 500"/>
                  <a:gd name="T57" fmla="*/ 179 h 416"/>
                  <a:gd name="T58" fmla="*/ 241 w 500"/>
                  <a:gd name="T59" fmla="*/ 175 h 416"/>
                  <a:gd name="T60" fmla="*/ 245 w 500"/>
                  <a:gd name="T61" fmla="*/ 169 h 416"/>
                  <a:gd name="T62" fmla="*/ 227 w 500"/>
                  <a:gd name="T63" fmla="*/ 165 h 416"/>
                  <a:gd name="T64" fmla="*/ 210 w 500"/>
                  <a:gd name="T65" fmla="*/ 164 h 416"/>
                  <a:gd name="T66" fmla="*/ 200 w 500"/>
                  <a:gd name="T67" fmla="*/ 164 h 416"/>
                  <a:gd name="T68" fmla="*/ 189 w 500"/>
                  <a:gd name="T69" fmla="*/ 164 h 416"/>
                  <a:gd name="T70" fmla="*/ 180 w 500"/>
                  <a:gd name="T71" fmla="*/ 164 h 416"/>
                  <a:gd name="T72" fmla="*/ 169 w 500"/>
                  <a:gd name="T73" fmla="*/ 163 h 416"/>
                  <a:gd name="T74" fmla="*/ 156 w 500"/>
                  <a:gd name="T75" fmla="*/ 163 h 416"/>
                  <a:gd name="T76" fmla="*/ 144 w 500"/>
                  <a:gd name="T77" fmla="*/ 161 h 416"/>
                  <a:gd name="T78" fmla="*/ 127 w 500"/>
                  <a:gd name="T79" fmla="*/ 158 h 416"/>
                  <a:gd name="T80" fmla="*/ 111 w 500"/>
                  <a:gd name="T81" fmla="*/ 152 h 416"/>
                  <a:gd name="T82" fmla="*/ 100 w 500"/>
                  <a:gd name="T83" fmla="*/ 141 h 416"/>
                  <a:gd name="T84" fmla="*/ 97 w 500"/>
                  <a:gd name="T85" fmla="*/ 132 h 416"/>
                  <a:gd name="T86" fmla="*/ 100 w 500"/>
                  <a:gd name="T87" fmla="*/ 121 h 416"/>
                  <a:gd name="T88" fmla="*/ 104 w 500"/>
                  <a:gd name="T89" fmla="*/ 110 h 416"/>
                  <a:gd name="T90" fmla="*/ 106 w 500"/>
                  <a:gd name="T91" fmla="*/ 98 h 416"/>
                  <a:gd name="T92" fmla="*/ 109 w 500"/>
                  <a:gd name="T93" fmla="*/ 85 h 416"/>
                  <a:gd name="T94" fmla="*/ 114 w 500"/>
                  <a:gd name="T95" fmla="*/ 71 h 416"/>
                  <a:gd name="T96" fmla="*/ 117 w 500"/>
                  <a:gd name="T97" fmla="*/ 58 h 416"/>
                  <a:gd name="T98" fmla="*/ 121 w 500"/>
                  <a:gd name="T99" fmla="*/ 45 h 416"/>
                  <a:gd name="T100" fmla="*/ 123 w 500"/>
                  <a:gd name="T101" fmla="*/ 32 h 416"/>
                  <a:gd name="T102" fmla="*/ 122 w 500"/>
                  <a:gd name="T103" fmla="*/ 19 h 416"/>
                  <a:gd name="T104" fmla="*/ 118 w 500"/>
                  <a:gd name="T105" fmla="*/ 8 h 416"/>
                  <a:gd name="T106" fmla="*/ 99 w 500"/>
                  <a:gd name="T107" fmla="*/ 83 h 41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w 500"/>
                  <a:gd name="T163" fmla="*/ 0 h 416"/>
                  <a:gd name="T164" fmla="*/ 500 w 500"/>
                  <a:gd name="T165" fmla="*/ 416 h 41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T162" t="T163" r="T164" b="T165"/>
                <a:pathLst>
                  <a:path w="500" h="416">
                    <a:moveTo>
                      <a:pt x="197" y="165"/>
                    </a:moveTo>
                    <a:lnTo>
                      <a:pt x="188" y="169"/>
                    </a:lnTo>
                    <a:lnTo>
                      <a:pt x="178" y="171"/>
                    </a:lnTo>
                    <a:lnTo>
                      <a:pt x="173" y="173"/>
                    </a:lnTo>
                    <a:lnTo>
                      <a:pt x="169" y="173"/>
                    </a:lnTo>
                    <a:lnTo>
                      <a:pt x="163" y="175"/>
                    </a:lnTo>
                    <a:lnTo>
                      <a:pt x="157" y="175"/>
                    </a:lnTo>
                    <a:lnTo>
                      <a:pt x="152" y="175"/>
                    </a:lnTo>
                    <a:lnTo>
                      <a:pt x="146" y="175"/>
                    </a:lnTo>
                    <a:lnTo>
                      <a:pt x="140" y="175"/>
                    </a:lnTo>
                    <a:lnTo>
                      <a:pt x="135" y="175"/>
                    </a:lnTo>
                    <a:lnTo>
                      <a:pt x="129" y="175"/>
                    </a:lnTo>
                    <a:lnTo>
                      <a:pt x="125" y="175"/>
                    </a:lnTo>
                    <a:lnTo>
                      <a:pt x="119" y="173"/>
                    </a:lnTo>
                    <a:lnTo>
                      <a:pt x="114" y="173"/>
                    </a:lnTo>
                    <a:lnTo>
                      <a:pt x="106" y="171"/>
                    </a:lnTo>
                    <a:lnTo>
                      <a:pt x="100" y="171"/>
                    </a:lnTo>
                    <a:lnTo>
                      <a:pt x="95" y="169"/>
                    </a:lnTo>
                    <a:lnTo>
                      <a:pt x="89" y="169"/>
                    </a:lnTo>
                    <a:lnTo>
                      <a:pt x="83" y="167"/>
                    </a:lnTo>
                    <a:lnTo>
                      <a:pt x="77" y="165"/>
                    </a:lnTo>
                    <a:lnTo>
                      <a:pt x="72" y="165"/>
                    </a:lnTo>
                    <a:lnTo>
                      <a:pt x="68" y="163"/>
                    </a:lnTo>
                    <a:lnTo>
                      <a:pt x="62" y="161"/>
                    </a:lnTo>
                    <a:lnTo>
                      <a:pt x="57" y="161"/>
                    </a:lnTo>
                    <a:lnTo>
                      <a:pt x="53" y="160"/>
                    </a:lnTo>
                    <a:lnTo>
                      <a:pt x="47" y="160"/>
                    </a:lnTo>
                    <a:lnTo>
                      <a:pt x="39" y="158"/>
                    </a:lnTo>
                    <a:lnTo>
                      <a:pt x="32" y="156"/>
                    </a:lnTo>
                    <a:lnTo>
                      <a:pt x="28" y="154"/>
                    </a:lnTo>
                    <a:lnTo>
                      <a:pt x="22" y="152"/>
                    </a:lnTo>
                    <a:lnTo>
                      <a:pt x="15" y="148"/>
                    </a:lnTo>
                    <a:lnTo>
                      <a:pt x="7" y="148"/>
                    </a:lnTo>
                    <a:lnTo>
                      <a:pt x="1" y="148"/>
                    </a:lnTo>
                    <a:lnTo>
                      <a:pt x="0" y="152"/>
                    </a:lnTo>
                    <a:lnTo>
                      <a:pt x="0" y="156"/>
                    </a:lnTo>
                    <a:lnTo>
                      <a:pt x="1" y="161"/>
                    </a:lnTo>
                    <a:lnTo>
                      <a:pt x="3" y="163"/>
                    </a:lnTo>
                    <a:lnTo>
                      <a:pt x="5" y="169"/>
                    </a:lnTo>
                    <a:lnTo>
                      <a:pt x="9" y="173"/>
                    </a:lnTo>
                    <a:lnTo>
                      <a:pt x="13" y="179"/>
                    </a:lnTo>
                    <a:lnTo>
                      <a:pt x="19" y="188"/>
                    </a:lnTo>
                    <a:lnTo>
                      <a:pt x="26" y="196"/>
                    </a:lnTo>
                    <a:lnTo>
                      <a:pt x="30" y="198"/>
                    </a:lnTo>
                    <a:lnTo>
                      <a:pt x="36" y="201"/>
                    </a:lnTo>
                    <a:lnTo>
                      <a:pt x="41" y="203"/>
                    </a:lnTo>
                    <a:lnTo>
                      <a:pt x="47" y="205"/>
                    </a:lnTo>
                    <a:lnTo>
                      <a:pt x="51" y="207"/>
                    </a:lnTo>
                    <a:lnTo>
                      <a:pt x="57" y="207"/>
                    </a:lnTo>
                    <a:lnTo>
                      <a:pt x="62" y="209"/>
                    </a:lnTo>
                    <a:lnTo>
                      <a:pt x="70" y="209"/>
                    </a:lnTo>
                    <a:lnTo>
                      <a:pt x="74" y="209"/>
                    </a:lnTo>
                    <a:lnTo>
                      <a:pt x="81" y="211"/>
                    </a:lnTo>
                    <a:lnTo>
                      <a:pt x="87" y="211"/>
                    </a:lnTo>
                    <a:lnTo>
                      <a:pt x="95" y="211"/>
                    </a:lnTo>
                    <a:lnTo>
                      <a:pt x="100" y="211"/>
                    </a:lnTo>
                    <a:lnTo>
                      <a:pt x="106" y="209"/>
                    </a:lnTo>
                    <a:lnTo>
                      <a:pt x="112" y="209"/>
                    </a:lnTo>
                    <a:lnTo>
                      <a:pt x="119" y="209"/>
                    </a:lnTo>
                    <a:lnTo>
                      <a:pt x="125" y="207"/>
                    </a:lnTo>
                    <a:lnTo>
                      <a:pt x="131" y="207"/>
                    </a:lnTo>
                    <a:lnTo>
                      <a:pt x="136" y="207"/>
                    </a:lnTo>
                    <a:lnTo>
                      <a:pt x="144" y="207"/>
                    </a:lnTo>
                    <a:lnTo>
                      <a:pt x="150" y="205"/>
                    </a:lnTo>
                    <a:lnTo>
                      <a:pt x="155" y="205"/>
                    </a:lnTo>
                    <a:lnTo>
                      <a:pt x="163" y="203"/>
                    </a:lnTo>
                    <a:lnTo>
                      <a:pt x="169" y="203"/>
                    </a:lnTo>
                    <a:lnTo>
                      <a:pt x="174" y="203"/>
                    </a:lnTo>
                    <a:lnTo>
                      <a:pt x="180" y="203"/>
                    </a:lnTo>
                    <a:lnTo>
                      <a:pt x="186" y="203"/>
                    </a:lnTo>
                    <a:lnTo>
                      <a:pt x="192" y="203"/>
                    </a:lnTo>
                    <a:lnTo>
                      <a:pt x="190" y="211"/>
                    </a:lnTo>
                    <a:lnTo>
                      <a:pt x="190" y="219"/>
                    </a:lnTo>
                    <a:lnTo>
                      <a:pt x="188" y="226"/>
                    </a:lnTo>
                    <a:lnTo>
                      <a:pt x="188" y="236"/>
                    </a:lnTo>
                    <a:lnTo>
                      <a:pt x="184" y="243"/>
                    </a:lnTo>
                    <a:lnTo>
                      <a:pt x="184" y="255"/>
                    </a:lnTo>
                    <a:lnTo>
                      <a:pt x="184" y="262"/>
                    </a:lnTo>
                    <a:lnTo>
                      <a:pt x="188" y="272"/>
                    </a:lnTo>
                    <a:lnTo>
                      <a:pt x="188" y="279"/>
                    </a:lnTo>
                    <a:lnTo>
                      <a:pt x="192" y="287"/>
                    </a:lnTo>
                    <a:lnTo>
                      <a:pt x="195" y="295"/>
                    </a:lnTo>
                    <a:lnTo>
                      <a:pt x="201" y="302"/>
                    </a:lnTo>
                    <a:lnTo>
                      <a:pt x="205" y="306"/>
                    </a:lnTo>
                    <a:lnTo>
                      <a:pt x="209" y="312"/>
                    </a:lnTo>
                    <a:lnTo>
                      <a:pt x="216" y="315"/>
                    </a:lnTo>
                    <a:lnTo>
                      <a:pt x="222" y="321"/>
                    </a:lnTo>
                    <a:lnTo>
                      <a:pt x="230" y="325"/>
                    </a:lnTo>
                    <a:lnTo>
                      <a:pt x="237" y="329"/>
                    </a:lnTo>
                    <a:lnTo>
                      <a:pt x="245" y="331"/>
                    </a:lnTo>
                    <a:lnTo>
                      <a:pt x="254" y="335"/>
                    </a:lnTo>
                    <a:lnTo>
                      <a:pt x="250" y="344"/>
                    </a:lnTo>
                    <a:lnTo>
                      <a:pt x="249" y="354"/>
                    </a:lnTo>
                    <a:lnTo>
                      <a:pt x="247" y="363"/>
                    </a:lnTo>
                    <a:lnTo>
                      <a:pt x="247" y="373"/>
                    </a:lnTo>
                    <a:lnTo>
                      <a:pt x="245" y="380"/>
                    </a:lnTo>
                    <a:lnTo>
                      <a:pt x="245" y="388"/>
                    </a:lnTo>
                    <a:lnTo>
                      <a:pt x="245" y="393"/>
                    </a:lnTo>
                    <a:lnTo>
                      <a:pt x="245" y="401"/>
                    </a:lnTo>
                    <a:lnTo>
                      <a:pt x="245" y="407"/>
                    </a:lnTo>
                    <a:lnTo>
                      <a:pt x="249" y="411"/>
                    </a:lnTo>
                    <a:lnTo>
                      <a:pt x="250" y="412"/>
                    </a:lnTo>
                    <a:lnTo>
                      <a:pt x="256" y="416"/>
                    </a:lnTo>
                    <a:lnTo>
                      <a:pt x="262" y="416"/>
                    </a:lnTo>
                    <a:lnTo>
                      <a:pt x="268" y="416"/>
                    </a:lnTo>
                    <a:lnTo>
                      <a:pt x="271" y="416"/>
                    </a:lnTo>
                    <a:lnTo>
                      <a:pt x="277" y="414"/>
                    </a:lnTo>
                    <a:lnTo>
                      <a:pt x="283" y="412"/>
                    </a:lnTo>
                    <a:lnTo>
                      <a:pt x="289" y="412"/>
                    </a:lnTo>
                    <a:lnTo>
                      <a:pt x="302" y="350"/>
                    </a:lnTo>
                    <a:lnTo>
                      <a:pt x="437" y="373"/>
                    </a:lnTo>
                    <a:lnTo>
                      <a:pt x="439" y="369"/>
                    </a:lnTo>
                    <a:lnTo>
                      <a:pt x="446" y="365"/>
                    </a:lnTo>
                    <a:lnTo>
                      <a:pt x="450" y="361"/>
                    </a:lnTo>
                    <a:lnTo>
                      <a:pt x="456" y="359"/>
                    </a:lnTo>
                    <a:lnTo>
                      <a:pt x="462" y="357"/>
                    </a:lnTo>
                    <a:lnTo>
                      <a:pt x="467" y="355"/>
                    </a:lnTo>
                    <a:lnTo>
                      <a:pt x="471" y="354"/>
                    </a:lnTo>
                    <a:lnTo>
                      <a:pt x="477" y="350"/>
                    </a:lnTo>
                    <a:lnTo>
                      <a:pt x="481" y="348"/>
                    </a:lnTo>
                    <a:lnTo>
                      <a:pt x="486" y="346"/>
                    </a:lnTo>
                    <a:lnTo>
                      <a:pt x="494" y="342"/>
                    </a:lnTo>
                    <a:lnTo>
                      <a:pt x="500" y="338"/>
                    </a:lnTo>
                    <a:lnTo>
                      <a:pt x="490" y="336"/>
                    </a:lnTo>
                    <a:lnTo>
                      <a:pt x="482" y="333"/>
                    </a:lnTo>
                    <a:lnTo>
                      <a:pt x="473" y="331"/>
                    </a:lnTo>
                    <a:lnTo>
                      <a:pt x="463" y="331"/>
                    </a:lnTo>
                    <a:lnTo>
                      <a:pt x="454" y="329"/>
                    </a:lnTo>
                    <a:lnTo>
                      <a:pt x="444" y="329"/>
                    </a:lnTo>
                    <a:lnTo>
                      <a:pt x="435" y="329"/>
                    </a:lnTo>
                    <a:lnTo>
                      <a:pt x="425" y="329"/>
                    </a:lnTo>
                    <a:lnTo>
                      <a:pt x="420" y="327"/>
                    </a:lnTo>
                    <a:lnTo>
                      <a:pt x="414" y="327"/>
                    </a:lnTo>
                    <a:lnTo>
                      <a:pt x="408" y="327"/>
                    </a:lnTo>
                    <a:lnTo>
                      <a:pt x="404" y="327"/>
                    </a:lnTo>
                    <a:lnTo>
                      <a:pt x="399" y="327"/>
                    </a:lnTo>
                    <a:lnTo>
                      <a:pt x="395" y="327"/>
                    </a:lnTo>
                    <a:lnTo>
                      <a:pt x="389" y="327"/>
                    </a:lnTo>
                    <a:lnTo>
                      <a:pt x="384" y="327"/>
                    </a:lnTo>
                    <a:lnTo>
                      <a:pt x="378" y="327"/>
                    </a:lnTo>
                    <a:lnTo>
                      <a:pt x="374" y="327"/>
                    </a:lnTo>
                    <a:lnTo>
                      <a:pt x="368" y="327"/>
                    </a:lnTo>
                    <a:lnTo>
                      <a:pt x="365" y="327"/>
                    </a:lnTo>
                    <a:lnTo>
                      <a:pt x="359" y="327"/>
                    </a:lnTo>
                    <a:lnTo>
                      <a:pt x="353" y="327"/>
                    </a:lnTo>
                    <a:lnTo>
                      <a:pt x="347" y="327"/>
                    </a:lnTo>
                    <a:lnTo>
                      <a:pt x="344" y="327"/>
                    </a:lnTo>
                    <a:lnTo>
                      <a:pt x="338" y="325"/>
                    </a:lnTo>
                    <a:lnTo>
                      <a:pt x="332" y="325"/>
                    </a:lnTo>
                    <a:lnTo>
                      <a:pt x="327" y="325"/>
                    </a:lnTo>
                    <a:lnTo>
                      <a:pt x="321" y="325"/>
                    </a:lnTo>
                    <a:lnTo>
                      <a:pt x="311" y="325"/>
                    </a:lnTo>
                    <a:lnTo>
                      <a:pt x="302" y="325"/>
                    </a:lnTo>
                    <a:lnTo>
                      <a:pt x="296" y="323"/>
                    </a:lnTo>
                    <a:lnTo>
                      <a:pt x="290" y="323"/>
                    </a:lnTo>
                    <a:lnTo>
                      <a:pt x="287" y="321"/>
                    </a:lnTo>
                    <a:lnTo>
                      <a:pt x="283" y="321"/>
                    </a:lnTo>
                    <a:lnTo>
                      <a:pt x="271" y="319"/>
                    </a:lnTo>
                    <a:lnTo>
                      <a:pt x="264" y="319"/>
                    </a:lnTo>
                    <a:lnTo>
                      <a:pt x="254" y="315"/>
                    </a:lnTo>
                    <a:lnTo>
                      <a:pt x="245" y="312"/>
                    </a:lnTo>
                    <a:lnTo>
                      <a:pt x="237" y="308"/>
                    </a:lnTo>
                    <a:lnTo>
                      <a:pt x="230" y="306"/>
                    </a:lnTo>
                    <a:lnTo>
                      <a:pt x="222" y="302"/>
                    </a:lnTo>
                    <a:lnTo>
                      <a:pt x="214" y="298"/>
                    </a:lnTo>
                    <a:lnTo>
                      <a:pt x="207" y="293"/>
                    </a:lnTo>
                    <a:lnTo>
                      <a:pt x="203" y="287"/>
                    </a:lnTo>
                    <a:lnTo>
                      <a:pt x="199" y="281"/>
                    </a:lnTo>
                    <a:lnTo>
                      <a:pt x="195" y="277"/>
                    </a:lnTo>
                    <a:lnTo>
                      <a:pt x="193" y="272"/>
                    </a:lnTo>
                    <a:lnTo>
                      <a:pt x="193" y="268"/>
                    </a:lnTo>
                    <a:lnTo>
                      <a:pt x="193" y="262"/>
                    </a:lnTo>
                    <a:lnTo>
                      <a:pt x="193" y="258"/>
                    </a:lnTo>
                    <a:lnTo>
                      <a:pt x="195" y="253"/>
                    </a:lnTo>
                    <a:lnTo>
                      <a:pt x="197" y="247"/>
                    </a:lnTo>
                    <a:lnTo>
                      <a:pt x="199" y="241"/>
                    </a:lnTo>
                    <a:lnTo>
                      <a:pt x="201" y="236"/>
                    </a:lnTo>
                    <a:lnTo>
                      <a:pt x="203" y="230"/>
                    </a:lnTo>
                    <a:lnTo>
                      <a:pt x="205" y="224"/>
                    </a:lnTo>
                    <a:lnTo>
                      <a:pt x="207" y="219"/>
                    </a:lnTo>
                    <a:lnTo>
                      <a:pt x="209" y="215"/>
                    </a:lnTo>
                    <a:lnTo>
                      <a:pt x="211" y="209"/>
                    </a:lnTo>
                    <a:lnTo>
                      <a:pt x="212" y="203"/>
                    </a:lnTo>
                    <a:lnTo>
                      <a:pt x="212" y="196"/>
                    </a:lnTo>
                    <a:lnTo>
                      <a:pt x="214" y="190"/>
                    </a:lnTo>
                    <a:lnTo>
                      <a:pt x="214" y="182"/>
                    </a:lnTo>
                    <a:lnTo>
                      <a:pt x="216" y="177"/>
                    </a:lnTo>
                    <a:lnTo>
                      <a:pt x="218" y="169"/>
                    </a:lnTo>
                    <a:lnTo>
                      <a:pt x="220" y="163"/>
                    </a:lnTo>
                    <a:lnTo>
                      <a:pt x="222" y="158"/>
                    </a:lnTo>
                    <a:lnTo>
                      <a:pt x="226" y="150"/>
                    </a:lnTo>
                    <a:lnTo>
                      <a:pt x="228" y="142"/>
                    </a:lnTo>
                    <a:lnTo>
                      <a:pt x="230" y="137"/>
                    </a:lnTo>
                    <a:lnTo>
                      <a:pt x="231" y="129"/>
                    </a:lnTo>
                    <a:lnTo>
                      <a:pt x="233" y="123"/>
                    </a:lnTo>
                    <a:lnTo>
                      <a:pt x="233" y="116"/>
                    </a:lnTo>
                    <a:lnTo>
                      <a:pt x="235" y="110"/>
                    </a:lnTo>
                    <a:lnTo>
                      <a:pt x="237" y="103"/>
                    </a:lnTo>
                    <a:lnTo>
                      <a:pt x="241" y="97"/>
                    </a:lnTo>
                    <a:lnTo>
                      <a:pt x="241" y="89"/>
                    </a:lnTo>
                    <a:lnTo>
                      <a:pt x="243" y="84"/>
                    </a:lnTo>
                    <a:lnTo>
                      <a:pt x="243" y="76"/>
                    </a:lnTo>
                    <a:lnTo>
                      <a:pt x="245" y="70"/>
                    </a:lnTo>
                    <a:lnTo>
                      <a:pt x="245" y="63"/>
                    </a:lnTo>
                    <a:lnTo>
                      <a:pt x="245" y="57"/>
                    </a:lnTo>
                    <a:lnTo>
                      <a:pt x="245" y="49"/>
                    </a:lnTo>
                    <a:lnTo>
                      <a:pt x="245" y="45"/>
                    </a:lnTo>
                    <a:lnTo>
                      <a:pt x="243" y="38"/>
                    </a:lnTo>
                    <a:lnTo>
                      <a:pt x="241" y="32"/>
                    </a:lnTo>
                    <a:lnTo>
                      <a:pt x="239" y="26"/>
                    </a:lnTo>
                    <a:lnTo>
                      <a:pt x="237" y="21"/>
                    </a:lnTo>
                    <a:lnTo>
                      <a:pt x="235" y="15"/>
                    </a:lnTo>
                    <a:lnTo>
                      <a:pt x="233" y="9"/>
                    </a:lnTo>
                    <a:lnTo>
                      <a:pt x="230" y="4"/>
                    </a:lnTo>
                    <a:lnTo>
                      <a:pt x="226" y="0"/>
                    </a:lnTo>
                    <a:lnTo>
                      <a:pt x="197" y="165"/>
                    </a:lnTo>
                    <a:close/>
                  </a:path>
                </a:pathLst>
              </a:custGeom>
              <a:solidFill>
                <a:srgbClr val="000000"/>
              </a:solidFill>
              <a:ln w="9525">
                <a:noFill/>
                <a:round/>
              </a:ln>
            </p:spPr>
            <p:txBody>
              <a:bodyPr/>
              <a:lstStyle/>
              <a:p>
                <a:endParaRPr lang="en-US"/>
              </a:p>
            </p:txBody>
          </p:sp>
        </p:grpSp>
      </p:grpSp>
      <p:grpSp>
        <p:nvGrpSpPr>
          <p:cNvPr id="151" name="Group 318"/>
          <p:cNvGrpSpPr/>
          <p:nvPr/>
        </p:nvGrpSpPr>
        <p:grpSpPr bwMode="auto">
          <a:xfrm>
            <a:off x="1219200" y="4038600"/>
            <a:ext cx="1130300" cy="838200"/>
            <a:chOff x="768" y="2688"/>
            <a:chExt cx="712" cy="528"/>
          </a:xfrm>
        </p:grpSpPr>
        <p:pic>
          <p:nvPicPr>
            <p:cNvPr id="2097177" name="Picture 11" descr="j0290192"/>
            <p:cNvPicPr>
              <a:picLocks noChangeAspect="1" noChangeArrowheads="1"/>
            </p:cNvPicPr>
            <p:nvPr/>
          </p:nvPicPr>
          <p:blipFill>
            <a:blip r:embed="rId7" cstate="print"/>
            <a:srcRect/>
            <a:stretch>
              <a:fillRect/>
            </a:stretch>
          </p:blipFill>
          <p:spPr bwMode="auto">
            <a:xfrm flipH="1">
              <a:off x="1056" y="2688"/>
              <a:ext cx="424" cy="480"/>
            </a:xfrm>
            <a:prstGeom prst="rect">
              <a:avLst/>
            </a:prstGeom>
            <a:noFill/>
            <a:ln w="9525">
              <a:noFill/>
              <a:miter lim="800000"/>
              <a:headEnd/>
              <a:tailEnd/>
            </a:ln>
          </p:spPr>
        </p:pic>
        <p:grpSp>
          <p:nvGrpSpPr>
            <p:cNvPr id="152" name="Group 273"/>
            <p:cNvGrpSpPr/>
            <p:nvPr/>
          </p:nvGrpSpPr>
          <p:grpSpPr bwMode="auto">
            <a:xfrm>
              <a:off x="768" y="2688"/>
              <a:ext cx="384" cy="528"/>
              <a:chOff x="1536" y="1920"/>
              <a:chExt cx="1329" cy="1081"/>
            </a:xfrm>
          </p:grpSpPr>
          <p:sp>
            <p:nvSpPr>
              <p:cNvPr id="1048976" name="AutoShape 274"/>
              <p:cNvSpPr>
                <a:spLocks noChangeAspect="1" noChangeArrowheads="1" noTextEdit="1"/>
              </p:cNvSpPr>
              <p:nvPr/>
            </p:nvSpPr>
            <p:spPr bwMode="auto">
              <a:xfrm>
                <a:off x="1536" y="1920"/>
                <a:ext cx="1329" cy="1081"/>
              </a:xfrm>
              <a:prstGeom prst="rect">
                <a:avLst/>
              </a:prstGeom>
              <a:noFill/>
              <a:ln w="9525">
                <a:noFill/>
                <a:miter lim="800000"/>
              </a:ln>
            </p:spPr>
            <p:txBody>
              <a:bodyPr/>
              <a:lstStyle/>
              <a:p>
                <a:endParaRPr lang="en-US"/>
              </a:p>
            </p:txBody>
          </p:sp>
          <p:sp>
            <p:nvSpPr>
              <p:cNvPr id="1048977" name="Freeform 275"/>
              <p:cNvSpPr/>
              <p:nvPr/>
            </p:nvSpPr>
            <p:spPr bwMode="auto">
              <a:xfrm>
                <a:off x="2597" y="2119"/>
                <a:ext cx="203" cy="91"/>
              </a:xfrm>
              <a:custGeom>
                <a:avLst/>
                <a:gdLst>
                  <a:gd name="T0" fmla="*/ 52 w 407"/>
                  <a:gd name="T1" fmla="*/ 88 h 183"/>
                  <a:gd name="T2" fmla="*/ 61 w 407"/>
                  <a:gd name="T3" fmla="*/ 89 h 183"/>
                  <a:gd name="T4" fmla="*/ 71 w 407"/>
                  <a:gd name="T5" fmla="*/ 89 h 183"/>
                  <a:gd name="T6" fmla="*/ 84 w 407"/>
                  <a:gd name="T7" fmla="*/ 90 h 183"/>
                  <a:gd name="T8" fmla="*/ 98 w 407"/>
                  <a:gd name="T9" fmla="*/ 91 h 183"/>
                  <a:gd name="T10" fmla="*/ 110 w 407"/>
                  <a:gd name="T11" fmla="*/ 91 h 183"/>
                  <a:gd name="T12" fmla="*/ 122 w 407"/>
                  <a:gd name="T13" fmla="*/ 90 h 183"/>
                  <a:gd name="T14" fmla="*/ 131 w 407"/>
                  <a:gd name="T15" fmla="*/ 89 h 183"/>
                  <a:gd name="T16" fmla="*/ 137 w 407"/>
                  <a:gd name="T17" fmla="*/ 86 h 183"/>
                  <a:gd name="T18" fmla="*/ 134 w 407"/>
                  <a:gd name="T19" fmla="*/ 78 h 183"/>
                  <a:gd name="T20" fmla="*/ 127 w 407"/>
                  <a:gd name="T21" fmla="*/ 68 h 183"/>
                  <a:gd name="T22" fmla="*/ 122 w 407"/>
                  <a:gd name="T23" fmla="*/ 60 h 183"/>
                  <a:gd name="T24" fmla="*/ 120 w 407"/>
                  <a:gd name="T25" fmla="*/ 52 h 183"/>
                  <a:gd name="T26" fmla="*/ 118 w 407"/>
                  <a:gd name="T27" fmla="*/ 47 h 183"/>
                  <a:gd name="T28" fmla="*/ 122 w 407"/>
                  <a:gd name="T29" fmla="*/ 47 h 183"/>
                  <a:gd name="T30" fmla="*/ 131 w 407"/>
                  <a:gd name="T31" fmla="*/ 47 h 183"/>
                  <a:gd name="T32" fmla="*/ 142 w 407"/>
                  <a:gd name="T33" fmla="*/ 48 h 183"/>
                  <a:gd name="T34" fmla="*/ 156 w 407"/>
                  <a:gd name="T35" fmla="*/ 49 h 183"/>
                  <a:gd name="T36" fmla="*/ 169 w 407"/>
                  <a:gd name="T37" fmla="*/ 50 h 183"/>
                  <a:gd name="T38" fmla="*/ 181 w 407"/>
                  <a:gd name="T39" fmla="*/ 50 h 183"/>
                  <a:gd name="T40" fmla="*/ 192 w 407"/>
                  <a:gd name="T41" fmla="*/ 50 h 183"/>
                  <a:gd name="T42" fmla="*/ 201 w 407"/>
                  <a:gd name="T43" fmla="*/ 47 h 183"/>
                  <a:gd name="T44" fmla="*/ 198 w 407"/>
                  <a:gd name="T45" fmla="*/ 39 h 183"/>
                  <a:gd name="T46" fmla="*/ 189 w 407"/>
                  <a:gd name="T47" fmla="*/ 33 h 183"/>
                  <a:gd name="T48" fmla="*/ 178 w 407"/>
                  <a:gd name="T49" fmla="*/ 27 h 183"/>
                  <a:gd name="T50" fmla="*/ 167 w 407"/>
                  <a:gd name="T51" fmla="*/ 21 h 183"/>
                  <a:gd name="T52" fmla="*/ 155 w 407"/>
                  <a:gd name="T53" fmla="*/ 15 h 183"/>
                  <a:gd name="T54" fmla="*/ 142 w 407"/>
                  <a:gd name="T55" fmla="*/ 10 h 183"/>
                  <a:gd name="T56" fmla="*/ 130 w 407"/>
                  <a:gd name="T57" fmla="*/ 7 h 183"/>
                  <a:gd name="T58" fmla="*/ 118 w 407"/>
                  <a:gd name="T59" fmla="*/ 3 h 183"/>
                  <a:gd name="T60" fmla="*/ 107 w 407"/>
                  <a:gd name="T61" fmla="*/ 2 h 183"/>
                  <a:gd name="T62" fmla="*/ 96 w 407"/>
                  <a:gd name="T63" fmla="*/ 0 h 183"/>
                  <a:gd name="T64" fmla="*/ 88 w 407"/>
                  <a:gd name="T65" fmla="*/ 1 h 183"/>
                  <a:gd name="T66" fmla="*/ 80 w 407"/>
                  <a:gd name="T67" fmla="*/ 2 h 183"/>
                  <a:gd name="T68" fmla="*/ 74 w 407"/>
                  <a:gd name="T69" fmla="*/ 6 h 183"/>
                  <a:gd name="T70" fmla="*/ 64 w 407"/>
                  <a:gd name="T71" fmla="*/ 9 h 183"/>
                  <a:gd name="T72" fmla="*/ 54 w 407"/>
                  <a:gd name="T73" fmla="*/ 13 h 183"/>
                  <a:gd name="T74" fmla="*/ 43 w 407"/>
                  <a:gd name="T75" fmla="*/ 19 h 183"/>
                  <a:gd name="T76" fmla="*/ 33 w 407"/>
                  <a:gd name="T77" fmla="*/ 25 h 183"/>
                  <a:gd name="T78" fmla="*/ 22 w 407"/>
                  <a:gd name="T79" fmla="*/ 29 h 183"/>
                  <a:gd name="T80" fmla="*/ 14 w 407"/>
                  <a:gd name="T81" fmla="*/ 34 h 183"/>
                  <a:gd name="T82" fmla="*/ 4 w 407"/>
                  <a:gd name="T83" fmla="*/ 38 h 183"/>
                  <a:gd name="T84" fmla="*/ 0 w 407"/>
                  <a:gd name="T85" fmla="*/ 42 h 183"/>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407"/>
                  <a:gd name="T130" fmla="*/ 0 h 183"/>
                  <a:gd name="T131" fmla="*/ 407 w 407"/>
                  <a:gd name="T132" fmla="*/ 183 h 183"/>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407" h="183">
                    <a:moveTo>
                      <a:pt x="97" y="177"/>
                    </a:moveTo>
                    <a:lnTo>
                      <a:pt x="99" y="177"/>
                    </a:lnTo>
                    <a:lnTo>
                      <a:pt x="104" y="177"/>
                    </a:lnTo>
                    <a:lnTo>
                      <a:pt x="108" y="177"/>
                    </a:lnTo>
                    <a:lnTo>
                      <a:pt x="116" y="177"/>
                    </a:lnTo>
                    <a:lnTo>
                      <a:pt x="122" y="179"/>
                    </a:lnTo>
                    <a:lnTo>
                      <a:pt x="129" y="179"/>
                    </a:lnTo>
                    <a:lnTo>
                      <a:pt x="135" y="179"/>
                    </a:lnTo>
                    <a:lnTo>
                      <a:pt x="142" y="179"/>
                    </a:lnTo>
                    <a:lnTo>
                      <a:pt x="152" y="181"/>
                    </a:lnTo>
                    <a:lnTo>
                      <a:pt x="160" y="181"/>
                    </a:lnTo>
                    <a:lnTo>
                      <a:pt x="169" y="181"/>
                    </a:lnTo>
                    <a:lnTo>
                      <a:pt x="179" y="181"/>
                    </a:lnTo>
                    <a:lnTo>
                      <a:pt x="186" y="183"/>
                    </a:lnTo>
                    <a:lnTo>
                      <a:pt x="196" y="183"/>
                    </a:lnTo>
                    <a:lnTo>
                      <a:pt x="205" y="183"/>
                    </a:lnTo>
                    <a:lnTo>
                      <a:pt x="213" y="183"/>
                    </a:lnTo>
                    <a:lnTo>
                      <a:pt x="220" y="183"/>
                    </a:lnTo>
                    <a:lnTo>
                      <a:pt x="230" y="183"/>
                    </a:lnTo>
                    <a:lnTo>
                      <a:pt x="237" y="181"/>
                    </a:lnTo>
                    <a:lnTo>
                      <a:pt x="245" y="181"/>
                    </a:lnTo>
                    <a:lnTo>
                      <a:pt x="251" y="181"/>
                    </a:lnTo>
                    <a:lnTo>
                      <a:pt x="258" y="181"/>
                    </a:lnTo>
                    <a:lnTo>
                      <a:pt x="262" y="179"/>
                    </a:lnTo>
                    <a:lnTo>
                      <a:pt x="268" y="177"/>
                    </a:lnTo>
                    <a:lnTo>
                      <a:pt x="270" y="175"/>
                    </a:lnTo>
                    <a:lnTo>
                      <a:pt x="274" y="173"/>
                    </a:lnTo>
                    <a:lnTo>
                      <a:pt x="276" y="170"/>
                    </a:lnTo>
                    <a:lnTo>
                      <a:pt x="274" y="164"/>
                    </a:lnTo>
                    <a:lnTo>
                      <a:pt x="268" y="156"/>
                    </a:lnTo>
                    <a:lnTo>
                      <a:pt x="262" y="151"/>
                    </a:lnTo>
                    <a:lnTo>
                      <a:pt x="257" y="143"/>
                    </a:lnTo>
                    <a:lnTo>
                      <a:pt x="255" y="137"/>
                    </a:lnTo>
                    <a:lnTo>
                      <a:pt x="251" y="132"/>
                    </a:lnTo>
                    <a:lnTo>
                      <a:pt x="247" y="124"/>
                    </a:lnTo>
                    <a:lnTo>
                      <a:pt x="245" y="120"/>
                    </a:lnTo>
                    <a:lnTo>
                      <a:pt x="243" y="115"/>
                    </a:lnTo>
                    <a:lnTo>
                      <a:pt x="241" y="109"/>
                    </a:lnTo>
                    <a:lnTo>
                      <a:pt x="241" y="105"/>
                    </a:lnTo>
                    <a:lnTo>
                      <a:pt x="239" y="101"/>
                    </a:lnTo>
                    <a:lnTo>
                      <a:pt x="239" y="97"/>
                    </a:lnTo>
                    <a:lnTo>
                      <a:pt x="237" y="94"/>
                    </a:lnTo>
                    <a:lnTo>
                      <a:pt x="239" y="94"/>
                    </a:lnTo>
                    <a:lnTo>
                      <a:pt x="245" y="94"/>
                    </a:lnTo>
                    <a:lnTo>
                      <a:pt x="249" y="94"/>
                    </a:lnTo>
                    <a:lnTo>
                      <a:pt x="257" y="95"/>
                    </a:lnTo>
                    <a:lnTo>
                      <a:pt x="262" y="95"/>
                    </a:lnTo>
                    <a:lnTo>
                      <a:pt x="270" y="97"/>
                    </a:lnTo>
                    <a:lnTo>
                      <a:pt x="277" y="97"/>
                    </a:lnTo>
                    <a:lnTo>
                      <a:pt x="285" y="97"/>
                    </a:lnTo>
                    <a:lnTo>
                      <a:pt x="295" y="97"/>
                    </a:lnTo>
                    <a:lnTo>
                      <a:pt x="302" y="99"/>
                    </a:lnTo>
                    <a:lnTo>
                      <a:pt x="312" y="99"/>
                    </a:lnTo>
                    <a:lnTo>
                      <a:pt x="319" y="101"/>
                    </a:lnTo>
                    <a:lnTo>
                      <a:pt x="329" y="101"/>
                    </a:lnTo>
                    <a:lnTo>
                      <a:pt x="338" y="101"/>
                    </a:lnTo>
                    <a:lnTo>
                      <a:pt x="348" y="101"/>
                    </a:lnTo>
                    <a:lnTo>
                      <a:pt x="355" y="101"/>
                    </a:lnTo>
                    <a:lnTo>
                      <a:pt x="363" y="101"/>
                    </a:lnTo>
                    <a:lnTo>
                      <a:pt x="372" y="101"/>
                    </a:lnTo>
                    <a:lnTo>
                      <a:pt x="378" y="101"/>
                    </a:lnTo>
                    <a:lnTo>
                      <a:pt x="384" y="101"/>
                    </a:lnTo>
                    <a:lnTo>
                      <a:pt x="390" y="99"/>
                    </a:lnTo>
                    <a:lnTo>
                      <a:pt x="397" y="99"/>
                    </a:lnTo>
                    <a:lnTo>
                      <a:pt x="403" y="95"/>
                    </a:lnTo>
                    <a:lnTo>
                      <a:pt x="407" y="92"/>
                    </a:lnTo>
                    <a:lnTo>
                      <a:pt x="403" y="86"/>
                    </a:lnTo>
                    <a:lnTo>
                      <a:pt x="397" y="78"/>
                    </a:lnTo>
                    <a:lnTo>
                      <a:pt x="392" y="75"/>
                    </a:lnTo>
                    <a:lnTo>
                      <a:pt x="384" y="71"/>
                    </a:lnTo>
                    <a:lnTo>
                      <a:pt x="378" y="67"/>
                    </a:lnTo>
                    <a:lnTo>
                      <a:pt x="372" y="63"/>
                    </a:lnTo>
                    <a:lnTo>
                      <a:pt x="365" y="57"/>
                    </a:lnTo>
                    <a:lnTo>
                      <a:pt x="357" y="54"/>
                    </a:lnTo>
                    <a:lnTo>
                      <a:pt x="350" y="50"/>
                    </a:lnTo>
                    <a:lnTo>
                      <a:pt x="342" y="46"/>
                    </a:lnTo>
                    <a:lnTo>
                      <a:pt x="334" y="42"/>
                    </a:lnTo>
                    <a:lnTo>
                      <a:pt x="325" y="38"/>
                    </a:lnTo>
                    <a:lnTo>
                      <a:pt x="317" y="35"/>
                    </a:lnTo>
                    <a:lnTo>
                      <a:pt x="310" y="31"/>
                    </a:lnTo>
                    <a:lnTo>
                      <a:pt x="302" y="27"/>
                    </a:lnTo>
                    <a:lnTo>
                      <a:pt x="295" y="25"/>
                    </a:lnTo>
                    <a:lnTo>
                      <a:pt x="285" y="21"/>
                    </a:lnTo>
                    <a:lnTo>
                      <a:pt x="277" y="19"/>
                    </a:lnTo>
                    <a:lnTo>
                      <a:pt x="268" y="16"/>
                    </a:lnTo>
                    <a:lnTo>
                      <a:pt x="260" y="14"/>
                    </a:lnTo>
                    <a:lnTo>
                      <a:pt x="251" y="12"/>
                    </a:lnTo>
                    <a:lnTo>
                      <a:pt x="243" y="10"/>
                    </a:lnTo>
                    <a:lnTo>
                      <a:pt x="236" y="6"/>
                    </a:lnTo>
                    <a:lnTo>
                      <a:pt x="228" y="6"/>
                    </a:lnTo>
                    <a:lnTo>
                      <a:pt x="220" y="4"/>
                    </a:lnTo>
                    <a:lnTo>
                      <a:pt x="215" y="4"/>
                    </a:lnTo>
                    <a:lnTo>
                      <a:pt x="205" y="2"/>
                    </a:lnTo>
                    <a:lnTo>
                      <a:pt x="199" y="0"/>
                    </a:lnTo>
                    <a:lnTo>
                      <a:pt x="192" y="0"/>
                    </a:lnTo>
                    <a:lnTo>
                      <a:pt x="186" y="0"/>
                    </a:lnTo>
                    <a:lnTo>
                      <a:pt x="182" y="0"/>
                    </a:lnTo>
                    <a:lnTo>
                      <a:pt x="177" y="2"/>
                    </a:lnTo>
                    <a:lnTo>
                      <a:pt x="171" y="2"/>
                    </a:lnTo>
                    <a:lnTo>
                      <a:pt x="167" y="4"/>
                    </a:lnTo>
                    <a:lnTo>
                      <a:pt x="161" y="4"/>
                    </a:lnTo>
                    <a:lnTo>
                      <a:pt x="158" y="6"/>
                    </a:lnTo>
                    <a:lnTo>
                      <a:pt x="152" y="8"/>
                    </a:lnTo>
                    <a:lnTo>
                      <a:pt x="148" y="12"/>
                    </a:lnTo>
                    <a:lnTo>
                      <a:pt x="141" y="14"/>
                    </a:lnTo>
                    <a:lnTo>
                      <a:pt x="135" y="16"/>
                    </a:lnTo>
                    <a:lnTo>
                      <a:pt x="129" y="18"/>
                    </a:lnTo>
                    <a:lnTo>
                      <a:pt x="123" y="21"/>
                    </a:lnTo>
                    <a:lnTo>
                      <a:pt x="116" y="25"/>
                    </a:lnTo>
                    <a:lnTo>
                      <a:pt x="108" y="27"/>
                    </a:lnTo>
                    <a:lnTo>
                      <a:pt x="101" y="31"/>
                    </a:lnTo>
                    <a:lnTo>
                      <a:pt x="95" y="35"/>
                    </a:lnTo>
                    <a:lnTo>
                      <a:pt x="87" y="38"/>
                    </a:lnTo>
                    <a:lnTo>
                      <a:pt x="80" y="42"/>
                    </a:lnTo>
                    <a:lnTo>
                      <a:pt x="74" y="44"/>
                    </a:lnTo>
                    <a:lnTo>
                      <a:pt x="66" y="50"/>
                    </a:lnTo>
                    <a:lnTo>
                      <a:pt x="59" y="52"/>
                    </a:lnTo>
                    <a:lnTo>
                      <a:pt x="53" y="56"/>
                    </a:lnTo>
                    <a:lnTo>
                      <a:pt x="45" y="59"/>
                    </a:lnTo>
                    <a:lnTo>
                      <a:pt x="40" y="63"/>
                    </a:lnTo>
                    <a:lnTo>
                      <a:pt x="34" y="65"/>
                    </a:lnTo>
                    <a:lnTo>
                      <a:pt x="28" y="69"/>
                    </a:lnTo>
                    <a:lnTo>
                      <a:pt x="23" y="71"/>
                    </a:lnTo>
                    <a:lnTo>
                      <a:pt x="19" y="73"/>
                    </a:lnTo>
                    <a:lnTo>
                      <a:pt x="9" y="76"/>
                    </a:lnTo>
                    <a:lnTo>
                      <a:pt x="4" y="80"/>
                    </a:lnTo>
                    <a:lnTo>
                      <a:pt x="0" y="82"/>
                    </a:lnTo>
                    <a:lnTo>
                      <a:pt x="0" y="84"/>
                    </a:lnTo>
                    <a:lnTo>
                      <a:pt x="97" y="177"/>
                    </a:lnTo>
                    <a:close/>
                  </a:path>
                </a:pathLst>
              </a:custGeom>
              <a:solidFill>
                <a:srgbClr val="FAC9B0"/>
              </a:solidFill>
              <a:ln w="9525">
                <a:noFill/>
                <a:round/>
              </a:ln>
            </p:spPr>
            <p:txBody>
              <a:bodyPr/>
              <a:lstStyle/>
              <a:p>
                <a:endParaRPr lang="en-US"/>
              </a:p>
            </p:txBody>
          </p:sp>
          <p:sp>
            <p:nvSpPr>
              <p:cNvPr id="1048978" name="Freeform 276"/>
              <p:cNvSpPr/>
              <p:nvPr/>
            </p:nvSpPr>
            <p:spPr bwMode="auto">
              <a:xfrm>
                <a:off x="2621" y="2784"/>
                <a:ext cx="170" cy="78"/>
              </a:xfrm>
              <a:custGeom>
                <a:avLst/>
                <a:gdLst>
                  <a:gd name="T0" fmla="*/ 0 w 341"/>
                  <a:gd name="T1" fmla="*/ 14 h 156"/>
                  <a:gd name="T2" fmla="*/ 0 w 341"/>
                  <a:gd name="T3" fmla="*/ 78 h 156"/>
                  <a:gd name="T4" fmla="*/ 170 w 341"/>
                  <a:gd name="T5" fmla="*/ 45 h 156"/>
                  <a:gd name="T6" fmla="*/ 169 w 341"/>
                  <a:gd name="T7" fmla="*/ 44 h 156"/>
                  <a:gd name="T8" fmla="*/ 168 w 341"/>
                  <a:gd name="T9" fmla="*/ 43 h 156"/>
                  <a:gd name="T10" fmla="*/ 165 w 341"/>
                  <a:gd name="T11" fmla="*/ 41 h 156"/>
                  <a:gd name="T12" fmla="*/ 163 w 341"/>
                  <a:gd name="T13" fmla="*/ 39 h 156"/>
                  <a:gd name="T14" fmla="*/ 159 w 341"/>
                  <a:gd name="T15" fmla="*/ 35 h 156"/>
                  <a:gd name="T16" fmla="*/ 154 w 341"/>
                  <a:gd name="T17" fmla="*/ 31 h 156"/>
                  <a:gd name="T18" fmla="*/ 152 w 341"/>
                  <a:gd name="T19" fmla="*/ 29 h 156"/>
                  <a:gd name="T20" fmla="*/ 149 w 341"/>
                  <a:gd name="T21" fmla="*/ 28 h 156"/>
                  <a:gd name="T22" fmla="*/ 146 w 341"/>
                  <a:gd name="T23" fmla="*/ 26 h 156"/>
                  <a:gd name="T24" fmla="*/ 143 w 341"/>
                  <a:gd name="T25" fmla="*/ 24 h 156"/>
                  <a:gd name="T26" fmla="*/ 140 w 341"/>
                  <a:gd name="T27" fmla="*/ 21 h 156"/>
                  <a:gd name="T28" fmla="*/ 137 w 341"/>
                  <a:gd name="T29" fmla="*/ 19 h 156"/>
                  <a:gd name="T30" fmla="*/ 134 w 341"/>
                  <a:gd name="T31" fmla="*/ 18 h 156"/>
                  <a:gd name="T32" fmla="*/ 130 w 341"/>
                  <a:gd name="T33" fmla="*/ 15 h 156"/>
                  <a:gd name="T34" fmla="*/ 126 w 341"/>
                  <a:gd name="T35" fmla="*/ 13 h 156"/>
                  <a:gd name="T36" fmla="*/ 124 w 341"/>
                  <a:gd name="T37" fmla="*/ 11 h 156"/>
                  <a:gd name="T38" fmla="*/ 120 w 341"/>
                  <a:gd name="T39" fmla="*/ 10 h 156"/>
                  <a:gd name="T40" fmla="*/ 116 w 341"/>
                  <a:gd name="T41" fmla="*/ 9 h 156"/>
                  <a:gd name="T42" fmla="*/ 111 w 341"/>
                  <a:gd name="T43" fmla="*/ 7 h 156"/>
                  <a:gd name="T44" fmla="*/ 108 w 341"/>
                  <a:gd name="T45" fmla="*/ 5 h 156"/>
                  <a:gd name="T46" fmla="*/ 104 w 341"/>
                  <a:gd name="T47" fmla="*/ 4 h 156"/>
                  <a:gd name="T48" fmla="*/ 100 w 341"/>
                  <a:gd name="T49" fmla="*/ 3 h 156"/>
                  <a:gd name="T50" fmla="*/ 96 w 341"/>
                  <a:gd name="T51" fmla="*/ 2 h 156"/>
                  <a:gd name="T52" fmla="*/ 92 w 341"/>
                  <a:gd name="T53" fmla="*/ 1 h 156"/>
                  <a:gd name="T54" fmla="*/ 87 w 341"/>
                  <a:gd name="T55" fmla="*/ 1 h 156"/>
                  <a:gd name="T56" fmla="*/ 84 w 341"/>
                  <a:gd name="T57" fmla="*/ 1 h 156"/>
                  <a:gd name="T58" fmla="*/ 80 w 341"/>
                  <a:gd name="T59" fmla="*/ 0 h 156"/>
                  <a:gd name="T60" fmla="*/ 76 w 341"/>
                  <a:gd name="T61" fmla="*/ 0 h 156"/>
                  <a:gd name="T62" fmla="*/ 71 w 341"/>
                  <a:gd name="T63" fmla="*/ 0 h 156"/>
                  <a:gd name="T64" fmla="*/ 67 w 341"/>
                  <a:gd name="T65" fmla="*/ 0 h 156"/>
                  <a:gd name="T66" fmla="*/ 64 w 341"/>
                  <a:gd name="T67" fmla="*/ 0 h 156"/>
                  <a:gd name="T68" fmla="*/ 59 w 341"/>
                  <a:gd name="T69" fmla="*/ 0 h 156"/>
                  <a:gd name="T70" fmla="*/ 56 w 341"/>
                  <a:gd name="T71" fmla="*/ 1 h 156"/>
                  <a:gd name="T72" fmla="*/ 52 w 341"/>
                  <a:gd name="T73" fmla="*/ 1 h 156"/>
                  <a:gd name="T74" fmla="*/ 47 w 341"/>
                  <a:gd name="T75" fmla="*/ 1 h 156"/>
                  <a:gd name="T76" fmla="*/ 45 w 341"/>
                  <a:gd name="T77" fmla="*/ 2 h 156"/>
                  <a:gd name="T78" fmla="*/ 41 w 341"/>
                  <a:gd name="T79" fmla="*/ 3 h 156"/>
                  <a:gd name="T80" fmla="*/ 38 w 341"/>
                  <a:gd name="T81" fmla="*/ 4 h 156"/>
                  <a:gd name="T82" fmla="*/ 34 w 341"/>
                  <a:gd name="T83" fmla="*/ 4 h 156"/>
                  <a:gd name="T84" fmla="*/ 30 w 341"/>
                  <a:gd name="T85" fmla="*/ 5 h 156"/>
                  <a:gd name="T86" fmla="*/ 28 w 341"/>
                  <a:gd name="T87" fmla="*/ 6 h 156"/>
                  <a:gd name="T88" fmla="*/ 26 w 341"/>
                  <a:gd name="T89" fmla="*/ 7 h 156"/>
                  <a:gd name="T90" fmla="*/ 22 w 341"/>
                  <a:gd name="T91" fmla="*/ 7 h 156"/>
                  <a:gd name="T92" fmla="*/ 19 w 341"/>
                  <a:gd name="T93" fmla="*/ 8 h 156"/>
                  <a:gd name="T94" fmla="*/ 16 w 341"/>
                  <a:gd name="T95" fmla="*/ 8 h 156"/>
                  <a:gd name="T96" fmla="*/ 14 w 341"/>
                  <a:gd name="T97" fmla="*/ 9 h 156"/>
                  <a:gd name="T98" fmla="*/ 10 w 341"/>
                  <a:gd name="T99" fmla="*/ 10 h 156"/>
                  <a:gd name="T100" fmla="*/ 7 w 341"/>
                  <a:gd name="T101" fmla="*/ 11 h 156"/>
                  <a:gd name="T102" fmla="*/ 3 w 341"/>
                  <a:gd name="T103" fmla="*/ 12 h 156"/>
                  <a:gd name="T104" fmla="*/ 2 w 341"/>
                  <a:gd name="T105" fmla="*/ 13 h 156"/>
                  <a:gd name="T106" fmla="*/ 0 w 341"/>
                  <a:gd name="T107" fmla="*/ 14 h 156"/>
                  <a:gd name="T108" fmla="*/ 0 w 341"/>
                  <a:gd name="T109" fmla="*/ 14 h 156"/>
                  <a:gd name="T110" fmla="*/ 0 w 341"/>
                  <a:gd name="T111" fmla="*/ 14 h 15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w 341"/>
                  <a:gd name="T169" fmla="*/ 0 h 156"/>
                  <a:gd name="T170" fmla="*/ 341 w 341"/>
                  <a:gd name="T171" fmla="*/ 156 h 156"/>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T168" t="T169" r="T170" b="T171"/>
                <a:pathLst>
                  <a:path w="341" h="156">
                    <a:moveTo>
                      <a:pt x="0" y="29"/>
                    </a:moveTo>
                    <a:lnTo>
                      <a:pt x="0" y="156"/>
                    </a:lnTo>
                    <a:lnTo>
                      <a:pt x="341" y="90"/>
                    </a:lnTo>
                    <a:lnTo>
                      <a:pt x="339" y="88"/>
                    </a:lnTo>
                    <a:lnTo>
                      <a:pt x="337" y="86"/>
                    </a:lnTo>
                    <a:lnTo>
                      <a:pt x="331" y="82"/>
                    </a:lnTo>
                    <a:lnTo>
                      <a:pt x="327" y="77"/>
                    </a:lnTo>
                    <a:lnTo>
                      <a:pt x="318" y="69"/>
                    </a:lnTo>
                    <a:lnTo>
                      <a:pt x="308" y="63"/>
                    </a:lnTo>
                    <a:lnTo>
                      <a:pt x="305" y="59"/>
                    </a:lnTo>
                    <a:lnTo>
                      <a:pt x="299" y="56"/>
                    </a:lnTo>
                    <a:lnTo>
                      <a:pt x="293" y="52"/>
                    </a:lnTo>
                    <a:lnTo>
                      <a:pt x="287" y="48"/>
                    </a:lnTo>
                    <a:lnTo>
                      <a:pt x="280" y="42"/>
                    </a:lnTo>
                    <a:lnTo>
                      <a:pt x="274" y="38"/>
                    </a:lnTo>
                    <a:lnTo>
                      <a:pt x="268" y="35"/>
                    </a:lnTo>
                    <a:lnTo>
                      <a:pt x="261" y="31"/>
                    </a:lnTo>
                    <a:lnTo>
                      <a:pt x="253" y="27"/>
                    </a:lnTo>
                    <a:lnTo>
                      <a:pt x="248" y="23"/>
                    </a:lnTo>
                    <a:lnTo>
                      <a:pt x="240" y="19"/>
                    </a:lnTo>
                    <a:lnTo>
                      <a:pt x="232" y="18"/>
                    </a:lnTo>
                    <a:lnTo>
                      <a:pt x="223" y="14"/>
                    </a:lnTo>
                    <a:lnTo>
                      <a:pt x="217" y="10"/>
                    </a:lnTo>
                    <a:lnTo>
                      <a:pt x="208" y="8"/>
                    </a:lnTo>
                    <a:lnTo>
                      <a:pt x="200" y="6"/>
                    </a:lnTo>
                    <a:lnTo>
                      <a:pt x="192" y="4"/>
                    </a:lnTo>
                    <a:lnTo>
                      <a:pt x="185" y="2"/>
                    </a:lnTo>
                    <a:lnTo>
                      <a:pt x="175" y="2"/>
                    </a:lnTo>
                    <a:lnTo>
                      <a:pt x="168" y="2"/>
                    </a:lnTo>
                    <a:lnTo>
                      <a:pt x="160" y="0"/>
                    </a:lnTo>
                    <a:lnTo>
                      <a:pt x="152" y="0"/>
                    </a:lnTo>
                    <a:lnTo>
                      <a:pt x="143" y="0"/>
                    </a:lnTo>
                    <a:lnTo>
                      <a:pt x="135" y="0"/>
                    </a:lnTo>
                    <a:lnTo>
                      <a:pt x="128" y="0"/>
                    </a:lnTo>
                    <a:lnTo>
                      <a:pt x="118" y="0"/>
                    </a:lnTo>
                    <a:lnTo>
                      <a:pt x="113" y="2"/>
                    </a:lnTo>
                    <a:lnTo>
                      <a:pt x="105" y="2"/>
                    </a:lnTo>
                    <a:lnTo>
                      <a:pt x="95" y="2"/>
                    </a:lnTo>
                    <a:lnTo>
                      <a:pt x="90" y="4"/>
                    </a:lnTo>
                    <a:lnTo>
                      <a:pt x="82" y="6"/>
                    </a:lnTo>
                    <a:lnTo>
                      <a:pt x="76" y="8"/>
                    </a:lnTo>
                    <a:lnTo>
                      <a:pt x="69" y="8"/>
                    </a:lnTo>
                    <a:lnTo>
                      <a:pt x="61" y="10"/>
                    </a:lnTo>
                    <a:lnTo>
                      <a:pt x="57" y="12"/>
                    </a:lnTo>
                    <a:lnTo>
                      <a:pt x="52" y="14"/>
                    </a:lnTo>
                    <a:lnTo>
                      <a:pt x="44" y="14"/>
                    </a:lnTo>
                    <a:lnTo>
                      <a:pt x="38" y="16"/>
                    </a:lnTo>
                    <a:lnTo>
                      <a:pt x="33" y="16"/>
                    </a:lnTo>
                    <a:lnTo>
                      <a:pt x="29" y="18"/>
                    </a:lnTo>
                    <a:lnTo>
                      <a:pt x="21" y="21"/>
                    </a:lnTo>
                    <a:lnTo>
                      <a:pt x="14" y="23"/>
                    </a:lnTo>
                    <a:lnTo>
                      <a:pt x="6" y="25"/>
                    </a:lnTo>
                    <a:lnTo>
                      <a:pt x="4" y="27"/>
                    </a:lnTo>
                    <a:lnTo>
                      <a:pt x="0" y="29"/>
                    </a:lnTo>
                    <a:close/>
                  </a:path>
                </a:pathLst>
              </a:custGeom>
              <a:solidFill>
                <a:srgbClr val="85A19C"/>
              </a:solidFill>
              <a:ln w="9525">
                <a:noFill/>
                <a:round/>
              </a:ln>
            </p:spPr>
            <p:txBody>
              <a:bodyPr/>
              <a:lstStyle/>
              <a:p>
                <a:endParaRPr lang="en-US"/>
              </a:p>
            </p:txBody>
          </p:sp>
          <p:sp>
            <p:nvSpPr>
              <p:cNvPr id="1048979" name="Freeform 277"/>
              <p:cNvSpPr/>
              <p:nvPr/>
            </p:nvSpPr>
            <p:spPr bwMode="auto">
              <a:xfrm>
                <a:off x="1878" y="2676"/>
                <a:ext cx="101" cy="184"/>
              </a:xfrm>
              <a:custGeom>
                <a:avLst/>
                <a:gdLst>
                  <a:gd name="T0" fmla="*/ 64 w 202"/>
                  <a:gd name="T1" fmla="*/ 0 h 369"/>
                  <a:gd name="T2" fmla="*/ 60 w 202"/>
                  <a:gd name="T3" fmla="*/ 9 h 369"/>
                  <a:gd name="T4" fmla="*/ 57 w 202"/>
                  <a:gd name="T5" fmla="*/ 14 h 369"/>
                  <a:gd name="T6" fmla="*/ 55 w 202"/>
                  <a:gd name="T7" fmla="*/ 20 h 369"/>
                  <a:gd name="T8" fmla="*/ 53 w 202"/>
                  <a:gd name="T9" fmla="*/ 25 h 369"/>
                  <a:gd name="T10" fmla="*/ 51 w 202"/>
                  <a:gd name="T11" fmla="*/ 32 h 369"/>
                  <a:gd name="T12" fmla="*/ 49 w 202"/>
                  <a:gd name="T13" fmla="*/ 39 h 369"/>
                  <a:gd name="T14" fmla="*/ 46 w 202"/>
                  <a:gd name="T15" fmla="*/ 46 h 369"/>
                  <a:gd name="T16" fmla="*/ 43 w 202"/>
                  <a:gd name="T17" fmla="*/ 53 h 369"/>
                  <a:gd name="T18" fmla="*/ 41 w 202"/>
                  <a:gd name="T19" fmla="*/ 61 h 369"/>
                  <a:gd name="T20" fmla="*/ 39 w 202"/>
                  <a:gd name="T21" fmla="*/ 68 h 369"/>
                  <a:gd name="T22" fmla="*/ 36 w 202"/>
                  <a:gd name="T23" fmla="*/ 77 h 369"/>
                  <a:gd name="T24" fmla="*/ 33 w 202"/>
                  <a:gd name="T25" fmla="*/ 84 h 369"/>
                  <a:gd name="T26" fmla="*/ 29 w 202"/>
                  <a:gd name="T27" fmla="*/ 92 h 369"/>
                  <a:gd name="T28" fmla="*/ 28 w 202"/>
                  <a:gd name="T29" fmla="*/ 99 h 369"/>
                  <a:gd name="T30" fmla="*/ 25 w 202"/>
                  <a:gd name="T31" fmla="*/ 108 h 369"/>
                  <a:gd name="T32" fmla="*/ 22 w 202"/>
                  <a:gd name="T33" fmla="*/ 116 h 369"/>
                  <a:gd name="T34" fmla="*/ 19 w 202"/>
                  <a:gd name="T35" fmla="*/ 122 h 369"/>
                  <a:gd name="T36" fmla="*/ 18 w 202"/>
                  <a:gd name="T37" fmla="*/ 130 h 369"/>
                  <a:gd name="T38" fmla="*/ 14 w 202"/>
                  <a:gd name="T39" fmla="*/ 137 h 369"/>
                  <a:gd name="T40" fmla="*/ 13 w 202"/>
                  <a:gd name="T41" fmla="*/ 143 h 369"/>
                  <a:gd name="T42" fmla="*/ 11 w 202"/>
                  <a:gd name="T43" fmla="*/ 150 h 369"/>
                  <a:gd name="T44" fmla="*/ 9 w 202"/>
                  <a:gd name="T45" fmla="*/ 156 h 369"/>
                  <a:gd name="T46" fmla="*/ 7 w 202"/>
                  <a:gd name="T47" fmla="*/ 161 h 369"/>
                  <a:gd name="T48" fmla="*/ 4 w 202"/>
                  <a:gd name="T49" fmla="*/ 171 h 369"/>
                  <a:gd name="T50" fmla="*/ 1 w 202"/>
                  <a:gd name="T51" fmla="*/ 178 h 369"/>
                  <a:gd name="T52" fmla="*/ 0 w 202"/>
                  <a:gd name="T53" fmla="*/ 182 h 369"/>
                  <a:gd name="T54" fmla="*/ 0 w 202"/>
                  <a:gd name="T55" fmla="*/ 184 h 369"/>
                  <a:gd name="T56" fmla="*/ 4 w 202"/>
                  <a:gd name="T57" fmla="*/ 181 h 369"/>
                  <a:gd name="T58" fmla="*/ 9 w 202"/>
                  <a:gd name="T59" fmla="*/ 178 h 369"/>
                  <a:gd name="T60" fmla="*/ 17 w 202"/>
                  <a:gd name="T61" fmla="*/ 174 h 369"/>
                  <a:gd name="T62" fmla="*/ 24 w 202"/>
                  <a:gd name="T63" fmla="*/ 168 h 369"/>
                  <a:gd name="T64" fmla="*/ 33 w 202"/>
                  <a:gd name="T65" fmla="*/ 162 h 369"/>
                  <a:gd name="T66" fmla="*/ 42 w 202"/>
                  <a:gd name="T67" fmla="*/ 156 h 369"/>
                  <a:gd name="T68" fmla="*/ 47 w 202"/>
                  <a:gd name="T69" fmla="*/ 152 h 369"/>
                  <a:gd name="T70" fmla="*/ 52 w 202"/>
                  <a:gd name="T71" fmla="*/ 149 h 369"/>
                  <a:gd name="T72" fmla="*/ 61 w 202"/>
                  <a:gd name="T73" fmla="*/ 140 h 369"/>
                  <a:gd name="T74" fmla="*/ 71 w 202"/>
                  <a:gd name="T75" fmla="*/ 133 h 369"/>
                  <a:gd name="T76" fmla="*/ 79 w 202"/>
                  <a:gd name="T77" fmla="*/ 125 h 369"/>
                  <a:gd name="T78" fmla="*/ 87 w 202"/>
                  <a:gd name="T79" fmla="*/ 117 h 369"/>
                  <a:gd name="T80" fmla="*/ 94 w 202"/>
                  <a:gd name="T81" fmla="*/ 110 h 369"/>
                  <a:gd name="T82" fmla="*/ 97 w 202"/>
                  <a:gd name="T83" fmla="*/ 103 h 369"/>
                  <a:gd name="T84" fmla="*/ 100 w 202"/>
                  <a:gd name="T85" fmla="*/ 96 h 369"/>
                  <a:gd name="T86" fmla="*/ 101 w 202"/>
                  <a:gd name="T87" fmla="*/ 91 h 369"/>
                  <a:gd name="T88" fmla="*/ 100 w 202"/>
                  <a:gd name="T89" fmla="*/ 85 h 369"/>
                  <a:gd name="T90" fmla="*/ 99 w 202"/>
                  <a:gd name="T91" fmla="*/ 80 h 369"/>
                  <a:gd name="T92" fmla="*/ 99 w 202"/>
                  <a:gd name="T93" fmla="*/ 71 h 369"/>
                  <a:gd name="T94" fmla="*/ 99 w 202"/>
                  <a:gd name="T95" fmla="*/ 62 h 369"/>
                  <a:gd name="T96" fmla="*/ 99 w 202"/>
                  <a:gd name="T97" fmla="*/ 56 h 369"/>
                  <a:gd name="T98" fmla="*/ 99 w 202"/>
                  <a:gd name="T99" fmla="*/ 50 h 369"/>
                  <a:gd name="T100" fmla="*/ 100 w 202"/>
                  <a:gd name="T101" fmla="*/ 46 h 369"/>
                  <a:gd name="T102" fmla="*/ 101 w 202"/>
                  <a:gd name="T103" fmla="*/ 42 h 369"/>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w 202"/>
                  <a:gd name="T157" fmla="*/ 0 h 369"/>
                  <a:gd name="T158" fmla="*/ 202 w 202"/>
                  <a:gd name="T159" fmla="*/ 369 h 369"/>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T156" t="T157" r="T158" b="T159"/>
                <a:pathLst>
                  <a:path w="202" h="369">
                    <a:moveTo>
                      <a:pt x="202" y="85"/>
                    </a:moveTo>
                    <a:lnTo>
                      <a:pt x="128" y="0"/>
                    </a:lnTo>
                    <a:lnTo>
                      <a:pt x="124" y="7"/>
                    </a:lnTo>
                    <a:lnTo>
                      <a:pt x="120" y="19"/>
                    </a:lnTo>
                    <a:lnTo>
                      <a:pt x="116" y="23"/>
                    </a:lnTo>
                    <a:lnTo>
                      <a:pt x="115" y="28"/>
                    </a:lnTo>
                    <a:lnTo>
                      <a:pt x="113" y="34"/>
                    </a:lnTo>
                    <a:lnTo>
                      <a:pt x="111" y="40"/>
                    </a:lnTo>
                    <a:lnTo>
                      <a:pt x="109" y="45"/>
                    </a:lnTo>
                    <a:lnTo>
                      <a:pt x="107" y="51"/>
                    </a:lnTo>
                    <a:lnTo>
                      <a:pt x="103" y="57"/>
                    </a:lnTo>
                    <a:lnTo>
                      <a:pt x="101" y="64"/>
                    </a:lnTo>
                    <a:lnTo>
                      <a:pt x="99" y="72"/>
                    </a:lnTo>
                    <a:lnTo>
                      <a:pt x="97" y="78"/>
                    </a:lnTo>
                    <a:lnTo>
                      <a:pt x="94" y="85"/>
                    </a:lnTo>
                    <a:lnTo>
                      <a:pt x="92" y="93"/>
                    </a:lnTo>
                    <a:lnTo>
                      <a:pt x="90" y="100"/>
                    </a:lnTo>
                    <a:lnTo>
                      <a:pt x="86" y="106"/>
                    </a:lnTo>
                    <a:lnTo>
                      <a:pt x="84" y="114"/>
                    </a:lnTo>
                    <a:lnTo>
                      <a:pt x="82" y="123"/>
                    </a:lnTo>
                    <a:lnTo>
                      <a:pt x="78" y="131"/>
                    </a:lnTo>
                    <a:lnTo>
                      <a:pt x="77" y="137"/>
                    </a:lnTo>
                    <a:lnTo>
                      <a:pt x="73" y="144"/>
                    </a:lnTo>
                    <a:lnTo>
                      <a:pt x="71" y="154"/>
                    </a:lnTo>
                    <a:lnTo>
                      <a:pt x="69" y="161"/>
                    </a:lnTo>
                    <a:lnTo>
                      <a:pt x="65" y="169"/>
                    </a:lnTo>
                    <a:lnTo>
                      <a:pt x="63" y="177"/>
                    </a:lnTo>
                    <a:lnTo>
                      <a:pt x="59" y="184"/>
                    </a:lnTo>
                    <a:lnTo>
                      <a:pt x="58" y="192"/>
                    </a:lnTo>
                    <a:lnTo>
                      <a:pt x="56" y="199"/>
                    </a:lnTo>
                    <a:lnTo>
                      <a:pt x="52" y="209"/>
                    </a:lnTo>
                    <a:lnTo>
                      <a:pt x="50" y="216"/>
                    </a:lnTo>
                    <a:lnTo>
                      <a:pt x="48" y="222"/>
                    </a:lnTo>
                    <a:lnTo>
                      <a:pt x="44" y="232"/>
                    </a:lnTo>
                    <a:lnTo>
                      <a:pt x="42" y="237"/>
                    </a:lnTo>
                    <a:lnTo>
                      <a:pt x="38" y="245"/>
                    </a:lnTo>
                    <a:lnTo>
                      <a:pt x="37" y="253"/>
                    </a:lnTo>
                    <a:lnTo>
                      <a:pt x="35" y="260"/>
                    </a:lnTo>
                    <a:lnTo>
                      <a:pt x="33" y="268"/>
                    </a:lnTo>
                    <a:lnTo>
                      <a:pt x="29" y="275"/>
                    </a:lnTo>
                    <a:lnTo>
                      <a:pt x="27" y="281"/>
                    </a:lnTo>
                    <a:lnTo>
                      <a:pt x="25" y="287"/>
                    </a:lnTo>
                    <a:lnTo>
                      <a:pt x="23" y="294"/>
                    </a:lnTo>
                    <a:lnTo>
                      <a:pt x="21" y="300"/>
                    </a:lnTo>
                    <a:lnTo>
                      <a:pt x="19" y="306"/>
                    </a:lnTo>
                    <a:lnTo>
                      <a:pt x="18" y="312"/>
                    </a:lnTo>
                    <a:lnTo>
                      <a:pt x="16" y="317"/>
                    </a:lnTo>
                    <a:lnTo>
                      <a:pt x="14" y="323"/>
                    </a:lnTo>
                    <a:lnTo>
                      <a:pt x="10" y="332"/>
                    </a:lnTo>
                    <a:lnTo>
                      <a:pt x="8" y="342"/>
                    </a:lnTo>
                    <a:lnTo>
                      <a:pt x="4" y="350"/>
                    </a:lnTo>
                    <a:lnTo>
                      <a:pt x="2" y="357"/>
                    </a:lnTo>
                    <a:lnTo>
                      <a:pt x="0" y="361"/>
                    </a:lnTo>
                    <a:lnTo>
                      <a:pt x="0" y="365"/>
                    </a:lnTo>
                    <a:lnTo>
                      <a:pt x="0" y="367"/>
                    </a:lnTo>
                    <a:lnTo>
                      <a:pt x="0" y="369"/>
                    </a:lnTo>
                    <a:lnTo>
                      <a:pt x="0" y="367"/>
                    </a:lnTo>
                    <a:lnTo>
                      <a:pt x="8" y="363"/>
                    </a:lnTo>
                    <a:lnTo>
                      <a:pt x="12" y="359"/>
                    </a:lnTo>
                    <a:lnTo>
                      <a:pt x="18" y="357"/>
                    </a:lnTo>
                    <a:lnTo>
                      <a:pt x="23" y="351"/>
                    </a:lnTo>
                    <a:lnTo>
                      <a:pt x="33" y="348"/>
                    </a:lnTo>
                    <a:lnTo>
                      <a:pt x="38" y="342"/>
                    </a:lnTo>
                    <a:lnTo>
                      <a:pt x="48" y="336"/>
                    </a:lnTo>
                    <a:lnTo>
                      <a:pt x="56" y="331"/>
                    </a:lnTo>
                    <a:lnTo>
                      <a:pt x="65" y="325"/>
                    </a:lnTo>
                    <a:lnTo>
                      <a:pt x="75" y="317"/>
                    </a:lnTo>
                    <a:lnTo>
                      <a:pt x="84" y="312"/>
                    </a:lnTo>
                    <a:lnTo>
                      <a:pt x="88" y="308"/>
                    </a:lnTo>
                    <a:lnTo>
                      <a:pt x="94" y="304"/>
                    </a:lnTo>
                    <a:lnTo>
                      <a:pt x="99" y="300"/>
                    </a:lnTo>
                    <a:lnTo>
                      <a:pt x="105" y="298"/>
                    </a:lnTo>
                    <a:lnTo>
                      <a:pt x="113" y="289"/>
                    </a:lnTo>
                    <a:lnTo>
                      <a:pt x="122" y="281"/>
                    </a:lnTo>
                    <a:lnTo>
                      <a:pt x="132" y="274"/>
                    </a:lnTo>
                    <a:lnTo>
                      <a:pt x="141" y="266"/>
                    </a:lnTo>
                    <a:lnTo>
                      <a:pt x="151" y="258"/>
                    </a:lnTo>
                    <a:lnTo>
                      <a:pt x="158" y="251"/>
                    </a:lnTo>
                    <a:lnTo>
                      <a:pt x="166" y="243"/>
                    </a:lnTo>
                    <a:lnTo>
                      <a:pt x="173" y="235"/>
                    </a:lnTo>
                    <a:lnTo>
                      <a:pt x="179" y="228"/>
                    </a:lnTo>
                    <a:lnTo>
                      <a:pt x="187" y="220"/>
                    </a:lnTo>
                    <a:lnTo>
                      <a:pt x="191" y="213"/>
                    </a:lnTo>
                    <a:lnTo>
                      <a:pt x="194" y="207"/>
                    </a:lnTo>
                    <a:lnTo>
                      <a:pt x="198" y="199"/>
                    </a:lnTo>
                    <a:lnTo>
                      <a:pt x="200" y="192"/>
                    </a:lnTo>
                    <a:lnTo>
                      <a:pt x="202" y="188"/>
                    </a:lnTo>
                    <a:lnTo>
                      <a:pt x="202" y="182"/>
                    </a:lnTo>
                    <a:lnTo>
                      <a:pt x="200" y="177"/>
                    </a:lnTo>
                    <a:lnTo>
                      <a:pt x="200" y="171"/>
                    </a:lnTo>
                    <a:lnTo>
                      <a:pt x="198" y="165"/>
                    </a:lnTo>
                    <a:lnTo>
                      <a:pt x="198" y="161"/>
                    </a:lnTo>
                    <a:lnTo>
                      <a:pt x="198" y="150"/>
                    </a:lnTo>
                    <a:lnTo>
                      <a:pt x="198" y="142"/>
                    </a:lnTo>
                    <a:lnTo>
                      <a:pt x="198" y="133"/>
                    </a:lnTo>
                    <a:lnTo>
                      <a:pt x="198" y="125"/>
                    </a:lnTo>
                    <a:lnTo>
                      <a:pt x="198" y="118"/>
                    </a:lnTo>
                    <a:lnTo>
                      <a:pt x="198" y="112"/>
                    </a:lnTo>
                    <a:lnTo>
                      <a:pt x="198" y="104"/>
                    </a:lnTo>
                    <a:lnTo>
                      <a:pt x="198" y="100"/>
                    </a:lnTo>
                    <a:lnTo>
                      <a:pt x="200" y="95"/>
                    </a:lnTo>
                    <a:lnTo>
                      <a:pt x="200" y="93"/>
                    </a:lnTo>
                    <a:lnTo>
                      <a:pt x="202" y="87"/>
                    </a:lnTo>
                    <a:lnTo>
                      <a:pt x="202" y="85"/>
                    </a:lnTo>
                    <a:close/>
                  </a:path>
                </a:pathLst>
              </a:custGeom>
              <a:solidFill>
                <a:srgbClr val="85A19C"/>
              </a:solidFill>
              <a:ln w="9525">
                <a:noFill/>
                <a:round/>
              </a:ln>
            </p:spPr>
            <p:txBody>
              <a:bodyPr/>
              <a:lstStyle/>
              <a:p>
                <a:endParaRPr lang="en-US"/>
              </a:p>
            </p:txBody>
          </p:sp>
          <p:sp>
            <p:nvSpPr>
              <p:cNvPr id="1048980" name="Freeform 278"/>
              <p:cNvSpPr/>
              <p:nvPr/>
            </p:nvSpPr>
            <p:spPr bwMode="auto">
              <a:xfrm>
                <a:off x="1644" y="2427"/>
                <a:ext cx="332" cy="300"/>
              </a:xfrm>
              <a:custGeom>
                <a:avLst/>
                <a:gdLst>
                  <a:gd name="T0" fmla="*/ 182 w 663"/>
                  <a:gd name="T1" fmla="*/ 0 h 601"/>
                  <a:gd name="T2" fmla="*/ 0 w 663"/>
                  <a:gd name="T3" fmla="*/ 84 h 601"/>
                  <a:gd name="T4" fmla="*/ 155 w 663"/>
                  <a:gd name="T5" fmla="*/ 300 h 601"/>
                  <a:gd name="T6" fmla="*/ 332 w 663"/>
                  <a:gd name="T7" fmla="*/ 194 h 601"/>
                  <a:gd name="T8" fmla="*/ 182 w 663"/>
                  <a:gd name="T9" fmla="*/ 0 h 601"/>
                  <a:gd name="T10" fmla="*/ 182 w 663"/>
                  <a:gd name="T11" fmla="*/ 0 h 601"/>
                  <a:gd name="T12" fmla="*/ 0 60000 65536"/>
                  <a:gd name="T13" fmla="*/ 0 60000 65536"/>
                  <a:gd name="T14" fmla="*/ 0 60000 65536"/>
                  <a:gd name="T15" fmla="*/ 0 60000 65536"/>
                  <a:gd name="T16" fmla="*/ 0 60000 65536"/>
                  <a:gd name="T17" fmla="*/ 0 60000 65536"/>
                  <a:gd name="T18" fmla="*/ 0 w 663"/>
                  <a:gd name="T19" fmla="*/ 0 h 601"/>
                  <a:gd name="T20" fmla="*/ 663 w 663"/>
                  <a:gd name="T21" fmla="*/ 601 h 601"/>
                </a:gdLst>
                <a:ahLst/>
                <a:cxnLst>
                  <a:cxn ang="T12">
                    <a:pos x="T0" y="T1"/>
                  </a:cxn>
                  <a:cxn ang="T13">
                    <a:pos x="T2" y="T3"/>
                  </a:cxn>
                  <a:cxn ang="T14">
                    <a:pos x="T4" y="T5"/>
                  </a:cxn>
                  <a:cxn ang="T15">
                    <a:pos x="T6" y="T7"/>
                  </a:cxn>
                  <a:cxn ang="T16">
                    <a:pos x="T8" y="T9"/>
                  </a:cxn>
                  <a:cxn ang="T17">
                    <a:pos x="T10" y="T11"/>
                  </a:cxn>
                </a:cxnLst>
                <a:rect l="T18" t="T19" r="T20" b="T21"/>
                <a:pathLst>
                  <a:path w="663" h="601">
                    <a:moveTo>
                      <a:pt x="363" y="0"/>
                    </a:moveTo>
                    <a:lnTo>
                      <a:pt x="0" y="168"/>
                    </a:lnTo>
                    <a:lnTo>
                      <a:pt x="310" y="601"/>
                    </a:lnTo>
                    <a:lnTo>
                      <a:pt x="663" y="388"/>
                    </a:lnTo>
                    <a:lnTo>
                      <a:pt x="363" y="0"/>
                    </a:lnTo>
                    <a:close/>
                  </a:path>
                </a:pathLst>
              </a:custGeom>
              <a:solidFill>
                <a:srgbClr val="FFFFFF"/>
              </a:solidFill>
              <a:ln w="9525">
                <a:noFill/>
                <a:round/>
              </a:ln>
            </p:spPr>
            <p:txBody>
              <a:bodyPr/>
              <a:lstStyle/>
              <a:p>
                <a:endParaRPr lang="en-US"/>
              </a:p>
            </p:txBody>
          </p:sp>
          <p:sp>
            <p:nvSpPr>
              <p:cNvPr id="1048981" name="Freeform 279"/>
              <p:cNvSpPr/>
              <p:nvPr/>
            </p:nvSpPr>
            <p:spPr bwMode="auto">
              <a:xfrm>
                <a:off x="2179" y="2027"/>
                <a:ext cx="131" cy="197"/>
              </a:xfrm>
              <a:custGeom>
                <a:avLst/>
                <a:gdLst>
                  <a:gd name="T0" fmla="*/ 0 w 263"/>
                  <a:gd name="T1" fmla="*/ 0 h 393"/>
                  <a:gd name="T2" fmla="*/ 105 w 263"/>
                  <a:gd name="T3" fmla="*/ 22 h 393"/>
                  <a:gd name="T4" fmla="*/ 107 w 263"/>
                  <a:gd name="T5" fmla="*/ 24 h 393"/>
                  <a:gd name="T6" fmla="*/ 108 w 263"/>
                  <a:gd name="T7" fmla="*/ 26 h 393"/>
                  <a:gd name="T8" fmla="*/ 111 w 263"/>
                  <a:gd name="T9" fmla="*/ 29 h 393"/>
                  <a:gd name="T10" fmla="*/ 114 w 263"/>
                  <a:gd name="T11" fmla="*/ 33 h 393"/>
                  <a:gd name="T12" fmla="*/ 117 w 263"/>
                  <a:gd name="T13" fmla="*/ 37 h 393"/>
                  <a:gd name="T14" fmla="*/ 119 w 263"/>
                  <a:gd name="T15" fmla="*/ 39 h 393"/>
                  <a:gd name="T16" fmla="*/ 120 w 263"/>
                  <a:gd name="T17" fmla="*/ 42 h 393"/>
                  <a:gd name="T18" fmla="*/ 122 w 263"/>
                  <a:gd name="T19" fmla="*/ 44 h 393"/>
                  <a:gd name="T20" fmla="*/ 123 w 263"/>
                  <a:gd name="T21" fmla="*/ 47 h 393"/>
                  <a:gd name="T22" fmla="*/ 124 w 263"/>
                  <a:gd name="T23" fmla="*/ 50 h 393"/>
                  <a:gd name="T24" fmla="*/ 125 w 263"/>
                  <a:gd name="T25" fmla="*/ 52 h 393"/>
                  <a:gd name="T26" fmla="*/ 126 w 263"/>
                  <a:gd name="T27" fmla="*/ 55 h 393"/>
                  <a:gd name="T28" fmla="*/ 128 w 263"/>
                  <a:gd name="T29" fmla="*/ 57 h 393"/>
                  <a:gd name="T30" fmla="*/ 128 w 263"/>
                  <a:gd name="T31" fmla="*/ 60 h 393"/>
                  <a:gd name="T32" fmla="*/ 129 w 263"/>
                  <a:gd name="T33" fmla="*/ 63 h 393"/>
                  <a:gd name="T34" fmla="*/ 130 w 263"/>
                  <a:gd name="T35" fmla="*/ 66 h 393"/>
                  <a:gd name="T36" fmla="*/ 131 w 263"/>
                  <a:gd name="T37" fmla="*/ 69 h 393"/>
                  <a:gd name="T38" fmla="*/ 131 w 263"/>
                  <a:gd name="T39" fmla="*/ 71 h 393"/>
                  <a:gd name="T40" fmla="*/ 131 w 263"/>
                  <a:gd name="T41" fmla="*/ 73 h 393"/>
                  <a:gd name="T42" fmla="*/ 130 w 263"/>
                  <a:gd name="T43" fmla="*/ 76 h 393"/>
                  <a:gd name="T44" fmla="*/ 130 w 263"/>
                  <a:gd name="T45" fmla="*/ 79 h 393"/>
                  <a:gd name="T46" fmla="*/ 128 w 263"/>
                  <a:gd name="T47" fmla="*/ 84 h 393"/>
                  <a:gd name="T48" fmla="*/ 125 w 263"/>
                  <a:gd name="T49" fmla="*/ 89 h 393"/>
                  <a:gd name="T50" fmla="*/ 122 w 263"/>
                  <a:gd name="T51" fmla="*/ 92 h 393"/>
                  <a:gd name="T52" fmla="*/ 118 w 263"/>
                  <a:gd name="T53" fmla="*/ 96 h 393"/>
                  <a:gd name="T54" fmla="*/ 113 w 263"/>
                  <a:gd name="T55" fmla="*/ 100 h 393"/>
                  <a:gd name="T56" fmla="*/ 108 w 263"/>
                  <a:gd name="T57" fmla="*/ 104 h 393"/>
                  <a:gd name="T58" fmla="*/ 104 w 263"/>
                  <a:gd name="T59" fmla="*/ 107 h 393"/>
                  <a:gd name="T60" fmla="*/ 100 w 263"/>
                  <a:gd name="T61" fmla="*/ 110 h 393"/>
                  <a:gd name="T62" fmla="*/ 95 w 263"/>
                  <a:gd name="T63" fmla="*/ 112 h 393"/>
                  <a:gd name="T64" fmla="*/ 91 w 263"/>
                  <a:gd name="T65" fmla="*/ 116 h 393"/>
                  <a:gd name="T66" fmla="*/ 87 w 263"/>
                  <a:gd name="T67" fmla="*/ 118 h 393"/>
                  <a:gd name="T68" fmla="*/ 84 w 263"/>
                  <a:gd name="T69" fmla="*/ 120 h 393"/>
                  <a:gd name="T70" fmla="*/ 80 w 263"/>
                  <a:gd name="T71" fmla="*/ 122 h 393"/>
                  <a:gd name="T72" fmla="*/ 78 w 263"/>
                  <a:gd name="T73" fmla="*/ 124 h 393"/>
                  <a:gd name="T74" fmla="*/ 73 w 263"/>
                  <a:gd name="T75" fmla="*/ 126 h 393"/>
                  <a:gd name="T76" fmla="*/ 72 w 263"/>
                  <a:gd name="T77" fmla="*/ 127 h 393"/>
                  <a:gd name="T78" fmla="*/ 104 w 263"/>
                  <a:gd name="T79" fmla="*/ 188 h 393"/>
                  <a:gd name="T80" fmla="*/ 75 w 263"/>
                  <a:gd name="T81" fmla="*/ 197 h 393"/>
                  <a:gd name="T82" fmla="*/ 2 w 263"/>
                  <a:gd name="T83" fmla="*/ 197 h 393"/>
                  <a:gd name="T84" fmla="*/ 12 w 263"/>
                  <a:gd name="T85" fmla="*/ 111 h 393"/>
                  <a:gd name="T86" fmla="*/ 0 w 263"/>
                  <a:gd name="T87" fmla="*/ 0 h 393"/>
                  <a:gd name="T88" fmla="*/ 0 w 263"/>
                  <a:gd name="T89" fmla="*/ 0 h 393"/>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263"/>
                  <a:gd name="T136" fmla="*/ 0 h 393"/>
                  <a:gd name="T137" fmla="*/ 263 w 263"/>
                  <a:gd name="T138" fmla="*/ 393 h 393"/>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263" h="393">
                    <a:moveTo>
                      <a:pt x="0" y="0"/>
                    </a:moveTo>
                    <a:lnTo>
                      <a:pt x="211" y="44"/>
                    </a:lnTo>
                    <a:lnTo>
                      <a:pt x="215" y="47"/>
                    </a:lnTo>
                    <a:lnTo>
                      <a:pt x="217" y="51"/>
                    </a:lnTo>
                    <a:lnTo>
                      <a:pt x="223" y="57"/>
                    </a:lnTo>
                    <a:lnTo>
                      <a:pt x="228" y="65"/>
                    </a:lnTo>
                    <a:lnTo>
                      <a:pt x="234" y="74"/>
                    </a:lnTo>
                    <a:lnTo>
                      <a:pt x="238" y="78"/>
                    </a:lnTo>
                    <a:lnTo>
                      <a:pt x="240" y="84"/>
                    </a:lnTo>
                    <a:lnTo>
                      <a:pt x="244" y="87"/>
                    </a:lnTo>
                    <a:lnTo>
                      <a:pt x="247" y="93"/>
                    </a:lnTo>
                    <a:lnTo>
                      <a:pt x="249" y="99"/>
                    </a:lnTo>
                    <a:lnTo>
                      <a:pt x="251" y="104"/>
                    </a:lnTo>
                    <a:lnTo>
                      <a:pt x="253" y="110"/>
                    </a:lnTo>
                    <a:lnTo>
                      <a:pt x="257" y="114"/>
                    </a:lnTo>
                    <a:lnTo>
                      <a:pt x="257" y="120"/>
                    </a:lnTo>
                    <a:lnTo>
                      <a:pt x="259" y="125"/>
                    </a:lnTo>
                    <a:lnTo>
                      <a:pt x="261" y="131"/>
                    </a:lnTo>
                    <a:lnTo>
                      <a:pt x="263" y="137"/>
                    </a:lnTo>
                    <a:lnTo>
                      <a:pt x="263" y="142"/>
                    </a:lnTo>
                    <a:lnTo>
                      <a:pt x="263" y="146"/>
                    </a:lnTo>
                    <a:lnTo>
                      <a:pt x="261" y="152"/>
                    </a:lnTo>
                    <a:lnTo>
                      <a:pt x="261" y="158"/>
                    </a:lnTo>
                    <a:lnTo>
                      <a:pt x="257" y="167"/>
                    </a:lnTo>
                    <a:lnTo>
                      <a:pt x="251" y="177"/>
                    </a:lnTo>
                    <a:lnTo>
                      <a:pt x="244" y="184"/>
                    </a:lnTo>
                    <a:lnTo>
                      <a:pt x="236" y="192"/>
                    </a:lnTo>
                    <a:lnTo>
                      <a:pt x="227" y="200"/>
                    </a:lnTo>
                    <a:lnTo>
                      <a:pt x="217" y="207"/>
                    </a:lnTo>
                    <a:lnTo>
                      <a:pt x="209" y="213"/>
                    </a:lnTo>
                    <a:lnTo>
                      <a:pt x="200" y="220"/>
                    </a:lnTo>
                    <a:lnTo>
                      <a:pt x="190" y="224"/>
                    </a:lnTo>
                    <a:lnTo>
                      <a:pt x="183" y="232"/>
                    </a:lnTo>
                    <a:lnTo>
                      <a:pt x="175" y="236"/>
                    </a:lnTo>
                    <a:lnTo>
                      <a:pt x="168" y="239"/>
                    </a:lnTo>
                    <a:lnTo>
                      <a:pt x="160" y="243"/>
                    </a:lnTo>
                    <a:lnTo>
                      <a:pt x="156" y="247"/>
                    </a:lnTo>
                    <a:lnTo>
                      <a:pt x="147" y="251"/>
                    </a:lnTo>
                    <a:lnTo>
                      <a:pt x="145" y="253"/>
                    </a:lnTo>
                    <a:lnTo>
                      <a:pt x="208" y="376"/>
                    </a:lnTo>
                    <a:lnTo>
                      <a:pt x="150" y="393"/>
                    </a:lnTo>
                    <a:lnTo>
                      <a:pt x="4" y="393"/>
                    </a:lnTo>
                    <a:lnTo>
                      <a:pt x="25" y="222"/>
                    </a:lnTo>
                    <a:lnTo>
                      <a:pt x="0" y="0"/>
                    </a:lnTo>
                    <a:close/>
                  </a:path>
                </a:pathLst>
              </a:custGeom>
              <a:solidFill>
                <a:srgbClr val="FAC9B0"/>
              </a:solidFill>
              <a:ln w="9525">
                <a:noFill/>
                <a:round/>
              </a:ln>
            </p:spPr>
            <p:txBody>
              <a:bodyPr/>
              <a:lstStyle/>
              <a:p>
                <a:endParaRPr lang="en-US"/>
              </a:p>
            </p:txBody>
          </p:sp>
          <p:sp>
            <p:nvSpPr>
              <p:cNvPr id="1048982" name="Freeform 280"/>
              <p:cNvSpPr/>
              <p:nvPr/>
            </p:nvSpPr>
            <p:spPr bwMode="auto">
              <a:xfrm>
                <a:off x="1815" y="2502"/>
                <a:ext cx="144" cy="77"/>
              </a:xfrm>
              <a:custGeom>
                <a:avLst/>
                <a:gdLst>
                  <a:gd name="T0" fmla="*/ 139 w 287"/>
                  <a:gd name="T1" fmla="*/ 13 h 154"/>
                  <a:gd name="T2" fmla="*/ 139 w 287"/>
                  <a:gd name="T3" fmla="*/ 18 h 154"/>
                  <a:gd name="T4" fmla="*/ 140 w 287"/>
                  <a:gd name="T5" fmla="*/ 23 h 154"/>
                  <a:gd name="T6" fmla="*/ 141 w 287"/>
                  <a:gd name="T7" fmla="*/ 29 h 154"/>
                  <a:gd name="T8" fmla="*/ 142 w 287"/>
                  <a:gd name="T9" fmla="*/ 34 h 154"/>
                  <a:gd name="T10" fmla="*/ 143 w 287"/>
                  <a:gd name="T11" fmla="*/ 40 h 154"/>
                  <a:gd name="T12" fmla="*/ 143 w 287"/>
                  <a:gd name="T13" fmla="*/ 45 h 154"/>
                  <a:gd name="T14" fmla="*/ 144 w 287"/>
                  <a:gd name="T15" fmla="*/ 51 h 154"/>
                  <a:gd name="T16" fmla="*/ 144 w 287"/>
                  <a:gd name="T17" fmla="*/ 57 h 154"/>
                  <a:gd name="T18" fmla="*/ 144 w 287"/>
                  <a:gd name="T19" fmla="*/ 61 h 154"/>
                  <a:gd name="T20" fmla="*/ 144 w 287"/>
                  <a:gd name="T21" fmla="*/ 69 h 154"/>
                  <a:gd name="T22" fmla="*/ 142 w 287"/>
                  <a:gd name="T23" fmla="*/ 75 h 154"/>
                  <a:gd name="T24" fmla="*/ 138 w 287"/>
                  <a:gd name="T25" fmla="*/ 77 h 154"/>
                  <a:gd name="T26" fmla="*/ 131 w 287"/>
                  <a:gd name="T27" fmla="*/ 76 h 154"/>
                  <a:gd name="T28" fmla="*/ 123 w 287"/>
                  <a:gd name="T29" fmla="*/ 73 h 154"/>
                  <a:gd name="T30" fmla="*/ 114 w 287"/>
                  <a:gd name="T31" fmla="*/ 70 h 154"/>
                  <a:gd name="T32" fmla="*/ 105 w 287"/>
                  <a:gd name="T33" fmla="*/ 65 h 154"/>
                  <a:gd name="T34" fmla="*/ 95 w 287"/>
                  <a:gd name="T35" fmla="*/ 60 h 154"/>
                  <a:gd name="T36" fmla="*/ 90 w 287"/>
                  <a:gd name="T37" fmla="*/ 57 h 154"/>
                  <a:gd name="T38" fmla="*/ 85 w 287"/>
                  <a:gd name="T39" fmla="*/ 55 h 154"/>
                  <a:gd name="T40" fmla="*/ 1 w 287"/>
                  <a:gd name="T41" fmla="*/ 65 h 154"/>
                  <a:gd name="T42" fmla="*/ 0 w 287"/>
                  <a:gd name="T43" fmla="*/ 59 h 154"/>
                  <a:gd name="T44" fmla="*/ 1 w 287"/>
                  <a:gd name="T45" fmla="*/ 52 h 154"/>
                  <a:gd name="T46" fmla="*/ 1 w 287"/>
                  <a:gd name="T47" fmla="*/ 46 h 154"/>
                  <a:gd name="T48" fmla="*/ 2 w 287"/>
                  <a:gd name="T49" fmla="*/ 41 h 154"/>
                  <a:gd name="T50" fmla="*/ 4 w 287"/>
                  <a:gd name="T51" fmla="*/ 35 h 154"/>
                  <a:gd name="T52" fmla="*/ 7 w 287"/>
                  <a:gd name="T53" fmla="*/ 29 h 154"/>
                  <a:gd name="T54" fmla="*/ 10 w 287"/>
                  <a:gd name="T55" fmla="*/ 22 h 154"/>
                  <a:gd name="T56" fmla="*/ 14 w 287"/>
                  <a:gd name="T57" fmla="*/ 17 h 154"/>
                  <a:gd name="T58" fmla="*/ 20 w 287"/>
                  <a:gd name="T59" fmla="*/ 12 h 154"/>
                  <a:gd name="T60" fmla="*/ 27 w 287"/>
                  <a:gd name="T61" fmla="*/ 6 h 154"/>
                  <a:gd name="T62" fmla="*/ 34 w 287"/>
                  <a:gd name="T63" fmla="*/ 3 h 154"/>
                  <a:gd name="T64" fmla="*/ 42 w 287"/>
                  <a:gd name="T65" fmla="*/ 2 h 154"/>
                  <a:gd name="T66" fmla="*/ 48 w 287"/>
                  <a:gd name="T67" fmla="*/ 0 h 154"/>
                  <a:gd name="T68" fmla="*/ 53 w 287"/>
                  <a:gd name="T69" fmla="*/ 0 h 154"/>
                  <a:gd name="T70" fmla="*/ 59 w 287"/>
                  <a:gd name="T71" fmla="*/ 0 h 154"/>
                  <a:gd name="T72" fmla="*/ 66 w 287"/>
                  <a:gd name="T73" fmla="*/ 0 h 154"/>
                  <a:gd name="T74" fmla="*/ 72 w 287"/>
                  <a:gd name="T75" fmla="*/ 0 h 154"/>
                  <a:gd name="T76" fmla="*/ 78 w 287"/>
                  <a:gd name="T77" fmla="*/ 0 h 154"/>
                  <a:gd name="T78" fmla="*/ 84 w 287"/>
                  <a:gd name="T79" fmla="*/ 0 h 154"/>
                  <a:gd name="T80" fmla="*/ 91 w 287"/>
                  <a:gd name="T81" fmla="*/ 0 h 154"/>
                  <a:gd name="T82" fmla="*/ 100 w 287"/>
                  <a:gd name="T83" fmla="*/ 1 h 154"/>
                  <a:gd name="T84" fmla="*/ 108 w 287"/>
                  <a:gd name="T85" fmla="*/ 2 h 154"/>
                  <a:gd name="T86" fmla="*/ 115 w 287"/>
                  <a:gd name="T87" fmla="*/ 2 h 154"/>
                  <a:gd name="T88" fmla="*/ 120 w 287"/>
                  <a:gd name="T89" fmla="*/ 3 h 154"/>
                  <a:gd name="T90" fmla="*/ 126 w 287"/>
                  <a:gd name="T91" fmla="*/ 5 h 154"/>
                  <a:gd name="T92" fmla="*/ 130 w 287"/>
                  <a:gd name="T93" fmla="*/ 6 h 154"/>
                  <a:gd name="T94" fmla="*/ 134 w 287"/>
                  <a:gd name="T95" fmla="*/ 10 h 154"/>
                  <a:gd name="T96" fmla="*/ 138 w 287"/>
                  <a:gd name="T97" fmla="*/ 12 h 154"/>
                  <a:gd name="T98" fmla="*/ 139 w 287"/>
                  <a:gd name="T99" fmla="*/ 13 h 154"/>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w 287"/>
                  <a:gd name="T151" fmla="*/ 0 h 154"/>
                  <a:gd name="T152" fmla="*/ 287 w 287"/>
                  <a:gd name="T153" fmla="*/ 154 h 154"/>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T150" t="T151" r="T152" b="T153"/>
                <a:pathLst>
                  <a:path w="287" h="154">
                    <a:moveTo>
                      <a:pt x="278" y="26"/>
                    </a:moveTo>
                    <a:lnTo>
                      <a:pt x="278" y="26"/>
                    </a:lnTo>
                    <a:lnTo>
                      <a:pt x="278" y="30"/>
                    </a:lnTo>
                    <a:lnTo>
                      <a:pt x="278" y="36"/>
                    </a:lnTo>
                    <a:lnTo>
                      <a:pt x="279" y="43"/>
                    </a:lnTo>
                    <a:lnTo>
                      <a:pt x="279" y="47"/>
                    </a:lnTo>
                    <a:lnTo>
                      <a:pt x="281" y="53"/>
                    </a:lnTo>
                    <a:lnTo>
                      <a:pt x="281" y="59"/>
                    </a:lnTo>
                    <a:lnTo>
                      <a:pt x="283" y="62"/>
                    </a:lnTo>
                    <a:lnTo>
                      <a:pt x="283" y="68"/>
                    </a:lnTo>
                    <a:lnTo>
                      <a:pt x="283" y="74"/>
                    </a:lnTo>
                    <a:lnTo>
                      <a:pt x="285" y="80"/>
                    </a:lnTo>
                    <a:lnTo>
                      <a:pt x="285" y="85"/>
                    </a:lnTo>
                    <a:lnTo>
                      <a:pt x="285" y="91"/>
                    </a:lnTo>
                    <a:lnTo>
                      <a:pt x="287" y="97"/>
                    </a:lnTo>
                    <a:lnTo>
                      <a:pt x="287" y="102"/>
                    </a:lnTo>
                    <a:lnTo>
                      <a:pt x="287" y="108"/>
                    </a:lnTo>
                    <a:lnTo>
                      <a:pt x="287" y="114"/>
                    </a:lnTo>
                    <a:lnTo>
                      <a:pt x="287" y="118"/>
                    </a:lnTo>
                    <a:lnTo>
                      <a:pt x="287" y="123"/>
                    </a:lnTo>
                    <a:lnTo>
                      <a:pt x="287" y="129"/>
                    </a:lnTo>
                    <a:lnTo>
                      <a:pt x="287" y="137"/>
                    </a:lnTo>
                    <a:lnTo>
                      <a:pt x="285" y="144"/>
                    </a:lnTo>
                    <a:lnTo>
                      <a:pt x="283" y="150"/>
                    </a:lnTo>
                    <a:lnTo>
                      <a:pt x="281" y="154"/>
                    </a:lnTo>
                    <a:lnTo>
                      <a:pt x="276" y="154"/>
                    </a:lnTo>
                    <a:lnTo>
                      <a:pt x="270" y="154"/>
                    </a:lnTo>
                    <a:lnTo>
                      <a:pt x="262" y="152"/>
                    </a:lnTo>
                    <a:lnTo>
                      <a:pt x="257" y="150"/>
                    </a:lnTo>
                    <a:lnTo>
                      <a:pt x="245" y="146"/>
                    </a:lnTo>
                    <a:lnTo>
                      <a:pt x="236" y="142"/>
                    </a:lnTo>
                    <a:lnTo>
                      <a:pt x="228" y="139"/>
                    </a:lnTo>
                    <a:lnTo>
                      <a:pt x="219" y="135"/>
                    </a:lnTo>
                    <a:lnTo>
                      <a:pt x="209" y="129"/>
                    </a:lnTo>
                    <a:lnTo>
                      <a:pt x="200" y="125"/>
                    </a:lnTo>
                    <a:lnTo>
                      <a:pt x="190" y="120"/>
                    </a:lnTo>
                    <a:lnTo>
                      <a:pt x="184" y="118"/>
                    </a:lnTo>
                    <a:lnTo>
                      <a:pt x="179" y="114"/>
                    </a:lnTo>
                    <a:lnTo>
                      <a:pt x="173" y="112"/>
                    </a:lnTo>
                    <a:lnTo>
                      <a:pt x="169" y="110"/>
                    </a:lnTo>
                    <a:lnTo>
                      <a:pt x="2" y="131"/>
                    </a:lnTo>
                    <a:lnTo>
                      <a:pt x="2" y="129"/>
                    </a:lnTo>
                    <a:lnTo>
                      <a:pt x="2" y="125"/>
                    </a:lnTo>
                    <a:lnTo>
                      <a:pt x="0" y="118"/>
                    </a:lnTo>
                    <a:lnTo>
                      <a:pt x="2" y="110"/>
                    </a:lnTo>
                    <a:lnTo>
                      <a:pt x="2" y="104"/>
                    </a:lnTo>
                    <a:lnTo>
                      <a:pt x="2" y="99"/>
                    </a:lnTo>
                    <a:lnTo>
                      <a:pt x="2" y="93"/>
                    </a:lnTo>
                    <a:lnTo>
                      <a:pt x="4" y="89"/>
                    </a:lnTo>
                    <a:lnTo>
                      <a:pt x="4" y="83"/>
                    </a:lnTo>
                    <a:lnTo>
                      <a:pt x="6" y="78"/>
                    </a:lnTo>
                    <a:lnTo>
                      <a:pt x="8" y="70"/>
                    </a:lnTo>
                    <a:lnTo>
                      <a:pt x="11" y="64"/>
                    </a:lnTo>
                    <a:lnTo>
                      <a:pt x="13" y="59"/>
                    </a:lnTo>
                    <a:lnTo>
                      <a:pt x="15" y="53"/>
                    </a:lnTo>
                    <a:lnTo>
                      <a:pt x="19" y="45"/>
                    </a:lnTo>
                    <a:lnTo>
                      <a:pt x="23" y="40"/>
                    </a:lnTo>
                    <a:lnTo>
                      <a:pt x="28" y="34"/>
                    </a:lnTo>
                    <a:lnTo>
                      <a:pt x="34" y="30"/>
                    </a:lnTo>
                    <a:lnTo>
                      <a:pt x="40" y="24"/>
                    </a:lnTo>
                    <a:lnTo>
                      <a:pt x="48" y="19"/>
                    </a:lnTo>
                    <a:lnTo>
                      <a:pt x="53" y="13"/>
                    </a:lnTo>
                    <a:lnTo>
                      <a:pt x="61" y="9"/>
                    </a:lnTo>
                    <a:lnTo>
                      <a:pt x="68" y="7"/>
                    </a:lnTo>
                    <a:lnTo>
                      <a:pt x="78" y="4"/>
                    </a:lnTo>
                    <a:lnTo>
                      <a:pt x="84" y="4"/>
                    </a:lnTo>
                    <a:lnTo>
                      <a:pt x="89" y="2"/>
                    </a:lnTo>
                    <a:lnTo>
                      <a:pt x="95" y="0"/>
                    </a:lnTo>
                    <a:lnTo>
                      <a:pt x="99" y="0"/>
                    </a:lnTo>
                    <a:lnTo>
                      <a:pt x="105" y="0"/>
                    </a:lnTo>
                    <a:lnTo>
                      <a:pt x="112" y="0"/>
                    </a:lnTo>
                    <a:lnTo>
                      <a:pt x="118" y="0"/>
                    </a:lnTo>
                    <a:lnTo>
                      <a:pt x="125" y="0"/>
                    </a:lnTo>
                    <a:lnTo>
                      <a:pt x="131" y="0"/>
                    </a:lnTo>
                    <a:lnTo>
                      <a:pt x="137" y="0"/>
                    </a:lnTo>
                    <a:lnTo>
                      <a:pt x="144" y="0"/>
                    </a:lnTo>
                    <a:lnTo>
                      <a:pt x="150" y="0"/>
                    </a:lnTo>
                    <a:lnTo>
                      <a:pt x="156" y="0"/>
                    </a:lnTo>
                    <a:lnTo>
                      <a:pt x="162" y="0"/>
                    </a:lnTo>
                    <a:lnTo>
                      <a:pt x="167" y="0"/>
                    </a:lnTo>
                    <a:lnTo>
                      <a:pt x="173" y="0"/>
                    </a:lnTo>
                    <a:lnTo>
                      <a:pt x="181" y="0"/>
                    </a:lnTo>
                    <a:lnTo>
                      <a:pt x="192" y="0"/>
                    </a:lnTo>
                    <a:lnTo>
                      <a:pt x="200" y="2"/>
                    </a:lnTo>
                    <a:lnTo>
                      <a:pt x="209" y="4"/>
                    </a:lnTo>
                    <a:lnTo>
                      <a:pt x="215" y="4"/>
                    </a:lnTo>
                    <a:lnTo>
                      <a:pt x="222" y="4"/>
                    </a:lnTo>
                    <a:lnTo>
                      <a:pt x="230" y="4"/>
                    </a:lnTo>
                    <a:lnTo>
                      <a:pt x="236" y="5"/>
                    </a:lnTo>
                    <a:lnTo>
                      <a:pt x="240" y="7"/>
                    </a:lnTo>
                    <a:lnTo>
                      <a:pt x="245" y="9"/>
                    </a:lnTo>
                    <a:lnTo>
                      <a:pt x="251" y="9"/>
                    </a:lnTo>
                    <a:lnTo>
                      <a:pt x="255" y="11"/>
                    </a:lnTo>
                    <a:lnTo>
                      <a:pt x="260" y="13"/>
                    </a:lnTo>
                    <a:lnTo>
                      <a:pt x="266" y="17"/>
                    </a:lnTo>
                    <a:lnTo>
                      <a:pt x="268" y="19"/>
                    </a:lnTo>
                    <a:lnTo>
                      <a:pt x="272" y="21"/>
                    </a:lnTo>
                    <a:lnTo>
                      <a:pt x="276" y="24"/>
                    </a:lnTo>
                    <a:lnTo>
                      <a:pt x="278" y="26"/>
                    </a:lnTo>
                    <a:close/>
                  </a:path>
                </a:pathLst>
              </a:custGeom>
              <a:solidFill>
                <a:srgbClr val="FAC9B0"/>
              </a:solidFill>
              <a:ln w="9525">
                <a:noFill/>
                <a:round/>
              </a:ln>
            </p:spPr>
            <p:txBody>
              <a:bodyPr/>
              <a:lstStyle/>
              <a:p>
                <a:endParaRPr lang="en-US"/>
              </a:p>
            </p:txBody>
          </p:sp>
          <p:sp>
            <p:nvSpPr>
              <p:cNvPr id="1048983" name="Freeform 281"/>
              <p:cNvSpPr/>
              <p:nvPr/>
            </p:nvSpPr>
            <p:spPr bwMode="auto">
              <a:xfrm>
                <a:off x="2098" y="1996"/>
                <a:ext cx="142" cy="145"/>
              </a:xfrm>
              <a:custGeom>
                <a:avLst/>
                <a:gdLst>
                  <a:gd name="T0" fmla="*/ 140 w 285"/>
                  <a:gd name="T1" fmla="*/ 30 h 289"/>
                  <a:gd name="T2" fmla="*/ 130 w 285"/>
                  <a:gd name="T3" fmla="*/ 21 h 289"/>
                  <a:gd name="T4" fmla="*/ 119 w 285"/>
                  <a:gd name="T5" fmla="*/ 15 h 289"/>
                  <a:gd name="T6" fmla="*/ 110 w 285"/>
                  <a:gd name="T7" fmla="*/ 10 h 289"/>
                  <a:gd name="T8" fmla="*/ 99 w 285"/>
                  <a:gd name="T9" fmla="*/ 5 h 289"/>
                  <a:gd name="T10" fmla="*/ 89 w 285"/>
                  <a:gd name="T11" fmla="*/ 2 h 289"/>
                  <a:gd name="T12" fmla="*/ 77 w 285"/>
                  <a:gd name="T13" fmla="*/ 0 h 289"/>
                  <a:gd name="T14" fmla="*/ 64 w 285"/>
                  <a:gd name="T15" fmla="*/ 1 h 289"/>
                  <a:gd name="T16" fmla="*/ 53 w 285"/>
                  <a:gd name="T17" fmla="*/ 5 h 289"/>
                  <a:gd name="T18" fmla="*/ 41 w 285"/>
                  <a:gd name="T19" fmla="*/ 12 h 289"/>
                  <a:gd name="T20" fmla="*/ 31 w 285"/>
                  <a:gd name="T21" fmla="*/ 21 h 289"/>
                  <a:gd name="T22" fmla="*/ 21 w 285"/>
                  <a:gd name="T23" fmla="*/ 34 h 289"/>
                  <a:gd name="T24" fmla="*/ 13 w 285"/>
                  <a:gd name="T25" fmla="*/ 47 h 289"/>
                  <a:gd name="T26" fmla="*/ 10 w 285"/>
                  <a:gd name="T27" fmla="*/ 55 h 289"/>
                  <a:gd name="T28" fmla="*/ 7 w 285"/>
                  <a:gd name="T29" fmla="*/ 62 h 289"/>
                  <a:gd name="T30" fmla="*/ 3 w 285"/>
                  <a:gd name="T31" fmla="*/ 73 h 289"/>
                  <a:gd name="T32" fmla="*/ 1 w 285"/>
                  <a:gd name="T33" fmla="*/ 83 h 289"/>
                  <a:gd name="T34" fmla="*/ 0 w 285"/>
                  <a:gd name="T35" fmla="*/ 93 h 289"/>
                  <a:gd name="T36" fmla="*/ 0 w 285"/>
                  <a:gd name="T37" fmla="*/ 103 h 289"/>
                  <a:gd name="T38" fmla="*/ 1 w 285"/>
                  <a:gd name="T39" fmla="*/ 112 h 289"/>
                  <a:gd name="T40" fmla="*/ 5 w 285"/>
                  <a:gd name="T41" fmla="*/ 124 h 289"/>
                  <a:gd name="T42" fmla="*/ 12 w 285"/>
                  <a:gd name="T43" fmla="*/ 133 h 289"/>
                  <a:gd name="T44" fmla="*/ 22 w 285"/>
                  <a:gd name="T45" fmla="*/ 140 h 289"/>
                  <a:gd name="T46" fmla="*/ 32 w 285"/>
                  <a:gd name="T47" fmla="*/ 143 h 289"/>
                  <a:gd name="T48" fmla="*/ 42 w 285"/>
                  <a:gd name="T49" fmla="*/ 145 h 289"/>
                  <a:gd name="T50" fmla="*/ 52 w 285"/>
                  <a:gd name="T51" fmla="*/ 145 h 289"/>
                  <a:gd name="T52" fmla="*/ 61 w 285"/>
                  <a:gd name="T53" fmla="*/ 144 h 289"/>
                  <a:gd name="T54" fmla="*/ 72 w 285"/>
                  <a:gd name="T55" fmla="*/ 142 h 289"/>
                  <a:gd name="T56" fmla="*/ 84 w 285"/>
                  <a:gd name="T57" fmla="*/ 137 h 289"/>
                  <a:gd name="T58" fmla="*/ 91 w 285"/>
                  <a:gd name="T59" fmla="*/ 133 h 289"/>
                  <a:gd name="T60" fmla="*/ 91 w 285"/>
                  <a:gd name="T61" fmla="*/ 131 h 289"/>
                  <a:gd name="T62" fmla="*/ 90 w 285"/>
                  <a:gd name="T63" fmla="*/ 121 h 289"/>
                  <a:gd name="T64" fmla="*/ 90 w 285"/>
                  <a:gd name="T65" fmla="*/ 112 h 289"/>
                  <a:gd name="T66" fmla="*/ 90 w 285"/>
                  <a:gd name="T67" fmla="*/ 103 h 289"/>
                  <a:gd name="T68" fmla="*/ 90 w 285"/>
                  <a:gd name="T69" fmla="*/ 93 h 289"/>
                  <a:gd name="T70" fmla="*/ 92 w 285"/>
                  <a:gd name="T71" fmla="*/ 82 h 289"/>
                  <a:gd name="T72" fmla="*/ 95 w 285"/>
                  <a:gd name="T73" fmla="*/ 73 h 289"/>
                  <a:gd name="T74" fmla="*/ 98 w 285"/>
                  <a:gd name="T75" fmla="*/ 63 h 289"/>
                  <a:gd name="T76" fmla="*/ 104 w 285"/>
                  <a:gd name="T77" fmla="*/ 55 h 289"/>
                  <a:gd name="T78" fmla="*/ 114 w 285"/>
                  <a:gd name="T79" fmla="*/ 48 h 289"/>
                  <a:gd name="T80" fmla="*/ 125 w 285"/>
                  <a:gd name="T81" fmla="*/ 40 h 289"/>
                  <a:gd name="T82" fmla="*/ 133 w 285"/>
                  <a:gd name="T83" fmla="*/ 35 h 289"/>
                  <a:gd name="T84" fmla="*/ 140 w 285"/>
                  <a:gd name="T85" fmla="*/ 32 h 289"/>
                  <a:gd name="T86" fmla="*/ 142 w 285"/>
                  <a:gd name="T87" fmla="*/ 32 h 289"/>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285"/>
                  <a:gd name="T133" fmla="*/ 0 h 289"/>
                  <a:gd name="T134" fmla="*/ 285 w 285"/>
                  <a:gd name="T135" fmla="*/ 289 h 289"/>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285" h="289">
                    <a:moveTo>
                      <a:pt x="285" y="63"/>
                    </a:moveTo>
                    <a:lnTo>
                      <a:pt x="283" y="61"/>
                    </a:lnTo>
                    <a:lnTo>
                      <a:pt x="281" y="59"/>
                    </a:lnTo>
                    <a:lnTo>
                      <a:pt x="275" y="53"/>
                    </a:lnTo>
                    <a:lnTo>
                      <a:pt x="268" y="50"/>
                    </a:lnTo>
                    <a:lnTo>
                      <a:pt x="260" y="42"/>
                    </a:lnTo>
                    <a:lnTo>
                      <a:pt x="251" y="36"/>
                    </a:lnTo>
                    <a:lnTo>
                      <a:pt x="243" y="32"/>
                    </a:lnTo>
                    <a:lnTo>
                      <a:pt x="239" y="29"/>
                    </a:lnTo>
                    <a:lnTo>
                      <a:pt x="234" y="25"/>
                    </a:lnTo>
                    <a:lnTo>
                      <a:pt x="228" y="23"/>
                    </a:lnTo>
                    <a:lnTo>
                      <a:pt x="220" y="19"/>
                    </a:lnTo>
                    <a:lnTo>
                      <a:pt x="213" y="15"/>
                    </a:lnTo>
                    <a:lnTo>
                      <a:pt x="207" y="12"/>
                    </a:lnTo>
                    <a:lnTo>
                      <a:pt x="199" y="10"/>
                    </a:lnTo>
                    <a:lnTo>
                      <a:pt x="192" y="6"/>
                    </a:lnTo>
                    <a:lnTo>
                      <a:pt x="184" y="6"/>
                    </a:lnTo>
                    <a:lnTo>
                      <a:pt x="178" y="4"/>
                    </a:lnTo>
                    <a:lnTo>
                      <a:pt x="171" y="2"/>
                    </a:lnTo>
                    <a:lnTo>
                      <a:pt x="161" y="0"/>
                    </a:lnTo>
                    <a:lnTo>
                      <a:pt x="154" y="0"/>
                    </a:lnTo>
                    <a:lnTo>
                      <a:pt x="146" y="0"/>
                    </a:lnTo>
                    <a:lnTo>
                      <a:pt x="138" y="2"/>
                    </a:lnTo>
                    <a:lnTo>
                      <a:pt x="129" y="2"/>
                    </a:lnTo>
                    <a:lnTo>
                      <a:pt x="123" y="4"/>
                    </a:lnTo>
                    <a:lnTo>
                      <a:pt x="114" y="6"/>
                    </a:lnTo>
                    <a:lnTo>
                      <a:pt x="106" y="10"/>
                    </a:lnTo>
                    <a:lnTo>
                      <a:pt x="99" y="13"/>
                    </a:lnTo>
                    <a:lnTo>
                      <a:pt x="91" y="17"/>
                    </a:lnTo>
                    <a:lnTo>
                      <a:pt x="83" y="23"/>
                    </a:lnTo>
                    <a:lnTo>
                      <a:pt x="76" y="29"/>
                    </a:lnTo>
                    <a:lnTo>
                      <a:pt x="68" y="34"/>
                    </a:lnTo>
                    <a:lnTo>
                      <a:pt x="62" y="42"/>
                    </a:lnTo>
                    <a:lnTo>
                      <a:pt x="55" y="50"/>
                    </a:lnTo>
                    <a:lnTo>
                      <a:pt x="51" y="59"/>
                    </a:lnTo>
                    <a:lnTo>
                      <a:pt x="43" y="67"/>
                    </a:lnTo>
                    <a:lnTo>
                      <a:pt x="38" y="74"/>
                    </a:lnTo>
                    <a:lnTo>
                      <a:pt x="32" y="84"/>
                    </a:lnTo>
                    <a:lnTo>
                      <a:pt x="26" y="93"/>
                    </a:lnTo>
                    <a:lnTo>
                      <a:pt x="24" y="99"/>
                    </a:lnTo>
                    <a:lnTo>
                      <a:pt x="22" y="105"/>
                    </a:lnTo>
                    <a:lnTo>
                      <a:pt x="21" y="109"/>
                    </a:lnTo>
                    <a:lnTo>
                      <a:pt x="19" y="114"/>
                    </a:lnTo>
                    <a:lnTo>
                      <a:pt x="15" y="120"/>
                    </a:lnTo>
                    <a:lnTo>
                      <a:pt x="15" y="124"/>
                    </a:lnTo>
                    <a:lnTo>
                      <a:pt x="13" y="129"/>
                    </a:lnTo>
                    <a:lnTo>
                      <a:pt x="11" y="135"/>
                    </a:lnTo>
                    <a:lnTo>
                      <a:pt x="7" y="145"/>
                    </a:lnTo>
                    <a:lnTo>
                      <a:pt x="5" y="154"/>
                    </a:lnTo>
                    <a:lnTo>
                      <a:pt x="3" y="160"/>
                    </a:lnTo>
                    <a:lnTo>
                      <a:pt x="2" y="166"/>
                    </a:lnTo>
                    <a:lnTo>
                      <a:pt x="2" y="169"/>
                    </a:lnTo>
                    <a:lnTo>
                      <a:pt x="2" y="175"/>
                    </a:lnTo>
                    <a:lnTo>
                      <a:pt x="0" y="185"/>
                    </a:lnTo>
                    <a:lnTo>
                      <a:pt x="0" y="194"/>
                    </a:lnTo>
                    <a:lnTo>
                      <a:pt x="0" y="200"/>
                    </a:lnTo>
                    <a:lnTo>
                      <a:pt x="0" y="205"/>
                    </a:lnTo>
                    <a:lnTo>
                      <a:pt x="0" y="209"/>
                    </a:lnTo>
                    <a:lnTo>
                      <a:pt x="2" y="215"/>
                    </a:lnTo>
                    <a:lnTo>
                      <a:pt x="2" y="223"/>
                    </a:lnTo>
                    <a:lnTo>
                      <a:pt x="5" y="232"/>
                    </a:lnTo>
                    <a:lnTo>
                      <a:pt x="7" y="238"/>
                    </a:lnTo>
                    <a:lnTo>
                      <a:pt x="11" y="247"/>
                    </a:lnTo>
                    <a:lnTo>
                      <a:pt x="15" y="253"/>
                    </a:lnTo>
                    <a:lnTo>
                      <a:pt x="21" y="261"/>
                    </a:lnTo>
                    <a:lnTo>
                      <a:pt x="24" y="266"/>
                    </a:lnTo>
                    <a:lnTo>
                      <a:pt x="32" y="272"/>
                    </a:lnTo>
                    <a:lnTo>
                      <a:pt x="38" y="276"/>
                    </a:lnTo>
                    <a:lnTo>
                      <a:pt x="45" y="280"/>
                    </a:lnTo>
                    <a:lnTo>
                      <a:pt x="51" y="282"/>
                    </a:lnTo>
                    <a:lnTo>
                      <a:pt x="59" y="285"/>
                    </a:lnTo>
                    <a:lnTo>
                      <a:pt x="64" y="285"/>
                    </a:lnTo>
                    <a:lnTo>
                      <a:pt x="72" y="287"/>
                    </a:lnTo>
                    <a:lnTo>
                      <a:pt x="78" y="287"/>
                    </a:lnTo>
                    <a:lnTo>
                      <a:pt x="85" y="289"/>
                    </a:lnTo>
                    <a:lnTo>
                      <a:pt x="91" y="289"/>
                    </a:lnTo>
                    <a:lnTo>
                      <a:pt x="99" y="289"/>
                    </a:lnTo>
                    <a:lnTo>
                      <a:pt x="104" y="289"/>
                    </a:lnTo>
                    <a:lnTo>
                      <a:pt x="110" y="289"/>
                    </a:lnTo>
                    <a:lnTo>
                      <a:pt x="116" y="289"/>
                    </a:lnTo>
                    <a:lnTo>
                      <a:pt x="123" y="287"/>
                    </a:lnTo>
                    <a:lnTo>
                      <a:pt x="129" y="287"/>
                    </a:lnTo>
                    <a:lnTo>
                      <a:pt x="135" y="287"/>
                    </a:lnTo>
                    <a:lnTo>
                      <a:pt x="144" y="283"/>
                    </a:lnTo>
                    <a:lnTo>
                      <a:pt x="154" y="282"/>
                    </a:lnTo>
                    <a:lnTo>
                      <a:pt x="161" y="278"/>
                    </a:lnTo>
                    <a:lnTo>
                      <a:pt x="169" y="274"/>
                    </a:lnTo>
                    <a:lnTo>
                      <a:pt x="175" y="270"/>
                    </a:lnTo>
                    <a:lnTo>
                      <a:pt x="178" y="268"/>
                    </a:lnTo>
                    <a:lnTo>
                      <a:pt x="182" y="266"/>
                    </a:lnTo>
                    <a:lnTo>
                      <a:pt x="184" y="266"/>
                    </a:lnTo>
                    <a:lnTo>
                      <a:pt x="182" y="264"/>
                    </a:lnTo>
                    <a:lnTo>
                      <a:pt x="182" y="261"/>
                    </a:lnTo>
                    <a:lnTo>
                      <a:pt x="180" y="255"/>
                    </a:lnTo>
                    <a:lnTo>
                      <a:pt x="180" y="247"/>
                    </a:lnTo>
                    <a:lnTo>
                      <a:pt x="180" y="242"/>
                    </a:lnTo>
                    <a:lnTo>
                      <a:pt x="180" y="236"/>
                    </a:lnTo>
                    <a:lnTo>
                      <a:pt x="180" y="230"/>
                    </a:lnTo>
                    <a:lnTo>
                      <a:pt x="180" y="224"/>
                    </a:lnTo>
                    <a:lnTo>
                      <a:pt x="180" y="219"/>
                    </a:lnTo>
                    <a:lnTo>
                      <a:pt x="180" y="211"/>
                    </a:lnTo>
                    <a:lnTo>
                      <a:pt x="180" y="205"/>
                    </a:lnTo>
                    <a:lnTo>
                      <a:pt x="180" y="200"/>
                    </a:lnTo>
                    <a:lnTo>
                      <a:pt x="180" y="192"/>
                    </a:lnTo>
                    <a:lnTo>
                      <a:pt x="180" y="185"/>
                    </a:lnTo>
                    <a:lnTo>
                      <a:pt x="182" y="177"/>
                    </a:lnTo>
                    <a:lnTo>
                      <a:pt x="184" y="171"/>
                    </a:lnTo>
                    <a:lnTo>
                      <a:pt x="184" y="164"/>
                    </a:lnTo>
                    <a:lnTo>
                      <a:pt x="184" y="158"/>
                    </a:lnTo>
                    <a:lnTo>
                      <a:pt x="186" y="150"/>
                    </a:lnTo>
                    <a:lnTo>
                      <a:pt x="190" y="145"/>
                    </a:lnTo>
                    <a:lnTo>
                      <a:pt x="192" y="139"/>
                    </a:lnTo>
                    <a:lnTo>
                      <a:pt x="194" y="131"/>
                    </a:lnTo>
                    <a:lnTo>
                      <a:pt x="197" y="126"/>
                    </a:lnTo>
                    <a:lnTo>
                      <a:pt x="201" y="120"/>
                    </a:lnTo>
                    <a:lnTo>
                      <a:pt x="205" y="116"/>
                    </a:lnTo>
                    <a:lnTo>
                      <a:pt x="209" y="110"/>
                    </a:lnTo>
                    <a:lnTo>
                      <a:pt x="213" y="107"/>
                    </a:lnTo>
                    <a:lnTo>
                      <a:pt x="218" y="103"/>
                    </a:lnTo>
                    <a:lnTo>
                      <a:pt x="228" y="95"/>
                    </a:lnTo>
                    <a:lnTo>
                      <a:pt x="237" y="89"/>
                    </a:lnTo>
                    <a:lnTo>
                      <a:pt x="243" y="84"/>
                    </a:lnTo>
                    <a:lnTo>
                      <a:pt x="251" y="80"/>
                    </a:lnTo>
                    <a:lnTo>
                      <a:pt x="256" y="74"/>
                    </a:lnTo>
                    <a:lnTo>
                      <a:pt x="262" y="72"/>
                    </a:lnTo>
                    <a:lnTo>
                      <a:pt x="266" y="69"/>
                    </a:lnTo>
                    <a:lnTo>
                      <a:pt x="272" y="67"/>
                    </a:lnTo>
                    <a:lnTo>
                      <a:pt x="277" y="65"/>
                    </a:lnTo>
                    <a:lnTo>
                      <a:pt x="281" y="63"/>
                    </a:lnTo>
                    <a:lnTo>
                      <a:pt x="285" y="63"/>
                    </a:lnTo>
                    <a:close/>
                  </a:path>
                </a:pathLst>
              </a:custGeom>
              <a:solidFill>
                <a:srgbClr val="999999"/>
              </a:solidFill>
              <a:ln w="9525">
                <a:noFill/>
                <a:round/>
              </a:ln>
            </p:spPr>
            <p:txBody>
              <a:bodyPr/>
              <a:lstStyle/>
              <a:p>
                <a:endParaRPr lang="en-US"/>
              </a:p>
            </p:txBody>
          </p:sp>
          <p:sp>
            <p:nvSpPr>
              <p:cNvPr id="1048984" name="Freeform 282"/>
              <p:cNvSpPr/>
              <p:nvPr/>
            </p:nvSpPr>
            <p:spPr bwMode="auto">
              <a:xfrm>
                <a:off x="1873" y="2157"/>
                <a:ext cx="807" cy="417"/>
              </a:xfrm>
              <a:custGeom>
                <a:avLst/>
                <a:gdLst>
                  <a:gd name="T0" fmla="*/ 198 w 1614"/>
                  <a:gd name="T1" fmla="*/ 79 h 835"/>
                  <a:gd name="T2" fmla="*/ 225 w 1614"/>
                  <a:gd name="T3" fmla="*/ 74 h 835"/>
                  <a:gd name="T4" fmla="*/ 243 w 1614"/>
                  <a:gd name="T5" fmla="*/ 72 h 835"/>
                  <a:gd name="T6" fmla="*/ 263 w 1614"/>
                  <a:gd name="T7" fmla="*/ 70 h 835"/>
                  <a:gd name="T8" fmla="*/ 281 w 1614"/>
                  <a:gd name="T9" fmla="*/ 70 h 835"/>
                  <a:gd name="T10" fmla="*/ 309 w 1614"/>
                  <a:gd name="T11" fmla="*/ 73 h 835"/>
                  <a:gd name="T12" fmla="*/ 335 w 1614"/>
                  <a:gd name="T13" fmla="*/ 87 h 835"/>
                  <a:gd name="T14" fmla="*/ 361 w 1614"/>
                  <a:gd name="T15" fmla="*/ 112 h 835"/>
                  <a:gd name="T16" fmla="*/ 384 w 1614"/>
                  <a:gd name="T17" fmla="*/ 140 h 835"/>
                  <a:gd name="T18" fmla="*/ 399 w 1614"/>
                  <a:gd name="T19" fmla="*/ 161 h 835"/>
                  <a:gd name="T20" fmla="*/ 400 w 1614"/>
                  <a:gd name="T21" fmla="*/ 154 h 835"/>
                  <a:gd name="T22" fmla="*/ 398 w 1614"/>
                  <a:gd name="T23" fmla="*/ 128 h 835"/>
                  <a:gd name="T24" fmla="*/ 398 w 1614"/>
                  <a:gd name="T25" fmla="*/ 108 h 835"/>
                  <a:gd name="T26" fmla="*/ 400 w 1614"/>
                  <a:gd name="T27" fmla="*/ 87 h 835"/>
                  <a:gd name="T28" fmla="*/ 408 w 1614"/>
                  <a:gd name="T29" fmla="*/ 67 h 835"/>
                  <a:gd name="T30" fmla="*/ 426 w 1614"/>
                  <a:gd name="T31" fmla="*/ 46 h 835"/>
                  <a:gd name="T32" fmla="*/ 447 w 1614"/>
                  <a:gd name="T33" fmla="*/ 35 h 835"/>
                  <a:gd name="T34" fmla="*/ 476 w 1614"/>
                  <a:gd name="T35" fmla="*/ 31 h 835"/>
                  <a:gd name="T36" fmla="*/ 510 w 1614"/>
                  <a:gd name="T37" fmla="*/ 28 h 835"/>
                  <a:gd name="T38" fmla="*/ 549 w 1614"/>
                  <a:gd name="T39" fmla="*/ 24 h 835"/>
                  <a:gd name="T40" fmla="*/ 589 w 1614"/>
                  <a:gd name="T41" fmla="*/ 22 h 835"/>
                  <a:gd name="T42" fmla="*/ 628 w 1614"/>
                  <a:gd name="T43" fmla="*/ 19 h 835"/>
                  <a:gd name="T44" fmla="*/ 662 w 1614"/>
                  <a:gd name="T45" fmla="*/ 17 h 835"/>
                  <a:gd name="T46" fmla="*/ 693 w 1614"/>
                  <a:gd name="T47" fmla="*/ 14 h 835"/>
                  <a:gd name="T48" fmla="*/ 716 w 1614"/>
                  <a:gd name="T49" fmla="*/ 13 h 835"/>
                  <a:gd name="T50" fmla="*/ 733 w 1614"/>
                  <a:gd name="T51" fmla="*/ 13 h 835"/>
                  <a:gd name="T52" fmla="*/ 330 w 1614"/>
                  <a:gd name="T53" fmla="*/ 415 h 835"/>
                  <a:gd name="T54" fmla="*/ 334 w 1614"/>
                  <a:gd name="T55" fmla="*/ 395 h 835"/>
                  <a:gd name="T56" fmla="*/ 335 w 1614"/>
                  <a:gd name="T57" fmla="*/ 369 h 835"/>
                  <a:gd name="T58" fmla="*/ 333 w 1614"/>
                  <a:gd name="T59" fmla="*/ 349 h 835"/>
                  <a:gd name="T60" fmla="*/ 328 w 1614"/>
                  <a:gd name="T61" fmla="*/ 328 h 835"/>
                  <a:gd name="T62" fmla="*/ 320 w 1614"/>
                  <a:gd name="T63" fmla="*/ 307 h 835"/>
                  <a:gd name="T64" fmla="*/ 305 w 1614"/>
                  <a:gd name="T65" fmla="*/ 287 h 835"/>
                  <a:gd name="T66" fmla="*/ 285 w 1614"/>
                  <a:gd name="T67" fmla="*/ 268 h 835"/>
                  <a:gd name="T68" fmla="*/ 262 w 1614"/>
                  <a:gd name="T69" fmla="*/ 254 h 835"/>
                  <a:gd name="T70" fmla="*/ 237 w 1614"/>
                  <a:gd name="T71" fmla="*/ 245 h 835"/>
                  <a:gd name="T72" fmla="*/ 213 w 1614"/>
                  <a:gd name="T73" fmla="*/ 240 h 835"/>
                  <a:gd name="T74" fmla="*/ 189 w 1614"/>
                  <a:gd name="T75" fmla="*/ 240 h 835"/>
                  <a:gd name="T76" fmla="*/ 166 w 1614"/>
                  <a:gd name="T77" fmla="*/ 243 h 835"/>
                  <a:gd name="T78" fmla="*/ 145 w 1614"/>
                  <a:gd name="T79" fmla="*/ 250 h 835"/>
                  <a:gd name="T80" fmla="*/ 126 w 1614"/>
                  <a:gd name="T81" fmla="*/ 260 h 835"/>
                  <a:gd name="T82" fmla="*/ 103 w 1614"/>
                  <a:gd name="T83" fmla="*/ 287 h 835"/>
                  <a:gd name="T84" fmla="*/ 87 w 1614"/>
                  <a:gd name="T85" fmla="*/ 313 h 835"/>
                  <a:gd name="T86" fmla="*/ 69 w 1614"/>
                  <a:gd name="T87" fmla="*/ 335 h 835"/>
                  <a:gd name="T88" fmla="*/ 0 w 1614"/>
                  <a:gd name="T89" fmla="*/ 311 h 835"/>
                  <a:gd name="T90" fmla="*/ 10 w 1614"/>
                  <a:gd name="T91" fmla="*/ 291 h 835"/>
                  <a:gd name="T92" fmla="*/ 22 w 1614"/>
                  <a:gd name="T93" fmla="*/ 270 h 835"/>
                  <a:gd name="T94" fmla="*/ 39 w 1614"/>
                  <a:gd name="T95" fmla="*/ 243 h 835"/>
                  <a:gd name="T96" fmla="*/ 58 w 1614"/>
                  <a:gd name="T97" fmla="*/ 215 h 835"/>
                  <a:gd name="T98" fmla="*/ 78 w 1614"/>
                  <a:gd name="T99" fmla="*/ 186 h 835"/>
                  <a:gd name="T100" fmla="*/ 99 w 1614"/>
                  <a:gd name="T101" fmla="*/ 161 h 835"/>
                  <a:gd name="T102" fmla="*/ 117 w 1614"/>
                  <a:gd name="T103" fmla="*/ 140 h 835"/>
                  <a:gd name="T104" fmla="*/ 147 w 1614"/>
                  <a:gd name="T105" fmla="*/ 124 h 835"/>
                  <a:gd name="T106" fmla="*/ 169 w 1614"/>
                  <a:gd name="T107" fmla="*/ 109 h 835"/>
                  <a:gd name="T108" fmla="*/ 183 w 1614"/>
                  <a:gd name="T109" fmla="*/ 87 h 835"/>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1614"/>
                  <a:gd name="T166" fmla="*/ 0 h 835"/>
                  <a:gd name="T167" fmla="*/ 1614 w 1614"/>
                  <a:gd name="T168" fmla="*/ 835 h 835"/>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1614" h="835">
                    <a:moveTo>
                      <a:pt x="367" y="164"/>
                    </a:moveTo>
                    <a:lnTo>
                      <a:pt x="369" y="164"/>
                    </a:lnTo>
                    <a:lnTo>
                      <a:pt x="375" y="162"/>
                    </a:lnTo>
                    <a:lnTo>
                      <a:pt x="378" y="162"/>
                    </a:lnTo>
                    <a:lnTo>
                      <a:pt x="384" y="160"/>
                    </a:lnTo>
                    <a:lnTo>
                      <a:pt x="390" y="160"/>
                    </a:lnTo>
                    <a:lnTo>
                      <a:pt x="396" y="158"/>
                    </a:lnTo>
                    <a:lnTo>
                      <a:pt x="403" y="156"/>
                    </a:lnTo>
                    <a:lnTo>
                      <a:pt x="411" y="156"/>
                    </a:lnTo>
                    <a:lnTo>
                      <a:pt x="418" y="154"/>
                    </a:lnTo>
                    <a:lnTo>
                      <a:pt x="428" y="153"/>
                    </a:lnTo>
                    <a:lnTo>
                      <a:pt x="435" y="151"/>
                    </a:lnTo>
                    <a:lnTo>
                      <a:pt x="447" y="151"/>
                    </a:lnTo>
                    <a:lnTo>
                      <a:pt x="451" y="149"/>
                    </a:lnTo>
                    <a:lnTo>
                      <a:pt x="456" y="149"/>
                    </a:lnTo>
                    <a:lnTo>
                      <a:pt x="462" y="149"/>
                    </a:lnTo>
                    <a:lnTo>
                      <a:pt x="468" y="149"/>
                    </a:lnTo>
                    <a:lnTo>
                      <a:pt x="472" y="147"/>
                    </a:lnTo>
                    <a:lnTo>
                      <a:pt x="477" y="147"/>
                    </a:lnTo>
                    <a:lnTo>
                      <a:pt x="481" y="145"/>
                    </a:lnTo>
                    <a:lnTo>
                      <a:pt x="487" y="145"/>
                    </a:lnTo>
                    <a:lnTo>
                      <a:pt x="492" y="145"/>
                    </a:lnTo>
                    <a:lnTo>
                      <a:pt x="498" y="143"/>
                    </a:lnTo>
                    <a:lnTo>
                      <a:pt x="504" y="143"/>
                    </a:lnTo>
                    <a:lnTo>
                      <a:pt x="510" y="143"/>
                    </a:lnTo>
                    <a:lnTo>
                      <a:pt x="513" y="143"/>
                    </a:lnTo>
                    <a:lnTo>
                      <a:pt x="519" y="141"/>
                    </a:lnTo>
                    <a:lnTo>
                      <a:pt x="525" y="141"/>
                    </a:lnTo>
                    <a:lnTo>
                      <a:pt x="531" y="141"/>
                    </a:lnTo>
                    <a:lnTo>
                      <a:pt x="534" y="141"/>
                    </a:lnTo>
                    <a:lnTo>
                      <a:pt x="540" y="141"/>
                    </a:lnTo>
                    <a:lnTo>
                      <a:pt x="546" y="141"/>
                    </a:lnTo>
                    <a:lnTo>
                      <a:pt x="551" y="141"/>
                    </a:lnTo>
                    <a:lnTo>
                      <a:pt x="557" y="141"/>
                    </a:lnTo>
                    <a:lnTo>
                      <a:pt x="561" y="141"/>
                    </a:lnTo>
                    <a:lnTo>
                      <a:pt x="567" y="141"/>
                    </a:lnTo>
                    <a:lnTo>
                      <a:pt x="572" y="141"/>
                    </a:lnTo>
                    <a:lnTo>
                      <a:pt x="580" y="141"/>
                    </a:lnTo>
                    <a:lnTo>
                      <a:pt x="591" y="143"/>
                    </a:lnTo>
                    <a:lnTo>
                      <a:pt x="601" y="143"/>
                    </a:lnTo>
                    <a:lnTo>
                      <a:pt x="608" y="145"/>
                    </a:lnTo>
                    <a:lnTo>
                      <a:pt x="618" y="147"/>
                    </a:lnTo>
                    <a:lnTo>
                      <a:pt x="626" y="149"/>
                    </a:lnTo>
                    <a:lnTo>
                      <a:pt x="633" y="151"/>
                    </a:lnTo>
                    <a:lnTo>
                      <a:pt x="639" y="154"/>
                    </a:lnTo>
                    <a:lnTo>
                      <a:pt x="646" y="158"/>
                    </a:lnTo>
                    <a:lnTo>
                      <a:pt x="654" y="162"/>
                    </a:lnTo>
                    <a:lnTo>
                      <a:pt x="662" y="168"/>
                    </a:lnTo>
                    <a:lnTo>
                      <a:pt x="669" y="174"/>
                    </a:lnTo>
                    <a:lnTo>
                      <a:pt x="677" y="179"/>
                    </a:lnTo>
                    <a:lnTo>
                      <a:pt x="686" y="187"/>
                    </a:lnTo>
                    <a:lnTo>
                      <a:pt x="692" y="193"/>
                    </a:lnTo>
                    <a:lnTo>
                      <a:pt x="700" y="200"/>
                    </a:lnTo>
                    <a:lnTo>
                      <a:pt x="707" y="208"/>
                    </a:lnTo>
                    <a:lnTo>
                      <a:pt x="715" y="215"/>
                    </a:lnTo>
                    <a:lnTo>
                      <a:pt x="721" y="225"/>
                    </a:lnTo>
                    <a:lnTo>
                      <a:pt x="728" y="232"/>
                    </a:lnTo>
                    <a:lnTo>
                      <a:pt x="736" y="242"/>
                    </a:lnTo>
                    <a:lnTo>
                      <a:pt x="743" y="250"/>
                    </a:lnTo>
                    <a:lnTo>
                      <a:pt x="749" y="257"/>
                    </a:lnTo>
                    <a:lnTo>
                      <a:pt x="755" y="265"/>
                    </a:lnTo>
                    <a:lnTo>
                      <a:pt x="761" y="272"/>
                    </a:lnTo>
                    <a:lnTo>
                      <a:pt x="768" y="280"/>
                    </a:lnTo>
                    <a:lnTo>
                      <a:pt x="772" y="286"/>
                    </a:lnTo>
                    <a:lnTo>
                      <a:pt x="778" y="293"/>
                    </a:lnTo>
                    <a:lnTo>
                      <a:pt x="781" y="301"/>
                    </a:lnTo>
                    <a:lnTo>
                      <a:pt x="787" y="307"/>
                    </a:lnTo>
                    <a:lnTo>
                      <a:pt x="789" y="312"/>
                    </a:lnTo>
                    <a:lnTo>
                      <a:pt x="793" y="318"/>
                    </a:lnTo>
                    <a:lnTo>
                      <a:pt x="797" y="322"/>
                    </a:lnTo>
                    <a:lnTo>
                      <a:pt x="800" y="326"/>
                    </a:lnTo>
                    <a:lnTo>
                      <a:pt x="802" y="329"/>
                    </a:lnTo>
                    <a:lnTo>
                      <a:pt x="804" y="333"/>
                    </a:lnTo>
                    <a:lnTo>
                      <a:pt x="802" y="329"/>
                    </a:lnTo>
                    <a:lnTo>
                      <a:pt x="800" y="322"/>
                    </a:lnTo>
                    <a:lnTo>
                      <a:pt x="800" y="316"/>
                    </a:lnTo>
                    <a:lnTo>
                      <a:pt x="800" y="309"/>
                    </a:lnTo>
                    <a:lnTo>
                      <a:pt x="797" y="301"/>
                    </a:lnTo>
                    <a:lnTo>
                      <a:pt x="797" y="293"/>
                    </a:lnTo>
                    <a:lnTo>
                      <a:pt x="797" y="284"/>
                    </a:lnTo>
                    <a:lnTo>
                      <a:pt x="795" y="274"/>
                    </a:lnTo>
                    <a:lnTo>
                      <a:pt x="795" y="269"/>
                    </a:lnTo>
                    <a:lnTo>
                      <a:pt x="795" y="263"/>
                    </a:lnTo>
                    <a:lnTo>
                      <a:pt x="795" y="257"/>
                    </a:lnTo>
                    <a:lnTo>
                      <a:pt x="795" y="251"/>
                    </a:lnTo>
                    <a:lnTo>
                      <a:pt x="795" y="246"/>
                    </a:lnTo>
                    <a:lnTo>
                      <a:pt x="795" y="240"/>
                    </a:lnTo>
                    <a:lnTo>
                      <a:pt x="795" y="234"/>
                    </a:lnTo>
                    <a:lnTo>
                      <a:pt x="795" y="229"/>
                    </a:lnTo>
                    <a:lnTo>
                      <a:pt x="795" y="223"/>
                    </a:lnTo>
                    <a:lnTo>
                      <a:pt x="795" y="217"/>
                    </a:lnTo>
                    <a:lnTo>
                      <a:pt x="797" y="212"/>
                    </a:lnTo>
                    <a:lnTo>
                      <a:pt x="797" y="206"/>
                    </a:lnTo>
                    <a:lnTo>
                      <a:pt x="797" y="200"/>
                    </a:lnTo>
                    <a:lnTo>
                      <a:pt x="797" y="193"/>
                    </a:lnTo>
                    <a:lnTo>
                      <a:pt x="799" y="187"/>
                    </a:lnTo>
                    <a:lnTo>
                      <a:pt x="800" y="181"/>
                    </a:lnTo>
                    <a:lnTo>
                      <a:pt x="800" y="175"/>
                    </a:lnTo>
                    <a:lnTo>
                      <a:pt x="802" y="168"/>
                    </a:lnTo>
                    <a:lnTo>
                      <a:pt x="804" y="162"/>
                    </a:lnTo>
                    <a:lnTo>
                      <a:pt x="806" y="158"/>
                    </a:lnTo>
                    <a:lnTo>
                      <a:pt x="808" y="153"/>
                    </a:lnTo>
                    <a:lnTo>
                      <a:pt x="810" y="147"/>
                    </a:lnTo>
                    <a:lnTo>
                      <a:pt x="814" y="141"/>
                    </a:lnTo>
                    <a:lnTo>
                      <a:pt x="816" y="135"/>
                    </a:lnTo>
                    <a:lnTo>
                      <a:pt x="820" y="130"/>
                    </a:lnTo>
                    <a:lnTo>
                      <a:pt x="821" y="124"/>
                    </a:lnTo>
                    <a:lnTo>
                      <a:pt x="825" y="120"/>
                    </a:lnTo>
                    <a:lnTo>
                      <a:pt x="829" y="115"/>
                    </a:lnTo>
                    <a:lnTo>
                      <a:pt x="837" y="105"/>
                    </a:lnTo>
                    <a:lnTo>
                      <a:pt x="846" y="97"/>
                    </a:lnTo>
                    <a:lnTo>
                      <a:pt x="852" y="92"/>
                    </a:lnTo>
                    <a:lnTo>
                      <a:pt x="856" y="88"/>
                    </a:lnTo>
                    <a:lnTo>
                      <a:pt x="861" y="84"/>
                    </a:lnTo>
                    <a:lnTo>
                      <a:pt x="869" y="82"/>
                    </a:lnTo>
                    <a:lnTo>
                      <a:pt x="875" y="78"/>
                    </a:lnTo>
                    <a:lnTo>
                      <a:pt x="880" y="77"/>
                    </a:lnTo>
                    <a:lnTo>
                      <a:pt x="886" y="73"/>
                    </a:lnTo>
                    <a:lnTo>
                      <a:pt x="894" y="71"/>
                    </a:lnTo>
                    <a:lnTo>
                      <a:pt x="901" y="69"/>
                    </a:lnTo>
                    <a:lnTo>
                      <a:pt x="909" y="69"/>
                    </a:lnTo>
                    <a:lnTo>
                      <a:pt x="916" y="67"/>
                    </a:lnTo>
                    <a:lnTo>
                      <a:pt x="926" y="67"/>
                    </a:lnTo>
                    <a:lnTo>
                      <a:pt x="934" y="65"/>
                    </a:lnTo>
                    <a:lnTo>
                      <a:pt x="943" y="63"/>
                    </a:lnTo>
                    <a:lnTo>
                      <a:pt x="953" y="63"/>
                    </a:lnTo>
                    <a:lnTo>
                      <a:pt x="960" y="61"/>
                    </a:lnTo>
                    <a:lnTo>
                      <a:pt x="970" y="59"/>
                    </a:lnTo>
                    <a:lnTo>
                      <a:pt x="981" y="59"/>
                    </a:lnTo>
                    <a:lnTo>
                      <a:pt x="989" y="58"/>
                    </a:lnTo>
                    <a:lnTo>
                      <a:pt x="1000" y="58"/>
                    </a:lnTo>
                    <a:lnTo>
                      <a:pt x="1012" y="56"/>
                    </a:lnTo>
                    <a:lnTo>
                      <a:pt x="1021" y="56"/>
                    </a:lnTo>
                    <a:lnTo>
                      <a:pt x="1032" y="54"/>
                    </a:lnTo>
                    <a:lnTo>
                      <a:pt x="1042" y="54"/>
                    </a:lnTo>
                    <a:lnTo>
                      <a:pt x="1053" y="52"/>
                    </a:lnTo>
                    <a:lnTo>
                      <a:pt x="1065" y="52"/>
                    </a:lnTo>
                    <a:lnTo>
                      <a:pt x="1076" y="52"/>
                    </a:lnTo>
                    <a:lnTo>
                      <a:pt x="1088" y="52"/>
                    </a:lnTo>
                    <a:lnTo>
                      <a:pt x="1097" y="48"/>
                    </a:lnTo>
                    <a:lnTo>
                      <a:pt x="1109" y="48"/>
                    </a:lnTo>
                    <a:lnTo>
                      <a:pt x="1120" y="48"/>
                    </a:lnTo>
                    <a:lnTo>
                      <a:pt x="1131" y="48"/>
                    </a:lnTo>
                    <a:lnTo>
                      <a:pt x="1143" y="46"/>
                    </a:lnTo>
                    <a:lnTo>
                      <a:pt x="1154" y="46"/>
                    </a:lnTo>
                    <a:lnTo>
                      <a:pt x="1166" y="44"/>
                    </a:lnTo>
                    <a:lnTo>
                      <a:pt x="1177" y="44"/>
                    </a:lnTo>
                    <a:lnTo>
                      <a:pt x="1188" y="44"/>
                    </a:lnTo>
                    <a:lnTo>
                      <a:pt x="1200" y="42"/>
                    </a:lnTo>
                    <a:lnTo>
                      <a:pt x="1209" y="42"/>
                    </a:lnTo>
                    <a:lnTo>
                      <a:pt x="1221" y="42"/>
                    </a:lnTo>
                    <a:lnTo>
                      <a:pt x="1232" y="40"/>
                    </a:lnTo>
                    <a:lnTo>
                      <a:pt x="1243" y="40"/>
                    </a:lnTo>
                    <a:lnTo>
                      <a:pt x="1255" y="39"/>
                    </a:lnTo>
                    <a:lnTo>
                      <a:pt x="1264" y="39"/>
                    </a:lnTo>
                    <a:lnTo>
                      <a:pt x="1274" y="39"/>
                    </a:lnTo>
                    <a:lnTo>
                      <a:pt x="1285" y="37"/>
                    </a:lnTo>
                    <a:lnTo>
                      <a:pt x="1295" y="37"/>
                    </a:lnTo>
                    <a:lnTo>
                      <a:pt x="1306" y="37"/>
                    </a:lnTo>
                    <a:lnTo>
                      <a:pt x="1314" y="35"/>
                    </a:lnTo>
                    <a:lnTo>
                      <a:pt x="1323" y="35"/>
                    </a:lnTo>
                    <a:lnTo>
                      <a:pt x="1333" y="33"/>
                    </a:lnTo>
                    <a:lnTo>
                      <a:pt x="1342" y="33"/>
                    </a:lnTo>
                    <a:lnTo>
                      <a:pt x="1352" y="33"/>
                    </a:lnTo>
                    <a:lnTo>
                      <a:pt x="1361" y="31"/>
                    </a:lnTo>
                    <a:lnTo>
                      <a:pt x="1369" y="31"/>
                    </a:lnTo>
                    <a:lnTo>
                      <a:pt x="1378" y="31"/>
                    </a:lnTo>
                    <a:lnTo>
                      <a:pt x="1386" y="29"/>
                    </a:lnTo>
                    <a:lnTo>
                      <a:pt x="1394" y="29"/>
                    </a:lnTo>
                    <a:lnTo>
                      <a:pt x="1401" y="29"/>
                    </a:lnTo>
                    <a:lnTo>
                      <a:pt x="1409" y="29"/>
                    </a:lnTo>
                    <a:lnTo>
                      <a:pt x="1415" y="29"/>
                    </a:lnTo>
                    <a:lnTo>
                      <a:pt x="1420" y="29"/>
                    </a:lnTo>
                    <a:lnTo>
                      <a:pt x="1426" y="27"/>
                    </a:lnTo>
                    <a:lnTo>
                      <a:pt x="1432" y="27"/>
                    </a:lnTo>
                    <a:lnTo>
                      <a:pt x="1437" y="27"/>
                    </a:lnTo>
                    <a:lnTo>
                      <a:pt x="1443" y="27"/>
                    </a:lnTo>
                    <a:lnTo>
                      <a:pt x="1447" y="27"/>
                    </a:lnTo>
                    <a:lnTo>
                      <a:pt x="1451" y="27"/>
                    </a:lnTo>
                    <a:lnTo>
                      <a:pt x="1458" y="27"/>
                    </a:lnTo>
                    <a:lnTo>
                      <a:pt x="1464" y="27"/>
                    </a:lnTo>
                    <a:lnTo>
                      <a:pt x="1466" y="27"/>
                    </a:lnTo>
                    <a:lnTo>
                      <a:pt x="1468" y="27"/>
                    </a:lnTo>
                    <a:lnTo>
                      <a:pt x="1548" y="0"/>
                    </a:lnTo>
                    <a:lnTo>
                      <a:pt x="1614" y="134"/>
                    </a:lnTo>
                    <a:lnTo>
                      <a:pt x="1067" y="347"/>
                    </a:lnTo>
                    <a:lnTo>
                      <a:pt x="1122" y="491"/>
                    </a:lnTo>
                    <a:lnTo>
                      <a:pt x="660" y="835"/>
                    </a:lnTo>
                    <a:lnTo>
                      <a:pt x="660" y="831"/>
                    </a:lnTo>
                    <a:lnTo>
                      <a:pt x="662" y="826"/>
                    </a:lnTo>
                    <a:lnTo>
                      <a:pt x="662" y="822"/>
                    </a:lnTo>
                    <a:lnTo>
                      <a:pt x="664" y="816"/>
                    </a:lnTo>
                    <a:lnTo>
                      <a:pt x="664" y="811"/>
                    </a:lnTo>
                    <a:lnTo>
                      <a:pt x="666" y="805"/>
                    </a:lnTo>
                    <a:lnTo>
                      <a:pt x="666" y="797"/>
                    </a:lnTo>
                    <a:lnTo>
                      <a:pt x="667" y="790"/>
                    </a:lnTo>
                    <a:lnTo>
                      <a:pt x="667" y="780"/>
                    </a:lnTo>
                    <a:lnTo>
                      <a:pt x="669" y="772"/>
                    </a:lnTo>
                    <a:lnTo>
                      <a:pt x="669" y="763"/>
                    </a:lnTo>
                    <a:lnTo>
                      <a:pt x="669" y="753"/>
                    </a:lnTo>
                    <a:lnTo>
                      <a:pt x="669" y="748"/>
                    </a:lnTo>
                    <a:lnTo>
                      <a:pt x="669" y="744"/>
                    </a:lnTo>
                    <a:lnTo>
                      <a:pt x="669" y="738"/>
                    </a:lnTo>
                    <a:lnTo>
                      <a:pt x="671" y="733"/>
                    </a:lnTo>
                    <a:lnTo>
                      <a:pt x="669" y="727"/>
                    </a:lnTo>
                    <a:lnTo>
                      <a:pt x="669" y="721"/>
                    </a:lnTo>
                    <a:lnTo>
                      <a:pt x="667" y="715"/>
                    </a:lnTo>
                    <a:lnTo>
                      <a:pt x="667" y="710"/>
                    </a:lnTo>
                    <a:lnTo>
                      <a:pt x="667" y="704"/>
                    </a:lnTo>
                    <a:lnTo>
                      <a:pt x="666" y="698"/>
                    </a:lnTo>
                    <a:lnTo>
                      <a:pt x="666" y="693"/>
                    </a:lnTo>
                    <a:lnTo>
                      <a:pt x="664" y="687"/>
                    </a:lnTo>
                    <a:lnTo>
                      <a:pt x="664" y="681"/>
                    </a:lnTo>
                    <a:lnTo>
                      <a:pt x="662" y="674"/>
                    </a:lnTo>
                    <a:lnTo>
                      <a:pt x="660" y="668"/>
                    </a:lnTo>
                    <a:lnTo>
                      <a:pt x="660" y="664"/>
                    </a:lnTo>
                    <a:lnTo>
                      <a:pt x="656" y="656"/>
                    </a:lnTo>
                    <a:lnTo>
                      <a:pt x="654" y="651"/>
                    </a:lnTo>
                    <a:lnTo>
                      <a:pt x="652" y="645"/>
                    </a:lnTo>
                    <a:lnTo>
                      <a:pt x="650" y="639"/>
                    </a:lnTo>
                    <a:lnTo>
                      <a:pt x="646" y="634"/>
                    </a:lnTo>
                    <a:lnTo>
                      <a:pt x="645" y="626"/>
                    </a:lnTo>
                    <a:lnTo>
                      <a:pt x="641" y="620"/>
                    </a:lnTo>
                    <a:lnTo>
                      <a:pt x="639" y="615"/>
                    </a:lnTo>
                    <a:lnTo>
                      <a:pt x="635" y="609"/>
                    </a:lnTo>
                    <a:lnTo>
                      <a:pt x="631" y="603"/>
                    </a:lnTo>
                    <a:lnTo>
                      <a:pt x="627" y="598"/>
                    </a:lnTo>
                    <a:lnTo>
                      <a:pt x="624" y="592"/>
                    </a:lnTo>
                    <a:lnTo>
                      <a:pt x="620" y="586"/>
                    </a:lnTo>
                    <a:lnTo>
                      <a:pt x="614" y="580"/>
                    </a:lnTo>
                    <a:lnTo>
                      <a:pt x="610" y="575"/>
                    </a:lnTo>
                    <a:lnTo>
                      <a:pt x="607" y="569"/>
                    </a:lnTo>
                    <a:lnTo>
                      <a:pt x="601" y="563"/>
                    </a:lnTo>
                    <a:lnTo>
                      <a:pt x="595" y="558"/>
                    </a:lnTo>
                    <a:lnTo>
                      <a:pt x="589" y="554"/>
                    </a:lnTo>
                    <a:lnTo>
                      <a:pt x="584" y="548"/>
                    </a:lnTo>
                    <a:lnTo>
                      <a:pt x="576" y="542"/>
                    </a:lnTo>
                    <a:lnTo>
                      <a:pt x="570" y="537"/>
                    </a:lnTo>
                    <a:lnTo>
                      <a:pt x="563" y="531"/>
                    </a:lnTo>
                    <a:lnTo>
                      <a:pt x="557" y="527"/>
                    </a:lnTo>
                    <a:lnTo>
                      <a:pt x="550" y="523"/>
                    </a:lnTo>
                    <a:lnTo>
                      <a:pt x="544" y="520"/>
                    </a:lnTo>
                    <a:lnTo>
                      <a:pt x="536" y="516"/>
                    </a:lnTo>
                    <a:lnTo>
                      <a:pt x="531" y="512"/>
                    </a:lnTo>
                    <a:lnTo>
                      <a:pt x="523" y="508"/>
                    </a:lnTo>
                    <a:lnTo>
                      <a:pt x="517" y="504"/>
                    </a:lnTo>
                    <a:lnTo>
                      <a:pt x="510" y="501"/>
                    </a:lnTo>
                    <a:lnTo>
                      <a:pt x="502" y="499"/>
                    </a:lnTo>
                    <a:lnTo>
                      <a:pt x="496" y="497"/>
                    </a:lnTo>
                    <a:lnTo>
                      <a:pt x="489" y="493"/>
                    </a:lnTo>
                    <a:lnTo>
                      <a:pt x="481" y="491"/>
                    </a:lnTo>
                    <a:lnTo>
                      <a:pt x="475" y="491"/>
                    </a:lnTo>
                    <a:lnTo>
                      <a:pt x="468" y="487"/>
                    </a:lnTo>
                    <a:lnTo>
                      <a:pt x="460" y="485"/>
                    </a:lnTo>
                    <a:lnTo>
                      <a:pt x="453" y="483"/>
                    </a:lnTo>
                    <a:lnTo>
                      <a:pt x="447" y="483"/>
                    </a:lnTo>
                    <a:lnTo>
                      <a:pt x="439" y="482"/>
                    </a:lnTo>
                    <a:lnTo>
                      <a:pt x="434" y="482"/>
                    </a:lnTo>
                    <a:lnTo>
                      <a:pt x="426" y="480"/>
                    </a:lnTo>
                    <a:lnTo>
                      <a:pt x="420" y="480"/>
                    </a:lnTo>
                    <a:lnTo>
                      <a:pt x="413" y="480"/>
                    </a:lnTo>
                    <a:lnTo>
                      <a:pt x="405" y="480"/>
                    </a:lnTo>
                    <a:lnTo>
                      <a:pt x="397" y="480"/>
                    </a:lnTo>
                    <a:lnTo>
                      <a:pt x="392" y="480"/>
                    </a:lnTo>
                    <a:lnTo>
                      <a:pt x="384" y="480"/>
                    </a:lnTo>
                    <a:lnTo>
                      <a:pt x="378" y="480"/>
                    </a:lnTo>
                    <a:lnTo>
                      <a:pt x="371" y="480"/>
                    </a:lnTo>
                    <a:lnTo>
                      <a:pt x="365" y="482"/>
                    </a:lnTo>
                    <a:lnTo>
                      <a:pt x="357" y="482"/>
                    </a:lnTo>
                    <a:lnTo>
                      <a:pt x="352" y="483"/>
                    </a:lnTo>
                    <a:lnTo>
                      <a:pt x="344" y="483"/>
                    </a:lnTo>
                    <a:lnTo>
                      <a:pt x="337" y="485"/>
                    </a:lnTo>
                    <a:lnTo>
                      <a:pt x="331" y="487"/>
                    </a:lnTo>
                    <a:lnTo>
                      <a:pt x="325" y="489"/>
                    </a:lnTo>
                    <a:lnTo>
                      <a:pt x="319" y="489"/>
                    </a:lnTo>
                    <a:lnTo>
                      <a:pt x="314" y="493"/>
                    </a:lnTo>
                    <a:lnTo>
                      <a:pt x="308" y="495"/>
                    </a:lnTo>
                    <a:lnTo>
                      <a:pt x="300" y="497"/>
                    </a:lnTo>
                    <a:lnTo>
                      <a:pt x="295" y="499"/>
                    </a:lnTo>
                    <a:lnTo>
                      <a:pt x="289" y="501"/>
                    </a:lnTo>
                    <a:lnTo>
                      <a:pt x="283" y="502"/>
                    </a:lnTo>
                    <a:lnTo>
                      <a:pt x="280" y="506"/>
                    </a:lnTo>
                    <a:lnTo>
                      <a:pt x="274" y="508"/>
                    </a:lnTo>
                    <a:lnTo>
                      <a:pt x="268" y="512"/>
                    </a:lnTo>
                    <a:lnTo>
                      <a:pt x="262" y="516"/>
                    </a:lnTo>
                    <a:lnTo>
                      <a:pt x="259" y="518"/>
                    </a:lnTo>
                    <a:lnTo>
                      <a:pt x="253" y="521"/>
                    </a:lnTo>
                    <a:lnTo>
                      <a:pt x="249" y="525"/>
                    </a:lnTo>
                    <a:lnTo>
                      <a:pt x="240" y="531"/>
                    </a:lnTo>
                    <a:lnTo>
                      <a:pt x="232" y="539"/>
                    </a:lnTo>
                    <a:lnTo>
                      <a:pt x="224" y="548"/>
                    </a:lnTo>
                    <a:lnTo>
                      <a:pt x="219" y="556"/>
                    </a:lnTo>
                    <a:lnTo>
                      <a:pt x="211" y="563"/>
                    </a:lnTo>
                    <a:lnTo>
                      <a:pt x="207" y="575"/>
                    </a:lnTo>
                    <a:lnTo>
                      <a:pt x="202" y="582"/>
                    </a:lnTo>
                    <a:lnTo>
                      <a:pt x="196" y="590"/>
                    </a:lnTo>
                    <a:lnTo>
                      <a:pt x="192" y="598"/>
                    </a:lnTo>
                    <a:lnTo>
                      <a:pt x="186" y="607"/>
                    </a:lnTo>
                    <a:lnTo>
                      <a:pt x="181" y="613"/>
                    </a:lnTo>
                    <a:lnTo>
                      <a:pt x="177" y="620"/>
                    </a:lnTo>
                    <a:lnTo>
                      <a:pt x="173" y="626"/>
                    </a:lnTo>
                    <a:lnTo>
                      <a:pt x="169" y="634"/>
                    </a:lnTo>
                    <a:lnTo>
                      <a:pt x="164" y="639"/>
                    </a:lnTo>
                    <a:lnTo>
                      <a:pt x="160" y="643"/>
                    </a:lnTo>
                    <a:lnTo>
                      <a:pt x="154" y="649"/>
                    </a:lnTo>
                    <a:lnTo>
                      <a:pt x="150" y="655"/>
                    </a:lnTo>
                    <a:lnTo>
                      <a:pt x="145" y="662"/>
                    </a:lnTo>
                    <a:lnTo>
                      <a:pt x="137" y="670"/>
                    </a:lnTo>
                    <a:lnTo>
                      <a:pt x="129" y="676"/>
                    </a:lnTo>
                    <a:lnTo>
                      <a:pt x="124" y="681"/>
                    </a:lnTo>
                    <a:lnTo>
                      <a:pt x="120" y="685"/>
                    </a:lnTo>
                    <a:lnTo>
                      <a:pt x="116" y="689"/>
                    </a:lnTo>
                    <a:lnTo>
                      <a:pt x="108" y="693"/>
                    </a:lnTo>
                    <a:lnTo>
                      <a:pt x="107" y="695"/>
                    </a:lnTo>
                    <a:lnTo>
                      <a:pt x="0" y="622"/>
                    </a:lnTo>
                    <a:lnTo>
                      <a:pt x="0" y="620"/>
                    </a:lnTo>
                    <a:lnTo>
                      <a:pt x="2" y="617"/>
                    </a:lnTo>
                    <a:lnTo>
                      <a:pt x="4" y="613"/>
                    </a:lnTo>
                    <a:lnTo>
                      <a:pt x="8" y="607"/>
                    </a:lnTo>
                    <a:lnTo>
                      <a:pt x="11" y="598"/>
                    </a:lnTo>
                    <a:lnTo>
                      <a:pt x="15" y="588"/>
                    </a:lnTo>
                    <a:lnTo>
                      <a:pt x="19" y="582"/>
                    </a:lnTo>
                    <a:lnTo>
                      <a:pt x="21" y="579"/>
                    </a:lnTo>
                    <a:lnTo>
                      <a:pt x="25" y="573"/>
                    </a:lnTo>
                    <a:lnTo>
                      <a:pt x="30" y="567"/>
                    </a:lnTo>
                    <a:lnTo>
                      <a:pt x="32" y="560"/>
                    </a:lnTo>
                    <a:lnTo>
                      <a:pt x="36" y="554"/>
                    </a:lnTo>
                    <a:lnTo>
                      <a:pt x="40" y="548"/>
                    </a:lnTo>
                    <a:lnTo>
                      <a:pt x="44" y="540"/>
                    </a:lnTo>
                    <a:lnTo>
                      <a:pt x="48" y="533"/>
                    </a:lnTo>
                    <a:lnTo>
                      <a:pt x="53" y="527"/>
                    </a:lnTo>
                    <a:lnTo>
                      <a:pt x="57" y="520"/>
                    </a:lnTo>
                    <a:lnTo>
                      <a:pt x="63" y="512"/>
                    </a:lnTo>
                    <a:lnTo>
                      <a:pt x="67" y="502"/>
                    </a:lnTo>
                    <a:lnTo>
                      <a:pt x="72" y="497"/>
                    </a:lnTo>
                    <a:lnTo>
                      <a:pt x="78" y="487"/>
                    </a:lnTo>
                    <a:lnTo>
                      <a:pt x="84" y="480"/>
                    </a:lnTo>
                    <a:lnTo>
                      <a:pt x="89" y="472"/>
                    </a:lnTo>
                    <a:lnTo>
                      <a:pt x="95" y="464"/>
                    </a:lnTo>
                    <a:lnTo>
                      <a:pt x="99" y="455"/>
                    </a:lnTo>
                    <a:lnTo>
                      <a:pt x="105" y="447"/>
                    </a:lnTo>
                    <a:lnTo>
                      <a:pt x="110" y="440"/>
                    </a:lnTo>
                    <a:lnTo>
                      <a:pt x="116" y="430"/>
                    </a:lnTo>
                    <a:lnTo>
                      <a:pt x="122" y="423"/>
                    </a:lnTo>
                    <a:lnTo>
                      <a:pt x="127" y="415"/>
                    </a:lnTo>
                    <a:lnTo>
                      <a:pt x="133" y="405"/>
                    </a:lnTo>
                    <a:lnTo>
                      <a:pt x="139" y="398"/>
                    </a:lnTo>
                    <a:lnTo>
                      <a:pt x="145" y="388"/>
                    </a:lnTo>
                    <a:lnTo>
                      <a:pt x="150" y="381"/>
                    </a:lnTo>
                    <a:lnTo>
                      <a:pt x="156" y="373"/>
                    </a:lnTo>
                    <a:lnTo>
                      <a:pt x="162" y="364"/>
                    </a:lnTo>
                    <a:lnTo>
                      <a:pt x="167" y="358"/>
                    </a:lnTo>
                    <a:lnTo>
                      <a:pt x="173" y="350"/>
                    </a:lnTo>
                    <a:lnTo>
                      <a:pt x="179" y="341"/>
                    </a:lnTo>
                    <a:lnTo>
                      <a:pt x="184" y="335"/>
                    </a:lnTo>
                    <a:lnTo>
                      <a:pt x="190" y="328"/>
                    </a:lnTo>
                    <a:lnTo>
                      <a:pt x="198" y="322"/>
                    </a:lnTo>
                    <a:lnTo>
                      <a:pt x="202" y="314"/>
                    </a:lnTo>
                    <a:lnTo>
                      <a:pt x="207" y="309"/>
                    </a:lnTo>
                    <a:lnTo>
                      <a:pt x="213" y="301"/>
                    </a:lnTo>
                    <a:lnTo>
                      <a:pt x="219" y="297"/>
                    </a:lnTo>
                    <a:lnTo>
                      <a:pt x="224" y="291"/>
                    </a:lnTo>
                    <a:lnTo>
                      <a:pt x="228" y="286"/>
                    </a:lnTo>
                    <a:lnTo>
                      <a:pt x="234" y="280"/>
                    </a:lnTo>
                    <a:lnTo>
                      <a:pt x="240" y="276"/>
                    </a:lnTo>
                    <a:lnTo>
                      <a:pt x="249" y="267"/>
                    </a:lnTo>
                    <a:lnTo>
                      <a:pt x="259" y="261"/>
                    </a:lnTo>
                    <a:lnTo>
                      <a:pt x="268" y="255"/>
                    </a:lnTo>
                    <a:lnTo>
                      <a:pt x="278" y="253"/>
                    </a:lnTo>
                    <a:lnTo>
                      <a:pt x="285" y="250"/>
                    </a:lnTo>
                    <a:lnTo>
                      <a:pt x="293" y="248"/>
                    </a:lnTo>
                    <a:lnTo>
                      <a:pt x="299" y="244"/>
                    </a:lnTo>
                    <a:lnTo>
                      <a:pt x="306" y="240"/>
                    </a:lnTo>
                    <a:lnTo>
                      <a:pt x="312" y="236"/>
                    </a:lnTo>
                    <a:lnTo>
                      <a:pt x="318" y="232"/>
                    </a:lnTo>
                    <a:lnTo>
                      <a:pt x="323" y="229"/>
                    </a:lnTo>
                    <a:lnTo>
                      <a:pt x="329" y="227"/>
                    </a:lnTo>
                    <a:lnTo>
                      <a:pt x="337" y="219"/>
                    </a:lnTo>
                    <a:lnTo>
                      <a:pt x="344" y="212"/>
                    </a:lnTo>
                    <a:lnTo>
                      <a:pt x="350" y="204"/>
                    </a:lnTo>
                    <a:lnTo>
                      <a:pt x="356" y="198"/>
                    </a:lnTo>
                    <a:lnTo>
                      <a:pt x="359" y="191"/>
                    </a:lnTo>
                    <a:lnTo>
                      <a:pt x="363" y="185"/>
                    </a:lnTo>
                    <a:lnTo>
                      <a:pt x="365" y="179"/>
                    </a:lnTo>
                    <a:lnTo>
                      <a:pt x="365" y="174"/>
                    </a:lnTo>
                    <a:lnTo>
                      <a:pt x="367" y="166"/>
                    </a:lnTo>
                    <a:lnTo>
                      <a:pt x="367" y="164"/>
                    </a:lnTo>
                    <a:close/>
                  </a:path>
                </a:pathLst>
              </a:custGeom>
              <a:solidFill>
                <a:srgbClr val="A6BFFF"/>
              </a:solidFill>
              <a:ln w="9525">
                <a:noFill/>
                <a:round/>
              </a:ln>
            </p:spPr>
            <p:txBody>
              <a:bodyPr/>
              <a:lstStyle/>
              <a:p>
                <a:endParaRPr lang="en-US"/>
              </a:p>
            </p:txBody>
          </p:sp>
          <p:sp>
            <p:nvSpPr>
              <p:cNvPr id="1048985" name="Freeform 283"/>
              <p:cNvSpPr/>
              <p:nvPr/>
            </p:nvSpPr>
            <p:spPr bwMode="auto">
              <a:xfrm>
                <a:off x="1950" y="2448"/>
                <a:ext cx="713" cy="393"/>
              </a:xfrm>
              <a:custGeom>
                <a:avLst/>
                <a:gdLst>
                  <a:gd name="T0" fmla="*/ 293 w 1424"/>
                  <a:gd name="T1" fmla="*/ 84 h 788"/>
                  <a:gd name="T2" fmla="*/ 322 w 1424"/>
                  <a:gd name="T3" fmla="*/ 65 h 788"/>
                  <a:gd name="T4" fmla="*/ 361 w 1424"/>
                  <a:gd name="T5" fmla="*/ 44 h 788"/>
                  <a:gd name="T6" fmla="*/ 402 w 1424"/>
                  <a:gd name="T7" fmla="*/ 23 h 788"/>
                  <a:gd name="T8" fmla="*/ 444 w 1424"/>
                  <a:gd name="T9" fmla="*/ 7 h 788"/>
                  <a:gd name="T10" fmla="*/ 482 w 1424"/>
                  <a:gd name="T11" fmla="*/ 0 h 788"/>
                  <a:gd name="T12" fmla="*/ 514 w 1424"/>
                  <a:gd name="T13" fmla="*/ 3 h 788"/>
                  <a:gd name="T14" fmla="*/ 547 w 1424"/>
                  <a:gd name="T15" fmla="*/ 12 h 788"/>
                  <a:gd name="T16" fmla="*/ 583 w 1424"/>
                  <a:gd name="T17" fmla="*/ 25 h 788"/>
                  <a:gd name="T18" fmla="*/ 618 w 1424"/>
                  <a:gd name="T19" fmla="*/ 43 h 788"/>
                  <a:gd name="T20" fmla="*/ 650 w 1424"/>
                  <a:gd name="T21" fmla="*/ 66 h 788"/>
                  <a:gd name="T22" fmla="*/ 676 w 1424"/>
                  <a:gd name="T23" fmla="*/ 94 h 788"/>
                  <a:gd name="T24" fmla="*/ 695 w 1424"/>
                  <a:gd name="T25" fmla="*/ 130 h 788"/>
                  <a:gd name="T26" fmla="*/ 703 w 1424"/>
                  <a:gd name="T27" fmla="*/ 172 h 788"/>
                  <a:gd name="T28" fmla="*/ 708 w 1424"/>
                  <a:gd name="T29" fmla="*/ 214 h 788"/>
                  <a:gd name="T30" fmla="*/ 711 w 1424"/>
                  <a:gd name="T31" fmla="*/ 255 h 788"/>
                  <a:gd name="T32" fmla="*/ 712 w 1424"/>
                  <a:gd name="T33" fmla="*/ 293 h 788"/>
                  <a:gd name="T34" fmla="*/ 712 w 1424"/>
                  <a:gd name="T35" fmla="*/ 325 h 788"/>
                  <a:gd name="T36" fmla="*/ 712 w 1424"/>
                  <a:gd name="T37" fmla="*/ 349 h 788"/>
                  <a:gd name="T38" fmla="*/ 637 w 1424"/>
                  <a:gd name="T39" fmla="*/ 352 h 788"/>
                  <a:gd name="T40" fmla="*/ 627 w 1424"/>
                  <a:gd name="T41" fmla="*/ 326 h 788"/>
                  <a:gd name="T42" fmla="*/ 616 w 1424"/>
                  <a:gd name="T43" fmla="*/ 293 h 788"/>
                  <a:gd name="T44" fmla="*/ 603 w 1424"/>
                  <a:gd name="T45" fmla="*/ 255 h 788"/>
                  <a:gd name="T46" fmla="*/ 591 w 1424"/>
                  <a:gd name="T47" fmla="*/ 215 h 788"/>
                  <a:gd name="T48" fmla="*/ 582 w 1424"/>
                  <a:gd name="T49" fmla="*/ 179 h 788"/>
                  <a:gd name="T50" fmla="*/ 576 w 1424"/>
                  <a:gd name="T51" fmla="*/ 148 h 788"/>
                  <a:gd name="T52" fmla="*/ 565 w 1424"/>
                  <a:gd name="T53" fmla="*/ 123 h 788"/>
                  <a:gd name="T54" fmla="*/ 536 w 1424"/>
                  <a:gd name="T55" fmla="*/ 112 h 788"/>
                  <a:gd name="T56" fmla="*/ 508 w 1424"/>
                  <a:gd name="T57" fmla="*/ 111 h 788"/>
                  <a:gd name="T58" fmla="*/ 481 w 1424"/>
                  <a:gd name="T59" fmla="*/ 114 h 788"/>
                  <a:gd name="T60" fmla="*/ 454 w 1424"/>
                  <a:gd name="T61" fmla="*/ 118 h 788"/>
                  <a:gd name="T62" fmla="*/ 439 w 1424"/>
                  <a:gd name="T63" fmla="*/ 126 h 788"/>
                  <a:gd name="T64" fmla="*/ 440 w 1424"/>
                  <a:gd name="T65" fmla="*/ 150 h 788"/>
                  <a:gd name="T66" fmla="*/ 437 w 1424"/>
                  <a:gd name="T67" fmla="*/ 184 h 788"/>
                  <a:gd name="T68" fmla="*/ 430 w 1424"/>
                  <a:gd name="T69" fmla="*/ 226 h 788"/>
                  <a:gd name="T70" fmla="*/ 415 w 1424"/>
                  <a:gd name="T71" fmla="*/ 270 h 788"/>
                  <a:gd name="T72" fmla="*/ 390 w 1424"/>
                  <a:gd name="T73" fmla="*/ 314 h 788"/>
                  <a:gd name="T74" fmla="*/ 352 w 1424"/>
                  <a:gd name="T75" fmla="*/ 350 h 788"/>
                  <a:gd name="T76" fmla="*/ 299 w 1424"/>
                  <a:gd name="T77" fmla="*/ 376 h 788"/>
                  <a:gd name="T78" fmla="*/ 239 w 1424"/>
                  <a:gd name="T79" fmla="*/ 389 h 788"/>
                  <a:gd name="T80" fmla="*/ 176 w 1424"/>
                  <a:gd name="T81" fmla="*/ 393 h 788"/>
                  <a:gd name="T82" fmla="*/ 116 w 1424"/>
                  <a:gd name="T83" fmla="*/ 389 h 788"/>
                  <a:gd name="T84" fmla="*/ 63 w 1424"/>
                  <a:gd name="T85" fmla="*/ 383 h 788"/>
                  <a:gd name="T86" fmla="*/ 24 w 1424"/>
                  <a:gd name="T87" fmla="*/ 375 h 788"/>
                  <a:gd name="T88" fmla="*/ 0 w 1424"/>
                  <a:gd name="T89" fmla="*/ 370 h 788"/>
                  <a:gd name="T90" fmla="*/ 54 w 1424"/>
                  <a:gd name="T91" fmla="*/ 228 h 788"/>
                  <a:gd name="T92" fmla="*/ 78 w 1424"/>
                  <a:gd name="T93" fmla="*/ 251 h 788"/>
                  <a:gd name="T94" fmla="*/ 111 w 1424"/>
                  <a:gd name="T95" fmla="*/ 274 h 788"/>
                  <a:gd name="T96" fmla="*/ 151 w 1424"/>
                  <a:gd name="T97" fmla="*/ 293 h 788"/>
                  <a:gd name="T98" fmla="*/ 199 w 1424"/>
                  <a:gd name="T99" fmla="*/ 303 h 788"/>
                  <a:gd name="T100" fmla="*/ 251 w 1424"/>
                  <a:gd name="T101" fmla="*/ 298 h 788"/>
                  <a:gd name="T102" fmla="*/ 290 w 1424"/>
                  <a:gd name="T103" fmla="*/ 277 h 788"/>
                  <a:gd name="T104" fmla="*/ 308 w 1424"/>
                  <a:gd name="T105" fmla="*/ 244 h 788"/>
                  <a:gd name="T106" fmla="*/ 311 w 1424"/>
                  <a:gd name="T107" fmla="*/ 206 h 788"/>
                  <a:gd name="T108" fmla="*/ 303 w 1424"/>
                  <a:gd name="T109" fmla="*/ 166 h 788"/>
                  <a:gd name="T110" fmla="*/ 291 w 1424"/>
                  <a:gd name="T111" fmla="*/ 131 h 788"/>
                  <a:gd name="T112" fmla="*/ 276 w 1424"/>
                  <a:gd name="T113" fmla="*/ 102 h 788"/>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1424"/>
                  <a:gd name="T172" fmla="*/ 0 h 788"/>
                  <a:gd name="T173" fmla="*/ 1424 w 1424"/>
                  <a:gd name="T174" fmla="*/ 788 h 788"/>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1424" h="788">
                    <a:moveTo>
                      <a:pt x="548" y="196"/>
                    </a:moveTo>
                    <a:lnTo>
                      <a:pt x="548" y="194"/>
                    </a:lnTo>
                    <a:lnTo>
                      <a:pt x="551" y="194"/>
                    </a:lnTo>
                    <a:lnTo>
                      <a:pt x="555" y="190"/>
                    </a:lnTo>
                    <a:lnTo>
                      <a:pt x="561" y="187"/>
                    </a:lnTo>
                    <a:lnTo>
                      <a:pt x="568" y="181"/>
                    </a:lnTo>
                    <a:lnTo>
                      <a:pt x="576" y="175"/>
                    </a:lnTo>
                    <a:lnTo>
                      <a:pt x="582" y="171"/>
                    </a:lnTo>
                    <a:lnTo>
                      <a:pt x="586" y="168"/>
                    </a:lnTo>
                    <a:lnTo>
                      <a:pt x="591" y="164"/>
                    </a:lnTo>
                    <a:lnTo>
                      <a:pt x="599" y="162"/>
                    </a:lnTo>
                    <a:lnTo>
                      <a:pt x="605" y="156"/>
                    </a:lnTo>
                    <a:lnTo>
                      <a:pt x="610" y="152"/>
                    </a:lnTo>
                    <a:lnTo>
                      <a:pt x="616" y="149"/>
                    </a:lnTo>
                    <a:lnTo>
                      <a:pt x="624" y="145"/>
                    </a:lnTo>
                    <a:lnTo>
                      <a:pt x="629" y="139"/>
                    </a:lnTo>
                    <a:lnTo>
                      <a:pt x="637" y="135"/>
                    </a:lnTo>
                    <a:lnTo>
                      <a:pt x="644" y="130"/>
                    </a:lnTo>
                    <a:lnTo>
                      <a:pt x="652" y="126"/>
                    </a:lnTo>
                    <a:lnTo>
                      <a:pt x="660" y="120"/>
                    </a:lnTo>
                    <a:lnTo>
                      <a:pt x="667" y="116"/>
                    </a:lnTo>
                    <a:lnTo>
                      <a:pt x="677" y="113"/>
                    </a:lnTo>
                    <a:lnTo>
                      <a:pt x="684" y="107"/>
                    </a:lnTo>
                    <a:lnTo>
                      <a:pt x="694" y="103"/>
                    </a:lnTo>
                    <a:lnTo>
                      <a:pt x="702" y="97"/>
                    </a:lnTo>
                    <a:lnTo>
                      <a:pt x="711" y="94"/>
                    </a:lnTo>
                    <a:lnTo>
                      <a:pt x="721" y="88"/>
                    </a:lnTo>
                    <a:lnTo>
                      <a:pt x="728" y="84"/>
                    </a:lnTo>
                    <a:lnTo>
                      <a:pt x="738" y="78"/>
                    </a:lnTo>
                    <a:lnTo>
                      <a:pt x="747" y="74"/>
                    </a:lnTo>
                    <a:lnTo>
                      <a:pt x="757" y="69"/>
                    </a:lnTo>
                    <a:lnTo>
                      <a:pt x="766" y="63"/>
                    </a:lnTo>
                    <a:lnTo>
                      <a:pt x="776" y="59"/>
                    </a:lnTo>
                    <a:lnTo>
                      <a:pt x="783" y="55"/>
                    </a:lnTo>
                    <a:lnTo>
                      <a:pt x="795" y="52"/>
                    </a:lnTo>
                    <a:lnTo>
                      <a:pt x="802" y="46"/>
                    </a:lnTo>
                    <a:lnTo>
                      <a:pt x="812" y="42"/>
                    </a:lnTo>
                    <a:lnTo>
                      <a:pt x="821" y="36"/>
                    </a:lnTo>
                    <a:lnTo>
                      <a:pt x="833" y="35"/>
                    </a:lnTo>
                    <a:lnTo>
                      <a:pt x="840" y="31"/>
                    </a:lnTo>
                    <a:lnTo>
                      <a:pt x="850" y="27"/>
                    </a:lnTo>
                    <a:lnTo>
                      <a:pt x="859" y="23"/>
                    </a:lnTo>
                    <a:lnTo>
                      <a:pt x="869" y="21"/>
                    </a:lnTo>
                    <a:lnTo>
                      <a:pt x="878" y="17"/>
                    </a:lnTo>
                    <a:lnTo>
                      <a:pt x="886" y="14"/>
                    </a:lnTo>
                    <a:lnTo>
                      <a:pt x="895" y="12"/>
                    </a:lnTo>
                    <a:lnTo>
                      <a:pt x="905" y="10"/>
                    </a:lnTo>
                    <a:lnTo>
                      <a:pt x="913" y="6"/>
                    </a:lnTo>
                    <a:lnTo>
                      <a:pt x="922" y="4"/>
                    </a:lnTo>
                    <a:lnTo>
                      <a:pt x="930" y="4"/>
                    </a:lnTo>
                    <a:lnTo>
                      <a:pt x="939" y="2"/>
                    </a:lnTo>
                    <a:lnTo>
                      <a:pt x="947" y="0"/>
                    </a:lnTo>
                    <a:lnTo>
                      <a:pt x="954" y="0"/>
                    </a:lnTo>
                    <a:lnTo>
                      <a:pt x="962" y="0"/>
                    </a:lnTo>
                    <a:lnTo>
                      <a:pt x="970" y="0"/>
                    </a:lnTo>
                    <a:lnTo>
                      <a:pt x="977" y="0"/>
                    </a:lnTo>
                    <a:lnTo>
                      <a:pt x="985" y="0"/>
                    </a:lnTo>
                    <a:lnTo>
                      <a:pt x="992" y="0"/>
                    </a:lnTo>
                    <a:lnTo>
                      <a:pt x="1000" y="2"/>
                    </a:lnTo>
                    <a:lnTo>
                      <a:pt x="1006" y="2"/>
                    </a:lnTo>
                    <a:lnTo>
                      <a:pt x="1013" y="4"/>
                    </a:lnTo>
                    <a:lnTo>
                      <a:pt x="1019" y="4"/>
                    </a:lnTo>
                    <a:lnTo>
                      <a:pt x="1027" y="6"/>
                    </a:lnTo>
                    <a:lnTo>
                      <a:pt x="1032" y="8"/>
                    </a:lnTo>
                    <a:lnTo>
                      <a:pt x="1040" y="10"/>
                    </a:lnTo>
                    <a:lnTo>
                      <a:pt x="1048" y="12"/>
                    </a:lnTo>
                    <a:lnTo>
                      <a:pt x="1055" y="14"/>
                    </a:lnTo>
                    <a:lnTo>
                      <a:pt x="1063" y="16"/>
                    </a:lnTo>
                    <a:lnTo>
                      <a:pt x="1070" y="17"/>
                    </a:lnTo>
                    <a:lnTo>
                      <a:pt x="1078" y="19"/>
                    </a:lnTo>
                    <a:lnTo>
                      <a:pt x="1086" y="21"/>
                    </a:lnTo>
                    <a:lnTo>
                      <a:pt x="1093" y="25"/>
                    </a:lnTo>
                    <a:lnTo>
                      <a:pt x="1101" y="27"/>
                    </a:lnTo>
                    <a:lnTo>
                      <a:pt x="1108" y="31"/>
                    </a:lnTo>
                    <a:lnTo>
                      <a:pt x="1118" y="33"/>
                    </a:lnTo>
                    <a:lnTo>
                      <a:pt x="1126" y="35"/>
                    </a:lnTo>
                    <a:lnTo>
                      <a:pt x="1133" y="36"/>
                    </a:lnTo>
                    <a:lnTo>
                      <a:pt x="1141" y="40"/>
                    </a:lnTo>
                    <a:lnTo>
                      <a:pt x="1148" y="44"/>
                    </a:lnTo>
                    <a:lnTo>
                      <a:pt x="1156" y="46"/>
                    </a:lnTo>
                    <a:lnTo>
                      <a:pt x="1164" y="50"/>
                    </a:lnTo>
                    <a:lnTo>
                      <a:pt x="1173" y="54"/>
                    </a:lnTo>
                    <a:lnTo>
                      <a:pt x="1181" y="57"/>
                    </a:lnTo>
                    <a:lnTo>
                      <a:pt x="1188" y="59"/>
                    </a:lnTo>
                    <a:lnTo>
                      <a:pt x="1196" y="63"/>
                    </a:lnTo>
                    <a:lnTo>
                      <a:pt x="1203" y="67"/>
                    </a:lnTo>
                    <a:lnTo>
                      <a:pt x="1211" y="73"/>
                    </a:lnTo>
                    <a:lnTo>
                      <a:pt x="1219" y="76"/>
                    </a:lnTo>
                    <a:lnTo>
                      <a:pt x="1226" y="80"/>
                    </a:lnTo>
                    <a:lnTo>
                      <a:pt x="1234" y="86"/>
                    </a:lnTo>
                    <a:lnTo>
                      <a:pt x="1242" y="90"/>
                    </a:lnTo>
                    <a:lnTo>
                      <a:pt x="1249" y="94"/>
                    </a:lnTo>
                    <a:lnTo>
                      <a:pt x="1257" y="99"/>
                    </a:lnTo>
                    <a:lnTo>
                      <a:pt x="1264" y="105"/>
                    </a:lnTo>
                    <a:lnTo>
                      <a:pt x="1270" y="111"/>
                    </a:lnTo>
                    <a:lnTo>
                      <a:pt x="1278" y="114"/>
                    </a:lnTo>
                    <a:lnTo>
                      <a:pt x="1285" y="120"/>
                    </a:lnTo>
                    <a:lnTo>
                      <a:pt x="1291" y="126"/>
                    </a:lnTo>
                    <a:lnTo>
                      <a:pt x="1299" y="132"/>
                    </a:lnTo>
                    <a:lnTo>
                      <a:pt x="1304" y="137"/>
                    </a:lnTo>
                    <a:lnTo>
                      <a:pt x="1310" y="143"/>
                    </a:lnTo>
                    <a:lnTo>
                      <a:pt x="1318" y="149"/>
                    </a:lnTo>
                    <a:lnTo>
                      <a:pt x="1323" y="156"/>
                    </a:lnTo>
                    <a:lnTo>
                      <a:pt x="1329" y="162"/>
                    </a:lnTo>
                    <a:lnTo>
                      <a:pt x="1335" y="168"/>
                    </a:lnTo>
                    <a:lnTo>
                      <a:pt x="1340" y="175"/>
                    </a:lnTo>
                    <a:lnTo>
                      <a:pt x="1346" y="183"/>
                    </a:lnTo>
                    <a:lnTo>
                      <a:pt x="1350" y="189"/>
                    </a:lnTo>
                    <a:lnTo>
                      <a:pt x="1356" y="196"/>
                    </a:lnTo>
                    <a:lnTo>
                      <a:pt x="1359" y="202"/>
                    </a:lnTo>
                    <a:lnTo>
                      <a:pt x="1365" y="211"/>
                    </a:lnTo>
                    <a:lnTo>
                      <a:pt x="1369" y="219"/>
                    </a:lnTo>
                    <a:lnTo>
                      <a:pt x="1373" y="227"/>
                    </a:lnTo>
                    <a:lnTo>
                      <a:pt x="1376" y="234"/>
                    </a:lnTo>
                    <a:lnTo>
                      <a:pt x="1380" y="244"/>
                    </a:lnTo>
                    <a:lnTo>
                      <a:pt x="1384" y="253"/>
                    </a:lnTo>
                    <a:lnTo>
                      <a:pt x="1388" y="261"/>
                    </a:lnTo>
                    <a:lnTo>
                      <a:pt x="1390" y="268"/>
                    </a:lnTo>
                    <a:lnTo>
                      <a:pt x="1394" y="278"/>
                    </a:lnTo>
                    <a:lnTo>
                      <a:pt x="1396" y="286"/>
                    </a:lnTo>
                    <a:lnTo>
                      <a:pt x="1397" y="297"/>
                    </a:lnTo>
                    <a:lnTo>
                      <a:pt x="1401" y="306"/>
                    </a:lnTo>
                    <a:lnTo>
                      <a:pt x="1403" y="316"/>
                    </a:lnTo>
                    <a:lnTo>
                      <a:pt x="1403" y="325"/>
                    </a:lnTo>
                    <a:lnTo>
                      <a:pt x="1405" y="335"/>
                    </a:lnTo>
                    <a:lnTo>
                      <a:pt x="1405" y="345"/>
                    </a:lnTo>
                    <a:lnTo>
                      <a:pt x="1407" y="354"/>
                    </a:lnTo>
                    <a:lnTo>
                      <a:pt x="1409" y="364"/>
                    </a:lnTo>
                    <a:lnTo>
                      <a:pt x="1409" y="373"/>
                    </a:lnTo>
                    <a:lnTo>
                      <a:pt x="1411" y="383"/>
                    </a:lnTo>
                    <a:lnTo>
                      <a:pt x="1413" y="394"/>
                    </a:lnTo>
                    <a:lnTo>
                      <a:pt x="1413" y="402"/>
                    </a:lnTo>
                    <a:lnTo>
                      <a:pt x="1413" y="411"/>
                    </a:lnTo>
                    <a:lnTo>
                      <a:pt x="1415" y="421"/>
                    </a:lnTo>
                    <a:lnTo>
                      <a:pt x="1415" y="430"/>
                    </a:lnTo>
                    <a:lnTo>
                      <a:pt x="1415" y="440"/>
                    </a:lnTo>
                    <a:lnTo>
                      <a:pt x="1416" y="449"/>
                    </a:lnTo>
                    <a:lnTo>
                      <a:pt x="1416" y="459"/>
                    </a:lnTo>
                    <a:lnTo>
                      <a:pt x="1418" y="468"/>
                    </a:lnTo>
                    <a:lnTo>
                      <a:pt x="1418" y="478"/>
                    </a:lnTo>
                    <a:lnTo>
                      <a:pt x="1418" y="485"/>
                    </a:lnTo>
                    <a:lnTo>
                      <a:pt x="1418" y="495"/>
                    </a:lnTo>
                    <a:lnTo>
                      <a:pt x="1420" y="504"/>
                    </a:lnTo>
                    <a:lnTo>
                      <a:pt x="1420" y="512"/>
                    </a:lnTo>
                    <a:lnTo>
                      <a:pt x="1420" y="521"/>
                    </a:lnTo>
                    <a:lnTo>
                      <a:pt x="1420" y="531"/>
                    </a:lnTo>
                    <a:lnTo>
                      <a:pt x="1422" y="538"/>
                    </a:lnTo>
                    <a:lnTo>
                      <a:pt x="1422" y="548"/>
                    </a:lnTo>
                    <a:lnTo>
                      <a:pt x="1422" y="556"/>
                    </a:lnTo>
                    <a:lnTo>
                      <a:pt x="1422" y="563"/>
                    </a:lnTo>
                    <a:lnTo>
                      <a:pt x="1422" y="573"/>
                    </a:lnTo>
                    <a:lnTo>
                      <a:pt x="1422" y="580"/>
                    </a:lnTo>
                    <a:lnTo>
                      <a:pt x="1422" y="588"/>
                    </a:lnTo>
                    <a:lnTo>
                      <a:pt x="1422" y="595"/>
                    </a:lnTo>
                    <a:lnTo>
                      <a:pt x="1424" y="603"/>
                    </a:lnTo>
                    <a:lnTo>
                      <a:pt x="1422" y="611"/>
                    </a:lnTo>
                    <a:lnTo>
                      <a:pt x="1422" y="618"/>
                    </a:lnTo>
                    <a:lnTo>
                      <a:pt x="1422" y="624"/>
                    </a:lnTo>
                    <a:lnTo>
                      <a:pt x="1422" y="632"/>
                    </a:lnTo>
                    <a:lnTo>
                      <a:pt x="1422" y="637"/>
                    </a:lnTo>
                    <a:lnTo>
                      <a:pt x="1422" y="645"/>
                    </a:lnTo>
                    <a:lnTo>
                      <a:pt x="1422" y="651"/>
                    </a:lnTo>
                    <a:lnTo>
                      <a:pt x="1422" y="656"/>
                    </a:lnTo>
                    <a:lnTo>
                      <a:pt x="1422" y="662"/>
                    </a:lnTo>
                    <a:lnTo>
                      <a:pt x="1422" y="668"/>
                    </a:lnTo>
                    <a:lnTo>
                      <a:pt x="1422" y="673"/>
                    </a:lnTo>
                    <a:lnTo>
                      <a:pt x="1422" y="679"/>
                    </a:lnTo>
                    <a:lnTo>
                      <a:pt x="1422" y="683"/>
                    </a:lnTo>
                    <a:lnTo>
                      <a:pt x="1422" y="689"/>
                    </a:lnTo>
                    <a:lnTo>
                      <a:pt x="1422" y="694"/>
                    </a:lnTo>
                    <a:lnTo>
                      <a:pt x="1422" y="700"/>
                    </a:lnTo>
                    <a:lnTo>
                      <a:pt x="1420" y="706"/>
                    </a:lnTo>
                    <a:lnTo>
                      <a:pt x="1420" y="713"/>
                    </a:lnTo>
                    <a:lnTo>
                      <a:pt x="1420" y="719"/>
                    </a:lnTo>
                    <a:lnTo>
                      <a:pt x="1420" y="727"/>
                    </a:lnTo>
                    <a:lnTo>
                      <a:pt x="1420" y="732"/>
                    </a:lnTo>
                    <a:lnTo>
                      <a:pt x="1420" y="736"/>
                    </a:lnTo>
                    <a:lnTo>
                      <a:pt x="1274" y="711"/>
                    </a:lnTo>
                    <a:lnTo>
                      <a:pt x="1274" y="710"/>
                    </a:lnTo>
                    <a:lnTo>
                      <a:pt x="1272" y="706"/>
                    </a:lnTo>
                    <a:lnTo>
                      <a:pt x="1270" y="702"/>
                    </a:lnTo>
                    <a:lnTo>
                      <a:pt x="1268" y="696"/>
                    </a:lnTo>
                    <a:lnTo>
                      <a:pt x="1264" y="689"/>
                    </a:lnTo>
                    <a:lnTo>
                      <a:pt x="1262" y="681"/>
                    </a:lnTo>
                    <a:lnTo>
                      <a:pt x="1261" y="675"/>
                    </a:lnTo>
                    <a:lnTo>
                      <a:pt x="1259" y="670"/>
                    </a:lnTo>
                    <a:lnTo>
                      <a:pt x="1257" y="664"/>
                    </a:lnTo>
                    <a:lnTo>
                      <a:pt x="1255" y="660"/>
                    </a:lnTo>
                    <a:lnTo>
                      <a:pt x="1253" y="653"/>
                    </a:lnTo>
                    <a:lnTo>
                      <a:pt x="1251" y="647"/>
                    </a:lnTo>
                    <a:lnTo>
                      <a:pt x="1247" y="641"/>
                    </a:lnTo>
                    <a:lnTo>
                      <a:pt x="1245" y="634"/>
                    </a:lnTo>
                    <a:lnTo>
                      <a:pt x="1243" y="626"/>
                    </a:lnTo>
                    <a:lnTo>
                      <a:pt x="1240" y="620"/>
                    </a:lnTo>
                    <a:lnTo>
                      <a:pt x="1238" y="613"/>
                    </a:lnTo>
                    <a:lnTo>
                      <a:pt x="1236" y="605"/>
                    </a:lnTo>
                    <a:lnTo>
                      <a:pt x="1234" y="597"/>
                    </a:lnTo>
                    <a:lnTo>
                      <a:pt x="1230" y="588"/>
                    </a:lnTo>
                    <a:lnTo>
                      <a:pt x="1228" y="580"/>
                    </a:lnTo>
                    <a:lnTo>
                      <a:pt x="1224" y="573"/>
                    </a:lnTo>
                    <a:lnTo>
                      <a:pt x="1222" y="565"/>
                    </a:lnTo>
                    <a:lnTo>
                      <a:pt x="1219" y="557"/>
                    </a:lnTo>
                    <a:lnTo>
                      <a:pt x="1217" y="548"/>
                    </a:lnTo>
                    <a:lnTo>
                      <a:pt x="1215" y="540"/>
                    </a:lnTo>
                    <a:lnTo>
                      <a:pt x="1211" y="531"/>
                    </a:lnTo>
                    <a:lnTo>
                      <a:pt x="1209" y="521"/>
                    </a:lnTo>
                    <a:lnTo>
                      <a:pt x="1205" y="512"/>
                    </a:lnTo>
                    <a:lnTo>
                      <a:pt x="1203" y="504"/>
                    </a:lnTo>
                    <a:lnTo>
                      <a:pt x="1200" y="495"/>
                    </a:lnTo>
                    <a:lnTo>
                      <a:pt x="1198" y="485"/>
                    </a:lnTo>
                    <a:lnTo>
                      <a:pt x="1194" y="478"/>
                    </a:lnTo>
                    <a:lnTo>
                      <a:pt x="1192" y="468"/>
                    </a:lnTo>
                    <a:lnTo>
                      <a:pt x="1188" y="459"/>
                    </a:lnTo>
                    <a:lnTo>
                      <a:pt x="1186" y="449"/>
                    </a:lnTo>
                    <a:lnTo>
                      <a:pt x="1183" y="441"/>
                    </a:lnTo>
                    <a:lnTo>
                      <a:pt x="1181" y="432"/>
                    </a:lnTo>
                    <a:lnTo>
                      <a:pt x="1179" y="422"/>
                    </a:lnTo>
                    <a:lnTo>
                      <a:pt x="1177" y="415"/>
                    </a:lnTo>
                    <a:lnTo>
                      <a:pt x="1175" y="407"/>
                    </a:lnTo>
                    <a:lnTo>
                      <a:pt x="1173" y="398"/>
                    </a:lnTo>
                    <a:lnTo>
                      <a:pt x="1169" y="390"/>
                    </a:lnTo>
                    <a:lnTo>
                      <a:pt x="1167" y="381"/>
                    </a:lnTo>
                    <a:lnTo>
                      <a:pt x="1165" y="373"/>
                    </a:lnTo>
                    <a:lnTo>
                      <a:pt x="1164" y="365"/>
                    </a:lnTo>
                    <a:lnTo>
                      <a:pt x="1162" y="358"/>
                    </a:lnTo>
                    <a:lnTo>
                      <a:pt x="1160" y="348"/>
                    </a:lnTo>
                    <a:lnTo>
                      <a:pt x="1158" y="341"/>
                    </a:lnTo>
                    <a:lnTo>
                      <a:pt x="1158" y="335"/>
                    </a:lnTo>
                    <a:lnTo>
                      <a:pt x="1154" y="327"/>
                    </a:lnTo>
                    <a:lnTo>
                      <a:pt x="1154" y="322"/>
                    </a:lnTo>
                    <a:lnTo>
                      <a:pt x="1152" y="314"/>
                    </a:lnTo>
                    <a:lnTo>
                      <a:pt x="1152" y="308"/>
                    </a:lnTo>
                    <a:lnTo>
                      <a:pt x="1152" y="303"/>
                    </a:lnTo>
                    <a:lnTo>
                      <a:pt x="1150" y="297"/>
                    </a:lnTo>
                    <a:lnTo>
                      <a:pt x="1150" y="291"/>
                    </a:lnTo>
                    <a:lnTo>
                      <a:pt x="1150" y="286"/>
                    </a:lnTo>
                    <a:lnTo>
                      <a:pt x="1148" y="280"/>
                    </a:lnTo>
                    <a:lnTo>
                      <a:pt x="1148" y="276"/>
                    </a:lnTo>
                    <a:lnTo>
                      <a:pt x="1146" y="270"/>
                    </a:lnTo>
                    <a:lnTo>
                      <a:pt x="1145" y="267"/>
                    </a:lnTo>
                    <a:lnTo>
                      <a:pt x="1139" y="259"/>
                    </a:lnTo>
                    <a:lnTo>
                      <a:pt x="1135" y="253"/>
                    </a:lnTo>
                    <a:lnTo>
                      <a:pt x="1129" y="246"/>
                    </a:lnTo>
                    <a:lnTo>
                      <a:pt x="1122" y="242"/>
                    </a:lnTo>
                    <a:lnTo>
                      <a:pt x="1112" y="236"/>
                    </a:lnTo>
                    <a:lnTo>
                      <a:pt x="1103" y="232"/>
                    </a:lnTo>
                    <a:lnTo>
                      <a:pt x="1099" y="230"/>
                    </a:lnTo>
                    <a:lnTo>
                      <a:pt x="1093" y="229"/>
                    </a:lnTo>
                    <a:lnTo>
                      <a:pt x="1087" y="227"/>
                    </a:lnTo>
                    <a:lnTo>
                      <a:pt x="1082" y="227"/>
                    </a:lnTo>
                    <a:lnTo>
                      <a:pt x="1076" y="227"/>
                    </a:lnTo>
                    <a:lnTo>
                      <a:pt x="1070" y="225"/>
                    </a:lnTo>
                    <a:lnTo>
                      <a:pt x="1065" y="225"/>
                    </a:lnTo>
                    <a:lnTo>
                      <a:pt x="1059" y="225"/>
                    </a:lnTo>
                    <a:lnTo>
                      <a:pt x="1051" y="223"/>
                    </a:lnTo>
                    <a:lnTo>
                      <a:pt x="1046" y="223"/>
                    </a:lnTo>
                    <a:lnTo>
                      <a:pt x="1040" y="223"/>
                    </a:lnTo>
                    <a:lnTo>
                      <a:pt x="1034" y="223"/>
                    </a:lnTo>
                    <a:lnTo>
                      <a:pt x="1027" y="223"/>
                    </a:lnTo>
                    <a:lnTo>
                      <a:pt x="1021" y="223"/>
                    </a:lnTo>
                    <a:lnTo>
                      <a:pt x="1015" y="223"/>
                    </a:lnTo>
                    <a:lnTo>
                      <a:pt x="1010" y="225"/>
                    </a:lnTo>
                    <a:lnTo>
                      <a:pt x="1002" y="225"/>
                    </a:lnTo>
                    <a:lnTo>
                      <a:pt x="996" y="225"/>
                    </a:lnTo>
                    <a:lnTo>
                      <a:pt x="991" y="225"/>
                    </a:lnTo>
                    <a:lnTo>
                      <a:pt x="985" y="225"/>
                    </a:lnTo>
                    <a:lnTo>
                      <a:pt x="977" y="225"/>
                    </a:lnTo>
                    <a:lnTo>
                      <a:pt x="972" y="227"/>
                    </a:lnTo>
                    <a:lnTo>
                      <a:pt x="966" y="227"/>
                    </a:lnTo>
                    <a:lnTo>
                      <a:pt x="960" y="229"/>
                    </a:lnTo>
                    <a:lnTo>
                      <a:pt x="953" y="229"/>
                    </a:lnTo>
                    <a:lnTo>
                      <a:pt x="947" y="229"/>
                    </a:lnTo>
                    <a:lnTo>
                      <a:pt x="941" y="230"/>
                    </a:lnTo>
                    <a:lnTo>
                      <a:pt x="937" y="230"/>
                    </a:lnTo>
                    <a:lnTo>
                      <a:pt x="932" y="232"/>
                    </a:lnTo>
                    <a:lnTo>
                      <a:pt x="926" y="232"/>
                    </a:lnTo>
                    <a:lnTo>
                      <a:pt x="920" y="234"/>
                    </a:lnTo>
                    <a:lnTo>
                      <a:pt x="916" y="236"/>
                    </a:lnTo>
                    <a:lnTo>
                      <a:pt x="907" y="236"/>
                    </a:lnTo>
                    <a:lnTo>
                      <a:pt x="899" y="238"/>
                    </a:lnTo>
                    <a:lnTo>
                      <a:pt x="892" y="240"/>
                    </a:lnTo>
                    <a:lnTo>
                      <a:pt x="886" y="242"/>
                    </a:lnTo>
                    <a:lnTo>
                      <a:pt x="882" y="242"/>
                    </a:lnTo>
                    <a:lnTo>
                      <a:pt x="878" y="244"/>
                    </a:lnTo>
                    <a:lnTo>
                      <a:pt x="876" y="244"/>
                    </a:lnTo>
                    <a:lnTo>
                      <a:pt x="876" y="246"/>
                    </a:lnTo>
                    <a:lnTo>
                      <a:pt x="876" y="248"/>
                    </a:lnTo>
                    <a:lnTo>
                      <a:pt x="876" y="253"/>
                    </a:lnTo>
                    <a:lnTo>
                      <a:pt x="876" y="259"/>
                    </a:lnTo>
                    <a:lnTo>
                      <a:pt x="876" y="263"/>
                    </a:lnTo>
                    <a:lnTo>
                      <a:pt x="876" y="267"/>
                    </a:lnTo>
                    <a:lnTo>
                      <a:pt x="876" y="272"/>
                    </a:lnTo>
                    <a:lnTo>
                      <a:pt x="876" y="278"/>
                    </a:lnTo>
                    <a:lnTo>
                      <a:pt x="876" y="282"/>
                    </a:lnTo>
                    <a:lnTo>
                      <a:pt x="876" y="287"/>
                    </a:lnTo>
                    <a:lnTo>
                      <a:pt x="876" y="293"/>
                    </a:lnTo>
                    <a:lnTo>
                      <a:pt x="878" y="301"/>
                    </a:lnTo>
                    <a:lnTo>
                      <a:pt x="876" y="306"/>
                    </a:lnTo>
                    <a:lnTo>
                      <a:pt x="876" y="314"/>
                    </a:lnTo>
                    <a:lnTo>
                      <a:pt x="876" y="320"/>
                    </a:lnTo>
                    <a:lnTo>
                      <a:pt x="876" y="327"/>
                    </a:lnTo>
                    <a:lnTo>
                      <a:pt x="876" y="335"/>
                    </a:lnTo>
                    <a:lnTo>
                      <a:pt x="876" y="343"/>
                    </a:lnTo>
                    <a:lnTo>
                      <a:pt x="875" y="352"/>
                    </a:lnTo>
                    <a:lnTo>
                      <a:pt x="875" y="362"/>
                    </a:lnTo>
                    <a:lnTo>
                      <a:pt x="873" y="369"/>
                    </a:lnTo>
                    <a:lnTo>
                      <a:pt x="873" y="377"/>
                    </a:lnTo>
                    <a:lnTo>
                      <a:pt x="871" y="386"/>
                    </a:lnTo>
                    <a:lnTo>
                      <a:pt x="871" y="396"/>
                    </a:lnTo>
                    <a:lnTo>
                      <a:pt x="869" y="405"/>
                    </a:lnTo>
                    <a:lnTo>
                      <a:pt x="867" y="415"/>
                    </a:lnTo>
                    <a:lnTo>
                      <a:pt x="865" y="424"/>
                    </a:lnTo>
                    <a:lnTo>
                      <a:pt x="865" y="434"/>
                    </a:lnTo>
                    <a:lnTo>
                      <a:pt x="861" y="443"/>
                    </a:lnTo>
                    <a:lnTo>
                      <a:pt x="859" y="453"/>
                    </a:lnTo>
                    <a:lnTo>
                      <a:pt x="856" y="462"/>
                    </a:lnTo>
                    <a:lnTo>
                      <a:pt x="856" y="474"/>
                    </a:lnTo>
                    <a:lnTo>
                      <a:pt x="852" y="481"/>
                    </a:lnTo>
                    <a:lnTo>
                      <a:pt x="848" y="493"/>
                    </a:lnTo>
                    <a:lnTo>
                      <a:pt x="846" y="502"/>
                    </a:lnTo>
                    <a:lnTo>
                      <a:pt x="842" y="514"/>
                    </a:lnTo>
                    <a:lnTo>
                      <a:pt x="838" y="523"/>
                    </a:lnTo>
                    <a:lnTo>
                      <a:pt x="833" y="533"/>
                    </a:lnTo>
                    <a:lnTo>
                      <a:pt x="829" y="542"/>
                    </a:lnTo>
                    <a:lnTo>
                      <a:pt x="825" y="554"/>
                    </a:lnTo>
                    <a:lnTo>
                      <a:pt x="821" y="561"/>
                    </a:lnTo>
                    <a:lnTo>
                      <a:pt x="816" y="573"/>
                    </a:lnTo>
                    <a:lnTo>
                      <a:pt x="810" y="582"/>
                    </a:lnTo>
                    <a:lnTo>
                      <a:pt x="806" y="592"/>
                    </a:lnTo>
                    <a:lnTo>
                      <a:pt x="800" y="601"/>
                    </a:lnTo>
                    <a:lnTo>
                      <a:pt x="793" y="611"/>
                    </a:lnTo>
                    <a:lnTo>
                      <a:pt x="787" y="620"/>
                    </a:lnTo>
                    <a:lnTo>
                      <a:pt x="779" y="630"/>
                    </a:lnTo>
                    <a:lnTo>
                      <a:pt x="774" y="637"/>
                    </a:lnTo>
                    <a:lnTo>
                      <a:pt x="766" y="647"/>
                    </a:lnTo>
                    <a:lnTo>
                      <a:pt x="757" y="654"/>
                    </a:lnTo>
                    <a:lnTo>
                      <a:pt x="749" y="664"/>
                    </a:lnTo>
                    <a:lnTo>
                      <a:pt x="741" y="672"/>
                    </a:lnTo>
                    <a:lnTo>
                      <a:pt x="732" y="679"/>
                    </a:lnTo>
                    <a:lnTo>
                      <a:pt x="722" y="687"/>
                    </a:lnTo>
                    <a:lnTo>
                      <a:pt x="713" y="696"/>
                    </a:lnTo>
                    <a:lnTo>
                      <a:pt x="703" y="702"/>
                    </a:lnTo>
                    <a:lnTo>
                      <a:pt x="694" y="710"/>
                    </a:lnTo>
                    <a:lnTo>
                      <a:pt x="683" y="717"/>
                    </a:lnTo>
                    <a:lnTo>
                      <a:pt x="671" y="725"/>
                    </a:lnTo>
                    <a:lnTo>
                      <a:pt x="660" y="729"/>
                    </a:lnTo>
                    <a:lnTo>
                      <a:pt x="648" y="734"/>
                    </a:lnTo>
                    <a:lnTo>
                      <a:pt x="635" y="740"/>
                    </a:lnTo>
                    <a:lnTo>
                      <a:pt x="624" y="746"/>
                    </a:lnTo>
                    <a:lnTo>
                      <a:pt x="610" y="750"/>
                    </a:lnTo>
                    <a:lnTo>
                      <a:pt x="597" y="753"/>
                    </a:lnTo>
                    <a:lnTo>
                      <a:pt x="586" y="759"/>
                    </a:lnTo>
                    <a:lnTo>
                      <a:pt x="572" y="763"/>
                    </a:lnTo>
                    <a:lnTo>
                      <a:pt x="559" y="765"/>
                    </a:lnTo>
                    <a:lnTo>
                      <a:pt x="546" y="769"/>
                    </a:lnTo>
                    <a:lnTo>
                      <a:pt x="532" y="770"/>
                    </a:lnTo>
                    <a:lnTo>
                      <a:pt x="519" y="774"/>
                    </a:lnTo>
                    <a:lnTo>
                      <a:pt x="506" y="776"/>
                    </a:lnTo>
                    <a:lnTo>
                      <a:pt x="490" y="778"/>
                    </a:lnTo>
                    <a:lnTo>
                      <a:pt x="477" y="780"/>
                    </a:lnTo>
                    <a:lnTo>
                      <a:pt x="464" y="782"/>
                    </a:lnTo>
                    <a:lnTo>
                      <a:pt x="451" y="784"/>
                    </a:lnTo>
                    <a:lnTo>
                      <a:pt x="435" y="784"/>
                    </a:lnTo>
                    <a:lnTo>
                      <a:pt x="422" y="786"/>
                    </a:lnTo>
                    <a:lnTo>
                      <a:pt x="407" y="786"/>
                    </a:lnTo>
                    <a:lnTo>
                      <a:pt x="394" y="786"/>
                    </a:lnTo>
                    <a:lnTo>
                      <a:pt x="380" y="788"/>
                    </a:lnTo>
                    <a:lnTo>
                      <a:pt x="367" y="788"/>
                    </a:lnTo>
                    <a:lnTo>
                      <a:pt x="352" y="788"/>
                    </a:lnTo>
                    <a:lnTo>
                      <a:pt x="338" y="788"/>
                    </a:lnTo>
                    <a:lnTo>
                      <a:pt x="325" y="786"/>
                    </a:lnTo>
                    <a:lnTo>
                      <a:pt x="312" y="786"/>
                    </a:lnTo>
                    <a:lnTo>
                      <a:pt x="297" y="786"/>
                    </a:lnTo>
                    <a:lnTo>
                      <a:pt x="283" y="784"/>
                    </a:lnTo>
                    <a:lnTo>
                      <a:pt x="270" y="784"/>
                    </a:lnTo>
                    <a:lnTo>
                      <a:pt x="257" y="782"/>
                    </a:lnTo>
                    <a:lnTo>
                      <a:pt x="245" y="782"/>
                    </a:lnTo>
                    <a:lnTo>
                      <a:pt x="232" y="780"/>
                    </a:lnTo>
                    <a:lnTo>
                      <a:pt x="219" y="778"/>
                    </a:lnTo>
                    <a:lnTo>
                      <a:pt x="205" y="776"/>
                    </a:lnTo>
                    <a:lnTo>
                      <a:pt x="194" y="776"/>
                    </a:lnTo>
                    <a:lnTo>
                      <a:pt x="181" y="774"/>
                    </a:lnTo>
                    <a:lnTo>
                      <a:pt x="169" y="772"/>
                    </a:lnTo>
                    <a:lnTo>
                      <a:pt x="158" y="770"/>
                    </a:lnTo>
                    <a:lnTo>
                      <a:pt x="148" y="770"/>
                    </a:lnTo>
                    <a:lnTo>
                      <a:pt x="137" y="767"/>
                    </a:lnTo>
                    <a:lnTo>
                      <a:pt x="125" y="767"/>
                    </a:lnTo>
                    <a:lnTo>
                      <a:pt x="116" y="763"/>
                    </a:lnTo>
                    <a:lnTo>
                      <a:pt x="106" y="763"/>
                    </a:lnTo>
                    <a:lnTo>
                      <a:pt x="97" y="761"/>
                    </a:lnTo>
                    <a:lnTo>
                      <a:pt x="87" y="759"/>
                    </a:lnTo>
                    <a:lnTo>
                      <a:pt x="78" y="759"/>
                    </a:lnTo>
                    <a:lnTo>
                      <a:pt x="70" y="757"/>
                    </a:lnTo>
                    <a:lnTo>
                      <a:pt x="63" y="755"/>
                    </a:lnTo>
                    <a:lnTo>
                      <a:pt x="53" y="753"/>
                    </a:lnTo>
                    <a:lnTo>
                      <a:pt x="47" y="751"/>
                    </a:lnTo>
                    <a:lnTo>
                      <a:pt x="40" y="750"/>
                    </a:lnTo>
                    <a:lnTo>
                      <a:pt x="32" y="748"/>
                    </a:lnTo>
                    <a:lnTo>
                      <a:pt x="27" y="748"/>
                    </a:lnTo>
                    <a:lnTo>
                      <a:pt x="21" y="746"/>
                    </a:lnTo>
                    <a:lnTo>
                      <a:pt x="19" y="746"/>
                    </a:lnTo>
                    <a:lnTo>
                      <a:pt x="9" y="742"/>
                    </a:lnTo>
                    <a:lnTo>
                      <a:pt x="4" y="742"/>
                    </a:lnTo>
                    <a:lnTo>
                      <a:pt x="0" y="742"/>
                    </a:lnTo>
                    <a:lnTo>
                      <a:pt x="63" y="400"/>
                    </a:lnTo>
                    <a:lnTo>
                      <a:pt x="65" y="402"/>
                    </a:lnTo>
                    <a:lnTo>
                      <a:pt x="70" y="411"/>
                    </a:lnTo>
                    <a:lnTo>
                      <a:pt x="72" y="417"/>
                    </a:lnTo>
                    <a:lnTo>
                      <a:pt x="78" y="422"/>
                    </a:lnTo>
                    <a:lnTo>
                      <a:pt x="84" y="430"/>
                    </a:lnTo>
                    <a:lnTo>
                      <a:pt x="93" y="440"/>
                    </a:lnTo>
                    <a:lnTo>
                      <a:pt x="99" y="447"/>
                    </a:lnTo>
                    <a:lnTo>
                      <a:pt x="108" y="457"/>
                    </a:lnTo>
                    <a:lnTo>
                      <a:pt x="112" y="460"/>
                    </a:lnTo>
                    <a:lnTo>
                      <a:pt x="118" y="466"/>
                    </a:lnTo>
                    <a:lnTo>
                      <a:pt x="124" y="472"/>
                    </a:lnTo>
                    <a:lnTo>
                      <a:pt x="127" y="478"/>
                    </a:lnTo>
                    <a:lnTo>
                      <a:pt x="133" y="481"/>
                    </a:lnTo>
                    <a:lnTo>
                      <a:pt x="139" y="487"/>
                    </a:lnTo>
                    <a:lnTo>
                      <a:pt x="144" y="493"/>
                    </a:lnTo>
                    <a:lnTo>
                      <a:pt x="152" y="499"/>
                    </a:lnTo>
                    <a:lnTo>
                      <a:pt x="156" y="504"/>
                    </a:lnTo>
                    <a:lnTo>
                      <a:pt x="163" y="510"/>
                    </a:lnTo>
                    <a:lnTo>
                      <a:pt x="171" y="516"/>
                    </a:lnTo>
                    <a:lnTo>
                      <a:pt x="179" y="521"/>
                    </a:lnTo>
                    <a:lnTo>
                      <a:pt x="184" y="525"/>
                    </a:lnTo>
                    <a:lnTo>
                      <a:pt x="192" y="531"/>
                    </a:lnTo>
                    <a:lnTo>
                      <a:pt x="200" y="535"/>
                    </a:lnTo>
                    <a:lnTo>
                      <a:pt x="207" y="540"/>
                    </a:lnTo>
                    <a:lnTo>
                      <a:pt x="215" y="546"/>
                    </a:lnTo>
                    <a:lnTo>
                      <a:pt x="222" y="550"/>
                    </a:lnTo>
                    <a:lnTo>
                      <a:pt x="232" y="556"/>
                    </a:lnTo>
                    <a:lnTo>
                      <a:pt x="240" y="561"/>
                    </a:lnTo>
                    <a:lnTo>
                      <a:pt x="247" y="563"/>
                    </a:lnTo>
                    <a:lnTo>
                      <a:pt x="257" y="569"/>
                    </a:lnTo>
                    <a:lnTo>
                      <a:pt x="264" y="573"/>
                    </a:lnTo>
                    <a:lnTo>
                      <a:pt x="274" y="578"/>
                    </a:lnTo>
                    <a:lnTo>
                      <a:pt x="283" y="582"/>
                    </a:lnTo>
                    <a:lnTo>
                      <a:pt x="293" y="586"/>
                    </a:lnTo>
                    <a:lnTo>
                      <a:pt x="302" y="588"/>
                    </a:lnTo>
                    <a:lnTo>
                      <a:pt x="314" y="592"/>
                    </a:lnTo>
                    <a:lnTo>
                      <a:pt x="321" y="594"/>
                    </a:lnTo>
                    <a:lnTo>
                      <a:pt x="333" y="597"/>
                    </a:lnTo>
                    <a:lnTo>
                      <a:pt x="342" y="599"/>
                    </a:lnTo>
                    <a:lnTo>
                      <a:pt x="354" y="603"/>
                    </a:lnTo>
                    <a:lnTo>
                      <a:pt x="363" y="603"/>
                    </a:lnTo>
                    <a:lnTo>
                      <a:pt x="375" y="605"/>
                    </a:lnTo>
                    <a:lnTo>
                      <a:pt x="386" y="605"/>
                    </a:lnTo>
                    <a:lnTo>
                      <a:pt x="397" y="607"/>
                    </a:lnTo>
                    <a:lnTo>
                      <a:pt x="407" y="607"/>
                    </a:lnTo>
                    <a:lnTo>
                      <a:pt x="418" y="607"/>
                    </a:lnTo>
                    <a:lnTo>
                      <a:pt x="430" y="607"/>
                    </a:lnTo>
                    <a:lnTo>
                      <a:pt x="441" y="607"/>
                    </a:lnTo>
                    <a:lnTo>
                      <a:pt x="452" y="605"/>
                    </a:lnTo>
                    <a:lnTo>
                      <a:pt x="466" y="603"/>
                    </a:lnTo>
                    <a:lnTo>
                      <a:pt x="477" y="601"/>
                    </a:lnTo>
                    <a:lnTo>
                      <a:pt x="490" y="601"/>
                    </a:lnTo>
                    <a:lnTo>
                      <a:pt x="502" y="597"/>
                    </a:lnTo>
                    <a:lnTo>
                      <a:pt x="511" y="594"/>
                    </a:lnTo>
                    <a:lnTo>
                      <a:pt x="523" y="590"/>
                    </a:lnTo>
                    <a:lnTo>
                      <a:pt x="534" y="586"/>
                    </a:lnTo>
                    <a:lnTo>
                      <a:pt x="542" y="582"/>
                    </a:lnTo>
                    <a:lnTo>
                      <a:pt x="551" y="576"/>
                    </a:lnTo>
                    <a:lnTo>
                      <a:pt x="559" y="571"/>
                    </a:lnTo>
                    <a:lnTo>
                      <a:pt x="567" y="567"/>
                    </a:lnTo>
                    <a:lnTo>
                      <a:pt x="574" y="561"/>
                    </a:lnTo>
                    <a:lnTo>
                      <a:pt x="580" y="556"/>
                    </a:lnTo>
                    <a:lnTo>
                      <a:pt x="586" y="548"/>
                    </a:lnTo>
                    <a:lnTo>
                      <a:pt x="591" y="542"/>
                    </a:lnTo>
                    <a:lnTo>
                      <a:pt x="595" y="535"/>
                    </a:lnTo>
                    <a:lnTo>
                      <a:pt x="601" y="527"/>
                    </a:lnTo>
                    <a:lnTo>
                      <a:pt x="605" y="519"/>
                    </a:lnTo>
                    <a:lnTo>
                      <a:pt x="608" y="514"/>
                    </a:lnTo>
                    <a:lnTo>
                      <a:pt x="612" y="506"/>
                    </a:lnTo>
                    <a:lnTo>
                      <a:pt x="614" y="497"/>
                    </a:lnTo>
                    <a:lnTo>
                      <a:pt x="616" y="489"/>
                    </a:lnTo>
                    <a:lnTo>
                      <a:pt x="618" y="481"/>
                    </a:lnTo>
                    <a:lnTo>
                      <a:pt x="618" y="472"/>
                    </a:lnTo>
                    <a:lnTo>
                      <a:pt x="620" y="464"/>
                    </a:lnTo>
                    <a:lnTo>
                      <a:pt x="622" y="455"/>
                    </a:lnTo>
                    <a:lnTo>
                      <a:pt x="622" y="447"/>
                    </a:lnTo>
                    <a:lnTo>
                      <a:pt x="622" y="438"/>
                    </a:lnTo>
                    <a:lnTo>
                      <a:pt x="622" y="428"/>
                    </a:lnTo>
                    <a:lnTo>
                      <a:pt x="622" y="421"/>
                    </a:lnTo>
                    <a:lnTo>
                      <a:pt x="622" y="413"/>
                    </a:lnTo>
                    <a:lnTo>
                      <a:pt x="620" y="403"/>
                    </a:lnTo>
                    <a:lnTo>
                      <a:pt x="618" y="394"/>
                    </a:lnTo>
                    <a:lnTo>
                      <a:pt x="618" y="386"/>
                    </a:lnTo>
                    <a:lnTo>
                      <a:pt x="616" y="377"/>
                    </a:lnTo>
                    <a:lnTo>
                      <a:pt x="614" y="367"/>
                    </a:lnTo>
                    <a:lnTo>
                      <a:pt x="612" y="360"/>
                    </a:lnTo>
                    <a:lnTo>
                      <a:pt x="610" y="350"/>
                    </a:lnTo>
                    <a:lnTo>
                      <a:pt x="608" y="341"/>
                    </a:lnTo>
                    <a:lnTo>
                      <a:pt x="605" y="333"/>
                    </a:lnTo>
                    <a:lnTo>
                      <a:pt x="603" y="325"/>
                    </a:lnTo>
                    <a:lnTo>
                      <a:pt x="599" y="316"/>
                    </a:lnTo>
                    <a:lnTo>
                      <a:pt x="597" y="308"/>
                    </a:lnTo>
                    <a:lnTo>
                      <a:pt x="595" y="301"/>
                    </a:lnTo>
                    <a:lnTo>
                      <a:pt x="591" y="291"/>
                    </a:lnTo>
                    <a:lnTo>
                      <a:pt x="589" y="284"/>
                    </a:lnTo>
                    <a:lnTo>
                      <a:pt x="586" y="278"/>
                    </a:lnTo>
                    <a:lnTo>
                      <a:pt x="584" y="270"/>
                    </a:lnTo>
                    <a:lnTo>
                      <a:pt x="582" y="263"/>
                    </a:lnTo>
                    <a:lnTo>
                      <a:pt x="578" y="257"/>
                    </a:lnTo>
                    <a:lnTo>
                      <a:pt x="576" y="251"/>
                    </a:lnTo>
                    <a:lnTo>
                      <a:pt x="572" y="244"/>
                    </a:lnTo>
                    <a:lnTo>
                      <a:pt x="568" y="238"/>
                    </a:lnTo>
                    <a:lnTo>
                      <a:pt x="567" y="232"/>
                    </a:lnTo>
                    <a:lnTo>
                      <a:pt x="563" y="227"/>
                    </a:lnTo>
                    <a:lnTo>
                      <a:pt x="559" y="219"/>
                    </a:lnTo>
                    <a:lnTo>
                      <a:pt x="555" y="211"/>
                    </a:lnTo>
                    <a:lnTo>
                      <a:pt x="551" y="204"/>
                    </a:lnTo>
                    <a:lnTo>
                      <a:pt x="549" y="198"/>
                    </a:lnTo>
                    <a:lnTo>
                      <a:pt x="548" y="196"/>
                    </a:lnTo>
                    <a:close/>
                  </a:path>
                </a:pathLst>
              </a:custGeom>
              <a:solidFill>
                <a:srgbClr val="B5667A"/>
              </a:solidFill>
              <a:ln w="9525">
                <a:noFill/>
                <a:round/>
              </a:ln>
            </p:spPr>
            <p:txBody>
              <a:bodyPr/>
              <a:lstStyle/>
              <a:p>
                <a:endParaRPr lang="en-US"/>
              </a:p>
            </p:txBody>
          </p:sp>
          <p:sp>
            <p:nvSpPr>
              <p:cNvPr id="1048986" name="Freeform 284"/>
              <p:cNvSpPr/>
              <p:nvPr/>
            </p:nvSpPr>
            <p:spPr bwMode="auto">
              <a:xfrm>
                <a:off x="2199" y="2024"/>
                <a:ext cx="110" cy="114"/>
              </a:xfrm>
              <a:custGeom>
                <a:avLst/>
                <a:gdLst>
                  <a:gd name="T0" fmla="*/ 31 w 221"/>
                  <a:gd name="T1" fmla="*/ 0 h 228"/>
                  <a:gd name="T2" fmla="*/ 40 w 221"/>
                  <a:gd name="T3" fmla="*/ 3 h 228"/>
                  <a:gd name="T4" fmla="*/ 48 w 221"/>
                  <a:gd name="T5" fmla="*/ 6 h 228"/>
                  <a:gd name="T6" fmla="*/ 58 w 221"/>
                  <a:gd name="T7" fmla="*/ 10 h 228"/>
                  <a:gd name="T8" fmla="*/ 67 w 221"/>
                  <a:gd name="T9" fmla="*/ 14 h 228"/>
                  <a:gd name="T10" fmla="*/ 75 w 221"/>
                  <a:gd name="T11" fmla="*/ 20 h 228"/>
                  <a:gd name="T12" fmla="*/ 84 w 221"/>
                  <a:gd name="T13" fmla="*/ 26 h 228"/>
                  <a:gd name="T14" fmla="*/ 91 w 221"/>
                  <a:gd name="T15" fmla="*/ 33 h 228"/>
                  <a:gd name="T16" fmla="*/ 98 w 221"/>
                  <a:gd name="T17" fmla="*/ 38 h 228"/>
                  <a:gd name="T18" fmla="*/ 103 w 221"/>
                  <a:gd name="T19" fmla="*/ 46 h 228"/>
                  <a:gd name="T20" fmla="*/ 106 w 221"/>
                  <a:gd name="T21" fmla="*/ 54 h 228"/>
                  <a:gd name="T22" fmla="*/ 109 w 221"/>
                  <a:gd name="T23" fmla="*/ 61 h 228"/>
                  <a:gd name="T24" fmla="*/ 109 w 221"/>
                  <a:gd name="T25" fmla="*/ 70 h 228"/>
                  <a:gd name="T26" fmla="*/ 107 w 221"/>
                  <a:gd name="T27" fmla="*/ 78 h 228"/>
                  <a:gd name="T28" fmla="*/ 104 w 221"/>
                  <a:gd name="T29" fmla="*/ 87 h 228"/>
                  <a:gd name="T30" fmla="*/ 99 w 221"/>
                  <a:gd name="T31" fmla="*/ 95 h 228"/>
                  <a:gd name="T32" fmla="*/ 91 w 221"/>
                  <a:gd name="T33" fmla="*/ 103 h 228"/>
                  <a:gd name="T34" fmla="*/ 84 w 221"/>
                  <a:gd name="T35" fmla="*/ 108 h 228"/>
                  <a:gd name="T36" fmla="*/ 75 w 221"/>
                  <a:gd name="T37" fmla="*/ 112 h 228"/>
                  <a:gd name="T38" fmla="*/ 65 w 221"/>
                  <a:gd name="T39" fmla="*/ 114 h 228"/>
                  <a:gd name="T40" fmla="*/ 57 w 221"/>
                  <a:gd name="T41" fmla="*/ 114 h 228"/>
                  <a:gd name="T42" fmla="*/ 47 w 221"/>
                  <a:gd name="T43" fmla="*/ 114 h 228"/>
                  <a:gd name="T44" fmla="*/ 40 w 221"/>
                  <a:gd name="T45" fmla="*/ 113 h 228"/>
                  <a:gd name="T46" fmla="*/ 34 w 221"/>
                  <a:gd name="T47" fmla="*/ 110 h 228"/>
                  <a:gd name="T48" fmla="*/ 36 w 221"/>
                  <a:gd name="T49" fmla="*/ 108 h 228"/>
                  <a:gd name="T50" fmla="*/ 44 w 221"/>
                  <a:gd name="T51" fmla="*/ 106 h 228"/>
                  <a:gd name="T52" fmla="*/ 51 w 221"/>
                  <a:gd name="T53" fmla="*/ 104 h 228"/>
                  <a:gd name="T54" fmla="*/ 59 w 221"/>
                  <a:gd name="T55" fmla="*/ 102 h 228"/>
                  <a:gd name="T56" fmla="*/ 66 w 221"/>
                  <a:gd name="T57" fmla="*/ 98 h 228"/>
                  <a:gd name="T58" fmla="*/ 72 w 221"/>
                  <a:gd name="T59" fmla="*/ 95 h 228"/>
                  <a:gd name="T60" fmla="*/ 79 w 221"/>
                  <a:gd name="T61" fmla="*/ 90 h 228"/>
                  <a:gd name="T62" fmla="*/ 84 w 221"/>
                  <a:gd name="T63" fmla="*/ 86 h 228"/>
                  <a:gd name="T64" fmla="*/ 87 w 221"/>
                  <a:gd name="T65" fmla="*/ 80 h 228"/>
                  <a:gd name="T66" fmla="*/ 91 w 221"/>
                  <a:gd name="T67" fmla="*/ 75 h 228"/>
                  <a:gd name="T68" fmla="*/ 93 w 221"/>
                  <a:gd name="T69" fmla="*/ 69 h 228"/>
                  <a:gd name="T70" fmla="*/ 93 w 221"/>
                  <a:gd name="T71" fmla="*/ 62 h 228"/>
                  <a:gd name="T72" fmla="*/ 91 w 221"/>
                  <a:gd name="T73" fmla="*/ 56 h 228"/>
                  <a:gd name="T74" fmla="*/ 88 w 221"/>
                  <a:gd name="T75" fmla="*/ 50 h 228"/>
                  <a:gd name="T76" fmla="*/ 84 w 221"/>
                  <a:gd name="T77" fmla="*/ 44 h 228"/>
                  <a:gd name="T78" fmla="*/ 77 w 221"/>
                  <a:gd name="T79" fmla="*/ 37 h 228"/>
                  <a:gd name="T80" fmla="*/ 69 w 221"/>
                  <a:gd name="T81" fmla="*/ 31 h 228"/>
                  <a:gd name="T82" fmla="*/ 60 w 221"/>
                  <a:gd name="T83" fmla="*/ 27 h 228"/>
                  <a:gd name="T84" fmla="*/ 51 w 221"/>
                  <a:gd name="T85" fmla="*/ 24 h 228"/>
                  <a:gd name="T86" fmla="*/ 43 w 221"/>
                  <a:gd name="T87" fmla="*/ 22 h 228"/>
                  <a:gd name="T88" fmla="*/ 33 w 221"/>
                  <a:gd name="T89" fmla="*/ 20 h 228"/>
                  <a:gd name="T90" fmla="*/ 24 w 221"/>
                  <a:gd name="T91" fmla="*/ 19 h 228"/>
                  <a:gd name="T92" fmla="*/ 17 w 221"/>
                  <a:gd name="T93" fmla="*/ 18 h 228"/>
                  <a:gd name="T94" fmla="*/ 11 w 221"/>
                  <a:gd name="T95" fmla="*/ 18 h 228"/>
                  <a:gd name="T96" fmla="*/ 5 w 221"/>
                  <a:gd name="T97" fmla="*/ 17 h 228"/>
                  <a:gd name="T98" fmla="*/ 26 w 221"/>
                  <a:gd name="T99" fmla="*/ 0 h 228"/>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w 221"/>
                  <a:gd name="T151" fmla="*/ 0 h 228"/>
                  <a:gd name="T152" fmla="*/ 221 w 221"/>
                  <a:gd name="T153" fmla="*/ 228 h 228"/>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T150" t="T151" r="T152" b="T153"/>
                <a:pathLst>
                  <a:path w="221" h="228">
                    <a:moveTo>
                      <a:pt x="53" y="0"/>
                    </a:moveTo>
                    <a:lnTo>
                      <a:pt x="63" y="0"/>
                    </a:lnTo>
                    <a:lnTo>
                      <a:pt x="71" y="4"/>
                    </a:lnTo>
                    <a:lnTo>
                      <a:pt x="80" y="6"/>
                    </a:lnTo>
                    <a:lnTo>
                      <a:pt x="90" y="10"/>
                    </a:lnTo>
                    <a:lnTo>
                      <a:pt x="97" y="12"/>
                    </a:lnTo>
                    <a:lnTo>
                      <a:pt x="109" y="15"/>
                    </a:lnTo>
                    <a:lnTo>
                      <a:pt x="116" y="19"/>
                    </a:lnTo>
                    <a:lnTo>
                      <a:pt x="126" y="25"/>
                    </a:lnTo>
                    <a:lnTo>
                      <a:pt x="135" y="29"/>
                    </a:lnTo>
                    <a:lnTo>
                      <a:pt x="143" y="34"/>
                    </a:lnTo>
                    <a:lnTo>
                      <a:pt x="150" y="40"/>
                    </a:lnTo>
                    <a:lnTo>
                      <a:pt x="160" y="46"/>
                    </a:lnTo>
                    <a:lnTo>
                      <a:pt x="168" y="52"/>
                    </a:lnTo>
                    <a:lnTo>
                      <a:pt x="175" y="57"/>
                    </a:lnTo>
                    <a:lnTo>
                      <a:pt x="183" y="65"/>
                    </a:lnTo>
                    <a:lnTo>
                      <a:pt x="190" y="71"/>
                    </a:lnTo>
                    <a:lnTo>
                      <a:pt x="196" y="76"/>
                    </a:lnTo>
                    <a:lnTo>
                      <a:pt x="202" y="84"/>
                    </a:lnTo>
                    <a:lnTo>
                      <a:pt x="206" y="92"/>
                    </a:lnTo>
                    <a:lnTo>
                      <a:pt x="211" y="99"/>
                    </a:lnTo>
                    <a:lnTo>
                      <a:pt x="213" y="107"/>
                    </a:lnTo>
                    <a:lnTo>
                      <a:pt x="217" y="114"/>
                    </a:lnTo>
                    <a:lnTo>
                      <a:pt x="219" y="122"/>
                    </a:lnTo>
                    <a:lnTo>
                      <a:pt x="221" y="131"/>
                    </a:lnTo>
                    <a:lnTo>
                      <a:pt x="219" y="139"/>
                    </a:lnTo>
                    <a:lnTo>
                      <a:pt x="219" y="147"/>
                    </a:lnTo>
                    <a:lnTo>
                      <a:pt x="215" y="156"/>
                    </a:lnTo>
                    <a:lnTo>
                      <a:pt x="213" y="164"/>
                    </a:lnTo>
                    <a:lnTo>
                      <a:pt x="209" y="173"/>
                    </a:lnTo>
                    <a:lnTo>
                      <a:pt x="204" y="181"/>
                    </a:lnTo>
                    <a:lnTo>
                      <a:pt x="198" y="190"/>
                    </a:lnTo>
                    <a:lnTo>
                      <a:pt x="190" y="202"/>
                    </a:lnTo>
                    <a:lnTo>
                      <a:pt x="183" y="206"/>
                    </a:lnTo>
                    <a:lnTo>
                      <a:pt x="175" y="211"/>
                    </a:lnTo>
                    <a:lnTo>
                      <a:pt x="168" y="215"/>
                    </a:lnTo>
                    <a:lnTo>
                      <a:pt x="160" y="219"/>
                    </a:lnTo>
                    <a:lnTo>
                      <a:pt x="150" y="223"/>
                    </a:lnTo>
                    <a:lnTo>
                      <a:pt x="143" y="225"/>
                    </a:lnTo>
                    <a:lnTo>
                      <a:pt x="131" y="227"/>
                    </a:lnTo>
                    <a:lnTo>
                      <a:pt x="124" y="228"/>
                    </a:lnTo>
                    <a:lnTo>
                      <a:pt x="114" y="228"/>
                    </a:lnTo>
                    <a:lnTo>
                      <a:pt x="105" y="228"/>
                    </a:lnTo>
                    <a:lnTo>
                      <a:pt x="95" y="228"/>
                    </a:lnTo>
                    <a:lnTo>
                      <a:pt x="88" y="228"/>
                    </a:lnTo>
                    <a:lnTo>
                      <a:pt x="80" y="225"/>
                    </a:lnTo>
                    <a:lnTo>
                      <a:pt x="74" y="223"/>
                    </a:lnTo>
                    <a:lnTo>
                      <a:pt x="69" y="219"/>
                    </a:lnTo>
                    <a:lnTo>
                      <a:pt x="65" y="217"/>
                    </a:lnTo>
                    <a:lnTo>
                      <a:pt x="72" y="215"/>
                    </a:lnTo>
                    <a:lnTo>
                      <a:pt x="80" y="213"/>
                    </a:lnTo>
                    <a:lnTo>
                      <a:pt x="88" y="211"/>
                    </a:lnTo>
                    <a:lnTo>
                      <a:pt x="95" y="211"/>
                    </a:lnTo>
                    <a:lnTo>
                      <a:pt x="103" y="208"/>
                    </a:lnTo>
                    <a:lnTo>
                      <a:pt x="110" y="206"/>
                    </a:lnTo>
                    <a:lnTo>
                      <a:pt x="118" y="204"/>
                    </a:lnTo>
                    <a:lnTo>
                      <a:pt x="126" y="202"/>
                    </a:lnTo>
                    <a:lnTo>
                      <a:pt x="133" y="196"/>
                    </a:lnTo>
                    <a:lnTo>
                      <a:pt x="139" y="192"/>
                    </a:lnTo>
                    <a:lnTo>
                      <a:pt x="145" y="189"/>
                    </a:lnTo>
                    <a:lnTo>
                      <a:pt x="152" y="185"/>
                    </a:lnTo>
                    <a:lnTo>
                      <a:pt x="158" y="179"/>
                    </a:lnTo>
                    <a:lnTo>
                      <a:pt x="164" y="175"/>
                    </a:lnTo>
                    <a:lnTo>
                      <a:pt x="168" y="171"/>
                    </a:lnTo>
                    <a:lnTo>
                      <a:pt x="173" y="166"/>
                    </a:lnTo>
                    <a:lnTo>
                      <a:pt x="175" y="160"/>
                    </a:lnTo>
                    <a:lnTo>
                      <a:pt x="179" y="154"/>
                    </a:lnTo>
                    <a:lnTo>
                      <a:pt x="183" y="149"/>
                    </a:lnTo>
                    <a:lnTo>
                      <a:pt x="185" y="143"/>
                    </a:lnTo>
                    <a:lnTo>
                      <a:pt x="187" y="137"/>
                    </a:lnTo>
                    <a:lnTo>
                      <a:pt x="187" y="130"/>
                    </a:lnTo>
                    <a:lnTo>
                      <a:pt x="187" y="124"/>
                    </a:lnTo>
                    <a:lnTo>
                      <a:pt x="187" y="118"/>
                    </a:lnTo>
                    <a:lnTo>
                      <a:pt x="183" y="112"/>
                    </a:lnTo>
                    <a:lnTo>
                      <a:pt x="181" y="105"/>
                    </a:lnTo>
                    <a:lnTo>
                      <a:pt x="177" y="99"/>
                    </a:lnTo>
                    <a:lnTo>
                      <a:pt x="173" y="93"/>
                    </a:lnTo>
                    <a:lnTo>
                      <a:pt x="168" y="88"/>
                    </a:lnTo>
                    <a:lnTo>
                      <a:pt x="162" y="80"/>
                    </a:lnTo>
                    <a:lnTo>
                      <a:pt x="154" y="74"/>
                    </a:lnTo>
                    <a:lnTo>
                      <a:pt x="148" y="69"/>
                    </a:lnTo>
                    <a:lnTo>
                      <a:pt x="139" y="63"/>
                    </a:lnTo>
                    <a:lnTo>
                      <a:pt x="129" y="57"/>
                    </a:lnTo>
                    <a:lnTo>
                      <a:pt x="120" y="54"/>
                    </a:lnTo>
                    <a:lnTo>
                      <a:pt x="112" y="50"/>
                    </a:lnTo>
                    <a:lnTo>
                      <a:pt x="103" y="48"/>
                    </a:lnTo>
                    <a:lnTo>
                      <a:pt x="93" y="46"/>
                    </a:lnTo>
                    <a:lnTo>
                      <a:pt x="86" y="44"/>
                    </a:lnTo>
                    <a:lnTo>
                      <a:pt x="76" y="42"/>
                    </a:lnTo>
                    <a:lnTo>
                      <a:pt x="67" y="40"/>
                    </a:lnTo>
                    <a:lnTo>
                      <a:pt x="57" y="40"/>
                    </a:lnTo>
                    <a:lnTo>
                      <a:pt x="48" y="38"/>
                    </a:lnTo>
                    <a:lnTo>
                      <a:pt x="38" y="38"/>
                    </a:lnTo>
                    <a:lnTo>
                      <a:pt x="34" y="36"/>
                    </a:lnTo>
                    <a:lnTo>
                      <a:pt x="29" y="36"/>
                    </a:lnTo>
                    <a:lnTo>
                      <a:pt x="23" y="36"/>
                    </a:lnTo>
                    <a:lnTo>
                      <a:pt x="19" y="34"/>
                    </a:lnTo>
                    <a:lnTo>
                      <a:pt x="10" y="33"/>
                    </a:lnTo>
                    <a:lnTo>
                      <a:pt x="0" y="33"/>
                    </a:lnTo>
                    <a:lnTo>
                      <a:pt x="53" y="0"/>
                    </a:lnTo>
                    <a:close/>
                  </a:path>
                </a:pathLst>
              </a:custGeom>
              <a:solidFill>
                <a:srgbClr val="000000"/>
              </a:solidFill>
              <a:ln w="9525">
                <a:noFill/>
                <a:round/>
              </a:ln>
            </p:spPr>
            <p:txBody>
              <a:bodyPr/>
              <a:lstStyle/>
              <a:p>
                <a:endParaRPr lang="en-US"/>
              </a:p>
            </p:txBody>
          </p:sp>
          <p:sp>
            <p:nvSpPr>
              <p:cNvPr id="1048987" name="Freeform 285"/>
              <p:cNvSpPr/>
              <p:nvPr/>
            </p:nvSpPr>
            <p:spPr bwMode="auto">
              <a:xfrm>
                <a:off x="2306" y="2159"/>
                <a:ext cx="318" cy="33"/>
              </a:xfrm>
              <a:custGeom>
                <a:avLst/>
                <a:gdLst>
                  <a:gd name="T0" fmla="*/ 304 w 635"/>
                  <a:gd name="T1" fmla="*/ 3 h 67"/>
                  <a:gd name="T2" fmla="*/ 313 w 635"/>
                  <a:gd name="T3" fmla="*/ 12 h 67"/>
                  <a:gd name="T4" fmla="*/ 318 w 635"/>
                  <a:gd name="T5" fmla="*/ 22 h 67"/>
                  <a:gd name="T6" fmla="*/ 302 w 635"/>
                  <a:gd name="T7" fmla="*/ 22 h 67"/>
                  <a:gd name="T8" fmla="*/ 285 w 635"/>
                  <a:gd name="T9" fmla="*/ 22 h 67"/>
                  <a:gd name="T10" fmla="*/ 270 w 635"/>
                  <a:gd name="T11" fmla="*/ 22 h 67"/>
                  <a:gd name="T12" fmla="*/ 255 w 635"/>
                  <a:gd name="T13" fmla="*/ 22 h 67"/>
                  <a:gd name="T14" fmla="*/ 241 w 635"/>
                  <a:gd name="T15" fmla="*/ 21 h 67"/>
                  <a:gd name="T16" fmla="*/ 227 w 635"/>
                  <a:gd name="T17" fmla="*/ 20 h 67"/>
                  <a:gd name="T18" fmla="*/ 212 w 635"/>
                  <a:gd name="T19" fmla="*/ 19 h 67"/>
                  <a:gd name="T20" fmla="*/ 199 w 635"/>
                  <a:gd name="T21" fmla="*/ 19 h 67"/>
                  <a:gd name="T22" fmla="*/ 185 w 635"/>
                  <a:gd name="T23" fmla="*/ 17 h 67"/>
                  <a:gd name="T24" fmla="*/ 171 w 635"/>
                  <a:gd name="T25" fmla="*/ 17 h 67"/>
                  <a:gd name="T26" fmla="*/ 158 w 635"/>
                  <a:gd name="T27" fmla="*/ 16 h 67"/>
                  <a:gd name="T28" fmla="*/ 144 w 635"/>
                  <a:gd name="T29" fmla="*/ 16 h 67"/>
                  <a:gd name="T30" fmla="*/ 130 w 635"/>
                  <a:gd name="T31" fmla="*/ 16 h 67"/>
                  <a:gd name="T32" fmla="*/ 116 w 635"/>
                  <a:gd name="T33" fmla="*/ 16 h 67"/>
                  <a:gd name="T34" fmla="*/ 101 w 635"/>
                  <a:gd name="T35" fmla="*/ 16 h 67"/>
                  <a:gd name="T36" fmla="*/ 87 w 635"/>
                  <a:gd name="T37" fmla="*/ 18 h 67"/>
                  <a:gd name="T38" fmla="*/ 72 w 635"/>
                  <a:gd name="T39" fmla="*/ 19 h 67"/>
                  <a:gd name="T40" fmla="*/ 56 w 635"/>
                  <a:gd name="T41" fmla="*/ 22 h 67"/>
                  <a:gd name="T42" fmla="*/ 40 w 635"/>
                  <a:gd name="T43" fmla="*/ 24 h 67"/>
                  <a:gd name="T44" fmla="*/ 23 w 635"/>
                  <a:gd name="T45" fmla="*/ 27 h 67"/>
                  <a:gd name="T46" fmla="*/ 6 w 635"/>
                  <a:gd name="T47" fmla="*/ 31 h 67"/>
                  <a:gd name="T48" fmla="*/ 0 w 635"/>
                  <a:gd name="T49" fmla="*/ 26 h 67"/>
                  <a:gd name="T50" fmla="*/ 5 w 635"/>
                  <a:gd name="T51" fmla="*/ 16 h 67"/>
                  <a:gd name="T52" fmla="*/ 19 w 635"/>
                  <a:gd name="T53" fmla="*/ 15 h 67"/>
                  <a:gd name="T54" fmla="*/ 34 w 635"/>
                  <a:gd name="T55" fmla="*/ 14 h 67"/>
                  <a:gd name="T56" fmla="*/ 47 w 635"/>
                  <a:gd name="T57" fmla="*/ 13 h 67"/>
                  <a:gd name="T58" fmla="*/ 61 w 635"/>
                  <a:gd name="T59" fmla="*/ 12 h 67"/>
                  <a:gd name="T60" fmla="*/ 75 w 635"/>
                  <a:gd name="T61" fmla="*/ 12 h 67"/>
                  <a:gd name="T62" fmla="*/ 89 w 635"/>
                  <a:gd name="T63" fmla="*/ 11 h 67"/>
                  <a:gd name="T64" fmla="*/ 103 w 635"/>
                  <a:gd name="T65" fmla="*/ 10 h 67"/>
                  <a:gd name="T66" fmla="*/ 117 w 635"/>
                  <a:gd name="T67" fmla="*/ 10 h 67"/>
                  <a:gd name="T68" fmla="*/ 131 w 635"/>
                  <a:gd name="T69" fmla="*/ 10 h 67"/>
                  <a:gd name="T70" fmla="*/ 146 w 635"/>
                  <a:gd name="T71" fmla="*/ 9 h 67"/>
                  <a:gd name="T72" fmla="*/ 160 w 635"/>
                  <a:gd name="T73" fmla="*/ 8 h 67"/>
                  <a:gd name="T74" fmla="*/ 174 w 635"/>
                  <a:gd name="T75" fmla="*/ 8 h 67"/>
                  <a:gd name="T76" fmla="*/ 188 w 635"/>
                  <a:gd name="T77" fmla="*/ 7 h 67"/>
                  <a:gd name="T78" fmla="*/ 203 w 635"/>
                  <a:gd name="T79" fmla="*/ 7 h 67"/>
                  <a:gd name="T80" fmla="*/ 217 w 635"/>
                  <a:gd name="T81" fmla="*/ 7 h 67"/>
                  <a:gd name="T82" fmla="*/ 230 w 635"/>
                  <a:gd name="T83" fmla="*/ 6 h 67"/>
                  <a:gd name="T84" fmla="*/ 246 w 635"/>
                  <a:gd name="T85" fmla="*/ 5 h 67"/>
                  <a:gd name="T86" fmla="*/ 259 w 635"/>
                  <a:gd name="T87" fmla="*/ 4 h 67"/>
                  <a:gd name="T88" fmla="*/ 273 w 635"/>
                  <a:gd name="T89" fmla="*/ 3 h 67"/>
                  <a:gd name="T90" fmla="*/ 287 w 635"/>
                  <a:gd name="T91" fmla="*/ 1 h 67"/>
                  <a:gd name="T92" fmla="*/ 303 w 635"/>
                  <a:gd name="T93" fmla="*/ 0 h 67"/>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w 635"/>
                  <a:gd name="T142" fmla="*/ 0 h 67"/>
                  <a:gd name="T143" fmla="*/ 635 w 635"/>
                  <a:gd name="T144" fmla="*/ 67 h 67"/>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T141" t="T142" r="T143" b="T144"/>
                <a:pathLst>
                  <a:path w="635" h="67">
                    <a:moveTo>
                      <a:pt x="605" y="0"/>
                    </a:moveTo>
                    <a:lnTo>
                      <a:pt x="607" y="2"/>
                    </a:lnTo>
                    <a:lnTo>
                      <a:pt x="608" y="6"/>
                    </a:lnTo>
                    <a:lnTo>
                      <a:pt x="614" y="12"/>
                    </a:lnTo>
                    <a:lnTo>
                      <a:pt x="620" y="17"/>
                    </a:lnTo>
                    <a:lnTo>
                      <a:pt x="626" y="25"/>
                    </a:lnTo>
                    <a:lnTo>
                      <a:pt x="631" y="33"/>
                    </a:lnTo>
                    <a:lnTo>
                      <a:pt x="633" y="40"/>
                    </a:lnTo>
                    <a:lnTo>
                      <a:pt x="635" y="44"/>
                    </a:lnTo>
                    <a:lnTo>
                      <a:pt x="624" y="44"/>
                    </a:lnTo>
                    <a:lnTo>
                      <a:pt x="612" y="44"/>
                    </a:lnTo>
                    <a:lnTo>
                      <a:pt x="603" y="44"/>
                    </a:lnTo>
                    <a:lnTo>
                      <a:pt x="591" y="44"/>
                    </a:lnTo>
                    <a:lnTo>
                      <a:pt x="580" y="44"/>
                    </a:lnTo>
                    <a:lnTo>
                      <a:pt x="570" y="44"/>
                    </a:lnTo>
                    <a:lnTo>
                      <a:pt x="559" y="44"/>
                    </a:lnTo>
                    <a:lnTo>
                      <a:pt x="551" y="44"/>
                    </a:lnTo>
                    <a:lnTo>
                      <a:pt x="540" y="44"/>
                    </a:lnTo>
                    <a:lnTo>
                      <a:pt x="529" y="44"/>
                    </a:lnTo>
                    <a:lnTo>
                      <a:pt x="519" y="44"/>
                    </a:lnTo>
                    <a:lnTo>
                      <a:pt x="510" y="44"/>
                    </a:lnTo>
                    <a:lnTo>
                      <a:pt x="500" y="42"/>
                    </a:lnTo>
                    <a:lnTo>
                      <a:pt x="491" y="42"/>
                    </a:lnTo>
                    <a:lnTo>
                      <a:pt x="481" y="42"/>
                    </a:lnTo>
                    <a:lnTo>
                      <a:pt x="472" y="42"/>
                    </a:lnTo>
                    <a:lnTo>
                      <a:pt x="462" y="42"/>
                    </a:lnTo>
                    <a:lnTo>
                      <a:pt x="453" y="40"/>
                    </a:lnTo>
                    <a:lnTo>
                      <a:pt x="443" y="40"/>
                    </a:lnTo>
                    <a:lnTo>
                      <a:pt x="434" y="40"/>
                    </a:lnTo>
                    <a:lnTo>
                      <a:pt x="424" y="38"/>
                    </a:lnTo>
                    <a:lnTo>
                      <a:pt x="416" y="38"/>
                    </a:lnTo>
                    <a:lnTo>
                      <a:pt x="407" y="38"/>
                    </a:lnTo>
                    <a:lnTo>
                      <a:pt x="397" y="38"/>
                    </a:lnTo>
                    <a:lnTo>
                      <a:pt x="388" y="36"/>
                    </a:lnTo>
                    <a:lnTo>
                      <a:pt x="378" y="36"/>
                    </a:lnTo>
                    <a:lnTo>
                      <a:pt x="369" y="35"/>
                    </a:lnTo>
                    <a:lnTo>
                      <a:pt x="361" y="35"/>
                    </a:lnTo>
                    <a:lnTo>
                      <a:pt x="352" y="35"/>
                    </a:lnTo>
                    <a:lnTo>
                      <a:pt x="342" y="35"/>
                    </a:lnTo>
                    <a:lnTo>
                      <a:pt x="335" y="35"/>
                    </a:lnTo>
                    <a:lnTo>
                      <a:pt x="325" y="35"/>
                    </a:lnTo>
                    <a:lnTo>
                      <a:pt x="316" y="33"/>
                    </a:lnTo>
                    <a:lnTo>
                      <a:pt x="306" y="33"/>
                    </a:lnTo>
                    <a:lnTo>
                      <a:pt x="297" y="33"/>
                    </a:lnTo>
                    <a:lnTo>
                      <a:pt x="287" y="33"/>
                    </a:lnTo>
                    <a:lnTo>
                      <a:pt x="278" y="33"/>
                    </a:lnTo>
                    <a:lnTo>
                      <a:pt x="270" y="33"/>
                    </a:lnTo>
                    <a:lnTo>
                      <a:pt x="259" y="33"/>
                    </a:lnTo>
                    <a:lnTo>
                      <a:pt x="251" y="33"/>
                    </a:lnTo>
                    <a:lnTo>
                      <a:pt x="242" y="33"/>
                    </a:lnTo>
                    <a:lnTo>
                      <a:pt x="232" y="33"/>
                    </a:lnTo>
                    <a:lnTo>
                      <a:pt x="222" y="33"/>
                    </a:lnTo>
                    <a:lnTo>
                      <a:pt x="213" y="33"/>
                    </a:lnTo>
                    <a:lnTo>
                      <a:pt x="202" y="33"/>
                    </a:lnTo>
                    <a:lnTo>
                      <a:pt x="194" y="35"/>
                    </a:lnTo>
                    <a:lnTo>
                      <a:pt x="183" y="35"/>
                    </a:lnTo>
                    <a:lnTo>
                      <a:pt x="173" y="36"/>
                    </a:lnTo>
                    <a:lnTo>
                      <a:pt x="164" y="36"/>
                    </a:lnTo>
                    <a:lnTo>
                      <a:pt x="152" y="38"/>
                    </a:lnTo>
                    <a:lnTo>
                      <a:pt x="143" y="38"/>
                    </a:lnTo>
                    <a:lnTo>
                      <a:pt x="133" y="40"/>
                    </a:lnTo>
                    <a:lnTo>
                      <a:pt x="122" y="42"/>
                    </a:lnTo>
                    <a:lnTo>
                      <a:pt x="112" y="44"/>
                    </a:lnTo>
                    <a:lnTo>
                      <a:pt x="101" y="44"/>
                    </a:lnTo>
                    <a:lnTo>
                      <a:pt x="91" y="48"/>
                    </a:lnTo>
                    <a:lnTo>
                      <a:pt x="80" y="48"/>
                    </a:lnTo>
                    <a:lnTo>
                      <a:pt x="68" y="50"/>
                    </a:lnTo>
                    <a:lnTo>
                      <a:pt x="57" y="52"/>
                    </a:lnTo>
                    <a:lnTo>
                      <a:pt x="46" y="55"/>
                    </a:lnTo>
                    <a:lnTo>
                      <a:pt x="34" y="57"/>
                    </a:lnTo>
                    <a:lnTo>
                      <a:pt x="23" y="61"/>
                    </a:lnTo>
                    <a:lnTo>
                      <a:pt x="11" y="63"/>
                    </a:lnTo>
                    <a:lnTo>
                      <a:pt x="0" y="67"/>
                    </a:lnTo>
                    <a:lnTo>
                      <a:pt x="0" y="59"/>
                    </a:lnTo>
                    <a:lnTo>
                      <a:pt x="0" y="52"/>
                    </a:lnTo>
                    <a:lnTo>
                      <a:pt x="0" y="42"/>
                    </a:lnTo>
                    <a:lnTo>
                      <a:pt x="2" y="35"/>
                    </a:lnTo>
                    <a:lnTo>
                      <a:pt x="10" y="33"/>
                    </a:lnTo>
                    <a:lnTo>
                      <a:pt x="19" y="33"/>
                    </a:lnTo>
                    <a:lnTo>
                      <a:pt x="29" y="31"/>
                    </a:lnTo>
                    <a:lnTo>
                      <a:pt x="38" y="31"/>
                    </a:lnTo>
                    <a:lnTo>
                      <a:pt x="48" y="31"/>
                    </a:lnTo>
                    <a:lnTo>
                      <a:pt x="57" y="29"/>
                    </a:lnTo>
                    <a:lnTo>
                      <a:pt x="67" y="29"/>
                    </a:lnTo>
                    <a:lnTo>
                      <a:pt x="76" y="29"/>
                    </a:lnTo>
                    <a:lnTo>
                      <a:pt x="84" y="27"/>
                    </a:lnTo>
                    <a:lnTo>
                      <a:pt x="93" y="27"/>
                    </a:lnTo>
                    <a:lnTo>
                      <a:pt x="103" y="27"/>
                    </a:lnTo>
                    <a:lnTo>
                      <a:pt x="112" y="27"/>
                    </a:lnTo>
                    <a:lnTo>
                      <a:pt x="122" y="25"/>
                    </a:lnTo>
                    <a:lnTo>
                      <a:pt x="131" y="25"/>
                    </a:lnTo>
                    <a:lnTo>
                      <a:pt x="141" y="25"/>
                    </a:lnTo>
                    <a:lnTo>
                      <a:pt x="150" y="25"/>
                    </a:lnTo>
                    <a:lnTo>
                      <a:pt x="160" y="23"/>
                    </a:lnTo>
                    <a:lnTo>
                      <a:pt x="169" y="23"/>
                    </a:lnTo>
                    <a:lnTo>
                      <a:pt x="177" y="23"/>
                    </a:lnTo>
                    <a:lnTo>
                      <a:pt x="188" y="23"/>
                    </a:lnTo>
                    <a:lnTo>
                      <a:pt x="198" y="21"/>
                    </a:lnTo>
                    <a:lnTo>
                      <a:pt x="205" y="21"/>
                    </a:lnTo>
                    <a:lnTo>
                      <a:pt x="215" y="21"/>
                    </a:lnTo>
                    <a:lnTo>
                      <a:pt x="226" y="21"/>
                    </a:lnTo>
                    <a:lnTo>
                      <a:pt x="234" y="21"/>
                    </a:lnTo>
                    <a:lnTo>
                      <a:pt x="243" y="21"/>
                    </a:lnTo>
                    <a:lnTo>
                      <a:pt x="253" y="21"/>
                    </a:lnTo>
                    <a:lnTo>
                      <a:pt x="262" y="21"/>
                    </a:lnTo>
                    <a:lnTo>
                      <a:pt x="272" y="19"/>
                    </a:lnTo>
                    <a:lnTo>
                      <a:pt x="281" y="19"/>
                    </a:lnTo>
                    <a:lnTo>
                      <a:pt x="291" y="19"/>
                    </a:lnTo>
                    <a:lnTo>
                      <a:pt x="302" y="19"/>
                    </a:lnTo>
                    <a:lnTo>
                      <a:pt x="310" y="17"/>
                    </a:lnTo>
                    <a:lnTo>
                      <a:pt x="319" y="17"/>
                    </a:lnTo>
                    <a:lnTo>
                      <a:pt x="329" y="17"/>
                    </a:lnTo>
                    <a:lnTo>
                      <a:pt x="338" y="17"/>
                    </a:lnTo>
                    <a:lnTo>
                      <a:pt x="348" y="17"/>
                    </a:lnTo>
                    <a:lnTo>
                      <a:pt x="357" y="17"/>
                    </a:lnTo>
                    <a:lnTo>
                      <a:pt x="367" y="15"/>
                    </a:lnTo>
                    <a:lnTo>
                      <a:pt x="376" y="15"/>
                    </a:lnTo>
                    <a:lnTo>
                      <a:pt x="386" y="15"/>
                    </a:lnTo>
                    <a:lnTo>
                      <a:pt x="396" y="15"/>
                    </a:lnTo>
                    <a:lnTo>
                      <a:pt x="405" y="14"/>
                    </a:lnTo>
                    <a:lnTo>
                      <a:pt x="415" y="14"/>
                    </a:lnTo>
                    <a:lnTo>
                      <a:pt x="422" y="14"/>
                    </a:lnTo>
                    <a:lnTo>
                      <a:pt x="434" y="14"/>
                    </a:lnTo>
                    <a:lnTo>
                      <a:pt x="443" y="14"/>
                    </a:lnTo>
                    <a:lnTo>
                      <a:pt x="453" y="14"/>
                    </a:lnTo>
                    <a:lnTo>
                      <a:pt x="460" y="12"/>
                    </a:lnTo>
                    <a:lnTo>
                      <a:pt x="470" y="12"/>
                    </a:lnTo>
                    <a:lnTo>
                      <a:pt x="479" y="10"/>
                    </a:lnTo>
                    <a:lnTo>
                      <a:pt x="491" y="10"/>
                    </a:lnTo>
                    <a:lnTo>
                      <a:pt x="498" y="10"/>
                    </a:lnTo>
                    <a:lnTo>
                      <a:pt x="508" y="8"/>
                    </a:lnTo>
                    <a:lnTo>
                      <a:pt x="517" y="8"/>
                    </a:lnTo>
                    <a:lnTo>
                      <a:pt x="527" y="8"/>
                    </a:lnTo>
                    <a:lnTo>
                      <a:pt x="536" y="6"/>
                    </a:lnTo>
                    <a:lnTo>
                      <a:pt x="546" y="6"/>
                    </a:lnTo>
                    <a:lnTo>
                      <a:pt x="555" y="4"/>
                    </a:lnTo>
                    <a:lnTo>
                      <a:pt x="565" y="4"/>
                    </a:lnTo>
                    <a:lnTo>
                      <a:pt x="574" y="2"/>
                    </a:lnTo>
                    <a:lnTo>
                      <a:pt x="584" y="2"/>
                    </a:lnTo>
                    <a:lnTo>
                      <a:pt x="593" y="0"/>
                    </a:lnTo>
                    <a:lnTo>
                      <a:pt x="605" y="0"/>
                    </a:lnTo>
                    <a:close/>
                  </a:path>
                </a:pathLst>
              </a:custGeom>
              <a:solidFill>
                <a:srgbClr val="000000"/>
              </a:solidFill>
              <a:ln w="9525">
                <a:noFill/>
                <a:round/>
              </a:ln>
            </p:spPr>
            <p:txBody>
              <a:bodyPr/>
              <a:lstStyle/>
              <a:p>
                <a:endParaRPr lang="en-US"/>
              </a:p>
            </p:txBody>
          </p:sp>
          <p:sp>
            <p:nvSpPr>
              <p:cNvPr id="1048988" name="Freeform 286"/>
              <p:cNvSpPr/>
              <p:nvPr/>
            </p:nvSpPr>
            <p:spPr bwMode="auto">
              <a:xfrm>
                <a:off x="2107" y="2278"/>
                <a:ext cx="136" cy="274"/>
              </a:xfrm>
              <a:custGeom>
                <a:avLst/>
                <a:gdLst>
                  <a:gd name="T0" fmla="*/ 14 w 272"/>
                  <a:gd name="T1" fmla="*/ 3 h 547"/>
                  <a:gd name="T2" fmla="*/ 15 w 272"/>
                  <a:gd name="T3" fmla="*/ 11 h 547"/>
                  <a:gd name="T4" fmla="*/ 17 w 272"/>
                  <a:gd name="T5" fmla="*/ 19 h 547"/>
                  <a:gd name="T6" fmla="*/ 20 w 272"/>
                  <a:gd name="T7" fmla="*/ 28 h 547"/>
                  <a:gd name="T8" fmla="*/ 22 w 272"/>
                  <a:gd name="T9" fmla="*/ 37 h 547"/>
                  <a:gd name="T10" fmla="*/ 25 w 272"/>
                  <a:gd name="T11" fmla="*/ 47 h 547"/>
                  <a:gd name="T12" fmla="*/ 28 w 272"/>
                  <a:gd name="T13" fmla="*/ 54 h 547"/>
                  <a:gd name="T14" fmla="*/ 30 w 272"/>
                  <a:gd name="T15" fmla="*/ 59 h 547"/>
                  <a:gd name="T16" fmla="*/ 32 w 272"/>
                  <a:gd name="T17" fmla="*/ 64 h 547"/>
                  <a:gd name="T18" fmla="*/ 35 w 272"/>
                  <a:gd name="T19" fmla="*/ 70 h 547"/>
                  <a:gd name="T20" fmla="*/ 39 w 272"/>
                  <a:gd name="T21" fmla="*/ 76 h 547"/>
                  <a:gd name="T22" fmla="*/ 41 w 272"/>
                  <a:gd name="T23" fmla="*/ 84 h 547"/>
                  <a:gd name="T24" fmla="*/ 44 w 272"/>
                  <a:gd name="T25" fmla="*/ 89 h 547"/>
                  <a:gd name="T26" fmla="*/ 47 w 272"/>
                  <a:gd name="T27" fmla="*/ 94 h 547"/>
                  <a:gd name="T28" fmla="*/ 50 w 272"/>
                  <a:gd name="T29" fmla="*/ 99 h 547"/>
                  <a:gd name="T30" fmla="*/ 53 w 272"/>
                  <a:gd name="T31" fmla="*/ 104 h 547"/>
                  <a:gd name="T32" fmla="*/ 56 w 272"/>
                  <a:gd name="T33" fmla="*/ 110 h 547"/>
                  <a:gd name="T34" fmla="*/ 60 w 272"/>
                  <a:gd name="T35" fmla="*/ 116 h 547"/>
                  <a:gd name="T36" fmla="*/ 68 w 272"/>
                  <a:gd name="T37" fmla="*/ 126 h 547"/>
                  <a:gd name="T38" fmla="*/ 74 w 272"/>
                  <a:gd name="T39" fmla="*/ 134 h 547"/>
                  <a:gd name="T40" fmla="*/ 81 w 272"/>
                  <a:gd name="T41" fmla="*/ 143 h 547"/>
                  <a:gd name="T42" fmla="*/ 89 w 272"/>
                  <a:gd name="T43" fmla="*/ 151 h 547"/>
                  <a:gd name="T44" fmla="*/ 96 w 272"/>
                  <a:gd name="T45" fmla="*/ 158 h 547"/>
                  <a:gd name="T46" fmla="*/ 101 w 272"/>
                  <a:gd name="T47" fmla="*/ 166 h 547"/>
                  <a:gd name="T48" fmla="*/ 108 w 272"/>
                  <a:gd name="T49" fmla="*/ 173 h 547"/>
                  <a:gd name="T50" fmla="*/ 113 w 272"/>
                  <a:gd name="T51" fmla="*/ 181 h 547"/>
                  <a:gd name="T52" fmla="*/ 117 w 272"/>
                  <a:gd name="T53" fmla="*/ 187 h 547"/>
                  <a:gd name="T54" fmla="*/ 122 w 272"/>
                  <a:gd name="T55" fmla="*/ 195 h 547"/>
                  <a:gd name="T56" fmla="*/ 126 w 272"/>
                  <a:gd name="T57" fmla="*/ 202 h 547"/>
                  <a:gd name="T58" fmla="*/ 129 w 272"/>
                  <a:gd name="T59" fmla="*/ 209 h 547"/>
                  <a:gd name="T60" fmla="*/ 131 w 272"/>
                  <a:gd name="T61" fmla="*/ 217 h 547"/>
                  <a:gd name="T62" fmla="*/ 133 w 272"/>
                  <a:gd name="T63" fmla="*/ 225 h 547"/>
                  <a:gd name="T64" fmla="*/ 135 w 272"/>
                  <a:gd name="T65" fmla="*/ 233 h 547"/>
                  <a:gd name="T66" fmla="*/ 136 w 272"/>
                  <a:gd name="T67" fmla="*/ 241 h 547"/>
                  <a:gd name="T68" fmla="*/ 136 w 272"/>
                  <a:gd name="T69" fmla="*/ 249 h 547"/>
                  <a:gd name="T70" fmla="*/ 135 w 272"/>
                  <a:gd name="T71" fmla="*/ 259 h 547"/>
                  <a:gd name="T72" fmla="*/ 135 w 272"/>
                  <a:gd name="T73" fmla="*/ 266 h 547"/>
                  <a:gd name="T74" fmla="*/ 134 w 272"/>
                  <a:gd name="T75" fmla="*/ 271 h 547"/>
                  <a:gd name="T76" fmla="*/ 0 w 272"/>
                  <a:gd name="T77" fmla="*/ 29 h 547"/>
                  <a:gd name="T78" fmla="*/ 14 w 272"/>
                  <a:gd name="T79" fmla="*/ 0 h 547"/>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w 272"/>
                  <a:gd name="T121" fmla="*/ 0 h 547"/>
                  <a:gd name="T122" fmla="*/ 272 w 272"/>
                  <a:gd name="T123" fmla="*/ 547 h 547"/>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T120" t="T121" r="T122" b="T123"/>
                <a:pathLst>
                  <a:path w="272" h="547">
                    <a:moveTo>
                      <a:pt x="28" y="0"/>
                    </a:moveTo>
                    <a:lnTo>
                      <a:pt x="28" y="6"/>
                    </a:lnTo>
                    <a:lnTo>
                      <a:pt x="28" y="13"/>
                    </a:lnTo>
                    <a:lnTo>
                      <a:pt x="30" y="21"/>
                    </a:lnTo>
                    <a:lnTo>
                      <a:pt x="32" y="30"/>
                    </a:lnTo>
                    <a:lnTo>
                      <a:pt x="34" y="38"/>
                    </a:lnTo>
                    <a:lnTo>
                      <a:pt x="36" y="45"/>
                    </a:lnTo>
                    <a:lnTo>
                      <a:pt x="40" y="55"/>
                    </a:lnTo>
                    <a:lnTo>
                      <a:pt x="42" y="65"/>
                    </a:lnTo>
                    <a:lnTo>
                      <a:pt x="45" y="74"/>
                    </a:lnTo>
                    <a:lnTo>
                      <a:pt x="47" y="84"/>
                    </a:lnTo>
                    <a:lnTo>
                      <a:pt x="51" y="93"/>
                    </a:lnTo>
                    <a:lnTo>
                      <a:pt x="57" y="103"/>
                    </a:lnTo>
                    <a:lnTo>
                      <a:pt x="57" y="108"/>
                    </a:lnTo>
                    <a:lnTo>
                      <a:pt x="59" y="112"/>
                    </a:lnTo>
                    <a:lnTo>
                      <a:pt x="61" y="118"/>
                    </a:lnTo>
                    <a:lnTo>
                      <a:pt x="62" y="123"/>
                    </a:lnTo>
                    <a:lnTo>
                      <a:pt x="64" y="127"/>
                    </a:lnTo>
                    <a:lnTo>
                      <a:pt x="68" y="133"/>
                    </a:lnTo>
                    <a:lnTo>
                      <a:pt x="70" y="139"/>
                    </a:lnTo>
                    <a:lnTo>
                      <a:pt x="74" y="142"/>
                    </a:lnTo>
                    <a:lnTo>
                      <a:pt x="78" y="152"/>
                    </a:lnTo>
                    <a:lnTo>
                      <a:pt x="81" y="163"/>
                    </a:lnTo>
                    <a:lnTo>
                      <a:pt x="83" y="167"/>
                    </a:lnTo>
                    <a:lnTo>
                      <a:pt x="87" y="173"/>
                    </a:lnTo>
                    <a:lnTo>
                      <a:pt x="89" y="177"/>
                    </a:lnTo>
                    <a:lnTo>
                      <a:pt x="93" y="182"/>
                    </a:lnTo>
                    <a:lnTo>
                      <a:pt x="95" y="188"/>
                    </a:lnTo>
                    <a:lnTo>
                      <a:pt x="99" y="194"/>
                    </a:lnTo>
                    <a:lnTo>
                      <a:pt x="100" y="198"/>
                    </a:lnTo>
                    <a:lnTo>
                      <a:pt x="104" y="203"/>
                    </a:lnTo>
                    <a:lnTo>
                      <a:pt x="106" y="207"/>
                    </a:lnTo>
                    <a:lnTo>
                      <a:pt x="110" y="213"/>
                    </a:lnTo>
                    <a:lnTo>
                      <a:pt x="112" y="219"/>
                    </a:lnTo>
                    <a:lnTo>
                      <a:pt x="116" y="224"/>
                    </a:lnTo>
                    <a:lnTo>
                      <a:pt x="121" y="232"/>
                    </a:lnTo>
                    <a:lnTo>
                      <a:pt x="129" y="241"/>
                    </a:lnTo>
                    <a:lnTo>
                      <a:pt x="135" y="251"/>
                    </a:lnTo>
                    <a:lnTo>
                      <a:pt x="142" y="260"/>
                    </a:lnTo>
                    <a:lnTo>
                      <a:pt x="148" y="268"/>
                    </a:lnTo>
                    <a:lnTo>
                      <a:pt x="156" y="277"/>
                    </a:lnTo>
                    <a:lnTo>
                      <a:pt x="163" y="285"/>
                    </a:lnTo>
                    <a:lnTo>
                      <a:pt x="171" y="295"/>
                    </a:lnTo>
                    <a:lnTo>
                      <a:pt x="178" y="302"/>
                    </a:lnTo>
                    <a:lnTo>
                      <a:pt x="184" y="310"/>
                    </a:lnTo>
                    <a:lnTo>
                      <a:pt x="192" y="316"/>
                    </a:lnTo>
                    <a:lnTo>
                      <a:pt x="197" y="325"/>
                    </a:lnTo>
                    <a:lnTo>
                      <a:pt x="203" y="331"/>
                    </a:lnTo>
                    <a:lnTo>
                      <a:pt x="211" y="338"/>
                    </a:lnTo>
                    <a:lnTo>
                      <a:pt x="216" y="346"/>
                    </a:lnTo>
                    <a:lnTo>
                      <a:pt x="222" y="354"/>
                    </a:lnTo>
                    <a:lnTo>
                      <a:pt x="226" y="361"/>
                    </a:lnTo>
                    <a:lnTo>
                      <a:pt x="232" y="369"/>
                    </a:lnTo>
                    <a:lnTo>
                      <a:pt x="235" y="374"/>
                    </a:lnTo>
                    <a:lnTo>
                      <a:pt x="241" y="382"/>
                    </a:lnTo>
                    <a:lnTo>
                      <a:pt x="245" y="390"/>
                    </a:lnTo>
                    <a:lnTo>
                      <a:pt x="249" y="395"/>
                    </a:lnTo>
                    <a:lnTo>
                      <a:pt x="253" y="403"/>
                    </a:lnTo>
                    <a:lnTo>
                      <a:pt x="256" y="412"/>
                    </a:lnTo>
                    <a:lnTo>
                      <a:pt x="258" y="418"/>
                    </a:lnTo>
                    <a:lnTo>
                      <a:pt x="260" y="426"/>
                    </a:lnTo>
                    <a:lnTo>
                      <a:pt x="262" y="433"/>
                    </a:lnTo>
                    <a:lnTo>
                      <a:pt x="266" y="441"/>
                    </a:lnTo>
                    <a:lnTo>
                      <a:pt x="266" y="449"/>
                    </a:lnTo>
                    <a:lnTo>
                      <a:pt x="268" y="456"/>
                    </a:lnTo>
                    <a:lnTo>
                      <a:pt x="270" y="466"/>
                    </a:lnTo>
                    <a:lnTo>
                      <a:pt x="272" y="473"/>
                    </a:lnTo>
                    <a:lnTo>
                      <a:pt x="272" y="481"/>
                    </a:lnTo>
                    <a:lnTo>
                      <a:pt x="272" y="490"/>
                    </a:lnTo>
                    <a:lnTo>
                      <a:pt x="272" y="498"/>
                    </a:lnTo>
                    <a:lnTo>
                      <a:pt x="272" y="509"/>
                    </a:lnTo>
                    <a:lnTo>
                      <a:pt x="270" y="517"/>
                    </a:lnTo>
                    <a:lnTo>
                      <a:pt x="270" y="527"/>
                    </a:lnTo>
                    <a:lnTo>
                      <a:pt x="270" y="532"/>
                    </a:lnTo>
                    <a:lnTo>
                      <a:pt x="270" y="536"/>
                    </a:lnTo>
                    <a:lnTo>
                      <a:pt x="268" y="542"/>
                    </a:lnTo>
                    <a:lnTo>
                      <a:pt x="268" y="547"/>
                    </a:lnTo>
                    <a:lnTo>
                      <a:pt x="0" y="57"/>
                    </a:lnTo>
                    <a:lnTo>
                      <a:pt x="28" y="0"/>
                    </a:lnTo>
                    <a:close/>
                  </a:path>
                </a:pathLst>
              </a:custGeom>
              <a:solidFill>
                <a:srgbClr val="000000"/>
              </a:solidFill>
              <a:ln w="9525">
                <a:noFill/>
                <a:round/>
              </a:ln>
            </p:spPr>
            <p:txBody>
              <a:bodyPr/>
              <a:lstStyle/>
              <a:p>
                <a:endParaRPr lang="en-US"/>
              </a:p>
            </p:txBody>
          </p:sp>
          <p:sp>
            <p:nvSpPr>
              <p:cNvPr id="1048989" name="Freeform 287"/>
              <p:cNvSpPr/>
              <p:nvPr/>
            </p:nvSpPr>
            <p:spPr bwMode="auto">
              <a:xfrm>
                <a:off x="2220" y="2195"/>
                <a:ext cx="114" cy="199"/>
              </a:xfrm>
              <a:custGeom>
                <a:avLst/>
                <a:gdLst>
                  <a:gd name="T0" fmla="*/ 16 w 226"/>
                  <a:gd name="T1" fmla="*/ 4 h 399"/>
                  <a:gd name="T2" fmla="*/ 10 w 226"/>
                  <a:gd name="T3" fmla="*/ 14 h 399"/>
                  <a:gd name="T4" fmla="*/ 3 w 226"/>
                  <a:gd name="T5" fmla="*/ 24 h 399"/>
                  <a:gd name="T6" fmla="*/ 0 w 226"/>
                  <a:gd name="T7" fmla="*/ 35 h 399"/>
                  <a:gd name="T8" fmla="*/ 7 w 226"/>
                  <a:gd name="T9" fmla="*/ 42 h 399"/>
                  <a:gd name="T10" fmla="*/ 16 w 226"/>
                  <a:gd name="T11" fmla="*/ 46 h 399"/>
                  <a:gd name="T12" fmla="*/ 25 w 226"/>
                  <a:gd name="T13" fmla="*/ 53 h 399"/>
                  <a:gd name="T14" fmla="*/ 33 w 226"/>
                  <a:gd name="T15" fmla="*/ 61 h 399"/>
                  <a:gd name="T16" fmla="*/ 38 w 226"/>
                  <a:gd name="T17" fmla="*/ 68 h 399"/>
                  <a:gd name="T18" fmla="*/ 34 w 226"/>
                  <a:gd name="T19" fmla="*/ 72 h 399"/>
                  <a:gd name="T20" fmla="*/ 31 w 226"/>
                  <a:gd name="T21" fmla="*/ 80 h 399"/>
                  <a:gd name="T22" fmla="*/ 27 w 226"/>
                  <a:gd name="T23" fmla="*/ 88 h 399"/>
                  <a:gd name="T24" fmla="*/ 24 w 226"/>
                  <a:gd name="T25" fmla="*/ 98 h 399"/>
                  <a:gd name="T26" fmla="*/ 21 w 226"/>
                  <a:gd name="T27" fmla="*/ 108 h 399"/>
                  <a:gd name="T28" fmla="*/ 20 w 226"/>
                  <a:gd name="T29" fmla="*/ 118 h 399"/>
                  <a:gd name="T30" fmla="*/ 20 w 226"/>
                  <a:gd name="T31" fmla="*/ 130 h 399"/>
                  <a:gd name="T32" fmla="*/ 23 w 226"/>
                  <a:gd name="T33" fmla="*/ 141 h 399"/>
                  <a:gd name="T34" fmla="*/ 30 w 226"/>
                  <a:gd name="T35" fmla="*/ 153 h 399"/>
                  <a:gd name="T36" fmla="*/ 38 w 226"/>
                  <a:gd name="T37" fmla="*/ 163 h 399"/>
                  <a:gd name="T38" fmla="*/ 47 w 226"/>
                  <a:gd name="T39" fmla="*/ 172 h 399"/>
                  <a:gd name="T40" fmla="*/ 58 w 226"/>
                  <a:gd name="T41" fmla="*/ 179 h 399"/>
                  <a:gd name="T42" fmla="*/ 67 w 226"/>
                  <a:gd name="T43" fmla="*/ 184 h 399"/>
                  <a:gd name="T44" fmla="*/ 78 w 226"/>
                  <a:gd name="T45" fmla="*/ 189 h 399"/>
                  <a:gd name="T46" fmla="*/ 87 w 226"/>
                  <a:gd name="T47" fmla="*/ 193 h 399"/>
                  <a:gd name="T48" fmla="*/ 96 w 226"/>
                  <a:gd name="T49" fmla="*/ 195 h 399"/>
                  <a:gd name="T50" fmla="*/ 108 w 226"/>
                  <a:gd name="T51" fmla="*/ 198 h 399"/>
                  <a:gd name="T52" fmla="*/ 114 w 226"/>
                  <a:gd name="T53" fmla="*/ 199 h 399"/>
                  <a:gd name="T54" fmla="*/ 110 w 226"/>
                  <a:gd name="T55" fmla="*/ 193 h 399"/>
                  <a:gd name="T56" fmla="*/ 106 w 226"/>
                  <a:gd name="T57" fmla="*/ 187 h 399"/>
                  <a:gd name="T58" fmla="*/ 101 w 226"/>
                  <a:gd name="T59" fmla="*/ 177 h 399"/>
                  <a:gd name="T60" fmla="*/ 96 w 226"/>
                  <a:gd name="T61" fmla="*/ 167 h 399"/>
                  <a:gd name="T62" fmla="*/ 90 w 226"/>
                  <a:gd name="T63" fmla="*/ 154 h 399"/>
                  <a:gd name="T64" fmla="*/ 83 w 226"/>
                  <a:gd name="T65" fmla="*/ 143 h 399"/>
                  <a:gd name="T66" fmla="*/ 79 w 226"/>
                  <a:gd name="T67" fmla="*/ 132 h 399"/>
                  <a:gd name="T68" fmla="*/ 74 w 226"/>
                  <a:gd name="T69" fmla="*/ 122 h 399"/>
                  <a:gd name="T70" fmla="*/ 70 w 226"/>
                  <a:gd name="T71" fmla="*/ 114 h 399"/>
                  <a:gd name="T72" fmla="*/ 69 w 226"/>
                  <a:gd name="T73" fmla="*/ 108 h 399"/>
                  <a:gd name="T74" fmla="*/ 66 w 226"/>
                  <a:gd name="T75" fmla="*/ 97 h 399"/>
                  <a:gd name="T76" fmla="*/ 64 w 226"/>
                  <a:gd name="T77" fmla="*/ 89 h 399"/>
                  <a:gd name="T78" fmla="*/ 61 w 226"/>
                  <a:gd name="T79" fmla="*/ 79 h 399"/>
                  <a:gd name="T80" fmla="*/ 56 w 226"/>
                  <a:gd name="T81" fmla="*/ 69 h 399"/>
                  <a:gd name="T82" fmla="*/ 52 w 226"/>
                  <a:gd name="T83" fmla="*/ 58 h 399"/>
                  <a:gd name="T84" fmla="*/ 49 w 226"/>
                  <a:gd name="T85" fmla="*/ 48 h 399"/>
                  <a:gd name="T86" fmla="*/ 45 w 226"/>
                  <a:gd name="T87" fmla="*/ 39 h 399"/>
                  <a:gd name="T88" fmla="*/ 41 w 226"/>
                  <a:gd name="T89" fmla="*/ 30 h 399"/>
                  <a:gd name="T90" fmla="*/ 38 w 226"/>
                  <a:gd name="T91" fmla="*/ 22 h 399"/>
                  <a:gd name="T92" fmla="*/ 31 w 226"/>
                  <a:gd name="T93" fmla="*/ 11 h 399"/>
                  <a:gd name="T94" fmla="*/ 23 w 226"/>
                  <a:gd name="T95" fmla="*/ 0 h 399"/>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226"/>
                  <a:gd name="T145" fmla="*/ 0 h 399"/>
                  <a:gd name="T146" fmla="*/ 226 w 226"/>
                  <a:gd name="T147" fmla="*/ 399 h 399"/>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226" h="399">
                    <a:moveTo>
                      <a:pt x="44" y="0"/>
                    </a:moveTo>
                    <a:lnTo>
                      <a:pt x="40" y="1"/>
                    </a:lnTo>
                    <a:lnTo>
                      <a:pt x="32" y="9"/>
                    </a:lnTo>
                    <a:lnTo>
                      <a:pt x="28" y="15"/>
                    </a:lnTo>
                    <a:lnTo>
                      <a:pt x="23" y="20"/>
                    </a:lnTo>
                    <a:lnTo>
                      <a:pt x="19" y="28"/>
                    </a:lnTo>
                    <a:lnTo>
                      <a:pt x="15" y="36"/>
                    </a:lnTo>
                    <a:lnTo>
                      <a:pt x="9" y="41"/>
                    </a:lnTo>
                    <a:lnTo>
                      <a:pt x="6" y="49"/>
                    </a:lnTo>
                    <a:lnTo>
                      <a:pt x="2" y="57"/>
                    </a:lnTo>
                    <a:lnTo>
                      <a:pt x="2" y="64"/>
                    </a:lnTo>
                    <a:lnTo>
                      <a:pt x="0" y="70"/>
                    </a:lnTo>
                    <a:lnTo>
                      <a:pt x="4" y="76"/>
                    </a:lnTo>
                    <a:lnTo>
                      <a:pt x="8" y="79"/>
                    </a:lnTo>
                    <a:lnTo>
                      <a:pt x="13" y="85"/>
                    </a:lnTo>
                    <a:lnTo>
                      <a:pt x="21" y="87"/>
                    </a:lnTo>
                    <a:lnTo>
                      <a:pt x="27" y="89"/>
                    </a:lnTo>
                    <a:lnTo>
                      <a:pt x="32" y="93"/>
                    </a:lnTo>
                    <a:lnTo>
                      <a:pt x="38" y="98"/>
                    </a:lnTo>
                    <a:lnTo>
                      <a:pt x="44" y="102"/>
                    </a:lnTo>
                    <a:lnTo>
                      <a:pt x="49" y="106"/>
                    </a:lnTo>
                    <a:lnTo>
                      <a:pt x="53" y="112"/>
                    </a:lnTo>
                    <a:lnTo>
                      <a:pt x="59" y="116"/>
                    </a:lnTo>
                    <a:lnTo>
                      <a:pt x="65" y="123"/>
                    </a:lnTo>
                    <a:lnTo>
                      <a:pt x="72" y="129"/>
                    </a:lnTo>
                    <a:lnTo>
                      <a:pt x="74" y="135"/>
                    </a:lnTo>
                    <a:lnTo>
                      <a:pt x="76" y="136"/>
                    </a:lnTo>
                    <a:lnTo>
                      <a:pt x="74" y="136"/>
                    </a:lnTo>
                    <a:lnTo>
                      <a:pt x="72" y="138"/>
                    </a:lnTo>
                    <a:lnTo>
                      <a:pt x="68" y="144"/>
                    </a:lnTo>
                    <a:lnTo>
                      <a:pt x="65" y="152"/>
                    </a:lnTo>
                    <a:lnTo>
                      <a:pt x="63" y="155"/>
                    </a:lnTo>
                    <a:lnTo>
                      <a:pt x="61" y="161"/>
                    </a:lnTo>
                    <a:lnTo>
                      <a:pt x="57" y="167"/>
                    </a:lnTo>
                    <a:lnTo>
                      <a:pt x="55" y="171"/>
                    </a:lnTo>
                    <a:lnTo>
                      <a:pt x="53" y="176"/>
                    </a:lnTo>
                    <a:lnTo>
                      <a:pt x="49" y="182"/>
                    </a:lnTo>
                    <a:lnTo>
                      <a:pt x="49" y="190"/>
                    </a:lnTo>
                    <a:lnTo>
                      <a:pt x="47" y="197"/>
                    </a:lnTo>
                    <a:lnTo>
                      <a:pt x="46" y="201"/>
                    </a:lnTo>
                    <a:lnTo>
                      <a:pt x="44" y="209"/>
                    </a:lnTo>
                    <a:lnTo>
                      <a:pt x="42" y="216"/>
                    </a:lnTo>
                    <a:lnTo>
                      <a:pt x="42" y="224"/>
                    </a:lnTo>
                    <a:lnTo>
                      <a:pt x="40" y="230"/>
                    </a:lnTo>
                    <a:lnTo>
                      <a:pt x="40" y="237"/>
                    </a:lnTo>
                    <a:lnTo>
                      <a:pt x="40" y="245"/>
                    </a:lnTo>
                    <a:lnTo>
                      <a:pt x="40" y="252"/>
                    </a:lnTo>
                    <a:lnTo>
                      <a:pt x="40" y="260"/>
                    </a:lnTo>
                    <a:lnTo>
                      <a:pt x="42" y="268"/>
                    </a:lnTo>
                    <a:lnTo>
                      <a:pt x="44" y="275"/>
                    </a:lnTo>
                    <a:lnTo>
                      <a:pt x="46" y="283"/>
                    </a:lnTo>
                    <a:lnTo>
                      <a:pt x="49" y="290"/>
                    </a:lnTo>
                    <a:lnTo>
                      <a:pt x="53" y="298"/>
                    </a:lnTo>
                    <a:lnTo>
                      <a:pt x="59" y="306"/>
                    </a:lnTo>
                    <a:lnTo>
                      <a:pt x="65" y="313"/>
                    </a:lnTo>
                    <a:lnTo>
                      <a:pt x="70" y="321"/>
                    </a:lnTo>
                    <a:lnTo>
                      <a:pt x="76" y="327"/>
                    </a:lnTo>
                    <a:lnTo>
                      <a:pt x="80" y="332"/>
                    </a:lnTo>
                    <a:lnTo>
                      <a:pt x="87" y="338"/>
                    </a:lnTo>
                    <a:lnTo>
                      <a:pt x="93" y="344"/>
                    </a:lnTo>
                    <a:lnTo>
                      <a:pt x="101" y="349"/>
                    </a:lnTo>
                    <a:lnTo>
                      <a:pt x="106" y="353"/>
                    </a:lnTo>
                    <a:lnTo>
                      <a:pt x="114" y="359"/>
                    </a:lnTo>
                    <a:lnTo>
                      <a:pt x="120" y="363"/>
                    </a:lnTo>
                    <a:lnTo>
                      <a:pt x="127" y="367"/>
                    </a:lnTo>
                    <a:lnTo>
                      <a:pt x="133" y="368"/>
                    </a:lnTo>
                    <a:lnTo>
                      <a:pt x="141" y="372"/>
                    </a:lnTo>
                    <a:lnTo>
                      <a:pt x="146" y="376"/>
                    </a:lnTo>
                    <a:lnTo>
                      <a:pt x="154" y="378"/>
                    </a:lnTo>
                    <a:lnTo>
                      <a:pt x="160" y="382"/>
                    </a:lnTo>
                    <a:lnTo>
                      <a:pt x="167" y="386"/>
                    </a:lnTo>
                    <a:lnTo>
                      <a:pt x="173" y="386"/>
                    </a:lnTo>
                    <a:lnTo>
                      <a:pt x="179" y="387"/>
                    </a:lnTo>
                    <a:lnTo>
                      <a:pt x="182" y="389"/>
                    </a:lnTo>
                    <a:lnTo>
                      <a:pt x="190" y="391"/>
                    </a:lnTo>
                    <a:lnTo>
                      <a:pt x="200" y="393"/>
                    </a:lnTo>
                    <a:lnTo>
                      <a:pt x="209" y="395"/>
                    </a:lnTo>
                    <a:lnTo>
                      <a:pt x="215" y="397"/>
                    </a:lnTo>
                    <a:lnTo>
                      <a:pt x="220" y="397"/>
                    </a:lnTo>
                    <a:lnTo>
                      <a:pt x="224" y="397"/>
                    </a:lnTo>
                    <a:lnTo>
                      <a:pt x="226" y="399"/>
                    </a:lnTo>
                    <a:lnTo>
                      <a:pt x="224" y="395"/>
                    </a:lnTo>
                    <a:lnTo>
                      <a:pt x="220" y="391"/>
                    </a:lnTo>
                    <a:lnTo>
                      <a:pt x="219" y="387"/>
                    </a:lnTo>
                    <a:lnTo>
                      <a:pt x="217" y="384"/>
                    </a:lnTo>
                    <a:lnTo>
                      <a:pt x="213" y="378"/>
                    </a:lnTo>
                    <a:lnTo>
                      <a:pt x="211" y="374"/>
                    </a:lnTo>
                    <a:lnTo>
                      <a:pt x="209" y="367"/>
                    </a:lnTo>
                    <a:lnTo>
                      <a:pt x="205" y="361"/>
                    </a:lnTo>
                    <a:lnTo>
                      <a:pt x="201" y="355"/>
                    </a:lnTo>
                    <a:lnTo>
                      <a:pt x="198" y="348"/>
                    </a:lnTo>
                    <a:lnTo>
                      <a:pt x="194" y="340"/>
                    </a:lnTo>
                    <a:lnTo>
                      <a:pt x="190" y="334"/>
                    </a:lnTo>
                    <a:lnTo>
                      <a:pt x="186" y="327"/>
                    </a:lnTo>
                    <a:lnTo>
                      <a:pt x="182" y="319"/>
                    </a:lnTo>
                    <a:lnTo>
                      <a:pt x="179" y="309"/>
                    </a:lnTo>
                    <a:lnTo>
                      <a:pt x="175" y="302"/>
                    </a:lnTo>
                    <a:lnTo>
                      <a:pt x="169" y="294"/>
                    </a:lnTo>
                    <a:lnTo>
                      <a:pt x="165" y="287"/>
                    </a:lnTo>
                    <a:lnTo>
                      <a:pt x="162" y="279"/>
                    </a:lnTo>
                    <a:lnTo>
                      <a:pt x="158" y="271"/>
                    </a:lnTo>
                    <a:lnTo>
                      <a:pt x="156" y="264"/>
                    </a:lnTo>
                    <a:lnTo>
                      <a:pt x="152" y="258"/>
                    </a:lnTo>
                    <a:lnTo>
                      <a:pt x="148" y="251"/>
                    </a:lnTo>
                    <a:lnTo>
                      <a:pt x="146" y="245"/>
                    </a:lnTo>
                    <a:lnTo>
                      <a:pt x="143" y="237"/>
                    </a:lnTo>
                    <a:lnTo>
                      <a:pt x="143" y="233"/>
                    </a:lnTo>
                    <a:lnTo>
                      <a:pt x="139" y="228"/>
                    </a:lnTo>
                    <a:lnTo>
                      <a:pt x="139" y="224"/>
                    </a:lnTo>
                    <a:lnTo>
                      <a:pt x="137" y="220"/>
                    </a:lnTo>
                    <a:lnTo>
                      <a:pt x="137" y="216"/>
                    </a:lnTo>
                    <a:lnTo>
                      <a:pt x="135" y="209"/>
                    </a:lnTo>
                    <a:lnTo>
                      <a:pt x="133" y="199"/>
                    </a:lnTo>
                    <a:lnTo>
                      <a:pt x="131" y="195"/>
                    </a:lnTo>
                    <a:lnTo>
                      <a:pt x="129" y="190"/>
                    </a:lnTo>
                    <a:lnTo>
                      <a:pt x="127" y="184"/>
                    </a:lnTo>
                    <a:lnTo>
                      <a:pt x="127" y="178"/>
                    </a:lnTo>
                    <a:lnTo>
                      <a:pt x="124" y="173"/>
                    </a:lnTo>
                    <a:lnTo>
                      <a:pt x="122" y="167"/>
                    </a:lnTo>
                    <a:lnTo>
                      <a:pt x="120" y="159"/>
                    </a:lnTo>
                    <a:lnTo>
                      <a:pt x="118" y="154"/>
                    </a:lnTo>
                    <a:lnTo>
                      <a:pt x="114" y="146"/>
                    </a:lnTo>
                    <a:lnTo>
                      <a:pt x="112" y="138"/>
                    </a:lnTo>
                    <a:lnTo>
                      <a:pt x="110" y="133"/>
                    </a:lnTo>
                    <a:lnTo>
                      <a:pt x="108" y="125"/>
                    </a:lnTo>
                    <a:lnTo>
                      <a:pt x="104" y="117"/>
                    </a:lnTo>
                    <a:lnTo>
                      <a:pt x="103" y="112"/>
                    </a:lnTo>
                    <a:lnTo>
                      <a:pt x="101" y="104"/>
                    </a:lnTo>
                    <a:lnTo>
                      <a:pt x="97" y="97"/>
                    </a:lnTo>
                    <a:lnTo>
                      <a:pt x="95" y="91"/>
                    </a:lnTo>
                    <a:lnTo>
                      <a:pt x="91" y="85"/>
                    </a:lnTo>
                    <a:lnTo>
                      <a:pt x="89" y="79"/>
                    </a:lnTo>
                    <a:lnTo>
                      <a:pt x="87" y="74"/>
                    </a:lnTo>
                    <a:lnTo>
                      <a:pt x="84" y="66"/>
                    </a:lnTo>
                    <a:lnTo>
                      <a:pt x="82" y="60"/>
                    </a:lnTo>
                    <a:lnTo>
                      <a:pt x="80" y="57"/>
                    </a:lnTo>
                    <a:lnTo>
                      <a:pt x="78" y="53"/>
                    </a:lnTo>
                    <a:lnTo>
                      <a:pt x="76" y="45"/>
                    </a:lnTo>
                    <a:lnTo>
                      <a:pt x="72" y="39"/>
                    </a:lnTo>
                    <a:lnTo>
                      <a:pt x="66" y="30"/>
                    </a:lnTo>
                    <a:lnTo>
                      <a:pt x="61" y="22"/>
                    </a:lnTo>
                    <a:lnTo>
                      <a:pt x="55" y="15"/>
                    </a:lnTo>
                    <a:lnTo>
                      <a:pt x="51" y="9"/>
                    </a:lnTo>
                    <a:lnTo>
                      <a:pt x="46" y="1"/>
                    </a:lnTo>
                    <a:lnTo>
                      <a:pt x="44" y="0"/>
                    </a:lnTo>
                    <a:close/>
                  </a:path>
                </a:pathLst>
              </a:custGeom>
              <a:solidFill>
                <a:srgbClr val="FF1FC7"/>
              </a:solidFill>
              <a:ln w="9525">
                <a:noFill/>
                <a:round/>
              </a:ln>
            </p:spPr>
            <p:txBody>
              <a:bodyPr/>
              <a:lstStyle/>
              <a:p>
                <a:endParaRPr lang="en-US"/>
              </a:p>
            </p:txBody>
          </p:sp>
          <p:sp>
            <p:nvSpPr>
              <p:cNvPr id="1048990" name="Freeform 288"/>
              <p:cNvSpPr/>
              <p:nvPr/>
            </p:nvSpPr>
            <p:spPr bwMode="auto">
              <a:xfrm>
                <a:off x="1968" y="2505"/>
                <a:ext cx="442" cy="336"/>
              </a:xfrm>
              <a:custGeom>
                <a:avLst/>
                <a:gdLst>
                  <a:gd name="T0" fmla="*/ 440 w 884"/>
                  <a:gd name="T1" fmla="*/ 39 h 674"/>
                  <a:gd name="T2" fmla="*/ 442 w 884"/>
                  <a:gd name="T3" fmla="*/ 58 h 674"/>
                  <a:gd name="T4" fmla="*/ 442 w 884"/>
                  <a:gd name="T5" fmla="*/ 79 h 674"/>
                  <a:gd name="T6" fmla="*/ 440 w 884"/>
                  <a:gd name="T7" fmla="*/ 101 h 674"/>
                  <a:gd name="T8" fmla="*/ 437 w 884"/>
                  <a:gd name="T9" fmla="*/ 124 h 674"/>
                  <a:gd name="T10" fmla="*/ 430 w 884"/>
                  <a:gd name="T11" fmla="*/ 146 h 674"/>
                  <a:gd name="T12" fmla="*/ 422 w 884"/>
                  <a:gd name="T13" fmla="*/ 168 h 674"/>
                  <a:gd name="T14" fmla="*/ 414 w 884"/>
                  <a:gd name="T15" fmla="*/ 192 h 674"/>
                  <a:gd name="T16" fmla="*/ 402 w 884"/>
                  <a:gd name="T17" fmla="*/ 213 h 674"/>
                  <a:gd name="T18" fmla="*/ 389 w 884"/>
                  <a:gd name="T19" fmla="*/ 234 h 674"/>
                  <a:gd name="T20" fmla="*/ 374 w 884"/>
                  <a:gd name="T21" fmla="*/ 254 h 674"/>
                  <a:gd name="T22" fmla="*/ 358 w 884"/>
                  <a:gd name="T23" fmla="*/ 273 h 674"/>
                  <a:gd name="T24" fmla="*/ 341 w 884"/>
                  <a:gd name="T25" fmla="*/ 289 h 674"/>
                  <a:gd name="T26" fmla="*/ 321 w 884"/>
                  <a:gd name="T27" fmla="*/ 304 h 674"/>
                  <a:gd name="T28" fmla="*/ 301 w 884"/>
                  <a:gd name="T29" fmla="*/ 316 h 674"/>
                  <a:gd name="T30" fmla="*/ 279 w 884"/>
                  <a:gd name="T31" fmla="*/ 326 h 674"/>
                  <a:gd name="T32" fmla="*/ 264 w 884"/>
                  <a:gd name="T33" fmla="*/ 329 h 674"/>
                  <a:gd name="T34" fmla="*/ 249 w 884"/>
                  <a:gd name="T35" fmla="*/ 332 h 674"/>
                  <a:gd name="T36" fmla="*/ 232 w 884"/>
                  <a:gd name="T37" fmla="*/ 334 h 674"/>
                  <a:gd name="T38" fmla="*/ 213 w 884"/>
                  <a:gd name="T39" fmla="*/ 335 h 674"/>
                  <a:gd name="T40" fmla="*/ 193 w 884"/>
                  <a:gd name="T41" fmla="*/ 336 h 674"/>
                  <a:gd name="T42" fmla="*/ 172 w 884"/>
                  <a:gd name="T43" fmla="*/ 336 h 674"/>
                  <a:gd name="T44" fmla="*/ 151 w 884"/>
                  <a:gd name="T45" fmla="*/ 335 h 674"/>
                  <a:gd name="T46" fmla="*/ 129 w 884"/>
                  <a:gd name="T47" fmla="*/ 335 h 674"/>
                  <a:gd name="T48" fmla="*/ 108 w 884"/>
                  <a:gd name="T49" fmla="*/ 333 h 674"/>
                  <a:gd name="T50" fmla="*/ 87 w 884"/>
                  <a:gd name="T51" fmla="*/ 332 h 674"/>
                  <a:gd name="T52" fmla="*/ 67 w 884"/>
                  <a:gd name="T53" fmla="*/ 331 h 674"/>
                  <a:gd name="T54" fmla="*/ 50 w 884"/>
                  <a:gd name="T55" fmla="*/ 330 h 674"/>
                  <a:gd name="T56" fmla="*/ 35 w 884"/>
                  <a:gd name="T57" fmla="*/ 328 h 674"/>
                  <a:gd name="T58" fmla="*/ 21 w 884"/>
                  <a:gd name="T59" fmla="*/ 327 h 674"/>
                  <a:gd name="T60" fmla="*/ 12 w 884"/>
                  <a:gd name="T61" fmla="*/ 327 h 674"/>
                  <a:gd name="T62" fmla="*/ 0 w 884"/>
                  <a:gd name="T63" fmla="*/ 307 h 674"/>
                  <a:gd name="T64" fmla="*/ 315 w 884"/>
                  <a:gd name="T65" fmla="*/ 296 h 674"/>
                  <a:gd name="T66" fmla="*/ 329 w 884"/>
                  <a:gd name="T67" fmla="*/ 284 h 674"/>
                  <a:gd name="T68" fmla="*/ 343 w 884"/>
                  <a:gd name="T69" fmla="*/ 269 h 674"/>
                  <a:gd name="T70" fmla="*/ 354 w 884"/>
                  <a:gd name="T71" fmla="*/ 253 h 674"/>
                  <a:gd name="T72" fmla="*/ 363 w 884"/>
                  <a:gd name="T73" fmla="*/ 235 h 674"/>
                  <a:gd name="T74" fmla="*/ 372 w 884"/>
                  <a:gd name="T75" fmla="*/ 214 h 674"/>
                  <a:gd name="T76" fmla="*/ 379 w 884"/>
                  <a:gd name="T77" fmla="*/ 194 h 674"/>
                  <a:gd name="T78" fmla="*/ 385 w 884"/>
                  <a:gd name="T79" fmla="*/ 172 h 674"/>
                  <a:gd name="T80" fmla="*/ 390 w 884"/>
                  <a:gd name="T81" fmla="*/ 150 h 674"/>
                  <a:gd name="T82" fmla="*/ 395 w 884"/>
                  <a:gd name="T83" fmla="*/ 127 h 674"/>
                  <a:gd name="T84" fmla="*/ 399 w 884"/>
                  <a:gd name="T85" fmla="*/ 105 h 674"/>
                  <a:gd name="T86" fmla="*/ 402 w 884"/>
                  <a:gd name="T87" fmla="*/ 83 h 674"/>
                  <a:gd name="T88" fmla="*/ 404 w 884"/>
                  <a:gd name="T89" fmla="*/ 62 h 674"/>
                  <a:gd name="T90" fmla="*/ 407 w 884"/>
                  <a:gd name="T91" fmla="*/ 41 h 674"/>
                  <a:gd name="T92" fmla="*/ 409 w 884"/>
                  <a:gd name="T93" fmla="*/ 21 h 674"/>
                  <a:gd name="T94" fmla="*/ 411 w 884"/>
                  <a:gd name="T95" fmla="*/ 4 h 674"/>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884"/>
                  <a:gd name="T145" fmla="*/ 0 h 674"/>
                  <a:gd name="T146" fmla="*/ 884 w 884"/>
                  <a:gd name="T147" fmla="*/ 674 h 674"/>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884" h="674">
                    <a:moveTo>
                      <a:pt x="875" y="52"/>
                    </a:moveTo>
                    <a:lnTo>
                      <a:pt x="877" y="59"/>
                    </a:lnTo>
                    <a:lnTo>
                      <a:pt x="877" y="69"/>
                    </a:lnTo>
                    <a:lnTo>
                      <a:pt x="879" y="78"/>
                    </a:lnTo>
                    <a:lnTo>
                      <a:pt x="880" y="88"/>
                    </a:lnTo>
                    <a:lnTo>
                      <a:pt x="882" y="95"/>
                    </a:lnTo>
                    <a:lnTo>
                      <a:pt x="882" y="107"/>
                    </a:lnTo>
                    <a:lnTo>
                      <a:pt x="884" y="116"/>
                    </a:lnTo>
                    <a:lnTo>
                      <a:pt x="884" y="128"/>
                    </a:lnTo>
                    <a:lnTo>
                      <a:pt x="884" y="137"/>
                    </a:lnTo>
                    <a:lnTo>
                      <a:pt x="884" y="147"/>
                    </a:lnTo>
                    <a:lnTo>
                      <a:pt x="884" y="158"/>
                    </a:lnTo>
                    <a:lnTo>
                      <a:pt x="884" y="168"/>
                    </a:lnTo>
                    <a:lnTo>
                      <a:pt x="882" y="179"/>
                    </a:lnTo>
                    <a:lnTo>
                      <a:pt x="880" y="191"/>
                    </a:lnTo>
                    <a:lnTo>
                      <a:pt x="880" y="202"/>
                    </a:lnTo>
                    <a:lnTo>
                      <a:pt x="879" y="213"/>
                    </a:lnTo>
                    <a:lnTo>
                      <a:pt x="877" y="225"/>
                    </a:lnTo>
                    <a:lnTo>
                      <a:pt x="875" y="236"/>
                    </a:lnTo>
                    <a:lnTo>
                      <a:pt x="873" y="248"/>
                    </a:lnTo>
                    <a:lnTo>
                      <a:pt x="871" y="257"/>
                    </a:lnTo>
                    <a:lnTo>
                      <a:pt x="867" y="269"/>
                    </a:lnTo>
                    <a:lnTo>
                      <a:pt x="863" y="280"/>
                    </a:lnTo>
                    <a:lnTo>
                      <a:pt x="860" y="293"/>
                    </a:lnTo>
                    <a:lnTo>
                      <a:pt x="858" y="305"/>
                    </a:lnTo>
                    <a:lnTo>
                      <a:pt x="852" y="316"/>
                    </a:lnTo>
                    <a:lnTo>
                      <a:pt x="850" y="327"/>
                    </a:lnTo>
                    <a:lnTo>
                      <a:pt x="844" y="337"/>
                    </a:lnTo>
                    <a:lnTo>
                      <a:pt x="841" y="350"/>
                    </a:lnTo>
                    <a:lnTo>
                      <a:pt x="837" y="362"/>
                    </a:lnTo>
                    <a:lnTo>
                      <a:pt x="831" y="373"/>
                    </a:lnTo>
                    <a:lnTo>
                      <a:pt x="827" y="385"/>
                    </a:lnTo>
                    <a:lnTo>
                      <a:pt x="822" y="396"/>
                    </a:lnTo>
                    <a:lnTo>
                      <a:pt x="816" y="405"/>
                    </a:lnTo>
                    <a:lnTo>
                      <a:pt x="810" y="417"/>
                    </a:lnTo>
                    <a:lnTo>
                      <a:pt x="804" y="428"/>
                    </a:lnTo>
                    <a:lnTo>
                      <a:pt x="799" y="440"/>
                    </a:lnTo>
                    <a:lnTo>
                      <a:pt x="791" y="449"/>
                    </a:lnTo>
                    <a:lnTo>
                      <a:pt x="784" y="461"/>
                    </a:lnTo>
                    <a:lnTo>
                      <a:pt x="778" y="470"/>
                    </a:lnTo>
                    <a:lnTo>
                      <a:pt x="770" y="481"/>
                    </a:lnTo>
                    <a:lnTo>
                      <a:pt x="765" y="491"/>
                    </a:lnTo>
                    <a:lnTo>
                      <a:pt x="757" y="501"/>
                    </a:lnTo>
                    <a:lnTo>
                      <a:pt x="747" y="510"/>
                    </a:lnTo>
                    <a:lnTo>
                      <a:pt x="742" y="520"/>
                    </a:lnTo>
                    <a:lnTo>
                      <a:pt x="732" y="529"/>
                    </a:lnTo>
                    <a:lnTo>
                      <a:pt x="725" y="539"/>
                    </a:lnTo>
                    <a:lnTo>
                      <a:pt x="715" y="548"/>
                    </a:lnTo>
                    <a:lnTo>
                      <a:pt x="709" y="558"/>
                    </a:lnTo>
                    <a:lnTo>
                      <a:pt x="698" y="563"/>
                    </a:lnTo>
                    <a:lnTo>
                      <a:pt x="690" y="573"/>
                    </a:lnTo>
                    <a:lnTo>
                      <a:pt x="681" y="580"/>
                    </a:lnTo>
                    <a:lnTo>
                      <a:pt x="671" y="588"/>
                    </a:lnTo>
                    <a:lnTo>
                      <a:pt x="662" y="596"/>
                    </a:lnTo>
                    <a:lnTo>
                      <a:pt x="652" y="603"/>
                    </a:lnTo>
                    <a:lnTo>
                      <a:pt x="641" y="609"/>
                    </a:lnTo>
                    <a:lnTo>
                      <a:pt x="633" y="617"/>
                    </a:lnTo>
                    <a:lnTo>
                      <a:pt x="622" y="622"/>
                    </a:lnTo>
                    <a:lnTo>
                      <a:pt x="610" y="628"/>
                    </a:lnTo>
                    <a:lnTo>
                      <a:pt x="601" y="634"/>
                    </a:lnTo>
                    <a:lnTo>
                      <a:pt x="590" y="639"/>
                    </a:lnTo>
                    <a:lnTo>
                      <a:pt x="578" y="645"/>
                    </a:lnTo>
                    <a:lnTo>
                      <a:pt x="569" y="649"/>
                    </a:lnTo>
                    <a:lnTo>
                      <a:pt x="557" y="653"/>
                    </a:lnTo>
                    <a:lnTo>
                      <a:pt x="546" y="658"/>
                    </a:lnTo>
                    <a:lnTo>
                      <a:pt x="540" y="658"/>
                    </a:lnTo>
                    <a:lnTo>
                      <a:pt x="533" y="660"/>
                    </a:lnTo>
                    <a:lnTo>
                      <a:pt x="527" y="660"/>
                    </a:lnTo>
                    <a:lnTo>
                      <a:pt x="521" y="662"/>
                    </a:lnTo>
                    <a:lnTo>
                      <a:pt x="514" y="664"/>
                    </a:lnTo>
                    <a:lnTo>
                      <a:pt x="506" y="664"/>
                    </a:lnTo>
                    <a:lnTo>
                      <a:pt x="498" y="666"/>
                    </a:lnTo>
                    <a:lnTo>
                      <a:pt x="491" y="668"/>
                    </a:lnTo>
                    <a:lnTo>
                      <a:pt x="481" y="668"/>
                    </a:lnTo>
                    <a:lnTo>
                      <a:pt x="474" y="668"/>
                    </a:lnTo>
                    <a:lnTo>
                      <a:pt x="464" y="670"/>
                    </a:lnTo>
                    <a:lnTo>
                      <a:pt x="455" y="670"/>
                    </a:lnTo>
                    <a:lnTo>
                      <a:pt x="445" y="670"/>
                    </a:lnTo>
                    <a:lnTo>
                      <a:pt x="436" y="672"/>
                    </a:lnTo>
                    <a:lnTo>
                      <a:pt x="426" y="672"/>
                    </a:lnTo>
                    <a:lnTo>
                      <a:pt x="418" y="674"/>
                    </a:lnTo>
                    <a:lnTo>
                      <a:pt x="407" y="674"/>
                    </a:lnTo>
                    <a:lnTo>
                      <a:pt x="396" y="674"/>
                    </a:lnTo>
                    <a:lnTo>
                      <a:pt x="386" y="674"/>
                    </a:lnTo>
                    <a:lnTo>
                      <a:pt x="377" y="674"/>
                    </a:lnTo>
                    <a:lnTo>
                      <a:pt x="365" y="674"/>
                    </a:lnTo>
                    <a:lnTo>
                      <a:pt x="356" y="674"/>
                    </a:lnTo>
                    <a:lnTo>
                      <a:pt x="344" y="674"/>
                    </a:lnTo>
                    <a:lnTo>
                      <a:pt x="335" y="674"/>
                    </a:lnTo>
                    <a:lnTo>
                      <a:pt x="323" y="672"/>
                    </a:lnTo>
                    <a:lnTo>
                      <a:pt x="312" y="672"/>
                    </a:lnTo>
                    <a:lnTo>
                      <a:pt x="301" y="672"/>
                    </a:lnTo>
                    <a:lnTo>
                      <a:pt x="289" y="672"/>
                    </a:lnTo>
                    <a:lnTo>
                      <a:pt x="280" y="672"/>
                    </a:lnTo>
                    <a:lnTo>
                      <a:pt x="268" y="672"/>
                    </a:lnTo>
                    <a:lnTo>
                      <a:pt x="257" y="672"/>
                    </a:lnTo>
                    <a:lnTo>
                      <a:pt x="247" y="672"/>
                    </a:lnTo>
                    <a:lnTo>
                      <a:pt x="236" y="670"/>
                    </a:lnTo>
                    <a:lnTo>
                      <a:pt x="226" y="670"/>
                    </a:lnTo>
                    <a:lnTo>
                      <a:pt x="215" y="668"/>
                    </a:lnTo>
                    <a:lnTo>
                      <a:pt x="204" y="668"/>
                    </a:lnTo>
                    <a:lnTo>
                      <a:pt x="194" y="668"/>
                    </a:lnTo>
                    <a:lnTo>
                      <a:pt x="183" y="666"/>
                    </a:lnTo>
                    <a:lnTo>
                      <a:pt x="173" y="666"/>
                    </a:lnTo>
                    <a:lnTo>
                      <a:pt x="164" y="666"/>
                    </a:lnTo>
                    <a:lnTo>
                      <a:pt x="152" y="666"/>
                    </a:lnTo>
                    <a:lnTo>
                      <a:pt x="145" y="664"/>
                    </a:lnTo>
                    <a:lnTo>
                      <a:pt x="133" y="664"/>
                    </a:lnTo>
                    <a:lnTo>
                      <a:pt x="126" y="664"/>
                    </a:lnTo>
                    <a:lnTo>
                      <a:pt x="116" y="662"/>
                    </a:lnTo>
                    <a:lnTo>
                      <a:pt x="109" y="662"/>
                    </a:lnTo>
                    <a:lnTo>
                      <a:pt x="99" y="662"/>
                    </a:lnTo>
                    <a:lnTo>
                      <a:pt x="93" y="662"/>
                    </a:lnTo>
                    <a:lnTo>
                      <a:pt x="84" y="660"/>
                    </a:lnTo>
                    <a:lnTo>
                      <a:pt x="76" y="660"/>
                    </a:lnTo>
                    <a:lnTo>
                      <a:pt x="69" y="658"/>
                    </a:lnTo>
                    <a:lnTo>
                      <a:pt x="63" y="658"/>
                    </a:lnTo>
                    <a:lnTo>
                      <a:pt x="55" y="658"/>
                    </a:lnTo>
                    <a:lnTo>
                      <a:pt x="48" y="658"/>
                    </a:lnTo>
                    <a:lnTo>
                      <a:pt x="42" y="656"/>
                    </a:lnTo>
                    <a:lnTo>
                      <a:pt x="38" y="656"/>
                    </a:lnTo>
                    <a:lnTo>
                      <a:pt x="33" y="656"/>
                    </a:lnTo>
                    <a:lnTo>
                      <a:pt x="27" y="656"/>
                    </a:lnTo>
                    <a:lnTo>
                      <a:pt x="23" y="656"/>
                    </a:lnTo>
                    <a:lnTo>
                      <a:pt x="19" y="656"/>
                    </a:lnTo>
                    <a:lnTo>
                      <a:pt x="13" y="656"/>
                    </a:lnTo>
                    <a:lnTo>
                      <a:pt x="10" y="656"/>
                    </a:lnTo>
                    <a:lnTo>
                      <a:pt x="0" y="615"/>
                    </a:lnTo>
                    <a:lnTo>
                      <a:pt x="607" y="609"/>
                    </a:lnTo>
                    <a:lnTo>
                      <a:pt x="614" y="603"/>
                    </a:lnTo>
                    <a:lnTo>
                      <a:pt x="622" y="599"/>
                    </a:lnTo>
                    <a:lnTo>
                      <a:pt x="630" y="594"/>
                    </a:lnTo>
                    <a:lnTo>
                      <a:pt x="637" y="588"/>
                    </a:lnTo>
                    <a:lnTo>
                      <a:pt x="645" y="582"/>
                    </a:lnTo>
                    <a:lnTo>
                      <a:pt x="652" y="577"/>
                    </a:lnTo>
                    <a:lnTo>
                      <a:pt x="658" y="569"/>
                    </a:lnTo>
                    <a:lnTo>
                      <a:pt x="666" y="563"/>
                    </a:lnTo>
                    <a:lnTo>
                      <a:pt x="671" y="556"/>
                    </a:lnTo>
                    <a:lnTo>
                      <a:pt x="677" y="548"/>
                    </a:lnTo>
                    <a:lnTo>
                      <a:pt x="685" y="540"/>
                    </a:lnTo>
                    <a:lnTo>
                      <a:pt x="690" y="533"/>
                    </a:lnTo>
                    <a:lnTo>
                      <a:pt x="696" y="525"/>
                    </a:lnTo>
                    <a:lnTo>
                      <a:pt x="702" y="516"/>
                    </a:lnTo>
                    <a:lnTo>
                      <a:pt x="707" y="508"/>
                    </a:lnTo>
                    <a:lnTo>
                      <a:pt x="713" y="501"/>
                    </a:lnTo>
                    <a:lnTo>
                      <a:pt x="715" y="489"/>
                    </a:lnTo>
                    <a:lnTo>
                      <a:pt x="721" y="480"/>
                    </a:lnTo>
                    <a:lnTo>
                      <a:pt x="725" y="472"/>
                    </a:lnTo>
                    <a:lnTo>
                      <a:pt x="730" y="462"/>
                    </a:lnTo>
                    <a:lnTo>
                      <a:pt x="734" y="451"/>
                    </a:lnTo>
                    <a:lnTo>
                      <a:pt x="740" y="442"/>
                    </a:lnTo>
                    <a:lnTo>
                      <a:pt x="744" y="430"/>
                    </a:lnTo>
                    <a:lnTo>
                      <a:pt x="747" y="421"/>
                    </a:lnTo>
                    <a:lnTo>
                      <a:pt x="749" y="411"/>
                    </a:lnTo>
                    <a:lnTo>
                      <a:pt x="753" y="400"/>
                    </a:lnTo>
                    <a:lnTo>
                      <a:pt x="757" y="390"/>
                    </a:lnTo>
                    <a:lnTo>
                      <a:pt x="761" y="379"/>
                    </a:lnTo>
                    <a:lnTo>
                      <a:pt x="765" y="367"/>
                    </a:lnTo>
                    <a:lnTo>
                      <a:pt x="768" y="358"/>
                    </a:lnTo>
                    <a:lnTo>
                      <a:pt x="770" y="346"/>
                    </a:lnTo>
                    <a:lnTo>
                      <a:pt x="774" y="335"/>
                    </a:lnTo>
                    <a:lnTo>
                      <a:pt x="776" y="324"/>
                    </a:lnTo>
                    <a:lnTo>
                      <a:pt x="778" y="312"/>
                    </a:lnTo>
                    <a:lnTo>
                      <a:pt x="780" y="301"/>
                    </a:lnTo>
                    <a:lnTo>
                      <a:pt x="784" y="289"/>
                    </a:lnTo>
                    <a:lnTo>
                      <a:pt x="785" y="278"/>
                    </a:lnTo>
                    <a:lnTo>
                      <a:pt x="787" y="267"/>
                    </a:lnTo>
                    <a:lnTo>
                      <a:pt x="789" y="255"/>
                    </a:lnTo>
                    <a:lnTo>
                      <a:pt x="793" y="246"/>
                    </a:lnTo>
                    <a:lnTo>
                      <a:pt x="793" y="232"/>
                    </a:lnTo>
                    <a:lnTo>
                      <a:pt x="797" y="221"/>
                    </a:lnTo>
                    <a:lnTo>
                      <a:pt x="797" y="211"/>
                    </a:lnTo>
                    <a:lnTo>
                      <a:pt x="799" y="200"/>
                    </a:lnTo>
                    <a:lnTo>
                      <a:pt x="801" y="189"/>
                    </a:lnTo>
                    <a:lnTo>
                      <a:pt x="803" y="177"/>
                    </a:lnTo>
                    <a:lnTo>
                      <a:pt x="804" y="166"/>
                    </a:lnTo>
                    <a:lnTo>
                      <a:pt x="806" y="156"/>
                    </a:lnTo>
                    <a:lnTo>
                      <a:pt x="806" y="145"/>
                    </a:lnTo>
                    <a:lnTo>
                      <a:pt x="808" y="135"/>
                    </a:lnTo>
                    <a:lnTo>
                      <a:pt x="808" y="124"/>
                    </a:lnTo>
                    <a:lnTo>
                      <a:pt x="810" y="113"/>
                    </a:lnTo>
                    <a:lnTo>
                      <a:pt x="812" y="103"/>
                    </a:lnTo>
                    <a:lnTo>
                      <a:pt x="812" y="92"/>
                    </a:lnTo>
                    <a:lnTo>
                      <a:pt x="814" y="82"/>
                    </a:lnTo>
                    <a:lnTo>
                      <a:pt x="816" y="73"/>
                    </a:lnTo>
                    <a:lnTo>
                      <a:pt x="816" y="61"/>
                    </a:lnTo>
                    <a:lnTo>
                      <a:pt x="818" y="54"/>
                    </a:lnTo>
                    <a:lnTo>
                      <a:pt x="818" y="42"/>
                    </a:lnTo>
                    <a:lnTo>
                      <a:pt x="820" y="35"/>
                    </a:lnTo>
                    <a:lnTo>
                      <a:pt x="820" y="25"/>
                    </a:lnTo>
                    <a:lnTo>
                      <a:pt x="822" y="18"/>
                    </a:lnTo>
                    <a:lnTo>
                      <a:pt x="822" y="8"/>
                    </a:lnTo>
                    <a:lnTo>
                      <a:pt x="823" y="0"/>
                    </a:lnTo>
                    <a:lnTo>
                      <a:pt x="875" y="52"/>
                    </a:lnTo>
                    <a:close/>
                  </a:path>
                </a:pathLst>
              </a:custGeom>
              <a:solidFill>
                <a:srgbClr val="000000"/>
              </a:solidFill>
              <a:ln w="9525">
                <a:noFill/>
                <a:round/>
              </a:ln>
            </p:spPr>
            <p:txBody>
              <a:bodyPr/>
              <a:lstStyle/>
              <a:p>
                <a:endParaRPr lang="en-US"/>
              </a:p>
            </p:txBody>
          </p:sp>
          <p:sp>
            <p:nvSpPr>
              <p:cNvPr id="1048991" name="Freeform 289"/>
              <p:cNvSpPr/>
              <p:nvPr/>
            </p:nvSpPr>
            <p:spPr bwMode="auto">
              <a:xfrm>
                <a:off x="1969" y="2525"/>
                <a:ext cx="294" cy="228"/>
              </a:xfrm>
              <a:custGeom>
                <a:avLst/>
                <a:gdLst>
                  <a:gd name="T0" fmla="*/ 291 w 587"/>
                  <a:gd name="T1" fmla="*/ 12 h 457"/>
                  <a:gd name="T2" fmla="*/ 292 w 587"/>
                  <a:gd name="T3" fmla="*/ 22 h 457"/>
                  <a:gd name="T4" fmla="*/ 293 w 587"/>
                  <a:gd name="T5" fmla="*/ 33 h 457"/>
                  <a:gd name="T6" fmla="*/ 293 w 587"/>
                  <a:gd name="T7" fmla="*/ 44 h 457"/>
                  <a:gd name="T8" fmla="*/ 294 w 587"/>
                  <a:gd name="T9" fmla="*/ 55 h 457"/>
                  <a:gd name="T10" fmla="*/ 293 w 587"/>
                  <a:gd name="T11" fmla="*/ 66 h 457"/>
                  <a:gd name="T12" fmla="*/ 292 w 587"/>
                  <a:gd name="T13" fmla="*/ 79 h 457"/>
                  <a:gd name="T14" fmla="*/ 291 w 587"/>
                  <a:gd name="T15" fmla="*/ 90 h 457"/>
                  <a:gd name="T16" fmla="*/ 289 w 587"/>
                  <a:gd name="T17" fmla="*/ 103 h 457"/>
                  <a:gd name="T18" fmla="*/ 287 w 587"/>
                  <a:gd name="T19" fmla="*/ 114 h 457"/>
                  <a:gd name="T20" fmla="*/ 286 w 587"/>
                  <a:gd name="T21" fmla="*/ 125 h 457"/>
                  <a:gd name="T22" fmla="*/ 283 w 587"/>
                  <a:gd name="T23" fmla="*/ 136 h 457"/>
                  <a:gd name="T24" fmla="*/ 280 w 587"/>
                  <a:gd name="T25" fmla="*/ 147 h 457"/>
                  <a:gd name="T26" fmla="*/ 276 w 587"/>
                  <a:gd name="T27" fmla="*/ 158 h 457"/>
                  <a:gd name="T28" fmla="*/ 272 w 587"/>
                  <a:gd name="T29" fmla="*/ 168 h 457"/>
                  <a:gd name="T30" fmla="*/ 268 w 587"/>
                  <a:gd name="T31" fmla="*/ 178 h 457"/>
                  <a:gd name="T32" fmla="*/ 263 w 587"/>
                  <a:gd name="T33" fmla="*/ 187 h 457"/>
                  <a:gd name="T34" fmla="*/ 258 w 587"/>
                  <a:gd name="T35" fmla="*/ 195 h 457"/>
                  <a:gd name="T36" fmla="*/ 253 w 587"/>
                  <a:gd name="T37" fmla="*/ 202 h 457"/>
                  <a:gd name="T38" fmla="*/ 241 w 587"/>
                  <a:gd name="T39" fmla="*/ 215 h 457"/>
                  <a:gd name="T40" fmla="*/ 231 w 587"/>
                  <a:gd name="T41" fmla="*/ 220 h 457"/>
                  <a:gd name="T42" fmla="*/ 221 w 587"/>
                  <a:gd name="T43" fmla="*/ 223 h 457"/>
                  <a:gd name="T44" fmla="*/ 211 w 587"/>
                  <a:gd name="T45" fmla="*/ 226 h 457"/>
                  <a:gd name="T46" fmla="*/ 200 w 587"/>
                  <a:gd name="T47" fmla="*/ 227 h 457"/>
                  <a:gd name="T48" fmla="*/ 188 w 587"/>
                  <a:gd name="T49" fmla="*/ 227 h 457"/>
                  <a:gd name="T50" fmla="*/ 175 w 587"/>
                  <a:gd name="T51" fmla="*/ 227 h 457"/>
                  <a:gd name="T52" fmla="*/ 162 w 587"/>
                  <a:gd name="T53" fmla="*/ 226 h 457"/>
                  <a:gd name="T54" fmla="*/ 148 w 587"/>
                  <a:gd name="T55" fmla="*/ 224 h 457"/>
                  <a:gd name="T56" fmla="*/ 134 w 587"/>
                  <a:gd name="T57" fmla="*/ 221 h 457"/>
                  <a:gd name="T58" fmla="*/ 120 w 587"/>
                  <a:gd name="T59" fmla="*/ 219 h 457"/>
                  <a:gd name="T60" fmla="*/ 107 w 587"/>
                  <a:gd name="T61" fmla="*/ 216 h 457"/>
                  <a:gd name="T62" fmla="*/ 92 w 587"/>
                  <a:gd name="T63" fmla="*/ 212 h 457"/>
                  <a:gd name="T64" fmla="*/ 79 w 587"/>
                  <a:gd name="T65" fmla="*/ 207 h 457"/>
                  <a:gd name="T66" fmla="*/ 66 w 587"/>
                  <a:gd name="T67" fmla="*/ 203 h 457"/>
                  <a:gd name="T68" fmla="*/ 54 w 587"/>
                  <a:gd name="T69" fmla="*/ 199 h 457"/>
                  <a:gd name="T70" fmla="*/ 42 w 587"/>
                  <a:gd name="T71" fmla="*/ 194 h 457"/>
                  <a:gd name="T72" fmla="*/ 32 w 587"/>
                  <a:gd name="T73" fmla="*/ 190 h 457"/>
                  <a:gd name="T74" fmla="*/ 22 w 587"/>
                  <a:gd name="T75" fmla="*/ 185 h 457"/>
                  <a:gd name="T76" fmla="*/ 15 w 587"/>
                  <a:gd name="T77" fmla="*/ 181 h 457"/>
                  <a:gd name="T78" fmla="*/ 7 w 587"/>
                  <a:gd name="T79" fmla="*/ 177 h 457"/>
                  <a:gd name="T80" fmla="*/ 0 w 587"/>
                  <a:gd name="T81" fmla="*/ 170 h 457"/>
                  <a:gd name="T82" fmla="*/ 240 w 587"/>
                  <a:gd name="T83" fmla="*/ 198 h 457"/>
                  <a:gd name="T84" fmla="*/ 247 w 587"/>
                  <a:gd name="T85" fmla="*/ 187 h 457"/>
                  <a:gd name="T86" fmla="*/ 253 w 587"/>
                  <a:gd name="T87" fmla="*/ 174 h 457"/>
                  <a:gd name="T88" fmla="*/ 257 w 587"/>
                  <a:gd name="T89" fmla="*/ 163 h 457"/>
                  <a:gd name="T90" fmla="*/ 260 w 587"/>
                  <a:gd name="T91" fmla="*/ 156 h 457"/>
                  <a:gd name="T92" fmla="*/ 263 w 587"/>
                  <a:gd name="T93" fmla="*/ 147 h 457"/>
                  <a:gd name="T94" fmla="*/ 265 w 587"/>
                  <a:gd name="T95" fmla="*/ 138 h 457"/>
                  <a:gd name="T96" fmla="*/ 266 w 587"/>
                  <a:gd name="T97" fmla="*/ 128 h 457"/>
                  <a:gd name="T98" fmla="*/ 268 w 587"/>
                  <a:gd name="T99" fmla="*/ 119 h 457"/>
                  <a:gd name="T100" fmla="*/ 270 w 587"/>
                  <a:gd name="T101" fmla="*/ 108 h 457"/>
                  <a:gd name="T102" fmla="*/ 272 w 587"/>
                  <a:gd name="T103" fmla="*/ 98 h 457"/>
                  <a:gd name="T104" fmla="*/ 273 w 587"/>
                  <a:gd name="T105" fmla="*/ 86 h 457"/>
                  <a:gd name="T106" fmla="*/ 274 w 587"/>
                  <a:gd name="T107" fmla="*/ 76 h 457"/>
                  <a:gd name="T108" fmla="*/ 276 w 587"/>
                  <a:gd name="T109" fmla="*/ 65 h 457"/>
                  <a:gd name="T110" fmla="*/ 277 w 587"/>
                  <a:gd name="T111" fmla="*/ 52 h 457"/>
                  <a:gd name="T112" fmla="*/ 278 w 587"/>
                  <a:gd name="T113" fmla="*/ 41 h 457"/>
                  <a:gd name="T114" fmla="*/ 279 w 587"/>
                  <a:gd name="T115" fmla="*/ 28 h 457"/>
                  <a:gd name="T116" fmla="*/ 281 w 587"/>
                  <a:gd name="T117" fmla="*/ 16 h 457"/>
                  <a:gd name="T118" fmla="*/ 282 w 587"/>
                  <a:gd name="T119" fmla="*/ 4 h 457"/>
                  <a:gd name="T120" fmla="*/ 290 w 587"/>
                  <a:gd name="T121" fmla="*/ 7 h 45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587"/>
                  <a:gd name="T184" fmla="*/ 0 h 457"/>
                  <a:gd name="T185" fmla="*/ 587 w 587"/>
                  <a:gd name="T186" fmla="*/ 457 h 457"/>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587" h="457">
                    <a:moveTo>
                      <a:pt x="580" y="14"/>
                    </a:moveTo>
                    <a:lnTo>
                      <a:pt x="580" y="17"/>
                    </a:lnTo>
                    <a:lnTo>
                      <a:pt x="582" y="25"/>
                    </a:lnTo>
                    <a:lnTo>
                      <a:pt x="582" y="31"/>
                    </a:lnTo>
                    <a:lnTo>
                      <a:pt x="584" y="38"/>
                    </a:lnTo>
                    <a:lnTo>
                      <a:pt x="584" y="44"/>
                    </a:lnTo>
                    <a:lnTo>
                      <a:pt x="584" y="52"/>
                    </a:lnTo>
                    <a:lnTo>
                      <a:pt x="586" y="57"/>
                    </a:lnTo>
                    <a:lnTo>
                      <a:pt x="586" y="67"/>
                    </a:lnTo>
                    <a:lnTo>
                      <a:pt x="586" y="73"/>
                    </a:lnTo>
                    <a:lnTo>
                      <a:pt x="586" y="80"/>
                    </a:lnTo>
                    <a:lnTo>
                      <a:pt x="586" y="88"/>
                    </a:lnTo>
                    <a:lnTo>
                      <a:pt x="587" y="95"/>
                    </a:lnTo>
                    <a:lnTo>
                      <a:pt x="587" y="103"/>
                    </a:lnTo>
                    <a:lnTo>
                      <a:pt x="587" y="111"/>
                    </a:lnTo>
                    <a:lnTo>
                      <a:pt x="587" y="118"/>
                    </a:lnTo>
                    <a:lnTo>
                      <a:pt x="587" y="126"/>
                    </a:lnTo>
                    <a:lnTo>
                      <a:pt x="586" y="133"/>
                    </a:lnTo>
                    <a:lnTo>
                      <a:pt x="586" y="141"/>
                    </a:lnTo>
                    <a:lnTo>
                      <a:pt x="584" y="149"/>
                    </a:lnTo>
                    <a:lnTo>
                      <a:pt x="584" y="158"/>
                    </a:lnTo>
                    <a:lnTo>
                      <a:pt x="584" y="164"/>
                    </a:lnTo>
                    <a:lnTo>
                      <a:pt x="582" y="173"/>
                    </a:lnTo>
                    <a:lnTo>
                      <a:pt x="582" y="181"/>
                    </a:lnTo>
                    <a:lnTo>
                      <a:pt x="582" y="189"/>
                    </a:lnTo>
                    <a:lnTo>
                      <a:pt x="580" y="196"/>
                    </a:lnTo>
                    <a:lnTo>
                      <a:pt x="578" y="206"/>
                    </a:lnTo>
                    <a:lnTo>
                      <a:pt x="578" y="211"/>
                    </a:lnTo>
                    <a:lnTo>
                      <a:pt x="578" y="221"/>
                    </a:lnTo>
                    <a:lnTo>
                      <a:pt x="574" y="229"/>
                    </a:lnTo>
                    <a:lnTo>
                      <a:pt x="574" y="236"/>
                    </a:lnTo>
                    <a:lnTo>
                      <a:pt x="572" y="244"/>
                    </a:lnTo>
                    <a:lnTo>
                      <a:pt x="572" y="251"/>
                    </a:lnTo>
                    <a:lnTo>
                      <a:pt x="568" y="259"/>
                    </a:lnTo>
                    <a:lnTo>
                      <a:pt x="567" y="267"/>
                    </a:lnTo>
                    <a:lnTo>
                      <a:pt x="565" y="272"/>
                    </a:lnTo>
                    <a:lnTo>
                      <a:pt x="563" y="282"/>
                    </a:lnTo>
                    <a:lnTo>
                      <a:pt x="561" y="287"/>
                    </a:lnTo>
                    <a:lnTo>
                      <a:pt x="559" y="295"/>
                    </a:lnTo>
                    <a:lnTo>
                      <a:pt x="557" y="303"/>
                    </a:lnTo>
                    <a:lnTo>
                      <a:pt x="555" y="310"/>
                    </a:lnTo>
                    <a:lnTo>
                      <a:pt x="551" y="316"/>
                    </a:lnTo>
                    <a:lnTo>
                      <a:pt x="549" y="324"/>
                    </a:lnTo>
                    <a:lnTo>
                      <a:pt x="548" y="329"/>
                    </a:lnTo>
                    <a:lnTo>
                      <a:pt x="544" y="337"/>
                    </a:lnTo>
                    <a:lnTo>
                      <a:pt x="542" y="343"/>
                    </a:lnTo>
                    <a:lnTo>
                      <a:pt x="538" y="350"/>
                    </a:lnTo>
                    <a:lnTo>
                      <a:pt x="536" y="356"/>
                    </a:lnTo>
                    <a:lnTo>
                      <a:pt x="532" y="364"/>
                    </a:lnTo>
                    <a:lnTo>
                      <a:pt x="529" y="369"/>
                    </a:lnTo>
                    <a:lnTo>
                      <a:pt x="525" y="375"/>
                    </a:lnTo>
                    <a:lnTo>
                      <a:pt x="523" y="381"/>
                    </a:lnTo>
                    <a:lnTo>
                      <a:pt x="519" y="384"/>
                    </a:lnTo>
                    <a:lnTo>
                      <a:pt x="515" y="390"/>
                    </a:lnTo>
                    <a:lnTo>
                      <a:pt x="511" y="396"/>
                    </a:lnTo>
                    <a:lnTo>
                      <a:pt x="508" y="400"/>
                    </a:lnTo>
                    <a:lnTo>
                      <a:pt x="506" y="405"/>
                    </a:lnTo>
                    <a:lnTo>
                      <a:pt x="496" y="413"/>
                    </a:lnTo>
                    <a:lnTo>
                      <a:pt x="489" y="422"/>
                    </a:lnTo>
                    <a:lnTo>
                      <a:pt x="481" y="430"/>
                    </a:lnTo>
                    <a:lnTo>
                      <a:pt x="473" y="438"/>
                    </a:lnTo>
                    <a:lnTo>
                      <a:pt x="468" y="438"/>
                    </a:lnTo>
                    <a:lnTo>
                      <a:pt x="462" y="441"/>
                    </a:lnTo>
                    <a:lnTo>
                      <a:pt x="454" y="443"/>
                    </a:lnTo>
                    <a:lnTo>
                      <a:pt x="449" y="445"/>
                    </a:lnTo>
                    <a:lnTo>
                      <a:pt x="441" y="447"/>
                    </a:lnTo>
                    <a:lnTo>
                      <a:pt x="435" y="449"/>
                    </a:lnTo>
                    <a:lnTo>
                      <a:pt x="430" y="451"/>
                    </a:lnTo>
                    <a:lnTo>
                      <a:pt x="422" y="453"/>
                    </a:lnTo>
                    <a:lnTo>
                      <a:pt x="414" y="453"/>
                    </a:lnTo>
                    <a:lnTo>
                      <a:pt x="407" y="455"/>
                    </a:lnTo>
                    <a:lnTo>
                      <a:pt x="399" y="455"/>
                    </a:lnTo>
                    <a:lnTo>
                      <a:pt x="392" y="455"/>
                    </a:lnTo>
                    <a:lnTo>
                      <a:pt x="384" y="455"/>
                    </a:lnTo>
                    <a:lnTo>
                      <a:pt x="376" y="455"/>
                    </a:lnTo>
                    <a:lnTo>
                      <a:pt x="367" y="455"/>
                    </a:lnTo>
                    <a:lnTo>
                      <a:pt x="359" y="457"/>
                    </a:lnTo>
                    <a:lnTo>
                      <a:pt x="350" y="455"/>
                    </a:lnTo>
                    <a:lnTo>
                      <a:pt x="340" y="455"/>
                    </a:lnTo>
                    <a:lnTo>
                      <a:pt x="333" y="453"/>
                    </a:lnTo>
                    <a:lnTo>
                      <a:pt x="323" y="453"/>
                    </a:lnTo>
                    <a:lnTo>
                      <a:pt x="314" y="451"/>
                    </a:lnTo>
                    <a:lnTo>
                      <a:pt x="304" y="451"/>
                    </a:lnTo>
                    <a:lnTo>
                      <a:pt x="295" y="449"/>
                    </a:lnTo>
                    <a:lnTo>
                      <a:pt x="287" y="447"/>
                    </a:lnTo>
                    <a:lnTo>
                      <a:pt x="278" y="445"/>
                    </a:lnTo>
                    <a:lnTo>
                      <a:pt x="268" y="443"/>
                    </a:lnTo>
                    <a:lnTo>
                      <a:pt x="259" y="441"/>
                    </a:lnTo>
                    <a:lnTo>
                      <a:pt x="249" y="440"/>
                    </a:lnTo>
                    <a:lnTo>
                      <a:pt x="240" y="438"/>
                    </a:lnTo>
                    <a:lnTo>
                      <a:pt x="230" y="436"/>
                    </a:lnTo>
                    <a:lnTo>
                      <a:pt x="221" y="434"/>
                    </a:lnTo>
                    <a:lnTo>
                      <a:pt x="213" y="432"/>
                    </a:lnTo>
                    <a:lnTo>
                      <a:pt x="202" y="430"/>
                    </a:lnTo>
                    <a:lnTo>
                      <a:pt x="194" y="426"/>
                    </a:lnTo>
                    <a:lnTo>
                      <a:pt x="184" y="424"/>
                    </a:lnTo>
                    <a:lnTo>
                      <a:pt x="175" y="421"/>
                    </a:lnTo>
                    <a:lnTo>
                      <a:pt x="165" y="419"/>
                    </a:lnTo>
                    <a:lnTo>
                      <a:pt x="158" y="415"/>
                    </a:lnTo>
                    <a:lnTo>
                      <a:pt x="148" y="413"/>
                    </a:lnTo>
                    <a:lnTo>
                      <a:pt x="141" y="409"/>
                    </a:lnTo>
                    <a:lnTo>
                      <a:pt x="131" y="407"/>
                    </a:lnTo>
                    <a:lnTo>
                      <a:pt x="124" y="403"/>
                    </a:lnTo>
                    <a:lnTo>
                      <a:pt x="116" y="402"/>
                    </a:lnTo>
                    <a:lnTo>
                      <a:pt x="108" y="398"/>
                    </a:lnTo>
                    <a:lnTo>
                      <a:pt x="99" y="394"/>
                    </a:lnTo>
                    <a:lnTo>
                      <a:pt x="91" y="392"/>
                    </a:lnTo>
                    <a:lnTo>
                      <a:pt x="84" y="388"/>
                    </a:lnTo>
                    <a:lnTo>
                      <a:pt x="78" y="386"/>
                    </a:lnTo>
                    <a:lnTo>
                      <a:pt x="68" y="383"/>
                    </a:lnTo>
                    <a:lnTo>
                      <a:pt x="63" y="381"/>
                    </a:lnTo>
                    <a:lnTo>
                      <a:pt x="55" y="377"/>
                    </a:lnTo>
                    <a:lnTo>
                      <a:pt x="49" y="373"/>
                    </a:lnTo>
                    <a:lnTo>
                      <a:pt x="44" y="371"/>
                    </a:lnTo>
                    <a:lnTo>
                      <a:pt x="38" y="367"/>
                    </a:lnTo>
                    <a:lnTo>
                      <a:pt x="34" y="365"/>
                    </a:lnTo>
                    <a:lnTo>
                      <a:pt x="29" y="362"/>
                    </a:lnTo>
                    <a:lnTo>
                      <a:pt x="23" y="360"/>
                    </a:lnTo>
                    <a:lnTo>
                      <a:pt x="19" y="356"/>
                    </a:lnTo>
                    <a:lnTo>
                      <a:pt x="13" y="354"/>
                    </a:lnTo>
                    <a:lnTo>
                      <a:pt x="9" y="352"/>
                    </a:lnTo>
                    <a:lnTo>
                      <a:pt x="4" y="346"/>
                    </a:lnTo>
                    <a:lnTo>
                      <a:pt x="0" y="341"/>
                    </a:lnTo>
                    <a:lnTo>
                      <a:pt x="25" y="348"/>
                    </a:lnTo>
                    <a:lnTo>
                      <a:pt x="473" y="403"/>
                    </a:lnTo>
                    <a:lnTo>
                      <a:pt x="479" y="396"/>
                    </a:lnTo>
                    <a:lnTo>
                      <a:pt x="485" y="390"/>
                    </a:lnTo>
                    <a:lnTo>
                      <a:pt x="489" y="383"/>
                    </a:lnTo>
                    <a:lnTo>
                      <a:pt x="494" y="375"/>
                    </a:lnTo>
                    <a:lnTo>
                      <a:pt x="496" y="365"/>
                    </a:lnTo>
                    <a:lnTo>
                      <a:pt x="502" y="358"/>
                    </a:lnTo>
                    <a:lnTo>
                      <a:pt x="506" y="348"/>
                    </a:lnTo>
                    <a:lnTo>
                      <a:pt x="511" y="339"/>
                    </a:lnTo>
                    <a:lnTo>
                      <a:pt x="511" y="333"/>
                    </a:lnTo>
                    <a:lnTo>
                      <a:pt x="513" y="327"/>
                    </a:lnTo>
                    <a:lnTo>
                      <a:pt x="515" y="324"/>
                    </a:lnTo>
                    <a:lnTo>
                      <a:pt x="517" y="318"/>
                    </a:lnTo>
                    <a:lnTo>
                      <a:pt x="519" y="312"/>
                    </a:lnTo>
                    <a:lnTo>
                      <a:pt x="521" y="306"/>
                    </a:lnTo>
                    <a:lnTo>
                      <a:pt x="523" y="301"/>
                    </a:lnTo>
                    <a:lnTo>
                      <a:pt x="525" y="295"/>
                    </a:lnTo>
                    <a:lnTo>
                      <a:pt x="525" y="289"/>
                    </a:lnTo>
                    <a:lnTo>
                      <a:pt x="527" y="282"/>
                    </a:lnTo>
                    <a:lnTo>
                      <a:pt x="529" y="276"/>
                    </a:lnTo>
                    <a:lnTo>
                      <a:pt x="530" y="270"/>
                    </a:lnTo>
                    <a:lnTo>
                      <a:pt x="530" y="265"/>
                    </a:lnTo>
                    <a:lnTo>
                      <a:pt x="532" y="257"/>
                    </a:lnTo>
                    <a:lnTo>
                      <a:pt x="534" y="251"/>
                    </a:lnTo>
                    <a:lnTo>
                      <a:pt x="536" y="246"/>
                    </a:lnTo>
                    <a:lnTo>
                      <a:pt x="536" y="238"/>
                    </a:lnTo>
                    <a:lnTo>
                      <a:pt x="538" y="230"/>
                    </a:lnTo>
                    <a:lnTo>
                      <a:pt x="538" y="223"/>
                    </a:lnTo>
                    <a:lnTo>
                      <a:pt x="540" y="217"/>
                    </a:lnTo>
                    <a:lnTo>
                      <a:pt x="542" y="210"/>
                    </a:lnTo>
                    <a:lnTo>
                      <a:pt x="542" y="204"/>
                    </a:lnTo>
                    <a:lnTo>
                      <a:pt x="544" y="196"/>
                    </a:lnTo>
                    <a:lnTo>
                      <a:pt x="546" y="189"/>
                    </a:lnTo>
                    <a:lnTo>
                      <a:pt x="546" y="181"/>
                    </a:lnTo>
                    <a:lnTo>
                      <a:pt x="546" y="173"/>
                    </a:lnTo>
                    <a:lnTo>
                      <a:pt x="548" y="166"/>
                    </a:lnTo>
                    <a:lnTo>
                      <a:pt x="548" y="158"/>
                    </a:lnTo>
                    <a:lnTo>
                      <a:pt x="548" y="152"/>
                    </a:lnTo>
                    <a:lnTo>
                      <a:pt x="549" y="145"/>
                    </a:lnTo>
                    <a:lnTo>
                      <a:pt x="551" y="137"/>
                    </a:lnTo>
                    <a:lnTo>
                      <a:pt x="551" y="130"/>
                    </a:lnTo>
                    <a:lnTo>
                      <a:pt x="551" y="122"/>
                    </a:lnTo>
                    <a:lnTo>
                      <a:pt x="553" y="113"/>
                    </a:lnTo>
                    <a:lnTo>
                      <a:pt x="553" y="105"/>
                    </a:lnTo>
                    <a:lnTo>
                      <a:pt x="555" y="97"/>
                    </a:lnTo>
                    <a:lnTo>
                      <a:pt x="555" y="90"/>
                    </a:lnTo>
                    <a:lnTo>
                      <a:pt x="555" y="82"/>
                    </a:lnTo>
                    <a:lnTo>
                      <a:pt x="557" y="73"/>
                    </a:lnTo>
                    <a:lnTo>
                      <a:pt x="557" y="67"/>
                    </a:lnTo>
                    <a:lnTo>
                      <a:pt x="557" y="57"/>
                    </a:lnTo>
                    <a:lnTo>
                      <a:pt x="559" y="50"/>
                    </a:lnTo>
                    <a:lnTo>
                      <a:pt x="559" y="40"/>
                    </a:lnTo>
                    <a:lnTo>
                      <a:pt x="561" y="33"/>
                    </a:lnTo>
                    <a:lnTo>
                      <a:pt x="561" y="25"/>
                    </a:lnTo>
                    <a:lnTo>
                      <a:pt x="563" y="17"/>
                    </a:lnTo>
                    <a:lnTo>
                      <a:pt x="563" y="8"/>
                    </a:lnTo>
                    <a:lnTo>
                      <a:pt x="565" y="0"/>
                    </a:lnTo>
                    <a:lnTo>
                      <a:pt x="580" y="14"/>
                    </a:lnTo>
                    <a:close/>
                  </a:path>
                </a:pathLst>
              </a:custGeom>
              <a:solidFill>
                <a:srgbClr val="000000"/>
              </a:solidFill>
              <a:ln w="9525">
                <a:noFill/>
                <a:round/>
              </a:ln>
            </p:spPr>
            <p:txBody>
              <a:bodyPr/>
              <a:lstStyle/>
              <a:p>
                <a:endParaRPr lang="en-US"/>
              </a:p>
            </p:txBody>
          </p:sp>
          <p:sp>
            <p:nvSpPr>
              <p:cNvPr id="1048992" name="Freeform 290"/>
              <p:cNvSpPr/>
              <p:nvPr/>
            </p:nvSpPr>
            <p:spPr bwMode="auto">
              <a:xfrm>
                <a:off x="1861" y="2747"/>
                <a:ext cx="123" cy="118"/>
              </a:xfrm>
              <a:custGeom>
                <a:avLst/>
                <a:gdLst>
                  <a:gd name="T0" fmla="*/ 34 w 246"/>
                  <a:gd name="T1" fmla="*/ 11 h 236"/>
                  <a:gd name="T2" fmla="*/ 31 w 246"/>
                  <a:gd name="T3" fmla="*/ 17 h 236"/>
                  <a:gd name="T4" fmla="*/ 31 w 246"/>
                  <a:gd name="T5" fmla="*/ 20 h 236"/>
                  <a:gd name="T6" fmla="*/ 31 w 246"/>
                  <a:gd name="T7" fmla="*/ 26 h 236"/>
                  <a:gd name="T8" fmla="*/ 29 w 246"/>
                  <a:gd name="T9" fmla="*/ 33 h 236"/>
                  <a:gd name="T10" fmla="*/ 28 w 246"/>
                  <a:gd name="T11" fmla="*/ 39 h 236"/>
                  <a:gd name="T12" fmla="*/ 27 w 246"/>
                  <a:gd name="T13" fmla="*/ 47 h 236"/>
                  <a:gd name="T14" fmla="*/ 26 w 246"/>
                  <a:gd name="T15" fmla="*/ 55 h 236"/>
                  <a:gd name="T16" fmla="*/ 24 w 246"/>
                  <a:gd name="T17" fmla="*/ 61 h 236"/>
                  <a:gd name="T18" fmla="*/ 23 w 246"/>
                  <a:gd name="T19" fmla="*/ 69 h 236"/>
                  <a:gd name="T20" fmla="*/ 21 w 246"/>
                  <a:gd name="T21" fmla="*/ 76 h 236"/>
                  <a:gd name="T22" fmla="*/ 20 w 246"/>
                  <a:gd name="T23" fmla="*/ 82 h 236"/>
                  <a:gd name="T24" fmla="*/ 19 w 246"/>
                  <a:gd name="T25" fmla="*/ 87 h 236"/>
                  <a:gd name="T26" fmla="*/ 18 w 246"/>
                  <a:gd name="T27" fmla="*/ 92 h 236"/>
                  <a:gd name="T28" fmla="*/ 17 w 246"/>
                  <a:gd name="T29" fmla="*/ 97 h 236"/>
                  <a:gd name="T30" fmla="*/ 24 w 246"/>
                  <a:gd name="T31" fmla="*/ 96 h 236"/>
                  <a:gd name="T32" fmla="*/ 31 w 246"/>
                  <a:gd name="T33" fmla="*/ 95 h 236"/>
                  <a:gd name="T34" fmla="*/ 37 w 246"/>
                  <a:gd name="T35" fmla="*/ 94 h 236"/>
                  <a:gd name="T36" fmla="*/ 44 w 246"/>
                  <a:gd name="T37" fmla="*/ 93 h 236"/>
                  <a:gd name="T38" fmla="*/ 49 w 246"/>
                  <a:gd name="T39" fmla="*/ 90 h 236"/>
                  <a:gd name="T40" fmla="*/ 54 w 246"/>
                  <a:gd name="T41" fmla="*/ 88 h 236"/>
                  <a:gd name="T42" fmla="*/ 63 w 246"/>
                  <a:gd name="T43" fmla="*/ 81 h 236"/>
                  <a:gd name="T44" fmla="*/ 72 w 246"/>
                  <a:gd name="T45" fmla="*/ 73 h 236"/>
                  <a:gd name="T46" fmla="*/ 75 w 246"/>
                  <a:gd name="T47" fmla="*/ 68 h 236"/>
                  <a:gd name="T48" fmla="*/ 80 w 246"/>
                  <a:gd name="T49" fmla="*/ 62 h 236"/>
                  <a:gd name="T50" fmla="*/ 85 w 246"/>
                  <a:gd name="T51" fmla="*/ 56 h 236"/>
                  <a:gd name="T52" fmla="*/ 90 w 246"/>
                  <a:gd name="T53" fmla="*/ 49 h 236"/>
                  <a:gd name="T54" fmla="*/ 94 w 246"/>
                  <a:gd name="T55" fmla="*/ 40 h 236"/>
                  <a:gd name="T56" fmla="*/ 100 w 246"/>
                  <a:gd name="T57" fmla="*/ 33 h 236"/>
                  <a:gd name="T58" fmla="*/ 123 w 246"/>
                  <a:gd name="T59" fmla="*/ 45 h 236"/>
                  <a:gd name="T60" fmla="*/ 120 w 246"/>
                  <a:gd name="T61" fmla="*/ 54 h 236"/>
                  <a:gd name="T62" fmla="*/ 116 w 246"/>
                  <a:gd name="T63" fmla="*/ 63 h 236"/>
                  <a:gd name="T64" fmla="*/ 112 w 246"/>
                  <a:gd name="T65" fmla="*/ 71 h 236"/>
                  <a:gd name="T66" fmla="*/ 105 w 246"/>
                  <a:gd name="T67" fmla="*/ 79 h 236"/>
                  <a:gd name="T68" fmla="*/ 97 w 246"/>
                  <a:gd name="T69" fmla="*/ 86 h 236"/>
                  <a:gd name="T70" fmla="*/ 88 w 246"/>
                  <a:gd name="T71" fmla="*/ 93 h 236"/>
                  <a:gd name="T72" fmla="*/ 79 w 246"/>
                  <a:gd name="T73" fmla="*/ 98 h 236"/>
                  <a:gd name="T74" fmla="*/ 72 w 246"/>
                  <a:gd name="T75" fmla="*/ 102 h 236"/>
                  <a:gd name="T76" fmla="*/ 66 w 246"/>
                  <a:gd name="T77" fmla="*/ 104 h 236"/>
                  <a:gd name="T78" fmla="*/ 61 w 246"/>
                  <a:gd name="T79" fmla="*/ 107 h 236"/>
                  <a:gd name="T80" fmla="*/ 56 w 246"/>
                  <a:gd name="T81" fmla="*/ 109 h 236"/>
                  <a:gd name="T82" fmla="*/ 51 w 246"/>
                  <a:gd name="T83" fmla="*/ 111 h 236"/>
                  <a:gd name="T84" fmla="*/ 45 w 246"/>
                  <a:gd name="T85" fmla="*/ 112 h 236"/>
                  <a:gd name="T86" fmla="*/ 38 w 246"/>
                  <a:gd name="T87" fmla="*/ 114 h 236"/>
                  <a:gd name="T88" fmla="*/ 29 w 246"/>
                  <a:gd name="T89" fmla="*/ 116 h 236"/>
                  <a:gd name="T90" fmla="*/ 19 w 246"/>
                  <a:gd name="T91" fmla="*/ 118 h 236"/>
                  <a:gd name="T92" fmla="*/ 11 w 246"/>
                  <a:gd name="T93" fmla="*/ 118 h 236"/>
                  <a:gd name="T94" fmla="*/ 3 w 246"/>
                  <a:gd name="T95" fmla="*/ 118 h 236"/>
                  <a:gd name="T96" fmla="*/ 27 w 246"/>
                  <a:gd name="T97" fmla="*/ 0 h 2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w 246"/>
                  <a:gd name="T148" fmla="*/ 0 h 236"/>
                  <a:gd name="T149" fmla="*/ 246 w 246"/>
                  <a:gd name="T150" fmla="*/ 236 h 236"/>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T147" t="T148" r="T149" b="T150"/>
                <a:pathLst>
                  <a:path w="246" h="236">
                    <a:moveTo>
                      <a:pt x="53" y="0"/>
                    </a:moveTo>
                    <a:lnTo>
                      <a:pt x="67" y="21"/>
                    </a:lnTo>
                    <a:lnTo>
                      <a:pt x="67" y="25"/>
                    </a:lnTo>
                    <a:lnTo>
                      <a:pt x="63" y="33"/>
                    </a:lnTo>
                    <a:lnTo>
                      <a:pt x="63" y="36"/>
                    </a:lnTo>
                    <a:lnTo>
                      <a:pt x="63" y="40"/>
                    </a:lnTo>
                    <a:lnTo>
                      <a:pt x="61" y="46"/>
                    </a:lnTo>
                    <a:lnTo>
                      <a:pt x="61" y="52"/>
                    </a:lnTo>
                    <a:lnTo>
                      <a:pt x="59" y="57"/>
                    </a:lnTo>
                    <a:lnTo>
                      <a:pt x="57" y="65"/>
                    </a:lnTo>
                    <a:lnTo>
                      <a:pt x="55" y="71"/>
                    </a:lnTo>
                    <a:lnTo>
                      <a:pt x="55" y="78"/>
                    </a:lnTo>
                    <a:lnTo>
                      <a:pt x="53" y="86"/>
                    </a:lnTo>
                    <a:lnTo>
                      <a:pt x="53" y="93"/>
                    </a:lnTo>
                    <a:lnTo>
                      <a:pt x="52" y="101"/>
                    </a:lnTo>
                    <a:lnTo>
                      <a:pt x="52" y="109"/>
                    </a:lnTo>
                    <a:lnTo>
                      <a:pt x="50" y="114"/>
                    </a:lnTo>
                    <a:lnTo>
                      <a:pt x="48" y="122"/>
                    </a:lnTo>
                    <a:lnTo>
                      <a:pt x="46" y="130"/>
                    </a:lnTo>
                    <a:lnTo>
                      <a:pt x="46" y="137"/>
                    </a:lnTo>
                    <a:lnTo>
                      <a:pt x="44" y="143"/>
                    </a:lnTo>
                    <a:lnTo>
                      <a:pt x="42" y="151"/>
                    </a:lnTo>
                    <a:lnTo>
                      <a:pt x="40" y="156"/>
                    </a:lnTo>
                    <a:lnTo>
                      <a:pt x="40" y="164"/>
                    </a:lnTo>
                    <a:lnTo>
                      <a:pt x="38" y="168"/>
                    </a:lnTo>
                    <a:lnTo>
                      <a:pt x="38" y="173"/>
                    </a:lnTo>
                    <a:lnTo>
                      <a:pt x="36" y="179"/>
                    </a:lnTo>
                    <a:lnTo>
                      <a:pt x="36" y="183"/>
                    </a:lnTo>
                    <a:lnTo>
                      <a:pt x="34" y="190"/>
                    </a:lnTo>
                    <a:lnTo>
                      <a:pt x="34" y="194"/>
                    </a:lnTo>
                    <a:lnTo>
                      <a:pt x="40" y="192"/>
                    </a:lnTo>
                    <a:lnTo>
                      <a:pt x="48" y="192"/>
                    </a:lnTo>
                    <a:lnTo>
                      <a:pt x="55" y="190"/>
                    </a:lnTo>
                    <a:lnTo>
                      <a:pt x="63" y="190"/>
                    </a:lnTo>
                    <a:lnTo>
                      <a:pt x="69" y="189"/>
                    </a:lnTo>
                    <a:lnTo>
                      <a:pt x="74" y="187"/>
                    </a:lnTo>
                    <a:lnTo>
                      <a:pt x="80" y="185"/>
                    </a:lnTo>
                    <a:lnTo>
                      <a:pt x="88" y="185"/>
                    </a:lnTo>
                    <a:lnTo>
                      <a:pt x="92" y="181"/>
                    </a:lnTo>
                    <a:lnTo>
                      <a:pt x="97" y="179"/>
                    </a:lnTo>
                    <a:lnTo>
                      <a:pt x="101" y="177"/>
                    </a:lnTo>
                    <a:lnTo>
                      <a:pt x="107" y="175"/>
                    </a:lnTo>
                    <a:lnTo>
                      <a:pt x="116" y="168"/>
                    </a:lnTo>
                    <a:lnTo>
                      <a:pt x="126" y="162"/>
                    </a:lnTo>
                    <a:lnTo>
                      <a:pt x="135" y="154"/>
                    </a:lnTo>
                    <a:lnTo>
                      <a:pt x="143" y="145"/>
                    </a:lnTo>
                    <a:lnTo>
                      <a:pt x="147" y="139"/>
                    </a:lnTo>
                    <a:lnTo>
                      <a:pt x="150" y="135"/>
                    </a:lnTo>
                    <a:lnTo>
                      <a:pt x="156" y="130"/>
                    </a:lnTo>
                    <a:lnTo>
                      <a:pt x="160" y="124"/>
                    </a:lnTo>
                    <a:lnTo>
                      <a:pt x="164" y="116"/>
                    </a:lnTo>
                    <a:lnTo>
                      <a:pt x="169" y="111"/>
                    </a:lnTo>
                    <a:lnTo>
                      <a:pt x="173" y="103"/>
                    </a:lnTo>
                    <a:lnTo>
                      <a:pt x="179" y="97"/>
                    </a:lnTo>
                    <a:lnTo>
                      <a:pt x="183" y="88"/>
                    </a:lnTo>
                    <a:lnTo>
                      <a:pt x="188" y="80"/>
                    </a:lnTo>
                    <a:lnTo>
                      <a:pt x="194" y="73"/>
                    </a:lnTo>
                    <a:lnTo>
                      <a:pt x="200" y="65"/>
                    </a:lnTo>
                    <a:lnTo>
                      <a:pt x="246" y="80"/>
                    </a:lnTo>
                    <a:lnTo>
                      <a:pt x="246" y="90"/>
                    </a:lnTo>
                    <a:lnTo>
                      <a:pt x="244" y="99"/>
                    </a:lnTo>
                    <a:lnTo>
                      <a:pt x="240" y="107"/>
                    </a:lnTo>
                    <a:lnTo>
                      <a:pt x="238" y="116"/>
                    </a:lnTo>
                    <a:lnTo>
                      <a:pt x="232" y="126"/>
                    </a:lnTo>
                    <a:lnTo>
                      <a:pt x="226" y="133"/>
                    </a:lnTo>
                    <a:lnTo>
                      <a:pt x="223" y="141"/>
                    </a:lnTo>
                    <a:lnTo>
                      <a:pt x="217" y="151"/>
                    </a:lnTo>
                    <a:lnTo>
                      <a:pt x="209" y="158"/>
                    </a:lnTo>
                    <a:lnTo>
                      <a:pt x="202" y="164"/>
                    </a:lnTo>
                    <a:lnTo>
                      <a:pt x="194" y="171"/>
                    </a:lnTo>
                    <a:lnTo>
                      <a:pt x="185" y="179"/>
                    </a:lnTo>
                    <a:lnTo>
                      <a:pt x="175" y="185"/>
                    </a:lnTo>
                    <a:lnTo>
                      <a:pt x="168" y="190"/>
                    </a:lnTo>
                    <a:lnTo>
                      <a:pt x="158" y="196"/>
                    </a:lnTo>
                    <a:lnTo>
                      <a:pt x="149" y="202"/>
                    </a:lnTo>
                    <a:lnTo>
                      <a:pt x="143" y="204"/>
                    </a:lnTo>
                    <a:lnTo>
                      <a:pt x="137" y="206"/>
                    </a:lnTo>
                    <a:lnTo>
                      <a:pt x="131" y="208"/>
                    </a:lnTo>
                    <a:lnTo>
                      <a:pt x="128" y="211"/>
                    </a:lnTo>
                    <a:lnTo>
                      <a:pt x="122" y="213"/>
                    </a:lnTo>
                    <a:lnTo>
                      <a:pt x="118" y="215"/>
                    </a:lnTo>
                    <a:lnTo>
                      <a:pt x="112" y="217"/>
                    </a:lnTo>
                    <a:lnTo>
                      <a:pt x="107" y="219"/>
                    </a:lnTo>
                    <a:lnTo>
                      <a:pt x="101" y="221"/>
                    </a:lnTo>
                    <a:lnTo>
                      <a:pt x="95" y="223"/>
                    </a:lnTo>
                    <a:lnTo>
                      <a:pt x="90" y="223"/>
                    </a:lnTo>
                    <a:lnTo>
                      <a:pt x="86" y="225"/>
                    </a:lnTo>
                    <a:lnTo>
                      <a:pt x="76" y="228"/>
                    </a:lnTo>
                    <a:lnTo>
                      <a:pt x="67" y="232"/>
                    </a:lnTo>
                    <a:lnTo>
                      <a:pt x="57" y="232"/>
                    </a:lnTo>
                    <a:lnTo>
                      <a:pt x="48" y="234"/>
                    </a:lnTo>
                    <a:lnTo>
                      <a:pt x="38" y="236"/>
                    </a:lnTo>
                    <a:lnTo>
                      <a:pt x="31" y="236"/>
                    </a:lnTo>
                    <a:lnTo>
                      <a:pt x="21" y="236"/>
                    </a:lnTo>
                    <a:lnTo>
                      <a:pt x="14" y="236"/>
                    </a:lnTo>
                    <a:lnTo>
                      <a:pt x="6" y="236"/>
                    </a:lnTo>
                    <a:lnTo>
                      <a:pt x="0" y="236"/>
                    </a:lnTo>
                    <a:lnTo>
                      <a:pt x="53" y="0"/>
                    </a:lnTo>
                    <a:close/>
                  </a:path>
                </a:pathLst>
              </a:custGeom>
              <a:solidFill>
                <a:srgbClr val="000000"/>
              </a:solidFill>
              <a:ln w="9525">
                <a:noFill/>
                <a:round/>
              </a:ln>
            </p:spPr>
            <p:txBody>
              <a:bodyPr/>
              <a:lstStyle/>
              <a:p>
                <a:endParaRPr lang="en-US"/>
              </a:p>
            </p:txBody>
          </p:sp>
          <p:sp>
            <p:nvSpPr>
              <p:cNvPr id="1048993" name="Freeform 291"/>
              <p:cNvSpPr/>
              <p:nvPr/>
            </p:nvSpPr>
            <p:spPr bwMode="auto">
              <a:xfrm>
                <a:off x="2374" y="2533"/>
                <a:ext cx="207" cy="70"/>
              </a:xfrm>
              <a:custGeom>
                <a:avLst/>
                <a:gdLst>
                  <a:gd name="T0" fmla="*/ 206 w 413"/>
                  <a:gd name="T1" fmla="*/ 64 h 139"/>
                  <a:gd name="T2" fmla="*/ 202 w 413"/>
                  <a:gd name="T3" fmla="*/ 69 h 139"/>
                  <a:gd name="T4" fmla="*/ 194 w 413"/>
                  <a:gd name="T5" fmla="*/ 69 h 139"/>
                  <a:gd name="T6" fmla="*/ 185 w 413"/>
                  <a:gd name="T7" fmla="*/ 69 h 139"/>
                  <a:gd name="T8" fmla="*/ 177 w 413"/>
                  <a:gd name="T9" fmla="*/ 68 h 139"/>
                  <a:gd name="T10" fmla="*/ 168 w 413"/>
                  <a:gd name="T11" fmla="*/ 67 h 139"/>
                  <a:gd name="T12" fmla="*/ 159 w 413"/>
                  <a:gd name="T13" fmla="*/ 66 h 139"/>
                  <a:gd name="T14" fmla="*/ 150 w 413"/>
                  <a:gd name="T15" fmla="*/ 65 h 139"/>
                  <a:gd name="T16" fmla="*/ 141 w 413"/>
                  <a:gd name="T17" fmla="*/ 64 h 139"/>
                  <a:gd name="T18" fmla="*/ 133 w 413"/>
                  <a:gd name="T19" fmla="*/ 63 h 139"/>
                  <a:gd name="T20" fmla="*/ 128 w 413"/>
                  <a:gd name="T21" fmla="*/ 62 h 139"/>
                  <a:gd name="T22" fmla="*/ 123 w 413"/>
                  <a:gd name="T23" fmla="*/ 60 h 139"/>
                  <a:gd name="T24" fmla="*/ 118 w 413"/>
                  <a:gd name="T25" fmla="*/ 59 h 139"/>
                  <a:gd name="T26" fmla="*/ 113 w 413"/>
                  <a:gd name="T27" fmla="*/ 58 h 139"/>
                  <a:gd name="T28" fmla="*/ 108 w 413"/>
                  <a:gd name="T29" fmla="*/ 58 h 139"/>
                  <a:gd name="T30" fmla="*/ 102 w 413"/>
                  <a:gd name="T31" fmla="*/ 57 h 139"/>
                  <a:gd name="T32" fmla="*/ 97 w 413"/>
                  <a:gd name="T33" fmla="*/ 56 h 139"/>
                  <a:gd name="T34" fmla="*/ 91 w 413"/>
                  <a:gd name="T35" fmla="*/ 55 h 139"/>
                  <a:gd name="T36" fmla="*/ 86 w 413"/>
                  <a:gd name="T37" fmla="*/ 53 h 139"/>
                  <a:gd name="T38" fmla="*/ 79 w 413"/>
                  <a:gd name="T39" fmla="*/ 51 h 139"/>
                  <a:gd name="T40" fmla="*/ 73 w 413"/>
                  <a:gd name="T41" fmla="*/ 50 h 139"/>
                  <a:gd name="T42" fmla="*/ 68 w 413"/>
                  <a:gd name="T43" fmla="*/ 48 h 139"/>
                  <a:gd name="T44" fmla="*/ 61 w 413"/>
                  <a:gd name="T45" fmla="*/ 46 h 139"/>
                  <a:gd name="T46" fmla="*/ 55 w 413"/>
                  <a:gd name="T47" fmla="*/ 44 h 139"/>
                  <a:gd name="T48" fmla="*/ 49 w 413"/>
                  <a:gd name="T49" fmla="*/ 42 h 139"/>
                  <a:gd name="T50" fmla="*/ 43 w 413"/>
                  <a:gd name="T51" fmla="*/ 40 h 139"/>
                  <a:gd name="T52" fmla="*/ 36 w 413"/>
                  <a:gd name="T53" fmla="*/ 39 h 139"/>
                  <a:gd name="T54" fmla="*/ 32 w 413"/>
                  <a:gd name="T55" fmla="*/ 37 h 139"/>
                  <a:gd name="T56" fmla="*/ 26 w 413"/>
                  <a:gd name="T57" fmla="*/ 35 h 139"/>
                  <a:gd name="T58" fmla="*/ 20 w 413"/>
                  <a:gd name="T59" fmla="*/ 33 h 139"/>
                  <a:gd name="T60" fmla="*/ 14 w 413"/>
                  <a:gd name="T61" fmla="*/ 30 h 139"/>
                  <a:gd name="T62" fmla="*/ 8 w 413"/>
                  <a:gd name="T63" fmla="*/ 27 h 139"/>
                  <a:gd name="T64" fmla="*/ 4 w 413"/>
                  <a:gd name="T65" fmla="*/ 25 h 139"/>
                  <a:gd name="T66" fmla="*/ 1 w 413"/>
                  <a:gd name="T67" fmla="*/ 21 h 139"/>
                  <a:gd name="T68" fmla="*/ 0 w 413"/>
                  <a:gd name="T69" fmla="*/ 16 h 139"/>
                  <a:gd name="T70" fmla="*/ 5 w 413"/>
                  <a:gd name="T71" fmla="*/ 9 h 139"/>
                  <a:gd name="T72" fmla="*/ 8 w 413"/>
                  <a:gd name="T73" fmla="*/ 2 h 139"/>
                  <a:gd name="T74" fmla="*/ 10 w 413"/>
                  <a:gd name="T75" fmla="*/ 0 h 139"/>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413"/>
                  <a:gd name="T115" fmla="*/ 0 h 139"/>
                  <a:gd name="T116" fmla="*/ 413 w 413"/>
                  <a:gd name="T117" fmla="*/ 139 h 139"/>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413" h="139">
                    <a:moveTo>
                      <a:pt x="19" y="0"/>
                    </a:moveTo>
                    <a:lnTo>
                      <a:pt x="411" y="128"/>
                    </a:lnTo>
                    <a:lnTo>
                      <a:pt x="413" y="139"/>
                    </a:lnTo>
                    <a:lnTo>
                      <a:pt x="403" y="137"/>
                    </a:lnTo>
                    <a:lnTo>
                      <a:pt x="395" y="137"/>
                    </a:lnTo>
                    <a:lnTo>
                      <a:pt x="388" y="137"/>
                    </a:lnTo>
                    <a:lnTo>
                      <a:pt x="378" y="137"/>
                    </a:lnTo>
                    <a:lnTo>
                      <a:pt x="369" y="137"/>
                    </a:lnTo>
                    <a:lnTo>
                      <a:pt x="361" y="137"/>
                    </a:lnTo>
                    <a:lnTo>
                      <a:pt x="354" y="135"/>
                    </a:lnTo>
                    <a:lnTo>
                      <a:pt x="344" y="135"/>
                    </a:lnTo>
                    <a:lnTo>
                      <a:pt x="335" y="134"/>
                    </a:lnTo>
                    <a:lnTo>
                      <a:pt x="327" y="134"/>
                    </a:lnTo>
                    <a:lnTo>
                      <a:pt x="317" y="132"/>
                    </a:lnTo>
                    <a:lnTo>
                      <a:pt x="310" y="132"/>
                    </a:lnTo>
                    <a:lnTo>
                      <a:pt x="300" y="130"/>
                    </a:lnTo>
                    <a:lnTo>
                      <a:pt x="291" y="130"/>
                    </a:lnTo>
                    <a:lnTo>
                      <a:pt x="281" y="128"/>
                    </a:lnTo>
                    <a:lnTo>
                      <a:pt x="272" y="128"/>
                    </a:lnTo>
                    <a:lnTo>
                      <a:pt x="266" y="126"/>
                    </a:lnTo>
                    <a:lnTo>
                      <a:pt x="260" y="124"/>
                    </a:lnTo>
                    <a:lnTo>
                      <a:pt x="255" y="124"/>
                    </a:lnTo>
                    <a:lnTo>
                      <a:pt x="251" y="122"/>
                    </a:lnTo>
                    <a:lnTo>
                      <a:pt x="245" y="120"/>
                    </a:lnTo>
                    <a:lnTo>
                      <a:pt x="241" y="120"/>
                    </a:lnTo>
                    <a:lnTo>
                      <a:pt x="236" y="118"/>
                    </a:lnTo>
                    <a:lnTo>
                      <a:pt x="230" y="118"/>
                    </a:lnTo>
                    <a:lnTo>
                      <a:pt x="226" y="116"/>
                    </a:lnTo>
                    <a:lnTo>
                      <a:pt x="220" y="116"/>
                    </a:lnTo>
                    <a:lnTo>
                      <a:pt x="215" y="115"/>
                    </a:lnTo>
                    <a:lnTo>
                      <a:pt x="209" y="115"/>
                    </a:lnTo>
                    <a:lnTo>
                      <a:pt x="203" y="113"/>
                    </a:lnTo>
                    <a:lnTo>
                      <a:pt x="200" y="111"/>
                    </a:lnTo>
                    <a:lnTo>
                      <a:pt x="194" y="111"/>
                    </a:lnTo>
                    <a:lnTo>
                      <a:pt x="188" y="109"/>
                    </a:lnTo>
                    <a:lnTo>
                      <a:pt x="182" y="109"/>
                    </a:lnTo>
                    <a:lnTo>
                      <a:pt x="177" y="107"/>
                    </a:lnTo>
                    <a:lnTo>
                      <a:pt x="171" y="105"/>
                    </a:lnTo>
                    <a:lnTo>
                      <a:pt x="165" y="103"/>
                    </a:lnTo>
                    <a:lnTo>
                      <a:pt x="158" y="101"/>
                    </a:lnTo>
                    <a:lnTo>
                      <a:pt x="152" y="101"/>
                    </a:lnTo>
                    <a:lnTo>
                      <a:pt x="146" y="99"/>
                    </a:lnTo>
                    <a:lnTo>
                      <a:pt x="143" y="97"/>
                    </a:lnTo>
                    <a:lnTo>
                      <a:pt x="135" y="96"/>
                    </a:lnTo>
                    <a:lnTo>
                      <a:pt x="129" y="94"/>
                    </a:lnTo>
                    <a:lnTo>
                      <a:pt x="122" y="92"/>
                    </a:lnTo>
                    <a:lnTo>
                      <a:pt x="118" y="90"/>
                    </a:lnTo>
                    <a:lnTo>
                      <a:pt x="110" y="88"/>
                    </a:lnTo>
                    <a:lnTo>
                      <a:pt x="105" y="86"/>
                    </a:lnTo>
                    <a:lnTo>
                      <a:pt x="97" y="84"/>
                    </a:lnTo>
                    <a:lnTo>
                      <a:pt x="91" y="82"/>
                    </a:lnTo>
                    <a:lnTo>
                      <a:pt x="85" y="80"/>
                    </a:lnTo>
                    <a:lnTo>
                      <a:pt x="78" y="78"/>
                    </a:lnTo>
                    <a:lnTo>
                      <a:pt x="72" y="77"/>
                    </a:lnTo>
                    <a:lnTo>
                      <a:pt x="66" y="75"/>
                    </a:lnTo>
                    <a:lnTo>
                      <a:pt x="63" y="73"/>
                    </a:lnTo>
                    <a:lnTo>
                      <a:pt x="57" y="71"/>
                    </a:lnTo>
                    <a:lnTo>
                      <a:pt x="51" y="69"/>
                    </a:lnTo>
                    <a:lnTo>
                      <a:pt x="47" y="69"/>
                    </a:lnTo>
                    <a:lnTo>
                      <a:pt x="40" y="65"/>
                    </a:lnTo>
                    <a:lnTo>
                      <a:pt x="32" y="61"/>
                    </a:lnTo>
                    <a:lnTo>
                      <a:pt x="27" y="59"/>
                    </a:lnTo>
                    <a:lnTo>
                      <a:pt x="21" y="56"/>
                    </a:lnTo>
                    <a:lnTo>
                      <a:pt x="15" y="54"/>
                    </a:lnTo>
                    <a:lnTo>
                      <a:pt x="11" y="52"/>
                    </a:lnTo>
                    <a:lnTo>
                      <a:pt x="8" y="50"/>
                    </a:lnTo>
                    <a:lnTo>
                      <a:pt x="6" y="48"/>
                    </a:lnTo>
                    <a:lnTo>
                      <a:pt x="2" y="42"/>
                    </a:lnTo>
                    <a:lnTo>
                      <a:pt x="0" y="38"/>
                    </a:lnTo>
                    <a:lnTo>
                      <a:pt x="0" y="31"/>
                    </a:lnTo>
                    <a:lnTo>
                      <a:pt x="8" y="23"/>
                    </a:lnTo>
                    <a:lnTo>
                      <a:pt x="9" y="18"/>
                    </a:lnTo>
                    <a:lnTo>
                      <a:pt x="13" y="12"/>
                    </a:lnTo>
                    <a:lnTo>
                      <a:pt x="15" y="4"/>
                    </a:lnTo>
                    <a:lnTo>
                      <a:pt x="19" y="0"/>
                    </a:lnTo>
                    <a:close/>
                  </a:path>
                </a:pathLst>
              </a:custGeom>
              <a:solidFill>
                <a:srgbClr val="000000"/>
              </a:solidFill>
              <a:ln w="9525">
                <a:noFill/>
                <a:round/>
              </a:ln>
            </p:spPr>
            <p:txBody>
              <a:bodyPr/>
              <a:lstStyle/>
              <a:p>
                <a:endParaRPr lang="en-US"/>
              </a:p>
            </p:txBody>
          </p:sp>
          <p:sp>
            <p:nvSpPr>
              <p:cNvPr id="1048994" name="Freeform 292"/>
              <p:cNvSpPr/>
              <p:nvPr/>
            </p:nvSpPr>
            <p:spPr bwMode="auto">
              <a:xfrm>
                <a:off x="2432" y="2445"/>
                <a:ext cx="238" cy="353"/>
              </a:xfrm>
              <a:custGeom>
                <a:avLst/>
                <a:gdLst>
                  <a:gd name="T0" fmla="*/ 181 w 477"/>
                  <a:gd name="T1" fmla="*/ 70 h 705"/>
                  <a:gd name="T2" fmla="*/ 195 w 477"/>
                  <a:gd name="T3" fmla="*/ 86 h 705"/>
                  <a:gd name="T4" fmla="*/ 205 w 477"/>
                  <a:gd name="T5" fmla="*/ 100 h 705"/>
                  <a:gd name="T6" fmla="*/ 216 w 477"/>
                  <a:gd name="T7" fmla="*/ 116 h 705"/>
                  <a:gd name="T8" fmla="*/ 222 w 477"/>
                  <a:gd name="T9" fmla="*/ 130 h 705"/>
                  <a:gd name="T10" fmla="*/ 228 w 477"/>
                  <a:gd name="T11" fmla="*/ 145 h 705"/>
                  <a:gd name="T12" fmla="*/ 232 w 477"/>
                  <a:gd name="T13" fmla="*/ 160 h 705"/>
                  <a:gd name="T14" fmla="*/ 236 w 477"/>
                  <a:gd name="T15" fmla="*/ 174 h 705"/>
                  <a:gd name="T16" fmla="*/ 237 w 477"/>
                  <a:gd name="T17" fmla="*/ 189 h 705"/>
                  <a:gd name="T18" fmla="*/ 238 w 477"/>
                  <a:gd name="T19" fmla="*/ 204 h 705"/>
                  <a:gd name="T20" fmla="*/ 238 w 477"/>
                  <a:gd name="T21" fmla="*/ 219 h 705"/>
                  <a:gd name="T22" fmla="*/ 238 w 477"/>
                  <a:gd name="T23" fmla="*/ 234 h 705"/>
                  <a:gd name="T24" fmla="*/ 237 w 477"/>
                  <a:gd name="T25" fmla="*/ 249 h 705"/>
                  <a:gd name="T26" fmla="*/ 237 w 477"/>
                  <a:gd name="T27" fmla="*/ 264 h 705"/>
                  <a:gd name="T28" fmla="*/ 237 w 477"/>
                  <a:gd name="T29" fmla="*/ 281 h 705"/>
                  <a:gd name="T30" fmla="*/ 237 w 477"/>
                  <a:gd name="T31" fmla="*/ 297 h 705"/>
                  <a:gd name="T32" fmla="*/ 216 w 477"/>
                  <a:gd name="T33" fmla="*/ 346 h 705"/>
                  <a:gd name="T34" fmla="*/ 217 w 477"/>
                  <a:gd name="T35" fmla="*/ 337 h 705"/>
                  <a:gd name="T36" fmla="*/ 219 w 477"/>
                  <a:gd name="T37" fmla="*/ 324 h 705"/>
                  <a:gd name="T38" fmla="*/ 223 w 477"/>
                  <a:gd name="T39" fmla="*/ 308 h 705"/>
                  <a:gd name="T40" fmla="*/ 224 w 477"/>
                  <a:gd name="T41" fmla="*/ 298 h 705"/>
                  <a:gd name="T42" fmla="*/ 225 w 477"/>
                  <a:gd name="T43" fmla="*/ 286 h 705"/>
                  <a:gd name="T44" fmla="*/ 225 w 477"/>
                  <a:gd name="T45" fmla="*/ 275 h 705"/>
                  <a:gd name="T46" fmla="*/ 226 w 477"/>
                  <a:gd name="T47" fmla="*/ 262 h 705"/>
                  <a:gd name="T48" fmla="*/ 225 w 477"/>
                  <a:gd name="T49" fmla="*/ 247 h 705"/>
                  <a:gd name="T50" fmla="*/ 224 w 477"/>
                  <a:gd name="T51" fmla="*/ 231 h 705"/>
                  <a:gd name="T52" fmla="*/ 222 w 477"/>
                  <a:gd name="T53" fmla="*/ 214 h 705"/>
                  <a:gd name="T54" fmla="*/ 220 w 477"/>
                  <a:gd name="T55" fmla="*/ 196 h 705"/>
                  <a:gd name="T56" fmla="*/ 217 w 477"/>
                  <a:gd name="T57" fmla="*/ 177 h 705"/>
                  <a:gd name="T58" fmla="*/ 211 w 477"/>
                  <a:gd name="T59" fmla="*/ 160 h 705"/>
                  <a:gd name="T60" fmla="*/ 205 w 477"/>
                  <a:gd name="T61" fmla="*/ 143 h 705"/>
                  <a:gd name="T62" fmla="*/ 197 w 477"/>
                  <a:gd name="T63" fmla="*/ 128 h 705"/>
                  <a:gd name="T64" fmla="*/ 187 w 477"/>
                  <a:gd name="T65" fmla="*/ 114 h 705"/>
                  <a:gd name="T66" fmla="*/ 177 w 477"/>
                  <a:gd name="T67" fmla="*/ 101 h 705"/>
                  <a:gd name="T68" fmla="*/ 164 w 477"/>
                  <a:gd name="T69" fmla="*/ 88 h 705"/>
                  <a:gd name="T70" fmla="*/ 152 w 477"/>
                  <a:gd name="T71" fmla="*/ 77 h 705"/>
                  <a:gd name="T72" fmla="*/ 137 w 477"/>
                  <a:gd name="T73" fmla="*/ 67 h 705"/>
                  <a:gd name="T74" fmla="*/ 121 w 477"/>
                  <a:gd name="T75" fmla="*/ 56 h 705"/>
                  <a:gd name="T76" fmla="*/ 103 w 477"/>
                  <a:gd name="T77" fmla="*/ 46 h 705"/>
                  <a:gd name="T78" fmla="*/ 85 w 477"/>
                  <a:gd name="T79" fmla="*/ 37 h 705"/>
                  <a:gd name="T80" fmla="*/ 66 w 477"/>
                  <a:gd name="T81" fmla="*/ 29 h 705"/>
                  <a:gd name="T82" fmla="*/ 44 w 477"/>
                  <a:gd name="T83" fmla="*/ 20 h 705"/>
                  <a:gd name="T84" fmla="*/ 23 w 477"/>
                  <a:gd name="T85" fmla="*/ 12 h 705"/>
                  <a:gd name="T86" fmla="*/ 0 w 477"/>
                  <a:gd name="T87" fmla="*/ 5 h 705"/>
                  <a:gd name="T88" fmla="*/ 7 w 477"/>
                  <a:gd name="T89" fmla="*/ 3 h 705"/>
                  <a:gd name="T90" fmla="*/ 21 w 477"/>
                  <a:gd name="T91" fmla="*/ 0 h 705"/>
                  <a:gd name="T92" fmla="*/ 34 w 477"/>
                  <a:gd name="T93" fmla="*/ 0 h 705"/>
                  <a:gd name="T94" fmla="*/ 44 w 477"/>
                  <a:gd name="T95" fmla="*/ 0 h 705"/>
                  <a:gd name="T96" fmla="*/ 57 w 477"/>
                  <a:gd name="T97" fmla="*/ 2 h 705"/>
                  <a:gd name="T98" fmla="*/ 69 w 477"/>
                  <a:gd name="T99" fmla="*/ 4 h 705"/>
                  <a:gd name="T100" fmla="*/ 83 w 477"/>
                  <a:gd name="T101" fmla="*/ 7 h 705"/>
                  <a:gd name="T102" fmla="*/ 98 w 477"/>
                  <a:gd name="T103" fmla="*/ 12 h 705"/>
                  <a:gd name="T104" fmla="*/ 112 w 477"/>
                  <a:gd name="T105" fmla="*/ 19 h 705"/>
                  <a:gd name="T106" fmla="*/ 128 w 477"/>
                  <a:gd name="T107" fmla="*/ 29 h 705"/>
                  <a:gd name="T108" fmla="*/ 144 w 477"/>
                  <a:gd name="T109" fmla="*/ 39 h 705"/>
                  <a:gd name="T110" fmla="*/ 161 w 477"/>
                  <a:gd name="T111" fmla="*/ 52 h 705"/>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w 477"/>
                  <a:gd name="T169" fmla="*/ 0 h 705"/>
                  <a:gd name="T170" fmla="*/ 477 w 477"/>
                  <a:gd name="T171" fmla="*/ 705 h 705"/>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T168" t="T169" r="T170" b="T171"/>
                <a:pathLst>
                  <a:path w="477" h="705">
                    <a:moveTo>
                      <a:pt x="340" y="119"/>
                    </a:moveTo>
                    <a:lnTo>
                      <a:pt x="348" y="125"/>
                    </a:lnTo>
                    <a:lnTo>
                      <a:pt x="356" y="135"/>
                    </a:lnTo>
                    <a:lnTo>
                      <a:pt x="363" y="140"/>
                    </a:lnTo>
                    <a:lnTo>
                      <a:pt x="371" y="148"/>
                    </a:lnTo>
                    <a:lnTo>
                      <a:pt x="376" y="156"/>
                    </a:lnTo>
                    <a:lnTo>
                      <a:pt x="384" y="163"/>
                    </a:lnTo>
                    <a:lnTo>
                      <a:pt x="390" y="171"/>
                    </a:lnTo>
                    <a:lnTo>
                      <a:pt x="395" y="178"/>
                    </a:lnTo>
                    <a:lnTo>
                      <a:pt x="401" y="186"/>
                    </a:lnTo>
                    <a:lnTo>
                      <a:pt x="407" y="194"/>
                    </a:lnTo>
                    <a:lnTo>
                      <a:pt x="411" y="199"/>
                    </a:lnTo>
                    <a:lnTo>
                      <a:pt x="416" y="209"/>
                    </a:lnTo>
                    <a:lnTo>
                      <a:pt x="422" y="216"/>
                    </a:lnTo>
                    <a:lnTo>
                      <a:pt x="426" y="224"/>
                    </a:lnTo>
                    <a:lnTo>
                      <a:pt x="432" y="232"/>
                    </a:lnTo>
                    <a:lnTo>
                      <a:pt x="435" y="239"/>
                    </a:lnTo>
                    <a:lnTo>
                      <a:pt x="439" y="245"/>
                    </a:lnTo>
                    <a:lnTo>
                      <a:pt x="441" y="253"/>
                    </a:lnTo>
                    <a:lnTo>
                      <a:pt x="445" y="260"/>
                    </a:lnTo>
                    <a:lnTo>
                      <a:pt x="449" y="268"/>
                    </a:lnTo>
                    <a:lnTo>
                      <a:pt x="451" y="275"/>
                    </a:lnTo>
                    <a:lnTo>
                      <a:pt x="454" y="283"/>
                    </a:lnTo>
                    <a:lnTo>
                      <a:pt x="456" y="289"/>
                    </a:lnTo>
                    <a:lnTo>
                      <a:pt x="460" y="298"/>
                    </a:lnTo>
                    <a:lnTo>
                      <a:pt x="462" y="304"/>
                    </a:lnTo>
                    <a:lnTo>
                      <a:pt x="462" y="311"/>
                    </a:lnTo>
                    <a:lnTo>
                      <a:pt x="464" y="319"/>
                    </a:lnTo>
                    <a:lnTo>
                      <a:pt x="468" y="327"/>
                    </a:lnTo>
                    <a:lnTo>
                      <a:pt x="468" y="334"/>
                    </a:lnTo>
                    <a:lnTo>
                      <a:pt x="470" y="340"/>
                    </a:lnTo>
                    <a:lnTo>
                      <a:pt x="472" y="348"/>
                    </a:lnTo>
                    <a:lnTo>
                      <a:pt x="473" y="357"/>
                    </a:lnTo>
                    <a:lnTo>
                      <a:pt x="473" y="363"/>
                    </a:lnTo>
                    <a:lnTo>
                      <a:pt x="473" y="370"/>
                    </a:lnTo>
                    <a:lnTo>
                      <a:pt x="475" y="378"/>
                    </a:lnTo>
                    <a:lnTo>
                      <a:pt x="475" y="386"/>
                    </a:lnTo>
                    <a:lnTo>
                      <a:pt x="475" y="391"/>
                    </a:lnTo>
                    <a:lnTo>
                      <a:pt x="477" y="399"/>
                    </a:lnTo>
                    <a:lnTo>
                      <a:pt x="477" y="407"/>
                    </a:lnTo>
                    <a:lnTo>
                      <a:pt x="477" y="414"/>
                    </a:lnTo>
                    <a:lnTo>
                      <a:pt x="477" y="422"/>
                    </a:lnTo>
                    <a:lnTo>
                      <a:pt x="477" y="429"/>
                    </a:lnTo>
                    <a:lnTo>
                      <a:pt x="477" y="437"/>
                    </a:lnTo>
                    <a:lnTo>
                      <a:pt x="477" y="445"/>
                    </a:lnTo>
                    <a:lnTo>
                      <a:pt x="477" y="452"/>
                    </a:lnTo>
                    <a:lnTo>
                      <a:pt x="477" y="460"/>
                    </a:lnTo>
                    <a:lnTo>
                      <a:pt x="477" y="467"/>
                    </a:lnTo>
                    <a:lnTo>
                      <a:pt x="477" y="475"/>
                    </a:lnTo>
                    <a:lnTo>
                      <a:pt x="477" y="483"/>
                    </a:lnTo>
                    <a:lnTo>
                      <a:pt x="477" y="490"/>
                    </a:lnTo>
                    <a:lnTo>
                      <a:pt x="475" y="498"/>
                    </a:lnTo>
                    <a:lnTo>
                      <a:pt x="475" y="505"/>
                    </a:lnTo>
                    <a:lnTo>
                      <a:pt x="475" y="513"/>
                    </a:lnTo>
                    <a:lnTo>
                      <a:pt x="475" y="521"/>
                    </a:lnTo>
                    <a:lnTo>
                      <a:pt x="475" y="528"/>
                    </a:lnTo>
                    <a:lnTo>
                      <a:pt x="475" y="538"/>
                    </a:lnTo>
                    <a:lnTo>
                      <a:pt x="475" y="543"/>
                    </a:lnTo>
                    <a:lnTo>
                      <a:pt x="475" y="553"/>
                    </a:lnTo>
                    <a:lnTo>
                      <a:pt x="475" y="561"/>
                    </a:lnTo>
                    <a:lnTo>
                      <a:pt x="475" y="568"/>
                    </a:lnTo>
                    <a:lnTo>
                      <a:pt x="475" y="578"/>
                    </a:lnTo>
                    <a:lnTo>
                      <a:pt x="475" y="585"/>
                    </a:lnTo>
                    <a:lnTo>
                      <a:pt x="475" y="593"/>
                    </a:lnTo>
                    <a:lnTo>
                      <a:pt x="477" y="602"/>
                    </a:lnTo>
                    <a:lnTo>
                      <a:pt x="430" y="705"/>
                    </a:lnTo>
                    <a:lnTo>
                      <a:pt x="430" y="697"/>
                    </a:lnTo>
                    <a:lnTo>
                      <a:pt x="432" y="692"/>
                    </a:lnTo>
                    <a:lnTo>
                      <a:pt x="432" y="686"/>
                    </a:lnTo>
                    <a:lnTo>
                      <a:pt x="432" y="682"/>
                    </a:lnTo>
                    <a:lnTo>
                      <a:pt x="434" y="678"/>
                    </a:lnTo>
                    <a:lnTo>
                      <a:pt x="435" y="673"/>
                    </a:lnTo>
                    <a:lnTo>
                      <a:pt x="435" y="667"/>
                    </a:lnTo>
                    <a:lnTo>
                      <a:pt x="437" y="661"/>
                    </a:lnTo>
                    <a:lnTo>
                      <a:pt x="439" y="654"/>
                    </a:lnTo>
                    <a:lnTo>
                      <a:pt x="439" y="648"/>
                    </a:lnTo>
                    <a:lnTo>
                      <a:pt x="441" y="640"/>
                    </a:lnTo>
                    <a:lnTo>
                      <a:pt x="443" y="631"/>
                    </a:lnTo>
                    <a:lnTo>
                      <a:pt x="445" y="623"/>
                    </a:lnTo>
                    <a:lnTo>
                      <a:pt x="447" y="616"/>
                    </a:lnTo>
                    <a:lnTo>
                      <a:pt x="447" y="610"/>
                    </a:lnTo>
                    <a:lnTo>
                      <a:pt x="447" y="604"/>
                    </a:lnTo>
                    <a:lnTo>
                      <a:pt x="447" y="599"/>
                    </a:lnTo>
                    <a:lnTo>
                      <a:pt x="449" y="595"/>
                    </a:lnTo>
                    <a:lnTo>
                      <a:pt x="449" y="589"/>
                    </a:lnTo>
                    <a:lnTo>
                      <a:pt x="449" y="583"/>
                    </a:lnTo>
                    <a:lnTo>
                      <a:pt x="449" y="578"/>
                    </a:lnTo>
                    <a:lnTo>
                      <a:pt x="451" y="572"/>
                    </a:lnTo>
                    <a:lnTo>
                      <a:pt x="451" y="566"/>
                    </a:lnTo>
                    <a:lnTo>
                      <a:pt x="451" y="561"/>
                    </a:lnTo>
                    <a:lnTo>
                      <a:pt x="451" y="555"/>
                    </a:lnTo>
                    <a:lnTo>
                      <a:pt x="451" y="549"/>
                    </a:lnTo>
                    <a:lnTo>
                      <a:pt x="451" y="542"/>
                    </a:lnTo>
                    <a:lnTo>
                      <a:pt x="451" y="536"/>
                    </a:lnTo>
                    <a:lnTo>
                      <a:pt x="451" y="530"/>
                    </a:lnTo>
                    <a:lnTo>
                      <a:pt x="453" y="523"/>
                    </a:lnTo>
                    <a:lnTo>
                      <a:pt x="451" y="515"/>
                    </a:lnTo>
                    <a:lnTo>
                      <a:pt x="451" y="509"/>
                    </a:lnTo>
                    <a:lnTo>
                      <a:pt x="451" y="502"/>
                    </a:lnTo>
                    <a:lnTo>
                      <a:pt x="451" y="494"/>
                    </a:lnTo>
                    <a:lnTo>
                      <a:pt x="449" y="485"/>
                    </a:lnTo>
                    <a:lnTo>
                      <a:pt x="449" y="479"/>
                    </a:lnTo>
                    <a:lnTo>
                      <a:pt x="449" y="469"/>
                    </a:lnTo>
                    <a:lnTo>
                      <a:pt x="449" y="462"/>
                    </a:lnTo>
                    <a:lnTo>
                      <a:pt x="447" y="454"/>
                    </a:lnTo>
                    <a:lnTo>
                      <a:pt x="447" y="445"/>
                    </a:lnTo>
                    <a:lnTo>
                      <a:pt x="445" y="435"/>
                    </a:lnTo>
                    <a:lnTo>
                      <a:pt x="445" y="427"/>
                    </a:lnTo>
                    <a:lnTo>
                      <a:pt x="443" y="418"/>
                    </a:lnTo>
                    <a:lnTo>
                      <a:pt x="443" y="408"/>
                    </a:lnTo>
                    <a:lnTo>
                      <a:pt x="441" y="399"/>
                    </a:lnTo>
                    <a:lnTo>
                      <a:pt x="441" y="391"/>
                    </a:lnTo>
                    <a:lnTo>
                      <a:pt x="439" y="382"/>
                    </a:lnTo>
                    <a:lnTo>
                      <a:pt x="435" y="372"/>
                    </a:lnTo>
                    <a:lnTo>
                      <a:pt x="435" y="363"/>
                    </a:lnTo>
                    <a:lnTo>
                      <a:pt x="434" y="353"/>
                    </a:lnTo>
                    <a:lnTo>
                      <a:pt x="430" y="344"/>
                    </a:lnTo>
                    <a:lnTo>
                      <a:pt x="428" y="336"/>
                    </a:lnTo>
                    <a:lnTo>
                      <a:pt x="424" y="327"/>
                    </a:lnTo>
                    <a:lnTo>
                      <a:pt x="422" y="319"/>
                    </a:lnTo>
                    <a:lnTo>
                      <a:pt x="418" y="311"/>
                    </a:lnTo>
                    <a:lnTo>
                      <a:pt x="416" y="302"/>
                    </a:lnTo>
                    <a:lnTo>
                      <a:pt x="413" y="294"/>
                    </a:lnTo>
                    <a:lnTo>
                      <a:pt x="411" y="285"/>
                    </a:lnTo>
                    <a:lnTo>
                      <a:pt x="405" y="277"/>
                    </a:lnTo>
                    <a:lnTo>
                      <a:pt x="401" y="270"/>
                    </a:lnTo>
                    <a:lnTo>
                      <a:pt x="397" y="262"/>
                    </a:lnTo>
                    <a:lnTo>
                      <a:pt x="394" y="256"/>
                    </a:lnTo>
                    <a:lnTo>
                      <a:pt x="388" y="249"/>
                    </a:lnTo>
                    <a:lnTo>
                      <a:pt x="384" y="241"/>
                    </a:lnTo>
                    <a:lnTo>
                      <a:pt x="380" y="234"/>
                    </a:lnTo>
                    <a:lnTo>
                      <a:pt x="375" y="228"/>
                    </a:lnTo>
                    <a:lnTo>
                      <a:pt x="369" y="220"/>
                    </a:lnTo>
                    <a:lnTo>
                      <a:pt x="363" y="214"/>
                    </a:lnTo>
                    <a:lnTo>
                      <a:pt x="357" y="207"/>
                    </a:lnTo>
                    <a:lnTo>
                      <a:pt x="354" y="201"/>
                    </a:lnTo>
                    <a:lnTo>
                      <a:pt x="348" y="195"/>
                    </a:lnTo>
                    <a:lnTo>
                      <a:pt x="342" y="188"/>
                    </a:lnTo>
                    <a:lnTo>
                      <a:pt x="335" y="182"/>
                    </a:lnTo>
                    <a:lnTo>
                      <a:pt x="329" y="176"/>
                    </a:lnTo>
                    <a:lnTo>
                      <a:pt x="323" y="171"/>
                    </a:lnTo>
                    <a:lnTo>
                      <a:pt x="318" y="165"/>
                    </a:lnTo>
                    <a:lnTo>
                      <a:pt x="310" y="159"/>
                    </a:lnTo>
                    <a:lnTo>
                      <a:pt x="304" y="154"/>
                    </a:lnTo>
                    <a:lnTo>
                      <a:pt x="297" y="148"/>
                    </a:lnTo>
                    <a:lnTo>
                      <a:pt x="289" y="144"/>
                    </a:lnTo>
                    <a:lnTo>
                      <a:pt x="281" y="138"/>
                    </a:lnTo>
                    <a:lnTo>
                      <a:pt x="274" y="133"/>
                    </a:lnTo>
                    <a:lnTo>
                      <a:pt x="266" y="127"/>
                    </a:lnTo>
                    <a:lnTo>
                      <a:pt x="259" y="121"/>
                    </a:lnTo>
                    <a:lnTo>
                      <a:pt x="249" y="118"/>
                    </a:lnTo>
                    <a:lnTo>
                      <a:pt x="243" y="112"/>
                    </a:lnTo>
                    <a:lnTo>
                      <a:pt x="234" y="106"/>
                    </a:lnTo>
                    <a:lnTo>
                      <a:pt x="224" y="100"/>
                    </a:lnTo>
                    <a:lnTo>
                      <a:pt x="217" y="97"/>
                    </a:lnTo>
                    <a:lnTo>
                      <a:pt x="207" y="91"/>
                    </a:lnTo>
                    <a:lnTo>
                      <a:pt x="198" y="87"/>
                    </a:lnTo>
                    <a:lnTo>
                      <a:pt x="190" y="83"/>
                    </a:lnTo>
                    <a:lnTo>
                      <a:pt x="181" y="78"/>
                    </a:lnTo>
                    <a:lnTo>
                      <a:pt x="171" y="74"/>
                    </a:lnTo>
                    <a:lnTo>
                      <a:pt x="162" y="68"/>
                    </a:lnTo>
                    <a:lnTo>
                      <a:pt x="152" y="64"/>
                    </a:lnTo>
                    <a:lnTo>
                      <a:pt x="141" y="60"/>
                    </a:lnTo>
                    <a:lnTo>
                      <a:pt x="133" y="57"/>
                    </a:lnTo>
                    <a:lnTo>
                      <a:pt x="122" y="53"/>
                    </a:lnTo>
                    <a:lnTo>
                      <a:pt x="112" y="49"/>
                    </a:lnTo>
                    <a:lnTo>
                      <a:pt x="101" y="43"/>
                    </a:lnTo>
                    <a:lnTo>
                      <a:pt x="89" y="40"/>
                    </a:lnTo>
                    <a:lnTo>
                      <a:pt x="80" y="36"/>
                    </a:lnTo>
                    <a:lnTo>
                      <a:pt x="68" y="32"/>
                    </a:lnTo>
                    <a:lnTo>
                      <a:pt x="57" y="28"/>
                    </a:lnTo>
                    <a:lnTo>
                      <a:pt x="46" y="24"/>
                    </a:lnTo>
                    <a:lnTo>
                      <a:pt x="34" y="19"/>
                    </a:lnTo>
                    <a:lnTo>
                      <a:pt x="23" y="17"/>
                    </a:lnTo>
                    <a:lnTo>
                      <a:pt x="11" y="11"/>
                    </a:lnTo>
                    <a:lnTo>
                      <a:pt x="0" y="9"/>
                    </a:lnTo>
                    <a:lnTo>
                      <a:pt x="2" y="9"/>
                    </a:lnTo>
                    <a:lnTo>
                      <a:pt x="6" y="5"/>
                    </a:lnTo>
                    <a:lnTo>
                      <a:pt x="10" y="5"/>
                    </a:lnTo>
                    <a:lnTo>
                      <a:pt x="15" y="5"/>
                    </a:lnTo>
                    <a:lnTo>
                      <a:pt x="21" y="3"/>
                    </a:lnTo>
                    <a:lnTo>
                      <a:pt x="29" y="3"/>
                    </a:lnTo>
                    <a:lnTo>
                      <a:pt x="32" y="2"/>
                    </a:lnTo>
                    <a:lnTo>
                      <a:pt x="42" y="0"/>
                    </a:lnTo>
                    <a:lnTo>
                      <a:pt x="49" y="0"/>
                    </a:lnTo>
                    <a:lnTo>
                      <a:pt x="59" y="0"/>
                    </a:lnTo>
                    <a:lnTo>
                      <a:pt x="63" y="0"/>
                    </a:lnTo>
                    <a:lnTo>
                      <a:pt x="68" y="0"/>
                    </a:lnTo>
                    <a:lnTo>
                      <a:pt x="74" y="0"/>
                    </a:lnTo>
                    <a:lnTo>
                      <a:pt x="80" y="0"/>
                    </a:lnTo>
                    <a:lnTo>
                      <a:pt x="86" y="0"/>
                    </a:lnTo>
                    <a:lnTo>
                      <a:pt x="89" y="0"/>
                    </a:lnTo>
                    <a:lnTo>
                      <a:pt x="95" y="2"/>
                    </a:lnTo>
                    <a:lnTo>
                      <a:pt x="103" y="2"/>
                    </a:lnTo>
                    <a:lnTo>
                      <a:pt x="108" y="2"/>
                    </a:lnTo>
                    <a:lnTo>
                      <a:pt x="114" y="3"/>
                    </a:lnTo>
                    <a:lnTo>
                      <a:pt x="120" y="3"/>
                    </a:lnTo>
                    <a:lnTo>
                      <a:pt x="125" y="5"/>
                    </a:lnTo>
                    <a:lnTo>
                      <a:pt x="131" y="5"/>
                    </a:lnTo>
                    <a:lnTo>
                      <a:pt x="139" y="7"/>
                    </a:lnTo>
                    <a:lnTo>
                      <a:pt x="145" y="9"/>
                    </a:lnTo>
                    <a:lnTo>
                      <a:pt x="152" y="11"/>
                    </a:lnTo>
                    <a:lnTo>
                      <a:pt x="160" y="11"/>
                    </a:lnTo>
                    <a:lnTo>
                      <a:pt x="167" y="13"/>
                    </a:lnTo>
                    <a:lnTo>
                      <a:pt x="173" y="17"/>
                    </a:lnTo>
                    <a:lnTo>
                      <a:pt x="181" y="19"/>
                    </a:lnTo>
                    <a:lnTo>
                      <a:pt x="188" y="22"/>
                    </a:lnTo>
                    <a:lnTo>
                      <a:pt x="196" y="24"/>
                    </a:lnTo>
                    <a:lnTo>
                      <a:pt x="202" y="28"/>
                    </a:lnTo>
                    <a:lnTo>
                      <a:pt x="211" y="32"/>
                    </a:lnTo>
                    <a:lnTo>
                      <a:pt x="219" y="36"/>
                    </a:lnTo>
                    <a:lnTo>
                      <a:pt x="224" y="38"/>
                    </a:lnTo>
                    <a:lnTo>
                      <a:pt x="232" y="41"/>
                    </a:lnTo>
                    <a:lnTo>
                      <a:pt x="241" y="47"/>
                    </a:lnTo>
                    <a:lnTo>
                      <a:pt x="247" y="51"/>
                    </a:lnTo>
                    <a:lnTo>
                      <a:pt x="257" y="57"/>
                    </a:lnTo>
                    <a:lnTo>
                      <a:pt x="264" y="62"/>
                    </a:lnTo>
                    <a:lnTo>
                      <a:pt x="274" y="66"/>
                    </a:lnTo>
                    <a:lnTo>
                      <a:pt x="281" y="72"/>
                    </a:lnTo>
                    <a:lnTo>
                      <a:pt x="289" y="78"/>
                    </a:lnTo>
                    <a:lnTo>
                      <a:pt x="299" y="83"/>
                    </a:lnTo>
                    <a:lnTo>
                      <a:pt x="306" y="91"/>
                    </a:lnTo>
                    <a:lnTo>
                      <a:pt x="314" y="97"/>
                    </a:lnTo>
                    <a:lnTo>
                      <a:pt x="323" y="104"/>
                    </a:lnTo>
                    <a:lnTo>
                      <a:pt x="331" y="112"/>
                    </a:lnTo>
                    <a:lnTo>
                      <a:pt x="340" y="119"/>
                    </a:lnTo>
                    <a:close/>
                  </a:path>
                </a:pathLst>
              </a:custGeom>
              <a:solidFill>
                <a:srgbClr val="000000"/>
              </a:solidFill>
              <a:ln w="9525">
                <a:noFill/>
                <a:round/>
              </a:ln>
            </p:spPr>
            <p:txBody>
              <a:bodyPr/>
              <a:lstStyle/>
              <a:p>
                <a:endParaRPr lang="en-US"/>
              </a:p>
            </p:txBody>
          </p:sp>
          <p:sp>
            <p:nvSpPr>
              <p:cNvPr id="1048995" name="Freeform 293"/>
              <p:cNvSpPr/>
              <p:nvPr/>
            </p:nvSpPr>
            <p:spPr bwMode="auto">
              <a:xfrm>
                <a:off x="2133" y="2011"/>
                <a:ext cx="70" cy="17"/>
              </a:xfrm>
              <a:custGeom>
                <a:avLst/>
                <a:gdLst>
                  <a:gd name="T0" fmla="*/ 22 w 141"/>
                  <a:gd name="T1" fmla="*/ 3 h 34"/>
                  <a:gd name="T2" fmla="*/ 25 w 141"/>
                  <a:gd name="T3" fmla="*/ 2 h 34"/>
                  <a:gd name="T4" fmla="*/ 29 w 141"/>
                  <a:gd name="T5" fmla="*/ 1 h 34"/>
                  <a:gd name="T6" fmla="*/ 32 w 141"/>
                  <a:gd name="T7" fmla="*/ 1 h 34"/>
                  <a:gd name="T8" fmla="*/ 36 w 141"/>
                  <a:gd name="T9" fmla="*/ 1 h 34"/>
                  <a:gd name="T10" fmla="*/ 39 w 141"/>
                  <a:gd name="T11" fmla="*/ 0 h 34"/>
                  <a:gd name="T12" fmla="*/ 42 w 141"/>
                  <a:gd name="T13" fmla="*/ 0 h 34"/>
                  <a:gd name="T14" fmla="*/ 44 w 141"/>
                  <a:gd name="T15" fmla="*/ 0 h 34"/>
                  <a:gd name="T16" fmla="*/ 47 w 141"/>
                  <a:gd name="T17" fmla="*/ 1 h 34"/>
                  <a:gd name="T18" fmla="*/ 50 w 141"/>
                  <a:gd name="T19" fmla="*/ 1 h 34"/>
                  <a:gd name="T20" fmla="*/ 53 w 141"/>
                  <a:gd name="T21" fmla="*/ 1 h 34"/>
                  <a:gd name="T22" fmla="*/ 56 w 141"/>
                  <a:gd name="T23" fmla="*/ 1 h 34"/>
                  <a:gd name="T24" fmla="*/ 59 w 141"/>
                  <a:gd name="T25" fmla="*/ 1 h 34"/>
                  <a:gd name="T26" fmla="*/ 62 w 141"/>
                  <a:gd name="T27" fmla="*/ 2 h 34"/>
                  <a:gd name="T28" fmla="*/ 64 w 141"/>
                  <a:gd name="T29" fmla="*/ 3 h 34"/>
                  <a:gd name="T30" fmla="*/ 67 w 141"/>
                  <a:gd name="T31" fmla="*/ 4 h 34"/>
                  <a:gd name="T32" fmla="*/ 70 w 141"/>
                  <a:gd name="T33" fmla="*/ 6 h 34"/>
                  <a:gd name="T34" fmla="*/ 69 w 141"/>
                  <a:gd name="T35" fmla="*/ 7 h 34"/>
                  <a:gd name="T36" fmla="*/ 67 w 141"/>
                  <a:gd name="T37" fmla="*/ 9 h 34"/>
                  <a:gd name="T38" fmla="*/ 64 w 141"/>
                  <a:gd name="T39" fmla="*/ 10 h 34"/>
                  <a:gd name="T40" fmla="*/ 62 w 141"/>
                  <a:gd name="T41" fmla="*/ 12 h 34"/>
                  <a:gd name="T42" fmla="*/ 60 w 141"/>
                  <a:gd name="T43" fmla="*/ 13 h 34"/>
                  <a:gd name="T44" fmla="*/ 57 w 141"/>
                  <a:gd name="T45" fmla="*/ 14 h 34"/>
                  <a:gd name="T46" fmla="*/ 56 w 141"/>
                  <a:gd name="T47" fmla="*/ 15 h 34"/>
                  <a:gd name="T48" fmla="*/ 55 w 141"/>
                  <a:gd name="T49" fmla="*/ 17 h 34"/>
                  <a:gd name="T50" fmla="*/ 0 w 141"/>
                  <a:gd name="T51" fmla="*/ 17 h 34"/>
                  <a:gd name="T52" fmla="*/ 1 w 141"/>
                  <a:gd name="T53" fmla="*/ 14 h 34"/>
                  <a:gd name="T54" fmla="*/ 4 w 141"/>
                  <a:gd name="T55" fmla="*/ 11 h 34"/>
                  <a:gd name="T56" fmla="*/ 5 w 141"/>
                  <a:gd name="T57" fmla="*/ 9 h 34"/>
                  <a:gd name="T58" fmla="*/ 9 w 141"/>
                  <a:gd name="T59" fmla="*/ 9 h 34"/>
                  <a:gd name="T60" fmla="*/ 12 w 141"/>
                  <a:gd name="T61" fmla="*/ 6 h 34"/>
                  <a:gd name="T62" fmla="*/ 15 w 141"/>
                  <a:gd name="T63" fmla="*/ 5 h 34"/>
                  <a:gd name="T64" fmla="*/ 18 w 141"/>
                  <a:gd name="T65" fmla="*/ 4 h 34"/>
                  <a:gd name="T66" fmla="*/ 22 w 141"/>
                  <a:gd name="T67" fmla="*/ 3 h 34"/>
                  <a:gd name="T68" fmla="*/ 22 w 141"/>
                  <a:gd name="T69" fmla="*/ 3 h 34"/>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141"/>
                  <a:gd name="T106" fmla="*/ 0 h 34"/>
                  <a:gd name="T107" fmla="*/ 141 w 141"/>
                  <a:gd name="T108" fmla="*/ 34 h 34"/>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141" h="34">
                    <a:moveTo>
                      <a:pt x="44" y="7"/>
                    </a:moveTo>
                    <a:lnTo>
                      <a:pt x="51" y="5"/>
                    </a:lnTo>
                    <a:lnTo>
                      <a:pt x="59" y="3"/>
                    </a:lnTo>
                    <a:lnTo>
                      <a:pt x="65" y="1"/>
                    </a:lnTo>
                    <a:lnTo>
                      <a:pt x="72" y="1"/>
                    </a:lnTo>
                    <a:lnTo>
                      <a:pt x="78" y="0"/>
                    </a:lnTo>
                    <a:lnTo>
                      <a:pt x="84" y="0"/>
                    </a:lnTo>
                    <a:lnTo>
                      <a:pt x="89" y="0"/>
                    </a:lnTo>
                    <a:lnTo>
                      <a:pt x="95" y="1"/>
                    </a:lnTo>
                    <a:lnTo>
                      <a:pt x="101" y="1"/>
                    </a:lnTo>
                    <a:lnTo>
                      <a:pt x="106" y="1"/>
                    </a:lnTo>
                    <a:lnTo>
                      <a:pt x="112" y="3"/>
                    </a:lnTo>
                    <a:lnTo>
                      <a:pt x="118" y="3"/>
                    </a:lnTo>
                    <a:lnTo>
                      <a:pt x="124" y="5"/>
                    </a:lnTo>
                    <a:lnTo>
                      <a:pt x="129" y="7"/>
                    </a:lnTo>
                    <a:lnTo>
                      <a:pt x="135" y="9"/>
                    </a:lnTo>
                    <a:lnTo>
                      <a:pt x="141" y="13"/>
                    </a:lnTo>
                    <a:lnTo>
                      <a:pt x="139" y="15"/>
                    </a:lnTo>
                    <a:lnTo>
                      <a:pt x="135" y="19"/>
                    </a:lnTo>
                    <a:lnTo>
                      <a:pt x="129" y="20"/>
                    </a:lnTo>
                    <a:lnTo>
                      <a:pt x="125" y="24"/>
                    </a:lnTo>
                    <a:lnTo>
                      <a:pt x="120" y="26"/>
                    </a:lnTo>
                    <a:lnTo>
                      <a:pt x="114" y="28"/>
                    </a:lnTo>
                    <a:lnTo>
                      <a:pt x="112" y="30"/>
                    </a:lnTo>
                    <a:lnTo>
                      <a:pt x="110" y="34"/>
                    </a:lnTo>
                    <a:lnTo>
                      <a:pt x="0" y="34"/>
                    </a:lnTo>
                    <a:lnTo>
                      <a:pt x="2" y="28"/>
                    </a:lnTo>
                    <a:lnTo>
                      <a:pt x="8" y="22"/>
                    </a:lnTo>
                    <a:lnTo>
                      <a:pt x="11" y="19"/>
                    </a:lnTo>
                    <a:lnTo>
                      <a:pt x="19" y="17"/>
                    </a:lnTo>
                    <a:lnTo>
                      <a:pt x="25" y="13"/>
                    </a:lnTo>
                    <a:lnTo>
                      <a:pt x="30" y="11"/>
                    </a:lnTo>
                    <a:lnTo>
                      <a:pt x="36" y="9"/>
                    </a:lnTo>
                    <a:lnTo>
                      <a:pt x="44" y="7"/>
                    </a:lnTo>
                    <a:close/>
                  </a:path>
                </a:pathLst>
              </a:custGeom>
              <a:solidFill>
                <a:srgbClr val="000000"/>
              </a:solidFill>
              <a:ln w="9525">
                <a:noFill/>
                <a:round/>
              </a:ln>
            </p:spPr>
            <p:txBody>
              <a:bodyPr/>
              <a:lstStyle/>
              <a:p>
                <a:endParaRPr lang="en-US"/>
              </a:p>
            </p:txBody>
          </p:sp>
          <p:sp>
            <p:nvSpPr>
              <p:cNvPr id="1048996" name="Freeform 294"/>
              <p:cNvSpPr/>
              <p:nvPr/>
            </p:nvSpPr>
            <p:spPr bwMode="auto">
              <a:xfrm>
                <a:off x="2108" y="2041"/>
                <a:ext cx="80" cy="23"/>
              </a:xfrm>
              <a:custGeom>
                <a:avLst/>
                <a:gdLst>
                  <a:gd name="T0" fmla="*/ 80 w 159"/>
                  <a:gd name="T1" fmla="*/ 0 h 46"/>
                  <a:gd name="T2" fmla="*/ 72 w 159"/>
                  <a:gd name="T3" fmla="*/ 15 h 46"/>
                  <a:gd name="T4" fmla="*/ 69 w 159"/>
                  <a:gd name="T5" fmla="*/ 17 h 46"/>
                  <a:gd name="T6" fmla="*/ 68 w 159"/>
                  <a:gd name="T7" fmla="*/ 17 h 46"/>
                  <a:gd name="T8" fmla="*/ 65 w 159"/>
                  <a:gd name="T9" fmla="*/ 18 h 46"/>
                  <a:gd name="T10" fmla="*/ 63 w 159"/>
                  <a:gd name="T11" fmla="*/ 19 h 46"/>
                  <a:gd name="T12" fmla="*/ 59 w 159"/>
                  <a:gd name="T13" fmla="*/ 19 h 46"/>
                  <a:gd name="T14" fmla="*/ 56 w 159"/>
                  <a:gd name="T15" fmla="*/ 20 h 46"/>
                  <a:gd name="T16" fmla="*/ 53 w 159"/>
                  <a:gd name="T17" fmla="*/ 20 h 46"/>
                  <a:gd name="T18" fmla="*/ 50 w 159"/>
                  <a:gd name="T19" fmla="*/ 20 h 46"/>
                  <a:gd name="T20" fmla="*/ 47 w 159"/>
                  <a:gd name="T21" fmla="*/ 20 h 46"/>
                  <a:gd name="T22" fmla="*/ 43 w 159"/>
                  <a:gd name="T23" fmla="*/ 21 h 46"/>
                  <a:gd name="T24" fmla="*/ 40 w 159"/>
                  <a:gd name="T25" fmla="*/ 21 h 46"/>
                  <a:gd name="T26" fmla="*/ 36 w 159"/>
                  <a:gd name="T27" fmla="*/ 22 h 46"/>
                  <a:gd name="T28" fmla="*/ 32 w 159"/>
                  <a:gd name="T29" fmla="*/ 22 h 46"/>
                  <a:gd name="T30" fmla="*/ 30 w 159"/>
                  <a:gd name="T31" fmla="*/ 22 h 46"/>
                  <a:gd name="T32" fmla="*/ 27 w 159"/>
                  <a:gd name="T33" fmla="*/ 22 h 46"/>
                  <a:gd name="T34" fmla="*/ 24 w 159"/>
                  <a:gd name="T35" fmla="*/ 23 h 46"/>
                  <a:gd name="T36" fmla="*/ 20 w 159"/>
                  <a:gd name="T37" fmla="*/ 22 h 46"/>
                  <a:gd name="T38" fmla="*/ 17 w 159"/>
                  <a:gd name="T39" fmla="*/ 22 h 46"/>
                  <a:gd name="T40" fmla="*/ 14 w 159"/>
                  <a:gd name="T41" fmla="*/ 22 h 46"/>
                  <a:gd name="T42" fmla="*/ 12 w 159"/>
                  <a:gd name="T43" fmla="*/ 22 h 46"/>
                  <a:gd name="T44" fmla="*/ 10 w 159"/>
                  <a:gd name="T45" fmla="*/ 22 h 46"/>
                  <a:gd name="T46" fmla="*/ 7 w 159"/>
                  <a:gd name="T47" fmla="*/ 22 h 46"/>
                  <a:gd name="T48" fmla="*/ 5 w 159"/>
                  <a:gd name="T49" fmla="*/ 21 h 46"/>
                  <a:gd name="T50" fmla="*/ 4 w 159"/>
                  <a:gd name="T51" fmla="*/ 21 h 46"/>
                  <a:gd name="T52" fmla="*/ 1 w 159"/>
                  <a:gd name="T53" fmla="*/ 20 h 46"/>
                  <a:gd name="T54" fmla="*/ 0 w 159"/>
                  <a:gd name="T55" fmla="*/ 20 h 46"/>
                  <a:gd name="T56" fmla="*/ 0 w 159"/>
                  <a:gd name="T57" fmla="*/ 19 h 46"/>
                  <a:gd name="T58" fmla="*/ 3 w 159"/>
                  <a:gd name="T59" fmla="*/ 18 h 46"/>
                  <a:gd name="T60" fmla="*/ 5 w 159"/>
                  <a:gd name="T61" fmla="*/ 13 h 46"/>
                  <a:gd name="T62" fmla="*/ 8 w 159"/>
                  <a:gd name="T63" fmla="*/ 10 h 46"/>
                  <a:gd name="T64" fmla="*/ 11 w 159"/>
                  <a:gd name="T65" fmla="*/ 7 h 46"/>
                  <a:gd name="T66" fmla="*/ 16 w 159"/>
                  <a:gd name="T67" fmla="*/ 6 h 46"/>
                  <a:gd name="T68" fmla="*/ 18 w 159"/>
                  <a:gd name="T69" fmla="*/ 4 h 46"/>
                  <a:gd name="T70" fmla="*/ 21 w 159"/>
                  <a:gd name="T71" fmla="*/ 4 h 46"/>
                  <a:gd name="T72" fmla="*/ 24 w 159"/>
                  <a:gd name="T73" fmla="*/ 3 h 46"/>
                  <a:gd name="T74" fmla="*/ 27 w 159"/>
                  <a:gd name="T75" fmla="*/ 3 h 46"/>
                  <a:gd name="T76" fmla="*/ 29 w 159"/>
                  <a:gd name="T77" fmla="*/ 2 h 46"/>
                  <a:gd name="T78" fmla="*/ 31 w 159"/>
                  <a:gd name="T79" fmla="*/ 2 h 46"/>
                  <a:gd name="T80" fmla="*/ 35 w 159"/>
                  <a:gd name="T81" fmla="*/ 2 h 46"/>
                  <a:gd name="T82" fmla="*/ 38 w 159"/>
                  <a:gd name="T83" fmla="*/ 2 h 46"/>
                  <a:gd name="T84" fmla="*/ 41 w 159"/>
                  <a:gd name="T85" fmla="*/ 1 h 46"/>
                  <a:gd name="T86" fmla="*/ 44 w 159"/>
                  <a:gd name="T87" fmla="*/ 1 h 46"/>
                  <a:gd name="T88" fmla="*/ 47 w 159"/>
                  <a:gd name="T89" fmla="*/ 1 h 46"/>
                  <a:gd name="T90" fmla="*/ 49 w 159"/>
                  <a:gd name="T91" fmla="*/ 1 h 46"/>
                  <a:gd name="T92" fmla="*/ 52 w 159"/>
                  <a:gd name="T93" fmla="*/ 1 h 46"/>
                  <a:gd name="T94" fmla="*/ 55 w 159"/>
                  <a:gd name="T95" fmla="*/ 1 h 46"/>
                  <a:gd name="T96" fmla="*/ 58 w 159"/>
                  <a:gd name="T97" fmla="*/ 1 h 46"/>
                  <a:gd name="T98" fmla="*/ 62 w 159"/>
                  <a:gd name="T99" fmla="*/ 1 h 46"/>
                  <a:gd name="T100" fmla="*/ 64 w 159"/>
                  <a:gd name="T101" fmla="*/ 1 h 46"/>
                  <a:gd name="T102" fmla="*/ 67 w 159"/>
                  <a:gd name="T103" fmla="*/ 1 h 46"/>
                  <a:gd name="T104" fmla="*/ 68 w 159"/>
                  <a:gd name="T105" fmla="*/ 1 h 46"/>
                  <a:gd name="T106" fmla="*/ 71 w 159"/>
                  <a:gd name="T107" fmla="*/ 1 h 46"/>
                  <a:gd name="T108" fmla="*/ 76 w 159"/>
                  <a:gd name="T109" fmla="*/ 0 h 46"/>
                  <a:gd name="T110" fmla="*/ 80 w 159"/>
                  <a:gd name="T111" fmla="*/ 0 h 46"/>
                  <a:gd name="T112" fmla="*/ 80 w 159"/>
                  <a:gd name="T113" fmla="*/ 0 h 4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159"/>
                  <a:gd name="T172" fmla="*/ 0 h 46"/>
                  <a:gd name="T173" fmla="*/ 159 w 159"/>
                  <a:gd name="T174" fmla="*/ 46 h 46"/>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159" h="46">
                    <a:moveTo>
                      <a:pt x="159" y="0"/>
                    </a:moveTo>
                    <a:lnTo>
                      <a:pt x="144" y="31"/>
                    </a:lnTo>
                    <a:lnTo>
                      <a:pt x="138" y="33"/>
                    </a:lnTo>
                    <a:lnTo>
                      <a:pt x="135" y="33"/>
                    </a:lnTo>
                    <a:lnTo>
                      <a:pt x="129" y="35"/>
                    </a:lnTo>
                    <a:lnTo>
                      <a:pt x="125" y="37"/>
                    </a:lnTo>
                    <a:lnTo>
                      <a:pt x="117" y="37"/>
                    </a:lnTo>
                    <a:lnTo>
                      <a:pt x="112" y="39"/>
                    </a:lnTo>
                    <a:lnTo>
                      <a:pt x="106" y="39"/>
                    </a:lnTo>
                    <a:lnTo>
                      <a:pt x="100" y="40"/>
                    </a:lnTo>
                    <a:lnTo>
                      <a:pt x="93" y="40"/>
                    </a:lnTo>
                    <a:lnTo>
                      <a:pt x="85" y="42"/>
                    </a:lnTo>
                    <a:lnTo>
                      <a:pt x="79" y="42"/>
                    </a:lnTo>
                    <a:lnTo>
                      <a:pt x="72" y="44"/>
                    </a:lnTo>
                    <a:lnTo>
                      <a:pt x="64" y="44"/>
                    </a:lnTo>
                    <a:lnTo>
                      <a:pt x="59" y="44"/>
                    </a:lnTo>
                    <a:lnTo>
                      <a:pt x="53" y="44"/>
                    </a:lnTo>
                    <a:lnTo>
                      <a:pt x="47" y="46"/>
                    </a:lnTo>
                    <a:lnTo>
                      <a:pt x="40" y="44"/>
                    </a:lnTo>
                    <a:lnTo>
                      <a:pt x="34" y="44"/>
                    </a:lnTo>
                    <a:lnTo>
                      <a:pt x="28" y="44"/>
                    </a:lnTo>
                    <a:lnTo>
                      <a:pt x="24" y="44"/>
                    </a:lnTo>
                    <a:lnTo>
                      <a:pt x="19" y="44"/>
                    </a:lnTo>
                    <a:lnTo>
                      <a:pt x="13" y="44"/>
                    </a:lnTo>
                    <a:lnTo>
                      <a:pt x="9" y="42"/>
                    </a:lnTo>
                    <a:lnTo>
                      <a:pt x="7" y="42"/>
                    </a:lnTo>
                    <a:lnTo>
                      <a:pt x="1" y="40"/>
                    </a:lnTo>
                    <a:lnTo>
                      <a:pt x="0" y="39"/>
                    </a:lnTo>
                    <a:lnTo>
                      <a:pt x="0" y="37"/>
                    </a:lnTo>
                    <a:lnTo>
                      <a:pt x="5" y="35"/>
                    </a:lnTo>
                    <a:lnTo>
                      <a:pt x="9" y="27"/>
                    </a:lnTo>
                    <a:lnTo>
                      <a:pt x="15" y="20"/>
                    </a:lnTo>
                    <a:lnTo>
                      <a:pt x="22" y="14"/>
                    </a:lnTo>
                    <a:lnTo>
                      <a:pt x="32" y="12"/>
                    </a:lnTo>
                    <a:lnTo>
                      <a:pt x="36" y="8"/>
                    </a:lnTo>
                    <a:lnTo>
                      <a:pt x="41" y="8"/>
                    </a:lnTo>
                    <a:lnTo>
                      <a:pt x="47" y="6"/>
                    </a:lnTo>
                    <a:lnTo>
                      <a:pt x="53" y="6"/>
                    </a:lnTo>
                    <a:lnTo>
                      <a:pt x="57" y="4"/>
                    </a:lnTo>
                    <a:lnTo>
                      <a:pt x="62" y="4"/>
                    </a:lnTo>
                    <a:lnTo>
                      <a:pt x="70" y="4"/>
                    </a:lnTo>
                    <a:lnTo>
                      <a:pt x="76" y="4"/>
                    </a:lnTo>
                    <a:lnTo>
                      <a:pt x="81" y="2"/>
                    </a:lnTo>
                    <a:lnTo>
                      <a:pt x="87" y="2"/>
                    </a:lnTo>
                    <a:lnTo>
                      <a:pt x="93" y="2"/>
                    </a:lnTo>
                    <a:lnTo>
                      <a:pt x="98" y="2"/>
                    </a:lnTo>
                    <a:lnTo>
                      <a:pt x="104" y="2"/>
                    </a:lnTo>
                    <a:lnTo>
                      <a:pt x="110" y="2"/>
                    </a:lnTo>
                    <a:lnTo>
                      <a:pt x="116" y="2"/>
                    </a:lnTo>
                    <a:lnTo>
                      <a:pt x="123" y="2"/>
                    </a:lnTo>
                    <a:lnTo>
                      <a:pt x="127" y="2"/>
                    </a:lnTo>
                    <a:lnTo>
                      <a:pt x="133" y="2"/>
                    </a:lnTo>
                    <a:lnTo>
                      <a:pt x="136" y="2"/>
                    </a:lnTo>
                    <a:lnTo>
                      <a:pt x="142" y="2"/>
                    </a:lnTo>
                    <a:lnTo>
                      <a:pt x="152" y="0"/>
                    </a:lnTo>
                    <a:lnTo>
                      <a:pt x="159" y="0"/>
                    </a:lnTo>
                    <a:close/>
                  </a:path>
                </a:pathLst>
              </a:custGeom>
              <a:solidFill>
                <a:srgbClr val="000000"/>
              </a:solidFill>
              <a:ln w="9525">
                <a:noFill/>
                <a:round/>
              </a:ln>
            </p:spPr>
            <p:txBody>
              <a:bodyPr/>
              <a:lstStyle/>
              <a:p>
                <a:endParaRPr lang="en-US"/>
              </a:p>
            </p:txBody>
          </p:sp>
          <p:sp>
            <p:nvSpPr>
              <p:cNvPr id="1048997" name="Freeform 295"/>
              <p:cNvSpPr/>
              <p:nvPr/>
            </p:nvSpPr>
            <p:spPr bwMode="auto">
              <a:xfrm>
                <a:off x="2122" y="2071"/>
                <a:ext cx="76" cy="33"/>
              </a:xfrm>
              <a:custGeom>
                <a:avLst/>
                <a:gdLst>
                  <a:gd name="T0" fmla="*/ 61 w 152"/>
                  <a:gd name="T1" fmla="*/ 0 h 67"/>
                  <a:gd name="T2" fmla="*/ 63 w 152"/>
                  <a:gd name="T3" fmla="*/ 2 h 67"/>
                  <a:gd name="T4" fmla="*/ 65 w 152"/>
                  <a:gd name="T5" fmla="*/ 5 h 67"/>
                  <a:gd name="T6" fmla="*/ 68 w 152"/>
                  <a:gd name="T7" fmla="*/ 8 h 67"/>
                  <a:gd name="T8" fmla="*/ 70 w 152"/>
                  <a:gd name="T9" fmla="*/ 9 h 67"/>
                  <a:gd name="T10" fmla="*/ 73 w 152"/>
                  <a:gd name="T11" fmla="*/ 12 h 67"/>
                  <a:gd name="T12" fmla="*/ 74 w 152"/>
                  <a:gd name="T13" fmla="*/ 14 h 67"/>
                  <a:gd name="T14" fmla="*/ 76 w 152"/>
                  <a:gd name="T15" fmla="*/ 16 h 67"/>
                  <a:gd name="T16" fmla="*/ 0 w 152"/>
                  <a:gd name="T17" fmla="*/ 33 h 67"/>
                  <a:gd name="T18" fmla="*/ 0 w 152"/>
                  <a:gd name="T19" fmla="*/ 30 h 67"/>
                  <a:gd name="T20" fmla="*/ 1 w 152"/>
                  <a:gd name="T21" fmla="*/ 28 h 67"/>
                  <a:gd name="T22" fmla="*/ 2 w 152"/>
                  <a:gd name="T23" fmla="*/ 26 h 67"/>
                  <a:gd name="T24" fmla="*/ 3 w 152"/>
                  <a:gd name="T25" fmla="*/ 25 h 67"/>
                  <a:gd name="T26" fmla="*/ 5 w 152"/>
                  <a:gd name="T27" fmla="*/ 21 h 67"/>
                  <a:gd name="T28" fmla="*/ 7 w 152"/>
                  <a:gd name="T29" fmla="*/ 18 h 67"/>
                  <a:gd name="T30" fmla="*/ 10 w 152"/>
                  <a:gd name="T31" fmla="*/ 15 h 67"/>
                  <a:gd name="T32" fmla="*/ 14 w 152"/>
                  <a:gd name="T33" fmla="*/ 12 h 67"/>
                  <a:gd name="T34" fmla="*/ 19 w 152"/>
                  <a:gd name="T35" fmla="*/ 11 h 67"/>
                  <a:gd name="T36" fmla="*/ 24 w 152"/>
                  <a:gd name="T37" fmla="*/ 9 h 67"/>
                  <a:gd name="T38" fmla="*/ 27 w 152"/>
                  <a:gd name="T39" fmla="*/ 8 h 67"/>
                  <a:gd name="T40" fmla="*/ 33 w 152"/>
                  <a:gd name="T41" fmla="*/ 7 h 67"/>
                  <a:gd name="T42" fmla="*/ 36 w 152"/>
                  <a:gd name="T43" fmla="*/ 6 h 67"/>
                  <a:gd name="T44" fmla="*/ 38 w 152"/>
                  <a:gd name="T45" fmla="*/ 6 h 67"/>
                  <a:gd name="T46" fmla="*/ 40 w 152"/>
                  <a:gd name="T47" fmla="*/ 5 h 67"/>
                  <a:gd name="T48" fmla="*/ 43 w 152"/>
                  <a:gd name="T49" fmla="*/ 5 h 67"/>
                  <a:gd name="T50" fmla="*/ 47 w 152"/>
                  <a:gd name="T51" fmla="*/ 4 h 67"/>
                  <a:gd name="T52" fmla="*/ 52 w 152"/>
                  <a:gd name="T53" fmla="*/ 3 h 67"/>
                  <a:gd name="T54" fmla="*/ 56 w 152"/>
                  <a:gd name="T55" fmla="*/ 1 h 67"/>
                  <a:gd name="T56" fmla="*/ 61 w 152"/>
                  <a:gd name="T57" fmla="*/ 0 h 67"/>
                  <a:gd name="T58" fmla="*/ 61 w 152"/>
                  <a:gd name="T59" fmla="*/ 0 h 67"/>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152"/>
                  <a:gd name="T91" fmla="*/ 0 h 67"/>
                  <a:gd name="T92" fmla="*/ 152 w 152"/>
                  <a:gd name="T93" fmla="*/ 67 h 67"/>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152" h="67">
                    <a:moveTo>
                      <a:pt x="122" y="0"/>
                    </a:moveTo>
                    <a:lnTo>
                      <a:pt x="126" y="4"/>
                    </a:lnTo>
                    <a:lnTo>
                      <a:pt x="129" y="10"/>
                    </a:lnTo>
                    <a:lnTo>
                      <a:pt x="135" y="16"/>
                    </a:lnTo>
                    <a:lnTo>
                      <a:pt x="139" y="19"/>
                    </a:lnTo>
                    <a:lnTo>
                      <a:pt x="145" y="25"/>
                    </a:lnTo>
                    <a:lnTo>
                      <a:pt x="148" y="29"/>
                    </a:lnTo>
                    <a:lnTo>
                      <a:pt x="152" y="33"/>
                    </a:lnTo>
                    <a:lnTo>
                      <a:pt x="0" y="67"/>
                    </a:lnTo>
                    <a:lnTo>
                      <a:pt x="0" y="61"/>
                    </a:lnTo>
                    <a:lnTo>
                      <a:pt x="2" y="57"/>
                    </a:lnTo>
                    <a:lnTo>
                      <a:pt x="4" y="52"/>
                    </a:lnTo>
                    <a:lnTo>
                      <a:pt x="6" y="50"/>
                    </a:lnTo>
                    <a:lnTo>
                      <a:pt x="10" y="42"/>
                    </a:lnTo>
                    <a:lnTo>
                      <a:pt x="15" y="36"/>
                    </a:lnTo>
                    <a:lnTo>
                      <a:pt x="21" y="31"/>
                    </a:lnTo>
                    <a:lnTo>
                      <a:pt x="29" y="25"/>
                    </a:lnTo>
                    <a:lnTo>
                      <a:pt x="38" y="23"/>
                    </a:lnTo>
                    <a:lnTo>
                      <a:pt x="48" y="19"/>
                    </a:lnTo>
                    <a:lnTo>
                      <a:pt x="55" y="17"/>
                    </a:lnTo>
                    <a:lnTo>
                      <a:pt x="65" y="14"/>
                    </a:lnTo>
                    <a:lnTo>
                      <a:pt x="71" y="12"/>
                    </a:lnTo>
                    <a:lnTo>
                      <a:pt x="76" y="12"/>
                    </a:lnTo>
                    <a:lnTo>
                      <a:pt x="80" y="10"/>
                    </a:lnTo>
                    <a:lnTo>
                      <a:pt x="86" y="10"/>
                    </a:lnTo>
                    <a:lnTo>
                      <a:pt x="95" y="8"/>
                    </a:lnTo>
                    <a:lnTo>
                      <a:pt x="105" y="6"/>
                    </a:lnTo>
                    <a:lnTo>
                      <a:pt x="112" y="2"/>
                    </a:lnTo>
                    <a:lnTo>
                      <a:pt x="122" y="0"/>
                    </a:lnTo>
                    <a:close/>
                  </a:path>
                </a:pathLst>
              </a:custGeom>
              <a:solidFill>
                <a:srgbClr val="000000"/>
              </a:solidFill>
              <a:ln w="9525">
                <a:noFill/>
                <a:round/>
              </a:ln>
            </p:spPr>
            <p:txBody>
              <a:bodyPr/>
              <a:lstStyle/>
              <a:p>
                <a:endParaRPr lang="en-US"/>
              </a:p>
            </p:txBody>
          </p:sp>
          <p:sp>
            <p:nvSpPr>
              <p:cNvPr id="1048998" name="Freeform 296"/>
              <p:cNvSpPr/>
              <p:nvPr/>
            </p:nvSpPr>
            <p:spPr bwMode="auto">
              <a:xfrm>
                <a:off x="2121" y="2102"/>
                <a:ext cx="86" cy="38"/>
              </a:xfrm>
              <a:custGeom>
                <a:avLst/>
                <a:gdLst>
                  <a:gd name="T0" fmla="*/ 66 w 173"/>
                  <a:gd name="T1" fmla="*/ 0 h 76"/>
                  <a:gd name="T2" fmla="*/ 71 w 173"/>
                  <a:gd name="T3" fmla="*/ 3 h 76"/>
                  <a:gd name="T4" fmla="*/ 78 w 173"/>
                  <a:gd name="T5" fmla="*/ 7 h 76"/>
                  <a:gd name="T6" fmla="*/ 84 w 173"/>
                  <a:gd name="T7" fmla="*/ 11 h 76"/>
                  <a:gd name="T8" fmla="*/ 84 w 173"/>
                  <a:gd name="T9" fmla="*/ 14 h 76"/>
                  <a:gd name="T10" fmla="*/ 78 w 173"/>
                  <a:gd name="T11" fmla="*/ 15 h 76"/>
                  <a:gd name="T12" fmla="*/ 72 w 173"/>
                  <a:gd name="T13" fmla="*/ 17 h 76"/>
                  <a:gd name="T14" fmla="*/ 66 w 173"/>
                  <a:gd name="T15" fmla="*/ 17 h 76"/>
                  <a:gd name="T16" fmla="*/ 61 w 173"/>
                  <a:gd name="T17" fmla="*/ 19 h 76"/>
                  <a:gd name="T18" fmla="*/ 56 w 173"/>
                  <a:gd name="T19" fmla="*/ 21 h 76"/>
                  <a:gd name="T20" fmla="*/ 50 w 173"/>
                  <a:gd name="T21" fmla="*/ 22 h 76"/>
                  <a:gd name="T22" fmla="*/ 45 w 173"/>
                  <a:gd name="T23" fmla="*/ 24 h 76"/>
                  <a:gd name="T24" fmla="*/ 40 w 173"/>
                  <a:gd name="T25" fmla="*/ 26 h 76"/>
                  <a:gd name="T26" fmla="*/ 34 w 173"/>
                  <a:gd name="T27" fmla="*/ 27 h 76"/>
                  <a:gd name="T28" fmla="*/ 28 w 173"/>
                  <a:gd name="T29" fmla="*/ 28 h 76"/>
                  <a:gd name="T30" fmla="*/ 24 w 173"/>
                  <a:gd name="T31" fmla="*/ 30 h 76"/>
                  <a:gd name="T32" fmla="*/ 19 w 173"/>
                  <a:gd name="T33" fmla="*/ 33 h 76"/>
                  <a:gd name="T34" fmla="*/ 13 w 173"/>
                  <a:gd name="T35" fmla="*/ 35 h 76"/>
                  <a:gd name="T36" fmla="*/ 8 w 173"/>
                  <a:gd name="T37" fmla="*/ 36 h 76"/>
                  <a:gd name="T38" fmla="*/ 3 w 173"/>
                  <a:gd name="T39" fmla="*/ 37 h 76"/>
                  <a:gd name="T40" fmla="*/ 0 w 173"/>
                  <a:gd name="T41" fmla="*/ 36 h 76"/>
                  <a:gd name="T42" fmla="*/ 0 w 173"/>
                  <a:gd name="T43" fmla="*/ 29 h 76"/>
                  <a:gd name="T44" fmla="*/ 3 w 173"/>
                  <a:gd name="T45" fmla="*/ 23 h 76"/>
                  <a:gd name="T46" fmla="*/ 9 w 173"/>
                  <a:gd name="T47" fmla="*/ 17 h 76"/>
                  <a:gd name="T48" fmla="*/ 16 w 173"/>
                  <a:gd name="T49" fmla="*/ 12 h 76"/>
                  <a:gd name="T50" fmla="*/ 21 w 173"/>
                  <a:gd name="T51" fmla="*/ 11 h 76"/>
                  <a:gd name="T52" fmla="*/ 27 w 173"/>
                  <a:gd name="T53" fmla="*/ 10 h 76"/>
                  <a:gd name="T54" fmla="*/ 31 w 173"/>
                  <a:gd name="T55" fmla="*/ 9 h 76"/>
                  <a:gd name="T56" fmla="*/ 37 w 173"/>
                  <a:gd name="T57" fmla="*/ 6 h 76"/>
                  <a:gd name="T58" fmla="*/ 43 w 173"/>
                  <a:gd name="T59" fmla="*/ 6 h 76"/>
                  <a:gd name="T60" fmla="*/ 47 w 173"/>
                  <a:gd name="T61" fmla="*/ 5 h 76"/>
                  <a:gd name="T62" fmla="*/ 53 w 173"/>
                  <a:gd name="T63" fmla="*/ 4 h 76"/>
                  <a:gd name="T64" fmla="*/ 58 w 173"/>
                  <a:gd name="T65" fmla="*/ 3 h 76"/>
                  <a:gd name="T66" fmla="*/ 63 w 173"/>
                  <a:gd name="T67" fmla="*/ 1 h 76"/>
                  <a:gd name="T68" fmla="*/ 65 w 173"/>
                  <a:gd name="T69" fmla="*/ 0 h 7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173"/>
                  <a:gd name="T106" fmla="*/ 0 h 76"/>
                  <a:gd name="T107" fmla="*/ 173 w 173"/>
                  <a:gd name="T108" fmla="*/ 76 h 76"/>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173" h="76">
                    <a:moveTo>
                      <a:pt x="130" y="0"/>
                    </a:moveTo>
                    <a:lnTo>
                      <a:pt x="133" y="0"/>
                    </a:lnTo>
                    <a:lnTo>
                      <a:pt x="139" y="2"/>
                    </a:lnTo>
                    <a:lnTo>
                      <a:pt x="143" y="6"/>
                    </a:lnTo>
                    <a:lnTo>
                      <a:pt x="150" y="10"/>
                    </a:lnTo>
                    <a:lnTo>
                      <a:pt x="156" y="15"/>
                    </a:lnTo>
                    <a:lnTo>
                      <a:pt x="164" y="19"/>
                    </a:lnTo>
                    <a:lnTo>
                      <a:pt x="168" y="23"/>
                    </a:lnTo>
                    <a:lnTo>
                      <a:pt x="173" y="29"/>
                    </a:lnTo>
                    <a:lnTo>
                      <a:pt x="168" y="29"/>
                    </a:lnTo>
                    <a:lnTo>
                      <a:pt x="162" y="29"/>
                    </a:lnTo>
                    <a:lnTo>
                      <a:pt x="156" y="31"/>
                    </a:lnTo>
                    <a:lnTo>
                      <a:pt x="150" y="31"/>
                    </a:lnTo>
                    <a:lnTo>
                      <a:pt x="145" y="33"/>
                    </a:lnTo>
                    <a:lnTo>
                      <a:pt x="139" y="34"/>
                    </a:lnTo>
                    <a:lnTo>
                      <a:pt x="133" y="34"/>
                    </a:lnTo>
                    <a:lnTo>
                      <a:pt x="128" y="36"/>
                    </a:lnTo>
                    <a:lnTo>
                      <a:pt x="122" y="38"/>
                    </a:lnTo>
                    <a:lnTo>
                      <a:pt x="116" y="40"/>
                    </a:lnTo>
                    <a:lnTo>
                      <a:pt x="112" y="42"/>
                    </a:lnTo>
                    <a:lnTo>
                      <a:pt x="107" y="44"/>
                    </a:lnTo>
                    <a:lnTo>
                      <a:pt x="101" y="44"/>
                    </a:lnTo>
                    <a:lnTo>
                      <a:pt x="95" y="48"/>
                    </a:lnTo>
                    <a:lnTo>
                      <a:pt x="90" y="48"/>
                    </a:lnTo>
                    <a:lnTo>
                      <a:pt x="86" y="50"/>
                    </a:lnTo>
                    <a:lnTo>
                      <a:pt x="80" y="52"/>
                    </a:lnTo>
                    <a:lnTo>
                      <a:pt x="74" y="53"/>
                    </a:lnTo>
                    <a:lnTo>
                      <a:pt x="69" y="55"/>
                    </a:lnTo>
                    <a:lnTo>
                      <a:pt x="63" y="57"/>
                    </a:lnTo>
                    <a:lnTo>
                      <a:pt x="57" y="57"/>
                    </a:lnTo>
                    <a:lnTo>
                      <a:pt x="54" y="61"/>
                    </a:lnTo>
                    <a:lnTo>
                      <a:pt x="48" y="61"/>
                    </a:lnTo>
                    <a:lnTo>
                      <a:pt x="44" y="65"/>
                    </a:lnTo>
                    <a:lnTo>
                      <a:pt x="38" y="65"/>
                    </a:lnTo>
                    <a:lnTo>
                      <a:pt x="33" y="67"/>
                    </a:lnTo>
                    <a:lnTo>
                      <a:pt x="27" y="69"/>
                    </a:lnTo>
                    <a:lnTo>
                      <a:pt x="21" y="71"/>
                    </a:lnTo>
                    <a:lnTo>
                      <a:pt x="16" y="71"/>
                    </a:lnTo>
                    <a:lnTo>
                      <a:pt x="12" y="72"/>
                    </a:lnTo>
                    <a:lnTo>
                      <a:pt x="6" y="74"/>
                    </a:lnTo>
                    <a:lnTo>
                      <a:pt x="2" y="76"/>
                    </a:lnTo>
                    <a:lnTo>
                      <a:pt x="0" y="71"/>
                    </a:lnTo>
                    <a:lnTo>
                      <a:pt x="0" y="65"/>
                    </a:lnTo>
                    <a:lnTo>
                      <a:pt x="0" y="59"/>
                    </a:lnTo>
                    <a:lnTo>
                      <a:pt x="2" y="53"/>
                    </a:lnTo>
                    <a:lnTo>
                      <a:pt x="6" y="46"/>
                    </a:lnTo>
                    <a:lnTo>
                      <a:pt x="14" y="40"/>
                    </a:lnTo>
                    <a:lnTo>
                      <a:pt x="19" y="33"/>
                    </a:lnTo>
                    <a:lnTo>
                      <a:pt x="29" y="29"/>
                    </a:lnTo>
                    <a:lnTo>
                      <a:pt x="33" y="25"/>
                    </a:lnTo>
                    <a:lnTo>
                      <a:pt x="36" y="25"/>
                    </a:lnTo>
                    <a:lnTo>
                      <a:pt x="42" y="23"/>
                    </a:lnTo>
                    <a:lnTo>
                      <a:pt x="48" y="21"/>
                    </a:lnTo>
                    <a:lnTo>
                      <a:pt x="54" y="19"/>
                    </a:lnTo>
                    <a:lnTo>
                      <a:pt x="57" y="17"/>
                    </a:lnTo>
                    <a:lnTo>
                      <a:pt x="63" y="17"/>
                    </a:lnTo>
                    <a:lnTo>
                      <a:pt x="69" y="15"/>
                    </a:lnTo>
                    <a:lnTo>
                      <a:pt x="74" y="13"/>
                    </a:lnTo>
                    <a:lnTo>
                      <a:pt x="80" y="13"/>
                    </a:lnTo>
                    <a:lnTo>
                      <a:pt x="86" y="12"/>
                    </a:lnTo>
                    <a:lnTo>
                      <a:pt x="92" y="12"/>
                    </a:lnTo>
                    <a:lnTo>
                      <a:pt x="95" y="10"/>
                    </a:lnTo>
                    <a:lnTo>
                      <a:pt x="101" y="10"/>
                    </a:lnTo>
                    <a:lnTo>
                      <a:pt x="107" y="8"/>
                    </a:lnTo>
                    <a:lnTo>
                      <a:pt x="112" y="8"/>
                    </a:lnTo>
                    <a:lnTo>
                      <a:pt x="116" y="6"/>
                    </a:lnTo>
                    <a:lnTo>
                      <a:pt x="120" y="4"/>
                    </a:lnTo>
                    <a:lnTo>
                      <a:pt x="126" y="2"/>
                    </a:lnTo>
                    <a:lnTo>
                      <a:pt x="130" y="0"/>
                    </a:lnTo>
                    <a:close/>
                  </a:path>
                </a:pathLst>
              </a:custGeom>
              <a:solidFill>
                <a:srgbClr val="000000"/>
              </a:solidFill>
              <a:ln w="9525">
                <a:noFill/>
                <a:round/>
              </a:ln>
            </p:spPr>
            <p:txBody>
              <a:bodyPr/>
              <a:lstStyle/>
              <a:p>
                <a:endParaRPr lang="en-US"/>
              </a:p>
            </p:txBody>
          </p:sp>
          <p:sp>
            <p:nvSpPr>
              <p:cNvPr id="1048999" name="Freeform 297"/>
              <p:cNvSpPr/>
              <p:nvPr/>
            </p:nvSpPr>
            <p:spPr bwMode="auto">
              <a:xfrm>
                <a:off x="2270" y="2181"/>
                <a:ext cx="37" cy="138"/>
              </a:xfrm>
              <a:custGeom>
                <a:avLst/>
                <a:gdLst>
                  <a:gd name="T0" fmla="*/ 14 w 74"/>
                  <a:gd name="T1" fmla="*/ 3 h 278"/>
                  <a:gd name="T2" fmla="*/ 18 w 74"/>
                  <a:gd name="T3" fmla="*/ 9 h 278"/>
                  <a:gd name="T4" fmla="*/ 20 w 74"/>
                  <a:gd name="T5" fmla="*/ 17 h 278"/>
                  <a:gd name="T6" fmla="*/ 22 w 74"/>
                  <a:gd name="T7" fmla="*/ 24 h 278"/>
                  <a:gd name="T8" fmla="*/ 22 w 74"/>
                  <a:gd name="T9" fmla="*/ 32 h 278"/>
                  <a:gd name="T10" fmla="*/ 21 w 74"/>
                  <a:gd name="T11" fmla="*/ 41 h 278"/>
                  <a:gd name="T12" fmla="*/ 20 w 74"/>
                  <a:gd name="T13" fmla="*/ 49 h 278"/>
                  <a:gd name="T14" fmla="*/ 19 w 74"/>
                  <a:gd name="T15" fmla="*/ 58 h 278"/>
                  <a:gd name="T16" fmla="*/ 18 w 74"/>
                  <a:gd name="T17" fmla="*/ 66 h 278"/>
                  <a:gd name="T18" fmla="*/ 16 w 74"/>
                  <a:gd name="T19" fmla="*/ 74 h 278"/>
                  <a:gd name="T20" fmla="*/ 16 w 74"/>
                  <a:gd name="T21" fmla="*/ 83 h 278"/>
                  <a:gd name="T22" fmla="*/ 16 w 74"/>
                  <a:gd name="T23" fmla="*/ 91 h 278"/>
                  <a:gd name="T24" fmla="*/ 17 w 74"/>
                  <a:gd name="T25" fmla="*/ 99 h 278"/>
                  <a:gd name="T26" fmla="*/ 19 w 74"/>
                  <a:gd name="T27" fmla="*/ 106 h 278"/>
                  <a:gd name="T28" fmla="*/ 22 w 74"/>
                  <a:gd name="T29" fmla="*/ 113 h 278"/>
                  <a:gd name="T30" fmla="*/ 28 w 74"/>
                  <a:gd name="T31" fmla="*/ 120 h 278"/>
                  <a:gd name="T32" fmla="*/ 33 w 74"/>
                  <a:gd name="T33" fmla="*/ 127 h 278"/>
                  <a:gd name="T34" fmla="*/ 35 w 74"/>
                  <a:gd name="T35" fmla="*/ 134 h 278"/>
                  <a:gd name="T36" fmla="*/ 32 w 74"/>
                  <a:gd name="T37" fmla="*/ 137 h 278"/>
                  <a:gd name="T38" fmla="*/ 24 w 74"/>
                  <a:gd name="T39" fmla="*/ 135 h 278"/>
                  <a:gd name="T40" fmla="*/ 19 w 74"/>
                  <a:gd name="T41" fmla="*/ 132 h 278"/>
                  <a:gd name="T42" fmla="*/ 14 w 74"/>
                  <a:gd name="T43" fmla="*/ 128 h 278"/>
                  <a:gd name="T44" fmla="*/ 9 w 74"/>
                  <a:gd name="T45" fmla="*/ 123 h 278"/>
                  <a:gd name="T46" fmla="*/ 6 w 74"/>
                  <a:gd name="T47" fmla="*/ 117 h 278"/>
                  <a:gd name="T48" fmla="*/ 3 w 74"/>
                  <a:gd name="T49" fmla="*/ 110 h 278"/>
                  <a:gd name="T50" fmla="*/ 2 w 74"/>
                  <a:gd name="T51" fmla="*/ 103 h 278"/>
                  <a:gd name="T52" fmla="*/ 1 w 74"/>
                  <a:gd name="T53" fmla="*/ 95 h 278"/>
                  <a:gd name="T54" fmla="*/ 0 w 74"/>
                  <a:gd name="T55" fmla="*/ 87 h 278"/>
                  <a:gd name="T56" fmla="*/ 0 w 74"/>
                  <a:gd name="T57" fmla="*/ 78 h 278"/>
                  <a:gd name="T58" fmla="*/ 0 w 74"/>
                  <a:gd name="T59" fmla="*/ 70 h 278"/>
                  <a:gd name="T60" fmla="*/ 1 w 74"/>
                  <a:gd name="T61" fmla="*/ 63 h 278"/>
                  <a:gd name="T62" fmla="*/ 1 w 74"/>
                  <a:gd name="T63" fmla="*/ 55 h 278"/>
                  <a:gd name="T64" fmla="*/ 2 w 74"/>
                  <a:gd name="T65" fmla="*/ 47 h 278"/>
                  <a:gd name="T66" fmla="*/ 2 w 74"/>
                  <a:gd name="T67" fmla="*/ 42 h 278"/>
                  <a:gd name="T68" fmla="*/ 3 w 74"/>
                  <a:gd name="T69" fmla="*/ 36 h 278"/>
                  <a:gd name="T70" fmla="*/ 5 w 74"/>
                  <a:gd name="T71" fmla="*/ 31 h 278"/>
                  <a:gd name="T72" fmla="*/ 5 w 74"/>
                  <a:gd name="T73" fmla="*/ 25 h 278"/>
                  <a:gd name="T74" fmla="*/ 6 w 74"/>
                  <a:gd name="T75" fmla="*/ 20 h 278"/>
                  <a:gd name="T76" fmla="*/ 9 w 74"/>
                  <a:gd name="T77" fmla="*/ 14 h 278"/>
                  <a:gd name="T78" fmla="*/ 9 w 74"/>
                  <a:gd name="T79" fmla="*/ 8 h 278"/>
                  <a:gd name="T80" fmla="*/ 11 w 74"/>
                  <a:gd name="T81" fmla="*/ 3 h 278"/>
                  <a:gd name="T82" fmla="*/ 12 w 74"/>
                  <a:gd name="T83" fmla="*/ 0 h 278"/>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74"/>
                  <a:gd name="T127" fmla="*/ 0 h 278"/>
                  <a:gd name="T128" fmla="*/ 74 w 74"/>
                  <a:gd name="T129" fmla="*/ 278 h 278"/>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74" h="278">
                    <a:moveTo>
                      <a:pt x="25" y="0"/>
                    </a:moveTo>
                    <a:lnTo>
                      <a:pt x="28" y="6"/>
                    </a:lnTo>
                    <a:lnTo>
                      <a:pt x="32" y="13"/>
                    </a:lnTo>
                    <a:lnTo>
                      <a:pt x="36" y="19"/>
                    </a:lnTo>
                    <a:lnTo>
                      <a:pt x="38" y="29"/>
                    </a:lnTo>
                    <a:lnTo>
                      <a:pt x="40" y="34"/>
                    </a:lnTo>
                    <a:lnTo>
                      <a:pt x="42" y="42"/>
                    </a:lnTo>
                    <a:lnTo>
                      <a:pt x="44" y="49"/>
                    </a:lnTo>
                    <a:lnTo>
                      <a:pt x="44" y="59"/>
                    </a:lnTo>
                    <a:lnTo>
                      <a:pt x="44" y="65"/>
                    </a:lnTo>
                    <a:lnTo>
                      <a:pt x="44" y="74"/>
                    </a:lnTo>
                    <a:lnTo>
                      <a:pt x="42" y="82"/>
                    </a:lnTo>
                    <a:lnTo>
                      <a:pt x="42" y="89"/>
                    </a:lnTo>
                    <a:lnTo>
                      <a:pt x="40" y="99"/>
                    </a:lnTo>
                    <a:lnTo>
                      <a:pt x="40" y="108"/>
                    </a:lnTo>
                    <a:lnTo>
                      <a:pt x="38" y="116"/>
                    </a:lnTo>
                    <a:lnTo>
                      <a:pt x="38" y="126"/>
                    </a:lnTo>
                    <a:lnTo>
                      <a:pt x="36" y="133"/>
                    </a:lnTo>
                    <a:lnTo>
                      <a:pt x="34" y="141"/>
                    </a:lnTo>
                    <a:lnTo>
                      <a:pt x="32" y="150"/>
                    </a:lnTo>
                    <a:lnTo>
                      <a:pt x="32" y="158"/>
                    </a:lnTo>
                    <a:lnTo>
                      <a:pt x="32" y="167"/>
                    </a:lnTo>
                    <a:lnTo>
                      <a:pt x="32" y="175"/>
                    </a:lnTo>
                    <a:lnTo>
                      <a:pt x="32" y="183"/>
                    </a:lnTo>
                    <a:lnTo>
                      <a:pt x="34" y="192"/>
                    </a:lnTo>
                    <a:lnTo>
                      <a:pt x="34" y="200"/>
                    </a:lnTo>
                    <a:lnTo>
                      <a:pt x="36" y="205"/>
                    </a:lnTo>
                    <a:lnTo>
                      <a:pt x="38" y="213"/>
                    </a:lnTo>
                    <a:lnTo>
                      <a:pt x="44" y="222"/>
                    </a:lnTo>
                    <a:lnTo>
                      <a:pt x="45" y="228"/>
                    </a:lnTo>
                    <a:lnTo>
                      <a:pt x="51" y="236"/>
                    </a:lnTo>
                    <a:lnTo>
                      <a:pt x="57" y="241"/>
                    </a:lnTo>
                    <a:lnTo>
                      <a:pt x="64" y="249"/>
                    </a:lnTo>
                    <a:lnTo>
                      <a:pt x="66" y="255"/>
                    </a:lnTo>
                    <a:lnTo>
                      <a:pt x="68" y="262"/>
                    </a:lnTo>
                    <a:lnTo>
                      <a:pt x="70" y="270"/>
                    </a:lnTo>
                    <a:lnTo>
                      <a:pt x="74" y="278"/>
                    </a:lnTo>
                    <a:lnTo>
                      <a:pt x="64" y="276"/>
                    </a:lnTo>
                    <a:lnTo>
                      <a:pt x="57" y="276"/>
                    </a:lnTo>
                    <a:lnTo>
                      <a:pt x="49" y="272"/>
                    </a:lnTo>
                    <a:lnTo>
                      <a:pt x="44" y="270"/>
                    </a:lnTo>
                    <a:lnTo>
                      <a:pt x="38" y="266"/>
                    </a:lnTo>
                    <a:lnTo>
                      <a:pt x="32" y="262"/>
                    </a:lnTo>
                    <a:lnTo>
                      <a:pt x="28" y="257"/>
                    </a:lnTo>
                    <a:lnTo>
                      <a:pt x="25" y="253"/>
                    </a:lnTo>
                    <a:lnTo>
                      <a:pt x="19" y="247"/>
                    </a:lnTo>
                    <a:lnTo>
                      <a:pt x="15" y="241"/>
                    </a:lnTo>
                    <a:lnTo>
                      <a:pt x="13" y="236"/>
                    </a:lnTo>
                    <a:lnTo>
                      <a:pt x="9" y="228"/>
                    </a:lnTo>
                    <a:lnTo>
                      <a:pt x="7" y="222"/>
                    </a:lnTo>
                    <a:lnTo>
                      <a:pt x="5" y="215"/>
                    </a:lnTo>
                    <a:lnTo>
                      <a:pt x="4" y="207"/>
                    </a:lnTo>
                    <a:lnTo>
                      <a:pt x="4" y="200"/>
                    </a:lnTo>
                    <a:lnTo>
                      <a:pt x="2" y="192"/>
                    </a:lnTo>
                    <a:lnTo>
                      <a:pt x="2" y="183"/>
                    </a:lnTo>
                    <a:lnTo>
                      <a:pt x="0" y="175"/>
                    </a:lnTo>
                    <a:lnTo>
                      <a:pt x="0" y="167"/>
                    </a:lnTo>
                    <a:lnTo>
                      <a:pt x="0" y="158"/>
                    </a:lnTo>
                    <a:lnTo>
                      <a:pt x="0" y="150"/>
                    </a:lnTo>
                    <a:lnTo>
                      <a:pt x="0" y="141"/>
                    </a:lnTo>
                    <a:lnTo>
                      <a:pt x="2" y="133"/>
                    </a:lnTo>
                    <a:lnTo>
                      <a:pt x="2" y="126"/>
                    </a:lnTo>
                    <a:lnTo>
                      <a:pt x="2" y="116"/>
                    </a:lnTo>
                    <a:lnTo>
                      <a:pt x="2" y="110"/>
                    </a:lnTo>
                    <a:lnTo>
                      <a:pt x="2" y="103"/>
                    </a:lnTo>
                    <a:lnTo>
                      <a:pt x="4" y="95"/>
                    </a:lnTo>
                    <a:lnTo>
                      <a:pt x="5" y="87"/>
                    </a:lnTo>
                    <a:lnTo>
                      <a:pt x="5" y="84"/>
                    </a:lnTo>
                    <a:lnTo>
                      <a:pt x="7" y="78"/>
                    </a:lnTo>
                    <a:lnTo>
                      <a:pt x="7" y="72"/>
                    </a:lnTo>
                    <a:lnTo>
                      <a:pt x="7" y="68"/>
                    </a:lnTo>
                    <a:lnTo>
                      <a:pt x="9" y="63"/>
                    </a:lnTo>
                    <a:lnTo>
                      <a:pt x="9" y="59"/>
                    </a:lnTo>
                    <a:lnTo>
                      <a:pt x="11" y="51"/>
                    </a:lnTo>
                    <a:lnTo>
                      <a:pt x="13" y="46"/>
                    </a:lnTo>
                    <a:lnTo>
                      <a:pt x="13" y="40"/>
                    </a:lnTo>
                    <a:lnTo>
                      <a:pt x="15" y="34"/>
                    </a:lnTo>
                    <a:lnTo>
                      <a:pt x="17" y="29"/>
                    </a:lnTo>
                    <a:lnTo>
                      <a:pt x="17" y="23"/>
                    </a:lnTo>
                    <a:lnTo>
                      <a:pt x="19" y="17"/>
                    </a:lnTo>
                    <a:lnTo>
                      <a:pt x="21" y="13"/>
                    </a:lnTo>
                    <a:lnTo>
                      <a:pt x="23" y="6"/>
                    </a:lnTo>
                    <a:lnTo>
                      <a:pt x="25" y="0"/>
                    </a:lnTo>
                    <a:close/>
                  </a:path>
                </a:pathLst>
              </a:custGeom>
              <a:solidFill>
                <a:srgbClr val="000000"/>
              </a:solidFill>
              <a:ln w="9525">
                <a:noFill/>
                <a:round/>
              </a:ln>
            </p:spPr>
            <p:txBody>
              <a:bodyPr/>
              <a:lstStyle/>
              <a:p>
                <a:endParaRPr lang="en-US"/>
              </a:p>
            </p:txBody>
          </p:sp>
          <p:sp>
            <p:nvSpPr>
              <p:cNvPr id="1049000" name="Freeform 298"/>
              <p:cNvSpPr/>
              <p:nvPr/>
            </p:nvSpPr>
            <p:spPr bwMode="auto">
              <a:xfrm>
                <a:off x="1873" y="2459"/>
                <a:ext cx="82" cy="88"/>
              </a:xfrm>
              <a:custGeom>
                <a:avLst/>
                <a:gdLst>
                  <a:gd name="T0" fmla="*/ 0 w 163"/>
                  <a:gd name="T1" fmla="*/ 0 h 177"/>
                  <a:gd name="T2" fmla="*/ 82 w 163"/>
                  <a:gd name="T3" fmla="*/ 28 h 177"/>
                  <a:gd name="T4" fmla="*/ 75 w 163"/>
                  <a:gd name="T5" fmla="*/ 88 h 177"/>
                  <a:gd name="T6" fmla="*/ 0 w 163"/>
                  <a:gd name="T7" fmla="*/ 17 h 177"/>
                  <a:gd name="T8" fmla="*/ 0 w 163"/>
                  <a:gd name="T9" fmla="*/ 0 h 177"/>
                  <a:gd name="T10" fmla="*/ 0 w 163"/>
                  <a:gd name="T11" fmla="*/ 0 h 177"/>
                  <a:gd name="T12" fmla="*/ 0 60000 65536"/>
                  <a:gd name="T13" fmla="*/ 0 60000 65536"/>
                  <a:gd name="T14" fmla="*/ 0 60000 65536"/>
                  <a:gd name="T15" fmla="*/ 0 60000 65536"/>
                  <a:gd name="T16" fmla="*/ 0 60000 65536"/>
                  <a:gd name="T17" fmla="*/ 0 60000 65536"/>
                  <a:gd name="T18" fmla="*/ 0 w 163"/>
                  <a:gd name="T19" fmla="*/ 0 h 177"/>
                  <a:gd name="T20" fmla="*/ 163 w 163"/>
                  <a:gd name="T21" fmla="*/ 177 h 177"/>
                </a:gdLst>
                <a:ahLst/>
                <a:cxnLst>
                  <a:cxn ang="T12">
                    <a:pos x="T0" y="T1"/>
                  </a:cxn>
                  <a:cxn ang="T13">
                    <a:pos x="T2" y="T3"/>
                  </a:cxn>
                  <a:cxn ang="T14">
                    <a:pos x="T4" y="T5"/>
                  </a:cxn>
                  <a:cxn ang="T15">
                    <a:pos x="T6" y="T7"/>
                  </a:cxn>
                  <a:cxn ang="T16">
                    <a:pos x="T8" y="T9"/>
                  </a:cxn>
                  <a:cxn ang="T17">
                    <a:pos x="T10" y="T11"/>
                  </a:cxn>
                </a:cxnLst>
                <a:rect l="T18" t="T19" r="T20" b="T21"/>
                <a:pathLst>
                  <a:path w="163" h="177">
                    <a:moveTo>
                      <a:pt x="0" y="0"/>
                    </a:moveTo>
                    <a:lnTo>
                      <a:pt x="163" y="57"/>
                    </a:lnTo>
                    <a:lnTo>
                      <a:pt x="150" y="177"/>
                    </a:lnTo>
                    <a:lnTo>
                      <a:pt x="0" y="34"/>
                    </a:lnTo>
                    <a:lnTo>
                      <a:pt x="0" y="0"/>
                    </a:lnTo>
                    <a:close/>
                  </a:path>
                </a:pathLst>
              </a:custGeom>
              <a:solidFill>
                <a:srgbClr val="FFFFFF"/>
              </a:solidFill>
              <a:ln w="9525">
                <a:noFill/>
                <a:round/>
              </a:ln>
            </p:spPr>
            <p:txBody>
              <a:bodyPr/>
              <a:lstStyle/>
              <a:p>
                <a:endParaRPr lang="en-US"/>
              </a:p>
            </p:txBody>
          </p:sp>
          <p:sp>
            <p:nvSpPr>
              <p:cNvPr id="1049001" name="Freeform 299"/>
              <p:cNvSpPr/>
              <p:nvPr/>
            </p:nvSpPr>
            <p:spPr bwMode="auto">
              <a:xfrm>
                <a:off x="2180" y="2219"/>
                <a:ext cx="62" cy="155"/>
              </a:xfrm>
              <a:custGeom>
                <a:avLst/>
                <a:gdLst>
                  <a:gd name="T0" fmla="*/ 9 w 126"/>
                  <a:gd name="T1" fmla="*/ 0 h 310"/>
                  <a:gd name="T2" fmla="*/ 16 w 126"/>
                  <a:gd name="T3" fmla="*/ 2 h 310"/>
                  <a:gd name="T4" fmla="*/ 23 w 126"/>
                  <a:gd name="T5" fmla="*/ 4 h 310"/>
                  <a:gd name="T6" fmla="*/ 27 w 126"/>
                  <a:gd name="T7" fmla="*/ 5 h 310"/>
                  <a:gd name="T8" fmla="*/ 35 w 126"/>
                  <a:gd name="T9" fmla="*/ 9 h 310"/>
                  <a:gd name="T10" fmla="*/ 43 w 126"/>
                  <a:gd name="T11" fmla="*/ 14 h 310"/>
                  <a:gd name="T12" fmla="*/ 50 w 126"/>
                  <a:gd name="T13" fmla="*/ 20 h 310"/>
                  <a:gd name="T14" fmla="*/ 54 w 126"/>
                  <a:gd name="T15" fmla="*/ 25 h 310"/>
                  <a:gd name="T16" fmla="*/ 58 w 126"/>
                  <a:gd name="T17" fmla="*/ 34 h 310"/>
                  <a:gd name="T18" fmla="*/ 61 w 126"/>
                  <a:gd name="T19" fmla="*/ 41 h 310"/>
                  <a:gd name="T20" fmla="*/ 58 w 126"/>
                  <a:gd name="T21" fmla="*/ 155 h 310"/>
                  <a:gd name="T22" fmla="*/ 52 w 126"/>
                  <a:gd name="T23" fmla="*/ 147 h 310"/>
                  <a:gd name="T24" fmla="*/ 48 w 126"/>
                  <a:gd name="T25" fmla="*/ 139 h 310"/>
                  <a:gd name="T26" fmla="*/ 44 w 126"/>
                  <a:gd name="T27" fmla="*/ 130 h 310"/>
                  <a:gd name="T28" fmla="*/ 42 w 126"/>
                  <a:gd name="T29" fmla="*/ 120 h 310"/>
                  <a:gd name="T30" fmla="*/ 41 w 126"/>
                  <a:gd name="T31" fmla="*/ 115 h 310"/>
                  <a:gd name="T32" fmla="*/ 41 w 126"/>
                  <a:gd name="T33" fmla="*/ 110 h 310"/>
                  <a:gd name="T34" fmla="*/ 40 w 126"/>
                  <a:gd name="T35" fmla="*/ 104 h 310"/>
                  <a:gd name="T36" fmla="*/ 40 w 126"/>
                  <a:gd name="T37" fmla="*/ 100 h 310"/>
                  <a:gd name="T38" fmla="*/ 40 w 126"/>
                  <a:gd name="T39" fmla="*/ 95 h 310"/>
                  <a:gd name="T40" fmla="*/ 40 w 126"/>
                  <a:gd name="T41" fmla="*/ 89 h 310"/>
                  <a:gd name="T42" fmla="*/ 39 w 126"/>
                  <a:gd name="T43" fmla="*/ 80 h 310"/>
                  <a:gd name="T44" fmla="*/ 38 w 126"/>
                  <a:gd name="T45" fmla="*/ 74 h 310"/>
                  <a:gd name="T46" fmla="*/ 38 w 126"/>
                  <a:gd name="T47" fmla="*/ 70 h 310"/>
                  <a:gd name="T48" fmla="*/ 37 w 126"/>
                  <a:gd name="T49" fmla="*/ 60 h 310"/>
                  <a:gd name="T50" fmla="*/ 35 w 126"/>
                  <a:gd name="T51" fmla="*/ 50 h 310"/>
                  <a:gd name="T52" fmla="*/ 33 w 126"/>
                  <a:gd name="T53" fmla="*/ 42 h 310"/>
                  <a:gd name="T54" fmla="*/ 27 w 126"/>
                  <a:gd name="T55" fmla="*/ 34 h 310"/>
                  <a:gd name="T56" fmla="*/ 22 w 126"/>
                  <a:gd name="T57" fmla="*/ 24 h 310"/>
                  <a:gd name="T58" fmla="*/ 14 w 126"/>
                  <a:gd name="T59" fmla="*/ 18 h 310"/>
                  <a:gd name="T60" fmla="*/ 9 w 126"/>
                  <a:gd name="T61" fmla="*/ 15 h 310"/>
                  <a:gd name="T62" fmla="*/ 5 w 126"/>
                  <a:gd name="T63" fmla="*/ 12 h 310"/>
                  <a:gd name="T64" fmla="*/ 1 w 126"/>
                  <a:gd name="T65" fmla="*/ 10 h 310"/>
                  <a:gd name="T66" fmla="*/ 1 w 126"/>
                  <a:gd name="T67" fmla="*/ 6 h 310"/>
                  <a:gd name="T68" fmla="*/ 6 w 126"/>
                  <a:gd name="T69" fmla="*/ 0 h 310"/>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126"/>
                  <a:gd name="T106" fmla="*/ 0 h 310"/>
                  <a:gd name="T107" fmla="*/ 126 w 126"/>
                  <a:gd name="T108" fmla="*/ 310 h 310"/>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126" h="310">
                    <a:moveTo>
                      <a:pt x="12" y="0"/>
                    </a:moveTo>
                    <a:lnTo>
                      <a:pt x="19" y="0"/>
                    </a:lnTo>
                    <a:lnTo>
                      <a:pt x="25" y="2"/>
                    </a:lnTo>
                    <a:lnTo>
                      <a:pt x="32" y="4"/>
                    </a:lnTo>
                    <a:lnTo>
                      <a:pt x="40" y="6"/>
                    </a:lnTo>
                    <a:lnTo>
                      <a:pt x="46" y="8"/>
                    </a:lnTo>
                    <a:lnTo>
                      <a:pt x="50" y="9"/>
                    </a:lnTo>
                    <a:lnTo>
                      <a:pt x="55" y="11"/>
                    </a:lnTo>
                    <a:lnTo>
                      <a:pt x="63" y="13"/>
                    </a:lnTo>
                    <a:lnTo>
                      <a:pt x="72" y="17"/>
                    </a:lnTo>
                    <a:lnTo>
                      <a:pt x="80" y="23"/>
                    </a:lnTo>
                    <a:lnTo>
                      <a:pt x="88" y="28"/>
                    </a:lnTo>
                    <a:lnTo>
                      <a:pt x="97" y="34"/>
                    </a:lnTo>
                    <a:lnTo>
                      <a:pt x="101" y="40"/>
                    </a:lnTo>
                    <a:lnTo>
                      <a:pt x="107" y="46"/>
                    </a:lnTo>
                    <a:lnTo>
                      <a:pt x="110" y="51"/>
                    </a:lnTo>
                    <a:lnTo>
                      <a:pt x="114" y="59"/>
                    </a:lnTo>
                    <a:lnTo>
                      <a:pt x="118" y="67"/>
                    </a:lnTo>
                    <a:lnTo>
                      <a:pt x="120" y="72"/>
                    </a:lnTo>
                    <a:lnTo>
                      <a:pt x="124" y="82"/>
                    </a:lnTo>
                    <a:lnTo>
                      <a:pt x="126" y="89"/>
                    </a:lnTo>
                    <a:lnTo>
                      <a:pt x="118" y="310"/>
                    </a:lnTo>
                    <a:lnTo>
                      <a:pt x="110" y="300"/>
                    </a:lnTo>
                    <a:lnTo>
                      <a:pt x="105" y="293"/>
                    </a:lnTo>
                    <a:lnTo>
                      <a:pt x="99" y="285"/>
                    </a:lnTo>
                    <a:lnTo>
                      <a:pt x="97" y="278"/>
                    </a:lnTo>
                    <a:lnTo>
                      <a:pt x="93" y="268"/>
                    </a:lnTo>
                    <a:lnTo>
                      <a:pt x="90" y="259"/>
                    </a:lnTo>
                    <a:lnTo>
                      <a:pt x="88" y="249"/>
                    </a:lnTo>
                    <a:lnTo>
                      <a:pt x="86" y="240"/>
                    </a:lnTo>
                    <a:lnTo>
                      <a:pt x="86" y="234"/>
                    </a:lnTo>
                    <a:lnTo>
                      <a:pt x="84" y="230"/>
                    </a:lnTo>
                    <a:lnTo>
                      <a:pt x="84" y="224"/>
                    </a:lnTo>
                    <a:lnTo>
                      <a:pt x="84" y="221"/>
                    </a:lnTo>
                    <a:lnTo>
                      <a:pt x="82" y="215"/>
                    </a:lnTo>
                    <a:lnTo>
                      <a:pt x="82" y="209"/>
                    </a:lnTo>
                    <a:lnTo>
                      <a:pt x="82" y="203"/>
                    </a:lnTo>
                    <a:lnTo>
                      <a:pt x="82" y="200"/>
                    </a:lnTo>
                    <a:lnTo>
                      <a:pt x="82" y="194"/>
                    </a:lnTo>
                    <a:lnTo>
                      <a:pt x="82" y="190"/>
                    </a:lnTo>
                    <a:lnTo>
                      <a:pt x="82" y="184"/>
                    </a:lnTo>
                    <a:lnTo>
                      <a:pt x="82" y="179"/>
                    </a:lnTo>
                    <a:lnTo>
                      <a:pt x="80" y="169"/>
                    </a:lnTo>
                    <a:lnTo>
                      <a:pt x="80" y="160"/>
                    </a:lnTo>
                    <a:lnTo>
                      <a:pt x="80" y="154"/>
                    </a:lnTo>
                    <a:lnTo>
                      <a:pt x="78" y="148"/>
                    </a:lnTo>
                    <a:lnTo>
                      <a:pt x="78" y="144"/>
                    </a:lnTo>
                    <a:lnTo>
                      <a:pt x="78" y="139"/>
                    </a:lnTo>
                    <a:lnTo>
                      <a:pt x="76" y="129"/>
                    </a:lnTo>
                    <a:lnTo>
                      <a:pt x="76" y="120"/>
                    </a:lnTo>
                    <a:lnTo>
                      <a:pt x="74" y="110"/>
                    </a:lnTo>
                    <a:lnTo>
                      <a:pt x="72" y="101"/>
                    </a:lnTo>
                    <a:lnTo>
                      <a:pt x="69" y="91"/>
                    </a:lnTo>
                    <a:lnTo>
                      <a:pt x="67" y="84"/>
                    </a:lnTo>
                    <a:lnTo>
                      <a:pt x="61" y="74"/>
                    </a:lnTo>
                    <a:lnTo>
                      <a:pt x="55" y="67"/>
                    </a:lnTo>
                    <a:lnTo>
                      <a:pt x="50" y="57"/>
                    </a:lnTo>
                    <a:lnTo>
                      <a:pt x="44" y="49"/>
                    </a:lnTo>
                    <a:lnTo>
                      <a:pt x="36" y="42"/>
                    </a:lnTo>
                    <a:lnTo>
                      <a:pt x="29" y="36"/>
                    </a:lnTo>
                    <a:lnTo>
                      <a:pt x="23" y="32"/>
                    </a:lnTo>
                    <a:lnTo>
                      <a:pt x="19" y="30"/>
                    </a:lnTo>
                    <a:lnTo>
                      <a:pt x="13" y="27"/>
                    </a:lnTo>
                    <a:lnTo>
                      <a:pt x="10" y="25"/>
                    </a:lnTo>
                    <a:lnTo>
                      <a:pt x="4" y="21"/>
                    </a:lnTo>
                    <a:lnTo>
                      <a:pt x="2" y="19"/>
                    </a:lnTo>
                    <a:lnTo>
                      <a:pt x="0" y="15"/>
                    </a:lnTo>
                    <a:lnTo>
                      <a:pt x="2" y="13"/>
                    </a:lnTo>
                    <a:lnTo>
                      <a:pt x="6" y="6"/>
                    </a:lnTo>
                    <a:lnTo>
                      <a:pt x="12" y="0"/>
                    </a:lnTo>
                    <a:close/>
                  </a:path>
                </a:pathLst>
              </a:custGeom>
              <a:solidFill>
                <a:srgbClr val="000000"/>
              </a:solidFill>
              <a:ln w="9525">
                <a:noFill/>
                <a:round/>
              </a:ln>
            </p:spPr>
            <p:txBody>
              <a:bodyPr/>
              <a:lstStyle/>
              <a:p>
                <a:endParaRPr lang="en-US"/>
              </a:p>
            </p:txBody>
          </p:sp>
          <p:sp>
            <p:nvSpPr>
              <p:cNvPr id="1049002" name="Freeform 300"/>
              <p:cNvSpPr/>
              <p:nvPr/>
            </p:nvSpPr>
            <p:spPr bwMode="auto">
              <a:xfrm>
                <a:off x="2612" y="2132"/>
                <a:ext cx="75" cy="102"/>
              </a:xfrm>
              <a:custGeom>
                <a:avLst/>
                <a:gdLst>
                  <a:gd name="T0" fmla="*/ 9 w 150"/>
                  <a:gd name="T1" fmla="*/ 0 h 203"/>
                  <a:gd name="T2" fmla="*/ 75 w 150"/>
                  <a:gd name="T3" fmla="*/ 84 h 203"/>
                  <a:gd name="T4" fmla="*/ 42 w 150"/>
                  <a:gd name="T5" fmla="*/ 102 h 203"/>
                  <a:gd name="T6" fmla="*/ 0 w 150"/>
                  <a:gd name="T7" fmla="*/ 44 h 203"/>
                  <a:gd name="T8" fmla="*/ 9 w 150"/>
                  <a:gd name="T9" fmla="*/ 0 h 203"/>
                  <a:gd name="T10" fmla="*/ 9 w 150"/>
                  <a:gd name="T11" fmla="*/ 0 h 203"/>
                  <a:gd name="T12" fmla="*/ 0 60000 65536"/>
                  <a:gd name="T13" fmla="*/ 0 60000 65536"/>
                  <a:gd name="T14" fmla="*/ 0 60000 65536"/>
                  <a:gd name="T15" fmla="*/ 0 60000 65536"/>
                  <a:gd name="T16" fmla="*/ 0 60000 65536"/>
                  <a:gd name="T17" fmla="*/ 0 60000 65536"/>
                  <a:gd name="T18" fmla="*/ 0 w 150"/>
                  <a:gd name="T19" fmla="*/ 0 h 203"/>
                  <a:gd name="T20" fmla="*/ 150 w 150"/>
                  <a:gd name="T21" fmla="*/ 203 h 203"/>
                </a:gdLst>
                <a:ahLst/>
                <a:cxnLst>
                  <a:cxn ang="T12">
                    <a:pos x="T0" y="T1"/>
                  </a:cxn>
                  <a:cxn ang="T13">
                    <a:pos x="T2" y="T3"/>
                  </a:cxn>
                  <a:cxn ang="T14">
                    <a:pos x="T4" y="T5"/>
                  </a:cxn>
                  <a:cxn ang="T15">
                    <a:pos x="T6" y="T7"/>
                  </a:cxn>
                  <a:cxn ang="T16">
                    <a:pos x="T8" y="T9"/>
                  </a:cxn>
                  <a:cxn ang="T17">
                    <a:pos x="T10" y="T11"/>
                  </a:cxn>
                </a:cxnLst>
                <a:rect l="T18" t="T19" r="T20" b="T21"/>
                <a:pathLst>
                  <a:path w="150" h="203">
                    <a:moveTo>
                      <a:pt x="17" y="0"/>
                    </a:moveTo>
                    <a:lnTo>
                      <a:pt x="150" y="167"/>
                    </a:lnTo>
                    <a:lnTo>
                      <a:pt x="84" y="203"/>
                    </a:lnTo>
                    <a:lnTo>
                      <a:pt x="0" y="88"/>
                    </a:lnTo>
                    <a:lnTo>
                      <a:pt x="17" y="0"/>
                    </a:lnTo>
                    <a:close/>
                  </a:path>
                </a:pathLst>
              </a:custGeom>
              <a:solidFill>
                <a:srgbClr val="FFFFFF"/>
              </a:solidFill>
              <a:ln w="9525">
                <a:noFill/>
                <a:round/>
              </a:ln>
            </p:spPr>
            <p:txBody>
              <a:bodyPr/>
              <a:lstStyle/>
              <a:p>
                <a:endParaRPr lang="en-US"/>
              </a:p>
            </p:txBody>
          </p:sp>
          <p:sp>
            <p:nvSpPr>
              <p:cNvPr id="1049003" name="Freeform 301"/>
              <p:cNvSpPr/>
              <p:nvPr/>
            </p:nvSpPr>
            <p:spPr bwMode="auto">
              <a:xfrm>
                <a:off x="2546" y="2606"/>
                <a:ext cx="88" cy="195"/>
              </a:xfrm>
              <a:custGeom>
                <a:avLst/>
                <a:gdLst>
                  <a:gd name="T0" fmla="*/ 88 w 177"/>
                  <a:gd name="T1" fmla="*/ 195 h 390"/>
                  <a:gd name="T2" fmla="*/ 81 w 177"/>
                  <a:gd name="T3" fmla="*/ 194 h 390"/>
                  <a:gd name="T4" fmla="*/ 75 w 177"/>
                  <a:gd name="T5" fmla="*/ 192 h 390"/>
                  <a:gd name="T6" fmla="*/ 69 w 177"/>
                  <a:gd name="T7" fmla="*/ 189 h 390"/>
                  <a:gd name="T8" fmla="*/ 64 w 177"/>
                  <a:gd name="T9" fmla="*/ 187 h 390"/>
                  <a:gd name="T10" fmla="*/ 59 w 177"/>
                  <a:gd name="T11" fmla="*/ 182 h 390"/>
                  <a:gd name="T12" fmla="*/ 53 w 177"/>
                  <a:gd name="T13" fmla="*/ 178 h 390"/>
                  <a:gd name="T14" fmla="*/ 48 w 177"/>
                  <a:gd name="T15" fmla="*/ 172 h 390"/>
                  <a:gd name="T16" fmla="*/ 45 w 177"/>
                  <a:gd name="T17" fmla="*/ 168 h 390"/>
                  <a:gd name="T18" fmla="*/ 40 w 177"/>
                  <a:gd name="T19" fmla="*/ 161 h 390"/>
                  <a:gd name="T20" fmla="*/ 36 w 177"/>
                  <a:gd name="T21" fmla="*/ 154 h 390"/>
                  <a:gd name="T22" fmla="*/ 31 w 177"/>
                  <a:gd name="T23" fmla="*/ 148 h 390"/>
                  <a:gd name="T24" fmla="*/ 28 w 177"/>
                  <a:gd name="T25" fmla="*/ 141 h 390"/>
                  <a:gd name="T26" fmla="*/ 25 w 177"/>
                  <a:gd name="T27" fmla="*/ 133 h 390"/>
                  <a:gd name="T28" fmla="*/ 22 w 177"/>
                  <a:gd name="T29" fmla="*/ 125 h 390"/>
                  <a:gd name="T30" fmla="*/ 19 w 177"/>
                  <a:gd name="T31" fmla="*/ 118 h 390"/>
                  <a:gd name="T32" fmla="*/ 16 w 177"/>
                  <a:gd name="T33" fmla="*/ 109 h 390"/>
                  <a:gd name="T34" fmla="*/ 13 w 177"/>
                  <a:gd name="T35" fmla="*/ 101 h 390"/>
                  <a:gd name="T36" fmla="*/ 11 w 177"/>
                  <a:gd name="T37" fmla="*/ 93 h 390"/>
                  <a:gd name="T38" fmla="*/ 9 w 177"/>
                  <a:gd name="T39" fmla="*/ 85 h 390"/>
                  <a:gd name="T40" fmla="*/ 7 w 177"/>
                  <a:gd name="T41" fmla="*/ 77 h 390"/>
                  <a:gd name="T42" fmla="*/ 6 w 177"/>
                  <a:gd name="T43" fmla="*/ 69 h 390"/>
                  <a:gd name="T44" fmla="*/ 5 w 177"/>
                  <a:gd name="T45" fmla="*/ 61 h 390"/>
                  <a:gd name="T46" fmla="*/ 3 w 177"/>
                  <a:gd name="T47" fmla="*/ 53 h 390"/>
                  <a:gd name="T48" fmla="*/ 2 w 177"/>
                  <a:gd name="T49" fmla="*/ 47 h 390"/>
                  <a:gd name="T50" fmla="*/ 1 w 177"/>
                  <a:gd name="T51" fmla="*/ 39 h 390"/>
                  <a:gd name="T52" fmla="*/ 0 w 177"/>
                  <a:gd name="T53" fmla="*/ 33 h 390"/>
                  <a:gd name="T54" fmla="*/ 0 w 177"/>
                  <a:gd name="T55" fmla="*/ 25 h 390"/>
                  <a:gd name="T56" fmla="*/ 0 w 177"/>
                  <a:gd name="T57" fmla="*/ 21 h 390"/>
                  <a:gd name="T58" fmla="*/ 0 w 177"/>
                  <a:gd name="T59" fmla="*/ 15 h 390"/>
                  <a:gd name="T60" fmla="*/ 0 w 177"/>
                  <a:gd name="T61" fmla="*/ 11 h 390"/>
                  <a:gd name="T62" fmla="*/ 1 w 177"/>
                  <a:gd name="T63" fmla="*/ 3 h 390"/>
                  <a:gd name="T64" fmla="*/ 6 w 177"/>
                  <a:gd name="T65" fmla="*/ 0 h 390"/>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77"/>
                  <a:gd name="T100" fmla="*/ 0 h 390"/>
                  <a:gd name="T101" fmla="*/ 177 w 177"/>
                  <a:gd name="T102" fmla="*/ 390 h 390"/>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77" h="390">
                    <a:moveTo>
                      <a:pt x="13" y="0"/>
                    </a:moveTo>
                    <a:lnTo>
                      <a:pt x="177" y="390"/>
                    </a:lnTo>
                    <a:lnTo>
                      <a:pt x="169" y="388"/>
                    </a:lnTo>
                    <a:lnTo>
                      <a:pt x="162" y="388"/>
                    </a:lnTo>
                    <a:lnTo>
                      <a:pt x="156" y="384"/>
                    </a:lnTo>
                    <a:lnTo>
                      <a:pt x="150" y="384"/>
                    </a:lnTo>
                    <a:lnTo>
                      <a:pt x="145" y="380"/>
                    </a:lnTo>
                    <a:lnTo>
                      <a:pt x="139" y="378"/>
                    </a:lnTo>
                    <a:lnTo>
                      <a:pt x="133" y="374"/>
                    </a:lnTo>
                    <a:lnTo>
                      <a:pt x="128" y="373"/>
                    </a:lnTo>
                    <a:lnTo>
                      <a:pt x="124" y="367"/>
                    </a:lnTo>
                    <a:lnTo>
                      <a:pt x="118" y="363"/>
                    </a:lnTo>
                    <a:lnTo>
                      <a:pt x="112" y="359"/>
                    </a:lnTo>
                    <a:lnTo>
                      <a:pt x="107" y="355"/>
                    </a:lnTo>
                    <a:lnTo>
                      <a:pt x="101" y="350"/>
                    </a:lnTo>
                    <a:lnTo>
                      <a:pt x="97" y="344"/>
                    </a:lnTo>
                    <a:lnTo>
                      <a:pt x="93" y="338"/>
                    </a:lnTo>
                    <a:lnTo>
                      <a:pt x="90" y="335"/>
                    </a:lnTo>
                    <a:lnTo>
                      <a:pt x="84" y="329"/>
                    </a:lnTo>
                    <a:lnTo>
                      <a:pt x="80" y="321"/>
                    </a:lnTo>
                    <a:lnTo>
                      <a:pt x="74" y="316"/>
                    </a:lnTo>
                    <a:lnTo>
                      <a:pt x="72" y="308"/>
                    </a:lnTo>
                    <a:lnTo>
                      <a:pt x="67" y="302"/>
                    </a:lnTo>
                    <a:lnTo>
                      <a:pt x="63" y="295"/>
                    </a:lnTo>
                    <a:lnTo>
                      <a:pt x="59" y="287"/>
                    </a:lnTo>
                    <a:lnTo>
                      <a:pt x="57" y="281"/>
                    </a:lnTo>
                    <a:lnTo>
                      <a:pt x="53" y="274"/>
                    </a:lnTo>
                    <a:lnTo>
                      <a:pt x="50" y="266"/>
                    </a:lnTo>
                    <a:lnTo>
                      <a:pt x="46" y="258"/>
                    </a:lnTo>
                    <a:lnTo>
                      <a:pt x="44" y="251"/>
                    </a:lnTo>
                    <a:lnTo>
                      <a:pt x="40" y="243"/>
                    </a:lnTo>
                    <a:lnTo>
                      <a:pt x="38" y="236"/>
                    </a:lnTo>
                    <a:lnTo>
                      <a:pt x="34" y="226"/>
                    </a:lnTo>
                    <a:lnTo>
                      <a:pt x="32" y="219"/>
                    </a:lnTo>
                    <a:lnTo>
                      <a:pt x="31" y="211"/>
                    </a:lnTo>
                    <a:lnTo>
                      <a:pt x="27" y="203"/>
                    </a:lnTo>
                    <a:lnTo>
                      <a:pt x="25" y="194"/>
                    </a:lnTo>
                    <a:lnTo>
                      <a:pt x="23" y="186"/>
                    </a:lnTo>
                    <a:lnTo>
                      <a:pt x="19" y="179"/>
                    </a:lnTo>
                    <a:lnTo>
                      <a:pt x="19" y="169"/>
                    </a:lnTo>
                    <a:lnTo>
                      <a:pt x="17" y="162"/>
                    </a:lnTo>
                    <a:lnTo>
                      <a:pt x="15" y="154"/>
                    </a:lnTo>
                    <a:lnTo>
                      <a:pt x="13" y="146"/>
                    </a:lnTo>
                    <a:lnTo>
                      <a:pt x="12" y="137"/>
                    </a:lnTo>
                    <a:lnTo>
                      <a:pt x="10" y="129"/>
                    </a:lnTo>
                    <a:lnTo>
                      <a:pt x="10" y="122"/>
                    </a:lnTo>
                    <a:lnTo>
                      <a:pt x="8" y="114"/>
                    </a:lnTo>
                    <a:lnTo>
                      <a:pt x="6" y="106"/>
                    </a:lnTo>
                    <a:lnTo>
                      <a:pt x="4" y="99"/>
                    </a:lnTo>
                    <a:lnTo>
                      <a:pt x="4" y="93"/>
                    </a:lnTo>
                    <a:lnTo>
                      <a:pt x="2" y="84"/>
                    </a:lnTo>
                    <a:lnTo>
                      <a:pt x="2" y="78"/>
                    </a:lnTo>
                    <a:lnTo>
                      <a:pt x="0" y="70"/>
                    </a:lnTo>
                    <a:lnTo>
                      <a:pt x="0" y="65"/>
                    </a:lnTo>
                    <a:lnTo>
                      <a:pt x="0" y="57"/>
                    </a:lnTo>
                    <a:lnTo>
                      <a:pt x="0" y="51"/>
                    </a:lnTo>
                    <a:lnTo>
                      <a:pt x="0" y="47"/>
                    </a:lnTo>
                    <a:lnTo>
                      <a:pt x="0" y="42"/>
                    </a:lnTo>
                    <a:lnTo>
                      <a:pt x="0" y="36"/>
                    </a:lnTo>
                    <a:lnTo>
                      <a:pt x="0" y="30"/>
                    </a:lnTo>
                    <a:lnTo>
                      <a:pt x="0" y="25"/>
                    </a:lnTo>
                    <a:lnTo>
                      <a:pt x="0" y="21"/>
                    </a:lnTo>
                    <a:lnTo>
                      <a:pt x="0" y="13"/>
                    </a:lnTo>
                    <a:lnTo>
                      <a:pt x="2" y="7"/>
                    </a:lnTo>
                    <a:lnTo>
                      <a:pt x="13" y="0"/>
                    </a:lnTo>
                    <a:close/>
                  </a:path>
                </a:pathLst>
              </a:custGeom>
              <a:solidFill>
                <a:srgbClr val="000000"/>
              </a:solidFill>
              <a:ln w="9525">
                <a:noFill/>
                <a:round/>
              </a:ln>
            </p:spPr>
            <p:txBody>
              <a:bodyPr/>
              <a:lstStyle/>
              <a:p>
                <a:endParaRPr lang="en-US"/>
              </a:p>
            </p:txBody>
          </p:sp>
          <p:sp>
            <p:nvSpPr>
              <p:cNvPr id="1049004" name="Freeform 302"/>
              <p:cNvSpPr/>
              <p:nvPr/>
            </p:nvSpPr>
            <p:spPr bwMode="auto">
              <a:xfrm>
                <a:off x="2636" y="2777"/>
                <a:ext cx="129" cy="86"/>
              </a:xfrm>
              <a:custGeom>
                <a:avLst/>
                <a:gdLst>
                  <a:gd name="T0" fmla="*/ 27 w 258"/>
                  <a:gd name="T1" fmla="*/ 4 h 173"/>
                  <a:gd name="T2" fmla="*/ 33 w 258"/>
                  <a:gd name="T3" fmla="*/ 1 h 173"/>
                  <a:gd name="T4" fmla="*/ 40 w 258"/>
                  <a:gd name="T5" fmla="*/ 0 h 173"/>
                  <a:gd name="T6" fmla="*/ 47 w 258"/>
                  <a:gd name="T7" fmla="*/ 0 h 173"/>
                  <a:gd name="T8" fmla="*/ 55 w 258"/>
                  <a:gd name="T9" fmla="*/ 0 h 173"/>
                  <a:gd name="T10" fmla="*/ 63 w 258"/>
                  <a:gd name="T11" fmla="*/ 2 h 173"/>
                  <a:gd name="T12" fmla="*/ 72 w 258"/>
                  <a:gd name="T13" fmla="*/ 5 h 173"/>
                  <a:gd name="T14" fmla="*/ 81 w 258"/>
                  <a:gd name="T15" fmla="*/ 7 h 173"/>
                  <a:gd name="T16" fmla="*/ 89 w 258"/>
                  <a:gd name="T17" fmla="*/ 10 h 173"/>
                  <a:gd name="T18" fmla="*/ 98 w 258"/>
                  <a:gd name="T19" fmla="*/ 15 h 173"/>
                  <a:gd name="T20" fmla="*/ 105 w 258"/>
                  <a:gd name="T21" fmla="*/ 20 h 173"/>
                  <a:gd name="T22" fmla="*/ 112 w 258"/>
                  <a:gd name="T23" fmla="*/ 26 h 173"/>
                  <a:gd name="T24" fmla="*/ 118 w 258"/>
                  <a:gd name="T25" fmla="*/ 31 h 173"/>
                  <a:gd name="T26" fmla="*/ 122 w 258"/>
                  <a:gd name="T27" fmla="*/ 37 h 173"/>
                  <a:gd name="T28" fmla="*/ 126 w 258"/>
                  <a:gd name="T29" fmla="*/ 43 h 173"/>
                  <a:gd name="T30" fmla="*/ 128 w 258"/>
                  <a:gd name="T31" fmla="*/ 49 h 173"/>
                  <a:gd name="T32" fmla="*/ 0 w 258"/>
                  <a:gd name="T33" fmla="*/ 86 h 173"/>
                  <a:gd name="T34" fmla="*/ 3 w 258"/>
                  <a:gd name="T35" fmla="*/ 82 h 173"/>
                  <a:gd name="T36" fmla="*/ 10 w 258"/>
                  <a:gd name="T37" fmla="*/ 78 h 173"/>
                  <a:gd name="T38" fmla="*/ 16 w 258"/>
                  <a:gd name="T39" fmla="*/ 74 h 173"/>
                  <a:gd name="T40" fmla="*/ 24 w 258"/>
                  <a:gd name="T41" fmla="*/ 70 h 173"/>
                  <a:gd name="T42" fmla="*/ 31 w 258"/>
                  <a:gd name="T43" fmla="*/ 67 h 173"/>
                  <a:gd name="T44" fmla="*/ 40 w 258"/>
                  <a:gd name="T45" fmla="*/ 65 h 173"/>
                  <a:gd name="T46" fmla="*/ 48 w 258"/>
                  <a:gd name="T47" fmla="*/ 62 h 173"/>
                  <a:gd name="T48" fmla="*/ 57 w 258"/>
                  <a:gd name="T49" fmla="*/ 59 h 173"/>
                  <a:gd name="T50" fmla="*/ 65 w 258"/>
                  <a:gd name="T51" fmla="*/ 56 h 173"/>
                  <a:gd name="T52" fmla="*/ 72 w 258"/>
                  <a:gd name="T53" fmla="*/ 54 h 173"/>
                  <a:gd name="T54" fmla="*/ 79 w 258"/>
                  <a:gd name="T55" fmla="*/ 51 h 173"/>
                  <a:gd name="T56" fmla="*/ 86 w 258"/>
                  <a:gd name="T57" fmla="*/ 50 h 173"/>
                  <a:gd name="T58" fmla="*/ 92 w 258"/>
                  <a:gd name="T59" fmla="*/ 48 h 173"/>
                  <a:gd name="T60" fmla="*/ 98 w 258"/>
                  <a:gd name="T61" fmla="*/ 46 h 173"/>
                  <a:gd name="T62" fmla="*/ 104 w 258"/>
                  <a:gd name="T63" fmla="*/ 44 h 173"/>
                  <a:gd name="T64" fmla="*/ 25 w 258"/>
                  <a:gd name="T65" fmla="*/ 6 h 173"/>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258"/>
                  <a:gd name="T100" fmla="*/ 0 h 173"/>
                  <a:gd name="T101" fmla="*/ 258 w 258"/>
                  <a:gd name="T102" fmla="*/ 173 h 173"/>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258" h="173">
                    <a:moveTo>
                      <a:pt x="51" y="12"/>
                    </a:moveTo>
                    <a:lnTo>
                      <a:pt x="55" y="8"/>
                    </a:lnTo>
                    <a:lnTo>
                      <a:pt x="61" y="4"/>
                    </a:lnTo>
                    <a:lnTo>
                      <a:pt x="66" y="2"/>
                    </a:lnTo>
                    <a:lnTo>
                      <a:pt x="72" y="2"/>
                    </a:lnTo>
                    <a:lnTo>
                      <a:pt x="80" y="0"/>
                    </a:lnTo>
                    <a:lnTo>
                      <a:pt x="85" y="0"/>
                    </a:lnTo>
                    <a:lnTo>
                      <a:pt x="95" y="0"/>
                    </a:lnTo>
                    <a:lnTo>
                      <a:pt x="102" y="0"/>
                    </a:lnTo>
                    <a:lnTo>
                      <a:pt x="110" y="0"/>
                    </a:lnTo>
                    <a:lnTo>
                      <a:pt x="118" y="2"/>
                    </a:lnTo>
                    <a:lnTo>
                      <a:pt x="127" y="4"/>
                    </a:lnTo>
                    <a:lnTo>
                      <a:pt x="137" y="6"/>
                    </a:lnTo>
                    <a:lnTo>
                      <a:pt x="144" y="10"/>
                    </a:lnTo>
                    <a:lnTo>
                      <a:pt x="154" y="12"/>
                    </a:lnTo>
                    <a:lnTo>
                      <a:pt x="163" y="15"/>
                    </a:lnTo>
                    <a:lnTo>
                      <a:pt x="171" y="19"/>
                    </a:lnTo>
                    <a:lnTo>
                      <a:pt x="179" y="21"/>
                    </a:lnTo>
                    <a:lnTo>
                      <a:pt x="188" y="27"/>
                    </a:lnTo>
                    <a:lnTo>
                      <a:pt x="196" y="31"/>
                    </a:lnTo>
                    <a:lnTo>
                      <a:pt x="203" y="36"/>
                    </a:lnTo>
                    <a:lnTo>
                      <a:pt x="211" y="40"/>
                    </a:lnTo>
                    <a:lnTo>
                      <a:pt x="218" y="46"/>
                    </a:lnTo>
                    <a:lnTo>
                      <a:pt x="224" y="52"/>
                    </a:lnTo>
                    <a:lnTo>
                      <a:pt x="232" y="57"/>
                    </a:lnTo>
                    <a:lnTo>
                      <a:pt x="237" y="63"/>
                    </a:lnTo>
                    <a:lnTo>
                      <a:pt x="241" y="69"/>
                    </a:lnTo>
                    <a:lnTo>
                      <a:pt x="245" y="74"/>
                    </a:lnTo>
                    <a:lnTo>
                      <a:pt x="251" y="80"/>
                    </a:lnTo>
                    <a:lnTo>
                      <a:pt x="253" y="86"/>
                    </a:lnTo>
                    <a:lnTo>
                      <a:pt x="255" y="93"/>
                    </a:lnTo>
                    <a:lnTo>
                      <a:pt x="256" y="99"/>
                    </a:lnTo>
                    <a:lnTo>
                      <a:pt x="258" y="105"/>
                    </a:lnTo>
                    <a:lnTo>
                      <a:pt x="0" y="173"/>
                    </a:lnTo>
                    <a:lnTo>
                      <a:pt x="4" y="168"/>
                    </a:lnTo>
                    <a:lnTo>
                      <a:pt x="7" y="164"/>
                    </a:lnTo>
                    <a:lnTo>
                      <a:pt x="13" y="160"/>
                    </a:lnTo>
                    <a:lnTo>
                      <a:pt x="21" y="156"/>
                    </a:lnTo>
                    <a:lnTo>
                      <a:pt x="26" y="152"/>
                    </a:lnTo>
                    <a:lnTo>
                      <a:pt x="32" y="149"/>
                    </a:lnTo>
                    <a:lnTo>
                      <a:pt x="40" y="145"/>
                    </a:lnTo>
                    <a:lnTo>
                      <a:pt x="49" y="141"/>
                    </a:lnTo>
                    <a:lnTo>
                      <a:pt x="55" y="137"/>
                    </a:lnTo>
                    <a:lnTo>
                      <a:pt x="63" y="135"/>
                    </a:lnTo>
                    <a:lnTo>
                      <a:pt x="72" y="131"/>
                    </a:lnTo>
                    <a:lnTo>
                      <a:pt x="80" y="130"/>
                    </a:lnTo>
                    <a:lnTo>
                      <a:pt x="87" y="126"/>
                    </a:lnTo>
                    <a:lnTo>
                      <a:pt x="97" y="124"/>
                    </a:lnTo>
                    <a:lnTo>
                      <a:pt x="104" y="120"/>
                    </a:lnTo>
                    <a:lnTo>
                      <a:pt x="114" y="118"/>
                    </a:lnTo>
                    <a:lnTo>
                      <a:pt x="121" y="116"/>
                    </a:lnTo>
                    <a:lnTo>
                      <a:pt x="129" y="112"/>
                    </a:lnTo>
                    <a:lnTo>
                      <a:pt x="137" y="111"/>
                    </a:lnTo>
                    <a:lnTo>
                      <a:pt x="144" y="109"/>
                    </a:lnTo>
                    <a:lnTo>
                      <a:pt x="152" y="105"/>
                    </a:lnTo>
                    <a:lnTo>
                      <a:pt x="159" y="103"/>
                    </a:lnTo>
                    <a:lnTo>
                      <a:pt x="165" y="101"/>
                    </a:lnTo>
                    <a:lnTo>
                      <a:pt x="173" y="101"/>
                    </a:lnTo>
                    <a:lnTo>
                      <a:pt x="179" y="97"/>
                    </a:lnTo>
                    <a:lnTo>
                      <a:pt x="184" y="97"/>
                    </a:lnTo>
                    <a:lnTo>
                      <a:pt x="190" y="93"/>
                    </a:lnTo>
                    <a:lnTo>
                      <a:pt x="196" y="93"/>
                    </a:lnTo>
                    <a:lnTo>
                      <a:pt x="203" y="90"/>
                    </a:lnTo>
                    <a:lnTo>
                      <a:pt x="209" y="88"/>
                    </a:lnTo>
                    <a:lnTo>
                      <a:pt x="51" y="12"/>
                    </a:lnTo>
                    <a:close/>
                  </a:path>
                </a:pathLst>
              </a:custGeom>
              <a:solidFill>
                <a:srgbClr val="000000"/>
              </a:solidFill>
              <a:ln w="9525">
                <a:noFill/>
                <a:round/>
              </a:ln>
            </p:spPr>
            <p:txBody>
              <a:bodyPr/>
              <a:lstStyle/>
              <a:p>
                <a:endParaRPr lang="en-US"/>
              </a:p>
            </p:txBody>
          </p:sp>
          <p:sp>
            <p:nvSpPr>
              <p:cNvPr id="1049005" name="Freeform 303"/>
              <p:cNvSpPr/>
              <p:nvPr/>
            </p:nvSpPr>
            <p:spPr bwMode="auto">
              <a:xfrm>
                <a:off x="2400" y="2216"/>
                <a:ext cx="43" cy="242"/>
              </a:xfrm>
              <a:custGeom>
                <a:avLst/>
                <a:gdLst>
                  <a:gd name="T0" fmla="*/ 4 w 86"/>
                  <a:gd name="T1" fmla="*/ 4 h 485"/>
                  <a:gd name="T2" fmla="*/ 5 w 86"/>
                  <a:gd name="T3" fmla="*/ 10 h 485"/>
                  <a:gd name="T4" fmla="*/ 7 w 86"/>
                  <a:gd name="T5" fmla="*/ 22 h 485"/>
                  <a:gd name="T6" fmla="*/ 11 w 86"/>
                  <a:gd name="T7" fmla="*/ 35 h 485"/>
                  <a:gd name="T8" fmla="*/ 13 w 86"/>
                  <a:gd name="T9" fmla="*/ 46 h 485"/>
                  <a:gd name="T10" fmla="*/ 15 w 86"/>
                  <a:gd name="T11" fmla="*/ 54 h 485"/>
                  <a:gd name="T12" fmla="*/ 17 w 86"/>
                  <a:gd name="T13" fmla="*/ 63 h 485"/>
                  <a:gd name="T14" fmla="*/ 19 w 86"/>
                  <a:gd name="T15" fmla="*/ 71 h 485"/>
                  <a:gd name="T16" fmla="*/ 21 w 86"/>
                  <a:gd name="T17" fmla="*/ 80 h 485"/>
                  <a:gd name="T18" fmla="*/ 23 w 86"/>
                  <a:gd name="T19" fmla="*/ 89 h 485"/>
                  <a:gd name="T20" fmla="*/ 26 w 86"/>
                  <a:gd name="T21" fmla="*/ 99 h 485"/>
                  <a:gd name="T22" fmla="*/ 27 w 86"/>
                  <a:gd name="T23" fmla="*/ 108 h 485"/>
                  <a:gd name="T24" fmla="*/ 29 w 86"/>
                  <a:gd name="T25" fmla="*/ 118 h 485"/>
                  <a:gd name="T26" fmla="*/ 31 w 86"/>
                  <a:gd name="T27" fmla="*/ 127 h 485"/>
                  <a:gd name="T28" fmla="*/ 34 w 86"/>
                  <a:gd name="T29" fmla="*/ 136 h 485"/>
                  <a:gd name="T30" fmla="*/ 35 w 86"/>
                  <a:gd name="T31" fmla="*/ 145 h 485"/>
                  <a:gd name="T32" fmla="*/ 37 w 86"/>
                  <a:gd name="T33" fmla="*/ 154 h 485"/>
                  <a:gd name="T34" fmla="*/ 38 w 86"/>
                  <a:gd name="T35" fmla="*/ 163 h 485"/>
                  <a:gd name="T36" fmla="*/ 40 w 86"/>
                  <a:gd name="T37" fmla="*/ 177 h 485"/>
                  <a:gd name="T38" fmla="*/ 41 w 86"/>
                  <a:gd name="T39" fmla="*/ 187 h 485"/>
                  <a:gd name="T40" fmla="*/ 42 w 86"/>
                  <a:gd name="T41" fmla="*/ 197 h 485"/>
                  <a:gd name="T42" fmla="*/ 42 w 86"/>
                  <a:gd name="T43" fmla="*/ 204 h 485"/>
                  <a:gd name="T44" fmla="*/ 42 w 86"/>
                  <a:gd name="T45" fmla="*/ 215 h 485"/>
                  <a:gd name="T46" fmla="*/ 40 w 86"/>
                  <a:gd name="T47" fmla="*/ 227 h 485"/>
                  <a:gd name="T48" fmla="*/ 38 w 86"/>
                  <a:gd name="T49" fmla="*/ 237 h 485"/>
                  <a:gd name="T50" fmla="*/ 35 w 86"/>
                  <a:gd name="T51" fmla="*/ 242 h 485"/>
                  <a:gd name="T52" fmla="*/ 25 w 86"/>
                  <a:gd name="T53" fmla="*/ 242 h 485"/>
                  <a:gd name="T54" fmla="*/ 23 w 86"/>
                  <a:gd name="T55" fmla="*/ 231 h 485"/>
                  <a:gd name="T56" fmla="*/ 22 w 86"/>
                  <a:gd name="T57" fmla="*/ 221 h 485"/>
                  <a:gd name="T58" fmla="*/ 21 w 86"/>
                  <a:gd name="T59" fmla="*/ 209 h 485"/>
                  <a:gd name="T60" fmla="*/ 20 w 86"/>
                  <a:gd name="T61" fmla="*/ 199 h 485"/>
                  <a:gd name="T62" fmla="*/ 19 w 86"/>
                  <a:gd name="T63" fmla="*/ 188 h 485"/>
                  <a:gd name="T64" fmla="*/ 18 w 86"/>
                  <a:gd name="T65" fmla="*/ 177 h 485"/>
                  <a:gd name="T66" fmla="*/ 17 w 86"/>
                  <a:gd name="T67" fmla="*/ 166 h 485"/>
                  <a:gd name="T68" fmla="*/ 17 w 86"/>
                  <a:gd name="T69" fmla="*/ 156 h 485"/>
                  <a:gd name="T70" fmla="*/ 15 w 86"/>
                  <a:gd name="T71" fmla="*/ 144 h 485"/>
                  <a:gd name="T72" fmla="*/ 14 w 86"/>
                  <a:gd name="T73" fmla="*/ 134 h 485"/>
                  <a:gd name="T74" fmla="*/ 14 w 86"/>
                  <a:gd name="T75" fmla="*/ 123 h 485"/>
                  <a:gd name="T76" fmla="*/ 12 w 86"/>
                  <a:gd name="T77" fmla="*/ 112 h 485"/>
                  <a:gd name="T78" fmla="*/ 11 w 86"/>
                  <a:gd name="T79" fmla="*/ 102 h 485"/>
                  <a:gd name="T80" fmla="*/ 11 w 86"/>
                  <a:gd name="T81" fmla="*/ 91 h 485"/>
                  <a:gd name="T82" fmla="*/ 10 w 86"/>
                  <a:gd name="T83" fmla="*/ 80 h 485"/>
                  <a:gd name="T84" fmla="*/ 9 w 86"/>
                  <a:gd name="T85" fmla="*/ 70 h 485"/>
                  <a:gd name="T86" fmla="*/ 7 w 86"/>
                  <a:gd name="T87" fmla="*/ 60 h 485"/>
                  <a:gd name="T88" fmla="*/ 6 w 86"/>
                  <a:gd name="T89" fmla="*/ 49 h 485"/>
                  <a:gd name="T90" fmla="*/ 4 w 86"/>
                  <a:gd name="T91" fmla="*/ 39 h 485"/>
                  <a:gd name="T92" fmla="*/ 3 w 86"/>
                  <a:gd name="T93" fmla="*/ 29 h 485"/>
                  <a:gd name="T94" fmla="*/ 1 w 86"/>
                  <a:gd name="T95" fmla="*/ 19 h 485"/>
                  <a:gd name="T96" fmla="*/ 0 w 86"/>
                  <a:gd name="T97" fmla="*/ 11 h 485"/>
                  <a:gd name="T98" fmla="*/ 2 w 86"/>
                  <a:gd name="T99" fmla="*/ 4 h 485"/>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w 86"/>
                  <a:gd name="T151" fmla="*/ 0 h 485"/>
                  <a:gd name="T152" fmla="*/ 86 w 86"/>
                  <a:gd name="T153" fmla="*/ 485 h 485"/>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T150" t="T151" r="T152" b="T153"/>
                <a:pathLst>
                  <a:path w="86" h="485">
                    <a:moveTo>
                      <a:pt x="6" y="0"/>
                    </a:moveTo>
                    <a:lnTo>
                      <a:pt x="6" y="2"/>
                    </a:lnTo>
                    <a:lnTo>
                      <a:pt x="8" y="8"/>
                    </a:lnTo>
                    <a:lnTo>
                      <a:pt x="8" y="12"/>
                    </a:lnTo>
                    <a:lnTo>
                      <a:pt x="10" y="16"/>
                    </a:lnTo>
                    <a:lnTo>
                      <a:pt x="10" y="21"/>
                    </a:lnTo>
                    <a:lnTo>
                      <a:pt x="12" y="29"/>
                    </a:lnTo>
                    <a:lnTo>
                      <a:pt x="12" y="36"/>
                    </a:lnTo>
                    <a:lnTo>
                      <a:pt x="14" y="44"/>
                    </a:lnTo>
                    <a:lnTo>
                      <a:pt x="15" y="52"/>
                    </a:lnTo>
                    <a:lnTo>
                      <a:pt x="19" y="61"/>
                    </a:lnTo>
                    <a:lnTo>
                      <a:pt x="21" y="71"/>
                    </a:lnTo>
                    <a:lnTo>
                      <a:pt x="25" y="80"/>
                    </a:lnTo>
                    <a:lnTo>
                      <a:pt x="25" y="86"/>
                    </a:lnTo>
                    <a:lnTo>
                      <a:pt x="27" y="92"/>
                    </a:lnTo>
                    <a:lnTo>
                      <a:pt x="29" y="97"/>
                    </a:lnTo>
                    <a:lnTo>
                      <a:pt x="31" y="103"/>
                    </a:lnTo>
                    <a:lnTo>
                      <a:pt x="31" y="109"/>
                    </a:lnTo>
                    <a:lnTo>
                      <a:pt x="33" y="114"/>
                    </a:lnTo>
                    <a:lnTo>
                      <a:pt x="33" y="120"/>
                    </a:lnTo>
                    <a:lnTo>
                      <a:pt x="34" y="126"/>
                    </a:lnTo>
                    <a:lnTo>
                      <a:pt x="36" y="130"/>
                    </a:lnTo>
                    <a:lnTo>
                      <a:pt x="38" y="137"/>
                    </a:lnTo>
                    <a:lnTo>
                      <a:pt x="38" y="143"/>
                    </a:lnTo>
                    <a:lnTo>
                      <a:pt x="40" y="149"/>
                    </a:lnTo>
                    <a:lnTo>
                      <a:pt x="40" y="154"/>
                    </a:lnTo>
                    <a:lnTo>
                      <a:pt x="42" y="160"/>
                    </a:lnTo>
                    <a:lnTo>
                      <a:pt x="44" y="168"/>
                    </a:lnTo>
                    <a:lnTo>
                      <a:pt x="46" y="173"/>
                    </a:lnTo>
                    <a:lnTo>
                      <a:pt x="46" y="179"/>
                    </a:lnTo>
                    <a:lnTo>
                      <a:pt x="48" y="185"/>
                    </a:lnTo>
                    <a:lnTo>
                      <a:pt x="50" y="192"/>
                    </a:lnTo>
                    <a:lnTo>
                      <a:pt x="52" y="198"/>
                    </a:lnTo>
                    <a:lnTo>
                      <a:pt x="52" y="204"/>
                    </a:lnTo>
                    <a:lnTo>
                      <a:pt x="54" y="211"/>
                    </a:lnTo>
                    <a:lnTo>
                      <a:pt x="54" y="217"/>
                    </a:lnTo>
                    <a:lnTo>
                      <a:pt x="55" y="223"/>
                    </a:lnTo>
                    <a:lnTo>
                      <a:pt x="57" y="229"/>
                    </a:lnTo>
                    <a:lnTo>
                      <a:pt x="59" y="236"/>
                    </a:lnTo>
                    <a:lnTo>
                      <a:pt x="59" y="242"/>
                    </a:lnTo>
                    <a:lnTo>
                      <a:pt x="61" y="249"/>
                    </a:lnTo>
                    <a:lnTo>
                      <a:pt x="63" y="255"/>
                    </a:lnTo>
                    <a:lnTo>
                      <a:pt x="63" y="261"/>
                    </a:lnTo>
                    <a:lnTo>
                      <a:pt x="65" y="267"/>
                    </a:lnTo>
                    <a:lnTo>
                      <a:pt x="67" y="272"/>
                    </a:lnTo>
                    <a:lnTo>
                      <a:pt x="67" y="278"/>
                    </a:lnTo>
                    <a:lnTo>
                      <a:pt x="69" y="286"/>
                    </a:lnTo>
                    <a:lnTo>
                      <a:pt x="69" y="291"/>
                    </a:lnTo>
                    <a:lnTo>
                      <a:pt x="71" y="297"/>
                    </a:lnTo>
                    <a:lnTo>
                      <a:pt x="71" y="303"/>
                    </a:lnTo>
                    <a:lnTo>
                      <a:pt x="73" y="308"/>
                    </a:lnTo>
                    <a:lnTo>
                      <a:pt x="73" y="314"/>
                    </a:lnTo>
                    <a:lnTo>
                      <a:pt x="74" y="320"/>
                    </a:lnTo>
                    <a:lnTo>
                      <a:pt x="76" y="327"/>
                    </a:lnTo>
                    <a:lnTo>
                      <a:pt x="78" y="337"/>
                    </a:lnTo>
                    <a:lnTo>
                      <a:pt x="78" y="346"/>
                    </a:lnTo>
                    <a:lnTo>
                      <a:pt x="80" y="354"/>
                    </a:lnTo>
                    <a:lnTo>
                      <a:pt x="80" y="362"/>
                    </a:lnTo>
                    <a:lnTo>
                      <a:pt x="82" y="369"/>
                    </a:lnTo>
                    <a:lnTo>
                      <a:pt x="82" y="375"/>
                    </a:lnTo>
                    <a:lnTo>
                      <a:pt x="84" y="383"/>
                    </a:lnTo>
                    <a:lnTo>
                      <a:pt x="84" y="386"/>
                    </a:lnTo>
                    <a:lnTo>
                      <a:pt x="84" y="394"/>
                    </a:lnTo>
                    <a:lnTo>
                      <a:pt x="84" y="398"/>
                    </a:lnTo>
                    <a:lnTo>
                      <a:pt x="84" y="403"/>
                    </a:lnTo>
                    <a:lnTo>
                      <a:pt x="84" y="409"/>
                    </a:lnTo>
                    <a:lnTo>
                      <a:pt x="86" y="413"/>
                    </a:lnTo>
                    <a:lnTo>
                      <a:pt x="84" y="421"/>
                    </a:lnTo>
                    <a:lnTo>
                      <a:pt x="84" y="430"/>
                    </a:lnTo>
                    <a:lnTo>
                      <a:pt x="82" y="438"/>
                    </a:lnTo>
                    <a:lnTo>
                      <a:pt x="82" y="445"/>
                    </a:lnTo>
                    <a:lnTo>
                      <a:pt x="80" y="455"/>
                    </a:lnTo>
                    <a:lnTo>
                      <a:pt x="78" y="464"/>
                    </a:lnTo>
                    <a:lnTo>
                      <a:pt x="76" y="468"/>
                    </a:lnTo>
                    <a:lnTo>
                      <a:pt x="76" y="474"/>
                    </a:lnTo>
                    <a:lnTo>
                      <a:pt x="74" y="480"/>
                    </a:lnTo>
                    <a:lnTo>
                      <a:pt x="74" y="485"/>
                    </a:lnTo>
                    <a:lnTo>
                      <a:pt x="69" y="485"/>
                    </a:lnTo>
                    <a:lnTo>
                      <a:pt x="63" y="485"/>
                    </a:lnTo>
                    <a:lnTo>
                      <a:pt x="55" y="485"/>
                    </a:lnTo>
                    <a:lnTo>
                      <a:pt x="50" y="485"/>
                    </a:lnTo>
                    <a:lnTo>
                      <a:pt x="48" y="478"/>
                    </a:lnTo>
                    <a:lnTo>
                      <a:pt x="46" y="470"/>
                    </a:lnTo>
                    <a:lnTo>
                      <a:pt x="46" y="462"/>
                    </a:lnTo>
                    <a:lnTo>
                      <a:pt x="46" y="457"/>
                    </a:lnTo>
                    <a:lnTo>
                      <a:pt x="44" y="449"/>
                    </a:lnTo>
                    <a:lnTo>
                      <a:pt x="44" y="442"/>
                    </a:lnTo>
                    <a:lnTo>
                      <a:pt x="42" y="434"/>
                    </a:lnTo>
                    <a:lnTo>
                      <a:pt x="42" y="428"/>
                    </a:lnTo>
                    <a:lnTo>
                      <a:pt x="42" y="419"/>
                    </a:lnTo>
                    <a:lnTo>
                      <a:pt x="40" y="413"/>
                    </a:lnTo>
                    <a:lnTo>
                      <a:pt x="40" y="405"/>
                    </a:lnTo>
                    <a:lnTo>
                      <a:pt x="40" y="398"/>
                    </a:lnTo>
                    <a:lnTo>
                      <a:pt x="40" y="390"/>
                    </a:lnTo>
                    <a:lnTo>
                      <a:pt x="38" y="383"/>
                    </a:lnTo>
                    <a:lnTo>
                      <a:pt x="38" y="377"/>
                    </a:lnTo>
                    <a:lnTo>
                      <a:pt x="38" y="369"/>
                    </a:lnTo>
                    <a:lnTo>
                      <a:pt x="36" y="362"/>
                    </a:lnTo>
                    <a:lnTo>
                      <a:pt x="36" y="354"/>
                    </a:lnTo>
                    <a:lnTo>
                      <a:pt x="34" y="346"/>
                    </a:lnTo>
                    <a:lnTo>
                      <a:pt x="34" y="341"/>
                    </a:lnTo>
                    <a:lnTo>
                      <a:pt x="34" y="333"/>
                    </a:lnTo>
                    <a:lnTo>
                      <a:pt x="34" y="326"/>
                    </a:lnTo>
                    <a:lnTo>
                      <a:pt x="33" y="318"/>
                    </a:lnTo>
                    <a:lnTo>
                      <a:pt x="33" y="312"/>
                    </a:lnTo>
                    <a:lnTo>
                      <a:pt x="33" y="303"/>
                    </a:lnTo>
                    <a:lnTo>
                      <a:pt x="31" y="297"/>
                    </a:lnTo>
                    <a:lnTo>
                      <a:pt x="31" y="289"/>
                    </a:lnTo>
                    <a:lnTo>
                      <a:pt x="31" y="282"/>
                    </a:lnTo>
                    <a:lnTo>
                      <a:pt x="31" y="274"/>
                    </a:lnTo>
                    <a:lnTo>
                      <a:pt x="29" y="268"/>
                    </a:lnTo>
                    <a:lnTo>
                      <a:pt x="29" y="261"/>
                    </a:lnTo>
                    <a:lnTo>
                      <a:pt x="29" y="255"/>
                    </a:lnTo>
                    <a:lnTo>
                      <a:pt x="29" y="246"/>
                    </a:lnTo>
                    <a:lnTo>
                      <a:pt x="27" y="240"/>
                    </a:lnTo>
                    <a:lnTo>
                      <a:pt x="27" y="232"/>
                    </a:lnTo>
                    <a:lnTo>
                      <a:pt x="25" y="225"/>
                    </a:lnTo>
                    <a:lnTo>
                      <a:pt x="25" y="217"/>
                    </a:lnTo>
                    <a:lnTo>
                      <a:pt x="23" y="211"/>
                    </a:lnTo>
                    <a:lnTo>
                      <a:pt x="23" y="204"/>
                    </a:lnTo>
                    <a:lnTo>
                      <a:pt x="23" y="196"/>
                    </a:lnTo>
                    <a:lnTo>
                      <a:pt x="21" y="189"/>
                    </a:lnTo>
                    <a:lnTo>
                      <a:pt x="21" y="183"/>
                    </a:lnTo>
                    <a:lnTo>
                      <a:pt x="19" y="175"/>
                    </a:lnTo>
                    <a:lnTo>
                      <a:pt x="19" y="168"/>
                    </a:lnTo>
                    <a:lnTo>
                      <a:pt x="19" y="160"/>
                    </a:lnTo>
                    <a:lnTo>
                      <a:pt x="17" y="154"/>
                    </a:lnTo>
                    <a:lnTo>
                      <a:pt x="17" y="147"/>
                    </a:lnTo>
                    <a:lnTo>
                      <a:pt x="17" y="141"/>
                    </a:lnTo>
                    <a:lnTo>
                      <a:pt x="15" y="133"/>
                    </a:lnTo>
                    <a:lnTo>
                      <a:pt x="15" y="128"/>
                    </a:lnTo>
                    <a:lnTo>
                      <a:pt x="14" y="120"/>
                    </a:lnTo>
                    <a:lnTo>
                      <a:pt x="14" y="113"/>
                    </a:lnTo>
                    <a:lnTo>
                      <a:pt x="12" y="105"/>
                    </a:lnTo>
                    <a:lnTo>
                      <a:pt x="12" y="99"/>
                    </a:lnTo>
                    <a:lnTo>
                      <a:pt x="10" y="92"/>
                    </a:lnTo>
                    <a:lnTo>
                      <a:pt x="10" y="86"/>
                    </a:lnTo>
                    <a:lnTo>
                      <a:pt x="8" y="78"/>
                    </a:lnTo>
                    <a:lnTo>
                      <a:pt x="8" y="71"/>
                    </a:lnTo>
                    <a:lnTo>
                      <a:pt x="6" y="65"/>
                    </a:lnTo>
                    <a:lnTo>
                      <a:pt x="6" y="59"/>
                    </a:lnTo>
                    <a:lnTo>
                      <a:pt x="4" y="52"/>
                    </a:lnTo>
                    <a:lnTo>
                      <a:pt x="2" y="46"/>
                    </a:lnTo>
                    <a:lnTo>
                      <a:pt x="2" y="38"/>
                    </a:lnTo>
                    <a:lnTo>
                      <a:pt x="0" y="33"/>
                    </a:lnTo>
                    <a:lnTo>
                      <a:pt x="0" y="27"/>
                    </a:lnTo>
                    <a:lnTo>
                      <a:pt x="0" y="23"/>
                    </a:lnTo>
                    <a:lnTo>
                      <a:pt x="2" y="17"/>
                    </a:lnTo>
                    <a:lnTo>
                      <a:pt x="2" y="16"/>
                    </a:lnTo>
                    <a:lnTo>
                      <a:pt x="4" y="8"/>
                    </a:lnTo>
                    <a:lnTo>
                      <a:pt x="6" y="0"/>
                    </a:lnTo>
                    <a:close/>
                  </a:path>
                </a:pathLst>
              </a:custGeom>
              <a:solidFill>
                <a:srgbClr val="000000"/>
              </a:solidFill>
              <a:ln w="9525">
                <a:noFill/>
                <a:round/>
              </a:ln>
            </p:spPr>
            <p:txBody>
              <a:bodyPr/>
              <a:lstStyle/>
              <a:p>
                <a:endParaRPr lang="en-US"/>
              </a:p>
            </p:txBody>
          </p:sp>
          <p:sp>
            <p:nvSpPr>
              <p:cNvPr id="1049006" name="Freeform 304"/>
              <p:cNvSpPr/>
              <p:nvPr/>
            </p:nvSpPr>
            <p:spPr bwMode="auto">
              <a:xfrm>
                <a:off x="1827" y="2492"/>
                <a:ext cx="120" cy="102"/>
              </a:xfrm>
              <a:custGeom>
                <a:avLst/>
                <a:gdLst>
                  <a:gd name="T0" fmla="*/ 36 w 239"/>
                  <a:gd name="T1" fmla="*/ 0 h 203"/>
                  <a:gd name="T2" fmla="*/ 41 w 239"/>
                  <a:gd name="T3" fmla="*/ 0 h 203"/>
                  <a:gd name="T4" fmla="*/ 48 w 239"/>
                  <a:gd name="T5" fmla="*/ 0 h 203"/>
                  <a:gd name="T6" fmla="*/ 52 w 239"/>
                  <a:gd name="T7" fmla="*/ 1 h 203"/>
                  <a:gd name="T8" fmla="*/ 58 w 239"/>
                  <a:gd name="T9" fmla="*/ 1 h 203"/>
                  <a:gd name="T10" fmla="*/ 64 w 239"/>
                  <a:gd name="T11" fmla="*/ 3 h 203"/>
                  <a:gd name="T12" fmla="*/ 70 w 239"/>
                  <a:gd name="T13" fmla="*/ 4 h 203"/>
                  <a:gd name="T14" fmla="*/ 75 w 239"/>
                  <a:gd name="T15" fmla="*/ 6 h 203"/>
                  <a:gd name="T16" fmla="*/ 80 w 239"/>
                  <a:gd name="T17" fmla="*/ 8 h 203"/>
                  <a:gd name="T18" fmla="*/ 85 w 239"/>
                  <a:gd name="T19" fmla="*/ 10 h 203"/>
                  <a:gd name="T20" fmla="*/ 90 w 239"/>
                  <a:gd name="T21" fmla="*/ 12 h 203"/>
                  <a:gd name="T22" fmla="*/ 95 w 239"/>
                  <a:gd name="T23" fmla="*/ 14 h 203"/>
                  <a:gd name="T24" fmla="*/ 100 w 239"/>
                  <a:gd name="T25" fmla="*/ 16 h 203"/>
                  <a:gd name="T26" fmla="*/ 106 w 239"/>
                  <a:gd name="T27" fmla="*/ 18 h 203"/>
                  <a:gd name="T28" fmla="*/ 111 w 239"/>
                  <a:gd name="T29" fmla="*/ 20 h 203"/>
                  <a:gd name="T30" fmla="*/ 117 w 239"/>
                  <a:gd name="T31" fmla="*/ 22 h 203"/>
                  <a:gd name="T32" fmla="*/ 120 w 239"/>
                  <a:gd name="T33" fmla="*/ 26 h 203"/>
                  <a:gd name="T34" fmla="*/ 120 w 239"/>
                  <a:gd name="T35" fmla="*/ 31 h 203"/>
                  <a:gd name="T36" fmla="*/ 115 w 239"/>
                  <a:gd name="T37" fmla="*/ 35 h 203"/>
                  <a:gd name="T38" fmla="*/ 107 w 239"/>
                  <a:gd name="T39" fmla="*/ 36 h 203"/>
                  <a:gd name="T40" fmla="*/ 99 w 239"/>
                  <a:gd name="T41" fmla="*/ 35 h 203"/>
                  <a:gd name="T42" fmla="*/ 91 w 239"/>
                  <a:gd name="T43" fmla="*/ 33 h 203"/>
                  <a:gd name="T44" fmla="*/ 83 w 239"/>
                  <a:gd name="T45" fmla="*/ 31 h 203"/>
                  <a:gd name="T46" fmla="*/ 74 w 239"/>
                  <a:gd name="T47" fmla="*/ 28 h 203"/>
                  <a:gd name="T48" fmla="*/ 66 w 239"/>
                  <a:gd name="T49" fmla="*/ 26 h 203"/>
                  <a:gd name="T50" fmla="*/ 59 w 239"/>
                  <a:gd name="T51" fmla="*/ 23 h 203"/>
                  <a:gd name="T52" fmla="*/ 51 w 239"/>
                  <a:gd name="T53" fmla="*/ 21 h 203"/>
                  <a:gd name="T54" fmla="*/ 45 w 239"/>
                  <a:gd name="T55" fmla="*/ 20 h 203"/>
                  <a:gd name="T56" fmla="*/ 38 w 239"/>
                  <a:gd name="T57" fmla="*/ 21 h 203"/>
                  <a:gd name="T58" fmla="*/ 33 w 239"/>
                  <a:gd name="T59" fmla="*/ 24 h 203"/>
                  <a:gd name="T60" fmla="*/ 29 w 239"/>
                  <a:gd name="T61" fmla="*/ 28 h 203"/>
                  <a:gd name="T62" fmla="*/ 26 w 239"/>
                  <a:gd name="T63" fmla="*/ 33 h 203"/>
                  <a:gd name="T64" fmla="*/ 25 w 239"/>
                  <a:gd name="T65" fmla="*/ 38 h 203"/>
                  <a:gd name="T66" fmla="*/ 24 w 239"/>
                  <a:gd name="T67" fmla="*/ 43 h 203"/>
                  <a:gd name="T68" fmla="*/ 23 w 239"/>
                  <a:gd name="T69" fmla="*/ 49 h 203"/>
                  <a:gd name="T70" fmla="*/ 22 w 239"/>
                  <a:gd name="T71" fmla="*/ 55 h 203"/>
                  <a:gd name="T72" fmla="*/ 22 w 239"/>
                  <a:gd name="T73" fmla="*/ 63 h 203"/>
                  <a:gd name="T74" fmla="*/ 79 w 239"/>
                  <a:gd name="T75" fmla="*/ 61 h 203"/>
                  <a:gd name="T76" fmla="*/ 85 w 239"/>
                  <a:gd name="T77" fmla="*/ 61 h 203"/>
                  <a:gd name="T78" fmla="*/ 90 w 239"/>
                  <a:gd name="T79" fmla="*/ 61 h 203"/>
                  <a:gd name="T80" fmla="*/ 99 w 239"/>
                  <a:gd name="T81" fmla="*/ 61 h 203"/>
                  <a:gd name="T82" fmla="*/ 7 w 239"/>
                  <a:gd name="T83" fmla="*/ 97 h 203"/>
                  <a:gd name="T84" fmla="*/ 4 w 239"/>
                  <a:gd name="T85" fmla="*/ 90 h 203"/>
                  <a:gd name="T86" fmla="*/ 2 w 239"/>
                  <a:gd name="T87" fmla="*/ 83 h 203"/>
                  <a:gd name="T88" fmla="*/ 1 w 239"/>
                  <a:gd name="T89" fmla="*/ 75 h 203"/>
                  <a:gd name="T90" fmla="*/ 0 w 239"/>
                  <a:gd name="T91" fmla="*/ 68 h 203"/>
                  <a:gd name="T92" fmla="*/ 1 w 239"/>
                  <a:gd name="T93" fmla="*/ 60 h 203"/>
                  <a:gd name="T94" fmla="*/ 1 w 239"/>
                  <a:gd name="T95" fmla="*/ 53 h 203"/>
                  <a:gd name="T96" fmla="*/ 3 w 239"/>
                  <a:gd name="T97" fmla="*/ 47 h 203"/>
                  <a:gd name="T98" fmla="*/ 6 w 239"/>
                  <a:gd name="T99" fmla="*/ 40 h 203"/>
                  <a:gd name="T100" fmla="*/ 8 w 239"/>
                  <a:gd name="T101" fmla="*/ 33 h 203"/>
                  <a:gd name="T102" fmla="*/ 12 w 239"/>
                  <a:gd name="T103" fmla="*/ 27 h 203"/>
                  <a:gd name="T104" fmla="*/ 14 w 239"/>
                  <a:gd name="T105" fmla="*/ 22 h 203"/>
                  <a:gd name="T106" fmla="*/ 17 w 239"/>
                  <a:gd name="T107" fmla="*/ 16 h 203"/>
                  <a:gd name="T108" fmla="*/ 22 w 239"/>
                  <a:gd name="T109" fmla="*/ 11 h 203"/>
                  <a:gd name="T110" fmla="*/ 29 w 239"/>
                  <a:gd name="T111" fmla="*/ 5 h 203"/>
                  <a:gd name="T112" fmla="*/ 33 w 239"/>
                  <a:gd name="T113" fmla="*/ 1 h 203"/>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239"/>
                  <a:gd name="T172" fmla="*/ 0 h 203"/>
                  <a:gd name="T173" fmla="*/ 239 w 239"/>
                  <a:gd name="T174" fmla="*/ 203 h 203"/>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239" h="203">
                    <a:moveTo>
                      <a:pt x="66" y="2"/>
                    </a:moveTo>
                    <a:lnTo>
                      <a:pt x="72" y="0"/>
                    </a:lnTo>
                    <a:lnTo>
                      <a:pt x="76" y="0"/>
                    </a:lnTo>
                    <a:lnTo>
                      <a:pt x="82" y="0"/>
                    </a:lnTo>
                    <a:lnTo>
                      <a:pt x="89" y="0"/>
                    </a:lnTo>
                    <a:lnTo>
                      <a:pt x="95" y="0"/>
                    </a:lnTo>
                    <a:lnTo>
                      <a:pt x="101" y="0"/>
                    </a:lnTo>
                    <a:lnTo>
                      <a:pt x="104" y="2"/>
                    </a:lnTo>
                    <a:lnTo>
                      <a:pt x="112" y="2"/>
                    </a:lnTo>
                    <a:lnTo>
                      <a:pt x="116" y="2"/>
                    </a:lnTo>
                    <a:lnTo>
                      <a:pt x="121" y="4"/>
                    </a:lnTo>
                    <a:lnTo>
                      <a:pt x="127" y="5"/>
                    </a:lnTo>
                    <a:lnTo>
                      <a:pt x="133" y="7"/>
                    </a:lnTo>
                    <a:lnTo>
                      <a:pt x="139" y="7"/>
                    </a:lnTo>
                    <a:lnTo>
                      <a:pt x="144" y="11"/>
                    </a:lnTo>
                    <a:lnTo>
                      <a:pt x="150" y="11"/>
                    </a:lnTo>
                    <a:lnTo>
                      <a:pt x="156" y="15"/>
                    </a:lnTo>
                    <a:lnTo>
                      <a:pt x="160" y="15"/>
                    </a:lnTo>
                    <a:lnTo>
                      <a:pt x="163" y="17"/>
                    </a:lnTo>
                    <a:lnTo>
                      <a:pt x="169" y="19"/>
                    </a:lnTo>
                    <a:lnTo>
                      <a:pt x="175" y="23"/>
                    </a:lnTo>
                    <a:lnTo>
                      <a:pt x="180" y="23"/>
                    </a:lnTo>
                    <a:lnTo>
                      <a:pt x="184" y="26"/>
                    </a:lnTo>
                    <a:lnTo>
                      <a:pt x="190" y="28"/>
                    </a:lnTo>
                    <a:lnTo>
                      <a:pt x="196" y="30"/>
                    </a:lnTo>
                    <a:lnTo>
                      <a:pt x="199" y="32"/>
                    </a:lnTo>
                    <a:lnTo>
                      <a:pt x="205" y="34"/>
                    </a:lnTo>
                    <a:lnTo>
                      <a:pt x="211" y="36"/>
                    </a:lnTo>
                    <a:lnTo>
                      <a:pt x="217" y="38"/>
                    </a:lnTo>
                    <a:lnTo>
                      <a:pt x="222" y="40"/>
                    </a:lnTo>
                    <a:lnTo>
                      <a:pt x="228" y="42"/>
                    </a:lnTo>
                    <a:lnTo>
                      <a:pt x="234" y="43"/>
                    </a:lnTo>
                    <a:lnTo>
                      <a:pt x="239" y="47"/>
                    </a:lnTo>
                    <a:lnTo>
                      <a:pt x="239" y="51"/>
                    </a:lnTo>
                    <a:lnTo>
                      <a:pt x="239" y="57"/>
                    </a:lnTo>
                    <a:lnTo>
                      <a:pt x="239" y="62"/>
                    </a:lnTo>
                    <a:lnTo>
                      <a:pt x="239" y="68"/>
                    </a:lnTo>
                    <a:lnTo>
                      <a:pt x="230" y="70"/>
                    </a:lnTo>
                    <a:lnTo>
                      <a:pt x="222" y="72"/>
                    </a:lnTo>
                    <a:lnTo>
                      <a:pt x="213" y="72"/>
                    </a:lnTo>
                    <a:lnTo>
                      <a:pt x="207" y="72"/>
                    </a:lnTo>
                    <a:lnTo>
                      <a:pt x="198" y="70"/>
                    </a:lnTo>
                    <a:lnTo>
                      <a:pt x="190" y="68"/>
                    </a:lnTo>
                    <a:lnTo>
                      <a:pt x="182" y="66"/>
                    </a:lnTo>
                    <a:lnTo>
                      <a:pt x="173" y="64"/>
                    </a:lnTo>
                    <a:lnTo>
                      <a:pt x="165" y="61"/>
                    </a:lnTo>
                    <a:lnTo>
                      <a:pt x="158" y="59"/>
                    </a:lnTo>
                    <a:lnTo>
                      <a:pt x="148" y="55"/>
                    </a:lnTo>
                    <a:lnTo>
                      <a:pt x="140" y="53"/>
                    </a:lnTo>
                    <a:lnTo>
                      <a:pt x="131" y="51"/>
                    </a:lnTo>
                    <a:lnTo>
                      <a:pt x="125" y="47"/>
                    </a:lnTo>
                    <a:lnTo>
                      <a:pt x="118" y="45"/>
                    </a:lnTo>
                    <a:lnTo>
                      <a:pt x="110" y="43"/>
                    </a:lnTo>
                    <a:lnTo>
                      <a:pt x="102" y="42"/>
                    </a:lnTo>
                    <a:lnTo>
                      <a:pt x="97" y="42"/>
                    </a:lnTo>
                    <a:lnTo>
                      <a:pt x="89" y="40"/>
                    </a:lnTo>
                    <a:lnTo>
                      <a:pt x="83" y="42"/>
                    </a:lnTo>
                    <a:lnTo>
                      <a:pt x="76" y="42"/>
                    </a:lnTo>
                    <a:lnTo>
                      <a:pt x="72" y="43"/>
                    </a:lnTo>
                    <a:lnTo>
                      <a:pt x="66" y="47"/>
                    </a:lnTo>
                    <a:lnTo>
                      <a:pt x="63" y="51"/>
                    </a:lnTo>
                    <a:lnTo>
                      <a:pt x="57" y="55"/>
                    </a:lnTo>
                    <a:lnTo>
                      <a:pt x="53" y="62"/>
                    </a:lnTo>
                    <a:lnTo>
                      <a:pt x="51" y="66"/>
                    </a:lnTo>
                    <a:lnTo>
                      <a:pt x="51" y="70"/>
                    </a:lnTo>
                    <a:lnTo>
                      <a:pt x="49" y="76"/>
                    </a:lnTo>
                    <a:lnTo>
                      <a:pt x="49" y="81"/>
                    </a:lnTo>
                    <a:lnTo>
                      <a:pt x="47" y="85"/>
                    </a:lnTo>
                    <a:lnTo>
                      <a:pt x="45" y="91"/>
                    </a:lnTo>
                    <a:lnTo>
                      <a:pt x="45" y="97"/>
                    </a:lnTo>
                    <a:lnTo>
                      <a:pt x="45" y="104"/>
                    </a:lnTo>
                    <a:lnTo>
                      <a:pt x="44" y="110"/>
                    </a:lnTo>
                    <a:lnTo>
                      <a:pt x="44" y="118"/>
                    </a:lnTo>
                    <a:lnTo>
                      <a:pt x="44" y="125"/>
                    </a:lnTo>
                    <a:lnTo>
                      <a:pt x="44" y="135"/>
                    </a:lnTo>
                    <a:lnTo>
                      <a:pt x="158" y="121"/>
                    </a:lnTo>
                    <a:lnTo>
                      <a:pt x="163" y="121"/>
                    </a:lnTo>
                    <a:lnTo>
                      <a:pt x="169" y="121"/>
                    </a:lnTo>
                    <a:lnTo>
                      <a:pt x="173" y="121"/>
                    </a:lnTo>
                    <a:lnTo>
                      <a:pt x="179" y="121"/>
                    </a:lnTo>
                    <a:lnTo>
                      <a:pt x="188" y="121"/>
                    </a:lnTo>
                    <a:lnTo>
                      <a:pt x="198" y="121"/>
                    </a:lnTo>
                    <a:lnTo>
                      <a:pt x="19" y="203"/>
                    </a:lnTo>
                    <a:lnTo>
                      <a:pt x="13" y="194"/>
                    </a:lnTo>
                    <a:lnTo>
                      <a:pt x="11" y="188"/>
                    </a:lnTo>
                    <a:lnTo>
                      <a:pt x="7" y="180"/>
                    </a:lnTo>
                    <a:lnTo>
                      <a:pt x="5" y="173"/>
                    </a:lnTo>
                    <a:lnTo>
                      <a:pt x="4" y="165"/>
                    </a:lnTo>
                    <a:lnTo>
                      <a:pt x="2" y="158"/>
                    </a:lnTo>
                    <a:lnTo>
                      <a:pt x="2" y="150"/>
                    </a:lnTo>
                    <a:lnTo>
                      <a:pt x="2" y="142"/>
                    </a:lnTo>
                    <a:lnTo>
                      <a:pt x="0" y="135"/>
                    </a:lnTo>
                    <a:lnTo>
                      <a:pt x="0" y="129"/>
                    </a:lnTo>
                    <a:lnTo>
                      <a:pt x="2" y="119"/>
                    </a:lnTo>
                    <a:lnTo>
                      <a:pt x="2" y="114"/>
                    </a:lnTo>
                    <a:lnTo>
                      <a:pt x="2" y="106"/>
                    </a:lnTo>
                    <a:lnTo>
                      <a:pt x="4" y="100"/>
                    </a:lnTo>
                    <a:lnTo>
                      <a:pt x="5" y="93"/>
                    </a:lnTo>
                    <a:lnTo>
                      <a:pt x="9" y="87"/>
                    </a:lnTo>
                    <a:lnTo>
                      <a:pt x="11" y="80"/>
                    </a:lnTo>
                    <a:lnTo>
                      <a:pt x="13" y="74"/>
                    </a:lnTo>
                    <a:lnTo>
                      <a:pt x="15" y="66"/>
                    </a:lnTo>
                    <a:lnTo>
                      <a:pt x="19" y="61"/>
                    </a:lnTo>
                    <a:lnTo>
                      <a:pt x="23" y="53"/>
                    </a:lnTo>
                    <a:lnTo>
                      <a:pt x="25" y="49"/>
                    </a:lnTo>
                    <a:lnTo>
                      <a:pt x="28" y="43"/>
                    </a:lnTo>
                    <a:lnTo>
                      <a:pt x="32" y="38"/>
                    </a:lnTo>
                    <a:lnTo>
                      <a:pt x="34" y="32"/>
                    </a:lnTo>
                    <a:lnTo>
                      <a:pt x="40" y="26"/>
                    </a:lnTo>
                    <a:lnTo>
                      <a:pt x="44" y="21"/>
                    </a:lnTo>
                    <a:lnTo>
                      <a:pt x="47" y="17"/>
                    </a:lnTo>
                    <a:lnTo>
                      <a:pt x="57" y="9"/>
                    </a:lnTo>
                    <a:lnTo>
                      <a:pt x="66" y="2"/>
                    </a:lnTo>
                    <a:close/>
                  </a:path>
                </a:pathLst>
              </a:custGeom>
              <a:solidFill>
                <a:srgbClr val="000000"/>
              </a:solidFill>
              <a:ln w="9525">
                <a:noFill/>
                <a:round/>
              </a:ln>
            </p:spPr>
            <p:txBody>
              <a:bodyPr/>
              <a:lstStyle/>
              <a:p>
                <a:endParaRPr lang="en-US"/>
              </a:p>
            </p:txBody>
          </p:sp>
          <p:sp>
            <p:nvSpPr>
              <p:cNvPr id="1049007" name="Freeform 305"/>
              <p:cNvSpPr/>
              <p:nvPr/>
            </p:nvSpPr>
            <p:spPr bwMode="auto">
              <a:xfrm>
                <a:off x="2424" y="2187"/>
                <a:ext cx="240" cy="136"/>
              </a:xfrm>
              <a:custGeom>
                <a:avLst/>
                <a:gdLst>
                  <a:gd name="T0" fmla="*/ 236 w 481"/>
                  <a:gd name="T1" fmla="*/ 27 h 272"/>
                  <a:gd name="T2" fmla="*/ 225 w 481"/>
                  <a:gd name="T3" fmla="*/ 36 h 272"/>
                  <a:gd name="T4" fmla="*/ 214 w 481"/>
                  <a:gd name="T5" fmla="*/ 45 h 272"/>
                  <a:gd name="T6" fmla="*/ 202 w 481"/>
                  <a:gd name="T7" fmla="*/ 51 h 272"/>
                  <a:gd name="T8" fmla="*/ 190 w 481"/>
                  <a:gd name="T9" fmla="*/ 59 h 272"/>
                  <a:gd name="T10" fmla="*/ 178 w 481"/>
                  <a:gd name="T11" fmla="*/ 67 h 272"/>
                  <a:gd name="T12" fmla="*/ 165 w 481"/>
                  <a:gd name="T13" fmla="*/ 72 h 272"/>
                  <a:gd name="T14" fmla="*/ 153 w 481"/>
                  <a:gd name="T15" fmla="*/ 79 h 272"/>
                  <a:gd name="T16" fmla="*/ 139 w 481"/>
                  <a:gd name="T17" fmla="*/ 85 h 272"/>
                  <a:gd name="T18" fmla="*/ 127 w 481"/>
                  <a:gd name="T19" fmla="*/ 90 h 272"/>
                  <a:gd name="T20" fmla="*/ 115 w 481"/>
                  <a:gd name="T21" fmla="*/ 95 h 272"/>
                  <a:gd name="T22" fmla="*/ 102 w 481"/>
                  <a:gd name="T23" fmla="*/ 101 h 272"/>
                  <a:gd name="T24" fmla="*/ 90 w 481"/>
                  <a:gd name="T25" fmla="*/ 105 h 272"/>
                  <a:gd name="T26" fmla="*/ 78 w 481"/>
                  <a:gd name="T27" fmla="*/ 110 h 272"/>
                  <a:gd name="T28" fmla="*/ 65 w 481"/>
                  <a:gd name="T29" fmla="*/ 114 h 272"/>
                  <a:gd name="T30" fmla="*/ 54 w 481"/>
                  <a:gd name="T31" fmla="*/ 118 h 272"/>
                  <a:gd name="T32" fmla="*/ 43 w 481"/>
                  <a:gd name="T33" fmla="*/ 122 h 272"/>
                  <a:gd name="T34" fmla="*/ 33 w 481"/>
                  <a:gd name="T35" fmla="*/ 124 h 272"/>
                  <a:gd name="T36" fmla="*/ 23 w 481"/>
                  <a:gd name="T37" fmla="*/ 127 h 272"/>
                  <a:gd name="T38" fmla="*/ 15 w 481"/>
                  <a:gd name="T39" fmla="*/ 131 h 272"/>
                  <a:gd name="T40" fmla="*/ 6 w 481"/>
                  <a:gd name="T41" fmla="*/ 134 h 272"/>
                  <a:gd name="T42" fmla="*/ 0 w 481"/>
                  <a:gd name="T43" fmla="*/ 136 h 272"/>
                  <a:gd name="T44" fmla="*/ 7 w 481"/>
                  <a:gd name="T45" fmla="*/ 120 h 272"/>
                  <a:gd name="T46" fmla="*/ 16 w 481"/>
                  <a:gd name="T47" fmla="*/ 116 h 272"/>
                  <a:gd name="T48" fmla="*/ 25 w 481"/>
                  <a:gd name="T49" fmla="*/ 112 h 272"/>
                  <a:gd name="T50" fmla="*/ 35 w 481"/>
                  <a:gd name="T51" fmla="*/ 106 h 272"/>
                  <a:gd name="T52" fmla="*/ 46 w 481"/>
                  <a:gd name="T53" fmla="*/ 103 h 272"/>
                  <a:gd name="T54" fmla="*/ 58 w 481"/>
                  <a:gd name="T55" fmla="*/ 97 h 272"/>
                  <a:gd name="T56" fmla="*/ 69 w 481"/>
                  <a:gd name="T57" fmla="*/ 91 h 272"/>
                  <a:gd name="T58" fmla="*/ 81 w 481"/>
                  <a:gd name="T59" fmla="*/ 85 h 272"/>
                  <a:gd name="T60" fmla="*/ 94 w 481"/>
                  <a:gd name="T61" fmla="*/ 79 h 272"/>
                  <a:gd name="T62" fmla="*/ 106 w 481"/>
                  <a:gd name="T63" fmla="*/ 73 h 272"/>
                  <a:gd name="T64" fmla="*/ 118 w 481"/>
                  <a:gd name="T65" fmla="*/ 67 h 272"/>
                  <a:gd name="T66" fmla="*/ 131 w 481"/>
                  <a:gd name="T67" fmla="*/ 60 h 272"/>
                  <a:gd name="T68" fmla="*/ 144 w 481"/>
                  <a:gd name="T69" fmla="*/ 53 h 272"/>
                  <a:gd name="T70" fmla="*/ 156 w 481"/>
                  <a:gd name="T71" fmla="*/ 46 h 272"/>
                  <a:gd name="T72" fmla="*/ 168 w 481"/>
                  <a:gd name="T73" fmla="*/ 40 h 272"/>
                  <a:gd name="T74" fmla="*/ 180 w 481"/>
                  <a:gd name="T75" fmla="*/ 34 h 272"/>
                  <a:gd name="T76" fmla="*/ 192 w 481"/>
                  <a:gd name="T77" fmla="*/ 27 h 272"/>
                  <a:gd name="T78" fmla="*/ 202 w 481"/>
                  <a:gd name="T79" fmla="*/ 20 h 272"/>
                  <a:gd name="T80" fmla="*/ 213 w 481"/>
                  <a:gd name="T81" fmla="*/ 14 h 272"/>
                  <a:gd name="T82" fmla="*/ 222 w 481"/>
                  <a:gd name="T83" fmla="*/ 9 h 272"/>
                  <a:gd name="T84" fmla="*/ 232 w 481"/>
                  <a:gd name="T85" fmla="*/ 3 h 272"/>
                  <a:gd name="T86" fmla="*/ 237 w 481"/>
                  <a:gd name="T87" fmla="*/ 0 h 272"/>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481"/>
                  <a:gd name="T133" fmla="*/ 0 h 272"/>
                  <a:gd name="T134" fmla="*/ 481 w 481"/>
                  <a:gd name="T135" fmla="*/ 272 h 272"/>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481" h="272">
                    <a:moveTo>
                      <a:pt x="475" y="0"/>
                    </a:moveTo>
                    <a:lnTo>
                      <a:pt x="481" y="52"/>
                    </a:lnTo>
                    <a:lnTo>
                      <a:pt x="473" y="55"/>
                    </a:lnTo>
                    <a:lnTo>
                      <a:pt x="466" y="61"/>
                    </a:lnTo>
                    <a:lnTo>
                      <a:pt x="458" y="67"/>
                    </a:lnTo>
                    <a:lnTo>
                      <a:pt x="450" y="73"/>
                    </a:lnTo>
                    <a:lnTo>
                      <a:pt x="445" y="78"/>
                    </a:lnTo>
                    <a:lnTo>
                      <a:pt x="437" y="84"/>
                    </a:lnTo>
                    <a:lnTo>
                      <a:pt x="429" y="90"/>
                    </a:lnTo>
                    <a:lnTo>
                      <a:pt x="422" y="95"/>
                    </a:lnTo>
                    <a:lnTo>
                      <a:pt x="414" y="99"/>
                    </a:lnTo>
                    <a:lnTo>
                      <a:pt x="405" y="103"/>
                    </a:lnTo>
                    <a:lnTo>
                      <a:pt x="397" y="109"/>
                    </a:lnTo>
                    <a:lnTo>
                      <a:pt x="390" y="114"/>
                    </a:lnTo>
                    <a:lnTo>
                      <a:pt x="380" y="118"/>
                    </a:lnTo>
                    <a:lnTo>
                      <a:pt x="372" y="124"/>
                    </a:lnTo>
                    <a:lnTo>
                      <a:pt x="365" y="128"/>
                    </a:lnTo>
                    <a:lnTo>
                      <a:pt x="357" y="133"/>
                    </a:lnTo>
                    <a:lnTo>
                      <a:pt x="348" y="137"/>
                    </a:lnTo>
                    <a:lnTo>
                      <a:pt x="340" y="141"/>
                    </a:lnTo>
                    <a:lnTo>
                      <a:pt x="331" y="145"/>
                    </a:lnTo>
                    <a:lnTo>
                      <a:pt x="323" y="151"/>
                    </a:lnTo>
                    <a:lnTo>
                      <a:pt x="314" y="154"/>
                    </a:lnTo>
                    <a:lnTo>
                      <a:pt x="306" y="158"/>
                    </a:lnTo>
                    <a:lnTo>
                      <a:pt x="296" y="162"/>
                    </a:lnTo>
                    <a:lnTo>
                      <a:pt x="289" y="166"/>
                    </a:lnTo>
                    <a:lnTo>
                      <a:pt x="279" y="170"/>
                    </a:lnTo>
                    <a:lnTo>
                      <a:pt x="272" y="173"/>
                    </a:lnTo>
                    <a:lnTo>
                      <a:pt x="262" y="177"/>
                    </a:lnTo>
                    <a:lnTo>
                      <a:pt x="255" y="181"/>
                    </a:lnTo>
                    <a:lnTo>
                      <a:pt x="247" y="185"/>
                    </a:lnTo>
                    <a:lnTo>
                      <a:pt x="237" y="189"/>
                    </a:lnTo>
                    <a:lnTo>
                      <a:pt x="230" y="190"/>
                    </a:lnTo>
                    <a:lnTo>
                      <a:pt x="222" y="196"/>
                    </a:lnTo>
                    <a:lnTo>
                      <a:pt x="213" y="198"/>
                    </a:lnTo>
                    <a:lnTo>
                      <a:pt x="205" y="202"/>
                    </a:lnTo>
                    <a:lnTo>
                      <a:pt x="196" y="206"/>
                    </a:lnTo>
                    <a:lnTo>
                      <a:pt x="188" y="209"/>
                    </a:lnTo>
                    <a:lnTo>
                      <a:pt x="180" y="211"/>
                    </a:lnTo>
                    <a:lnTo>
                      <a:pt x="171" y="213"/>
                    </a:lnTo>
                    <a:lnTo>
                      <a:pt x="163" y="217"/>
                    </a:lnTo>
                    <a:lnTo>
                      <a:pt x="156" y="221"/>
                    </a:lnTo>
                    <a:lnTo>
                      <a:pt x="148" y="223"/>
                    </a:lnTo>
                    <a:lnTo>
                      <a:pt x="139" y="225"/>
                    </a:lnTo>
                    <a:lnTo>
                      <a:pt x="131" y="228"/>
                    </a:lnTo>
                    <a:lnTo>
                      <a:pt x="125" y="230"/>
                    </a:lnTo>
                    <a:lnTo>
                      <a:pt x="116" y="234"/>
                    </a:lnTo>
                    <a:lnTo>
                      <a:pt x="108" y="236"/>
                    </a:lnTo>
                    <a:lnTo>
                      <a:pt x="101" y="240"/>
                    </a:lnTo>
                    <a:lnTo>
                      <a:pt x="95" y="242"/>
                    </a:lnTo>
                    <a:lnTo>
                      <a:pt x="87" y="244"/>
                    </a:lnTo>
                    <a:lnTo>
                      <a:pt x="80" y="246"/>
                    </a:lnTo>
                    <a:lnTo>
                      <a:pt x="74" y="248"/>
                    </a:lnTo>
                    <a:lnTo>
                      <a:pt x="66" y="249"/>
                    </a:lnTo>
                    <a:lnTo>
                      <a:pt x="61" y="251"/>
                    </a:lnTo>
                    <a:lnTo>
                      <a:pt x="53" y="253"/>
                    </a:lnTo>
                    <a:lnTo>
                      <a:pt x="47" y="255"/>
                    </a:lnTo>
                    <a:lnTo>
                      <a:pt x="42" y="259"/>
                    </a:lnTo>
                    <a:lnTo>
                      <a:pt x="36" y="259"/>
                    </a:lnTo>
                    <a:lnTo>
                      <a:pt x="30" y="261"/>
                    </a:lnTo>
                    <a:lnTo>
                      <a:pt x="25" y="263"/>
                    </a:lnTo>
                    <a:lnTo>
                      <a:pt x="19" y="265"/>
                    </a:lnTo>
                    <a:lnTo>
                      <a:pt x="13" y="267"/>
                    </a:lnTo>
                    <a:lnTo>
                      <a:pt x="7" y="268"/>
                    </a:lnTo>
                    <a:lnTo>
                      <a:pt x="4" y="268"/>
                    </a:lnTo>
                    <a:lnTo>
                      <a:pt x="0" y="272"/>
                    </a:lnTo>
                    <a:lnTo>
                      <a:pt x="6" y="244"/>
                    </a:lnTo>
                    <a:lnTo>
                      <a:pt x="9" y="242"/>
                    </a:lnTo>
                    <a:lnTo>
                      <a:pt x="15" y="240"/>
                    </a:lnTo>
                    <a:lnTo>
                      <a:pt x="19" y="238"/>
                    </a:lnTo>
                    <a:lnTo>
                      <a:pt x="26" y="236"/>
                    </a:lnTo>
                    <a:lnTo>
                      <a:pt x="32" y="232"/>
                    </a:lnTo>
                    <a:lnTo>
                      <a:pt x="38" y="230"/>
                    </a:lnTo>
                    <a:lnTo>
                      <a:pt x="44" y="227"/>
                    </a:lnTo>
                    <a:lnTo>
                      <a:pt x="51" y="225"/>
                    </a:lnTo>
                    <a:lnTo>
                      <a:pt x="57" y="221"/>
                    </a:lnTo>
                    <a:lnTo>
                      <a:pt x="64" y="217"/>
                    </a:lnTo>
                    <a:lnTo>
                      <a:pt x="70" y="213"/>
                    </a:lnTo>
                    <a:lnTo>
                      <a:pt x="78" y="211"/>
                    </a:lnTo>
                    <a:lnTo>
                      <a:pt x="85" y="208"/>
                    </a:lnTo>
                    <a:lnTo>
                      <a:pt x="93" y="206"/>
                    </a:lnTo>
                    <a:lnTo>
                      <a:pt x="101" y="202"/>
                    </a:lnTo>
                    <a:lnTo>
                      <a:pt x="108" y="198"/>
                    </a:lnTo>
                    <a:lnTo>
                      <a:pt x="116" y="194"/>
                    </a:lnTo>
                    <a:lnTo>
                      <a:pt x="123" y="190"/>
                    </a:lnTo>
                    <a:lnTo>
                      <a:pt x="129" y="187"/>
                    </a:lnTo>
                    <a:lnTo>
                      <a:pt x="139" y="183"/>
                    </a:lnTo>
                    <a:lnTo>
                      <a:pt x="146" y="179"/>
                    </a:lnTo>
                    <a:lnTo>
                      <a:pt x="156" y="175"/>
                    </a:lnTo>
                    <a:lnTo>
                      <a:pt x="163" y="171"/>
                    </a:lnTo>
                    <a:lnTo>
                      <a:pt x="171" y="168"/>
                    </a:lnTo>
                    <a:lnTo>
                      <a:pt x="180" y="162"/>
                    </a:lnTo>
                    <a:lnTo>
                      <a:pt x="188" y="158"/>
                    </a:lnTo>
                    <a:lnTo>
                      <a:pt x="196" y="154"/>
                    </a:lnTo>
                    <a:lnTo>
                      <a:pt x="205" y="151"/>
                    </a:lnTo>
                    <a:lnTo>
                      <a:pt x="213" y="147"/>
                    </a:lnTo>
                    <a:lnTo>
                      <a:pt x="220" y="143"/>
                    </a:lnTo>
                    <a:lnTo>
                      <a:pt x="230" y="137"/>
                    </a:lnTo>
                    <a:lnTo>
                      <a:pt x="237" y="133"/>
                    </a:lnTo>
                    <a:lnTo>
                      <a:pt x="247" y="128"/>
                    </a:lnTo>
                    <a:lnTo>
                      <a:pt x="255" y="126"/>
                    </a:lnTo>
                    <a:lnTo>
                      <a:pt x="262" y="120"/>
                    </a:lnTo>
                    <a:lnTo>
                      <a:pt x="272" y="116"/>
                    </a:lnTo>
                    <a:lnTo>
                      <a:pt x="279" y="111"/>
                    </a:lnTo>
                    <a:lnTo>
                      <a:pt x="289" y="107"/>
                    </a:lnTo>
                    <a:lnTo>
                      <a:pt x="296" y="101"/>
                    </a:lnTo>
                    <a:lnTo>
                      <a:pt x="304" y="99"/>
                    </a:lnTo>
                    <a:lnTo>
                      <a:pt x="312" y="93"/>
                    </a:lnTo>
                    <a:lnTo>
                      <a:pt x="319" y="90"/>
                    </a:lnTo>
                    <a:lnTo>
                      <a:pt x="329" y="84"/>
                    </a:lnTo>
                    <a:lnTo>
                      <a:pt x="336" y="80"/>
                    </a:lnTo>
                    <a:lnTo>
                      <a:pt x="344" y="74"/>
                    </a:lnTo>
                    <a:lnTo>
                      <a:pt x="352" y="71"/>
                    </a:lnTo>
                    <a:lnTo>
                      <a:pt x="361" y="67"/>
                    </a:lnTo>
                    <a:lnTo>
                      <a:pt x="369" y="63"/>
                    </a:lnTo>
                    <a:lnTo>
                      <a:pt x="374" y="57"/>
                    </a:lnTo>
                    <a:lnTo>
                      <a:pt x="384" y="54"/>
                    </a:lnTo>
                    <a:lnTo>
                      <a:pt x="390" y="48"/>
                    </a:lnTo>
                    <a:lnTo>
                      <a:pt x="399" y="46"/>
                    </a:lnTo>
                    <a:lnTo>
                      <a:pt x="405" y="40"/>
                    </a:lnTo>
                    <a:lnTo>
                      <a:pt x="412" y="36"/>
                    </a:lnTo>
                    <a:lnTo>
                      <a:pt x="420" y="33"/>
                    </a:lnTo>
                    <a:lnTo>
                      <a:pt x="426" y="29"/>
                    </a:lnTo>
                    <a:lnTo>
                      <a:pt x="431" y="25"/>
                    </a:lnTo>
                    <a:lnTo>
                      <a:pt x="439" y="21"/>
                    </a:lnTo>
                    <a:lnTo>
                      <a:pt x="445" y="17"/>
                    </a:lnTo>
                    <a:lnTo>
                      <a:pt x="450" y="14"/>
                    </a:lnTo>
                    <a:lnTo>
                      <a:pt x="456" y="10"/>
                    </a:lnTo>
                    <a:lnTo>
                      <a:pt x="464" y="6"/>
                    </a:lnTo>
                    <a:lnTo>
                      <a:pt x="469" y="2"/>
                    </a:lnTo>
                    <a:lnTo>
                      <a:pt x="475" y="0"/>
                    </a:lnTo>
                    <a:close/>
                  </a:path>
                </a:pathLst>
              </a:custGeom>
              <a:solidFill>
                <a:srgbClr val="000000"/>
              </a:solidFill>
              <a:ln w="9525">
                <a:noFill/>
                <a:round/>
              </a:ln>
            </p:spPr>
            <p:txBody>
              <a:bodyPr/>
              <a:lstStyle/>
              <a:p>
                <a:endParaRPr lang="en-US"/>
              </a:p>
            </p:txBody>
          </p:sp>
          <p:sp>
            <p:nvSpPr>
              <p:cNvPr id="1049008" name="Freeform 306"/>
              <p:cNvSpPr/>
              <p:nvPr/>
            </p:nvSpPr>
            <p:spPr bwMode="auto">
              <a:xfrm>
                <a:off x="2626" y="2136"/>
                <a:ext cx="46" cy="77"/>
              </a:xfrm>
              <a:custGeom>
                <a:avLst/>
                <a:gdLst>
                  <a:gd name="T0" fmla="*/ 0 w 91"/>
                  <a:gd name="T1" fmla="*/ 0 h 154"/>
                  <a:gd name="T2" fmla="*/ 3 w 91"/>
                  <a:gd name="T3" fmla="*/ 1 h 154"/>
                  <a:gd name="T4" fmla="*/ 7 w 91"/>
                  <a:gd name="T5" fmla="*/ 3 h 154"/>
                  <a:gd name="T6" fmla="*/ 10 w 91"/>
                  <a:gd name="T7" fmla="*/ 6 h 154"/>
                  <a:gd name="T8" fmla="*/ 12 w 91"/>
                  <a:gd name="T9" fmla="*/ 10 h 154"/>
                  <a:gd name="T10" fmla="*/ 16 w 91"/>
                  <a:gd name="T11" fmla="*/ 14 h 154"/>
                  <a:gd name="T12" fmla="*/ 19 w 91"/>
                  <a:gd name="T13" fmla="*/ 19 h 154"/>
                  <a:gd name="T14" fmla="*/ 23 w 91"/>
                  <a:gd name="T15" fmla="*/ 23 h 154"/>
                  <a:gd name="T16" fmla="*/ 26 w 91"/>
                  <a:gd name="T17" fmla="*/ 28 h 154"/>
                  <a:gd name="T18" fmla="*/ 29 w 91"/>
                  <a:gd name="T19" fmla="*/ 33 h 154"/>
                  <a:gd name="T20" fmla="*/ 32 w 91"/>
                  <a:gd name="T21" fmla="*/ 38 h 154"/>
                  <a:gd name="T22" fmla="*/ 34 w 91"/>
                  <a:gd name="T23" fmla="*/ 42 h 154"/>
                  <a:gd name="T24" fmla="*/ 37 w 91"/>
                  <a:gd name="T25" fmla="*/ 47 h 154"/>
                  <a:gd name="T26" fmla="*/ 39 w 91"/>
                  <a:gd name="T27" fmla="*/ 52 h 154"/>
                  <a:gd name="T28" fmla="*/ 42 w 91"/>
                  <a:gd name="T29" fmla="*/ 57 h 154"/>
                  <a:gd name="T30" fmla="*/ 44 w 91"/>
                  <a:gd name="T31" fmla="*/ 59 h 154"/>
                  <a:gd name="T32" fmla="*/ 46 w 91"/>
                  <a:gd name="T33" fmla="*/ 63 h 154"/>
                  <a:gd name="T34" fmla="*/ 38 w 91"/>
                  <a:gd name="T35" fmla="*/ 77 h 154"/>
                  <a:gd name="T36" fmla="*/ 34 w 91"/>
                  <a:gd name="T37" fmla="*/ 73 h 154"/>
                  <a:gd name="T38" fmla="*/ 31 w 91"/>
                  <a:gd name="T39" fmla="*/ 69 h 154"/>
                  <a:gd name="T40" fmla="*/ 26 w 91"/>
                  <a:gd name="T41" fmla="*/ 65 h 154"/>
                  <a:gd name="T42" fmla="*/ 23 w 91"/>
                  <a:gd name="T43" fmla="*/ 60 h 154"/>
                  <a:gd name="T44" fmla="*/ 19 w 91"/>
                  <a:gd name="T45" fmla="*/ 56 h 154"/>
                  <a:gd name="T46" fmla="*/ 16 w 91"/>
                  <a:gd name="T47" fmla="*/ 51 h 154"/>
                  <a:gd name="T48" fmla="*/ 13 w 91"/>
                  <a:gd name="T49" fmla="*/ 46 h 154"/>
                  <a:gd name="T50" fmla="*/ 11 w 91"/>
                  <a:gd name="T51" fmla="*/ 41 h 154"/>
                  <a:gd name="T52" fmla="*/ 10 w 91"/>
                  <a:gd name="T53" fmla="*/ 39 h 154"/>
                  <a:gd name="T54" fmla="*/ 9 w 91"/>
                  <a:gd name="T55" fmla="*/ 36 h 154"/>
                  <a:gd name="T56" fmla="*/ 7 w 91"/>
                  <a:gd name="T57" fmla="*/ 33 h 154"/>
                  <a:gd name="T58" fmla="*/ 6 w 91"/>
                  <a:gd name="T59" fmla="*/ 31 h 154"/>
                  <a:gd name="T60" fmla="*/ 5 w 91"/>
                  <a:gd name="T61" fmla="*/ 28 h 154"/>
                  <a:gd name="T62" fmla="*/ 4 w 91"/>
                  <a:gd name="T63" fmla="*/ 25 h 154"/>
                  <a:gd name="T64" fmla="*/ 3 w 91"/>
                  <a:gd name="T65" fmla="*/ 22 h 154"/>
                  <a:gd name="T66" fmla="*/ 3 w 91"/>
                  <a:gd name="T67" fmla="*/ 20 h 154"/>
                  <a:gd name="T68" fmla="*/ 2 w 91"/>
                  <a:gd name="T69" fmla="*/ 17 h 154"/>
                  <a:gd name="T70" fmla="*/ 1 w 91"/>
                  <a:gd name="T71" fmla="*/ 15 h 154"/>
                  <a:gd name="T72" fmla="*/ 1 w 91"/>
                  <a:gd name="T73" fmla="*/ 12 h 154"/>
                  <a:gd name="T74" fmla="*/ 1 w 91"/>
                  <a:gd name="T75" fmla="*/ 10 h 154"/>
                  <a:gd name="T76" fmla="*/ 0 w 91"/>
                  <a:gd name="T77" fmla="*/ 5 h 154"/>
                  <a:gd name="T78" fmla="*/ 0 w 91"/>
                  <a:gd name="T79" fmla="*/ 0 h 154"/>
                  <a:gd name="T80" fmla="*/ 0 w 91"/>
                  <a:gd name="T81" fmla="*/ 0 h 154"/>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91"/>
                  <a:gd name="T124" fmla="*/ 0 h 154"/>
                  <a:gd name="T125" fmla="*/ 91 w 91"/>
                  <a:gd name="T126" fmla="*/ 154 h 154"/>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91" h="154">
                    <a:moveTo>
                      <a:pt x="0" y="0"/>
                    </a:moveTo>
                    <a:lnTo>
                      <a:pt x="5" y="3"/>
                    </a:lnTo>
                    <a:lnTo>
                      <a:pt x="13" y="7"/>
                    </a:lnTo>
                    <a:lnTo>
                      <a:pt x="19" y="13"/>
                    </a:lnTo>
                    <a:lnTo>
                      <a:pt x="24" y="21"/>
                    </a:lnTo>
                    <a:lnTo>
                      <a:pt x="32" y="28"/>
                    </a:lnTo>
                    <a:lnTo>
                      <a:pt x="38" y="38"/>
                    </a:lnTo>
                    <a:lnTo>
                      <a:pt x="45" y="47"/>
                    </a:lnTo>
                    <a:lnTo>
                      <a:pt x="51" y="57"/>
                    </a:lnTo>
                    <a:lnTo>
                      <a:pt x="57" y="66"/>
                    </a:lnTo>
                    <a:lnTo>
                      <a:pt x="63" y="76"/>
                    </a:lnTo>
                    <a:lnTo>
                      <a:pt x="68" y="85"/>
                    </a:lnTo>
                    <a:lnTo>
                      <a:pt x="74" y="95"/>
                    </a:lnTo>
                    <a:lnTo>
                      <a:pt x="78" y="104"/>
                    </a:lnTo>
                    <a:lnTo>
                      <a:pt x="83" y="114"/>
                    </a:lnTo>
                    <a:lnTo>
                      <a:pt x="87" y="119"/>
                    </a:lnTo>
                    <a:lnTo>
                      <a:pt x="91" y="127"/>
                    </a:lnTo>
                    <a:lnTo>
                      <a:pt x="76" y="154"/>
                    </a:lnTo>
                    <a:lnTo>
                      <a:pt x="68" y="146"/>
                    </a:lnTo>
                    <a:lnTo>
                      <a:pt x="61" y="138"/>
                    </a:lnTo>
                    <a:lnTo>
                      <a:pt x="51" y="129"/>
                    </a:lnTo>
                    <a:lnTo>
                      <a:pt x="45" y="121"/>
                    </a:lnTo>
                    <a:lnTo>
                      <a:pt x="38" y="112"/>
                    </a:lnTo>
                    <a:lnTo>
                      <a:pt x="32" y="102"/>
                    </a:lnTo>
                    <a:lnTo>
                      <a:pt x="26" y="93"/>
                    </a:lnTo>
                    <a:lnTo>
                      <a:pt x="21" y="83"/>
                    </a:lnTo>
                    <a:lnTo>
                      <a:pt x="19" y="78"/>
                    </a:lnTo>
                    <a:lnTo>
                      <a:pt x="17" y="72"/>
                    </a:lnTo>
                    <a:lnTo>
                      <a:pt x="13" y="66"/>
                    </a:lnTo>
                    <a:lnTo>
                      <a:pt x="11" y="62"/>
                    </a:lnTo>
                    <a:lnTo>
                      <a:pt x="9" y="57"/>
                    </a:lnTo>
                    <a:lnTo>
                      <a:pt x="7" y="51"/>
                    </a:lnTo>
                    <a:lnTo>
                      <a:pt x="5" y="45"/>
                    </a:lnTo>
                    <a:lnTo>
                      <a:pt x="5" y="40"/>
                    </a:lnTo>
                    <a:lnTo>
                      <a:pt x="4" y="34"/>
                    </a:lnTo>
                    <a:lnTo>
                      <a:pt x="2" y="30"/>
                    </a:lnTo>
                    <a:lnTo>
                      <a:pt x="2" y="24"/>
                    </a:lnTo>
                    <a:lnTo>
                      <a:pt x="2" y="19"/>
                    </a:lnTo>
                    <a:lnTo>
                      <a:pt x="0" y="9"/>
                    </a:lnTo>
                    <a:lnTo>
                      <a:pt x="0" y="0"/>
                    </a:lnTo>
                    <a:close/>
                  </a:path>
                </a:pathLst>
              </a:custGeom>
              <a:solidFill>
                <a:srgbClr val="000000"/>
              </a:solidFill>
              <a:ln w="9525">
                <a:noFill/>
                <a:round/>
              </a:ln>
            </p:spPr>
            <p:txBody>
              <a:bodyPr/>
              <a:lstStyle/>
              <a:p>
                <a:endParaRPr lang="en-US"/>
              </a:p>
            </p:txBody>
          </p:sp>
          <p:sp>
            <p:nvSpPr>
              <p:cNvPr id="1049009" name="Freeform 307"/>
              <p:cNvSpPr/>
              <p:nvPr/>
            </p:nvSpPr>
            <p:spPr bwMode="auto">
              <a:xfrm>
                <a:off x="2624" y="2113"/>
                <a:ext cx="160" cy="59"/>
              </a:xfrm>
              <a:custGeom>
                <a:avLst/>
                <a:gdLst>
                  <a:gd name="T0" fmla="*/ 64 w 319"/>
                  <a:gd name="T1" fmla="*/ 0 h 118"/>
                  <a:gd name="T2" fmla="*/ 71 w 319"/>
                  <a:gd name="T3" fmla="*/ 0 h 118"/>
                  <a:gd name="T4" fmla="*/ 77 w 319"/>
                  <a:gd name="T5" fmla="*/ 0 h 118"/>
                  <a:gd name="T6" fmla="*/ 85 w 319"/>
                  <a:gd name="T7" fmla="*/ 0 h 118"/>
                  <a:gd name="T8" fmla="*/ 91 w 319"/>
                  <a:gd name="T9" fmla="*/ 2 h 118"/>
                  <a:gd name="T10" fmla="*/ 98 w 319"/>
                  <a:gd name="T11" fmla="*/ 4 h 118"/>
                  <a:gd name="T12" fmla="*/ 105 w 319"/>
                  <a:gd name="T13" fmla="*/ 7 h 118"/>
                  <a:gd name="T14" fmla="*/ 111 w 319"/>
                  <a:gd name="T15" fmla="*/ 10 h 118"/>
                  <a:gd name="T16" fmla="*/ 118 w 319"/>
                  <a:gd name="T17" fmla="*/ 14 h 118"/>
                  <a:gd name="T18" fmla="*/ 124 w 319"/>
                  <a:gd name="T19" fmla="*/ 17 h 118"/>
                  <a:gd name="T20" fmla="*/ 130 w 319"/>
                  <a:gd name="T21" fmla="*/ 22 h 118"/>
                  <a:gd name="T22" fmla="*/ 135 w 319"/>
                  <a:gd name="T23" fmla="*/ 27 h 118"/>
                  <a:gd name="T24" fmla="*/ 141 w 319"/>
                  <a:gd name="T25" fmla="*/ 31 h 118"/>
                  <a:gd name="T26" fmla="*/ 147 w 319"/>
                  <a:gd name="T27" fmla="*/ 37 h 118"/>
                  <a:gd name="T28" fmla="*/ 152 w 319"/>
                  <a:gd name="T29" fmla="*/ 43 h 118"/>
                  <a:gd name="T30" fmla="*/ 158 w 319"/>
                  <a:gd name="T31" fmla="*/ 50 h 118"/>
                  <a:gd name="T32" fmla="*/ 160 w 319"/>
                  <a:gd name="T33" fmla="*/ 54 h 118"/>
                  <a:gd name="T34" fmla="*/ 160 w 319"/>
                  <a:gd name="T35" fmla="*/ 56 h 118"/>
                  <a:gd name="T36" fmla="*/ 155 w 319"/>
                  <a:gd name="T37" fmla="*/ 55 h 118"/>
                  <a:gd name="T38" fmla="*/ 147 w 319"/>
                  <a:gd name="T39" fmla="*/ 50 h 118"/>
                  <a:gd name="T40" fmla="*/ 139 w 319"/>
                  <a:gd name="T41" fmla="*/ 44 h 118"/>
                  <a:gd name="T42" fmla="*/ 130 w 319"/>
                  <a:gd name="T43" fmla="*/ 40 h 118"/>
                  <a:gd name="T44" fmla="*/ 121 w 319"/>
                  <a:gd name="T45" fmla="*/ 36 h 118"/>
                  <a:gd name="T46" fmla="*/ 112 w 319"/>
                  <a:gd name="T47" fmla="*/ 34 h 118"/>
                  <a:gd name="T48" fmla="*/ 103 w 319"/>
                  <a:gd name="T49" fmla="*/ 31 h 118"/>
                  <a:gd name="T50" fmla="*/ 93 w 319"/>
                  <a:gd name="T51" fmla="*/ 30 h 118"/>
                  <a:gd name="T52" fmla="*/ 85 w 319"/>
                  <a:gd name="T53" fmla="*/ 30 h 118"/>
                  <a:gd name="T54" fmla="*/ 75 w 319"/>
                  <a:gd name="T55" fmla="*/ 30 h 118"/>
                  <a:gd name="T56" fmla="*/ 66 w 319"/>
                  <a:gd name="T57" fmla="*/ 31 h 118"/>
                  <a:gd name="T58" fmla="*/ 55 w 319"/>
                  <a:gd name="T59" fmla="*/ 34 h 118"/>
                  <a:gd name="T60" fmla="*/ 47 w 319"/>
                  <a:gd name="T61" fmla="*/ 37 h 118"/>
                  <a:gd name="T62" fmla="*/ 38 w 319"/>
                  <a:gd name="T63" fmla="*/ 40 h 118"/>
                  <a:gd name="T64" fmla="*/ 29 w 319"/>
                  <a:gd name="T65" fmla="*/ 45 h 118"/>
                  <a:gd name="T66" fmla="*/ 21 w 319"/>
                  <a:gd name="T67" fmla="*/ 50 h 118"/>
                  <a:gd name="T68" fmla="*/ 13 w 319"/>
                  <a:gd name="T69" fmla="*/ 50 h 118"/>
                  <a:gd name="T70" fmla="*/ 4 w 319"/>
                  <a:gd name="T71" fmla="*/ 45 h 118"/>
                  <a:gd name="T72" fmla="*/ 3 w 319"/>
                  <a:gd name="T73" fmla="*/ 39 h 118"/>
                  <a:gd name="T74" fmla="*/ 11 w 319"/>
                  <a:gd name="T75" fmla="*/ 34 h 118"/>
                  <a:gd name="T76" fmla="*/ 17 w 319"/>
                  <a:gd name="T77" fmla="*/ 28 h 118"/>
                  <a:gd name="T78" fmla="*/ 25 w 319"/>
                  <a:gd name="T79" fmla="*/ 22 h 118"/>
                  <a:gd name="T80" fmla="*/ 33 w 319"/>
                  <a:gd name="T81" fmla="*/ 16 h 118"/>
                  <a:gd name="T82" fmla="*/ 39 w 319"/>
                  <a:gd name="T83" fmla="*/ 11 h 118"/>
                  <a:gd name="T84" fmla="*/ 48 w 319"/>
                  <a:gd name="T85" fmla="*/ 6 h 118"/>
                  <a:gd name="T86" fmla="*/ 56 w 319"/>
                  <a:gd name="T87" fmla="*/ 2 h 118"/>
                  <a:gd name="T88" fmla="*/ 60 w 319"/>
                  <a:gd name="T89" fmla="*/ 2 h 118"/>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319"/>
                  <a:gd name="T136" fmla="*/ 0 h 118"/>
                  <a:gd name="T137" fmla="*/ 319 w 319"/>
                  <a:gd name="T138" fmla="*/ 118 h 118"/>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319" h="118">
                    <a:moveTo>
                      <a:pt x="120" y="4"/>
                    </a:moveTo>
                    <a:lnTo>
                      <a:pt x="127" y="0"/>
                    </a:lnTo>
                    <a:lnTo>
                      <a:pt x="133" y="0"/>
                    </a:lnTo>
                    <a:lnTo>
                      <a:pt x="141" y="0"/>
                    </a:lnTo>
                    <a:lnTo>
                      <a:pt x="148" y="0"/>
                    </a:lnTo>
                    <a:lnTo>
                      <a:pt x="154" y="0"/>
                    </a:lnTo>
                    <a:lnTo>
                      <a:pt x="162" y="0"/>
                    </a:lnTo>
                    <a:lnTo>
                      <a:pt x="169" y="0"/>
                    </a:lnTo>
                    <a:lnTo>
                      <a:pt x="177" y="2"/>
                    </a:lnTo>
                    <a:lnTo>
                      <a:pt x="182" y="4"/>
                    </a:lnTo>
                    <a:lnTo>
                      <a:pt x="188" y="6"/>
                    </a:lnTo>
                    <a:lnTo>
                      <a:pt x="196" y="8"/>
                    </a:lnTo>
                    <a:lnTo>
                      <a:pt x="203" y="10"/>
                    </a:lnTo>
                    <a:lnTo>
                      <a:pt x="209" y="13"/>
                    </a:lnTo>
                    <a:lnTo>
                      <a:pt x="215" y="15"/>
                    </a:lnTo>
                    <a:lnTo>
                      <a:pt x="222" y="19"/>
                    </a:lnTo>
                    <a:lnTo>
                      <a:pt x="230" y="23"/>
                    </a:lnTo>
                    <a:lnTo>
                      <a:pt x="236" y="27"/>
                    </a:lnTo>
                    <a:lnTo>
                      <a:pt x="241" y="30"/>
                    </a:lnTo>
                    <a:lnTo>
                      <a:pt x="247" y="34"/>
                    </a:lnTo>
                    <a:lnTo>
                      <a:pt x="253" y="38"/>
                    </a:lnTo>
                    <a:lnTo>
                      <a:pt x="259" y="44"/>
                    </a:lnTo>
                    <a:lnTo>
                      <a:pt x="264" y="48"/>
                    </a:lnTo>
                    <a:lnTo>
                      <a:pt x="270" y="53"/>
                    </a:lnTo>
                    <a:lnTo>
                      <a:pt x="278" y="59"/>
                    </a:lnTo>
                    <a:lnTo>
                      <a:pt x="281" y="63"/>
                    </a:lnTo>
                    <a:lnTo>
                      <a:pt x="287" y="68"/>
                    </a:lnTo>
                    <a:lnTo>
                      <a:pt x="293" y="74"/>
                    </a:lnTo>
                    <a:lnTo>
                      <a:pt x="298" y="80"/>
                    </a:lnTo>
                    <a:lnTo>
                      <a:pt x="304" y="86"/>
                    </a:lnTo>
                    <a:lnTo>
                      <a:pt x="310" y="93"/>
                    </a:lnTo>
                    <a:lnTo>
                      <a:pt x="316" y="99"/>
                    </a:lnTo>
                    <a:lnTo>
                      <a:pt x="319" y="106"/>
                    </a:lnTo>
                    <a:lnTo>
                      <a:pt x="319" y="108"/>
                    </a:lnTo>
                    <a:lnTo>
                      <a:pt x="319" y="110"/>
                    </a:lnTo>
                    <a:lnTo>
                      <a:pt x="319" y="112"/>
                    </a:lnTo>
                    <a:lnTo>
                      <a:pt x="319" y="118"/>
                    </a:lnTo>
                    <a:lnTo>
                      <a:pt x="310" y="110"/>
                    </a:lnTo>
                    <a:lnTo>
                      <a:pt x="302" y="105"/>
                    </a:lnTo>
                    <a:lnTo>
                      <a:pt x="293" y="99"/>
                    </a:lnTo>
                    <a:lnTo>
                      <a:pt x="287" y="93"/>
                    </a:lnTo>
                    <a:lnTo>
                      <a:pt x="278" y="87"/>
                    </a:lnTo>
                    <a:lnTo>
                      <a:pt x="268" y="84"/>
                    </a:lnTo>
                    <a:lnTo>
                      <a:pt x="260" y="80"/>
                    </a:lnTo>
                    <a:lnTo>
                      <a:pt x="253" y="76"/>
                    </a:lnTo>
                    <a:lnTo>
                      <a:pt x="241" y="72"/>
                    </a:lnTo>
                    <a:lnTo>
                      <a:pt x="234" y="68"/>
                    </a:lnTo>
                    <a:lnTo>
                      <a:pt x="224" y="67"/>
                    </a:lnTo>
                    <a:lnTo>
                      <a:pt x="215" y="65"/>
                    </a:lnTo>
                    <a:lnTo>
                      <a:pt x="205" y="63"/>
                    </a:lnTo>
                    <a:lnTo>
                      <a:pt x="198" y="61"/>
                    </a:lnTo>
                    <a:lnTo>
                      <a:pt x="186" y="61"/>
                    </a:lnTo>
                    <a:lnTo>
                      <a:pt x="179" y="61"/>
                    </a:lnTo>
                    <a:lnTo>
                      <a:pt x="169" y="59"/>
                    </a:lnTo>
                    <a:lnTo>
                      <a:pt x="160" y="59"/>
                    </a:lnTo>
                    <a:lnTo>
                      <a:pt x="150" y="61"/>
                    </a:lnTo>
                    <a:lnTo>
                      <a:pt x="141" y="61"/>
                    </a:lnTo>
                    <a:lnTo>
                      <a:pt x="131" y="63"/>
                    </a:lnTo>
                    <a:lnTo>
                      <a:pt x="122" y="65"/>
                    </a:lnTo>
                    <a:lnTo>
                      <a:pt x="110" y="67"/>
                    </a:lnTo>
                    <a:lnTo>
                      <a:pt x="103" y="70"/>
                    </a:lnTo>
                    <a:lnTo>
                      <a:pt x="93" y="74"/>
                    </a:lnTo>
                    <a:lnTo>
                      <a:pt x="84" y="76"/>
                    </a:lnTo>
                    <a:lnTo>
                      <a:pt x="76" y="80"/>
                    </a:lnTo>
                    <a:lnTo>
                      <a:pt x="67" y="84"/>
                    </a:lnTo>
                    <a:lnTo>
                      <a:pt x="57" y="89"/>
                    </a:lnTo>
                    <a:lnTo>
                      <a:pt x="49" y="93"/>
                    </a:lnTo>
                    <a:lnTo>
                      <a:pt x="42" y="99"/>
                    </a:lnTo>
                    <a:lnTo>
                      <a:pt x="32" y="106"/>
                    </a:lnTo>
                    <a:lnTo>
                      <a:pt x="25" y="99"/>
                    </a:lnTo>
                    <a:lnTo>
                      <a:pt x="15" y="95"/>
                    </a:lnTo>
                    <a:lnTo>
                      <a:pt x="8" y="89"/>
                    </a:lnTo>
                    <a:lnTo>
                      <a:pt x="0" y="84"/>
                    </a:lnTo>
                    <a:lnTo>
                      <a:pt x="6" y="78"/>
                    </a:lnTo>
                    <a:lnTo>
                      <a:pt x="13" y="74"/>
                    </a:lnTo>
                    <a:lnTo>
                      <a:pt x="21" y="68"/>
                    </a:lnTo>
                    <a:lnTo>
                      <a:pt x="27" y="63"/>
                    </a:lnTo>
                    <a:lnTo>
                      <a:pt x="34" y="55"/>
                    </a:lnTo>
                    <a:lnTo>
                      <a:pt x="42" y="51"/>
                    </a:lnTo>
                    <a:lnTo>
                      <a:pt x="49" y="44"/>
                    </a:lnTo>
                    <a:lnTo>
                      <a:pt x="57" y="38"/>
                    </a:lnTo>
                    <a:lnTo>
                      <a:pt x="65" y="32"/>
                    </a:lnTo>
                    <a:lnTo>
                      <a:pt x="72" y="27"/>
                    </a:lnTo>
                    <a:lnTo>
                      <a:pt x="78" y="21"/>
                    </a:lnTo>
                    <a:lnTo>
                      <a:pt x="87" y="17"/>
                    </a:lnTo>
                    <a:lnTo>
                      <a:pt x="95" y="11"/>
                    </a:lnTo>
                    <a:lnTo>
                      <a:pt x="105" y="8"/>
                    </a:lnTo>
                    <a:lnTo>
                      <a:pt x="112" y="4"/>
                    </a:lnTo>
                    <a:lnTo>
                      <a:pt x="120" y="4"/>
                    </a:lnTo>
                    <a:close/>
                  </a:path>
                </a:pathLst>
              </a:custGeom>
              <a:solidFill>
                <a:srgbClr val="000000"/>
              </a:solidFill>
              <a:ln w="9525">
                <a:noFill/>
                <a:round/>
              </a:ln>
            </p:spPr>
            <p:txBody>
              <a:bodyPr/>
              <a:lstStyle/>
              <a:p>
                <a:endParaRPr lang="en-US"/>
              </a:p>
            </p:txBody>
          </p:sp>
          <p:sp>
            <p:nvSpPr>
              <p:cNvPr id="1049010" name="Freeform 308"/>
              <p:cNvSpPr/>
              <p:nvPr/>
            </p:nvSpPr>
            <p:spPr bwMode="auto">
              <a:xfrm>
                <a:off x="1939" y="2366"/>
                <a:ext cx="217" cy="160"/>
              </a:xfrm>
              <a:custGeom>
                <a:avLst/>
                <a:gdLst>
                  <a:gd name="T0" fmla="*/ 214 w 434"/>
                  <a:gd name="T1" fmla="*/ 6 h 319"/>
                  <a:gd name="T2" fmla="*/ 208 w 434"/>
                  <a:gd name="T3" fmla="*/ 6 h 319"/>
                  <a:gd name="T4" fmla="*/ 205 w 434"/>
                  <a:gd name="T5" fmla="*/ 6 h 319"/>
                  <a:gd name="T6" fmla="*/ 199 w 434"/>
                  <a:gd name="T7" fmla="*/ 5 h 319"/>
                  <a:gd name="T8" fmla="*/ 193 w 434"/>
                  <a:gd name="T9" fmla="*/ 4 h 319"/>
                  <a:gd name="T10" fmla="*/ 186 w 434"/>
                  <a:gd name="T11" fmla="*/ 3 h 319"/>
                  <a:gd name="T12" fmla="*/ 178 w 434"/>
                  <a:gd name="T13" fmla="*/ 2 h 319"/>
                  <a:gd name="T14" fmla="*/ 170 w 434"/>
                  <a:gd name="T15" fmla="*/ 1 h 319"/>
                  <a:gd name="T16" fmla="*/ 160 w 434"/>
                  <a:gd name="T17" fmla="*/ 1 h 319"/>
                  <a:gd name="T18" fmla="*/ 151 w 434"/>
                  <a:gd name="T19" fmla="*/ 1 h 319"/>
                  <a:gd name="T20" fmla="*/ 142 w 434"/>
                  <a:gd name="T21" fmla="*/ 0 h 319"/>
                  <a:gd name="T22" fmla="*/ 132 w 434"/>
                  <a:gd name="T23" fmla="*/ 0 h 319"/>
                  <a:gd name="T24" fmla="*/ 122 w 434"/>
                  <a:gd name="T25" fmla="*/ 1 h 319"/>
                  <a:gd name="T26" fmla="*/ 113 w 434"/>
                  <a:gd name="T27" fmla="*/ 2 h 319"/>
                  <a:gd name="T28" fmla="*/ 104 w 434"/>
                  <a:gd name="T29" fmla="*/ 3 h 319"/>
                  <a:gd name="T30" fmla="*/ 95 w 434"/>
                  <a:gd name="T31" fmla="*/ 5 h 319"/>
                  <a:gd name="T32" fmla="*/ 88 w 434"/>
                  <a:gd name="T33" fmla="*/ 8 h 319"/>
                  <a:gd name="T34" fmla="*/ 81 w 434"/>
                  <a:gd name="T35" fmla="*/ 12 h 319"/>
                  <a:gd name="T36" fmla="*/ 74 w 434"/>
                  <a:gd name="T37" fmla="*/ 14 h 319"/>
                  <a:gd name="T38" fmla="*/ 68 w 434"/>
                  <a:gd name="T39" fmla="*/ 19 h 319"/>
                  <a:gd name="T40" fmla="*/ 62 w 434"/>
                  <a:gd name="T41" fmla="*/ 24 h 319"/>
                  <a:gd name="T42" fmla="*/ 56 w 434"/>
                  <a:gd name="T43" fmla="*/ 30 h 319"/>
                  <a:gd name="T44" fmla="*/ 50 w 434"/>
                  <a:gd name="T45" fmla="*/ 35 h 319"/>
                  <a:gd name="T46" fmla="*/ 44 w 434"/>
                  <a:gd name="T47" fmla="*/ 42 h 319"/>
                  <a:gd name="T48" fmla="*/ 38 w 434"/>
                  <a:gd name="T49" fmla="*/ 50 h 319"/>
                  <a:gd name="T50" fmla="*/ 34 w 434"/>
                  <a:gd name="T51" fmla="*/ 57 h 319"/>
                  <a:gd name="T52" fmla="*/ 27 w 434"/>
                  <a:gd name="T53" fmla="*/ 66 h 319"/>
                  <a:gd name="T54" fmla="*/ 23 w 434"/>
                  <a:gd name="T55" fmla="*/ 75 h 319"/>
                  <a:gd name="T56" fmla="*/ 19 w 434"/>
                  <a:gd name="T57" fmla="*/ 82 h 319"/>
                  <a:gd name="T58" fmla="*/ 17 w 434"/>
                  <a:gd name="T59" fmla="*/ 88 h 319"/>
                  <a:gd name="T60" fmla="*/ 14 w 434"/>
                  <a:gd name="T61" fmla="*/ 93 h 319"/>
                  <a:gd name="T62" fmla="*/ 13 w 434"/>
                  <a:gd name="T63" fmla="*/ 99 h 319"/>
                  <a:gd name="T64" fmla="*/ 11 w 434"/>
                  <a:gd name="T65" fmla="*/ 105 h 319"/>
                  <a:gd name="T66" fmla="*/ 9 w 434"/>
                  <a:gd name="T67" fmla="*/ 110 h 319"/>
                  <a:gd name="T68" fmla="*/ 7 w 434"/>
                  <a:gd name="T69" fmla="*/ 117 h 319"/>
                  <a:gd name="T70" fmla="*/ 6 w 434"/>
                  <a:gd name="T71" fmla="*/ 124 h 319"/>
                  <a:gd name="T72" fmla="*/ 4 w 434"/>
                  <a:gd name="T73" fmla="*/ 130 h 319"/>
                  <a:gd name="T74" fmla="*/ 2 w 434"/>
                  <a:gd name="T75" fmla="*/ 138 h 319"/>
                  <a:gd name="T76" fmla="*/ 1 w 434"/>
                  <a:gd name="T77" fmla="*/ 145 h 319"/>
                  <a:gd name="T78" fmla="*/ 0 w 434"/>
                  <a:gd name="T79" fmla="*/ 152 h 319"/>
                  <a:gd name="T80" fmla="*/ 2 w 434"/>
                  <a:gd name="T81" fmla="*/ 157 h 319"/>
                  <a:gd name="T82" fmla="*/ 4 w 434"/>
                  <a:gd name="T83" fmla="*/ 158 h 319"/>
                  <a:gd name="T84" fmla="*/ 7 w 434"/>
                  <a:gd name="T85" fmla="*/ 159 h 319"/>
                  <a:gd name="T86" fmla="*/ 12 w 434"/>
                  <a:gd name="T87" fmla="*/ 159 h 319"/>
                  <a:gd name="T88" fmla="*/ 81 w 434"/>
                  <a:gd name="T89" fmla="*/ 22 h 319"/>
                  <a:gd name="T90" fmla="*/ 217 w 434"/>
                  <a:gd name="T91" fmla="*/ 8 h 319"/>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w 434"/>
                  <a:gd name="T139" fmla="*/ 0 h 319"/>
                  <a:gd name="T140" fmla="*/ 434 w 434"/>
                  <a:gd name="T141" fmla="*/ 319 h 319"/>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T138" t="T139" r="T140" b="T141"/>
                <a:pathLst>
                  <a:path w="434" h="319">
                    <a:moveTo>
                      <a:pt x="434" y="15"/>
                    </a:moveTo>
                    <a:lnTo>
                      <a:pt x="428" y="11"/>
                    </a:lnTo>
                    <a:lnTo>
                      <a:pt x="420" y="11"/>
                    </a:lnTo>
                    <a:lnTo>
                      <a:pt x="415" y="11"/>
                    </a:lnTo>
                    <a:lnTo>
                      <a:pt x="413" y="13"/>
                    </a:lnTo>
                    <a:lnTo>
                      <a:pt x="409" y="11"/>
                    </a:lnTo>
                    <a:lnTo>
                      <a:pt x="403" y="11"/>
                    </a:lnTo>
                    <a:lnTo>
                      <a:pt x="398" y="9"/>
                    </a:lnTo>
                    <a:lnTo>
                      <a:pt x="394" y="9"/>
                    </a:lnTo>
                    <a:lnTo>
                      <a:pt x="386" y="7"/>
                    </a:lnTo>
                    <a:lnTo>
                      <a:pt x="379" y="7"/>
                    </a:lnTo>
                    <a:lnTo>
                      <a:pt x="371" y="6"/>
                    </a:lnTo>
                    <a:lnTo>
                      <a:pt x="365" y="6"/>
                    </a:lnTo>
                    <a:lnTo>
                      <a:pt x="356" y="4"/>
                    </a:lnTo>
                    <a:lnTo>
                      <a:pt x="346" y="4"/>
                    </a:lnTo>
                    <a:lnTo>
                      <a:pt x="339" y="2"/>
                    </a:lnTo>
                    <a:lnTo>
                      <a:pt x="329" y="2"/>
                    </a:lnTo>
                    <a:lnTo>
                      <a:pt x="320" y="2"/>
                    </a:lnTo>
                    <a:lnTo>
                      <a:pt x="312" y="2"/>
                    </a:lnTo>
                    <a:lnTo>
                      <a:pt x="302" y="2"/>
                    </a:lnTo>
                    <a:lnTo>
                      <a:pt x="293" y="2"/>
                    </a:lnTo>
                    <a:lnTo>
                      <a:pt x="283" y="0"/>
                    </a:lnTo>
                    <a:lnTo>
                      <a:pt x="274" y="0"/>
                    </a:lnTo>
                    <a:lnTo>
                      <a:pt x="263" y="0"/>
                    </a:lnTo>
                    <a:lnTo>
                      <a:pt x="255" y="2"/>
                    </a:lnTo>
                    <a:lnTo>
                      <a:pt x="244" y="2"/>
                    </a:lnTo>
                    <a:lnTo>
                      <a:pt x="234" y="2"/>
                    </a:lnTo>
                    <a:lnTo>
                      <a:pt x="226" y="4"/>
                    </a:lnTo>
                    <a:lnTo>
                      <a:pt x="217" y="6"/>
                    </a:lnTo>
                    <a:lnTo>
                      <a:pt x="207" y="6"/>
                    </a:lnTo>
                    <a:lnTo>
                      <a:pt x="200" y="7"/>
                    </a:lnTo>
                    <a:lnTo>
                      <a:pt x="190" y="9"/>
                    </a:lnTo>
                    <a:lnTo>
                      <a:pt x="183" y="13"/>
                    </a:lnTo>
                    <a:lnTo>
                      <a:pt x="175" y="15"/>
                    </a:lnTo>
                    <a:lnTo>
                      <a:pt x="167" y="19"/>
                    </a:lnTo>
                    <a:lnTo>
                      <a:pt x="162" y="23"/>
                    </a:lnTo>
                    <a:lnTo>
                      <a:pt x="156" y="26"/>
                    </a:lnTo>
                    <a:lnTo>
                      <a:pt x="148" y="28"/>
                    </a:lnTo>
                    <a:lnTo>
                      <a:pt x="143" y="34"/>
                    </a:lnTo>
                    <a:lnTo>
                      <a:pt x="135" y="38"/>
                    </a:lnTo>
                    <a:lnTo>
                      <a:pt x="129" y="44"/>
                    </a:lnTo>
                    <a:lnTo>
                      <a:pt x="124" y="47"/>
                    </a:lnTo>
                    <a:lnTo>
                      <a:pt x="118" y="53"/>
                    </a:lnTo>
                    <a:lnTo>
                      <a:pt x="112" y="59"/>
                    </a:lnTo>
                    <a:lnTo>
                      <a:pt x="107" y="64"/>
                    </a:lnTo>
                    <a:lnTo>
                      <a:pt x="99" y="70"/>
                    </a:lnTo>
                    <a:lnTo>
                      <a:pt x="93" y="78"/>
                    </a:lnTo>
                    <a:lnTo>
                      <a:pt x="88" y="83"/>
                    </a:lnTo>
                    <a:lnTo>
                      <a:pt x="82" y="91"/>
                    </a:lnTo>
                    <a:lnTo>
                      <a:pt x="76" y="99"/>
                    </a:lnTo>
                    <a:lnTo>
                      <a:pt x="70" y="106"/>
                    </a:lnTo>
                    <a:lnTo>
                      <a:pt x="67" y="114"/>
                    </a:lnTo>
                    <a:lnTo>
                      <a:pt x="61" y="123"/>
                    </a:lnTo>
                    <a:lnTo>
                      <a:pt x="55" y="131"/>
                    </a:lnTo>
                    <a:lnTo>
                      <a:pt x="50" y="141"/>
                    </a:lnTo>
                    <a:lnTo>
                      <a:pt x="46" y="150"/>
                    </a:lnTo>
                    <a:lnTo>
                      <a:pt x="42" y="160"/>
                    </a:lnTo>
                    <a:lnTo>
                      <a:pt x="38" y="163"/>
                    </a:lnTo>
                    <a:lnTo>
                      <a:pt x="36" y="169"/>
                    </a:lnTo>
                    <a:lnTo>
                      <a:pt x="34" y="175"/>
                    </a:lnTo>
                    <a:lnTo>
                      <a:pt x="32" y="180"/>
                    </a:lnTo>
                    <a:lnTo>
                      <a:pt x="29" y="186"/>
                    </a:lnTo>
                    <a:lnTo>
                      <a:pt x="27" y="192"/>
                    </a:lnTo>
                    <a:lnTo>
                      <a:pt x="25" y="198"/>
                    </a:lnTo>
                    <a:lnTo>
                      <a:pt x="23" y="203"/>
                    </a:lnTo>
                    <a:lnTo>
                      <a:pt x="21" y="209"/>
                    </a:lnTo>
                    <a:lnTo>
                      <a:pt x="19" y="215"/>
                    </a:lnTo>
                    <a:lnTo>
                      <a:pt x="17" y="220"/>
                    </a:lnTo>
                    <a:lnTo>
                      <a:pt x="15" y="228"/>
                    </a:lnTo>
                    <a:lnTo>
                      <a:pt x="13" y="234"/>
                    </a:lnTo>
                    <a:lnTo>
                      <a:pt x="13" y="241"/>
                    </a:lnTo>
                    <a:lnTo>
                      <a:pt x="12" y="247"/>
                    </a:lnTo>
                    <a:lnTo>
                      <a:pt x="10" y="255"/>
                    </a:lnTo>
                    <a:lnTo>
                      <a:pt x="8" y="260"/>
                    </a:lnTo>
                    <a:lnTo>
                      <a:pt x="6" y="268"/>
                    </a:lnTo>
                    <a:lnTo>
                      <a:pt x="4" y="276"/>
                    </a:lnTo>
                    <a:lnTo>
                      <a:pt x="4" y="281"/>
                    </a:lnTo>
                    <a:lnTo>
                      <a:pt x="2" y="289"/>
                    </a:lnTo>
                    <a:lnTo>
                      <a:pt x="2" y="296"/>
                    </a:lnTo>
                    <a:lnTo>
                      <a:pt x="0" y="304"/>
                    </a:lnTo>
                    <a:lnTo>
                      <a:pt x="0" y="314"/>
                    </a:lnTo>
                    <a:lnTo>
                      <a:pt x="4" y="314"/>
                    </a:lnTo>
                    <a:lnTo>
                      <a:pt x="8" y="315"/>
                    </a:lnTo>
                    <a:lnTo>
                      <a:pt x="13" y="317"/>
                    </a:lnTo>
                    <a:lnTo>
                      <a:pt x="15" y="317"/>
                    </a:lnTo>
                    <a:lnTo>
                      <a:pt x="17" y="317"/>
                    </a:lnTo>
                    <a:lnTo>
                      <a:pt x="23" y="317"/>
                    </a:lnTo>
                    <a:lnTo>
                      <a:pt x="29" y="319"/>
                    </a:lnTo>
                    <a:lnTo>
                      <a:pt x="162" y="44"/>
                    </a:lnTo>
                    <a:lnTo>
                      <a:pt x="434" y="15"/>
                    </a:lnTo>
                    <a:close/>
                  </a:path>
                </a:pathLst>
              </a:custGeom>
              <a:solidFill>
                <a:srgbClr val="000000"/>
              </a:solidFill>
              <a:ln w="9525">
                <a:noFill/>
                <a:round/>
              </a:ln>
            </p:spPr>
            <p:txBody>
              <a:bodyPr/>
              <a:lstStyle/>
              <a:p>
                <a:endParaRPr lang="en-US"/>
              </a:p>
            </p:txBody>
          </p:sp>
          <p:sp>
            <p:nvSpPr>
              <p:cNvPr id="1049011" name="Freeform 309"/>
              <p:cNvSpPr/>
              <p:nvPr/>
            </p:nvSpPr>
            <p:spPr bwMode="auto">
              <a:xfrm>
                <a:off x="1886" y="2120"/>
                <a:ext cx="315" cy="358"/>
              </a:xfrm>
              <a:custGeom>
                <a:avLst/>
                <a:gdLst>
                  <a:gd name="T0" fmla="*/ 293 w 629"/>
                  <a:gd name="T1" fmla="*/ 102 h 717"/>
                  <a:gd name="T2" fmla="*/ 276 w 629"/>
                  <a:gd name="T3" fmla="*/ 102 h 717"/>
                  <a:gd name="T4" fmla="*/ 258 w 629"/>
                  <a:gd name="T5" fmla="*/ 104 h 717"/>
                  <a:gd name="T6" fmla="*/ 239 w 629"/>
                  <a:gd name="T7" fmla="*/ 104 h 717"/>
                  <a:gd name="T8" fmla="*/ 221 w 629"/>
                  <a:gd name="T9" fmla="*/ 106 h 717"/>
                  <a:gd name="T10" fmla="*/ 202 w 629"/>
                  <a:gd name="T11" fmla="*/ 109 h 717"/>
                  <a:gd name="T12" fmla="*/ 185 w 629"/>
                  <a:gd name="T13" fmla="*/ 113 h 717"/>
                  <a:gd name="T14" fmla="*/ 169 w 629"/>
                  <a:gd name="T15" fmla="*/ 117 h 717"/>
                  <a:gd name="T16" fmla="*/ 156 w 629"/>
                  <a:gd name="T17" fmla="*/ 122 h 717"/>
                  <a:gd name="T18" fmla="*/ 144 w 629"/>
                  <a:gd name="T19" fmla="*/ 126 h 717"/>
                  <a:gd name="T20" fmla="*/ 129 w 629"/>
                  <a:gd name="T21" fmla="*/ 131 h 717"/>
                  <a:gd name="T22" fmla="*/ 114 w 629"/>
                  <a:gd name="T23" fmla="*/ 139 h 717"/>
                  <a:gd name="T24" fmla="*/ 100 w 629"/>
                  <a:gd name="T25" fmla="*/ 147 h 717"/>
                  <a:gd name="T26" fmla="*/ 85 w 629"/>
                  <a:gd name="T27" fmla="*/ 160 h 717"/>
                  <a:gd name="T28" fmla="*/ 69 w 629"/>
                  <a:gd name="T29" fmla="*/ 175 h 717"/>
                  <a:gd name="T30" fmla="*/ 58 w 629"/>
                  <a:gd name="T31" fmla="*/ 189 h 717"/>
                  <a:gd name="T32" fmla="*/ 51 w 629"/>
                  <a:gd name="T33" fmla="*/ 201 h 717"/>
                  <a:gd name="T34" fmla="*/ 45 w 629"/>
                  <a:gd name="T35" fmla="*/ 213 h 717"/>
                  <a:gd name="T36" fmla="*/ 38 w 629"/>
                  <a:gd name="T37" fmla="*/ 226 h 717"/>
                  <a:gd name="T38" fmla="*/ 32 w 629"/>
                  <a:gd name="T39" fmla="*/ 239 h 717"/>
                  <a:gd name="T40" fmla="*/ 27 w 629"/>
                  <a:gd name="T41" fmla="*/ 251 h 717"/>
                  <a:gd name="T42" fmla="*/ 22 w 629"/>
                  <a:gd name="T43" fmla="*/ 261 h 717"/>
                  <a:gd name="T44" fmla="*/ 15 w 629"/>
                  <a:gd name="T45" fmla="*/ 277 h 717"/>
                  <a:gd name="T46" fmla="*/ 9 w 629"/>
                  <a:gd name="T47" fmla="*/ 294 h 717"/>
                  <a:gd name="T48" fmla="*/ 4 w 629"/>
                  <a:gd name="T49" fmla="*/ 310 h 717"/>
                  <a:gd name="T50" fmla="*/ 1 w 629"/>
                  <a:gd name="T51" fmla="*/ 324 h 717"/>
                  <a:gd name="T52" fmla="*/ 0 w 629"/>
                  <a:gd name="T53" fmla="*/ 337 h 717"/>
                  <a:gd name="T54" fmla="*/ 1 w 629"/>
                  <a:gd name="T55" fmla="*/ 352 h 717"/>
                  <a:gd name="T56" fmla="*/ 10 w 629"/>
                  <a:gd name="T57" fmla="*/ 353 h 717"/>
                  <a:gd name="T58" fmla="*/ 18 w 629"/>
                  <a:gd name="T59" fmla="*/ 340 h 717"/>
                  <a:gd name="T60" fmla="*/ 22 w 629"/>
                  <a:gd name="T61" fmla="*/ 326 h 717"/>
                  <a:gd name="T62" fmla="*/ 28 w 629"/>
                  <a:gd name="T63" fmla="*/ 309 h 717"/>
                  <a:gd name="T64" fmla="*/ 34 w 629"/>
                  <a:gd name="T65" fmla="*/ 291 h 717"/>
                  <a:gd name="T66" fmla="*/ 41 w 629"/>
                  <a:gd name="T67" fmla="*/ 277 h 717"/>
                  <a:gd name="T68" fmla="*/ 47 w 629"/>
                  <a:gd name="T69" fmla="*/ 266 h 717"/>
                  <a:gd name="T70" fmla="*/ 52 w 629"/>
                  <a:gd name="T71" fmla="*/ 256 h 717"/>
                  <a:gd name="T72" fmla="*/ 58 w 629"/>
                  <a:gd name="T73" fmla="*/ 244 h 717"/>
                  <a:gd name="T74" fmla="*/ 66 w 629"/>
                  <a:gd name="T75" fmla="*/ 232 h 717"/>
                  <a:gd name="T76" fmla="*/ 74 w 629"/>
                  <a:gd name="T77" fmla="*/ 220 h 717"/>
                  <a:gd name="T78" fmla="*/ 82 w 629"/>
                  <a:gd name="T79" fmla="*/ 208 h 717"/>
                  <a:gd name="T80" fmla="*/ 92 w 629"/>
                  <a:gd name="T81" fmla="*/ 195 h 717"/>
                  <a:gd name="T82" fmla="*/ 103 w 629"/>
                  <a:gd name="T83" fmla="*/ 181 h 717"/>
                  <a:gd name="T84" fmla="*/ 114 w 629"/>
                  <a:gd name="T85" fmla="*/ 168 h 717"/>
                  <a:gd name="T86" fmla="*/ 127 w 629"/>
                  <a:gd name="T87" fmla="*/ 157 h 717"/>
                  <a:gd name="T88" fmla="*/ 140 w 629"/>
                  <a:gd name="T89" fmla="*/ 146 h 717"/>
                  <a:gd name="T90" fmla="*/ 153 w 629"/>
                  <a:gd name="T91" fmla="*/ 138 h 717"/>
                  <a:gd name="T92" fmla="*/ 166 w 629"/>
                  <a:gd name="T93" fmla="*/ 130 h 717"/>
                  <a:gd name="T94" fmla="*/ 181 w 629"/>
                  <a:gd name="T95" fmla="*/ 124 h 717"/>
                  <a:gd name="T96" fmla="*/ 195 w 629"/>
                  <a:gd name="T97" fmla="*/ 118 h 717"/>
                  <a:gd name="T98" fmla="*/ 209 w 629"/>
                  <a:gd name="T99" fmla="*/ 114 h 717"/>
                  <a:gd name="T100" fmla="*/ 224 w 629"/>
                  <a:gd name="T101" fmla="*/ 111 h 717"/>
                  <a:gd name="T102" fmla="*/ 238 w 629"/>
                  <a:gd name="T103" fmla="*/ 108 h 717"/>
                  <a:gd name="T104" fmla="*/ 253 w 629"/>
                  <a:gd name="T105" fmla="*/ 108 h 717"/>
                  <a:gd name="T106" fmla="*/ 267 w 629"/>
                  <a:gd name="T107" fmla="*/ 108 h 717"/>
                  <a:gd name="T108" fmla="*/ 281 w 629"/>
                  <a:gd name="T109" fmla="*/ 109 h 717"/>
                  <a:gd name="T110" fmla="*/ 294 w 629"/>
                  <a:gd name="T111" fmla="*/ 112 h 717"/>
                  <a:gd name="T112" fmla="*/ 307 w 629"/>
                  <a:gd name="T113" fmla="*/ 116 h 717"/>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629"/>
                  <a:gd name="T172" fmla="*/ 0 h 717"/>
                  <a:gd name="T173" fmla="*/ 629 w 629"/>
                  <a:gd name="T174" fmla="*/ 717 h 717"/>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629" h="717">
                    <a:moveTo>
                      <a:pt x="629" y="236"/>
                    </a:moveTo>
                    <a:lnTo>
                      <a:pt x="606" y="0"/>
                    </a:lnTo>
                    <a:lnTo>
                      <a:pt x="599" y="12"/>
                    </a:lnTo>
                    <a:lnTo>
                      <a:pt x="585" y="204"/>
                    </a:lnTo>
                    <a:lnTo>
                      <a:pt x="576" y="204"/>
                    </a:lnTo>
                    <a:lnTo>
                      <a:pt x="568" y="204"/>
                    </a:lnTo>
                    <a:lnTo>
                      <a:pt x="559" y="204"/>
                    </a:lnTo>
                    <a:lnTo>
                      <a:pt x="551" y="204"/>
                    </a:lnTo>
                    <a:lnTo>
                      <a:pt x="542" y="204"/>
                    </a:lnTo>
                    <a:lnTo>
                      <a:pt x="532" y="206"/>
                    </a:lnTo>
                    <a:lnTo>
                      <a:pt x="524" y="206"/>
                    </a:lnTo>
                    <a:lnTo>
                      <a:pt x="515" y="208"/>
                    </a:lnTo>
                    <a:lnTo>
                      <a:pt x="505" y="208"/>
                    </a:lnTo>
                    <a:lnTo>
                      <a:pt x="496" y="208"/>
                    </a:lnTo>
                    <a:lnTo>
                      <a:pt x="486" y="208"/>
                    </a:lnTo>
                    <a:lnTo>
                      <a:pt x="477" y="209"/>
                    </a:lnTo>
                    <a:lnTo>
                      <a:pt x="467" y="209"/>
                    </a:lnTo>
                    <a:lnTo>
                      <a:pt x="458" y="211"/>
                    </a:lnTo>
                    <a:lnTo>
                      <a:pt x="448" y="211"/>
                    </a:lnTo>
                    <a:lnTo>
                      <a:pt x="441" y="213"/>
                    </a:lnTo>
                    <a:lnTo>
                      <a:pt x="429" y="213"/>
                    </a:lnTo>
                    <a:lnTo>
                      <a:pt x="420" y="215"/>
                    </a:lnTo>
                    <a:lnTo>
                      <a:pt x="410" y="217"/>
                    </a:lnTo>
                    <a:lnTo>
                      <a:pt x="403" y="219"/>
                    </a:lnTo>
                    <a:lnTo>
                      <a:pt x="393" y="219"/>
                    </a:lnTo>
                    <a:lnTo>
                      <a:pt x="386" y="221"/>
                    </a:lnTo>
                    <a:lnTo>
                      <a:pt x="376" y="223"/>
                    </a:lnTo>
                    <a:lnTo>
                      <a:pt x="369" y="227"/>
                    </a:lnTo>
                    <a:lnTo>
                      <a:pt x="361" y="227"/>
                    </a:lnTo>
                    <a:lnTo>
                      <a:pt x="351" y="228"/>
                    </a:lnTo>
                    <a:lnTo>
                      <a:pt x="344" y="230"/>
                    </a:lnTo>
                    <a:lnTo>
                      <a:pt x="338" y="234"/>
                    </a:lnTo>
                    <a:lnTo>
                      <a:pt x="330" y="236"/>
                    </a:lnTo>
                    <a:lnTo>
                      <a:pt x="323" y="238"/>
                    </a:lnTo>
                    <a:lnTo>
                      <a:pt x="317" y="240"/>
                    </a:lnTo>
                    <a:lnTo>
                      <a:pt x="311" y="244"/>
                    </a:lnTo>
                    <a:lnTo>
                      <a:pt x="306" y="246"/>
                    </a:lnTo>
                    <a:lnTo>
                      <a:pt x="300" y="248"/>
                    </a:lnTo>
                    <a:lnTo>
                      <a:pt x="292" y="249"/>
                    </a:lnTo>
                    <a:lnTo>
                      <a:pt x="287" y="253"/>
                    </a:lnTo>
                    <a:lnTo>
                      <a:pt x="279" y="255"/>
                    </a:lnTo>
                    <a:lnTo>
                      <a:pt x="273" y="257"/>
                    </a:lnTo>
                    <a:lnTo>
                      <a:pt x="266" y="261"/>
                    </a:lnTo>
                    <a:lnTo>
                      <a:pt x="258" y="263"/>
                    </a:lnTo>
                    <a:lnTo>
                      <a:pt x="251" y="267"/>
                    </a:lnTo>
                    <a:lnTo>
                      <a:pt x="243" y="268"/>
                    </a:lnTo>
                    <a:lnTo>
                      <a:pt x="235" y="272"/>
                    </a:lnTo>
                    <a:lnTo>
                      <a:pt x="228" y="278"/>
                    </a:lnTo>
                    <a:lnTo>
                      <a:pt x="222" y="282"/>
                    </a:lnTo>
                    <a:lnTo>
                      <a:pt x="215" y="286"/>
                    </a:lnTo>
                    <a:lnTo>
                      <a:pt x="207" y="289"/>
                    </a:lnTo>
                    <a:lnTo>
                      <a:pt x="199" y="295"/>
                    </a:lnTo>
                    <a:lnTo>
                      <a:pt x="192" y="301"/>
                    </a:lnTo>
                    <a:lnTo>
                      <a:pt x="184" y="306"/>
                    </a:lnTo>
                    <a:lnTo>
                      <a:pt x="176" y="312"/>
                    </a:lnTo>
                    <a:lnTo>
                      <a:pt x="169" y="320"/>
                    </a:lnTo>
                    <a:lnTo>
                      <a:pt x="159" y="325"/>
                    </a:lnTo>
                    <a:lnTo>
                      <a:pt x="152" y="333"/>
                    </a:lnTo>
                    <a:lnTo>
                      <a:pt x="146" y="341"/>
                    </a:lnTo>
                    <a:lnTo>
                      <a:pt x="138" y="350"/>
                    </a:lnTo>
                    <a:lnTo>
                      <a:pt x="131" y="358"/>
                    </a:lnTo>
                    <a:lnTo>
                      <a:pt x="123" y="369"/>
                    </a:lnTo>
                    <a:lnTo>
                      <a:pt x="119" y="373"/>
                    </a:lnTo>
                    <a:lnTo>
                      <a:pt x="116" y="379"/>
                    </a:lnTo>
                    <a:lnTo>
                      <a:pt x="112" y="384"/>
                    </a:lnTo>
                    <a:lnTo>
                      <a:pt x="110" y="390"/>
                    </a:lnTo>
                    <a:lnTo>
                      <a:pt x="106" y="396"/>
                    </a:lnTo>
                    <a:lnTo>
                      <a:pt x="102" y="402"/>
                    </a:lnTo>
                    <a:lnTo>
                      <a:pt x="99" y="407"/>
                    </a:lnTo>
                    <a:lnTo>
                      <a:pt x="95" y="413"/>
                    </a:lnTo>
                    <a:lnTo>
                      <a:pt x="93" y="419"/>
                    </a:lnTo>
                    <a:lnTo>
                      <a:pt x="89" y="426"/>
                    </a:lnTo>
                    <a:lnTo>
                      <a:pt x="87" y="434"/>
                    </a:lnTo>
                    <a:lnTo>
                      <a:pt x="83" y="441"/>
                    </a:lnTo>
                    <a:lnTo>
                      <a:pt x="80" y="447"/>
                    </a:lnTo>
                    <a:lnTo>
                      <a:pt x="76" y="453"/>
                    </a:lnTo>
                    <a:lnTo>
                      <a:pt x="72" y="460"/>
                    </a:lnTo>
                    <a:lnTo>
                      <a:pt x="70" y="466"/>
                    </a:lnTo>
                    <a:lnTo>
                      <a:pt x="68" y="472"/>
                    </a:lnTo>
                    <a:lnTo>
                      <a:pt x="64" y="478"/>
                    </a:lnTo>
                    <a:lnTo>
                      <a:pt x="62" y="485"/>
                    </a:lnTo>
                    <a:lnTo>
                      <a:pt x="59" y="491"/>
                    </a:lnTo>
                    <a:lnTo>
                      <a:pt x="57" y="497"/>
                    </a:lnTo>
                    <a:lnTo>
                      <a:pt x="53" y="502"/>
                    </a:lnTo>
                    <a:lnTo>
                      <a:pt x="51" y="508"/>
                    </a:lnTo>
                    <a:lnTo>
                      <a:pt x="47" y="514"/>
                    </a:lnTo>
                    <a:lnTo>
                      <a:pt x="45" y="518"/>
                    </a:lnTo>
                    <a:lnTo>
                      <a:pt x="43" y="523"/>
                    </a:lnTo>
                    <a:lnTo>
                      <a:pt x="42" y="529"/>
                    </a:lnTo>
                    <a:lnTo>
                      <a:pt x="40" y="535"/>
                    </a:lnTo>
                    <a:lnTo>
                      <a:pt x="34" y="544"/>
                    </a:lnTo>
                    <a:lnTo>
                      <a:pt x="30" y="554"/>
                    </a:lnTo>
                    <a:lnTo>
                      <a:pt x="26" y="563"/>
                    </a:lnTo>
                    <a:lnTo>
                      <a:pt x="22" y="573"/>
                    </a:lnTo>
                    <a:lnTo>
                      <a:pt x="19" y="580"/>
                    </a:lnTo>
                    <a:lnTo>
                      <a:pt x="17" y="588"/>
                    </a:lnTo>
                    <a:lnTo>
                      <a:pt x="13" y="597"/>
                    </a:lnTo>
                    <a:lnTo>
                      <a:pt x="13" y="605"/>
                    </a:lnTo>
                    <a:lnTo>
                      <a:pt x="9" y="613"/>
                    </a:lnTo>
                    <a:lnTo>
                      <a:pt x="7" y="620"/>
                    </a:lnTo>
                    <a:lnTo>
                      <a:pt x="5" y="628"/>
                    </a:lnTo>
                    <a:lnTo>
                      <a:pt x="3" y="634"/>
                    </a:lnTo>
                    <a:lnTo>
                      <a:pt x="2" y="641"/>
                    </a:lnTo>
                    <a:lnTo>
                      <a:pt x="2" y="649"/>
                    </a:lnTo>
                    <a:lnTo>
                      <a:pt x="0" y="656"/>
                    </a:lnTo>
                    <a:lnTo>
                      <a:pt x="0" y="662"/>
                    </a:lnTo>
                    <a:lnTo>
                      <a:pt x="0" y="668"/>
                    </a:lnTo>
                    <a:lnTo>
                      <a:pt x="0" y="675"/>
                    </a:lnTo>
                    <a:lnTo>
                      <a:pt x="0" y="683"/>
                    </a:lnTo>
                    <a:lnTo>
                      <a:pt x="0" y="689"/>
                    </a:lnTo>
                    <a:lnTo>
                      <a:pt x="0" y="696"/>
                    </a:lnTo>
                    <a:lnTo>
                      <a:pt x="2" y="704"/>
                    </a:lnTo>
                    <a:lnTo>
                      <a:pt x="3" y="710"/>
                    </a:lnTo>
                    <a:lnTo>
                      <a:pt x="5" y="717"/>
                    </a:lnTo>
                    <a:lnTo>
                      <a:pt x="11" y="711"/>
                    </a:lnTo>
                    <a:lnTo>
                      <a:pt x="19" y="706"/>
                    </a:lnTo>
                    <a:lnTo>
                      <a:pt x="24" y="700"/>
                    </a:lnTo>
                    <a:lnTo>
                      <a:pt x="32" y="696"/>
                    </a:lnTo>
                    <a:lnTo>
                      <a:pt x="34" y="689"/>
                    </a:lnTo>
                    <a:lnTo>
                      <a:pt x="36" y="681"/>
                    </a:lnTo>
                    <a:lnTo>
                      <a:pt x="38" y="673"/>
                    </a:lnTo>
                    <a:lnTo>
                      <a:pt x="40" y="668"/>
                    </a:lnTo>
                    <a:lnTo>
                      <a:pt x="42" y="660"/>
                    </a:lnTo>
                    <a:lnTo>
                      <a:pt x="43" y="653"/>
                    </a:lnTo>
                    <a:lnTo>
                      <a:pt x="47" y="643"/>
                    </a:lnTo>
                    <a:lnTo>
                      <a:pt x="49" y="635"/>
                    </a:lnTo>
                    <a:lnTo>
                      <a:pt x="53" y="628"/>
                    </a:lnTo>
                    <a:lnTo>
                      <a:pt x="55" y="618"/>
                    </a:lnTo>
                    <a:lnTo>
                      <a:pt x="59" y="609"/>
                    </a:lnTo>
                    <a:lnTo>
                      <a:pt x="62" y="601"/>
                    </a:lnTo>
                    <a:lnTo>
                      <a:pt x="64" y="592"/>
                    </a:lnTo>
                    <a:lnTo>
                      <a:pt x="68" y="582"/>
                    </a:lnTo>
                    <a:lnTo>
                      <a:pt x="72" y="575"/>
                    </a:lnTo>
                    <a:lnTo>
                      <a:pt x="78" y="565"/>
                    </a:lnTo>
                    <a:lnTo>
                      <a:pt x="80" y="559"/>
                    </a:lnTo>
                    <a:lnTo>
                      <a:pt x="81" y="554"/>
                    </a:lnTo>
                    <a:lnTo>
                      <a:pt x="83" y="548"/>
                    </a:lnTo>
                    <a:lnTo>
                      <a:pt x="87" y="544"/>
                    </a:lnTo>
                    <a:lnTo>
                      <a:pt x="89" y="538"/>
                    </a:lnTo>
                    <a:lnTo>
                      <a:pt x="93" y="533"/>
                    </a:lnTo>
                    <a:lnTo>
                      <a:pt x="95" y="527"/>
                    </a:lnTo>
                    <a:lnTo>
                      <a:pt x="99" y="521"/>
                    </a:lnTo>
                    <a:lnTo>
                      <a:pt x="100" y="516"/>
                    </a:lnTo>
                    <a:lnTo>
                      <a:pt x="104" y="512"/>
                    </a:lnTo>
                    <a:lnTo>
                      <a:pt x="106" y="506"/>
                    </a:lnTo>
                    <a:lnTo>
                      <a:pt x="110" y="500"/>
                    </a:lnTo>
                    <a:lnTo>
                      <a:pt x="112" y="495"/>
                    </a:lnTo>
                    <a:lnTo>
                      <a:pt x="116" y="489"/>
                    </a:lnTo>
                    <a:lnTo>
                      <a:pt x="119" y="483"/>
                    </a:lnTo>
                    <a:lnTo>
                      <a:pt x="123" y="478"/>
                    </a:lnTo>
                    <a:lnTo>
                      <a:pt x="127" y="472"/>
                    </a:lnTo>
                    <a:lnTo>
                      <a:pt x="131" y="464"/>
                    </a:lnTo>
                    <a:lnTo>
                      <a:pt x="135" y="459"/>
                    </a:lnTo>
                    <a:lnTo>
                      <a:pt x="138" y="453"/>
                    </a:lnTo>
                    <a:lnTo>
                      <a:pt x="142" y="447"/>
                    </a:lnTo>
                    <a:lnTo>
                      <a:pt x="148" y="441"/>
                    </a:lnTo>
                    <a:lnTo>
                      <a:pt x="150" y="434"/>
                    </a:lnTo>
                    <a:lnTo>
                      <a:pt x="156" y="430"/>
                    </a:lnTo>
                    <a:lnTo>
                      <a:pt x="159" y="422"/>
                    </a:lnTo>
                    <a:lnTo>
                      <a:pt x="163" y="417"/>
                    </a:lnTo>
                    <a:lnTo>
                      <a:pt x="169" y="409"/>
                    </a:lnTo>
                    <a:lnTo>
                      <a:pt x="173" y="403"/>
                    </a:lnTo>
                    <a:lnTo>
                      <a:pt x="178" y="396"/>
                    </a:lnTo>
                    <a:lnTo>
                      <a:pt x="184" y="390"/>
                    </a:lnTo>
                    <a:lnTo>
                      <a:pt x="190" y="383"/>
                    </a:lnTo>
                    <a:lnTo>
                      <a:pt x="196" y="377"/>
                    </a:lnTo>
                    <a:lnTo>
                      <a:pt x="201" y="369"/>
                    </a:lnTo>
                    <a:lnTo>
                      <a:pt x="205" y="362"/>
                    </a:lnTo>
                    <a:lnTo>
                      <a:pt x="211" y="354"/>
                    </a:lnTo>
                    <a:lnTo>
                      <a:pt x="216" y="348"/>
                    </a:lnTo>
                    <a:lnTo>
                      <a:pt x="222" y="343"/>
                    </a:lnTo>
                    <a:lnTo>
                      <a:pt x="228" y="337"/>
                    </a:lnTo>
                    <a:lnTo>
                      <a:pt x="234" y="331"/>
                    </a:lnTo>
                    <a:lnTo>
                      <a:pt x="241" y="325"/>
                    </a:lnTo>
                    <a:lnTo>
                      <a:pt x="247" y="320"/>
                    </a:lnTo>
                    <a:lnTo>
                      <a:pt x="253" y="314"/>
                    </a:lnTo>
                    <a:lnTo>
                      <a:pt x="258" y="308"/>
                    </a:lnTo>
                    <a:lnTo>
                      <a:pt x="266" y="303"/>
                    </a:lnTo>
                    <a:lnTo>
                      <a:pt x="272" y="297"/>
                    </a:lnTo>
                    <a:lnTo>
                      <a:pt x="279" y="293"/>
                    </a:lnTo>
                    <a:lnTo>
                      <a:pt x="285" y="289"/>
                    </a:lnTo>
                    <a:lnTo>
                      <a:pt x="292" y="286"/>
                    </a:lnTo>
                    <a:lnTo>
                      <a:pt x="298" y="280"/>
                    </a:lnTo>
                    <a:lnTo>
                      <a:pt x="306" y="276"/>
                    </a:lnTo>
                    <a:lnTo>
                      <a:pt x="311" y="270"/>
                    </a:lnTo>
                    <a:lnTo>
                      <a:pt x="319" y="267"/>
                    </a:lnTo>
                    <a:lnTo>
                      <a:pt x="325" y="263"/>
                    </a:lnTo>
                    <a:lnTo>
                      <a:pt x="332" y="261"/>
                    </a:lnTo>
                    <a:lnTo>
                      <a:pt x="338" y="257"/>
                    </a:lnTo>
                    <a:lnTo>
                      <a:pt x="346" y="253"/>
                    </a:lnTo>
                    <a:lnTo>
                      <a:pt x="353" y="249"/>
                    </a:lnTo>
                    <a:lnTo>
                      <a:pt x="361" y="248"/>
                    </a:lnTo>
                    <a:lnTo>
                      <a:pt x="367" y="244"/>
                    </a:lnTo>
                    <a:lnTo>
                      <a:pt x="374" y="242"/>
                    </a:lnTo>
                    <a:lnTo>
                      <a:pt x="382" y="238"/>
                    </a:lnTo>
                    <a:lnTo>
                      <a:pt x="389" y="236"/>
                    </a:lnTo>
                    <a:lnTo>
                      <a:pt x="395" y="236"/>
                    </a:lnTo>
                    <a:lnTo>
                      <a:pt x="405" y="234"/>
                    </a:lnTo>
                    <a:lnTo>
                      <a:pt x="410" y="230"/>
                    </a:lnTo>
                    <a:lnTo>
                      <a:pt x="418" y="228"/>
                    </a:lnTo>
                    <a:lnTo>
                      <a:pt x="426" y="227"/>
                    </a:lnTo>
                    <a:lnTo>
                      <a:pt x="433" y="225"/>
                    </a:lnTo>
                    <a:lnTo>
                      <a:pt x="439" y="223"/>
                    </a:lnTo>
                    <a:lnTo>
                      <a:pt x="448" y="223"/>
                    </a:lnTo>
                    <a:lnTo>
                      <a:pt x="454" y="221"/>
                    </a:lnTo>
                    <a:lnTo>
                      <a:pt x="462" y="221"/>
                    </a:lnTo>
                    <a:lnTo>
                      <a:pt x="469" y="219"/>
                    </a:lnTo>
                    <a:lnTo>
                      <a:pt x="475" y="217"/>
                    </a:lnTo>
                    <a:lnTo>
                      <a:pt x="483" y="217"/>
                    </a:lnTo>
                    <a:lnTo>
                      <a:pt x="490" y="217"/>
                    </a:lnTo>
                    <a:lnTo>
                      <a:pt x="498" y="217"/>
                    </a:lnTo>
                    <a:lnTo>
                      <a:pt x="505" y="217"/>
                    </a:lnTo>
                    <a:lnTo>
                      <a:pt x="511" y="217"/>
                    </a:lnTo>
                    <a:lnTo>
                      <a:pt x="521" y="217"/>
                    </a:lnTo>
                    <a:lnTo>
                      <a:pt x="526" y="217"/>
                    </a:lnTo>
                    <a:lnTo>
                      <a:pt x="534" y="217"/>
                    </a:lnTo>
                    <a:lnTo>
                      <a:pt x="540" y="217"/>
                    </a:lnTo>
                    <a:lnTo>
                      <a:pt x="547" y="217"/>
                    </a:lnTo>
                    <a:lnTo>
                      <a:pt x="553" y="217"/>
                    </a:lnTo>
                    <a:lnTo>
                      <a:pt x="561" y="219"/>
                    </a:lnTo>
                    <a:lnTo>
                      <a:pt x="568" y="221"/>
                    </a:lnTo>
                    <a:lnTo>
                      <a:pt x="576" y="223"/>
                    </a:lnTo>
                    <a:lnTo>
                      <a:pt x="581" y="223"/>
                    </a:lnTo>
                    <a:lnTo>
                      <a:pt x="587" y="225"/>
                    </a:lnTo>
                    <a:lnTo>
                      <a:pt x="595" y="227"/>
                    </a:lnTo>
                    <a:lnTo>
                      <a:pt x="602" y="228"/>
                    </a:lnTo>
                    <a:lnTo>
                      <a:pt x="608" y="230"/>
                    </a:lnTo>
                    <a:lnTo>
                      <a:pt x="614" y="232"/>
                    </a:lnTo>
                    <a:lnTo>
                      <a:pt x="621" y="234"/>
                    </a:lnTo>
                    <a:lnTo>
                      <a:pt x="629" y="236"/>
                    </a:lnTo>
                    <a:close/>
                  </a:path>
                </a:pathLst>
              </a:custGeom>
              <a:solidFill>
                <a:srgbClr val="000000"/>
              </a:solidFill>
              <a:ln w="9525">
                <a:noFill/>
                <a:round/>
              </a:ln>
            </p:spPr>
            <p:txBody>
              <a:bodyPr/>
              <a:lstStyle/>
              <a:p>
                <a:endParaRPr lang="en-US"/>
              </a:p>
            </p:txBody>
          </p:sp>
          <p:sp>
            <p:nvSpPr>
              <p:cNvPr id="1049012" name="Freeform 310"/>
              <p:cNvSpPr/>
              <p:nvPr/>
            </p:nvSpPr>
            <p:spPr bwMode="auto">
              <a:xfrm>
                <a:off x="2254" y="2366"/>
                <a:ext cx="90" cy="180"/>
              </a:xfrm>
              <a:custGeom>
                <a:avLst/>
                <a:gdLst>
                  <a:gd name="T0" fmla="*/ 69 w 181"/>
                  <a:gd name="T1" fmla="*/ 5 h 359"/>
                  <a:gd name="T2" fmla="*/ 75 w 181"/>
                  <a:gd name="T3" fmla="*/ 13 h 359"/>
                  <a:gd name="T4" fmla="*/ 82 w 181"/>
                  <a:gd name="T5" fmla="*/ 22 h 359"/>
                  <a:gd name="T6" fmla="*/ 86 w 181"/>
                  <a:gd name="T7" fmla="*/ 30 h 359"/>
                  <a:gd name="T8" fmla="*/ 87 w 181"/>
                  <a:gd name="T9" fmla="*/ 39 h 359"/>
                  <a:gd name="T10" fmla="*/ 89 w 181"/>
                  <a:gd name="T11" fmla="*/ 49 h 359"/>
                  <a:gd name="T12" fmla="*/ 90 w 181"/>
                  <a:gd name="T13" fmla="*/ 58 h 359"/>
                  <a:gd name="T14" fmla="*/ 89 w 181"/>
                  <a:gd name="T15" fmla="*/ 68 h 359"/>
                  <a:gd name="T16" fmla="*/ 88 w 181"/>
                  <a:gd name="T17" fmla="*/ 76 h 359"/>
                  <a:gd name="T18" fmla="*/ 86 w 181"/>
                  <a:gd name="T19" fmla="*/ 86 h 359"/>
                  <a:gd name="T20" fmla="*/ 83 w 181"/>
                  <a:gd name="T21" fmla="*/ 96 h 359"/>
                  <a:gd name="T22" fmla="*/ 78 w 181"/>
                  <a:gd name="T23" fmla="*/ 105 h 359"/>
                  <a:gd name="T24" fmla="*/ 73 w 181"/>
                  <a:gd name="T25" fmla="*/ 114 h 359"/>
                  <a:gd name="T26" fmla="*/ 67 w 181"/>
                  <a:gd name="T27" fmla="*/ 124 h 359"/>
                  <a:gd name="T28" fmla="*/ 62 w 181"/>
                  <a:gd name="T29" fmla="*/ 132 h 359"/>
                  <a:gd name="T30" fmla="*/ 55 w 181"/>
                  <a:gd name="T31" fmla="*/ 140 h 359"/>
                  <a:gd name="T32" fmla="*/ 48 w 181"/>
                  <a:gd name="T33" fmla="*/ 148 h 359"/>
                  <a:gd name="T34" fmla="*/ 40 w 181"/>
                  <a:gd name="T35" fmla="*/ 156 h 359"/>
                  <a:gd name="T36" fmla="*/ 32 w 181"/>
                  <a:gd name="T37" fmla="*/ 164 h 359"/>
                  <a:gd name="T38" fmla="*/ 24 w 181"/>
                  <a:gd name="T39" fmla="*/ 169 h 359"/>
                  <a:gd name="T40" fmla="*/ 16 w 181"/>
                  <a:gd name="T41" fmla="*/ 176 h 359"/>
                  <a:gd name="T42" fmla="*/ 8 w 181"/>
                  <a:gd name="T43" fmla="*/ 180 h 359"/>
                  <a:gd name="T44" fmla="*/ 0 w 181"/>
                  <a:gd name="T45" fmla="*/ 180 h 359"/>
                  <a:gd name="T46" fmla="*/ 2 w 181"/>
                  <a:gd name="T47" fmla="*/ 168 h 359"/>
                  <a:gd name="T48" fmla="*/ 7 w 181"/>
                  <a:gd name="T49" fmla="*/ 160 h 359"/>
                  <a:gd name="T50" fmla="*/ 13 w 181"/>
                  <a:gd name="T51" fmla="*/ 152 h 359"/>
                  <a:gd name="T52" fmla="*/ 21 w 181"/>
                  <a:gd name="T53" fmla="*/ 144 h 359"/>
                  <a:gd name="T54" fmla="*/ 29 w 181"/>
                  <a:gd name="T55" fmla="*/ 136 h 359"/>
                  <a:gd name="T56" fmla="*/ 38 w 181"/>
                  <a:gd name="T57" fmla="*/ 128 h 359"/>
                  <a:gd name="T58" fmla="*/ 46 w 181"/>
                  <a:gd name="T59" fmla="*/ 120 h 359"/>
                  <a:gd name="T60" fmla="*/ 53 w 181"/>
                  <a:gd name="T61" fmla="*/ 111 h 359"/>
                  <a:gd name="T62" fmla="*/ 58 w 181"/>
                  <a:gd name="T63" fmla="*/ 103 h 359"/>
                  <a:gd name="T64" fmla="*/ 63 w 181"/>
                  <a:gd name="T65" fmla="*/ 93 h 359"/>
                  <a:gd name="T66" fmla="*/ 65 w 181"/>
                  <a:gd name="T67" fmla="*/ 84 h 359"/>
                  <a:gd name="T68" fmla="*/ 67 w 181"/>
                  <a:gd name="T69" fmla="*/ 77 h 359"/>
                  <a:gd name="T70" fmla="*/ 68 w 181"/>
                  <a:gd name="T71" fmla="*/ 65 h 359"/>
                  <a:gd name="T72" fmla="*/ 68 w 181"/>
                  <a:gd name="T73" fmla="*/ 56 h 359"/>
                  <a:gd name="T74" fmla="*/ 68 w 181"/>
                  <a:gd name="T75" fmla="*/ 49 h 359"/>
                  <a:gd name="T76" fmla="*/ 67 w 181"/>
                  <a:gd name="T77" fmla="*/ 41 h 359"/>
                  <a:gd name="T78" fmla="*/ 65 w 181"/>
                  <a:gd name="T79" fmla="*/ 31 h 359"/>
                  <a:gd name="T80" fmla="*/ 58 w 181"/>
                  <a:gd name="T81" fmla="*/ 16 h 359"/>
                  <a:gd name="T82" fmla="*/ 56 w 181"/>
                  <a:gd name="T83" fmla="*/ 7 h 359"/>
                  <a:gd name="T84" fmla="*/ 64 w 181"/>
                  <a:gd name="T85" fmla="*/ 0 h 359"/>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181"/>
                  <a:gd name="T130" fmla="*/ 0 h 359"/>
                  <a:gd name="T131" fmla="*/ 181 w 181"/>
                  <a:gd name="T132" fmla="*/ 359 h 359"/>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181" h="359">
                    <a:moveTo>
                      <a:pt x="128" y="0"/>
                    </a:moveTo>
                    <a:lnTo>
                      <a:pt x="134" y="6"/>
                    </a:lnTo>
                    <a:lnTo>
                      <a:pt x="139" y="9"/>
                    </a:lnTo>
                    <a:lnTo>
                      <a:pt x="143" y="15"/>
                    </a:lnTo>
                    <a:lnTo>
                      <a:pt x="147" y="21"/>
                    </a:lnTo>
                    <a:lnTo>
                      <a:pt x="151" y="26"/>
                    </a:lnTo>
                    <a:lnTo>
                      <a:pt x="156" y="32"/>
                    </a:lnTo>
                    <a:lnTo>
                      <a:pt x="160" y="38"/>
                    </a:lnTo>
                    <a:lnTo>
                      <a:pt x="164" y="44"/>
                    </a:lnTo>
                    <a:lnTo>
                      <a:pt x="166" y="49"/>
                    </a:lnTo>
                    <a:lnTo>
                      <a:pt x="168" y="53"/>
                    </a:lnTo>
                    <a:lnTo>
                      <a:pt x="172" y="59"/>
                    </a:lnTo>
                    <a:lnTo>
                      <a:pt x="173" y="66"/>
                    </a:lnTo>
                    <a:lnTo>
                      <a:pt x="173" y="72"/>
                    </a:lnTo>
                    <a:lnTo>
                      <a:pt x="175" y="78"/>
                    </a:lnTo>
                    <a:lnTo>
                      <a:pt x="177" y="83"/>
                    </a:lnTo>
                    <a:lnTo>
                      <a:pt x="179" y="91"/>
                    </a:lnTo>
                    <a:lnTo>
                      <a:pt x="179" y="97"/>
                    </a:lnTo>
                    <a:lnTo>
                      <a:pt x="181" y="102"/>
                    </a:lnTo>
                    <a:lnTo>
                      <a:pt x="181" y="108"/>
                    </a:lnTo>
                    <a:lnTo>
                      <a:pt x="181" y="116"/>
                    </a:lnTo>
                    <a:lnTo>
                      <a:pt x="181" y="121"/>
                    </a:lnTo>
                    <a:lnTo>
                      <a:pt x="181" y="127"/>
                    </a:lnTo>
                    <a:lnTo>
                      <a:pt x="179" y="135"/>
                    </a:lnTo>
                    <a:lnTo>
                      <a:pt x="179" y="141"/>
                    </a:lnTo>
                    <a:lnTo>
                      <a:pt x="177" y="146"/>
                    </a:lnTo>
                    <a:lnTo>
                      <a:pt x="177" y="152"/>
                    </a:lnTo>
                    <a:lnTo>
                      <a:pt x="175" y="160"/>
                    </a:lnTo>
                    <a:lnTo>
                      <a:pt x="173" y="167"/>
                    </a:lnTo>
                    <a:lnTo>
                      <a:pt x="172" y="171"/>
                    </a:lnTo>
                    <a:lnTo>
                      <a:pt x="170" y="179"/>
                    </a:lnTo>
                    <a:lnTo>
                      <a:pt x="168" y="184"/>
                    </a:lnTo>
                    <a:lnTo>
                      <a:pt x="166" y="192"/>
                    </a:lnTo>
                    <a:lnTo>
                      <a:pt x="162" y="198"/>
                    </a:lnTo>
                    <a:lnTo>
                      <a:pt x="160" y="203"/>
                    </a:lnTo>
                    <a:lnTo>
                      <a:pt x="156" y="209"/>
                    </a:lnTo>
                    <a:lnTo>
                      <a:pt x="154" y="217"/>
                    </a:lnTo>
                    <a:lnTo>
                      <a:pt x="151" y="220"/>
                    </a:lnTo>
                    <a:lnTo>
                      <a:pt x="147" y="228"/>
                    </a:lnTo>
                    <a:lnTo>
                      <a:pt x="143" y="234"/>
                    </a:lnTo>
                    <a:lnTo>
                      <a:pt x="141" y="241"/>
                    </a:lnTo>
                    <a:lnTo>
                      <a:pt x="135" y="247"/>
                    </a:lnTo>
                    <a:lnTo>
                      <a:pt x="132" y="251"/>
                    </a:lnTo>
                    <a:lnTo>
                      <a:pt x="128" y="257"/>
                    </a:lnTo>
                    <a:lnTo>
                      <a:pt x="124" y="264"/>
                    </a:lnTo>
                    <a:lnTo>
                      <a:pt x="118" y="270"/>
                    </a:lnTo>
                    <a:lnTo>
                      <a:pt x="115" y="276"/>
                    </a:lnTo>
                    <a:lnTo>
                      <a:pt x="111" y="279"/>
                    </a:lnTo>
                    <a:lnTo>
                      <a:pt x="107" y="287"/>
                    </a:lnTo>
                    <a:lnTo>
                      <a:pt x="101" y="291"/>
                    </a:lnTo>
                    <a:lnTo>
                      <a:pt x="96" y="296"/>
                    </a:lnTo>
                    <a:lnTo>
                      <a:pt x="90" y="302"/>
                    </a:lnTo>
                    <a:lnTo>
                      <a:pt x="86" y="306"/>
                    </a:lnTo>
                    <a:lnTo>
                      <a:pt x="80" y="312"/>
                    </a:lnTo>
                    <a:lnTo>
                      <a:pt x="75" y="315"/>
                    </a:lnTo>
                    <a:lnTo>
                      <a:pt x="69" y="321"/>
                    </a:lnTo>
                    <a:lnTo>
                      <a:pt x="65" y="327"/>
                    </a:lnTo>
                    <a:lnTo>
                      <a:pt x="59" y="331"/>
                    </a:lnTo>
                    <a:lnTo>
                      <a:pt x="54" y="334"/>
                    </a:lnTo>
                    <a:lnTo>
                      <a:pt x="48" y="338"/>
                    </a:lnTo>
                    <a:lnTo>
                      <a:pt x="42" y="342"/>
                    </a:lnTo>
                    <a:lnTo>
                      <a:pt x="38" y="346"/>
                    </a:lnTo>
                    <a:lnTo>
                      <a:pt x="33" y="352"/>
                    </a:lnTo>
                    <a:lnTo>
                      <a:pt x="27" y="355"/>
                    </a:lnTo>
                    <a:lnTo>
                      <a:pt x="21" y="359"/>
                    </a:lnTo>
                    <a:lnTo>
                      <a:pt x="16" y="359"/>
                    </a:lnTo>
                    <a:lnTo>
                      <a:pt x="10" y="359"/>
                    </a:lnTo>
                    <a:lnTo>
                      <a:pt x="6" y="359"/>
                    </a:lnTo>
                    <a:lnTo>
                      <a:pt x="0" y="359"/>
                    </a:lnTo>
                    <a:lnTo>
                      <a:pt x="0" y="352"/>
                    </a:lnTo>
                    <a:lnTo>
                      <a:pt x="2" y="344"/>
                    </a:lnTo>
                    <a:lnTo>
                      <a:pt x="4" y="336"/>
                    </a:lnTo>
                    <a:lnTo>
                      <a:pt x="6" y="331"/>
                    </a:lnTo>
                    <a:lnTo>
                      <a:pt x="10" y="325"/>
                    </a:lnTo>
                    <a:lnTo>
                      <a:pt x="14" y="319"/>
                    </a:lnTo>
                    <a:lnTo>
                      <a:pt x="18" y="314"/>
                    </a:lnTo>
                    <a:lnTo>
                      <a:pt x="23" y="308"/>
                    </a:lnTo>
                    <a:lnTo>
                      <a:pt x="27" y="304"/>
                    </a:lnTo>
                    <a:lnTo>
                      <a:pt x="33" y="298"/>
                    </a:lnTo>
                    <a:lnTo>
                      <a:pt x="38" y="293"/>
                    </a:lnTo>
                    <a:lnTo>
                      <a:pt x="42" y="287"/>
                    </a:lnTo>
                    <a:lnTo>
                      <a:pt x="48" y="281"/>
                    </a:lnTo>
                    <a:lnTo>
                      <a:pt x="54" y="276"/>
                    </a:lnTo>
                    <a:lnTo>
                      <a:pt x="59" y="272"/>
                    </a:lnTo>
                    <a:lnTo>
                      <a:pt x="65" y="266"/>
                    </a:lnTo>
                    <a:lnTo>
                      <a:pt x="71" y="260"/>
                    </a:lnTo>
                    <a:lnTo>
                      <a:pt x="77" y="255"/>
                    </a:lnTo>
                    <a:lnTo>
                      <a:pt x="82" y="249"/>
                    </a:lnTo>
                    <a:lnTo>
                      <a:pt x="88" y="245"/>
                    </a:lnTo>
                    <a:lnTo>
                      <a:pt x="92" y="239"/>
                    </a:lnTo>
                    <a:lnTo>
                      <a:pt x="97" y="234"/>
                    </a:lnTo>
                    <a:lnTo>
                      <a:pt x="101" y="228"/>
                    </a:lnTo>
                    <a:lnTo>
                      <a:pt x="107" y="222"/>
                    </a:lnTo>
                    <a:lnTo>
                      <a:pt x="111" y="217"/>
                    </a:lnTo>
                    <a:lnTo>
                      <a:pt x="115" y="211"/>
                    </a:lnTo>
                    <a:lnTo>
                      <a:pt x="116" y="205"/>
                    </a:lnTo>
                    <a:lnTo>
                      <a:pt x="120" y="199"/>
                    </a:lnTo>
                    <a:lnTo>
                      <a:pt x="122" y="194"/>
                    </a:lnTo>
                    <a:lnTo>
                      <a:pt x="126" y="186"/>
                    </a:lnTo>
                    <a:lnTo>
                      <a:pt x="126" y="180"/>
                    </a:lnTo>
                    <a:lnTo>
                      <a:pt x="128" y="173"/>
                    </a:lnTo>
                    <a:lnTo>
                      <a:pt x="130" y="167"/>
                    </a:lnTo>
                    <a:lnTo>
                      <a:pt x="130" y="163"/>
                    </a:lnTo>
                    <a:lnTo>
                      <a:pt x="132" y="158"/>
                    </a:lnTo>
                    <a:lnTo>
                      <a:pt x="134" y="154"/>
                    </a:lnTo>
                    <a:lnTo>
                      <a:pt x="135" y="142"/>
                    </a:lnTo>
                    <a:lnTo>
                      <a:pt x="137" y="135"/>
                    </a:lnTo>
                    <a:lnTo>
                      <a:pt x="137" y="129"/>
                    </a:lnTo>
                    <a:lnTo>
                      <a:pt x="137" y="123"/>
                    </a:lnTo>
                    <a:lnTo>
                      <a:pt x="137" y="118"/>
                    </a:lnTo>
                    <a:lnTo>
                      <a:pt x="137" y="112"/>
                    </a:lnTo>
                    <a:lnTo>
                      <a:pt x="137" y="108"/>
                    </a:lnTo>
                    <a:lnTo>
                      <a:pt x="137" y="102"/>
                    </a:lnTo>
                    <a:lnTo>
                      <a:pt x="137" y="97"/>
                    </a:lnTo>
                    <a:lnTo>
                      <a:pt x="137" y="93"/>
                    </a:lnTo>
                    <a:lnTo>
                      <a:pt x="135" y="87"/>
                    </a:lnTo>
                    <a:lnTo>
                      <a:pt x="135" y="82"/>
                    </a:lnTo>
                    <a:lnTo>
                      <a:pt x="134" y="76"/>
                    </a:lnTo>
                    <a:lnTo>
                      <a:pt x="134" y="70"/>
                    </a:lnTo>
                    <a:lnTo>
                      <a:pt x="130" y="61"/>
                    </a:lnTo>
                    <a:lnTo>
                      <a:pt x="126" y="51"/>
                    </a:lnTo>
                    <a:lnTo>
                      <a:pt x="122" y="42"/>
                    </a:lnTo>
                    <a:lnTo>
                      <a:pt x="116" y="32"/>
                    </a:lnTo>
                    <a:lnTo>
                      <a:pt x="113" y="25"/>
                    </a:lnTo>
                    <a:lnTo>
                      <a:pt x="107" y="17"/>
                    </a:lnTo>
                    <a:lnTo>
                      <a:pt x="113" y="13"/>
                    </a:lnTo>
                    <a:lnTo>
                      <a:pt x="116" y="9"/>
                    </a:lnTo>
                    <a:lnTo>
                      <a:pt x="122" y="4"/>
                    </a:lnTo>
                    <a:lnTo>
                      <a:pt x="128" y="0"/>
                    </a:lnTo>
                    <a:close/>
                  </a:path>
                </a:pathLst>
              </a:custGeom>
              <a:solidFill>
                <a:srgbClr val="000000"/>
              </a:solidFill>
              <a:ln w="9525">
                <a:noFill/>
                <a:round/>
              </a:ln>
            </p:spPr>
            <p:txBody>
              <a:bodyPr/>
              <a:lstStyle/>
              <a:p>
                <a:endParaRPr lang="en-US"/>
              </a:p>
            </p:txBody>
          </p:sp>
          <p:sp>
            <p:nvSpPr>
              <p:cNvPr id="1049013" name="Freeform 311"/>
              <p:cNvSpPr/>
              <p:nvPr/>
            </p:nvSpPr>
            <p:spPr bwMode="auto">
              <a:xfrm>
                <a:off x="2066" y="2413"/>
                <a:ext cx="106" cy="62"/>
              </a:xfrm>
              <a:custGeom>
                <a:avLst/>
                <a:gdLst>
                  <a:gd name="T0" fmla="*/ 1 w 211"/>
                  <a:gd name="T1" fmla="*/ 0 h 123"/>
                  <a:gd name="T2" fmla="*/ 5 w 211"/>
                  <a:gd name="T3" fmla="*/ 0 h 123"/>
                  <a:gd name="T4" fmla="*/ 9 w 211"/>
                  <a:gd name="T5" fmla="*/ 0 h 123"/>
                  <a:gd name="T6" fmla="*/ 13 w 211"/>
                  <a:gd name="T7" fmla="*/ 0 h 123"/>
                  <a:gd name="T8" fmla="*/ 16 w 211"/>
                  <a:gd name="T9" fmla="*/ 2 h 123"/>
                  <a:gd name="T10" fmla="*/ 21 w 211"/>
                  <a:gd name="T11" fmla="*/ 2 h 123"/>
                  <a:gd name="T12" fmla="*/ 25 w 211"/>
                  <a:gd name="T13" fmla="*/ 4 h 123"/>
                  <a:gd name="T14" fmla="*/ 30 w 211"/>
                  <a:gd name="T15" fmla="*/ 5 h 123"/>
                  <a:gd name="T16" fmla="*/ 33 w 211"/>
                  <a:gd name="T17" fmla="*/ 7 h 123"/>
                  <a:gd name="T18" fmla="*/ 38 w 211"/>
                  <a:gd name="T19" fmla="*/ 8 h 123"/>
                  <a:gd name="T20" fmla="*/ 42 w 211"/>
                  <a:gd name="T21" fmla="*/ 10 h 123"/>
                  <a:gd name="T22" fmla="*/ 46 w 211"/>
                  <a:gd name="T23" fmla="*/ 12 h 123"/>
                  <a:gd name="T24" fmla="*/ 51 w 211"/>
                  <a:gd name="T25" fmla="*/ 14 h 123"/>
                  <a:gd name="T26" fmla="*/ 54 w 211"/>
                  <a:gd name="T27" fmla="*/ 16 h 123"/>
                  <a:gd name="T28" fmla="*/ 58 w 211"/>
                  <a:gd name="T29" fmla="*/ 19 h 123"/>
                  <a:gd name="T30" fmla="*/ 62 w 211"/>
                  <a:gd name="T31" fmla="*/ 21 h 123"/>
                  <a:gd name="T32" fmla="*/ 67 w 211"/>
                  <a:gd name="T33" fmla="*/ 24 h 123"/>
                  <a:gd name="T34" fmla="*/ 70 w 211"/>
                  <a:gd name="T35" fmla="*/ 27 h 123"/>
                  <a:gd name="T36" fmla="*/ 73 w 211"/>
                  <a:gd name="T37" fmla="*/ 29 h 123"/>
                  <a:gd name="T38" fmla="*/ 76 w 211"/>
                  <a:gd name="T39" fmla="*/ 32 h 123"/>
                  <a:gd name="T40" fmla="*/ 80 w 211"/>
                  <a:gd name="T41" fmla="*/ 34 h 123"/>
                  <a:gd name="T42" fmla="*/ 83 w 211"/>
                  <a:gd name="T43" fmla="*/ 36 h 123"/>
                  <a:gd name="T44" fmla="*/ 86 w 211"/>
                  <a:gd name="T45" fmla="*/ 39 h 123"/>
                  <a:gd name="T46" fmla="*/ 89 w 211"/>
                  <a:gd name="T47" fmla="*/ 42 h 123"/>
                  <a:gd name="T48" fmla="*/ 92 w 211"/>
                  <a:gd name="T49" fmla="*/ 45 h 123"/>
                  <a:gd name="T50" fmla="*/ 94 w 211"/>
                  <a:gd name="T51" fmla="*/ 47 h 123"/>
                  <a:gd name="T52" fmla="*/ 96 w 211"/>
                  <a:gd name="T53" fmla="*/ 50 h 123"/>
                  <a:gd name="T54" fmla="*/ 98 w 211"/>
                  <a:gd name="T55" fmla="*/ 52 h 123"/>
                  <a:gd name="T56" fmla="*/ 101 w 211"/>
                  <a:gd name="T57" fmla="*/ 53 h 123"/>
                  <a:gd name="T58" fmla="*/ 104 w 211"/>
                  <a:gd name="T59" fmla="*/ 58 h 123"/>
                  <a:gd name="T60" fmla="*/ 106 w 211"/>
                  <a:gd name="T61" fmla="*/ 62 h 123"/>
                  <a:gd name="T62" fmla="*/ 1 w 211"/>
                  <a:gd name="T63" fmla="*/ 17 h 123"/>
                  <a:gd name="T64" fmla="*/ 0 w 211"/>
                  <a:gd name="T65" fmla="*/ 14 h 123"/>
                  <a:gd name="T66" fmla="*/ 0 w 211"/>
                  <a:gd name="T67" fmla="*/ 13 h 123"/>
                  <a:gd name="T68" fmla="*/ 0 w 211"/>
                  <a:gd name="T69" fmla="*/ 10 h 123"/>
                  <a:gd name="T70" fmla="*/ 0 w 211"/>
                  <a:gd name="T71" fmla="*/ 7 h 123"/>
                  <a:gd name="T72" fmla="*/ 0 w 211"/>
                  <a:gd name="T73" fmla="*/ 5 h 123"/>
                  <a:gd name="T74" fmla="*/ 0 w 211"/>
                  <a:gd name="T75" fmla="*/ 2 h 123"/>
                  <a:gd name="T76" fmla="*/ 0 w 211"/>
                  <a:gd name="T77" fmla="*/ 0 h 123"/>
                  <a:gd name="T78" fmla="*/ 1 w 211"/>
                  <a:gd name="T79" fmla="*/ 0 h 123"/>
                  <a:gd name="T80" fmla="*/ 1 w 211"/>
                  <a:gd name="T81" fmla="*/ 0 h 123"/>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211"/>
                  <a:gd name="T124" fmla="*/ 0 h 123"/>
                  <a:gd name="T125" fmla="*/ 211 w 211"/>
                  <a:gd name="T126" fmla="*/ 123 h 123"/>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211" h="123">
                    <a:moveTo>
                      <a:pt x="2" y="0"/>
                    </a:moveTo>
                    <a:lnTo>
                      <a:pt x="9" y="0"/>
                    </a:lnTo>
                    <a:lnTo>
                      <a:pt x="17" y="0"/>
                    </a:lnTo>
                    <a:lnTo>
                      <a:pt x="25" y="0"/>
                    </a:lnTo>
                    <a:lnTo>
                      <a:pt x="32" y="4"/>
                    </a:lnTo>
                    <a:lnTo>
                      <a:pt x="42" y="4"/>
                    </a:lnTo>
                    <a:lnTo>
                      <a:pt x="49" y="7"/>
                    </a:lnTo>
                    <a:lnTo>
                      <a:pt x="59" y="9"/>
                    </a:lnTo>
                    <a:lnTo>
                      <a:pt x="66" y="13"/>
                    </a:lnTo>
                    <a:lnTo>
                      <a:pt x="76" y="15"/>
                    </a:lnTo>
                    <a:lnTo>
                      <a:pt x="84" y="19"/>
                    </a:lnTo>
                    <a:lnTo>
                      <a:pt x="91" y="23"/>
                    </a:lnTo>
                    <a:lnTo>
                      <a:pt x="101" y="28"/>
                    </a:lnTo>
                    <a:lnTo>
                      <a:pt x="108" y="32"/>
                    </a:lnTo>
                    <a:lnTo>
                      <a:pt x="116" y="38"/>
                    </a:lnTo>
                    <a:lnTo>
                      <a:pt x="124" y="42"/>
                    </a:lnTo>
                    <a:lnTo>
                      <a:pt x="133" y="47"/>
                    </a:lnTo>
                    <a:lnTo>
                      <a:pt x="139" y="53"/>
                    </a:lnTo>
                    <a:lnTo>
                      <a:pt x="146" y="57"/>
                    </a:lnTo>
                    <a:lnTo>
                      <a:pt x="152" y="63"/>
                    </a:lnTo>
                    <a:lnTo>
                      <a:pt x="160" y="68"/>
                    </a:lnTo>
                    <a:lnTo>
                      <a:pt x="165" y="72"/>
                    </a:lnTo>
                    <a:lnTo>
                      <a:pt x="171" y="78"/>
                    </a:lnTo>
                    <a:lnTo>
                      <a:pt x="177" y="84"/>
                    </a:lnTo>
                    <a:lnTo>
                      <a:pt x="184" y="89"/>
                    </a:lnTo>
                    <a:lnTo>
                      <a:pt x="188" y="93"/>
                    </a:lnTo>
                    <a:lnTo>
                      <a:pt x="192" y="99"/>
                    </a:lnTo>
                    <a:lnTo>
                      <a:pt x="196" y="103"/>
                    </a:lnTo>
                    <a:lnTo>
                      <a:pt x="201" y="106"/>
                    </a:lnTo>
                    <a:lnTo>
                      <a:pt x="207" y="116"/>
                    </a:lnTo>
                    <a:lnTo>
                      <a:pt x="211" y="123"/>
                    </a:lnTo>
                    <a:lnTo>
                      <a:pt x="2" y="34"/>
                    </a:lnTo>
                    <a:lnTo>
                      <a:pt x="0" y="28"/>
                    </a:lnTo>
                    <a:lnTo>
                      <a:pt x="0" y="25"/>
                    </a:lnTo>
                    <a:lnTo>
                      <a:pt x="0" y="19"/>
                    </a:lnTo>
                    <a:lnTo>
                      <a:pt x="0" y="13"/>
                    </a:lnTo>
                    <a:lnTo>
                      <a:pt x="0" y="9"/>
                    </a:lnTo>
                    <a:lnTo>
                      <a:pt x="0" y="4"/>
                    </a:lnTo>
                    <a:lnTo>
                      <a:pt x="0" y="0"/>
                    </a:lnTo>
                    <a:lnTo>
                      <a:pt x="2" y="0"/>
                    </a:lnTo>
                    <a:close/>
                  </a:path>
                </a:pathLst>
              </a:custGeom>
              <a:solidFill>
                <a:srgbClr val="000000"/>
              </a:solidFill>
              <a:ln w="9525">
                <a:noFill/>
                <a:round/>
              </a:ln>
            </p:spPr>
            <p:txBody>
              <a:bodyPr/>
              <a:lstStyle/>
              <a:p>
                <a:endParaRPr lang="en-US"/>
              </a:p>
            </p:txBody>
          </p:sp>
          <p:sp>
            <p:nvSpPr>
              <p:cNvPr id="1049014" name="Freeform 312"/>
              <p:cNvSpPr/>
              <p:nvPr/>
            </p:nvSpPr>
            <p:spPr bwMode="auto">
              <a:xfrm>
                <a:off x="2307" y="2758"/>
                <a:ext cx="124" cy="94"/>
              </a:xfrm>
              <a:custGeom>
                <a:avLst/>
                <a:gdLst>
                  <a:gd name="T0" fmla="*/ 80 w 247"/>
                  <a:gd name="T1" fmla="*/ 69 h 188"/>
                  <a:gd name="T2" fmla="*/ 74 w 247"/>
                  <a:gd name="T3" fmla="*/ 73 h 188"/>
                  <a:gd name="T4" fmla="*/ 69 w 247"/>
                  <a:gd name="T5" fmla="*/ 77 h 188"/>
                  <a:gd name="T6" fmla="*/ 63 w 247"/>
                  <a:gd name="T7" fmla="*/ 81 h 188"/>
                  <a:gd name="T8" fmla="*/ 58 w 247"/>
                  <a:gd name="T9" fmla="*/ 84 h 188"/>
                  <a:gd name="T10" fmla="*/ 53 w 247"/>
                  <a:gd name="T11" fmla="*/ 86 h 188"/>
                  <a:gd name="T12" fmla="*/ 47 w 247"/>
                  <a:gd name="T13" fmla="*/ 89 h 188"/>
                  <a:gd name="T14" fmla="*/ 42 w 247"/>
                  <a:gd name="T15" fmla="*/ 91 h 188"/>
                  <a:gd name="T16" fmla="*/ 36 w 247"/>
                  <a:gd name="T17" fmla="*/ 93 h 188"/>
                  <a:gd name="T18" fmla="*/ 32 w 247"/>
                  <a:gd name="T19" fmla="*/ 94 h 188"/>
                  <a:gd name="T20" fmla="*/ 26 w 247"/>
                  <a:gd name="T21" fmla="*/ 94 h 188"/>
                  <a:gd name="T22" fmla="*/ 21 w 247"/>
                  <a:gd name="T23" fmla="*/ 94 h 188"/>
                  <a:gd name="T24" fmla="*/ 14 w 247"/>
                  <a:gd name="T25" fmla="*/ 94 h 188"/>
                  <a:gd name="T26" fmla="*/ 4 w 247"/>
                  <a:gd name="T27" fmla="*/ 94 h 188"/>
                  <a:gd name="T28" fmla="*/ 3 w 247"/>
                  <a:gd name="T29" fmla="*/ 92 h 188"/>
                  <a:gd name="T30" fmla="*/ 11 w 247"/>
                  <a:gd name="T31" fmla="*/ 86 h 188"/>
                  <a:gd name="T32" fmla="*/ 18 w 247"/>
                  <a:gd name="T33" fmla="*/ 81 h 188"/>
                  <a:gd name="T34" fmla="*/ 26 w 247"/>
                  <a:gd name="T35" fmla="*/ 76 h 188"/>
                  <a:gd name="T36" fmla="*/ 33 w 247"/>
                  <a:gd name="T37" fmla="*/ 72 h 188"/>
                  <a:gd name="T38" fmla="*/ 41 w 247"/>
                  <a:gd name="T39" fmla="*/ 67 h 188"/>
                  <a:gd name="T40" fmla="*/ 49 w 247"/>
                  <a:gd name="T41" fmla="*/ 61 h 188"/>
                  <a:gd name="T42" fmla="*/ 56 w 247"/>
                  <a:gd name="T43" fmla="*/ 56 h 188"/>
                  <a:gd name="T44" fmla="*/ 63 w 247"/>
                  <a:gd name="T45" fmla="*/ 51 h 188"/>
                  <a:gd name="T46" fmla="*/ 70 w 247"/>
                  <a:gd name="T47" fmla="*/ 46 h 188"/>
                  <a:gd name="T48" fmla="*/ 76 w 247"/>
                  <a:gd name="T49" fmla="*/ 41 h 188"/>
                  <a:gd name="T50" fmla="*/ 83 w 247"/>
                  <a:gd name="T51" fmla="*/ 36 h 188"/>
                  <a:gd name="T52" fmla="*/ 88 w 247"/>
                  <a:gd name="T53" fmla="*/ 30 h 188"/>
                  <a:gd name="T54" fmla="*/ 93 w 247"/>
                  <a:gd name="T55" fmla="*/ 26 h 188"/>
                  <a:gd name="T56" fmla="*/ 100 w 247"/>
                  <a:gd name="T57" fmla="*/ 18 h 188"/>
                  <a:gd name="T58" fmla="*/ 124 w 247"/>
                  <a:gd name="T59" fmla="*/ 0 h 188"/>
                  <a:gd name="T60" fmla="*/ 120 w 247"/>
                  <a:gd name="T61" fmla="*/ 10 h 188"/>
                  <a:gd name="T62" fmla="*/ 116 w 247"/>
                  <a:gd name="T63" fmla="*/ 17 h 188"/>
                  <a:gd name="T64" fmla="*/ 111 w 247"/>
                  <a:gd name="T65" fmla="*/ 26 h 188"/>
                  <a:gd name="T66" fmla="*/ 107 w 247"/>
                  <a:gd name="T67" fmla="*/ 35 h 188"/>
                  <a:gd name="T68" fmla="*/ 103 w 247"/>
                  <a:gd name="T69" fmla="*/ 40 h 188"/>
                  <a:gd name="T70" fmla="*/ 99 w 247"/>
                  <a:gd name="T71" fmla="*/ 46 h 188"/>
                  <a:gd name="T72" fmla="*/ 94 w 247"/>
                  <a:gd name="T73" fmla="*/ 51 h 188"/>
                  <a:gd name="T74" fmla="*/ 90 w 247"/>
                  <a:gd name="T75" fmla="*/ 57 h 188"/>
                  <a:gd name="T76" fmla="*/ 85 w 247"/>
                  <a:gd name="T77" fmla="*/ 63 h 188"/>
                  <a:gd name="T78" fmla="*/ 83 w 247"/>
                  <a:gd name="T79" fmla="*/ 66 h 188"/>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w 247"/>
                  <a:gd name="T121" fmla="*/ 0 h 188"/>
                  <a:gd name="T122" fmla="*/ 247 w 247"/>
                  <a:gd name="T123" fmla="*/ 188 h 188"/>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T120" t="T121" r="T122" b="T123"/>
                <a:pathLst>
                  <a:path w="247" h="188">
                    <a:moveTo>
                      <a:pt x="165" y="131"/>
                    </a:moveTo>
                    <a:lnTo>
                      <a:pt x="160" y="137"/>
                    </a:lnTo>
                    <a:lnTo>
                      <a:pt x="154" y="141"/>
                    </a:lnTo>
                    <a:lnTo>
                      <a:pt x="148" y="145"/>
                    </a:lnTo>
                    <a:lnTo>
                      <a:pt x="143" y="150"/>
                    </a:lnTo>
                    <a:lnTo>
                      <a:pt x="137" y="154"/>
                    </a:lnTo>
                    <a:lnTo>
                      <a:pt x="131" y="158"/>
                    </a:lnTo>
                    <a:lnTo>
                      <a:pt x="125" y="162"/>
                    </a:lnTo>
                    <a:lnTo>
                      <a:pt x="120" y="166"/>
                    </a:lnTo>
                    <a:lnTo>
                      <a:pt x="116" y="168"/>
                    </a:lnTo>
                    <a:lnTo>
                      <a:pt x="110" y="169"/>
                    </a:lnTo>
                    <a:lnTo>
                      <a:pt x="105" y="171"/>
                    </a:lnTo>
                    <a:lnTo>
                      <a:pt x="99" y="175"/>
                    </a:lnTo>
                    <a:lnTo>
                      <a:pt x="93" y="177"/>
                    </a:lnTo>
                    <a:lnTo>
                      <a:pt x="89" y="179"/>
                    </a:lnTo>
                    <a:lnTo>
                      <a:pt x="84" y="181"/>
                    </a:lnTo>
                    <a:lnTo>
                      <a:pt x="78" y="183"/>
                    </a:lnTo>
                    <a:lnTo>
                      <a:pt x="72" y="185"/>
                    </a:lnTo>
                    <a:lnTo>
                      <a:pt x="66" y="185"/>
                    </a:lnTo>
                    <a:lnTo>
                      <a:pt x="63" y="187"/>
                    </a:lnTo>
                    <a:lnTo>
                      <a:pt x="57" y="187"/>
                    </a:lnTo>
                    <a:lnTo>
                      <a:pt x="51" y="187"/>
                    </a:lnTo>
                    <a:lnTo>
                      <a:pt x="47" y="188"/>
                    </a:lnTo>
                    <a:lnTo>
                      <a:pt x="42" y="188"/>
                    </a:lnTo>
                    <a:lnTo>
                      <a:pt x="36" y="188"/>
                    </a:lnTo>
                    <a:lnTo>
                      <a:pt x="27" y="188"/>
                    </a:lnTo>
                    <a:lnTo>
                      <a:pt x="17" y="188"/>
                    </a:lnTo>
                    <a:lnTo>
                      <a:pt x="8" y="188"/>
                    </a:lnTo>
                    <a:lnTo>
                      <a:pt x="0" y="188"/>
                    </a:lnTo>
                    <a:lnTo>
                      <a:pt x="6" y="183"/>
                    </a:lnTo>
                    <a:lnTo>
                      <a:pt x="13" y="177"/>
                    </a:lnTo>
                    <a:lnTo>
                      <a:pt x="21" y="171"/>
                    </a:lnTo>
                    <a:lnTo>
                      <a:pt x="28" y="168"/>
                    </a:lnTo>
                    <a:lnTo>
                      <a:pt x="36" y="162"/>
                    </a:lnTo>
                    <a:lnTo>
                      <a:pt x="44" y="158"/>
                    </a:lnTo>
                    <a:lnTo>
                      <a:pt x="51" y="152"/>
                    </a:lnTo>
                    <a:lnTo>
                      <a:pt x="59" y="149"/>
                    </a:lnTo>
                    <a:lnTo>
                      <a:pt x="66" y="143"/>
                    </a:lnTo>
                    <a:lnTo>
                      <a:pt x="74" y="139"/>
                    </a:lnTo>
                    <a:lnTo>
                      <a:pt x="82" y="133"/>
                    </a:lnTo>
                    <a:lnTo>
                      <a:pt x="89" y="128"/>
                    </a:lnTo>
                    <a:lnTo>
                      <a:pt x="97" y="122"/>
                    </a:lnTo>
                    <a:lnTo>
                      <a:pt x="105" y="118"/>
                    </a:lnTo>
                    <a:lnTo>
                      <a:pt x="112" y="112"/>
                    </a:lnTo>
                    <a:lnTo>
                      <a:pt x="120" y="109"/>
                    </a:lnTo>
                    <a:lnTo>
                      <a:pt x="125" y="103"/>
                    </a:lnTo>
                    <a:lnTo>
                      <a:pt x="133" y="97"/>
                    </a:lnTo>
                    <a:lnTo>
                      <a:pt x="139" y="91"/>
                    </a:lnTo>
                    <a:lnTo>
                      <a:pt x="146" y="86"/>
                    </a:lnTo>
                    <a:lnTo>
                      <a:pt x="152" y="82"/>
                    </a:lnTo>
                    <a:lnTo>
                      <a:pt x="158" y="76"/>
                    </a:lnTo>
                    <a:lnTo>
                      <a:pt x="165" y="71"/>
                    </a:lnTo>
                    <a:lnTo>
                      <a:pt x="171" y="67"/>
                    </a:lnTo>
                    <a:lnTo>
                      <a:pt x="175" y="61"/>
                    </a:lnTo>
                    <a:lnTo>
                      <a:pt x="181" y="55"/>
                    </a:lnTo>
                    <a:lnTo>
                      <a:pt x="186" y="52"/>
                    </a:lnTo>
                    <a:lnTo>
                      <a:pt x="192" y="46"/>
                    </a:lnTo>
                    <a:lnTo>
                      <a:pt x="200" y="36"/>
                    </a:lnTo>
                    <a:lnTo>
                      <a:pt x="209" y="27"/>
                    </a:lnTo>
                    <a:lnTo>
                      <a:pt x="247" y="0"/>
                    </a:lnTo>
                    <a:lnTo>
                      <a:pt x="241" y="14"/>
                    </a:lnTo>
                    <a:lnTo>
                      <a:pt x="240" y="19"/>
                    </a:lnTo>
                    <a:lnTo>
                      <a:pt x="236" y="27"/>
                    </a:lnTo>
                    <a:lnTo>
                      <a:pt x="232" y="34"/>
                    </a:lnTo>
                    <a:lnTo>
                      <a:pt x="228" y="44"/>
                    </a:lnTo>
                    <a:lnTo>
                      <a:pt x="222" y="53"/>
                    </a:lnTo>
                    <a:lnTo>
                      <a:pt x="217" y="63"/>
                    </a:lnTo>
                    <a:lnTo>
                      <a:pt x="213" y="69"/>
                    </a:lnTo>
                    <a:lnTo>
                      <a:pt x="209" y="74"/>
                    </a:lnTo>
                    <a:lnTo>
                      <a:pt x="205" y="80"/>
                    </a:lnTo>
                    <a:lnTo>
                      <a:pt x="201" y="86"/>
                    </a:lnTo>
                    <a:lnTo>
                      <a:pt x="198" y="91"/>
                    </a:lnTo>
                    <a:lnTo>
                      <a:pt x="192" y="97"/>
                    </a:lnTo>
                    <a:lnTo>
                      <a:pt x="188" y="103"/>
                    </a:lnTo>
                    <a:lnTo>
                      <a:pt x="184" y="109"/>
                    </a:lnTo>
                    <a:lnTo>
                      <a:pt x="179" y="114"/>
                    </a:lnTo>
                    <a:lnTo>
                      <a:pt x="175" y="120"/>
                    </a:lnTo>
                    <a:lnTo>
                      <a:pt x="169" y="126"/>
                    </a:lnTo>
                    <a:lnTo>
                      <a:pt x="165" y="131"/>
                    </a:lnTo>
                    <a:close/>
                  </a:path>
                </a:pathLst>
              </a:custGeom>
              <a:solidFill>
                <a:srgbClr val="000000"/>
              </a:solidFill>
              <a:ln w="9525">
                <a:noFill/>
                <a:round/>
              </a:ln>
            </p:spPr>
            <p:txBody>
              <a:bodyPr/>
              <a:lstStyle/>
              <a:p>
                <a:endParaRPr lang="en-US"/>
              </a:p>
            </p:txBody>
          </p:sp>
          <p:sp>
            <p:nvSpPr>
              <p:cNvPr id="1049015" name="Freeform 313"/>
              <p:cNvSpPr/>
              <p:nvPr/>
            </p:nvSpPr>
            <p:spPr bwMode="auto">
              <a:xfrm>
                <a:off x="2387" y="2381"/>
                <a:ext cx="19" cy="85"/>
              </a:xfrm>
              <a:custGeom>
                <a:avLst/>
                <a:gdLst>
                  <a:gd name="T0" fmla="*/ 10 w 38"/>
                  <a:gd name="T1" fmla="*/ 0 h 169"/>
                  <a:gd name="T2" fmla="*/ 19 w 38"/>
                  <a:gd name="T3" fmla="*/ 82 h 169"/>
                  <a:gd name="T4" fmla="*/ 3 w 38"/>
                  <a:gd name="T5" fmla="*/ 85 h 169"/>
                  <a:gd name="T6" fmla="*/ 2 w 38"/>
                  <a:gd name="T7" fmla="*/ 80 h 169"/>
                  <a:gd name="T8" fmla="*/ 1 w 38"/>
                  <a:gd name="T9" fmla="*/ 75 h 169"/>
                  <a:gd name="T10" fmla="*/ 1 w 38"/>
                  <a:gd name="T11" fmla="*/ 73 h 169"/>
                  <a:gd name="T12" fmla="*/ 1 w 38"/>
                  <a:gd name="T13" fmla="*/ 71 h 169"/>
                  <a:gd name="T14" fmla="*/ 1 w 38"/>
                  <a:gd name="T15" fmla="*/ 68 h 169"/>
                  <a:gd name="T16" fmla="*/ 1 w 38"/>
                  <a:gd name="T17" fmla="*/ 66 h 169"/>
                  <a:gd name="T18" fmla="*/ 0 w 38"/>
                  <a:gd name="T19" fmla="*/ 63 h 169"/>
                  <a:gd name="T20" fmla="*/ 0 w 38"/>
                  <a:gd name="T21" fmla="*/ 60 h 169"/>
                  <a:gd name="T22" fmla="*/ 0 w 38"/>
                  <a:gd name="T23" fmla="*/ 57 h 169"/>
                  <a:gd name="T24" fmla="*/ 0 w 38"/>
                  <a:gd name="T25" fmla="*/ 55 h 169"/>
                  <a:gd name="T26" fmla="*/ 0 w 38"/>
                  <a:gd name="T27" fmla="*/ 52 h 169"/>
                  <a:gd name="T28" fmla="*/ 1 w 38"/>
                  <a:gd name="T29" fmla="*/ 49 h 169"/>
                  <a:gd name="T30" fmla="*/ 1 w 38"/>
                  <a:gd name="T31" fmla="*/ 46 h 169"/>
                  <a:gd name="T32" fmla="*/ 1 w 38"/>
                  <a:gd name="T33" fmla="*/ 43 h 169"/>
                  <a:gd name="T34" fmla="*/ 1 w 38"/>
                  <a:gd name="T35" fmla="*/ 40 h 169"/>
                  <a:gd name="T36" fmla="*/ 1 w 38"/>
                  <a:gd name="T37" fmla="*/ 37 h 169"/>
                  <a:gd name="T38" fmla="*/ 2 w 38"/>
                  <a:gd name="T39" fmla="*/ 35 h 169"/>
                  <a:gd name="T40" fmla="*/ 2 w 38"/>
                  <a:gd name="T41" fmla="*/ 32 h 169"/>
                  <a:gd name="T42" fmla="*/ 3 w 38"/>
                  <a:gd name="T43" fmla="*/ 29 h 169"/>
                  <a:gd name="T44" fmla="*/ 3 w 38"/>
                  <a:gd name="T45" fmla="*/ 26 h 169"/>
                  <a:gd name="T46" fmla="*/ 5 w 38"/>
                  <a:gd name="T47" fmla="*/ 24 h 169"/>
                  <a:gd name="T48" fmla="*/ 5 w 38"/>
                  <a:gd name="T49" fmla="*/ 21 h 169"/>
                  <a:gd name="T50" fmla="*/ 5 w 38"/>
                  <a:gd name="T51" fmla="*/ 18 h 169"/>
                  <a:gd name="T52" fmla="*/ 6 w 38"/>
                  <a:gd name="T53" fmla="*/ 16 h 169"/>
                  <a:gd name="T54" fmla="*/ 6 w 38"/>
                  <a:gd name="T55" fmla="*/ 13 h 169"/>
                  <a:gd name="T56" fmla="*/ 7 w 38"/>
                  <a:gd name="T57" fmla="*/ 10 h 169"/>
                  <a:gd name="T58" fmla="*/ 10 w 38"/>
                  <a:gd name="T59" fmla="*/ 5 h 169"/>
                  <a:gd name="T60" fmla="*/ 10 w 38"/>
                  <a:gd name="T61" fmla="*/ 0 h 169"/>
                  <a:gd name="T62" fmla="*/ 10 w 38"/>
                  <a:gd name="T63" fmla="*/ 0 h 169"/>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38"/>
                  <a:gd name="T97" fmla="*/ 0 h 169"/>
                  <a:gd name="T98" fmla="*/ 38 w 38"/>
                  <a:gd name="T99" fmla="*/ 169 h 169"/>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38" h="169">
                    <a:moveTo>
                      <a:pt x="21" y="0"/>
                    </a:moveTo>
                    <a:lnTo>
                      <a:pt x="38" y="164"/>
                    </a:lnTo>
                    <a:lnTo>
                      <a:pt x="7" y="169"/>
                    </a:lnTo>
                    <a:lnTo>
                      <a:pt x="5" y="160"/>
                    </a:lnTo>
                    <a:lnTo>
                      <a:pt x="3" y="150"/>
                    </a:lnTo>
                    <a:lnTo>
                      <a:pt x="2" y="145"/>
                    </a:lnTo>
                    <a:lnTo>
                      <a:pt x="2" y="141"/>
                    </a:lnTo>
                    <a:lnTo>
                      <a:pt x="2" y="135"/>
                    </a:lnTo>
                    <a:lnTo>
                      <a:pt x="2" y="131"/>
                    </a:lnTo>
                    <a:lnTo>
                      <a:pt x="0" y="126"/>
                    </a:lnTo>
                    <a:lnTo>
                      <a:pt x="0" y="120"/>
                    </a:lnTo>
                    <a:lnTo>
                      <a:pt x="0" y="114"/>
                    </a:lnTo>
                    <a:lnTo>
                      <a:pt x="0" y="109"/>
                    </a:lnTo>
                    <a:lnTo>
                      <a:pt x="0" y="103"/>
                    </a:lnTo>
                    <a:lnTo>
                      <a:pt x="2" y="97"/>
                    </a:lnTo>
                    <a:lnTo>
                      <a:pt x="2" y="91"/>
                    </a:lnTo>
                    <a:lnTo>
                      <a:pt x="3" y="86"/>
                    </a:lnTo>
                    <a:lnTo>
                      <a:pt x="3" y="80"/>
                    </a:lnTo>
                    <a:lnTo>
                      <a:pt x="3" y="74"/>
                    </a:lnTo>
                    <a:lnTo>
                      <a:pt x="5" y="69"/>
                    </a:lnTo>
                    <a:lnTo>
                      <a:pt x="5" y="63"/>
                    </a:lnTo>
                    <a:lnTo>
                      <a:pt x="7" y="57"/>
                    </a:lnTo>
                    <a:lnTo>
                      <a:pt x="7" y="52"/>
                    </a:lnTo>
                    <a:lnTo>
                      <a:pt x="9" y="48"/>
                    </a:lnTo>
                    <a:lnTo>
                      <a:pt x="11" y="42"/>
                    </a:lnTo>
                    <a:lnTo>
                      <a:pt x="11" y="36"/>
                    </a:lnTo>
                    <a:lnTo>
                      <a:pt x="13" y="31"/>
                    </a:lnTo>
                    <a:lnTo>
                      <a:pt x="13" y="25"/>
                    </a:lnTo>
                    <a:lnTo>
                      <a:pt x="15" y="19"/>
                    </a:lnTo>
                    <a:lnTo>
                      <a:pt x="19" y="10"/>
                    </a:lnTo>
                    <a:lnTo>
                      <a:pt x="21" y="0"/>
                    </a:lnTo>
                    <a:close/>
                  </a:path>
                </a:pathLst>
              </a:custGeom>
              <a:solidFill>
                <a:srgbClr val="000000"/>
              </a:solidFill>
              <a:ln w="9525">
                <a:noFill/>
                <a:round/>
              </a:ln>
            </p:spPr>
            <p:txBody>
              <a:bodyPr/>
              <a:lstStyle/>
              <a:p>
                <a:endParaRPr lang="en-US"/>
              </a:p>
            </p:txBody>
          </p:sp>
          <p:sp>
            <p:nvSpPr>
              <p:cNvPr id="1049016" name="Freeform 314"/>
              <p:cNvSpPr/>
              <p:nvPr/>
            </p:nvSpPr>
            <p:spPr bwMode="auto">
              <a:xfrm>
                <a:off x="2310" y="2183"/>
                <a:ext cx="96" cy="33"/>
              </a:xfrm>
              <a:custGeom>
                <a:avLst/>
                <a:gdLst>
                  <a:gd name="T0" fmla="*/ 16 w 192"/>
                  <a:gd name="T1" fmla="*/ 8 h 64"/>
                  <a:gd name="T2" fmla="*/ 96 w 192"/>
                  <a:gd name="T3" fmla="*/ 0 h 64"/>
                  <a:gd name="T4" fmla="*/ 94 w 192"/>
                  <a:gd name="T5" fmla="*/ 1 h 64"/>
                  <a:gd name="T6" fmla="*/ 91 w 192"/>
                  <a:gd name="T7" fmla="*/ 2 h 64"/>
                  <a:gd name="T8" fmla="*/ 88 w 192"/>
                  <a:gd name="T9" fmla="*/ 3 h 64"/>
                  <a:gd name="T10" fmla="*/ 86 w 192"/>
                  <a:gd name="T11" fmla="*/ 5 h 64"/>
                  <a:gd name="T12" fmla="*/ 83 w 192"/>
                  <a:gd name="T13" fmla="*/ 6 h 64"/>
                  <a:gd name="T14" fmla="*/ 80 w 192"/>
                  <a:gd name="T15" fmla="*/ 7 h 64"/>
                  <a:gd name="T16" fmla="*/ 77 w 192"/>
                  <a:gd name="T17" fmla="*/ 8 h 64"/>
                  <a:gd name="T18" fmla="*/ 74 w 192"/>
                  <a:gd name="T19" fmla="*/ 9 h 64"/>
                  <a:gd name="T20" fmla="*/ 70 w 192"/>
                  <a:gd name="T21" fmla="*/ 10 h 64"/>
                  <a:gd name="T22" fmla="*/ 68 w 192"/>
                  <a:gd name="T23" fmla="*/ 11 h 64"/>
                  <a:gd name="T24" fmla="*/ 65 w 192"/>
                  <a:gd name="T25" fmla="*/ 11 h 64"/>
                  <a:gd name="T26" fmla="*/ 60 w 192"/>
                  <a:gd name="T27" fmla="*/ 12 h 64"/>
                  <a:gd name="T28" fmla="*/ 57 w 192"/>
                  <a:gd name="T29" fmla="*/ 12 h 64"/>
                  <a:gd name="T30" fmla="*/ 54 w 192"/>
                  <a:gd name="T31" fmla="*/ 13 h 64"/>
                  <a:gd name="T32" fmla="*/ 51 w 192"/>
                  <a:gd name="T33" fmla="*/ 13 h 64"/>
                  <a:gd name="T34" fmla="*/ 48 w 192"/>
                  <a:gd name="T35" fmla="*/ 15 h 64"/>
                  <a:gd name="T36" fmla="*/ 44 w 192"/>
                  <a:gd name="T37" fmla="*/ 15 h 64"/>
                  <a:gd name="T38" fmla="*/ 41 w 192"/>
                  <a:gd name="T39" fmla="*/ 17 h 64"/>
                  <a:gd name="T40" fmla="*/ 37 w 192"/>
                  <a:gd name="T41" fmla="*/ 18 h 64"/>
                  <a:gd name="T42" fmla="*/ 34 w 192"/>
                  <a:gd name="T43" fmla="*/ 19 h 64"/>
                  <a:gd name="T44" fmla="*/ 30 w 192"/>
                  <a:gd name="T45" fmla="*/ 19 h 64"/>
                  <a:gd name="T46" fmla="*/ 27 w 192"/>
                  <a:gd name="T47" fmla="*/ 20 h 64"/>
                  <a:gd name="T48" fmla="*/ 24 w 192"/>
                  <a:gd name="T49" fmla="*/ 21 h 64"/>
                  <a:gd name="T50" fmla="*/ 21 w 192"/>
                  <a:gd name="T51" fmla="*/ 22 h 64"/>
                  <a:gd name="T52" fmla="*/ 18 w 192"/>
                  <a:gd name="T53" fmla="*/ 23 h 64"/>
                  <a:gd name="T54" fmla="*/ 15 w 192"/>
                  <a:gd name="T55" fmla="*/ 24 h 64"/>
                  <a:gd name="T56" fmla="*/ 12 w 192"/>
                  <a:gd name="T57" fmla="*/ 25 h 64"/>
                  <a:gd name="T58" fmla="*/ 10 w 192"/>
                  <a:gd name="T59" fmla="*/ 27 h 64"/>
                  <a:gd name="T60" fmla="*/ 6 w 192"/>
                  <a:gd name="T61" fmla="*/ 28 h 64"/>
                  <a:gd name="T62" fmla="*/ 3 w 192"/>
                  <a:gd name="T63" fmla="*/ 29 h 64"/>
                  <a:gd name="T64" fmla="*/ 2 w 192"/>
                  <a:gd name="T65" fmla="*/ 31 h 64"/>
                  <a:gd name="T66" fmla="*/ 0 w 192"/>
                  <a:gd name="T67" fmla="*/ 33 h 64"/>
                  <a:gd name="T68" fmla="*/ 16 w 192"/>
                  <a:gd name="T69" fmla="*/ 8 h 64"/>
                  <a:gd name="T70" fmla="*/ 16 w 192"/>
                  <a:gd name="T71" fmla="*/ 8 h 64"/>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192"/>
                  <a:gd name="T109" fmla="*/ 0 h 64"/>
                  <a:gd name="T110" fmla="*/ 192 w 192"/>
                  <a:gd name="T111" fmla="*/ 64 h 64"/>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192" h="64">
                    <a:moveTo>
                      <a:pt x="32" y="15"/>
                    </a:moveTo>
                    <a:lnTo>
                      <a:pt x="192" y="0"/>
                    </a:lnTo>
                    <a:lnTo>
                      <a:pt x="188" y="2"/>
                    </a:lnTo>
                    <a:lnTo>
                      <a:pt x="182" y="4"/>
                    </a:lnTo>
                    <a:lnTo>
                      <a:pt x="176" y="5"/>
                    </a:lnTo>
                    <a:lnTo>
                      <a:pt x="171" y="9"/>
                    </a:lnTo>
                    <a:lnTo>
                      <a:pt x="165" y="11"/>
                    </a:lnTo>
                    <a:lnTo>
                      <a:pt x="159" y="13"/>
                    </a:lnTo>
                    <a:lnTo>
                      <a:pt x="154" y="15"/>
                    </a:lnTo>
                    <a:lnTo>
                      <a:pt x="148" y="17"/>
                    </a:lnTo>
                    <a:lnTo>
                      <a:pt x="140" y="19"/>
                    </a:lnTo>
                    <a:lnTo>
                      <a:pt x="135" y="21"/>
                    </a:lnTo>
                    <a:lnTo>
                      <a:pt x="129" y="21"/>
                    </a:lnTo>
                    <a:lnTo>
                      <a:pt x="121" y="24"/>
                    </a:lnTo>
                    <a:lnTo>
                      <a:pt x="114" y="24"/>
                    </a:lnTo>
                    <a:lnTo>
                      <a:pt x="108" y="26"/>
                    </a:lnTo>
                    <a:lnTo>
                      <a:pt x="102" y="26"/>
                    </a:lnTo>
                    <a:lnTo>
                      <a:pt x="95" y="30"/>
                    </a:lnTo>
                    <a:lnTo>
                      <a:pt x="87" y="30"/>
                    </a:lnTo>
                    <a:lnTo>
                      <a:pt x="81" y="32"/>
                    </a:lnTo>
                    <a:lnTo>
                      <a:pt x="74" y="34"/>
                    </a:lnTo>
                    <a:lnTo>
                      <a:pt x="68" y="36"/>
                    </a:lnTo>
                    <a:lnTo>
                      <a:pt x="60" y="36"/>
                    </a:lnTo>
                    <a:lnTo>
                      <a:pt x="55" y="38"/>
                    </a:lnTo>
                    <a:lnTo>
                      <a:pt x="47" y="40"/>
                    </a:lnTo>
                    <a:lnTo>
                      <a:pt x="41" y="43"/>
                    </a:lnTo>
                    <a:lnTo>
                      <a:pt x="36" y="45"/>
                    </a:lnTo>
                    <a:lnTo>
                      <a:pt x="30" y="47"/>
                    </a:lnTo>
                    <a:lnTo>
                      <a:pt x="24" y="49"/>
                    </a:lnTo>
                    <a:lnTo>
                      <a:pt x="19" y="53"/>
                    </a:lnTo>
                    <a:lnTo>
                      <a:pt x="13" y="55"/>
                    </a:lnTo>
                    <a:lnTo>
                      <a:pt x="7" y="57"/>
                    </a:lnTo>
                    <a:lnTo>
                      <a:pt x="3" y="61"/>
                    </a:lnTo>
                    <a:lnTo>
                      <a:pt x="0" y="64"/>
                    </a:lnTo>
                    <a:lnTo>
                      <a:pt x="32" y="15"/>
                    </a:lnTo>
                    <a:close/>
                  </a:path>
                </a:pathLst>
              </a:custGeom>
              <a:solidFill>
                <a:srgbClr val="000000"/>
              </a:solidFill>
              <a:ln w="9525">
                <a:noFill/>
                <a:round/>
              </a:ln>
            </p:spPr>
            <p:txBody>
              <a:bodyPr/>
              <a:lstStyle/>
              <a:p>
                <a:endParaRPr lang="en-US"/>
              </a:p>
            </p:txBody>
          </p:sp>
          <p:sp>
            <p:nvSpPr>
              <p:cNvPr id="1049017" name="Freeform 315"/>
              <p:cNvSpPr/>
              <p:nvPr/>
            </p:nvSpPr>
            <p:spPr bwMode="auto">
              <a:xfrm>
                <a:off x="1648" y="2419"/>
                <a:ext cx="167" cy="172"/>
              </a:xfrm>
              <a:custGeom>
                <a:avLst/>
                <a:gdLst>
                  <a:gd name="T0" fmla="*/ 124 w 335"/>
                  <a:gd name="T1" fmla="*/ 48 h 344"/>
                  <a:gd name="T2" fmla="*/ 66 w 335"/>
                  <a:gd name="T3" fmla="*/ 170 h 344"/>
                  <a:gd name="T4" fmla="*/ 61 w 335"/>
                  <a:gd name="T5" fmla="*/ 172 h 344"/>
                  <a:gd name="T6" fmla="*/ 55 w 335"/>
                  <a:gd name="T7" fmla="*/ 172 h 344"/>
                  <a:gd name="T8" fmla="*/ 49 w 335"/>
                  <a:gd name="T9" fmla="*/ 172 h 344"/>
                  <a:gd name="T10" fmla="*/ 44 w 335"/>
                  <a:gd name="T11" fmla="*/ 170 h 344"/>
                  <a:gd name="T12" fmla="*/ 38 w 335"/>
                  <a:gd name="T13" fmla="*/ 167 h 344"/>
                  <a:gd name="T14" fmla="*/ 32 w 335"/>
                  <a:gd name="T15" fmla="*/ 163 h 344"/>
                  <a:gd name="T16" fmla="*/ 27 w 335"/>
                  <a:gd name="T17" fmla="*/ 158 h 344"/>
                  <a:gd name="T18" fmla="*/ 23 w 335"/>
                  <a:gd name="T19" fmla="*/ 153 h 344"/>
                  <a:gd name="T20" fmla="*/ 17 w 335"/>
                  <a:gd name="T21" fmla="*/ 148 h 344"/>
                  <a:gd name="T22" fmla="*/ 13 w 335"/>
                  <a:gd name="T23" fmla="*/ 141 h 344"/>
                  <a:gd name="T24" fmla="*/ 8 w 335"/>
                  <a:gd name="T25" fmla="*/ 134 h 344"/>
                  <a:gd name="T26" fmla="*/ 6 w 335"/>
                  <a:gd name="T27" fmla="*/ 127 h 344"/>
                  <a:gd name="T28" fmla="*/ 3 w 335"/>
                  <a:gd name="T29" fmla="*/ 121 h 344"/>
                  <a:gd name="T30" fmla="*/ 1 w 335"/>
                  <a:gd name="T31" fmla="*/ 114 h 344"/>
                  <a:gd name="T32" fmla="*/ 0 w 335"/>
                  <a:gd name="T33" fmla="*/ 106 h 344"/>
                  <a:gd name="T34" fmla="*/ 1 w 335"/>
                  <a:gd name="T35" fmla="*/ 101 h 344"/>
                  <a:gd name="T36" fmla="*/ 1 w 335"/>
                  <a:gd name="T37" fmla="*/ 95 h 344"/>
                  <a:gd name="T38" fmla="*/ 2 w 335"/>
                  <a:gd name="T39" fmla="*/ 89 h 344"/>
                  <a:gd name="T40" fmla="*/ 8 w 335"/>
                  <a:gd name="T41" fmla="*/ 82 h 344"/>
                  <a:gd name="T42" fmla="*/ 15 w 335"/>
                  <a:gd name="T43" fmla="*/ 76 h 344"/>
                  <a:gd name="T44" fmla="*/ 20 w 335"/>
                  <a:gd name="T45" fmla="*/ 75 h 344"/>
                  <a:gd name="T46" fmla="*/ 26 w 335"/>
                  <a:gd name="T47" fmla="*/ 74 h 344"/>
                  <a:gd name="T48" fmla="*/ 29 w 335"/>
                  <a:gd name="T49" fmla="*/ 72 h 344"/>
                  <a:gd name="T50" fmla="*/ 35 w 335"/>
                  <a:gd name="T51" fmla="*/ 71 h 344"/>
                  <a:gd name="T52" fmla="*/ 41 w 335"/>
                  <a:gd name="T53" fmla="*/ 69 h 344"/>
                  <a:gd name="T54" fmla="*/ 46 w 335"/>
                  <a:gd name="T55" fmla="*/ 68 h 344"/>
                  <a:gd name="T56" fmla="*/ 51 w 335"/>
                  <a:gd name="T57" fmla="*/ 66 h 344"/>
                  <a:gd name="T58" fmla="*/ 56 w 335"/>
                  <a:gd name="T59" fmla="*/ 64 h 344"/>
                  <a:gd name="T60" fmla="*/ 66 w 335"/>
                  <a:gd name="T61" fmla="*/ 59 h 344"/>
                  <a:gd name="T62" fmla="*/ 72 w 335"/>
                  <a:gd name="T63" fmla="*/ 56 h 344"/>
                  <a:gd name="T64" fmla="*/ 79 w 335"/>
                  <a:gd name="T65" fmla="*/ 53 h 344"/>
                  <a:gd name="T66" fmla="*/ 85 w 335"/>
                  <a:gd name="T67" fmla="*/ 49 h 344"/>
                  <a:gd name="T68" fmla="*/ 91 w 335"/>
                  <a:gd name="T69" fmla="*/ 46 h 344"/>
                  <a:gd name="T70" fmla="*/ 97 w 335"/>
                  <a:gd name="T71" fmla="*/ 42 h 344"/>
                  <a:gd name="T72" fmla="*/ 104 w 335"/>
                  <a:gd name="T73" fmla="*/ 37 h 344"/>
                  <a:gd name="T74" fmla="*/ 110 w 335"/>
                  <a:gd name="T75" fmla="*/ 34 h 344"/>
                  <a:gd name="T76" fmla="*/ 117 w 335"/>
                  <a:gd name="T77" fmla="*/ 28 h 344"/>
                  <a:gd name="T78" fmla="*/ 123 w 335"/>
                  <a:gd name="T79" fmla="*/ 25 h 344"/>
                  <a:gd name="T80" fmla="*/ 129 w 335"/>
                  <a:gd name="T81" fmla="*/ 20 h 344"/>
                  <a:gd name="T82" fmla="*/ 135 w 335"/>
                  <a:gd name="T83" fmla="*/ 17 h 344"/>
                  <a:gd name="T84" fmla="*/ 142 w 335"/>
                  <a:gd name="T85" fmla="*/ 12 h 344"/>
                  <a:gd name="T86" fmla="*/ 147 w 335"/>
                  <a:gd name="T87" fmla="*/ 9 h 344"/>
                  <a:gd name="T88" fmla="*/ 154 w 335"/>
                  <a:gd name="T89" fmla="*/ 5 h 344"/>
                  <a:gd name="T90" fmla="*/ 161 w 335"/>
                  <a:gd name="T91" fmla="*/ 2 h 344"/>
                  <a:gd name="T92" fmla="*/ 167 w 335"/>
                  <a:gd name="T93" fmla="*/ 0 h 344"/>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w 335"/>
                  <a:gd name="T142" fmla="*/ 0 h 344"/>
                  <a:gd name="T143" fmla="*/ 335 w 335"/>
                  <a:gd name="T144" fmla="*/ 344 h 344"/>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T141" t="T142" r="T143" b="T144"/>
                <a:pathLst>
                  <a:path w="335" h="344">
                    <a:moveTo>
                      <a:pt x="335" y="0"/>
                    </a:moveTo>
                    <a:lnTo>
                      <a:pt x="248" y="97"/>
                    </a:lnTo>
                    <a:lnTo>
                      <a:pt x="48" y="213"/>
                    </a:lnTo>
                    <a:lnTo>
                      <a:pt x="133" y="339"/>
                    </a:lnTo>
                    <a:lnTo>
                      <a:pt x="128" y="341"/>
                    </a:lnTo>
                    <a:lnTo>
                      <a:pt x="122" y="343"/>
                    </a:lnTo>
                    <a:lnTo>
                      <a:pt x="116" y="343"/>
                    </a:lnTo>
                    <a:lnTo>
                      <a:pt x="111" y="344"/>
                    </a:lnTo>
                    <a:lnTo>
                      <a:pt x="105" y="343"/>
                    </a:lnTo>
                    <a:lnTo>
                      <a:pt x="99" y="343"/>
                    </a:lnTo>
                    <a:lnTo>
                      <a:pt x="94" y="341"/>
                    </a:lnTo>
                    <a:lnTo>
                      <a:pt x="88" y="339"/>
                    </a:lnTo>
                    <a:lnTo>
                      <a:pt x="82" y="337"/>
                    </a:lnTo>
                    <a:lnTo>
                      <a:pt x="76" y="333"/>
                    </a:lnTo>
                    <a:lnTo>
                      <a:pt x="71" y="329"/>
                    </a:lnTo>
                    <a:lnTo>
                      <a:pt x="65" y="325"/>
                    </a:lnTo>
                    <a:lnTo>
                      <a:pt x="59" y="322"/>
                    </a:lnTo>
                    <a:lnTo>
                      <a:pt x="55" y="316"/>
                    </a:lnTo>
                    <a:lnTo>
                      <a:pt x="50" y="310"/>
                    </a:lnTo>
                    <a:lnTo>
                      <a:pt x="46" y="306"/>
                    </a:lnTo>
                    <a:lnTo>
                      <a:pt x="40" y="301"/>
                    </a:lnTo>
                    <a:lnTo>
                      <a:pt x="35" y="295"/>
                    </a:lnTo>
                    <a:lnTo>
                      <a:pt x="29" y="287"/>
                    </a:lnTo>
                    <a:lnTo>
                      <a:pt x="27" y="282"/>
                    </a:lnTo>
                    <a:lnTo>
                      <a:pt x="21" y="274"/>
                    </a:lnTo>
                    <a:lnTo>
                      <a:pt x="17" y="268"/>
                    </a:lnTo>
                    <a:lnTo>
                      <a:pt x="16" y="261"/>
                    </a:lnTo>
                    <a:lnTo>
                      <a:pt x="12" y="255"/>
                    </a:lnTo>
                    <a:lnTo>
                      <a:pt x="10" y="247"/>
                    </a:lnTo>
                    <a:lnTo>
                      <a:pt x="6" y="242"/>
                    </a:lnTo>
                    <a:lnTo>
                      <a:pt x="4" y="234"/>
                    </a:lnTo>
                    <a:lnTo>
                      <a:pt x="2" y="228"/>
                    </a:lnTo>
                    <a:lnTo>
                      <a:pt x="2" y="221"/>
                    </a:lnTo>
                    <a:lnTo>
                      <a:pt x="0" y="213"/>
                    </a:lnTo>
                    <a:lnTo>
                      <a:pt x="0" y="208"/>
                    </a:lnTo>
                    <a:lnTo>
                      <a:pt x="2" y="202"/>
                    </a:lnTo>
                    <a:lnTo>
                      <a:pt x="2" y="196"/>
                    </a:lnTo>
                    <a:lnTo>
                      <a:pt x="2" y="190"/>
                    </a:lnTo>
                    <a:lnTo>
                      <a:pt x="2" y="185"/>
                    </a:lnTo>
                    <a:lnTo>
                      <a:pt x="4" y="179"/>
                    </a:lnTo>
                    <a:lnTo>
                      <a:pt x="10" y="170"/>
                    </a:lnTo>
                    <a:lnTo>
                      <a:pt x="16" y="164"/>
                    </a:lnTo>
                    <a:lnTo>
                      <a:pt x="23" y="158"/>
                    </a:lnTo>
                    <a:lnTo>
                      <a:pt x="31" y="152"/>
                    </a:lnTo>
                    <a:lnTo>
                      <a:pt x="35" y="151"/>
                    </a:lnTo>
                    <a:lnTo>
                      <a:pt x="40" y="149"/>
                    </a:lnTo>
                    <a:lnTo>
                      <a:pt x="46" y="147"/>
                    </a:lnTo>
                    <a:lnTo>
                      <a:pt x="52" y="147"/>
                    </a:lnTo>
                    <a:lnTo>
                      <a:pt x="55" y="143"/>
                    </a:lnTo>
                    <a:lnTo>
                      <a:pt x="59" y="143"/>
                    </a:lnTo>
                    <a:lnTo>
                      <a:pt x="65" y="141"/>
                    </a:lnTo>
                    <a:lnTo>
                      <a:pt x="71" y="141"/>
                    </a:lnTo>
                    <a:lnTo>
                      <a:pt x="76" y="139"/>
                    </a:lnTo>
                    <a:lnTo>
                      <a:pt x="82" y="137"/>
                    </a:lnTo>
                    <a:lnTo>
                      <a:pt x="86" y="135"/>
                    </a:lnTo>
                    <a:lnTo>
                      <a:pt x="92" y="135"/>
                    </a:lnTo>
                    <a:lnTo>
                      <a:pt x="97" y="133"/>
                    </a:lnTo>
                    <a:lnTo>
                      <a:pt x="103" y="131"/>
                    </a:lnTo>
                    <a:lnTo>
                      <a:pt x="109" y="130"/>
                    </a:lnTo>
                    <a:lnTo>
                      <a:pt x="113" y="128"/>
                    </a:lnTo>
                    <a:lnTo>
                      <a:pt x="122" y="124"/>
                    </a:lnTo>
                    <a:lnTo>
                      <a:pt x="132" y="118"/>
                    </a:lnTo>
                    <a:lnTo>
                      <a:pt x="137" y="114"/>
                    </a:lnTo>
                    <a:lnTo>
                      <a:pt x="145" y="112"/>
                    </a:lnTo>
                    <a:lnTo>
                      <a:pt x="151" y="109"/>
                    </a:lnTo>
                    <a:lnTo>
                      <a:pt x="158" y="107"/>
                    </a:lnTo>
                    <a:lnTo>
                      <a:pt x="164" y="103"/>
                    </a:lnTo>
                    <a:lnTo>
                      <a:pt x="170" y="99"/>
                    </a:lnTo>
                    <a:lnTo>
                      <a:pt x="175" y="95"/>
                    </a:lnTo>
                    <a:lnTo>
                      <a:pt x="183" y="92"/>
                    </a:lnTo>
                    <a:lnTo>
                      <a:pt x="189" y="88"/>
                    </a:lnTo>
                    <a:lnTo>
                      <a:pt x="194" y="84"/>
                    </a:lnTo>
                    <a:lnTo>
                      <a:pt x="202" y="78"/>
                    </a:lnTo>
                    <a:lnTo>
                      <a:pt x="208" y="74"/>
                    </a:lnTo>
                    <a:lnTo>
                      <a:pt x="215" y="71"/>
                    </a:lnTo>
                    <a:lnTo>
                      <a:pt x="221" y="67"/>
                    </a:lnTo>
                    <a:lnTo>
                      <a:pt x="227" y="61"/>
                    </a:lnTo>
                    <a:lnTo>
                      <a:pt x="234" y="57"/>
                    </a:lnTo>
                    <a:lnTo>
                      <a:pt x="240" y="54"/>
                    </a:lnTo>
                    <a:lnTo>
                      <a:pt x="246" y="50"/>
                    </a:lnTo>
                    <a:lnTo>
                      <a:pt x="251" y="44"/>
                    </a:lnTo>
                    <a:lnTo>
                      <a:pt x="259" y="40"/>
                    </a:lnTo>
                    <a:lnTo>
                      <a:pt x="265" y="36"/>
                    </a:lnTo>
                    <a:lnTo>
                      <a:pt x="270" y="33"/>
                    </a:lnTo>
                    <a:lnTo>
                      <a:pt x="276" y="29"/>
                    </a:lnTo>
                    <a:lnTo>
                      <a:pt x="284" y="25"/>
                    </a:lnTo>
                    <a:lnTo>
                      <a:pt x="289" y="21"/>
                    </a:lnTo>
                    <a:lnTo>
                      <a:pt x="295" y="17"/>
                    </a:lnTo>
                    <a:lnTo>
                      <a:pt x="301" y="14"/>
                    </a:lnTo>
                    <a:lnTo>
                      <a:pt x="308" y="10"/>
                    </a:lnTo>
                    <a:lnTo>
                      <a:pt x="314" y="8"/>
                    </a:lnTo>
                    <a:lnTo>
                      <a:pt x="322" y="4"/>
                    </a:lnTo>
                    <a:lnTo>
                      <a:pt x="327" y="2"/>
                    </a:lnTo>
                    <a:lnTo>
                      <a:pt x="335" y="0"/>
                    </a:lnTo>
                    <a:close/>
                  </a:path>
                </a:pathLst>
              </a:custGeom>
              <a:solidFill>
                <a:srgbClr val="000000"/>
              </a:solidFill>
              <a:ln w="9525">
                <a:noFill/>
                <a:round/>
              </a:ln>
            </p:spPr>
            <p:txBody>
              <a:bodyPr/>
              <a:lstStyle/>
              <a:p>
                <a:endParaRPr lang="en-US"/>
              </a:p>
            </p:txBody>
          </p:sp>
          <p:sp>
            <p:nvSpPr>
              <p:cNvPr id="1049018" name="Freeform 316"/>
              <p:cNvSpPr/>
              <p:nvPr/>
            </p:nvSpPr>
            <p:spPr bwMode="auto">
              <a:xfrm>
                <a:off x="1718" y="2547"/>
                <a:ext cx="278" cy="187"/>
              </a:xfrm>
              <a:custGeom>
                <a:avLst/>
                <a:gdLst>
                  <a:gd name="T0" fmla="*/ 264 w 557"/>
                  <a:gd name="T1" fmla="*/ 45 h 373"/>
                  <a:gd name="T2" fmla="*/ 255 w 557"/>
                  <a:gd name="T3" fmla="*/ 35 h 373"/>
                  <a:gd name="T4" fmla="*/ 245 w 557"/>
                  <a:gd name="T5" fmla="*/ 26 h 373"/>
                  <a:gd name="T6" fmla="*/ 237 w 557"/>
                  <a:gd name="T7" fmla="*/ 16 h 373"/>
                  <a:gd name="T8" fmla="*/ 228 w 557"/>
                  <a:gd name="T9" fmla="*/ 9 h 373"/>
                  <a:gd name="T10" fmla="*/ 221 w 557"/>
                  <a:gd name="T11" fmla="*/ 0 h 373"/>
                  <a:gd name="T12" fmla="*/ 213 w 557"/>
                  <a:gd name="T13" fmla="*/ 5 h 373"/>
                  <a:gd name="T14" fmla="*/ 207 w 557"/>
                  <a:gd name="T15" fmla="*/ 14 h 373"/>
                  <a:gd name="T16" fmla="*/ 208 w 557"/>
                  <a:gd name="T17" fmla="*/ 25 h 373"/>
                  <a:gd name="T18" fmla="*/ 218 w 557"/>
                  <a:gd name="T19" fmla="*/ 36 h 373"/>
                  <a:gd name="T20" fmla="*/ 230 w 557"/>
                  <a:gd name="T21" fmla="*/ 48 h 373"/>
                  <a:gd name="T22" fmla="*/ 240 w 557"/>
                  <a:gd name="T23" fmla="*/ 56 h 373"/>
                  <a:gd name="T24" fmla="*/ 243 w 557"/>
                  <a:gd name="T25" fmla="*/ 61 h 373"/>
                  <a:gd name="T26" fmla="*/ 236 w 557"/>
                  <a:gd name="T27" fmla="*/ 64 h 373"/>
                  <a:gd name="T28" fmla="*/ 228 w 557"/>
                  <a:gd name="T29" fmla="*/ 68 h 373"/>
                  <a:gd name="T30" fmla="*/ 219 w 557"/>
                  <a:gd name="T31" fmla="*/ 73 h 373"/>
                  <a:gd name="T32" fmla="*/ 212 w 557"/>
                  <a:gd name="T33" fmla="*/ 77 h 373"/>
                  <a:gd name="T34" fmla="*/ 203 w 557"/>
                  <a:gd name="T35" fmla="*/ 84 h 373"/>
                  <a:gd name="T36" fmla="*/ 195 w 557"/>
                  <a:gd name="T37" fmla="*/ 90 h 373"/>
                  <a:gd name="T38" fmla="*/ 186 w 557"/>
                  <a:gd name="T39" fmla="*/ 96 h 373"/>
                  <a:gd name="T40" fmla="*/ 178 w 557"/>
                  <a:gd name="T41" fmla="*/ 102 h 373"/>
                  <a:gd name="T42" fmla="*/ 169 w 557"/>
                  <a:gd name="T43" fmla="*/ 109 h 373"/>
                  <a:gd name="T44" fmla="*/ 160 w 557"/>
                  <a:gd name="T45" fmla="*/ 114 h 373"/>
                  <a:gd name="T46" fmla="*/ 153 w 557"/>
                  <a:gd name="T47" fmla="*/ 121 h 373"/>
                  <a:gd name="T48" fmla="*/ 144 w 557"/>
                  <a:gd name="T49" fmla="*/ 127 h 373"/>
                  <a:gd name="T50" fmla="*/ 137 w 557"/>
                  <a:gd name="T51" fmla="*/ 133 h 373"/>
                  <a:gd name="T52" fmla="*/ 129 w 557"/>
                  <a:gd name="T53" fmla="*/ 138 h 373"/>
                  <a:gd name="T54" fmla="*/ 119 w 557"/>
                  <a:gd name="T55" fmla="*/ 146 h 373"/>
                  <a:gd name="T56" fmla="*/ 107 w 557"/>
                  <a:gd name="T57" fmla="*/ 152 h 373"/>
                  <a:gd name="T58" fmla="*/ 99 w 557"/>
                  <a:gd name="T59" fmla="*/ 156 h 373"/>
                  <a:gd name="T60" fmla="*/ 92 w 557"/>
                  <a:gd name="T61" fmla="*/ 153 h 373"/>
                  <a:gd name="T62" fmla="*/ 85 w 557"/>
                  <a:gd name="T63" fmla="*/ 146 h 373"/>
                  <a:gd name="T64" fmla="*/ 77 w 557"/>
                  <a:gd name="T65" fmla="*/ 136 h 373"/>
                  <a:gd name="T66" fmla="*/ 68 w 557"/>
                  <a:gd name="T67" fmla="*/ 125 h 373"/>
                  <a:gd name="T68" fmla="*/ 60 w 557"/>
                  <a:gd name="T69" fmla="*/ 113 h 373"/>
                  <a:gd name="T70" fmla="*/ 51 w 557"/>
                  <a:gd name="T71" fmla="*/ 102 h 373"/>
                  <a:gd name="T72" fmla="*/ 41 w 557"/>
                  <a:gd name="T73" fmla="*/ 91 h 373"/>
                  <a:gd name="T74" fmla="*/ 31 w 557"/>
                  <a:gd name="T75" fmla="*/ 81 h 373"/>
                  <a:gd name="T76" fmla="*/ 21 w 557"/>
                  <a:gd name="T77" fmla="*/ 73 h 373"/>
                  <a:gd name="T78" fmla="*/ 12 w 557"/>
                  <a:gd name="T79" fmla="*/ 70 h 373"/>
                  <a:gd name="T80" fmla="*/ 2 w 557"/>
                  <a:gd name="T81" fmla="*/ 68 h 373"/>
                  <a:gd name="T82" fmla="*/ 105 w 557"/>
                  <a:gd name="T83" fmla="*/ 185 h 373"/>
                  <a:gd name="T84" fmla="*/ 117 w 557"/>
                  <a:gd name="T85" fmla="*/ 180 h 373"/>
                  <a:gd name="T86" fmla="*/ 126 w 557"/>
                  <a:gd name="T87" fmla="*/ 174 h 373"/>
                  <a:gd name="T88" fmla="*/ 135 w 557"/>
                  <a:gd name="T89" fmla="*/ 168 h 373"/>
                  <a:gd name="T90" fmla="*/ 143 w 557"/>
                  <a:gd name="T91" fmla="*/ 159 h 373"/>
                  <a:gd name="T92" fmla="*/ 152 w 557"/>
                  <a:gd name="T93" fmla="*/ 151 h 373"/>
                  <a:gd name="T94" fmla="*/ 159 w 557"/>
                  <a:gd name="T95" fmla="*/ 141 h 373"/>
                  <a:gd name="T96" fmla="*/ 166 w 557"/>
                  <a:gd name="T97" fmla="*/ 132 h 373"/>
                  <a:gd name="T98" fmla="*/ 175 w 557"/>
                  <a:gd name="T99" fmla="*/ 123 h 373"/>
                  <a:gd name="T100" fmla="*/ 183 w 557"/>
                  <a:gd name="T101" fmla="*/ 113 h 373"/>
                  <a:gd name="T102" fmla="*/ 192 w 557"/>
                  <a:gd name="T103" fmla="*/ 105 h 373"/>
                  <a:gd name="T104" fmla="*/ 201 w 557"/>
                  <a:gd name="T105" fmla="*/ 96 h 373"/>
                  <a:gd name="T106" fmla="*/ 211 w 557"/>
                  <a:gd name="T107" fmla="*/ 89 h 373"/>
                  <a:gd name="T108" fmla="*/ 219 w 557"/>
                  <a:gd name="T109" fmla="*/ 83 h 373"/>
                  <a:gd name="T110" fmla="*/ 228 w 557"/>
                  <a:gd name="T111" fmla="*/ 78 h 373"/>
                  <a:gd name="T112" fmla="*/ 236 w 557"/>
                  <a:gd name="T113" fmla="*/ 74 h 373"/>
                  <a:gd name="T114" fmla="*/ 246 w 557"/>
                  <a:gd name="T115" fmla="*/ 72 h 373"/>
                  <a:gd name="T116" fmla="*/ 260 w 557"/>
                  <a:gd name="T117" fmla="*/ 68 h 373"/>
                  <a:gd name="T118" fmla="*/ 274 w 557"/>
                  <a:gd name="T119" fmla="*/ 65 h 373"/>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w 557"/>
                  <a:gd name="T181" fmla="*/ 0 h 373"/>
                  <a:gd name="T182" fmla="*/ 557 w 557"/>
                  <a:gd name="T183" fmla="*/ 373 h 373"/>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T180" t="T181" r="T182" b="T183"/>
                <a:pathLst>
                  <a:path w="557" h="373">
                    <a:moveTo>
                      <a:pt x="557" y="129"/>
                    </a:moveTo>
                    <a:lnTo>
                      <a:pt x="536" y="97"/>
                    </a:lnTo>
                    <a:lnTo>
                      <a:pt x="529" y="89"/>
                    </a:lnTo>
                    <a:lnTo>
                      <a:pt x="523" y="82"/>
                    </a:lnTo>
                    <a:lnTo>
                      <a:pt x="515" y="76"/>
                    </a:lnTo>
                    <a:lnTo>
                      <a:pt x="510" y="70"/>
                    </a:lnTo>
                    <a:lnTo>
                      <a:pt x="504" y="63"/>
                    </a:lnTo>
                    <a:lnTo>
                      <a:pt x="498" y="57"/>
                    </a:lnTo>
                    <a:lnTo>
                      <a:pt x="491" y="51"/>
                    </a:lnTo>
                    <a:lnTo>
                      <a:pt x="487" y="46"/>
                    </a:lnTo>
                    <a:lnTo>
                      <a:pt x="479" y="38"/>
                    </a:lnTo>
                    <a:lnTo>
                      <a:pt x="474" y="32"/>
                    </a:lnTo>
                    <a:lnTo>
                      <a:pt x="468" y="27"/>
                    </a:lnTo>
                    <a:lnTo>
                      <a:pt x="462" y="23"/>
                    </a:lnTo>
                    <a:lnTo>
                      <a:pt x="456" y="17"/>
                    </a:lnTo>
                    <a:lnTo>
                      <a:pt x="451" y="11"/>
                    </a:lnTo>
                    <a:lnTo>
                      <a:pt x="447" y="6"/>
                    </a:lnTo>
                    <a:lnTo>
                      <a:pt x="443" y="0"/>
                    </a:lnTo>
                    <a:lnTo>
                      <a:pt x="436" y="4"/>
                    </a:lnTo>
                    <a:lnTo>
                      <a:pt x="432" y="6"/>
                    </a:lnTo>
                    <a:lnTo>
                      <a:pt x="426" y="9"/>
                    </a:lnTo>
                    <a:lnTo>
                      <a:pt x="422" y="13"/>
                    </a:lnTo>
                    <a:lnTo>
                      <a:pt x="417" y="19"/>
                    </a:lnTo>
                    <a:lnTo>
                      <a:pt x="415" y="27"/>
                    </a:lnTo>
                    <a:lnTo>
                      <a:pt x="413" y="34"/>
                    </a:lnTo>
                    <a:lnTo>
                      <a:pt x="415" y="42"/>
                    </a:lnTo>
                    <a:lnTo>
                      <a:pt x="417" y="49"/>
                    </a:lnTo>
                    <a:lnTo>
                      <a:pt x="422" y="57"/>
                    </a:lnTo>
                    <a:lnTo>
                      <a:pt x="428" y="65"/>
                    </a:lnTo>
                    <a:lnTo>
                      <a:pt x="436" y="72"/>
                    </a:lnTo>
                    <a:lnTo>
                      <a:pt x="443" y="80"/>
                    </a:lnTo>
                    <a:lnTo>
                      <a:pt x="453" y="87"/>
                    </a:lnTo>
                    <a:lnTo>
                      <a:pt x="460" y="95"/>
                    </a:lnTo>
                    <a:lnTo>
                      <a:pt x="472" y="105"/>
                    </a:lnTo>
                    <a:lnTo>
                      <a:pt x="475" y="108"/>
                    </a:lnTo>
                    <a:lnTo>
                      <a:pt x="481" y="112"/>
                    </a:lnTo>
                    <a:lnTo>
                      <a:pt x="487" y="116"/>
                    </a:lnTo>
                    <a:lnTo>
                      <a:pt x="491" y="120"/>
                    </a:lnTo>
                    <a:lnTo>
                      <a:pt x="487" y="122"/>
                    </a:lnTo>
                    <a:lnTo>
                      <a:pt x="481" y="124"/>
                    </a:lnTo>
                    <a:lnTo>
                      <a:pt x="475" y="125"/>
                    </a:lnTo>
                    <a:lnTo>
                      <a:pt x="472" y="127"/>
                    </a:lnTo>
                    <a:lnTo>
                      <a:pt x="466" y="131"/>
                    </a:lnTo>
                    <a:lnTo>
                      <a:pt x="460" y="133"/>
                    </a:lnTo>
                    <a:lnTo>
                      <a:pt x="456" y="135"/>
                    </a:lnTo>
                    <a:lnTo>
                      <a:pt x="451" y="139"/>
                    </a:lnTo>
                    <a:lnTo>
                      <a:pt x="445" y="141"/>
                    </a:lnTo>
                    <a:lnTo>
                      <a:pt x="439" y="145"/>
                    </a:lnTo>
                    <a:lnTo>
                      <a:pt x="434" y="148"/>
                    </a:lnTo>
                    <a:lnTo>
                      <a:pt x="430" y="152"/>
                    </a:lnTo>
                    <a:lnTo>
                      <a:pt x="424" y="154"/>
                    </a:lnTo>
                    <a:lnTo>
                      <a:pt x="418" y="160"/>
                    </a:lnTo>
                    <a:lnTo>
                      <a:pt x="413" y="164"/>
                    </a:lnTo>
                    <a:lnTo>
                      <a:pt x="407" y="167"/>
                    </a:lnTo>
                    <a:lnTo>
                      <a:pt x="401" y="169"/>
                    </a:lnTo>
                    <a:lnTo>
                      <a:pt x="396" y="175"/>
                    </a:lnTo>
                    <a:lnTo>
                      <a:pt x="390" y="179"/>
                    </a:lnTo>
                    <a:lnTo>
                      <a:pt x="384" y="183"/>
                    </a:lnTo>
                    <a:lnTo>
                      <a:pt x="379" y="186"/>
                    </a:lnTo>
                    <a:lnTo>
                      <a:pt x="373" y="192"/>
                    </a:lnTo>
                    <a:lnTo>
                      <a:pt x="367" y="194"/>
                    </a:lnTo>
                    <a:lnTo>
                      <a:pt x="361" y="200"/>
                    </a:lnTo>
                    <a:lnTo>
                      <a:pt x="356" y="203"/>
                    </a:lnTo>
                    <a:lnTo>
                      <a:pt x="350" y="207"/>
                    </a:lnTo>
                    <a:lnTo>
                      <a:pt x="344" y="211"/>
                    </a:lnTo>
                    <a:lnTo>
                      <a:pt x="339" y="217"/>
                    </a:lnTo>
                    <a:lnTo>
                      <a:pt x="333" y="221"/>
                    </a:lnTo>
                    <a:lnTo>
                      <a:pt x="327" y="224"/>
                    </a:lnTo>
                    <a:lnTo>
                      <a:pt x="321" y="228"/>
                    </a:lnTo>
                    <a:lnTo>
                      <a:pt x="318" y="234"/>
                    </a:lnTo>
                    <a:lnTo>
                      <a:pt x="312" y="238"/>
                    </a:lnTo>
                    <a:lnTo>
                      <a:pt x="306" y="241"/>
                    </a:lnTo>
                    <a:lnTo>
                      <a:pt x="301" y="245"/>
                    </a:lnTo>
                    <a:lnTo>
                      <a:pt x="295" y="249"/>
                    </a:lnTo>
                    <a:lnTo>
                      <a:pt x="289" y="253"/>
                    </a:lnTo>
                    <a:lnTo>
                      <a:pt x="283" y="257"/>
                    </a:lnTo>
                    <a:lnTo>
                      <a:pt x="280" y="260"/>
                    </a:lnTo>
                    <a:lnTo>
                      <a:pt x="274" y="266"/>
                    </a:lnTo>
                    <a:lnTo>
                      <a:pt x="270" y="268"/>
                    </a:lnTo>
                    <a:lnTo>
                      <a:pt x="264" y="272"/>
                    </a:lnTo>
                    <a:lnTo>
                      <a:pt x="259" y="276"/>
                    </a:lnTo>
                    <a:lnTo>
                      <a:pt x="255" y="280"/>
                    </a:lnTo>
                    <a:lnTo>
                      <a:pt x="245" y="285"/>
                    </a:lnTo>
                    <a:lnTo>
                      <a:pt x="238" y="291"/>
                    </a:lnTo>
                    <a:lnTo>
                      <a:pt x="230" y="297"/>
                    </a:lnTo>
                    <a:lnTo>
                      <a:pt x="221" y="300"/>
                    </a:lnTo>
                    <a:lnTo>
                      <a:pt x="215" y="304"/>
                    </a:lnTo>
                    <a:lnTo>
                      <a:pt x="209" y="308"/>
                    </a:lnTo>
                    <a:lnTo>
                      <a:pt x="202" y="310"/>
                    </a:lnTo>
                    <a:lnTo>
                      <a:pt x="198" y="312"/>
                    </a:lnTo>
                    <a:lnTo>
                      <a:pt x="192" y="312"/>
                    </a:lnTo>
                    <a:lnTo>
                      <a:pt x="188" y="312"/>
                    </a:lnTo>
                    <a:lnTo>
                      <a:pt x="185" y="306"/>
                    </a:lnTo>
                    <a:lnTo>
                      <a:pt x="181" y="302"/>
                    </a:lnTo>
                    <a:lnTo>
                      <a:pt x="175" y="297"/>
                    </a:lnTo>
                    <a:lnTo>
                      <a:pt x="171" y="291"/>
                    </a:lnTo>
                    <a:lnTo>
                      <a:pt x="166" y="285"/>
                    </a:lnTo>
                    <a:lnTo>
                      <a:pt x="160" y="280"/>
                    </a:lnTo>
                    <a:lnTo>
                      <a:pt x="154" y="272"/>
                    </a:lnTo>
                    <a:lnTo>
                      <a:pt x="150" y="264"/>
                    </a:lnTo>
                    <a:lnTo>
                      <a:pt x="143" y="257"/>
                    </a:lnTo>
                    <a:lnTo>
                      <a:pt x="137" y="249"/>
                    </a:lnTo>
                    <a:lnTo>
                      <a:pt x="131" y="241"/>
                    </a:lnTo>
                    <a:lnTo>
                      <a:pt x="126" y="234"/>
                    </a:lnTo>
                    <a:lnTo>
                      <a:pt x="120" y="226"/>
                    </a:lnTo>
                    <a:lnTo>
                      <a:pt x="114" y="219"/>
                    </a:lnTo>
                    <a:lnTo>
                      <a:pt x="107" y="211"/>
                    </a:lnTo>
                    <a:lnTo>
                      <a:pt x="103" y="203"/>
                    </a:lnTo>
                    <a:lnTo>
                      <a:pt x="95" y="196"/>
                    </a:lnTo>
                    <a:lnTo>
                      <a:pt x="88" y="188"/>
                    </a:lnTo>
                    <a:lnTo>
                      <a:pt x="82" y="181"/>
                    </a:lnTo>
                    <a:lnTo>
                      <a:pt x="76" y="175"/>
                    </a:lnTo>
                    <a:lnTo>
                      <a:pt x="69" y="167"/>
                    </a:lnTo>
                    <a:lnTo>
                      <a:pt x="63" y="162"/>
                    </a:lnTo>
                    <a:lnTo>
                      <a:pt x="55" y="156"/>
                    </a:lnTo>
                    <a:lnTo>
                      <a:pt x="50" y="152"/>
                    </a:lnTo>
                    <a:lnTo>
                      <a:pt x="42" y="146"/>
                    </a:lnTo>
                    <a:lnTo>
                      <a:pt x="36" y="143"/>
                    </a:lnTo>
                    <a:lnTo>
                      <a:pt x="29" y="139"/>
                    </a:lnTo>
                    <a:lnTo>
                      <a:pt x="25" y="139"/>
                    </a:lnTo>
                    <a:lnTo>
                      <a:pt x="17" y="135"/>
                    </a:lnTo>
                    <a:lnTo>
                      <a:pt x="12" y="135"/>
                    </a:lnTo>
                    <a:lnTo>
                      <a:pt x="4" y="135"/>
                    </a:lnTo>
                    <a:lnTo>
                      <a:pt x="0" y="137"/>
                    </a:lnTo>
                    <a:lnTo>
                      <a:pt x="204" y="373"/>
                    </a:lnTo>
                    <a:lnTo>
                      <a:pt x="211" y="369"/>
                    </a:lnTo>
                    <a:lnTo>
                      <a:pt x="219" y="367"/>
                    </a:lnTo>
                    <a:lnTo>
                      <a:pt x="226" y="363"/>
                    </a:lnTo>
                    <a:lnTo>
                      <a:pt x="234" y="359"/>
                    </a:lnTo>
                    <a:lnTo>
                      <a:pt x="240" y="356"/>
                    </a:lnTo>
                    <a:lnTo>
                      <a:pt x="245" y="352"/>
                    </a:lnTo>
                    <a:lnTo>
                      <a:pt x="253" y="348"/>
                    </a:lnTo>
                    <a:lnTo>
                      <a:pt x="259" y="344"/>
                    </a:lnTo>
                    <a:lnTo>
                      <a:pt x="264" y="338"/>
                    </a:lnTo>
                    <a:lnTo>
                      <a:pt x="270" y="335"/>
                    </a:lnTo>
                    <a:lnTo>
                      <a:pt x="276" y="329"/>
                    </a:lnTo>
                    <a:lnTo>
                      <a:pt x="282" y="323"/>
                    </a:lnTo>
                    <a:lnTo>
                      <a:pt x="287" y="318"/>
                    </a:lnTo>
                    <a:lnTo>
                      <a:pt x="293" y="312"/>
                    </a:lnTo>
                    <a:lnTo>
                      <a:pt x="299" y="306"/>
                    </a:lnTo>
                    <a:lnTo>
                      <a:pt x="304" y="302"/>
                    </a:lnTo>
                    <a:lnTo>
                      <a:pt x="308" y="295"/>
                    </a:lnTo>
                    <a:lnTo>
                      <a:pt x="314" y="289"/>
                    </a:lnTo>
                    <a:lnTo>
                      <a:pt x="318" y="281"/>
                    </a:lnTo>
                    <a:lnTo>
                      <a:pt x="323" y="278"/>
                    </a:lnTo>
                    <a:lnTo>
                      <a:pt x="327" y="270"/>
                    </a:lnTo>
                    <a:lnTo>
                      <a:pt x="333" y="264"/>
                    </a:lnTo>
                    <a:lnTo>
                      <a:pt x="339" y="257"/>
                    </a:lnTo>
                    <a:lnTo>
                      <a:pt x="344" y="251"/>
                    </a:lnTo>
                    <a:lnTo>
                      <a:pt x="350" y="245"/>
                    </a:lnTo>
                    <a:lnTo>
                      <a:pt x="354" y="240"/>
                    </a:lnTo>
                    <a:lnTo>
                      <a:pt x="359" y="232"/>
                    </a:lnTo>
                    <a:lnTo>
                      <a:pt x="367" y="226"/>
                    </a:lnTo>
                    <a:lnTo>
                      <a:pt x="373" y="221"/>
                    </a:lnTo>
                    <a:lnTo>
                      <a:pt x="377" y="215"/>
                    </a:lnTo>
                    <a:lnTo>
                      <a:pt x="384" y="209"/>
                    </a:lnTo>
                    <a:lnTo>
                      <a:pt x="392" y="203"/>
                    </a:lnTo>
                    <a:lnTo>
                      <a:pt x="398" y="196"/>
                    </a:lnTo>
                    <a:lnTo>
                      <a:pt x="403" y="192"/>
                    </a:lnTo>
                    <a:lnTo>
                      <a:pt x="409" y="186"/>
                    </a:lnTo>
                    <a:lnTo>
                      <a:pt x="417" y="183"/>
                    </a:lnTo>
                    <a:lnTo>
                      <a:pt x="422" y="177"/>
                    </a:lnTo>
                    <a:lnTo>
                      <a:pt x="428" y="173"/>
                    </a:lnTo>
                    <a:lnTo>
                      <a:pt x="434" y="169"/>
                    </a:lnTo>
                    <a:lnTo>
                      <a:pt x="439" y="165"/>
                    </a:lnTo>
                    <a:lnTo>
                      <a:pt x="445" y="164"/>
                    </a:lnTo>
                    <a:lnTo>
                      <a:pt x="451" y="160"/>
                    </a:lnTo>
                    <a:lnTo>
                      <a:pt x="456" y="156"/>
                    </a:lnTo>
                    <a:lnTo>
                      <a:pt x="462" y="154"/>
                    </a:lnTo>
                    <a:lnTo>
                      <a:pt x="466" y="152"/>
                    </a:lnTo>
                    <a:lnTo>
                      <a:pt x="472" y="148"/>
                    </a:lnTo>
                    <a:lnTo>
                      <a:pt x="477" y="146"/>
                    </a:lnTo>
                    <a:lnTo>
                      <a:pt x="483" y="146"/>
                    </a:lnTo>
                    <a:lnTo>
                      <a:pt x="493" y="143"/>
                    </a:lnTo>
                    <a:lnTo>
                      <a:pt x="502" y="139"/>
                    </a:lnTo>
                    <a:lnTo>
                      <a:pt x="510" y="137"/>
                    </a:lnTo>
                    <a:lnTo>
                      <a:pt x="521" y="135"/>
                    </a:lnTo>
                    <a:lnTo>
                      <a:pt x="531" y="133"/>
                    </a:lnTo>
                    <a:lnTo>
                      <a:pt x="538" y="131"/>
                    </a:lnTo>
                    <a:lnTo>
                      <a:pt x="548" y="129"/>
                    </a:lnTo>
                    <a:lnTo>
                      <a:pt x="557" y="129"/>
                    </a:lnTo>
                    <a:close/>
                  </a:path>
                </a:pathLst>
              </a:custGeom>
              <a:solidFill>
                <a:srgbClr val="000000"/>
              </a:solidFill>
              <a:ln w="9525">
                <a:noFill/>
                <a:round/>
              </a:ln>
            </p:spPr>
            <p:txBody>
              <a:bodyPr/>
              <a:lstStyle/>
              <a:p>
                <a:endParaRPr lang="en-US"/>
              </a:p>
            </p:txBody>
          </p:sp>
          <p:sp>
            <p:nvSpPr>
              <p:cNvPr id="1049019" name="Freeform 317"/>
              <p:cNvSpPr/>
              <p:nvPr/>
            </p:nvSpPr>
            <p:spPr bwMode="auto">
              <a:xfrm>
                <a:off x="1695" y="2452"/>
                <a:ext cx="250" cy="209"/>
              </a:xfrm>
              <a:custGeom>
                <a:avLst/>
                <a:gdLst>
                  <a:gd name="T0" fmla="*/ 87 w 500"/>
                  <a:gd name="T1" fmla="*/ 87 h 416"/>
                  <a:gd name="T2" fmla="*/ 76 w 500"/>
                  <a:gd name="T3" fmla="*/ 88 h 416"/>
                  <a:gd name="T4" fmla="*/ 65 w 500"/>
                  <a:gd name="T5" fmla="*/ 88 h 416"/>
                  <a:gd name="T6" fmla="*/ 53 w 500"/>
                  <a:gd name="T7" fmla="*/ 86 h 416"/>
                  <a:gd name="T8" fmla="*/ 42 w 500"/>
                  <a:gd name="T9" fmla="*/ 84 h 416"/>
                  <a:gd name="T10" fmla="*/ 31 w 500"/>
                  <a:gd name="T11" fmla="*/ 81 h 416"/>
                  <a:gd name="T12" fmla="*/ 20 w 500"/>
                  <a:gd name="T13" fmla="*/ 79 h 416"/>
                  <a:gd name="T14" fmla="*/ 8 w 500"/>
                  <a:gd name="T15" fmla="*/ 74 h 416"/>
                  <a:gd name="T16" fmla="*/ 0 w 500"/>
                  <a:gd name="T17" fmla="*/ 78 h 416"/>
                  <a:gd name="T18" fmla="*/ 5 w 500"/>
                  <a:gd name="T19" fmla="*/ 87 h 416"/>
                  <a:gd name="T20" fmla="*/ 15 w 500"/>
                  <a:gd name="T21" fmla="*/ 99 h 416"/>
                  <a:gd name="T22" fmla="*/ 26 w 500"/>
                  <a:gd name="T23" fmla="*/ 104 h 416"/>
                  <a:gd name="T24" fmla="*/ 37 w 500"/>
                  <a:gd name="T25" fmla="*/ 105 h 416"/>
                  <a:gd name="T26" fmla="*/ 50 w 500"/>
                  <a:gd name="T27" fmla="*/ 106 h 416"/>
                  <a:gd name="T28" fmla="*/ 63 w 500"/>
                  <a:gd name="T29" fmla="*/ 104 h 416"/>
                  <a:gd name="T30" fmla="*/ 75 w 500"/>
                  <a:gd name="T31" fmla="*/ 103 h 416"/>
                  <a:gd name="T32" fmla="*/ 87 w 500"/>
                  <a:gd name="T33" fmla="*/ 102 h 416"/>
                  <a:gd name="T34" fmla="*/ 95 w 500"/>
                  <a:gd name="T35" fmla="*/ 106 h 416"/>
                  <a:gd name="T36" fmla="*/ 92 w 500"/>
                  <a:gd name="T37" fmla="*/ 122 h 416"/>
                  <a:gd name="T38" fmla="*/ 94 w 500"/>
                  <a:gd name="T39" fmla="*/ 140 h 416"/>
                  <a:gd name="T40" fmla="*/ 103 w 500"/>
                  <a:gd name="T41" fmla="*/ 154 h 416"/>
                  <a:gd name="T42" fmla="*/ 115 w 500"/>
                  <a:gd name="T43" fmla="*/ 163 h 416"/>
                  <a:gd name="T44" fmla="*/ 125 w 500"/>
                  <a:gd name="T45" fmla="*/ 173 h 416"/>
                  <a:gd name="T46" fmla="*/ 123 w 500"/>
                  <a:gd name="T47" fmla="*/ 191 h 416"/>
                  <a:gd name="T48" fmla="*/ 123 w 500"/>
                  <a:gd name="T49" fmla="*/ 204 h 416"/>
                  <a:gd name="T50" fmla="*/ 131 w 500"/>
                  <a:gd name="T51" fmla="*/ 209 h 416"/>
                  <a:gd name="T52" fmla="*/ 142 w 500"/>
                  <a:gd name="T53" fmla="*/ 207 h 416"/>
                  <a:gd name="T54" fmla="*/ 220 w 500"/>
                  <a:gd name="T55" fmla="*/ 185 h 416"/>
                  <a:gd name="T56" fmla="*/ 231 w 500"/>
                  <a:gd name="T57" fmla="*/ 179 h 416"/>
                  <a:gd name="T58" fmla="*/ 241 w 500"/>
                  <a:gd name="T59" fmla="*/ 175 h 416"/>
                  <a:gd name="T60" fmla="*/ 245 w 500"/>
                  <a:gd name="T61" fmla="*/ 169 h 416"/>
                  <a:gd name="T62" fmla="*/ 227 w 500"/>
                  <a:gd name="T63" fmla="*/ 165 h 416"/>
                  <a:gd name="T64" fmla="*/ 210 w 500"/>
                  <a:gd name="T65" fmla="*/ 164 h 416"/>
                  <a:gd name="T66" fmla="*/ 200 w 500"/>
                  <a:gd name="T67" fmla="*/ 164 h 416"/>
                  <a:gd name="T68" fmla="*/ 189 w 500"/>
                  <a:gd name="T69" fmla="*/ 164 h 416"/>
                  <a:gd name="T70" fmla="*/ 180 w 500"/>
                  <a:gd name="T71" fmla="*/ 164 h 416"/>
                  <a:gd name="T72" fmla="*/ 169 w 500"/>
                  <a:gd name="T73" fmla="*/ 163 h 416"/>
                  <a:gd name="T74" fmla="*/ 156 w 500"/>
                  <a:gd name="T75" fmla="*/ 163 h 416"/>
                  <a:gd name="T76" fmla="*/ 144 w 500"/>
                  <a:gd name="T77" fmla="*/ 161 h 416"/>
                  <a:gd name="T78" fmla="*/ 127 w 500"/>
                  <a:gd name="T79" fmla="*/ 158 h 416"/>
                  <a:gd name="T80" fmla="*/ 111 w 500"/>
                  <a:gd name="T81" fmla="*/ 152 h 416"/>
                  <a:gd name="T82" fmla="*/ 100 w 500"/>
                  <a:gd name="T83" fmla="*/ 141 h 416"/>
                  <a:gd name="T84" fmla="*/ 97 w 500"/>
                  <a:gd name="T85" fmla="*/ 132 h 416"/>
                  <a:gd name="T86" fmla="*/ 100 w 500"/>
                  <a:gd name="T87" fmla="*/ 121 h 416"/>
                  <a:gd name="T88" fmla="*/ 104 w 500"/>
                  <a:gd name="T89" fmla="*/ 110 h 416"/>
                  <a:gd name="T90" fmla="*/ 106 w 500"/>
                  <a:gd name="T91" fmla="*/ 98 h 416"/>
                  <a:gd name="T92" fmla="*/ 109 w 500"/>
                  <a:gd name="T93" fmla="*/ 85 h 416"/>
                  <a:gd name="T94" fmla="*/ 114 w 500"/>
                  <a:gd name="T95" fmla="*/ 71 h 416"/>
                  <a:gd name="T96" fmla="*/ 117 w 500"/>
                  <a:gd name="T97" fmla="*/ 58 h 416"/>
                  <a:gd name="T98" fmla="*/ 121 w 500"/>
                  <a:gd name="T99" fmla="*/ 45 h 416"/>
                  <a:gd name="T100" fmla="*/ 123 w 500"/>
                  <a:gd name="T101" fmla="*/ 32 h 416"/>
                  <a:gd name="T102" fmla="*/ 122 w 500"/>
                  <a:gd name="T103" fmla="*/ 19 h 416"/>
                  <a:gd name="T104" fmla="*/ 118 w 500"/>
                  <a:gd name="T105" fmla="*/ 8 h 416"/>
                  <a:gd name="T106" fmla="*/ 99 w 500"/>
                  <a:gd name="T107" fmla="*/ 83 h 41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w 500"/>
                  <a:gd name="T163" fmla="*/ 0 h 416"/>
                  <a:gd name="T164" fmla="*/ 500 w 500"/>
                  <a:gd name="T165" fmla="*/ 416 h 41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T162" t="T163" r="T164" b="T165"/>
                <a:pathLst>
                  <a:path w="500" h="416">
                    <a:moveTo>
                      <a:pt x="197" y="165"/>
                    </a:moveTo>
                    <a:lnTo>
                      <a:pt x="188" y="169"/>
                    </a:lnTo>
                    <a:lnTo>
                      <a:pt x="178" y="171"/>
                    </a:lnTo>
                    <a:lnTo>
                      <a:pt x="173" y="173"/>
                    </a:lnTo>
                    <a:lnTo>
                      <a:pt x="169" y="173"/>
                    </a:lnTo>
                    <a:lnTo>
                      <a:pt x="163" y="175"/>
                    </a:lnTo>
                    <a:lnTo>
                      <a:pt x="157" y="175"/>
                    </a:lnTo>
                    <a:lnTo>
                      <a:pt x="152" y="175"/>
                    </a:lnTo>
                    <a:lnTo>
                      <a:pt x="146" y="175"/>
                    </a:lnTo>
                    <a:lnTo>
                      <a:pt x="140" y="175"/>
                    </a:lnTo>
                    <a:lnTo>
                      <a:pt x="135" y="175"/>
                    </a:lnTo>
                    <a:lnTo>
                      <a:pt x="129" y="175"/>
                    </a:lnTo>
                    <a:lnTo>
                      <a:pt x="125" y="175"/>
                    </a:lnTo>
                    <a:lnTo>
                      <a:pt x="119" y="173"/>
                    </a:lnTo>
                    <a:lnTo>
                      <a:pt x="114" y="173"/>
                    </a:lnTo>
                    <a:lnTo>
                      <a:pt x="106" y="171"/>
                    </a:lnTo>
                    <a:lnTo>
                      <a:pt x="100" y="171"/>
                    </a:lnTo>
                    <a:lnTo>
                      <a:pt x="95" y="169"/>
                    </a:lnTo>
                    <a:lnTo>
                      <a:pt x="89" y="169"/>
                    </a:lnTo>
                    <a:lnTo>
                      <a:pt x="83" y="167"/>
                    </a:lnTo>
                    <a:lnTo>
                      <a:pt x="77" y="165"/>
                    </a:lnTo>
                    <a:lnTo>
                      <a:pt x="72" y="165"/>
                    </a:lnTo>
                    <a:lnTo>
                      <a:pt x="68" y="163"/>
                    </a:lnTo>
                    <a:lnTo>
                      <a:pt x="62" y="161"/>
                    </a:lnTo>
                    <a:lnTo>
                      <a:pt x="57" y="161"/>
                    </a:lnTo>
                    <a:lnTo>
                      <a:pt x="53" y="160"/>
                    </a:lnTo>
                    <a:lnTo>
                      <a:pt x="47" y="160"/>
                    </a:lnTo>
                    <a:lnTo>
                      <a:pt x="39" y="158"/>
                    </a:lnTo>
                    <a:lnTo>
                      <a:pt x="32" y="156"/>
                    </a:lnTo>
                    <a:lnTo>
                      <a:pt x="28" y="154"/>
                    </a:lnTo>
                    <a:lnTo>
                      <a:pt x="22" y="152"/>
                    </a:lnTo>
                    <a:lnTo>
                      <a:pt x="15" y="148"/>
                    </a:lnTo>
                    <a:lnTo>
                      <a:pt x="7" y="148"/>
                    </a:lnTo>
                    <a:lnTo>
                      <a:pt x="1" y="148"/>
                    </a:lnTo>
                    <a:lnTo>
                      <a:pt x="0" y="152"/>
                    </a:lnTo>
                    <a:lnTo>
                      <a:pt x="0" y="156"/>
                    </a:lnTo>
                    <a:lnTo>
                      <a:pt x="1" y="161"/>
                    </a:lnTo>
                    <a:lnTo>
                      <a:pt x="3" y="163"/>
                    </a:lnTo>
                    <a:lnTo>
                      <a:pt x="5" y="169"/>
                    </a:lnTo>
                    <a:lnTo>
                      <a:pt x="9" y="173"/>
                    </a:lnTo>
                    <a:lnTo>
                      <a:pt x="13" y="179"/>
                    </a:lnTo>
                    <a:lnTo>
                      <a:pt x="19" y="188"/>
                    </a:lnTo>
                    <a:lnTo>
                      <a:pt x="26" y="196"/>
                    </a:lnTo>
                    <a:lnTo>
                      <a:pt x="30" y="198"/>
                    </a:lnTo>
                    <a:lnTo>
                      <a:pt x="36" y="201"/>
                    </a:lnTo>
                    <a:lnTo>
                      <a:pt x="41" y="203"/>
                    </a:lnTo>
                    <a:lnTo>
                      <a:pt x="47" y="205"/>
                    </a:lnTo>
                    <a:lnTo>
                      <a:pt x="51" y="207"/>
                    </a:lnTo>
                    <a:lnTo>
                      <a:pt x="57" y="207"/>
                    </a:lnTo>
                    <a:lnTo>
                      <a:pt x="62" y="209"/>
                    </a:lnTo>
                    <a:lnTo>
                      <a:pt x="70" y="209"/>
                    </a:lnTo>
                    <a:lnTo>
                      <a:pt x="74" y="209"/>
                    </a:lnTo>
                    <a:lnTo>
                      <a:pt x="81" y="211"/>
                    </a:lnTo>
                    <a:lnTo>
                      <a:pt x="87" y="211"/>
                    </a:lnTo>
                    <a:lnTo>
                      <a:pt x="95" y="211"/>
                    </a:lnTo>
                    <a:lnTo>
                      <a:pt x="100" y="211"/>
                    </a:lnTo>
                    <a:lnTo>
                      <a:pt x="106" y="209"/>
                    </a:lnTo>
                    <a:lnTo>
                      <a:pt x="112" y="209"/>
                    </a:lnTo>
                    <a:lnTo>
                      <a:pt x="119" y="209"/>
                    </a:lnTo>
                    <a:lnTo>
                      <a:pt x="125" y="207"/>
                    </a:lnTo>
                    <a:lnTo>
                      <a:pt x="131" y="207"/>
                    </a:lnTo>
                    <a:lnTo>
                      <a:pt x="136" y="207"/>
                    </a:lnTo>
                    <a:lnTo>
                      <a:pt x="144" y="207"/>
                    </a:lnTo>
                    <a:lnTo>
                      <a:pt x="150" y="205"/>
                    </a:lnTo>
                    <a:lnTo>
                      <a:pt x="155" y="205"/>
                    </a:lnTo>
                    <a:lnTo>
                      <a:pt x="163" y="203"/>
                    </a:lnTo>
                    <a:lnTo>
                      <a:pt x="169" y="203"/>
                    </a:lnTo>
                    <a:lnTo>
                      <a:pt x="174" y="203"/>
                    </a:lnTo>
                    <a:lnTo>
                      <a:pt x="180" y="203"/>
                    </a:lnTo>
                    <a:lnTo>
                      <a:pt x="186" y="203"/>
                    </a:lnTo>
                    <a:lnTo>
                      <a:pt x="192" y="203"/>
                    </a:lnTo>
                    <a:lnTo>
                      <a:pt x="190" y="211"/>
                    </a:lnTo>
                    <a:lnTo>
                      <a:pt x="190" y="219"/>
                    </a:lnTo>
                    <a:lnTo>
                      <a:pt x="188" y="226"/>
                    </a:lnTo>
                    <a:lnTo>
                      <a:pt x="188" y="236"/>
                    </a:lnTo>
                    <a:lnTo>
                      <a:pt x="184" y="243"/>
                    </a:lnTo>
                    <a:lnTo>
                      <a:pt x="184" y="255"/>
                    </a:lnTo>
                    <a:lnTo>
                      <a:pt x="184" y="262"/>
                    </a:lnTo>
                    <a:lnTo>
                      <a:pt x="188" y="272"/>
                    </a:lnTo>
                    <a:lnTo>
                      <a:pt x="188" y="279"/>
                    </a:lnTo>
                    <a:lnTo>
                      <a:pt x="192" y="287"/>
                    </a:lnTo>
                    <a:lnTo>
                      <a:pt x="195" y="295"/>
                    </a:lnTo>
                    <a:lnTo>
                      <a:pt x="201" y="302"/>
                    </a:lnTo>
                    <a:lnTo>
                      <a:pt x="205" y="306"/>
                    </a:lnTo>
                    <a:lnTo>
                      <a:pt x="209" y="312"/>
                    </a:lnTo>
                    <a:lnTo>
                      <a:pt x="216" y="315"/>
                    </a:lnTo>
                    <a:lnTo>
                      <a:pt x="222" y="321"/>
                    </a:lnTo>
                    <a:lnTo>
                      <a:pt x="230" y="325"/>
                    </a:lnTo>
                    <a:lnTo>
                      <a:pt x="237" y="329"/>
                    </a:lnTo>
                    <a:lnTo>
                      <a:pt x="245" y="331"/>
                    </a:lnTo>
                    <a:lnTo>
                      <a:pt x="254" y="335"/>
                    </a:lnTo>
                    <a:lnTo>
                      <a:pt x="250" y="344"/>
                    </a:lnTo>
                    <a:lnTo>
                      <a:pt x="249" y="354"/>
                    </a:lnTo>
                    <a:lnTo>
                      <a:pt x="247" y="363"/>
                    </a:lnTo>
                    <a:lnTo>
                      <a:pt x="247" y="373"/>
                    </a:lnTo>
                    <a:lnTo>
                      <a:pt x="245" y="380"/>
                    </a:lnTo>
                    <a:lnTo>
                      <a:pt x="245" y="388"/>
                    </a:lnTo>
                    <a:lnTo>
                      <a:pt x="245" y="393"/>
                    </a:lnTo>
                    <a:lnTo>
                      <a:pt x="245" y="401"/>
                    </a:lnTo>
                    <a:lnTo>
                      <a:pt x="245" y="407"/>
                    </a:lnTo>
                    <a:lnTo>
                      <a:pt x="249" y="411"/>
                    </a:lnTo>
                    <a:lnTo>
                      <a:pt x="250" y="412"/>
                    </a:lnTo>
                    <a:lnTo>
                      <a:pt x="256" y="416"/>
                    </a:lnTo>
                    <a:lnTo>
                      <a:pt x="262" y="416"/>
                    </a:lnTo>
                    <a:lnTo>
                      <a:pt x="268" y="416"/>
                    </a:lnTo>
                    <a:lnTo>
                      <a:pt x="271" y="416"/>
                    </a:lnTo>
                    <a:lnTo>
                      <a:pt x="277" y="414"/>
                    </a:lnTo>
                    <a:lnTo>
                      <a:pt x="283" y="412"/>
                    </a:lnTo>
                    <a:lnTo>
                      <a:pt x="289" y="412"/>
                    </a:lnTo>
                    <a:lnTo>
                      <a:pt x="302" y="350"/>
                    </a:lnTo>
                    <a:lnTo>
                      <a:pt x="437" y="373"/>
                    </a:lnTo>
                    <a:lnTo>
                      <a:pt x="439" y="369"/>
                    </a:lnTo>
                    <a:lnTo>
                      <a:pt x="446" y="365"/>
                    </a:lnTo>
                    <a:lnTo>
                      <a:pt x="450" y="361"/>
                    </a:lnTo>
                    <a:lnTo>
                      <a:pt x="456" y="359"/>
                    </a:lnTo>
                    <a:lnTo>
                      <a:pt x="462" y="357"/>
                    </a:lnTo>
                    <a:lnTo>
                      <a:pt x="467" y="355"/>
                    </a:lnTo>
                    <a:lnTo>
                      <a:pt x="471" y="354"/>
                    </a:lnTo>
                    <a:lnTo>
                      <a:pt x="477" y="350"/>
                    </a:lnTo>
                    <a:lnTo>
                      <a:pt x="481" y="348"/>
                    </a:lnTo>
                    <a:lnTo>
                      <a:pt x="486" y="346"/>
                    </a:lnTo>
                    <a:lnTo>
                      <a:pt x="494" y="342"/>
                    </a:lnTo>
                    <a:lnTo>
                      <a:pt x="500" y="338"/>
                    </a:lnTo>
                    <a:lnTo>
                      <a:pt x="490" y="336"/>
                    </a:lnTo>
                    <a:lnTo>
                      <a:pt x="482" y="333"/>
                    </a:lnTo>
                    <a:lnTo>
                      <a:pt x="473" y="331"/>
                    </a:lnTo>
                    <a:lnTo>
                      <a:pt x="463" y="331"/>
                    </a:lnTo>
                    <a:lnTo>
                      <a:pt x="454" y="329"/>
                    </a:lnTo>
                    <a:lnTo>
                      <a:pt x="444" y="329"/>
                    </a:lnTo>
                    <a:lnTo>
                      <a:pt x="435" y="329"/>
                    </a:lnTo>
                    <a:lnTo>
                      <a:pt x="425" y="329"/>
                    </a:lnTo>
                    <a:lnTo>
                      <a:pt x="420" y="327"/>
                    </a:lnTo>
                    <a:lnTo>
                      <a:pt x="414" y="327"/>
                    </a:lnTo>
                    <a:lnTo>
                      <a:pt x="408" y="327"/>
                    </a:lnTo>
                    <a:lnTo>
                      <a:pt x="404" y="327"/>
                    </a:lnTo>
                    <a:lnTo>
                      <a:pt x="399" y="327"/>
                    </a:lnTo>
                    <a:lnTo>
                      <a:pt x="395" y="327"/>
                    </a:lnTo>
                    <a:lnTo>
                      <a:pt x="389" y="327"/>
                    </a:lnTo>
                    <a:lnTo>
                      <a:pt x="384" y="327"/>
                    </a:lnTo>
                    <a:lnTo>
                      <a:pt x="378" y="327"/>
                    </a:lnTo>
                    <a:lnTo>
                      <a:pt x="374" y="327"/>
                    </a:lnTo>
                    <a:lnTo>
                      <a:pt x="368" y="327"/>
                    </a:lnTo>
                    <a:lnTo>
                      <a:pt x="365" y="327"/>
                    </a:lnTo>
                    <a:lnTo>
                      <a:pt x="359" y="327"/>
                    </a:lnTo>
                    <a:lnTo>
                      <a:pt x="353" y="327"/>
                    </a:lnTo>
                    <a:lnTo>
                      <a:pt x="347" y="327"/>
                    </a:lnTo>
                    <a:lnTo>
                      <a:pt x="344" y="327"/>
                    </a:lnTo>
                    <a:lnTo>
                      <a:pt x="338" y="325"/>
                    </a:lnTo>
                    <a:lnTo>
                      <a:pt x="332" y="325"/>
                    </a:lnTo>
                    <a:lnTo>
                      <a:pt x="327" y="325"/>
                    </a:lnTo>
                    <a:lnTo>
                      <a:pt x="321" y="325"/>
                    </a:lnTo>
                    <a:lnTo>
                      <a:pt x="311" y="325"/>
                    </a:lnTo>
                    <a:lnTo>
                      <a:pt x="302" y="325"/>
                    </a:lnTo>
                    <a:lnTo>
                      <a:pt x="296" y="323"/>
                    </a:lnTo>
                    <a:lnTo>
                      <a:pt x="290" y="323"/>
                    </a:lnTo>
                    <a:lnTo>
                      <a:pt x="287" y="321"/>
                    </a:lnTo>
                    <a:lnTo>
                      <a:pt x="283" y="321"/>
                    </a:lnTo>
                    <a:lnTo>
                      <a:pt x="271" y="319"/>
                    </a:lnTo>
                    <a:lnTo>
                      <a:pt x="264" y="319"/>
                    </a:lnTo>
                    <a:lnTo>
                      <a:pt x="254" y="315"/>
                    </a:lnTo>
                    <a:lnTo>
                      <a:pt x="245" y="312"/>
                    </a:lnTo>
                    <a:lnTo>
                      <a:pt x="237" y="308"/>
                    </a:lnTo>
                    <a:lnTo>
                      <a:pt x="230" y="306"/>
                    </a:lnTo>
                    <a:lnTo>
                      <a:pt x="222" y="302"/>
                    </a:lnTo>
                    <a:lnTo>
                      <a:pt x="214" y="298"/>
                    </a:lnTo>
                    <a:lnTo>
                      <a:pt x="207" y="293"/>
                    </a:lnTo>
                    <a:lnTo>
                      <a:pt x="203" y="287"/>
                    </a:lnTo>
                    <a:lnTo>
                      <a:pt x="199" y="281"/>
                    </a:lnTo>
                    <a:lnTo>
                      <a:pt x="195" y="277"/>
                    </a:lnTo>
                    <a:lnTo>
                      <a:pt x="193" y="272"/>
                    </a:lnTo>
                    <a:lnTo>
                      <a:pt x="193" y="268"/>
                    </a:lnTo>
                    <a:lnTo>
                      <a:pt x="193" y="262"/>
                    </a:lnTo>
                    <a:lnTo>
                      <a:pt x="193" y="258"/>
                    </a:lnTo>
                    <a:lnTo>
                      <a:pt x="195" y="253"/>
                    </a:lnTo>
                    <a:lnTo>
                      <a:pt x="197" y="247"/>
                    </a:lnTo>
                    <a:lnTo>
                      <a:pt x="199" y="241"/>
                    </a:lnTo>
                    <a:lnTo>
                      <a:pt x="201" y="236"/>
                    </a:lnTo>
                    <a:lnTo>
                      <a:pt x="203" y="230"/>
                    </a:lnTo>
                    <a:lnTo>
                      <a:pt x="205" y="224"/>
                    </a:lnTo>
                    <a:lnTo>
                      <a:pt x="207" y="219"/>
                    </a:lnTo>
                    <a:lnTo>
                      <a:pt x="209" y="215"/>
                    </a:lnTo>
                    <a:lnTo>
                      <a:pt x="211" y="209"/>
                    </a:lnTo>
                    <a:lnTo>
                      <a:pt x="212" y="203"/>
                    </a:lnTo>
                    <a:lnTo>
                      <a:pt x="212" y="196"/>
                    </a:lnTo>
                    <a:lnTo>
                      <a:pt x="214" y="190"/>
                    </a:lnTo>
                    <a:lnTo>
                      <a:pt x="214" y="182"/>
                    </a:lnTo>
                    <a:lnTo>
                      <a:pt x="216" y="177"/>
                    </a:lnTo>
                    <a:lnTo>
                      <a:pt x="218" y="169"/>
                    </a:lnTo>
                    <a:lnTo>
                      <a:pt x="220" y="163"/>
                    </a:lnTo>
                    <a:lnTo>
                      <a:pt x="222" y="158"/>
                    </a:lnTo>
                    <a:lnTo>
                      <a:pt x="226" y="150"/>
                    </a:lnTo>
                    <a:lnTo>
                      <a:pt x="228" y="142"/>
                    </a:lnTo>
                    <a:lnTo>
                      <a:pt x="230" y="137"/>
                    </a:lnTo>
                    <a:lnTo>
                      <a:pt x="231" y="129"/>
                    </a:lnTo>
                    <a:lnTo>
                      <a:pt x="233" y="123"/>
                    </a:lnTo>
                    <a:lnTo>
                      <a:pt x="233" y="116"/>
                    </a:lnTo>
                    <a:lnTo>
                      <a:pt x="235" y="110"/>
                    </a:lnTo>
                    <a:lnTo>
                      <a:pt x="237" y="103"/>
                    </a:lnTo>
                    <a:lnTo>
                      <a:pt x="241" y="97"/>
                    </a:lnTo>
                    <a:lnTo>
                      <a:pt x="241" y="89"/>
                    </a:lnTo>
                    <a:lnTo>
                      <a:pt x="243" y="84"/>
                    </a:lnTo>
                    <a:lnTo>
                      <a:pt x="243" y="76"/>
                    </a:lnTo>
                    <a:lnTo>
                      <a:pt x="245" y="70"/>
                    </a:lnTo>
                    <a:lnTo>
                      <a:pt x="245" y="63"/>
                    </a:lnTo>
                    <a:lnTo>
                      <a:pt x="245" y="57"/>
                    </a:lnTo>
                    <a:lnTo>
                      <a:pt x="245" y="49"/>
                    </a:lnTo>
                    <a:lnTo>
                      <a:pt x="245" y="45"/>
                    </a:lnTo>
                    <a:lnTo>
                      <a:pt x="243" y="38"/>
                    </a:lnTo>
                    <a:lnTo>
                      <a:pt x="241" y="32"/>
                    </a:lnTo>
                    <a:lnTo>
                      <a:pt x="239" y="26"/>
                    </a:lnTo>
                    <a:lnTo>
                      <a:pt x="237" y="21"/>
                    </a:lnTo>
                    <a:lnTo>
                      <a:pt x="235" y="15"/>
                    </a:lnTo>
                    <a:lnTo>
                      <a:pt x="233" y="9"/>
                    </a:lnTo>
                    <a:lnTo>
                      <a:pt x="230" y="4"/>
                    </a:lnTo>
                    <a:lnTo>
                      <a:pt x="226" y="0"/>
                    </a:lnTo>
                    <a:lnTo>
                      <a:pt x="197" y="165"/>
                    </a:lnTo>
                    <a:close/>
                  </a:path>
                </a:pathLst>
              </a:custGeom>
              <a:solidFill>
                <a:srgbClr val="000000"/>
              </a:solidFill>
              <a:ln w="9525">
                <a:noFill/>
                <a:round/>
              </a:ln>
            </p:spPr>
            <p:txBody>
              <a:bodyPr/>
              <a:lstStyle/>
              <a:p>
                <a:endParaRPr lang="en-US"/>
              </a:p>
            </p:txBody>
          </p:sp>
        </p:grpSp>
      </p:grpSp>
      <p:sp>
        <p:nvSpPr>
          <p:cNvPr id="1049020" name="AutoShape 320"/>
          <p:cNvSpPr>
            <a:spLocks noChangeArrowheads="1"/>
          </p:cNvSpPr>
          <p:nvPr/>
        </p:nvSpPr>
        <p:spPr bwMode="auto">
          <a:xfrm flipH="1" flipV="1">
            <a:off x="8458200" y="3505200"/>
            <a:ext cx="381000" cy="1066800"/>
          </a:xfrm>
          <a:prstGeom prst="curvedRightArrow">
            <a:avLst>
              <a:gd name="adj1" fmla="val 41196"/>
              <a:gd name="adj2" fmla="val 80578"/>
              <a:gd name="adj3" fmla="val 36667"/>
            </a:avLst>
          </a:prstGeom>
          <a:solidFill>
            <a:schemeClr val="accent1"/>
          </a:solidFill>
          <a:ln w="9525">
            <a:solidFill>
              <a:schemeClr val="tx1"/>
            </a:solidFill>
            <a:miter lim="800000"/>
          </a:ln>
        </p:spPr>
        <p:txBody>
          <a:bodyPr wrap="none" anchor="ctr"/>
          <a:lstStyle/>
          <a:p>
            <a:endParaRPr lang="en-US"/>
          </a:p>
        </p:txBody>
      </p:sp>
      <p:sp>
        <p:nvSpPr>
          <p:cNvPr id="1049021" name="AutoShape 321"/>
          <p:cNvSpPr>
            <a:spLocks noChangeArrowheads="1"/>
          </p:cNvSpPr>
          <p:nvPr/>
        </p:nvSpPr>
        <p:spPr bwMode="auto">
          <a:xfrm flipH="1" flipV="1">
            <a:off x="8382000" y="4800600"/>
            <a:ext cx="381000" cy="1066800"/>
          </a:xfrm>
          <a:prstGeom prst="curvedRightArrow">
            <a:avLst>
              <a:gd name="adj1" fmla="val 41196"/>
              <a:gd name="adj2" fmla="val 80578"/>
              <a:gd name="adj3" fmla="val 36667"/>
            </a:avLst>
          </a:prstGeom>
          <a:solidFill>
            <a:schemeClr val="accent1"/>
          </a:solidFill>
          <a:ln w="9525">
            <a:solidFill>
              <a:schemeClr val="tx1"/>
            </a:solidFill>
            <a:miter lim="800000"/>
          </a:ln>
        </p:spPr>
        <p:txBody>
          <a:bodyPr wrap="none" anchor="ctr"/>
          <a:lstStyle/>
          <a:p>
            <a:endParaRPr lang="en-US"/>
          </a:p>
        </p:txBody>
      </p:sp>
      <p:sp>
        <p:nvSpPr>
          <p:cNvPr id="1049022" name="Text Box 322"/>
          <p:cNvSpPr txBox="1">
            <a:spLocks noChangeArrowheads="1"/>
          </p:cNvSpPr>
          <p:nvPr/>
        </p:nvSpPr>
        <p:spPr bwMode="auto">
          <a:xfrm>
            <a:off x="304800" y="5867400"/>
            <a:ext cx="2749321" cy="574039"/>
          </a:xfrm>
          <a:prstGeom prst="rect">
            <a:avLst/>
          </a:prstGeom>
          <a:noFill/>
          <a:ln w="9525">
            <a:noFill/>
            <a:miter lim="800000"/>
          </a:ln>
        </p:spPr>
        <p:txBody>
          <a:bodyPr wrap="none">
            <a:spAutoFit/>
          </a:bodyPr>
          <a:lstStyle/>
          <a:p>
            <a:r>
              <a:rPr lang="en-US" sz="1400" i="1"/>
              <a:t>Post office:</a:t>
            </a:r>
          </a:p>
          <a:p>
            <a:r>
              <a:rPr lang="en-US" sz="1400"/>
              <a:t>Processes and routes the letter</a:t>
            </a:r>
          </a:p>
        </p:txBody>
      </p:sp>
      <p:sp>
        <p:nvSpPr>
          <p:cNvPr id="1049023" name="Text Box 326"/>
          <p:cNvSpPr txBox="1">
            <a:spLocks noChangeArrowheads="1"/>
          </p:cNvSpPr>
          <p:nvPr/>
        </p:nvSpPr>
        <p:spPr bwMode="auto">
          <a:xfrm>
            <a:off x="2438400" y="5257800"/>
            <a:ext cx="1167526" cy="332740"/>
          </a:xfrm>
          <a:prstGeom prst="rect">
            <a:avLst/>
          </a:prstGeom>
          <a:noFill/>
          <a:ln w="9525">
            <a:noFill/>
            <a:miter lim="800000"/>
          </a:ln>
        </p:spPr>
        <p:txBody>
          <a:bodyPr wrap="none">
            <a:spAutoFit/>
          </a:bodyPr>
          <a:lstStyle/>
          <a:p>
            <a:r>
              <a:rPr lang="en-US" sz="1400" i="1"/>
              <a:t>Postal truck</a:t>
            </a:r>
          </a:p>
        </p:txBody>
      </p:sp>
      <p:sp>
        <p:nvSpPr>
          <p:cNvPr id="1049024" name="AutoShape 327"/>
          <p:cNvSpPr>
            <a:spLocks noChangeArrowheads="1"/>
          </p:cNvSpPr>
          <p:nvPr/>
        </p:nvSpPr>
        <p:spPr bwMode="auto">
          <a:xfrm>
            <a:off x="762000" y="2362200"/>
            <a:ext cx="381000" cy="1066800"/>
          </a:xfrm>
          <a:prstGeom prst="curvedRightArrow">
            <a:avLst>
              <a:gd name="adj1" fmla="val 41196"/>
              <a:gd name="adj2" fmla="val 80578"/>
              <a:gd name="adj3" fmla="val 36667"/>
            </a:avLst>
          </a:prstGeom>
          <a:solidFill>
            <a:schemeClr val="accent1"/>
          </a:solidFill>
          <a:ln w="9525">
            <a:solidFill>
              <a:schemeClr val="tx1"/>
            </a:solidFill>
            <a:miter lim="800000"/>
          </a:ln>
        </p:spPr>
        <p:txBody>
          <a:bodyPr wrap="none" anchor="ctr"/>
          <a:lstStyle/>
          <a:p>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1049024"/>
                                        </p:tgtEl>
                                        <p:attrNameLst>
                                          <p:attrName>style.visibility</p:attrName>
                                        </p:attrNameLst>
                                      </p:cBhvr>
                                      <p:to>
                                        <p:strVal val="visible"/>
                                      </p:to>
                                    </p:set>
                                    <p:animEffect transition="in" filter="wipe(up)">
                                      <p:cBhvr>
                                        <p:cTn id="7" dur="500"/>
                                        <p:tgtEl>
                                          <p:spTgt spid="1049024"/>
                                        </p:tgtEl>
                                      </p:cBhvr>
                                    </p:animEffect>
                                  </p:childTnLst>
                                </p:cTn>
                              </p:par>
                            </p:childTnLst>
                          </p:cTn>
                        </p:par>
                        <p:par>
                          <p:cTn id="8" fill="hold">
                            <p:stCondLst>
                              <p:cond delay="500"/>
                            </p:stCondLst>
                            <p:childTnLst>
                              <p:par>
                                <p:cTn id="9" presetID="9" presetClass="entr" presetSubtype="0" fill="hold" nodeType="afterEffect">
                                  <p:stCondLst>
                                    <p:cond delay="0"/>
                                  </p:stCondLst>
                                  <p:childTnLst>
                                    <p:set>
                                      <p:cBhvr>
                                        <p:cTn id="10" dur="1" fill="hold">
                                          <p:stCondLst>
                                            <p:cond delay="0"/>
                                          </p:stCondLst>
                                        </p:cTn>
                                        <p:tgtEl>
                                          <p:spTgt spid="2097171"/>
                                        </p:tgtEl>
                                        <p:attrNameLst>
                                          <p:attrName>style.visibility</p:attrName>
                                        </p:attrNameLst>
                                      </p:cBhvr>
                                      <p:to>
                                        <p:strVal val="visible"/>
                                      </p:to>
                                    </p:set>
                                    <p:animEffect transition="in" filter="dissolve">
                                      <p:cBhvr>
                                        <p:cTn id="11" dur="500"/>
                                        <p:tgtEl>
                                          <p:spTgt spid="2097171"/>
                                        </p:tgtEl>
                                      </p:cBhvr>
                                    </p:animEffect>
                                  </p:childTnLst>
                                </p:cTn>
                              </p:par>
                              <p:par>
                                <p:cTn id="12" presetID="9" presetClass="entr" presetSubtype="0" fill="hold" grpId="0" nodeType="withEffect">
                                  <p:stCondLst>
                                    <p:cond delay="0"/>
                                  </p:stCondLst>
                                  <p:childTnLst>
                                    <p:set>
                                      <p:cBhvr>
                                        <p:cTn id="13" dur="1" fill="hold">
                                          <p:stCondLst>
                                            <p:cond delay="0"/>
                                          </p:stCondLst>
                                        </p:cTn>
                                        <p:tgtEl>
                                          <p:spTgt spid="1048928"/>
                                        </p:tgtEl>
                                        <p:attrNameLst>
                                          <p:attrName>style.visibility</p:attrName>
                                        </p:attrNameLst>
                                      </p:cBhvr>
                                      <p:to>
                                        <p:strVal val="visible"/>
                                      </p:to>
                                    </p:set>
                                    <p:animEffect transition="in" filter="dissolve">
                                      <p:cBhvr>
                                        <p:cTn id="14" dur="500"/>
                                        <p:tgtEl>
                                          <p:spTgt spid="1048928"/>
                                        </p:tgtEl>
                                      </p:cBhvr>
                                    </p:animEffect>
                                  </p:childTnLst>
                                </p:cTn>
                              </p:par>
                            </p:childTnLst>
                          </p:cTn>
                        </p:par>
                      </p:childTnLst>
                    </p:cTn>
                  </p:par>
                  <p:par>
                    <p:cTn id="15" fill="hold">
                      <p:stCondLst>
                        <p:cond delay="indefinite"/>
                      </p:stCondLst>
                      <p:childTnLst>
                        <p:par>
                          <p:cTn id="16" fill="hold">
                            <p:stCondLst>
                              <p:cond delay="0"/>
                            </p:stCondLst>
                            <p:childTnLst>
                              <p:par>
                                <p:cTn id="17" presetID="22" presetClass="entr" presetSubtype="1" fill="hold" grpId="0" nodeType="clickEffect">
                                  <p:stCondLst>
                                    <p:cond delay="0"/>
                                  </p:stCondLst>
                                  <p:childTnLst>
                                    <p:set>
                                      <p:cBhvr>
                                        <p:cTn id="18" dur="1" fill="hold">
                                          <p:stCondLst>
                                            <p:cond delay="0"/>
                                          </p:stCondLst>
                                        </p:cTn>
                                        <p:tgtEl>
                                          <p:spTgt spid="1048926"/>
                                        </p:tgtEl>
                                        <p:attrNameLst>
                                          <p:attrName>style.visibility</p:attrName>
                                        </p:attrNameLst>
                                      </p:cBhvr>
                                      <p:to>
                                        <p:strVal val="visible"/>
                                      </p:to>
                                    </p:set>
                                    <p:animEffect transition="in" filter="wipe(up)">
                                      <p:cBhvr>
                                        <p:cTn id="19" dur="500"/>
                                        <p:tgtEl>
                                          <p:spTgt spid="1048926"/>
                                        </p:tgtEl>
                                      </p:cBhvr>
                                    </p:animEffect>
                                  </p:childTnLst>
                                </p:cTn>
                              </p:par>
                            </p:childTnLst>
                          </p:cTn>
                        </p:par>
                        <p:par>
                          <p:cTn id="20" fill="hold">
                            <p:stCondLst>
                              <p:cond delay="500"/>
                            </p:stCondLst>
                            <p:childTnLst>
                              <p:par>
                                <p:cTn id="21" presetID="9" presetClass="entr" presetSubtype="0" fill="hold" nodeType="afterEffect">
                                  <p:stCondLst>
                                    <p:cond delay="0"/>
                                  </p:stCondLst>
                                  <p:childTnLst>
                                    <p:set>
                                      <p:cBhvr>
                                        <p:cTn id="22" dur="1" fill="hold">
                                          <p:stCondLst>
                                            <p:cond delay="0"/>
                                          </p:stCondLst>
                                        </p:cTn>
                                        <p:tgtEl>
                                          <p:spTgt spid="151"/>
                                        </p:tgtEl>
                                        <p:attrNameLst>
                                          <p:attrName>style.visibility</p:attrName>
                                        </p:attrNameLst>
                                      </p:cBhvr>
                                      <p:to>
                                        <p:strVal val="visible"/>
                                      </p:to>
                                    </p:set>
                                    <p:animEffect transition="in" filter="dissolve">
                                      <p:cBhvr>
                                        <p:cTn id="23" dur="500"/>
                                        <p:tgtEl>
                                          <p:spTgt spid="151"/>
                                        </p:tgtEl>
                                      </p:cBhvr>
                                    </p:animEffect>
                                  </p:childTnLst>
                                </p:cTn>
                              </p:par>
                              <p:par>
                                <p:cTn id="24" presetID="9" presetClass="entr" presetSubtype="0" fill="hold" grpId="0" nodeType="withEffect">
                                  <p:stCondLst>
                                    <p:cond delay="0"/>
                                  </p:stCondLst>
                                  <p:childTnLst>
                                    <p:set>
                                      <p:cBhvr>
                                        <p:cTn id="25" dur="1" fill="hold">
                                          <p:stCondLst>
                                            <p:cond delay="0"/>
                                          </p:stCondLst>
                                        </p:cTn>
                                        <p:tgtEl>
                                          <p:spTgt spid="1048929"/>
                                        </p:tgtEl>
                                        <p:attrNameLst>
                                          <p:attrName>style.visibility</p:attrName>
                                        </p:attrNameLst>
                                      </p:cBhvr>
                                      <p:to>
                                        <p:strVal val="visible"/>
                                      </p:to>
                                    </p:set>
                                    <p:animEffect transition="in" filter="dissolve">
                                      <p:cBhvr>
                                        <p:cTn id="26" dur="500"/>
                                        <p:tgtEl>
                                          <p:spTgt spid="1048929"/>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1" fill="hold" grpId="0" nodeType="clickEffect">
                                  <p:stCondLst>
                                    <p:cond delay="0"/>
                                  </p:stCondLst>
                                  <p:childTnLst>
                                    <p:set>
                                      <p:cBhvr>
                                        <p:cTn id="30" dur="1" fill="hold">
                                          <p:stCondLst>
                                            <p:cond delay="0"/>
                                          </p:stCondLst>
                                        </p:cTn>
                                        <p:tgtEl>
                                          <p:spTgt spid="1048927"/>
                                        </p:tgtEl>
                                        <p:attrNameLst>
                                          <p:attrName>style.visibility</p:attrName>
                                        </p:attrNameLst>
                                      </p:cBhvr>
                                      <p:to>
                                        <p:strVal val="visible"/>
                                      </p:to>
                                    </p:set>
                                    <p:animEffect transition="in" filter="wipe(up)">
                                      <p:cBhvr>
                                        <p:cTn id="31" dur="500"/>
                                        <p:tgtEl>
                                          <p:spTgt spid="1048927"/>
                                        </p:tgtEl>
                                      </p:cBhvr>
                                    </p:animEffect>
                                  </p:childTnLst>
                                </p:cTn>
                              </p:par>
                            </p:childTnLst>
                          </p:cTn>
                        </p:par>
                        <p:par>
                          <p:cTn id="32" fill="hold">
                            <p:stCondLst>
                              <p:cond delay="500"/>
                            </p:stCondLst>
                            <p:childTnLst>
                              <p:par>
                                <p:cTn id="33" presetID="9" presetClass="entr" presetSubtype="0" fill="hold" nodeType="afterEffect">
                                  <p:stCondLst>
                                    <p:cond delay="0"/>
                                  </p:stCondLst>
                                  <p:childTnLst>
                                    <p:set>
                                      <p:cBhvr>
                                        <p:cTn id="34" dur="1" fill="hold">
                                          <p:stCondLst>
                                            <p:cond delay="0"/>
                                          </p:stCondLst>
                                        </p:cTn>
                                        <p:tgtEl>
                                          <p:spTgt spid="2097173"/>
                                        </p:tgtEl>
                                        <p:attrNameLst>
                                          <p:attrName>style.visibility</p:attrName>
                                        </p:attrNameLst>
                                      </p:cBhvr>
                                      <p:to>
                                        <p:strVal val="visible"/>
                                      </p:to>
                                    </p:set>
                                    <p:animEffect transition="in" filter="dissolve">
                                      <p:cBhvr>
                                        <p:cTn id="35" dur="500"/>
                                        <p:tgtEl>
                                          <p:spTgt spid="2097173"/>
                                        </p:tgtEl>
                                      </p:cBhvr>
                                    </p:animEffect>
                                  </p:childTnLst>
                                </p:cTn>
                              </p:par>
                              <p:par>
                                <p:cTn id="36" presetID="9" presetClass="entr" presetSubtype="0" fill="hold" grpId="0" nodeType="withEffect">
                                  <p:stCondLst>
                                    <p:cond delay="0"/>
                                  </p:stCondLst>
                                  <p:childTnLst>
                                    <p:set>
                                      <p:cBhvr>
                                        <p:cTn id="37" dur="1" fill="hold">
                                          <p:stCondLst>
                                            <p:cond delay="0"/>
                                          </p:stCondLst>
                                        </p:cTn>
                                        <p:tgtEl>
                                          <p:spTgt spid="1049022"/>
                                        </p:tgtEl>
                                        <p:attrNameLst>
                                          <p:attrName>style.visibility</p:attrName>
                                        </p:attrNameLst>
                                      </p:cBhvr>
                                      <p:to>
                                        <p:strVal val="visible"/>
                                      </p:to>
                                    </p:set>
                                    <p:animEffect transition="in" filter="dissolve">
                                      <p:cBhvr>
                                        <p:cTn id="38" dur="500"/>
                                        <p:tgtEl>
                                          <p:spTgt spid="1049022"/>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8" fill="hold" nodeType="clickEffect">
                                  <p:stCondLst>
                                    <p:cond delay="0"/>
                                  </p:stCondLst>
                                  <p:childTnLst>
                                    <p:set>
                                      <p:cBhvr>
                                        <p:cTn id="42" dur="1" fill="hold">
                                          <p:stCondLst>
                                            <p:cond delay="0"/>
                                          </p:stCondLst>
                                        </p:cTn>
                                        <p:tgtEl>
                                          <p:spTgt spid="143"/>
                                        </p:tgtEl>
                                        <p:attrNameLst>
                                          <p:attrName>style.visibility</p:attrName>
                                        </p:attrNameLst>
                                      </p:cBhvr>
                                      <p:to>
                                        <p:strVal val="visible"/>
                                      </p:to>
                                    </p:set>
                                    <p:animEffect transition="in" filter="wipe(left)">
                                      <p:cBhvr>
                                        <p:cTn id="43" dur="500"/>
                                        <p:tgtEl>
                                          <p:spTgt spid="143"/>
                                        </p:tgtEl>
                                      </p:cBhvr>
                                    </p:animEffect>
                                  </p:childTnLst>
                                </p:cTn>
                              </p:par>
                              <p:par>
                                <p:cTn id="44" presetID="9" presetClass="entr" presetSubtype="0" fill="hold" nodeType="withEffect">
                                  <p:stCondLst>
                                    <p:cond delay="0"/>
                                  </p:stCondLst>
                                  <p:childTnLst>
                                    <p:set>
                                      <p:cBhvr>
                                        <p:cTn id="45" dur="1" fill="hold">
                                          <p:stCondLst>
                                            <p:cond delay="0"/>
                                          </p:stCondLst>
                                        </p:cTn>
                                        <p:tgtEl>
                                          <p:spTgt spid="2097174"/>
                                        </p:tgtEl>
                                        <p:attrNameLst>
                                          <p:attrName>style.visibility</p:attrName>
                                        </p:attrNameLst>
                                      </p:cBhvr>
                                      <p:to>
                                        <p:strVal val="visible"/>
                                      </p:to>
                                    </p:set>
                                    <p:animEffect transition="in" filter="dissolve">
                                      <p:cBhvr>
                                        <p:cTn id="46" dur="500"/>
                                        <p:tgtEl>
                                          <p:spTgt spid="2097174"/>
                                        </p:tgtEl>
                                      </p:cBhvr>
                                    </p:animEffec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146"/>
                                        </p:tgtEl>
                                        <p:attrNameLst>
                                          <p:attrName>style.visibility</p:attrName>
                                        </p:attrNameLst>
                                      </p:cBhvr>
                                      <p:to>
                                        <p:strVal val="visible"/>
                                      </p:to>
                                    </p:set>
                                  </p:childTnLst>
                                </p:cTn>
                              </p:par>
                            </p:childTnLst>
                          </p:cTn>
                        </p:par>
                        <p:par>
                          <p:cTn id="51" fill="hold">
                            <p:stCondLst>
                              <p:cond delay="0"/>
                            </p:stCondLst>
                            <p:childTnLst>
                              <p:par>
                                <p:cTn id="52" presetID="0" presetClass="path" presetSubtype="0" accel="50000" decel="50000" fill="hold" nodeType="afterEffect">
                                  <p:stCondLst>
                                    <p:cond delay="0"/>
                                  </p:stCondLst>
                                  <p:childTnLst>
                                    <p:animMotion origin="layout" path="M -0.05417 -0.00093 L 0.07083 0.01018 " pathEditMode="relative" ptsTypes="AA">
                                      <p:cBhvr>
                                        <p:cTn id="53" dur="1000" fill="hold"/>
                                        <p:tgtEl>
                                          <p:spTgt spid="146"/>
                                        </p:tgtEl>
                                        <p:attrNameLst>
                                          <p:attrName>ppt_x</p:attrName>
                                          <p:attrName>ppt_y</p:attrName>
                                        </p:attrNameLst>
                                      </p:cBhvr>
                                    </p:animMotion>
                                  </p:childTnLst>
                                </p:cTn>
                              </p:par>
                              <p:par>
                                <p:cTn id="54" presetID="9" presetClass="entr" presetSubtype="0" fill="hold" grpId="0" nodeType="withEffect">
                                  <p:stCondLst>
                                    <p:cond delay="0"/>
                                  </p:stCondLst>
                                  <p:childTnLst>
                                    <p:set>
                                      <p:cBhvr>
                                        <p:cTn id="55" dur="1" fill="hold">
                                          <p:stCondLst>
                                            <p:cond delay="0"/>
                                          </p:stCondLst>
                                        </p:cTn>
                                        <p:tgtEl>
                                          <p:spTgt spid="1049023"/>
                                        </p:tgtEl>
                                        <p:attrNameLst>
                                          <p:attrName>style.visibility</p:attrName>
                                        </p:attrNameLst>
                                      </p:cBhvr>
                                      <p:to>
                                        <p:strVal val="visible"/>
                                      </p:to>
                                    </p:set>
                                    <p:animEffect transition="in" filter="dissolve">
                                      <p:cBhvr>
                                        <p:cTn id="56" dur="500"/>
                                        <p:tgtEl>
                                          <p:spTgt spid="1049023"/>
                                        </p:tgtEl>
                                      </p:cBhvr>
                                    </p:animEffect>
                                  </p:childTnLst>
                                </p:cTn>
                              </p:par>
                            </p:childTnLst>
                          </p:cTn>
                        </p:par>
                      </p:childTnLst>
                    </p:cTn>
                  </p:par>
                  <p:par>
                    <p:cTn id="57" fill="hold">
                      <p:stCondLst>
                        <p:cond delay="indefinite"/>
                      </p:stCondLst>
                      <p:childTnLst>
                        <p:par>
                          <p:cTn id="58" fill="hold">
                            <p:stCondLst>
                              <p:cond delay="0"/>
                            </p:stCondLst>
                            <p:childTnLst>
                              <p:par>
                                <p:cTn id="59" presetID="22" presetClass="entr" presetSubtype="8" fill="hold" nodeType="clickEffect">
                                  <p:stCondLst>
                                    <p:cond delay="0"/>
                                  </p:stCondLst>
                                  <p:childTnLst>
                                    <p:set>
                                      <p:cBhvr>
                                        <p:cTn id="60" dur="1" fill="hold">
                                          <p:stCondLst>
                                            <p:cond delay="0"/>
                                          </p:stCondLst>
                                        </p:cTn>
                                        <p:tgtEl>
                                          <p:spTgt spid="144"/>
                                        </p:tgtEl>
                                        <p:attrNameLst>
                                          <p:attrName>style.visibility</p:attrName>
                                        </p:attrNameLst>
                                      </p:cBhvr>
                                      <p:to>
                                        <p:strVal val="visible"/>
                                      </p:to>
                                    </p:set>
                                    <p:animEffect transition="in" filter="wipe(left)">
                                      <p:cBhvr>
                                        <p:cTn id="61" dur="500"/>
                                        <p:tgtEl>
                                          <p:spTgt spid="144"/>
                                        </p:tgtEl>
                                      </p:cBhvr>
                                    </p:animEffect>
                                  </p:childTnLst>
                                </p:cTn>
                              </p:par>
                              <p:par>
                                <p:cTn id="62" presetID="9" presetClass="entr" presetSubtype="0" fill="hold" nodeType="withEffect">
                                  <p:stCondLst>
                                    <p:cond delay="0"/>
                                  </p:stCondLst>
                                  <p:childTnLst>
                                    <p:set>
                                      <p:cBhvr>
                                        <p:cTn id="63" dur="1" fill="hold">
                                          <p:stCondLst>
                                            <p:cond delay="0"/>
                                          </p:stCondLst>
                                        </p:cTn>
                                        <p:tgtEl>
                                          <p:spTgt spid="2097175"/>
                                        </p:tgtEl>
                                        <p:attrNameLst>
                                          <p:attrName>style.visibility</p:attrName>
                                        </p:attrNameLst>
                                      </p:cBhvr>
                                      <p:to>
                                        <p:strVal val="visible"/>
                                      </p:to>
                                    </p:set>
                                    <p:animEffect transition="in" filter="dissolve">
                                      <p:cBhvr>
                                        <p:cTn id="64" dur="500"/>
                                        <p:tgtEl>
                                          <p:spTgt spid="2097175"/>
                                        </p:tgtEl>
                                      </p:cBhvr>
                                    </p:animEffect>
                                  </p:childTnLst>
                                </p:cTn>
                              </p:par>
                            </p:childTnLst>
                          </p:cTn>
                        </p:par>
                        <p:par>
                          <p:cTn id="65" fill="hold">
                            <p:stCondLst>
                              <p:cond delay="500"/>
                            </p:stCondLst>
                            <p:childTnLst>
                              <p:par>
                                <p:cTn id="66" presetID="1" presetClass="entr" presetSubtype="0" fill="hold" nodeType="afterEffect">
                                  <p:stCondLst>
                                    <p:cond delay="0"/>
                                  </p:stCondLst>
                                  <p:childTnLst>
                                    <p:set>
                                      <p:cBhvr>
                                        <p:cTn id="67" dur="1" fill="hold">
                                          <p:stCondLst>
                                            <p:cond delay="0"/>
                                          </p:stCondLst>
                                        </p:cTn>
                                        <p:tgtEl>
                                          <p:spTgt spid="147"/>
                                        </p:tgtEl>
                                        <p:attrNameLst>
                                          <p:attrName>style.visibility</p:attrName>
                                        </p:attrNameLst>
                                      </p:cBhvr>
                                      <p:to>
                                        <p:strVal val="visible"/>
                                      </p:to>
                                    </p:set>
                                  </p:childTnLst>
                                </p:cTn>
                              </p:par>
                            </p:childTnLst>
                          </p:cTn>
                        </p:par>
                        <p:par>
                          <p:cTn id="68" fill="hold">
                            <p:stCondLst>
                              <p:cond delay="500"/>
                            </p:stCondLst>
                            <p:childTnLst>
                              <p:par>
                                <p:cTn id="69" presetID="0" presetClass="path" presetSubtype="0" accel="50000" decel="50000" fill="hold" nodeType="afterEffect">
                                  <p:stCondLst>
                                    <p:cond delay="0"/>
                                  </p:stCondLst>
                                  <p:childTnLst>
                                    <p:animMotion origin="layout" path="M -0.04583 0.02338 L 0.04583 -0.00995 " pathEditMode="relative" ptsTypes="AA">
                                      <p:cBhvr>
                                        <p:cTn id="70" dur="1000" fill="hold"/>
                                        <p:tgtEl>
                                          <p:spTgt spid="147"/>
                                        </p:tgtEl>
                                        <p:attrNameLst>
                                          <p:attrName>ppt_x</p:attrName>
                                          <p:attrName>ppt_y</p:attrName>
                                        </p:attrNameLst>
                                      </p:cBhvr>
                                    </p:animMotion>
                                  </p:childTnLst>
                                </p:cTn>
                              </p:par>
                            </p:childTnLst>
                          </p:cTn>
                        </p:par>
                      </p:childTnLst>
                    </p:cTn>
                  </p:par>
                  <p:par>
                    <p:cTn id="71" fill="hold">
                      <p:stCondLst>
                        <p:cond delay="indefinite"/>
                      </p:stCondLst>
                      <p:childTnLst>
                        <p:par>
                          <p:cTn id="72" fill="hold">
                            <p:stCondLst>
                              <p:cond delay="0"/>
                            </p:stCondLst>
                            <p:childTnLst>
                              <p:par>
                                <p:cTn id="73" presetID="22" presetClass="entr" presetSubtype="8" fill="hold" nodeType="clickEffect">
                                  <p:stCondLst>
                                    <p:cond delay="0"/>
                                  </p:stCondLst>
                                  <p:childTnLst>
                                    <p:set>
                                      <p:cBhvr>
                                        <p:cTn id="74" dur="1" fill="hold">
                                          <p:stCondLst>
                                            <p:cond delay="0"/>
                                          </p:stCondLst>
                                        </p:cTn>
                                        <p:tgtEl>
                                          <p:spTgt spid="145"/>
                                        </p:tgtEl>
                                        <p:attrNameLst>
                                          <p:attrName>style.visibility</p:attrName>
                                        </p:attrNameLst>
                                      </p:cBhvr>
                                      <p:to>
                                        <p:strVal val="visible"/>
                                      </p:to>
                                    </p:set>
                                    <p:animEffect transition="in" filter="wipe(left)">
                                      <p:cBhvr>
                                        <p:cTn id="75" dur="500"/>
                                        <p:tgtEl>
                                          <p:spTgt spid="145"/>
                                        </p:tgtEl>
                                      </p:cBhvr>
                                    </p:animEffect>
                                  </p:childTnLst>
                                </p:cTn>
                              </p:par>
                              <p:par>
                                <p:cTn id="76" presetID="9" presetClass="entr" presetSubtype="0" fill="hold" nodeType="withEffect">
                                  <p:stCondLst>
                                    <p:cond delay="0"/>
                                  </p:stCondLst>
                                  <p:childTnLst>
                                    <p:set>
                                      <p:cBhvr>
                                        <p:cTn id="77" dur="1" fill="hold">
                                          <p:stCondLst>
                                            <p:cond delay="0"/>
                                          </p:stCondLst>
                                        </p:cTn>
                                        <p:tgtEl>
                                          <p:spTgt spid="2097172"/>
                                        </p:tgtEl>
                                        <p:attrNameLst>
                                          <p:attrName>style.visibility</p:attrName>
                                        </p:attrNameLst>
                                      </p:cBhvr>
                                      <p:to>
                                        <p:strVal val="visible"/>
                                      </p:to>
                                    </p:set>
                                    <p:animEffect transition="in" filter="dissolve">
                                      <p:cBhvr>
                                        <p:cTn id="78" dur="500"/>
                                        <p:tgtEl>
                                          <p:spTgt spid="2097172"/>
                                        </p:tgtEl>
                                      </p:cBhvr>
                                    </p:animEffect>
                                  </p:childTnLst>
                                </p:cTn>
                              </p:par>
                            </p:childTnLst>
                          </p:cTn>
                        </p:par>
                        <p:par>
                          <p:cTn id="79" fill="hold">
                            <p:stCondLst>
                              <p:cond delay="500"/>
                            </p:stCondLst>
                            <p:childTnLst>
                              <p:par>
                                <p:cTn id="80" presetID="1" presetClass="entr" presetSubtype="0" fill="hold" nodeType="afterEffect">
                                  <p:stCondLst>
                                    <p:cond delay="0"/>
                                  </p:stCondLst>
                                  <p:childTnLst>
                                    <p:set>
                                      <p:cBhvr>
                                        <p:cTn id="81" dur="1" fill="hold">
                                          <p:stCondLst>
                                            <p:cond delay="0"/>
                                          </p:stCondLst>
                                        </p:cTn>
                                        <p:tgtEl>
                                          <p:spTgt spid="148"/>
                                        </p:tgtEl>
                                        <p:attrNameLst>
                                          <p:attrName>style.visibility</p:attrName>
                                        </p:attrNameLst>
                                      </p:cBhvr>
                                      <p:to>
                                        <p:strVal val="visible"/>
                                      </p:to>
                                    </p:set>
                                  </p:childTnLst>
                                </p:cTn>
                              </p:par>
                            </p:childTnLst>
                          </p:cTn>
                        </p:par>
                        <p:par>
                          <p:cTn id="82" fill="hold">
                            <p:stCondLst>
                              <p:cond delay="500"/>
                            </p:stCondLst>
                            <p:childTnLst>
                              <p:par>
                                <p:cTn id="83" presetID="0" presetClass="path" presetSubtype="0" accel="50000" decel="50000" fill="hold" nodeType="afterEffect">
                                  <p:stCondLst>
                                    <p:cond delay="0"/>
                                  </p:stCondLst>
                                  <p:childTnLst>
                                    <p:animMotion origin="layout" path="M -0.0625 -0.00995 L 0.04583 0.01227 " pathEditMode="relative" rAng="0" ptsTypes="AA">
                                      <p:cBhvr>
                                        <p:cTn id="84" dur="1000" fill="hold"/>
                                        <p:tgtEl>
                                          <p:spTgt spid="148"/>
                                        </p:tgtEl>
                                        <p:attrNameLst>
                                          <p:attrName>ppt_x</p:attrName>
                                          <p:attrName>ppt_y</p:attrName>
                                        </p:attrNameLst>
                                      </p:cBhvr>
                                      <p:rCtr x="5400" y="1100"/>
                                    </p:animMotion>
                                  </p:childTnLst>
                                </p:cTn>
                              </p:par>
                            </p:childTnLst>
                          </p:cTn>
                        </p:par>
                      </p:childTnLst>
                    </p:cTn>
                  </p:par>
                  <p:par>
                    <p:cTn id="85" fill="hold">
                      <p:stCondLst>
                        <p:cond delay="indefinite"/>
                      </p:stCondLst>
                      <p:childTnLst>
                        <p:par>
                          <p:cTn id="86" fill="hold">
                            <p:stCondLst>
                              <p:cond delay="0"/>
                            </p:stCondLst>
                            <p:childTnLst>
                              <p:par>
                                <p:cTn id="87" presetID="22" presetClass="entr" presetSubtype="4" fill="hold" grpId="0" nodeType="clickEffect">
                                  <p:stCondLst>
                                    <p:cond delay="0"/>
                                  </p:stCondLst>
                                  <p:childTnLst>
                                    <p:set>
                                      <p:cBhvr>
                                        <p:cTn id="88" dur="1" fill="hold">
                                          <p:stCondLst>
                                            <p:cond delay="0"/>
                                          </p:stCondLst>
                                        </p:cTn>
                                        <p:tgtEl>
                                          <p:spTgt spid="1049021"/>
                                        </p:tgtEl>
                                        <p:attrNameLst>
                                          <p:attrName>style.visibility</p:attrName>
                                        </p:attrNameLst>
                                      </p:cBhvr>
                                      <p:to>
                                        <p:strVal val="visible"/>
                                      </p:to>
                                    </p:set>
                                    <p:animEffect transition="in" filter="wipe(down)">
                                      <p:cBhvr>
                                        <p:cTn id="89" dur="500"/>
                                        <p:tgtEl>
                                          <p:spTgt spid="1049021"/>
                                        </p:tgtEl>
                                      </p:cBhvr>
                                    </p:animEffect>
                                  </p:childTnLst>
                                </p:cTn>
                              </p:par>
                            </p:childTnLst>
                          </p:cTn>
                        </p:par>
                        <p:par>
                          <p:cTn id="90" fill="hold">
                            <p:stCondLst>
                              <p:cond delay="500"/>
                            </p:stCondLst>
                            <p:childTnLst>
                              <p:par>
                                <p:cTn id="91" presetID="9" presetClass="entr" presetSubtype="0" fill="hold" nodeType="afterEffect">
                                  <p:stCondLst>
                                    <p:cond delay="0"/>
                                  </p:stCondLst>
                                  <p:childTnLst>
                                    <p:set>
                                      <p:cBhvr>
                                        <p:cTn id="92" dur="1" fill="hold">
                                          <p:stCondLst>
                                            <p:cond delay="0"/>
                                          </p:stCondLst>
                                        </p:cTn>
                                        <p:tgtEl>
                                          <p:spTgt spid="149"/>
                                        </p:tgtEl>
                                        <p:attrNameLst>
                                          <p:attrName>style.visibility</p:attrName>
                                        </p:attrNameLst>
                                      </p:cBhvr>
                                      <p:to>
                                        <p:strVal val="visible"/>
                                      </p:to>
                                    </p:set>
                                    <p:animEffect transition="in" filter="dissolve">
                                      <p:cBhvr>
                                        <p:cTn id="93" dur="500"/>
                                        <p:tgtEl>
                                          <p:spTgt spid="149"/>
                                        </p:tgtEl>
                                      </p:cBhvr>
                                    </p:animEffect>
                                  </p:childTnLst>
                                </p:cTn>
                              </p:par>
                              <p:par>
                                <p:cTn id="94" presetID="9" presetClass="entr" presetSubtype="0" fill="hold" grpId="0" nodeType="withEffect">
                                  <p:stCondLst>
                                    <p:cond delay="0"/>
                                  </p:stCondLst>
                                  <p:childTnLst>
                                    <p:set>
                                      <p:cBhvr>
                                        <p:cTn id="95" dur="1" fill="hold">
                                          <p:stCondLst>
                                            <p:cond delay="0"/>
                                          </p:stCondLst>
                                        </p:cTn>
                                        <p:tgtEl>
                                          <p:spTgt spid="1048931"/>
                                        </p:tgtEl>
                                        <p:attrNameLst>
                                          <p:attrName>style.visibility</p:attrName>
                                        </p:attrNameLst>
                                      </p:cBhvr>
                                      <p:to>
                                        <p:strVal val="visible"/>
                                      </p:to>
                                    </p:set>
                                    <p:animEffect transition="in" filter="dissolve">
                                      <p:cBhvr>
                                        <p:cTn id="96" dur="500"/>
                                        <p:tgtEl>
                                          <p:spTgt spid="1048931"/>
                                        </p:tgtEl>
                                      </p:cBhvr>
                                    </p:animEffect>
                                  </p:childTnLst>
                                </p:cTn>
                              </p:par>
                            </p:childTnLst>
                          </p:cTn>
                        </p:par>
                      </p:childTnLst>
                    </p:cTn>
                  </p:par>
                  <p:par>
                    <p:cTn id="97" fill="hold">
                      <p:stCondLst>
                        <p:cond delay="indefinite"/>
                      </p:stCondLst>
                      <p:childTnLst>
                        <p:par>
                          <p:cTn id="98" fill="hold">
                            <p:stCondLst>
                              <p:cond delay="0"/>
                            </p:stCondLst>
                            <p:childTnLst>
                              <p:par>
                                <p:cTn id="99" presetID="22" presetClass="entr" presetSubtype="4" fill="hold" grpId="0" nodeType="clickEffect">
                                  <p:stCondLst>
                                    <p:cond delay="0"/>
                                  </p:stCondLst>
                                  <p:childTnLst>
                                    <p:set>
                                      <p:cBhvr>
                                        <p:cTn id="100" dur="1" fill="hold">
                                          <p:stCondLst>
                                            <p:cond delay="0"/>
                                          </p:stCondLst>
                                        </p:cTn>
                                        <p:tgtEl>
                                          <p:spTgt spid="1049020"/>
                                        </p:tgtEl>
                                        <p:attrNameLst>
                                          <p:attrName>style.visibility</p:attrName>
                                        </p:attrNameLst>
                                      </p:cBhvr>
                                      <p:to>
                                        <p:strVal val="visible"/>
                                      </p:to>
                                    </p:set>
                                    <p:animEffect transition="in" filter="wipe(down)">
                                      <p:cBhvr>
                                        <p:cTn id="101" dur="500"/>
                                        <p:tgtEl>
                                          <p:spTgt spid="1049020"/>
                                        </p:tgtEl>
                                      </p:cBhvr>
                                    </p:animEffect>
                                  </p:childTnLst>
                                </p:cTn>
                              </p:par>
                            </p:childTnLst>
                          </p:cTn>
                        </p:par>
                        <p:par>
                          <p:cTn id="102" fill="hold">
                            <p:stCondLst>
                              <p:cond delay="500"/>
                            </p:stCondLst>
                            <p:childTnLst>
                              <p:par>
                                <p:cTn id="103" presetID="9" presetClass="entr" presetSubtype="0" fill="hold" nodeType="afterEffect">
                                  <p:stCondLst>
                                    <p:cond delay="0"/>
                                  </p:stCondLst>
                                  <p:childTnLst>
                                    <p:set>
                                      <p:cBhvr>
                                        <p:cTn id="104" dur="1" fill="hold">
                                          <p:stCondLst>
                                            <p:cond delay="0"/>
                                          </p:stCondLst>
                                        </p:cTn>
                                        <p:tgtEl>
                                          <p:spTgt spid="2097170"/>
                                        </p:tgtEl>
                                        <p:attrNameLst>
                                          <p:attrName>style.visibility</p:attrName>
                                        </p:attrNameLst>
                                      </p:cBhvr>
                                      <p:to>
                                        <p:strVal val="visible"/>
                                      </p:to>
                                    </p:set>
                                    <p:animEffect transition="in" filter="dissolve">
                                      <p:cBhvr>
                                        <p:cTn id="105" dur="500"/>
                                        <p:tgtEl>
                                          <p:spTgt spid="2097170"/>
                                        </p:tgtEl>
                                      </p:cBhvr>
                                    </p:animEffect>
                                  </p:childTnLst>
                                </p:cTn>
                              </p:par>
                              <p:par>
                                <p:cTn id="106" presetID="9" presetClass="entr" presetSubtype="0" fill="hold" grpId="0" nodeType="withEffect">
                                  <p:stCondLst>
                                    <p:cond delay="0"/>
                                  </p:stCondLst>
                                  <p:childTnLst>
                                    <p:set>
                                      <p:cBhvr>
                                        <p:cTn id="107" dur="1" fill="hold">
                                          <p:stCondLst>
                                            <p:cond delay="0"/>
                                          </p:stCondLst>
                                        </p:cTn>
                                        <p:tgtEl>
                                          <p:spTgt spid="1048930"/>
                                        </p:tgtEl>
                                        <p:attrNameLst>
                                          <p:attrName>style.visibility</p:attrName>
                                        </p:attrNameLst>
                                      </p:cBhvr>
                                      <p:to>
                                        <p:strVal val="visible"/>
                                      </p:to>
                                    </p:set>
                                    <p:animEffect transition="in" filter="dissolve">
                                      <p:cBhvr>
                                        <p:cTn id="108" dur="500"/>
                                        <p:tgtEl>
                                          <p:spTgt spid="1048930"/>
                                        </p:tgtEl>
                                      </p:cBhvr>
                                    </p:animEffect>
                                  </p:childTnLst>
                                </p:cTn>
                              </p:par>
                            </p:childTnLst>
                          </p:cTn>
                        </p:par>
                      </p:childTnLst>
                    </p:cTn>
                  </p:par>
                  <p:par>
                    <p:cTn id="109" fill="hold">
                      <p:stCondLst>
                        <p:cond delay="indefinite"/>
                      </p:stCondLst>
                      <p:childTnLst>
                        <p:par>
                          <p:cTn id="110" fill="hold">
                            <p:stCondLst>
                              <p:cond delay="0"/>
                            </p:stCondLst>
                            <p:childTnLst>
                              <p:par>
                                <p:cTn id="111" presetID="22" presetClass="entr" presetSubtype="4" fill="hold" grpId="0" nodeType="clickEffect">
                                  <p:stCondLst>
                                    <p:cond delay="0"/>
                                  </p:stCondLst>
                                  <p:childTnLst>
                                    <p:set>
                                      <p:cBhvr>
                                        <p:cTn id="112" dur="1" fill="hold">
                                          <p:stCondLst>
                                            <p:cond delay="0"/>
                                          </p:stCondLst>
                                        </p:cTn>
                                        <p:tgtEl>
                                          <p:spTgt spid="1048925"/>
                                        </p:tgtEl>
                                        <p:attrNameLst>
                                          <p:attrName>style.visibility</p:attrName>
                                        </p:attrNameLst>
                                      </p:cBhvr>
                                      <p:to>
                                        <p:strVal val="visible"/>
                                      </p:to>
                                    </p:set>
                                    <p:animEffect transition="in" filter="wipe(down)">
                                      <p:cBhvr>
                                        <p:cTn id="113" dur="500"/>
                                        <p:tgtEl>
                                          <p:spTgt spid="1048925"/>
                                        </p:tgtEl>
                                      </p:cBhvr>
                                    </p:animEffect>
                                  </p:childTnLst>
                                </p:cTn>
                              </p:par>
                            </p:childTnLst>
                          </p:cTn>
                        </p:par>
                      </p:childTnLst>
                    </p:cTn>
                  </p:par>
                  <p:par>
                    <p:cTn id="114" fill="hold">
                      <p:stCondLst>
                        <p:cond delay="indefinite"/>
                      </p:stCondLst>
                      <p:childTnLst>
                        <p:par>
                          <p:cTn id="115" fill="hold">
                            <p:stCondLst>
                              <p:cond delay="0"/>
                            </p:stCondLst>
                            <p:childTnLst>
                              <p:par>
                                <p:cTn id="116" presetID="22" presetClass="entr" presetSubtype="8" fill="hold" grpId="0" nodeType="clickEffect">
                                  <p:stCondLst>
                                    <p:cond delay="0"/>
                                  </p:stCondLst>
                                  <p:childTnLst>
                                    <p:set>
                                      <p:cBhvr>
                                        <p:cTn id="117" dur="1" fill="hold">
                                          <p:stCondLst>
                                            <p:cond delay="0"/>
                                          </p:stCondLst>
                                        </p:cTn>
                                        <p:tgtEl>
                                          <p:spTgt spid="1048734"/>
                                        </p:tgtEl>
                                        <p:attrNameLst>
                                          <p:attrName>style.visibility</p:attrName>
                                        </p:attrNameLst>
                                      </p:cBhvr>
                                      <p:to>
                                        <p:strVal val="visible"/>
                                      </p:to>
                                    </p:set>
                                    <p:animEffect transition="in" filter="wipe(left)">
                                      <p:cBhvr>
                                        <p:cTn id="118" dur="500"/>
                                        <p:tgtEl>
                                          <p:spTgt spid="1048734"/>
                                        </p:tgtEl>
                                      </p:cBhvr>
                                    </p:animEffect>
                                  </p:childTnLst>
                                </p:cTn>
                              </p:par>
                              <p:par>
                                <p:cTn id="119" presetID="22" presetClass="entr" presetSubtype="8" fill="hold" grpId="0" nodeType="withEffect">
                                  <p:stCondLst>
                                    <p:cond delay="0"/>
                                  </p:stCondLst>
                                  <p:childTnLst>
                                    <p:set>
                                      <p:cBhvr>
                                        <p:cTn id="120" dur="1" fill="hold">
                                          <p:stCondLst>
                                            <p:cond delay="0"/>
                                          </p:stCondLst>
                                        </p:cTn>
                                        <p:tgtEl>
                                          <p:spTgt spid="1048735"/>
                                        </p:tgtEl>
                                        <p:attrNameLst>
                                          <p:attrName>style.visibility</p:attrName>
                                        </p:attrNameLst>
                                      </p:cBhvr>
                                      <p:to>
                                        <p:strVal val="visible"/>
                                      </p:to>
                                    </p:set>
                                    <p:animEffect transition="in" filter="wipe(left)">
                                      <p:cBhvr>
                                        <p:cTn id="121" dur="500"/>
                                        <p:tgtEl>
                                          <p:spTgt spid="10487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8734" grpId="0" animBg="1"/>
      <p:bldP spid="1048735" grpId="0"/>
      <p:bldP spid="1048925" grpId="0" animBg="1"/>
      <p:bldP spid="1048926" grpId="0" animBg="1"/>
      <p:bldP spid="1048927" grpId="0" animBg="1"/>
      <p:bldP spid="1048928" grpId="0"/>
      <p:bldP spid="1048929" grpId="0"/>
      <p:bldP spid="1048930" grpId="0"/>
      <p:bldP spid="1048931" grpId="0"/>
      <p:bldP spid="1049020" grpId="0" animBg="1"/>
      <p:bldP spid="1049021" grpId="0" animBg="1"/>
      <p:bldP spid="1049022" grpId="0"/>
      <p:bldP spid="1049023" grpId="0"/>
      <p:bldP spid="1049024" grpId="0" animBg="1"/>
    </p:bldLst>
  </p:timing>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49025" name="Rectangle 2"/>
          <p:cNvSpPr>
            <a:spLocks noGrp="1" noChangeArrowheads="1"/>
          </p:cNvSpPr>
          <p:nvPr>
            <p:ph type="title"/>
          </p:nvPr>
        </p:nvSpPr>
        <p:spPr>
          <a:xfrm>
            <a:off x="457200" y="381000"/>
            <a:ext cx="8229600" cy="838200"/>
          </a:xfrm>
        </p:spPr>
        <p:txBody>
          <a:bodyPr>
            <a:normAutofit/>
          </a:bodyPr>
          <a:lstStyle/>
          <a:p>
            <a:pPr eaLnBrk="1" hangingPunct="1"/>
            <a:r>
              <a:rPr lang="en-US" b="1">
                <a:latin typeface="Times New Roman" panose="02020603050405020304" pitchFamily="18" charset="0"/>
                <a:cs typeface="Times New Roman" panose="02020603050405020304" pitchFamily="18" charset="0"/>
              </a:rPr>
              <a:t>LAYER MODEL</a:t>
            </a:r>
          </a:p>
        </p:txBody>
      </p:sp>
      <p:sp>
        <p:nvSpPr>
          <p:cNvPr id="1049026" name="Rectangle 3"/>
          <p:cNvSpPr>
            <a:spLocks noGrp="1" noChangeArrowheads="1"/>
          </p:cNvSpPr>
          <p:nvPr>
            <p:ph type="body" idx="1"/>
          </p:nvPr>
        </p:nvSpPr>
        <p:spPr>
          <a:xfrm>
            <a:off x="457200" y="1295400"/>
            <a:ext cx="8229600" cy="482600"/>
          </a:xfrm>
        </p:spPr>
        <p:txBody>
          <a:bodyPr/>
          <a:lstStyle/>
          <a:p>
            <a:pPr eaLnBrk="1" hangingPunct="1"/>
            <a:r>
              <a:rPr lang="en-US" sz="2800"/>
              <a:t>Layer </a:t>
            </a:r>
            <a:r>
              <a:rPr lang="en-US" sz="2800" i="1">
                <a:latin typeface="Times New Roman" panose="02020603050405020304" pitchFamily="18" charset="0"/>
                <a:cs typeface="Tahoma" panose="020B0604030504040204" pitchFamily="34" charset="0"/>
              </a:rPr>
              <a:t>N</a:t>
            </a:r>
            <a:r>
              <a:rPr lang="en-US" sz="2800"/>
              <a:t> uses services provided by Layer </a:t>
            </a:r>
            <a:r>
              <a:rPr lang="en-US" sz="2800" i="1">
                <a:latin typeface="Times New Roman" panose="02020603050405020304" pitchFamily="18" charset="0"/>
              </a:rPr>
              <a:t>N</a:t>
            </a:r>
            <a:r>
              <a:rPr lang="en-US" sz="2800"/>
              <a:t>-1</a:t>
            </a:r>
          </a:p>
        </p:txBody>
      </p:sp>
      <p:sp>
        <p:nvSpPr>
          <p:cNvPr id="1049027" name="Slide Number Placeholder 5"/>
          <p:cNvSpPr>
            <a:spLocks noGrp="1"/>
          </p:cNvSpPr>
          <p:nvPr>
            <p:ph type="sldNum" sz="quarter" idx="7"/>
          </p:nvPr>
        </p:nvSpPr>
        <p:spPr/>
        <p:txBody>
          <a:bodyPr/>
          <a:lstStyle/>
          <a:p>
            <a:fld id="{5F173F05-4AA4-4280-9977-4AACF8A33FA0}" type="slidenum">
              <a:rPr lang="en-US"/>
              <a:t>42</a:t>
            </a:fld>
            <a:endParaRPr lang="en-US"/>
          </a:p>
        </p:txBody>
      </p:sp>
      <p:sp>
        <p:nvSpPr>
          <p:cNvPr id="1049028" name="Rectangle 24"/>
          <p:cNvSpPr>
            <a:spLocks noChangeArrowheads="1"/>
          </p:cNvSpPr>
          <p:nvPr/>
        </p:nvSpPr>
        <p:spPr bwMode="auto">
          <a:xfrm>
            <a:off x="788988" y="2089150"/>
            <a:ext cx="2743200" cy="3778250"/>
          </a:xfrm>
          <a:prstGeom prst="rect">
            <a:avLst/>
          </a:prstGeom>
          <a:noFill/>
          <a:ln w="28575">
            <a:solidFill>
              <a:schemeClr val="hlink"/>
            </a:solidFill>
            <a:miter lim="800000"/>
          </a:ln>
        </p:spPr>
        <p:txBody>
          <a:bodyPr wrap="none" anchor="ctr"/>
          <a:lstStyle/>
          <a:p>
            <a:pPr fontAlgn="base">
              <a:spcBef>
                <a:spcPct val="0"/>
              </a:spcBef>
              <a:spcAft>
                <a:spcPct val="0"/>
              </a:spcAft>
            </a:pPr>
            <a:endParaRPr lang="en-US">
              <a:solidFill>
                <a:prstClr val="black"/>
              </a:solidFill>
              <a:latin typeface="Tahoma" panose="020B0604030504040204" pitchFamily="34" charset="0"/>
              <a:cs typeface="Arial" panose="020B0604020202020204" pitchFamily="34" charset="0"/>
            </a:endParaRPr>
          </a:p>
        </p:txBody>
      </p:sp>
      <p:sp>
        <p:nvSpPr>
          <p:cNvPr id="1049029" name="Rectangle 26"/>
          <p:cNvSpPr>
            <a:spLocks noChangeArrowheads="1"/>
          </p:cNvSpPr>
          <p:nvPr/>
        </p:nvSpPr>
        <p:spPr bwMode="auto">
          <a:xfrm>
            <a:off x="5867400" y="2089150"/>
            <a:ext cx="2743200" cy="3778250"/>
          </a:xfrm>
          <a:prstGeom prst="rect">
            <a:avLst/>
          </a:prstGeom>
          <a:noFill/>
          <a:ln w="28575">
            <a:solidFill>
              <a:schemeClr val="hlink"/>
            </a:solidFill>
            <a:miter lim="800000"/>
          </a:ln>
        </p:spPr>
        <p:txBody>
          <a:bodyPr wrap="none" anchor="ctr"/>
          <a:lstStyle/>
          <a:p>
            <a:pPr fontAlgn="base">
              <a:spcBef>
                <a:spcPct val="0"/>
              </a:spcBef>
              <a:spcAft>
                <a:spcPct val="0"/>
              </a:spcAft>
            </a:pPr>
            <a:endParaRPr lang="en-US">
              <a:solidFill>
                <a:prstClr val="black"/>
              </a:solidFill>
              <a:latin typeface="Tahoma" panose="020B0604030504040204" pitchFamily="34" charset="0"/>
              <a:cs typeface="Arial" panose="020B0604020202020204" pitchFamily="34" charset="0"/>
            </a:endParaRPr>
          </a:p>
        </p:txBody>
      </p:sp>
      <p:sp>
        <p:nvSpPr>
          <p:cNvPr id="1049030" name="Rectangle 4"/>
          <p:cNvSpPr>
            <a:spLocks noChangeArrowheads="1"/>
          </p:cNvSpPr>
          <p:nvPr/>
        </p:nvSpPr>
        <p:spPr bwMode="auto">
          <a:xfrm>
            <a:off x="1017588" y="2470150"/>
            <a:ext cx="1981200" cy="457200"/>
          </a:xfrm>
          <a:prstGeom prst="rect">
            <a:avLst/>
          </a:prstGeom>
          <a:solidFill>
            <a:schemeClr val="accent1"/>
          </a:solidFill>
          <a:ln w="9525">
            <a:miter lim="800000"/>
          </a:ln>
          <a:scene3d>
            <a:camera prst="legacyObliqueTopRight"/>
            <a:lightRig rig="legacyFlat3" dir="b"/>
          </a:scene3d>
          <a:sp3d extrusionH="430200" prstMaterial="legacyMatte">
            <a:bevelT w="13500" h="13500" prst="angle"/>
            <a:bevelB w="13500" h="13500" prst="angle"/>
            <a:extrusionClr>
              <a:schemeClr val="accent1"/>
            </a:extrusionClr>
          </a:sp3d>
        </p:spPr>
        <p:txBody>
          <a:bodyPr wrap="none" anchor="ctr">
            <a:flatTx/>
          </a:bodyPr>
          <a:lstStyle/>
          <a:p>
            <a:pPr algn="ctr" fontAlgn="base">
              <a:spcBef>
                <a:spcPct val="0"/>
              </a:spcBef>
              <a:spcAft>
                <a:spcPct val="0"/>
              </a:spcAft>
            </a:pPr>
            <a:r>
              <a:rPr lang="en-US" sz="2000">
                <a:solidFill>
                  <a:prstClr val="black"/>
                </a:solidFill>
                <a:latin typeface="Tahoma" panose="020B0604030504040204" pitchFamily="34" charset="0"/>
                <a:cs typeface="Arial" panose="020B0604020202020204" pitchFamily="34" charset="0"/>
              </a:rPr>
              <a:t>Layer </a:t>
            </a:r>
            <a:r>
              <a:rPr lang="en-US" sz="2000" i="1">
                <a:solidFill>
                  <a:prstClr val="black"/>
                </a:solidFill>
                <a:latin typeface="Times New Roman" panose="02020603050405020304" pitchFamily="18" charset="0"/>
                <a:cs typeface="Arial" panose="020B0604020202020204" pitchFamily="34" charset="0"/>
              </a:rPr>
              <a:t>N</a:t>
            </a:r>
          </a:p>
        </p:txBody>
      </p:sp>
      <p:sp>
        <p:nvSpPr>
          <p:cNvPr id="1049031" name="Rectangle 13"/>
          <p:cNvSpPr>
            <a:spLocks noChangeArrowheads="1"/>
          </p:cNvSpPr>
          <p:nvPr/>
        </p:nvSpPr>
        <p:spPr bwMode="auto">
          <a:xfrm>
            <a:off x="6172200" y="2470150"/>
            <a:ext cx="1981200" cy="457200"/>
          </a:xfrm>
          <a:prstGeom prst="rect">
            <a:avLst/>
          </a:prstGeom>
          <a:solidFill>
            <a:schemeClr val="accent1"/>
          </a:solidFill>
          <a:ln w="9525">
            <a:miter lim="800000"/>
          </a:ln>
          <a:scene3d>
            <a:camera prst="legacyObliqueTopRight"/>
            <a:lightRig rig="legacyFlat3" dir="b"/>
          </a:scene3d>
          <a:sp3d extrusionH="430200" prstMaterial="legacyMatte">
            <a:bevelT w="13500" h="13500" prst="angle"/>
            <a:bevelB w="13500" h="13500" prst="angle"/>
            <a:extrusionClr>
              <a:schemeClr val="accent1"/>
            </a:extrusionClr>
          </a:sp3d>
        </p:spPr>
        <p:txBody>
          <a:bodyPr wrap="none" anchor="ctr">
            <a:flatTx/>
          </a:bodyPr>
          <a:lstStyle/>
          <a:p>
            <a:pPr algn="ctr" fontAlgn="base">
              <a:spcBef>
                <a:spcPct val="0"/>
              </a:spcBef>
              <a:spcAft>
                <a:spcPct val="0"/>
              </a:spcAft>
            </a:pPr>
            <a:r>
              <a:rPr lang="en-US" sz="2000">
                <a:solidFill>
                  <a:prstClr val="black"/>
                </a:solidFill>
                <a:latin typeface="Tahoma" panose="020B0604030504040204" pitchFamily="34" charset="0"/>
                <a:cs typeface="Arial" panose="020B0604020202020204" pitchFamily="34" charset="0"/>
              </a:rPr>
              <a:t>Layer </a:t>
            </a:r>
            <a:r>
              <a:rPr lang="en-US" sz="2000" i="1">
                <a:solidFill>
                  <a:prstClr val="black"/>
                </a:solidFill>
                <a:latin typeface="Times New Roman" panose="02020603050405020304" pitchFamily="18" charset="0"/>
                <a:cs typeface="Arial" panose="020B0604020202020204" pitchFamily="34" charset="0"/>
              </a:rPr>
              <a:t>N</a:t>
            </a:r>
          </a:p>
        </p:txBody>
      </p:sp>
      <p:sp>
        <p:nvSpPr>
          <p:cNvPr id="1049032" name="Text Box 18"/>
          <p:cNvSpPr txBox="1">
            <a:spLocks noChangeArrowheads="1"/>
          </p:cNvSpPr>
          <p:nvPr/>
        </p:nvSpPr>
        <p:spPr bwMode="auto">
          <a:xfrm>
            <a:off x="796925" y="2895600"/>
            <a:ext cx="779780" cy="701039"/>
          </a:xfrm>
          <a:prstGeom prst="rect">
            <a:avLst/>
          </a:prstGeom>
          <a:noFill/>
          <a:ln w="9525">
            <a:noFill/>
            <a:miter lim="800000"/>
          </a:ln>
        </p:spPr>
        <p:txBody>
          <a:bodyPr wrap="none">
            <a:spAutoFit/>
          </a:bodyPr>
          <a:lstStyle/>
          <a:p>
            <a:pPr algn="r" fontAlgn="base">
              <a:spcBef>
                <a:spcPct val="0"/>
              </a:spcBef>
              <a:spcAft>
                <a:spcPct val="0"/>
              </a:spcAft>
            </a:pPr>
            <a:r>
              <a:rPr lang="en-US">
                <a:solidFill>
                  <a:prstClr val="black"/>
                </a:solidFill>
                <a:latin typeface="Tahoma" panose="020B0604030504040204" pitchFamily="34" charset="0"/>
                <a:cs typeface="Arial" panose="020B0604020202020204" pitchFamily="34" charset="0"/>
              </a:rPr>
              <a:t>Using</a:t>
            </a:r>
            <a:br>
              <a:rPr lang="en-US">
                <a:solidFill>
                  <a:prstClr val="black"/>
                </a:solidFill>
                <a:latin typeface="Tahoma" panose="020B0604030504040204" pitchFamily="34" charset="0"/>
                <a:cs typeface="Arial" panose="020B0604020202020204" pitchFamily="34" charset="0"/>
              </a:rPr>
            </a:br>
            <a:r>
              <a:rPr lang="en-US">
                <a:solidFill>
                  <a:prstClr val="black"/>
                </a:solidFill>
                <a:latin typeface="Tahoma" panose="020B0604030504040204" pitchFamily="34" charset="0"/>
                <a:cs typeface="Arial" panose="020B0604020202020204" pitchFamily="34" charset="0"/>
              </a:rPr>
              <a:t>services</a:t>
            </a:r>
          </a:p>
        </p:txBody>
      </p:sp>
      <p:sp>
        <p:nvSpPr>
          <p:cNvPr id="1049033" name="Text Box 19"/>
          <p:cNvSpPr txBox="1">
            <a:spLocks noChangeArrowheads="1"/>
          </p:cNvSpPr>
          <p:nvPr/>
        </p:nvSpPr>
        <p:spPr bwMode="auto">
          <a:xfrm>
            <a:off x="2438400" y="3168650"/>
            <a:ext cx="1179234" cy="701039"/>
          </a:xfrm>
          <a:prstGeom prst="rect">
            <a:avLst/>
          </a:prstGeom>
          <a:noFill/>
          <a:ln w="9525">
            <a:noFill/>
            <a:miter lim="800000"/>
          </a:ln>
        </p:spPr>
        <p:txBody>
          <a:bodyPr wrap="none">
            <a:spAutoFit/>
          </a:bodyPr>
          <a:lstStyle/>
          <a:p>
            <a:pPr fontAlgn="base">
              <a:spcBef>
                <a:spcPct val="0"/>
              </a:spcBef>
              <a:spcAft>
                <a:spcPct val="0"/>
              </a:spcAft>
            </a:pPr>
            <a:r>
              <a:rPr lang="en-US">
                <a:solidFill>
                  <a:prstClr val="black"/>
                </a:solidFill>
                <a:latin typeface="Tahoma" panose="020B0604030504040204" pitchFamily="34" charset="0"/>
                <a:cs typeface="Arial" panose="020B0604020202020204" pitchFamily="34" charset="0"/>
              </a:rPr>
              <a:t>Providing</a:t>
            </a:r>
            <a:br>
              <a:rPr lang="en-US">
                <a:solidFill>
                  <a:prstClr val="black"/>
                </a:solidFill>
                <a:latin typeface="Tahoma" panose="020B0604030504040204" pitchFamily="34" charset="0"/>
                <a:cs typeface="Arial" panose="020B0604020202020204" pitchFamily="34" charset="0"/>
              </a:rPr>
            </a:br>
            <a:r>
              <a:rPr lang="en-US">
                <a:solidFill>
                  <a:prstClr val="black"/>
                </a:solidFill>
                <a:latin typeface="Tahoma" panose="020B0604030504040204" pitchFamily="34" charset="0"/>
                <a:cs typeface="Arial" panose="020B0604020202020204" pitchFamily="34" charset="0"/>
              </a:rPr>
              <a:t>services</a:t>
            </a:r>
          </a:p>
        </p:txBody>
      </p:sp>
      <p:sp>
        <p:nvSpPr>
          <p:cNvPr id="1049034" name="AutoShape 23"/>
          <p:cNvSpPr>
            <a:spLocks noChangeArrowheads="1"/>
          </p:cNvSpPr>
          <p:nvPr/>
        </p:nvSpPr>
        <p:spPr bwMode="auto">
          <a:xfrm>
            <a:off x="3124200" y="2470150"/>
            <a:ext cx="3048000" cy="228600"/>
          </a:xfrm>
          <a:custGeom>
            <a:avLst/>
            <a:gdLst>
              <a:gd name="T0" fmla="*/ 369632943 w 21600"/>
              <a:gd name="T1" fmla="*/ 0 h 21600"/>
              <a:gd name="T2" fmla="*/ 0 w 21600"/>
              <a:gd name="T3" fmla="*/ 1209675 h 21600"/>
              <a:gd name="T4" fmla="*/ 369632943 w 21600"/>
              <a:gd name="T5" fmla="*/ 2419350 h 21600"/>
              <a:gd name="T6" fmla="*/ 430106652 w 21600"/>
              <a:gd name="T7" fmla="*/ 1209675 h 21600"/>
              <a:gd name="T8" fmla="*/ 17694720 60000 65536"/>
              <a:gd name="T9" fmla="*/ 11796480 60000 65536"/>
              <a:gd name="T10" fmla="*/ 5898240 60000 65536"/>
              <a:gd name="T11" fmla="*/ 0 60000 65536"/>
              <a:gd name="T12" fmla="*/ 3375 w 21600"/>
              <a:gd name="T13" fmla="*/ 5400 h 21600"/>
              <a:gd name="T14" fmla="*/ 20082 w 21600"/>
              <a:gd name="T15" fmla="*/ 16200 h 21600"/>
            </a:gdLst>
            <a:ahLst/>
            <a:cxnLst>
              <a:cxn ang="T8">
                <a:pos x="T0" y="T1"/>
              </a:cxn>
              <a:cxn ang="T9">
                <a:pos x="T2" y="T3"/>
              </a:cxn>
              <a:cxn ang="T10">
                <a:pos x="T4" y="T5"/>
              </a:cxn>
              <a:cxn ang="T11">
                <a:pos x="T6" y="T7"/>
              </a:cxn>
            </a:cxnLst>
            <a:rect l="T12" t="T13" r="T14" b="T15"/>
            <a:pathLst>
              <a:path w="21600" h="21600">
                <a:moveTo>
                  <a:pt x="18563" y="0"/>
                </a:moveTo>
                <a:lnTo>
                  <a:pt x="18563" y="5400"/>
                </a:lnTo>
                <a:lnTo>
                  <a:pt x="3375" y="5400"/>
                </a:lnTo>
                <a:lnTo>
                  <a:pt x="3375" y="16200"/>
                </a:lnTo>
                <a:lnTo>
                  <a:pt x="18563" y="16200"/>
                </a:lnTo>
                <a:lnTo>
                  <a:pt x="18563" y="21600"/>
                </a:lnTo>
                <a:lnTo>
                  <a:pt x="21600" y="10800"/>
                </a:lnTo>
                <a:close/>
              </a:path>
              <a:path w="21600" h="21600">
                <a:moveTo>
                  <a:pt x="1350" y="5400"/>
                </a:moveTo>
                <a:lnTo>
                  <a:pt x="1350" y="16200"/>
                </a:lnTo>
                <a:lnTo>
                  <a:pt x="2700" y="16200"/>
                </a:lnTo>
                <a:lnTo>
                  <a:pt x="2700" y="5400"/>
                </a:lnTo>
                <a:close/>
              </a:path>
              <a:path w="21600" h="21600">
                <a:moveTo>
                  <a:pt x="0" y="5400"/>
                </a:moveTo>
                <a:lnTo>
                  <a:pt x="0" y="16200"/>
                </a:lnTo>
                <a:lnTo>
                  <a:pt x="675" y="16200"/>
                </a:lnTo>
                <a:lnTo>
                  <a:pt x="675" y="5400"/>
                </a:lnTo>
                <a:close/>
              </a:path>
            </a:pathLst>
          </a:custGeom>
          <a:solidFill>
            <a:schemeClr val="folHlink"/>
          </a:solidFill>
          <a:ln w="9525">
            <a:solidFill>
              <a:schemeClr val="tx1"/>
            </a:solidFill>
            <a:miter lim="800000"/>
          </a:ln>
        </p:spPr>
        <p:txBody>
          <a:bodyPr wrap="none" anchor="ctr"/>
          <a:lstStyle/>
          <a:p>
            <a:pPr fontAlgn="base">
              <a:spcBef>
                <a:spcPct val="0"/>
              </a:spcBef>
              <a:spcAft>
                <a:spcPct val="0"/>
              </a:spcAft>
            </a:pPr>
            <a:endParaRPr lang="en-US">
              <a:solidFill>
                <a:prstClr val="black"/>
              </a:solidFill>
              <a:latin typeface="Tahoma" panose="020B0604030504040204" pitchFamily="34" charset="0"/>
              <a:cs typeface="Arial" panose="020B0604020202020204" pitchFamily="34" charset="0"/>
            </a:endParaRPr>
          </a:p>
        </p:txBody>
      </p:sp>
      <p:sp>
        <p:nvSpPr>
          <p:cNvPr id="1049035" name="Text Box 27"/>
          <p:cNvSpPr txBox="1">
            <a:spLocks noChangeArrowheads="1"/>
          </p:cNvSpPr>
          <p:nvPr/>
        </p:nvSpPr>
        <p:spPr bwMode="auto">
          <a:xfrm>
            <a:off x="3627438" y="1905000"/>
            <a:ext cx="955249" cy="701039"/>
          </a:xfrm>
          <a:prstGeom prst="rect">
            <a:avLst/>
          </a:prstGeom>
          <a:noFill/>
          <a:ln w="9525">
            <a:noFill/>
            <a:miter lim="800000"/>
          </a:ln>
        </p:spPr>
        <p:txBody>
          <a:bodyPr wrap="none">
            <a:spAutoFit/>
          </a:bodyPr>
          <a:lstStyle/>
          <a:p>
            <a:pPr algn="ctr" fontAlgn="base">
              <a:spcBef>
                <a:spcPct val="0"/>
              </a:spcBef>
              <a:spcAft>
                <a:spcPct val="0"/>
              </a:spcAft>
            </a:pPr>
            <a:r>
              <a:rPr lang="en-US">
                <a:solidFill>
                  <a:prstClr val="black"/>
                </a:solidFill>
                <a:latin typeface="Tahoma" panose="020B0604030504040204" pitchFamily="34" charset="0"/>
                <a:cs typeface="Arial" panose="020B0604020202020204" pitchFamily="34" charset="0"/>
              </a:rPr>
              <a:t>Logical</a:t>
            </a:r>
            <a:br>
              <a:rPr lang="en-US">
                <a:solidFill>
                  <a:prstClr val="black"/>
                </a:solidFill>
                <a:latin typeface="Tahoma" panose="020B0604030504040204" pitchFamily="34" charset="0"/>
                <a:cs typeface="Arial" panose="020B0604020202020204" pitchFamily="34" charset="0"/>
              </a:rPr>
            </a:br>
            <a:r>
              <a:rPr lang="en-US">
                <a:solidFill>
                  <a:prstClr val="black"/>
                </a:solidFill>
                <a:latin typeface="Tahoma" panose="020B0604030504040204" pitchFamily="34" charset="0"/>
                <a:cs typeface="Arial" panose="020B0604020202020204" pitchFamily="34" charset="0"/>
              </a:rPr>
              <a:t>communication path</a:t>
            </a:r>
          </a:p>
        </p:txBody>
      </p:sp>
      <p:sp>
        <p:nvSpPr>
          <p:cNvPr id="1049036" name="Text Box 30"/>
          <p:cNvSpPr txBox="1">
            <a:spLocks noChangeArrowheads="1"/>
          </p:cNvSpPr>
          <p:nvPr/>
        </p:nvSpPr>
        <p:spPr bwMode="auto">
          <a:xfrm>
            <a:off x="1600200" y="1752600"/>
            <a:ext cx="1058287" cy="396239"/>
          </a:xfrm>
          <a:prstGeom prst="rect">
            <a:avLst/>
          </a:prstGeom>
          <a:noFill/>
          <a:ln w="9525">
            <a:noFill/>
            <a:miter lim="800000"/>
          </a:ln>
          <a:effectLst/>
        </p:spPr>
        <p:txBody>
          <a:bodyPr wrap="none">
            <a:spAutoFit/>
          </a:bodyPr>
          <a:lstStyle/>
          <a:p>
            <a:pPr fontAlgn="base">
              <a:spcBef>
                <a:spcPct val="0"/>
              </a:spcBef>
              <a:spcAft>
                <a:spcPct val="0"/>
              </a:spcAft>
            </a:pPr>
            <a:r>
              <a:rPr lang="en-US">
                <a:solidFill>
                  <a:srgbClr val="67AFBD"/>
                </a:solidFill>
                <a:effectLst>
                  <a:outerShdw blurRad="38100" dist="38100" dir="2700000" algn="tl">
                    <a:srgbClr val="000000"/>
                  </a:outerShdw>
                </a:effectLst>
                <a:latin typeface="Tahoma" panose="020B0604030504040204" pitchFamily="34" charset="0"/>
                <a:cs typeface="Arial" panose="020B0604020202020204" pitchFamily="34" charset="0"/>
              </a:rPr>
              <a:t>HOST </a:t>
            </a:r>
            <a:r>
              <a:rPr lang="en-US" i="1">
                <a:solidFill>
                  <a:srgbClr val="67AFBD"/>
                </a:solidFill>
                <a:effectLst>
                  <a:outerShdw blurRad="38100" dist="38100" dir="2700000" algn="tl">
                    <a:srgbClr val="000000"/>
                  </a:outerShdw>
                </a:effectLst>
                <a:latin typeface="Tahoma" panose="020B0604030504040204" pitchFamily="34" charset="0"/>
                <a:cs typeface="Arial" panose="020B0604020202020204" pitchFamily="34" charset="0"/>
              </a:rPr>
              <a:t>A</a:t>
            </a:r>
          </a:p>
        </p:txBody>
      </p:sp>
      <p:sp>
        <p:nvSpPr>
          <p:cNvPr id="1049037" name="Text Box 31"/>
          <p:cNvSpPr txBox="1">
            <a:spLocks noChangeArrowheads="1"/>
          </p:cNvSpPr>
          <p:nvPr/>
        </p:nvSpPr>
        <p:spPr bwMode="auto">
          <a:xfrm>
            <a:off x="6781800" y="1752600"/>
            <a:ext cx="1056699" cy="396239"/>
          </a:xfrm>
          <a:prstGeom prst="rect">
            <a:avLst/>
          </a:prstGeom>
          <a:noFill/>
          <a:ln w="9525">
            <a:noFill/>
            <a:miter lim="800000"/>
          </a:ln>
          <a:effectLst/>
        </p:spPr>
        <p:txBody>
          <a:bodyPr wrap="none">
            <a:spAutoFit/>
          </a:bodyPr>
          <a:lstStyle/>
          <a:p>
            <a:pPr fontAlgn="base">
              <a:spcBef>
                <a:spcPct val="0"/>
              </a:spcBef>
              <a:spcAft>
                <a:spcPct val="0"/>
              </a:spcAft>
            </a:pPr>
            <a:r>
              <a:rPr lang="en-US">
                <a:solidFill>
                  <a:srgbClr val="67AFBD"/>
                </a:solidFill>
                <a:effectLst>
                  <a:outerShdw blurRad="38100" dist="38100" dir="2700000" algn="tl">
                    <a:srgbClr val="000000"/>
                  </a:outerShdw>
                </a:effectLst>
                <a:latin typeface="Tahoma" panose="020B0604030504040204" pitchFamily="34" charset="0"/>
                <a:cs typeface="Arial" panose="020B0604020202020204" pitchFamily="34" charset="0"/>
              </a:rPr>
              <a:t>HOST </a:t>
            </a:r>
            <a:r>
              <a:rPr lang="en-US" i="1">
                <a:solidFill>
                  <a:srgbClr val="67AFBD"/>
                </a:solidFill>
                <a:effectLst>
                  <a:outerShdw blurRad="38100" dist="38100" dir="2700000" algn="tl">
                    <a:srgbClr val="000000"/>
                  </a:outerShdw>
                </a:effectLst>
                <a:latin typeface="Tahoma" panose="020B0604030504040204" pitchFamily="34" charset="0"/>
                <a:cs typeface="Arial" panose="020B0604020202020204" pitchFamily="34" charset="0"/>
              </a:rPr>
              <a:t>B</a:t>
            </a:r>
          </a:p>
        </p:txBody>
      </p:sp>
      <p:sp>
        <p:nvSpPr>
          <p:cNvPr id="1049038" name="Rectangle 32"/>
          <p:cNvSpPr>
            <a:spLocks noChangeArrowheads="1"/>
          </p:cNvSpPr>
          <p:nvPr/>
        </p:nvSpPr>
        <p:spPr bwMode="auto">
          <a:xfrm>
            <a:off x="1066800" y="5105400"/>
            <a:ext cx="1981200" cy="457200"/>
          </a:xfrm>
          <a:prstGeom prst="rect">
            <a:avLst/>
          </a:prstGeom>
          <a:solidFill>
            <a:schemeClr val="accent1"/>
          </a:solidFill>
          <a:ln w="9525">
            <a:miter lim="800000"/>
          </a:ln>
          <a:scene3d>
            <a:camera prst="legacyObliqueTopRight"/>
            <a:lightRig rig="legacyFlat3" dir="b"/>
          </a:scene3d>
          <a:sp3d extrusionH="430200" prstMaterial="legacyMatte">
            <a:bevelT w="13500" h="13500" prst="angle"/>
            <a:bevelB w="13500" h="13500" prst="angle"/>
            <a:extrusionClr>
              <a:schemeClr val="accent1"/>
            </a:extrusionClr>
          </a:sp3d>
        </p:spPr>
        <p:txBody>
          <a:bodyPr wrap="none" anchor="ctr">
            <a:flatTx/>
          </a:bodyPr>
          <a:lstStyle/>
          <a:p>
            <a:pPr algn="ctr" fontAlgn="base">
              <a:spcBef>
                <a:spcPct val="0"/>
              </a:spcBef>
              <a:spcAft>
                <a:spcPct val="0"/>
              </a:spcAft>
            </a:pPr>
            <a:r>
              <a:rPr lang="en-US" sz="2000">
                <a:solidFill>
                  <a:prstClr val="black"/>
                </a:solidFill>
                <a:latin typeface="Tahoma" panose="020B0604030504040204" pitchFamily="34" charset="0"/>
                <a:cs typeface="Arial" panose="020B0604020202020204" pitchFamily="34" charset="0"/>
              </a:rPr>
              <a:t>Layer </a:t>
            </a:r>
            <a:r>
              <a:rPr lang="en-US" sz="2000" i="1">
                <a:solidFill>
                  <a:prstClr val="black"/>
                </a:solidFill>
                <a:latin typeface="Times New Roman" panose="02020603050405020304" pitchFamily="18" charset="0"/>
                <a:cs typeface="Arial" panose="020B0604020202020204" pitchFamily="34" charset="0"/>
              </a:rPr>
              <a:t>N-2</a:t>
            </a:r>
          </a:p>
        </p:txBody>
      </p:sp>
      <p:sp>
        <p:nvSpPr>
          <p:cNvPr id="1049039" name="Rectangle 33"/>
          <p:cNvSpPr>
            <a:spLocks noChangeArrowheads="1"/>
          </p:cNvSpPr>
          <p:nvPr/>
        </p:nvSpPr>
        <p:spPr bwMode="auto">
          <a:xfrm>
            <a:off x="6221413" y="5105400"/>
            <a:ext cx="1981200" cy="457200"/>
          </a:xfrm>
          <a:prstGeom prst="rect">
            <a:avLst/>
          </a:prstGeom>
          <a:solidFill>
            <a:schemeClr val="accent1"/>
          </a:solidFill>
          <a:ln w="9525">
            <a:miter lim="800000"/>
          </a:ln>
          <a:scene3d>
            <a:camera prst="legacyObliqueTopRight"/>
            <a:lightRig rig="legacyFlat3" dir="b"/>
          </a:scene3d>
          <a:sp3d extrusionH="430200" prstMaterial="legacyMatte">
            <a:bevelT w="13500" h="13500" prst="angle"/>
            <a:bevelB w="13500" h="13500" prst="angle"/>
            <a:extrusionClr>
              <a:schemeClr val="accent1"/>
            </a:extrusionClr>
          </a:sp3d>
        </p:spPr>
        <p:txBody>
          <a:bodyPr wrap="none" anchor="ctr">
            <a:flatTx/>
          </a:bodyPr>
          <a:lstStyle/>
          <a:p>
            <a:pPr algn="ctr" fontAlgn="base">
              <a:spcBef>
                <a:spcPct val="0"/>
              </a:spcBef>
              <a:spcAft>
                <a:spcPct val="0"/>
              </a:spcAft>
            </a:pPr>
            <a:r>
              <a:rPr lang="en-US" sz="2000">
                <a:solidFill>
                  <a:prstClr val="black"/>
                </a:solidFill>
                <a:latin typeface="Tahoma" panose="020B0604030504040204" pitchFamily="34" charset="0"/>
                <a:cs typeface="Arial" panose="020B0604020202020204" pitchFamily="34" charset="0"/>
              </a:rPr>
              <a:t>Layer </a:t>
            </a:r>
            <a:r>
              <a:rPr lang="en-US" sz="2000" i="1">
                <a:solidFill>
                  <a:prstClr val="black"/>
                </a:solidFill>
                <a:latin typeface="Times New Roman" panose="02020603050405020304" pitchFamily="18" charset="0"/>
                <a:cs typeface="Arial" panose="020B0604020202020204" pitchFamily="34" charset="0"/>
              </a:rPr>
              <a:t>N-2</a:t>
            </a:r>
          </a:p>
        </p:txBody>
      </p:sp>
      <p:sp>
        <p:nvSpPr>
          <p:cNvPr id="1049040" name="AutoShape 36"/>
          <p:cNvSpPr>
            <a:spLocks noChangeArrowheads="1"/>
          </p:cNvSpPr>
          <p:nvPr/>
        </p:nvSpPr>
        <p:spPr bwMode="auto">
          <a:xfrm flipV="1">
            <a:off x="6705600" y="4572000"/>
            <a:ext cx="457200" cy="457200"/>
          </a:xfrm>
          <a:prstGeom prst="upArrow">
            <a:avLst>
              <a:gd name="adj1" fmla="val 50000"/>
              <a:gd name="adj2" fmla="val 25000"/>
            </a:avLst>
          </a:prstGeom>
          <a:solidFill>
            <a:schemeClr val="accent1"/>
          </a:solidFill>
          <a:ln w="9525">
            <a:solidFill>
              <a:schemeClr val="tx1"/>
            </a:solidFill>
            <a:miter lim="800000"/>
          </a:ln>
        </p:spPr>
        <p:txBody>
          <a:bodyPr wrap="none" anchor="ctr"/>
          <a:lstStyle/>
          <a:p>
            <a:pPr fontAlgn="base">
              <a:spcBef>
                <a:spcPct val="0"/>
              </a:spcBef>
              <a:spcAft>
                <a:spcPct val="0"/>
              </a:spcAft>
            </a:pPr>
            <a:endParaRPr lang="en-US">
              <a:solidFill>
                <a:prstClr val="black"/>
              </a:solidFill>
              <a:latin typeface="Tahoma" panose="020B0604030504040204" pitchFamily="34" charset="0"/>
              <a:cs typeface="Arial" panose="020B0604020202020204" pitchFamily="34" charset="0"/>
            </a:endParaRPr>
          </a:p>
        </p:txBody>
      </p:sp>
      <p:sp>
        <p:nvSpPr>
          <p:cNvPr id="1049041" name="AutoShape 37"/>
          <p:cNvSpPr>
            <a:spLocks noChangeArrowheads="1"/>
          </p:cNvSpPr>
          <p:nvPr/>
        </p:nvSpPr>
        <p:spPr bwMode="auto">
          <a:xfrm>
            <a:off x="7239000" y="4572000"/>
            <a:ext cx="457200" cy="457200"/>
          </a:xfrm>
          <a:prstGeom prst="upArrow">
            <a:avLst>
              <a:gd name="adj1" fmla="val 50000"/>
              <a:gd name="adj2" fmla="val 25000"/>
            </a:avLst>
          </a:prstGeom>
          <a:solidFill>
            <a:schemeClr val="accent1"/>
          </a:solidFill>
          <a:ln w="9525">
            <a:solidFill>
              <a:schemeClr val="tx1"/>
            </a:solidFill>
            <a:miter lim="800000"/>
          </a:ln>
        </p:spPr>
        <p:txBody>
          <a:bodyPr wrap="none" anchor="ctr"/>
          <a:lstStyle/>
          <a:p>
            <a:pPr fontAlgn="base">
              <a:spcBef>
                <a:spcPct val="0"/>
              </a:spcBef>
              <a:spcAft>
                <a:spcPct val="0"/>
              </a:spcAft>
            </a:pPr>
            <a:endParaRPr lang="en-US">
              <a:solidFill>
                <a:prstClr val="black"/>
              </a:solidFill>
              <a:latin typeface="Tahoma" panose="020B0604030504040204" pitchFamily="34" charset="0"/>
              <a:cs typeface="Arial" panose="020B0604020202020204" pitchFamily="34" charset="0"/>
            </a:endParaRPr>
          </a:p>
        </p:txBody>
      </p:sp>
      <p:sp>
        <p:nvSpPr>
          <p:cNvPr id="1049042" name="Rectangle 9"/>
          <p:cNvSpPr>
            <a:spLocks noChangeArrowheads="1"/>
          </p:cNvSpPr>
          <p:nvPr/>
        </p:nvSpPr>
        <p:spPr bwMode="auto">
          <a:xfrm>
            <a:off x="1017588" y="4146550"/>
            <a:ext cx="1981200" cy="425450"/>
          </a:xfrm>
          <a:prstGeom prst="rect">
            <a:avLst/>
          </a:prstGeom>
          <a:solidFill>
            <a:schemeClr val="accent1"/>
          </a:solidFill>
          <a:ln w="9525">
            <a:miter lim="800000"/>
          </a:ln>
          <a:scene3d>
            <a:camera prst="legacyObliqueTopRight"/>
            <a:lightRig rig="legacyFlat3" dir="b"/>
          </a:scene3d>
          <a:sp3d extrusionH="430200" prstMaterial="legacyMatte">
            <a:bevelT w="13500" h="13500" prst="angle"/>
            <a:bevelB w="13500" h="13500" prst="angle"/>
            <a:extrusionClr>
              <a:schemeClr val="accent1"/>
            </a:extrusionClr>
          </a:sp3d>
        </p:spPr>
        <p:txBody>
          <a:bodyPr wrap="none" anchor="ctr">
            <a:flatTx/>
          </a:bodyPr>
          <a:lstStyle/>
          <a:p>
            <a:pPr algn="ctr" fontAlgn="base">
              <a:spcBef>
                <a:spcPct val="0"/>
              </a:spcBef>
              <a:spcAft>
                <a:spcPct val="0"/>
              </a:spcAft>
            </a:pPr>
            <a:r>
              <a:rPr lang="en-US" sz="2000">
                <a:solidFill>
                  <a:prstClr val="black"/>
                </a:solidFill>
                <a:latin typeface="Tahoma" panose="020B0604030504040204" pitchFamily="34" charset="0"/>
                <a:cs typeface="Arial" panose="020B0604020202020204" pitchFamily="34" charset="0"/>
              </a:rPr>
              <a:t>Layer </a:t>
            </a:r>
            <a:r>
              <a:rPr lang="en-US" sz="2000" i="1">
                <a:solidFill>
                  <a:prstClr val="black"/>
                </a:solidFill>
                <a:latin typeface="Times New Roman" panose="02020603050405020304" pitchFamily="18" charset="0"/>
                <a:cs typeface="Arial" panose="020B0604020202020204" pitchFamily="34" charset="0"/>
              </a:rPr>
              <a:t>N-1</a:t>
            </a:r>
          </a:p>
        </p:txBody>
      </p:sp>
      <p:sp>
        <p:nvSpPr>
          <p:cNvPr id="1049043" name="Rectangle 15"/>
          <p:cNvSpPr>
            <a:spLocks noChangeArrowheads="1"/>
          </p:cNvSpPr>
          <p:nvPr/>
        </p:nvSpPr>
        <p:spPr bwMode="auto">
          <a:xfrm>
            <a:off x="6172200" y="4146550"/>
            <a:ext cx="1981200" cy="425450"/>
          </a:xfrm>
          <a:prstGeom prst="rect">
            <a:avLst/>
          </a:prstGeom>
          <a:solidFill>
            <a:schemeClr val="accent1"/>
          </a:solidFill>
          <a:ln w="9525">
            <a:miter lim="800000"/>
          </a:ln>
          <a:scene3d>
            <a:camera prst="legacyObliqueTopRight"/>
            <a:lightRig rig="legacyFlat3" dir="b"/>
          </a:scene3d>
          <a:sp3d extrusionH="430200" prstMaterial="legacyMatte">
            <a:bevelT w="13500" h="13500" prst="angle"/>
            <a:bevelB w="13500" h="13500" prst="angle"/>
            <a:extrusionClr>
              <a:schemeClr val="accent1"/>
            </a:extrusionClr>
          </a:sp3d>
        </p:spPr>
        <p:txBody>
          <a:bodyPr wrap="none" anchor="ctr">
            <a:flatTx/>
          </a:bodyPr>
          <a:lstStyle/>
          <a:p>
            <a:pPr algn="ctr" fontAlgn="base">
              <a:spcBef>
                <a:spcPct val="0"/>
              </a:spcBef>
              <a:spcAft>
                <a:spcPct val="0"/>
              </a:spcAft>
            </a:pPr>
            <a:r>
              <a:rPr lang="en-US" sz="2000">
                <a:solidFill>
                  <a:prstClr val="black"/>
                </a:solidFill>
                <a:latin typeface="Tahoma" panose="020B0604030504040204" pitchFamily="34" charset="0"/>
                <a:cs typeface="Arial" panose="020B0604020202020204" pitchFamily="34" charset="0"/>
              </a:rPr>
              <a:t>Layer </a:t>
            </a:r>
            <a:r>
              <a:rPr lang="en-US" sz="2000" i="1">
                <a:solidFill>
                  <a:prstClr val="black"/>
                </a:solidFill>
                <a:latin typeface="Times New Roman" panose="02020603050405020304" pitchFamily="18" charset="0"/>
                <a:cs typeface="Arial" panose="020B0604020202020204" pitchFamily="34" charset="0"/>
              </a:rPr>
              <a:t>N-1</a:t>
            </a:r>
          </a:p>
        </p:txBody>
      </p:sp>
      <p:sp>
        <p:nvSpPr>
          <p:cNvPr id="1049044" name="AutoShape 20"/>
          <p:cNvSpPr>
            <a:spLocks noChangeArrowheads="1"/>
          </p:cNvSpPr>
          <p:nvPr/>
        </p:nvSpPr>
        <p:spPr bwMode="auto">
          <a:xfrm flipV="1">
            <a:off x="1627188" y="2927350"/>
            <a:ext cx="457200" cy="1111250"/>
          </a:xfrm>
          <a:prstGeom prst="upArrow">
            <a:avLst>
              <a:gd name="adj1" fmla="val 50000"/>
              <a:gd name="adj2" fmla="val 60764"/>
            </a:avLst>
          </a:prstGeom>
          <a:solidFill>
            <a:schemeClr val="accent1"/>
          </a:solidFill>
          <a:ln w="9525">
            <a:solidFill>
              <a:schemeClr val="tx1"/>
            </a:solidFill>
            <a:miter lim="800000"/>
          </a:ln>
        </p:spPr>
        <p:txBody>
          <a:bodyPr wrap="none" anchor="ctr"/>
          <a:lstStyle/>
          <a:p>
            <a:pPr fontAlgn="base">
              <a:spcBef>
                <a:spcPct val="0"/>
              </a:spcBef>
              <a:spcAft>
                <a:spcPct val="0"/>
              </a:spcAft>
            </a:pPr>
            <a:endParaRPr lang="en-US">
              <a:solidFill>
                <a:prstClr val="black"/>
              </a:solidFill>
              <a:latin typeface="Tahoma" panose="020B0604030504040204" pitchFamily="34" charset="0"/>
              <a:cs typeface="Arial" panose="020B0604020202020204" pitchFamily="34" charset="0"/>
            </a:endParaRPr>
          </a:p>
        </p:txBody>
      </p:sp>
      <p:sp>
        <p:nvSpPr>
          <p:cNvPr id="1049045" name="AutoShape 21"/>
          <p:cNvSpPr>
            <a:spLocks noChangeArrowheads="1"/>
          </p:cNvSpPr>
          <p:nvPr/>
        </p:nvSpPr>
        <p:spPr bwMode="auto">
          <a:xfrm>
            <a:off x="2160588" y="2927350"/>
            <a:ext cx="457200" cy="1111250"/>
          </a:xfrm>
          <a:prstGeom prst="upArrow">
            <a:avLst>
              <a:gd name="adj1" fmla="val 50000"/>
              <a:gd name="adj2" fmla="val 60764"/>
            </a:avLst>
          </a:prstGeom>
          <a:solidFill>
            <a:schemeClr val="accent1"/>
          </a:solidFill>
          <a:ln w="9525">
            <a:solidFill>
              <a:schemeClr val="tx1"/>
            </a:solidFill>
            <a:miter lim="800000"/>
          </a:ln>
        </p:spPr>
        <p:txBody>
          <a:bodyPr wrap="none" anchor="ctr"/>
          <a:lstStyle/>
          <a:p>
            <a:pPr fontAlgn="base">
              <a:spcBef>
                <a:spcPct val="0"/>
              </a:spcBef>
              <a:spcAft>
                <a:spcPct val="0"/>
              </a:spcAft>
            </a:pPr>
            <a:endParaRPr lang="en-US">
              <a:solidFill>
                <a:prstClr val="black"/>
              </a:solidFill>
              <a:latin typeface="Tahoma" panose="020B0604030504040204" pitchFamily="34" charset="0"/>
              <a:cs typeface="Arial" panose="020B0604020202020204" pitchFamily="34" charset="0"/>
            </a:endParaRPr>
          </a:p>
        </p:txBody>
      </p:sp>
      <p:sp>
        <p:nvSpPr>
          <p:cNvPr id="1049046" name="AutoShape 28"/>
          <p:cNvSpPr>
            <a:spLocks noChangeArrowheads="1"/>
          </p:cNvSpPr>
          <p:nvPr/>
        </p:nvSpPr>
        <p:spPr bwMode="auto">
          <a:xfrm flipV="1">
            <a:off x="6705600" y="2927350"/>
            <a:ext cx="457200" cy="1111250"/>
          </a:xfrm>
          <a:prstGeom prst="upArrow">
            <a:avLst>
              <a:gd name="adj1" fmla="val 50000"/>
              <a:gd name="adj2" fmla="val 60764"/>
            </a:avLst>
          </a:prstGeom>
          <a:solidFill>
            <a:schemeClr val="accent1"/>
          </a:solidFill>
          <a:ln w="9525">
            <a:solidFill>
              <a:schemeClr val="tx1"/>
            </a:solidFill>
            <a:miter lim="800000"/>
          </a:ln>
        </p:spPr>
        <p:txBody>
          <a:bodyPr wrap="none" anchor="ctr"/>
          <a:lstStyle/>
          <a:p>
            <a:pPr fontAlgn="base">
              <a:spcBef>
                <a:spcPct val="0"/>
              </a:spcBef>
              <a:spcAft>
                <a:spcPct val="0"/>
              </a:spcAft>
            </a:pPr>
            <a:endParaRPr lang="en-US">
              <a:solidFill>
                <a:prstClr val="black"/>
              </a:solidFill>
              <a:latin typeface="Tahoma" panose="020B0604030504040204" pitchFamily="34" charset="0"/>
              <a:cs typeface="Arial" panose="020B0604020202020204" pitchFamily="34" charset="0"/>
            </a:endParaRPr>
          </a:p>
        </p:txBody>
      </p:sp>
      <p:sp>
        <p:nvSpPr>
          <p:cNvPr id="1049047" name="AutoShape 29"/>
          <p:cNvSpPr>
            <a:spLocks noChangeArrowheads="1"/>
          </p:cNvSpPr>
          <p:nvPr/>
        </p:nvSpPr>
        <p:spPr bwMode="auto">
          <a:xfrm>
            <a:off x="7239000" y="2927350"/>
            <a:ext cx="457200" cy="1111250"/>
          </a:xfrm>
          <a:prstGeom prst="upArrow">
            <a:avLst>
              <a:gd name="adj1" fmla="val 50000"/>
              <a:gd name="adj2" fmla="val 60764"/>
            </a:avLst>
          </a:prstGeom>
          <a:solidFill>
            <a:schemeClr val="accent1"/>
          </a:solidFill>
          <a:ln w="9525">
            <a:solidFill>
              <a:schemeClr val="tx1"/>
            </a:solidFill>
            <a:miter lim="800000"/>
          </a:ln>
        </p:spPr>
        <p:txBody>
          <a:bodyPr wrap="none" anchor="ctr"/>
          <a:lstStyle/>
          <a:p>
            <a:pPr fontAlgn="base">
              <a:spcBef>
                <a:spcPct val="0"/>
              </a:spcBef>
              <a:spcAft>
                <a:spcPct val="0"/>
              </a:spcAft>
            </a:pPr>
            <a:endParaRPr lang="en-US">
              <a:solidFill>
                <a:prstClr val="black"/>
              </a:solidFill>
              <a:latin typeface="Tahoma" panose="020B0604030504040204" pitchFamily="34" charset="0"/>
              <a:cs typeface="Arial" panose="020B0604020202020204" pitchFamily="34" charset="0"/>
            </a:endParaRPr>
          </a:p>
        </p:txBody>
      </p:sp>
      <p:sp>
        <p:nvSpPr>
          <p:cNvPr id="1049048" name="AutoShape 39"/>
          <p:cNvSpPr>
            <a:spLocks noChangeArrowheads="1"/>
          </p:cNvSpPr>
          <p:nvPr/>
        </p:nvSpPr>
        <p:spPr bwMode="auto">
          <a:xfrm flipV="1">
            <a:off x="1600200" y="4572000"/>
            <a:ext cx="457200" cy="457200"/>
          </a:xfrm>
          <a:prstGeom prst="upArrow">
            <a:avLst>
              <a:gd name="adj1" fmla="val 50000"/>
              <a:gd name="adj2" fmla="val 25000"/>
            </a:avLst>
          </a:prstGeom>
          <a:solidFill>
            <a:schemeClr val="accent1"/>
          </a:solidFill>
          <a:ln w="9525">
            <a:solidFill>
              <a:schemeClr val="tx1"/>
            </a:solidFill>
            <a:miter lim="800000"/>
          </a:ln>
        </p:spPr>
        <p:txBody>
          <a:bodyPr wrap="none" anchor="ctr"/>
          <a:lstStyle/>
          <a:p>
            <a:pPr fontAlgn="base">
              <a:spcBef>
                <a:spcPct val="0"/>
              </a:spcBef>
              <a:spcAft>
                <a:spcPct val="0"/>
              </a:spcAft>
            </a:pPr>
            <a:endParaRPr lang="en-US">
              <a:solidFill>
                <a:prstClr val="black"/>
              </a:solidFill>
              <a:latin typeface="Tahoma" panose="020B0604030504040204" pitchFamily="34" charset="0"/>
              <a:cs typeface="Arial" panose="020B0604020202020204" pitchFamily="34" charset="0"/>
            </a:endParaRPr>
          </a:p>
        </p:txBody>
      </p:sp>
      <p:sp>
        <p:nvSpPr>
          <p:cNvPr id="1049049" name="AutoShape 40"/>
          <p:cNvSpPr>
            <a:spLocks noChangeArrowheads="1"/>
          </p:cNvSpPr>
          <p:nvPr/>
        </p:nvSpPr>
        <p:spPr bwMode="auto">
          <a:xfrm>
            <a:off x="2133600" y="4572000"/>
            <a:ext cx="457200" cy="457200"/>
          </a:xfrm>
          <a:prstGeom prst="upArrow">
            <a:avLst>
              <a:gd name="adj1" fmla="val 50000"/>
              <a:gd name="adj2" fmla="val 25000"/>
            </a:avLst>
          </a:prstGeom>
          <a:solidFill>
            <a:schemeClr val="accent1"/>
          </a:solidFill>
          <a:ln w="9525">
            <a:solidFill>
              <a:schemeClr val="tx1"/>
            </a:solidFill>
            <a:miter lim="800000"/>
          </a:ln>
        </p:spPr>
        <p:txBody>
          <a:bodyPr wrap="none" anchor="ctr"/>
          <a:lstStyle/>
          <a:p>
            <a:pPr fontAlgn="base">
              <a:spcBef>
                <a:spcPct val="0"/>
              </a:spcBef>
              <a:spcAft>
                <a:spcPct val="0"/>
              </a:spcAft>
            </a:pPr>
            <a:endParaRPr lang="en-US">
              <a:solidFill>
                <a:prstClr val="black"/>
              </a:solidFill>
              <a:latin typeface="Tahoma" panose="020B0604030504040204" pitchFamily="34" charset="0"/>
              <a:cs typeface="Arial" panose="020B0604020202020204" pitchFamily="34" charset="0"/>
            </a:endParaRPr>
          </a:p>
        </p:txBody>
      </p:sp>
      <p:sp>
        <p:nvSpPr>
          <p:cNvPr id="1049050" name="AutoShape 42"/>
          <p:cNvSpPr>
            <a:spLocks noChangeArrowheads="1"/>
          </p:cNvSpPr>
          <p:nvPr/>
        </p:nvSpPr>
        <p:spPr bwMode="auto">
          <a:xfrm>
            <a:off x="609600" y="3962400"/>
            <a:ext cx="8153400" cy="2133600"/>
          </a:xfrm>
          <a:prstGeom prst="roundRect">
            <a:avLst>
              <a:gd name="adj" fmla="val 16667"/>
            </a:avLst>
          </a:prstGeom>
          <a:solidFill>
            <a:schemeClr val="tx1">
              <a:alpha val="25098"/>
            </a:schemeClr>
          </a:solidFill>
          <a:ln w="38100">
            <a:solidFill>
              <a:schemeClr val="tx1"/>
            </a:solidFill>
            <a:prstDash val="sysDot"/>
            <a:round/>
          </a:ln>
        </p:spPr>
        <p:txBody>
          <a:bodyPr wrap="none" anchor="ctr"/>
          <a:lstStyle/>
          <a:p>
            <a:pPr fontAlgn="base">
              <a:spcBef>
                <a:spcPct val="0"/>
              </a:spcBef>
              <a:spcAft>
                <a:spcPct val="0"/>
              </a:spcAft>
            </a:pPr>
            <a:endParaRPr lang="en-US">
              <a:solidFill>
                <a:prstClr val="black"/>
              </a:solidFill>
              <a:latin typeface="Tahoma" panose="020B0604030504040204" pitchFamily="34" charset="0"/>
              <a:cs typeface="Arial" panose="020B0604020202020204" pitchFamily="34" charset="0"/>
            </a:endParaRPr>
          </a:p>
        </p:txBody>
      </p:sp>
      <p:sp>
        <p:nvSpPr>
          <p:cNvPr id="1049051" name="Text Box 43"/>
          <p:cNvSpPr txBox="1">
            <a:spLocks noChangeArrowheads="1"/>
          </p:cNvSpPr>
          <p:nvPr/>
        </p:nvSpPr>
        <p:spPr bwMode="auto">
          <a:xfrm>
            <a:off x="3062288" y="6096000"/>
            <a:ext cx="3403917" cy="396240"/>
          </a:xfrm>
          <a:prstGeom prst="rect">
            <a:avLst/>
          </a:prstGeom>
          <a:noFill/>
          <a:ln w="9525">
            <a:noFill/>
            <a:miter lim="800000"/>
          </a:ln>
        </p:spPr>
        <p:txBody>
          <a:bodyPr wrap="none">
            <a:spAutoFit/>
          </a:bodyPr>
          <a:lstStyle/>
          <a:p>
            <a:pPr fontAlgn="base">
              <a:spcBef>
                <a:spcPct val="0"/>
              </a:spcBef>
              <a:spcAft>
                <a:spcPct val="0"/>
              </a:spcAft>
            </a:pPr>
            <a:r>
              <a:rPr lang="en-US">
                <a:solidFill>
                  <a:prstClr val="black"/>
                </a:solidFill>
                <a:latin typeface="Tahoma" panose="020B0604030504040204" pitchFamily="34" charset="0"/>
                <a:cs typeface="Arial" panose="020B0604020202020204" pitchFamily="34" charset="0"/>
              </a:rPr>
              <a:t>Virtual Communication System</a:t>
            </a:r>
          </a:p>
        </p:txBody>
      </p:sp>
      <p:sp>
        <p:nvSpPr>
          <p:cNvPr id="1049052" name="Text Box 44"/>
          <p:cNvSpPr txBox="1">
            <a:spLocks noChangeArrowheads="1"/>
          </p:cNvSpPr>
          <p:nvPr/>
        </p:nvSpPr>
        <p:spPr bwMode="auto">
          <a:xfrm>
            <a:off x="3775075" y="2668588"/>
            <a:ext cx="1966188" cy="396240"/>
          </a:xfrm>
          <a:prstGeom prst="rect">
            <a:avLst/>
          </a:prstGeom>
          <a:noFill/>
          <a:ln w="9525">
            <a:noFill/>
            <a:miter lim="800000"/>
          </a:ln>
        </p:spPr>
        <p:txBody>
          <a:bodyPr wrap="none">
            <a:spAutoFit/>
          </a:bodyPr>
          <a:lstStyle/>
          <a:p>
            <a:pPr algn="ctr" fontAlgn="base">
              <a:spcBef>
                <a:spcPct val="0"/>
              </a:spcBef>
              <a:spcAft>
                <a:spcPct val="0"/>
              </a:spcAft>
            </a:pPr>
            <a:r>
              <a:rPr lang="en-US">
                <a:solidFill>
                  <a:prstClr val="black"/>
                </a:solidFill>
                <a:latin typeface="Tahoma" panose="020B0604030504040204" pitchFamily="34" charset="0"/>
                <a:cs typeface="Arial" panose="020B0604020202020204" pitchFamily="34" charset="0"/>
              </a:rPr>
              <a:t>Layer </a:t>
            </a:r>
            <a:r>
              <a:rPr lang="en-US" i="1">
                <a:solidFill>
                  <a:prstClr val="black"/>
                </a:solidFill>
                <a:latin typeface="Times New Roman" panose="02020603050405020304" pitchFamily="18" charset="0"/>
                <a:cs typeface="Arial" panose="020B0604020202020204" pitchFamily="34" charset="0"/>
              </a:rPr>
              <a:t>N</a:t>
            </a:r>
            <a:r>
              <a:rPr lang="en-US">
                <a:solidFill>
                  <a:prstClr val="black"/>
                </a:solidFill>
                <a:latin typeface="Tahoma" panose="020B0604030504040204" pitchFamily="34" charset="0"/>
                <a:cs typeface="Arial" panose="020B0604020202020204" pitchFamily="34" charset="0"/>
              </a:rPr>
              <a:t> protocol</a:t>
            </a:r>
          </a:p>
        </p:txBody>
      </p:sp>
    </p:spTree>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049035"/>
                                        </p:tgtEl>
                                        <p:attrNameLst>
                                          <p:attrName>style.visibility</p:attrName>
                                        </p:attrNameLst>
                                      </p:cBhvr>
                                      <p:to>
                                        <p:strVal val="visible"/>
                                      </p:to>
                                    </p:set>
                                    <p:animEffect transition="in" filter="wipe(left)">
                                      <p:cBhvr>
                                        <p:cTn id="7" dur="500"/>
                                        <p:tgtEl>
                                          <p:spTgt spid="1049035"/>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1049034"/>
                                        </p:tgtEl>
                                        <p:attrNameLst>
                                          <p:attrName>style.visibility</p:attrName>
                                        </p:attrNameLst>
                                      </p:cBhvr>
                                      <p:to>
                                        <p:strVal val="visible"/>
                                      </p:to>
                                    </p:set>
                                    <p:animEffect transition="in" filter="wipe(left)">
                                      <p:cBhvr>
                                        <p:cTn id="10" dur="500"/>
                                        <p:tgtEl>
                                          <p:spTgt spid="1049034"/>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1049052"/>
                                        </p:tgtEl>
                                        <p:attrNameLst>
                                          <p:attrName>style.visibility</p:attrName>
                                        </p:attrNameLst>
                                      </p:cBhvr>
                                      <p:to>
                                        <p:strVal val="visible"/>
                                      </p:to>
                                    </p:set>
                                    <p:animEffect transition="in" filter="wipe(left)">
                                      <p:cBhvr>
                                        <p:cTn id="13" dur="500"/>
                                        <p:tgtEl>
                                          <p:spTgt spid="1049052"/>
                                        </p:tgtEl>
                                      </p:cBhvr>
                                    </p:animEffect>
                                  </p:childTnLst>
                                </p:cTn>
                              </p:par>
                            </p:childTnLst>
                          </p:cTn>
                        </p:par>
                      </p:childTnLst>
                    </p:cTn>
                  </p:par>
                  <p:par>
                    <p:cTn id="14" fill="hold">
                      <p:stCondLst>
                        <p:cond delay="indefinite"/>
                      </p:stCondLst>
                      <p:childTnLst>
                        <p:par>
                          <p:cTn id="15" fill="hold">
                            <p:stCondLst>
                              <p:cond delay="0"/>
                            </p:stCondLst>
                            <p:childTnLst>
                              <p:par>
                                <p:cTn id="16" presetID="9" presetClass="entr" presetSubtype="0" fill="hold" grpId="0" nodeType="clickEffect">
                                  <p:stCondLst>
                                    <p:cond delay="0"/>
                                  </p:stCondLst>
                                  <p:childTnLst>
                                    <p:set>
                                      <p:cBhvr>
                                        <p:cTn id="17" dur="1" fill="hold">
                                          <p:stCondLst>
                                            <p:cond delay="0"/>
                                          </p:stCondLst>
                                        </p:cTn>
                                        <p:tgtEl>
                                          <p:spTgt spid="1049042"/>
                                        </p:tgtEl>
                                        <p:attrNameLst>
                                          <p:attrName>style.visibility</p:attrName>
                                        </p:attrNameLst>
                                      </p:cBhvr>
                                      <p:to>
                                        <p:strVal val="visible"/>
                                      </p:to>
                                    </p:set>
                                    <p:animEffect transition="in" filter="dissolve">
                                      <p:cBhvr>
                                        <p:cTn id="18" dur="500"/>
                                        <p:tgtEl>
                                          <p:spTgt spid="1049042"/>
                                        </p:tgtEl>
                                      </p:cBhvr>
                                    </p:animEffect>
                                  </p:childTnLst>
                                </p:cTn>
                              </p:par>
                              <p:par>
                                <p:cTn id="19" presetID="9" presetClass="entr" presetSubtype="0" fill="hold" grpId="0" nodeType="withEffect">
                                  <p:stCondLst>
                                    <p:cond delay="0"/>
                                  </p:stCondLst>
                                  <p:childTnLst>
                                    <p:set>
                                      <p:cBhvr>
                                        <p:cTn id="20" dur="1" fill="hold">
                                          <p:stCondLst>
                                            <p:cond delay="0"/>
                                          </p:stCondLst>
                                        </p:cTn>
                                        <p:tgtEl>
                                          <p:spTgt spid="1049043"/>
                                        </p:tgtEl>
                                        <p:attrNameLst>
                                          <p:attrName>style.visibility</p:attrName>
                                        </p:attrNameLst>
                                      </p:cBhvr>
                                      <p:to>
                                        <p:strVal val="visible"/>
                                      </p:to>
                                    </p:set>
                                    <p:animEffect transition="in" filter="dissolve">
                                      <p:cBhvr>
                                        <p:cTn id="21" dur="500"/>
                                        <p:tgtEl>
                                          <p:spTgt spid="1049043"/>
                                        </p:tgtEl>
                                      </p:cBhvr>
                                    </p:animEffect>
                                  </p:childTnLst>
                                </p:cTn>
                              </p:par>
                            </p:childTnLst>
                          </p:cTn>
                        </p:par>
                        <p:par>
                          <p:cTn id="22" fill="hold">
                            <p:stCondLst>
                              <p:cond delay="500"/>
                            </p:stCondLst>
                            <p:childTnLst>
                              <p:par>
                                <p:cTn id="23" presetID="1" presetClass="entr" presetSubtype="0" fill="hold" grpId="0" nodeType="afterEffect">
                                  <p:stCondLst>
                                    <p:cond delay="0"/>
                                  </p:stCondLst>
                                  <p:childTnLst>
                                    <p:set>
                                      <p:cBhvr>
                                        <p:cTn id="24" dur="1" fill="hold">
                                          <p:stCondLst>
                                            <p:cond delay="0"/>
                                          </p:stCondLst>
                                        </p:cTn>
                                        <p:tgtEl>
                                          <p:spTgt spid="1049044"/>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049045"/>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049032"/>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049033"/>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049046"/>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049047"/>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049038"/>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049039"/>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1049040"/>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1049041"/>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1049048"/>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1049049"/>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9" presetClass="entr" presetSubtype="0" fill="hold" grpId="0" nodeType="clickEffect">
                                  <p:stCondLst>
                                    <p:cond delay="0"/>
                                  </p:stCondLst>
                                  <p:childTnLst>
                                    <p:set>
                                      <p:cBhvr>
                                        <p:cTn id="52" dur="1" fill="hold">
                                          <p:stCondLst>
                                            <p:cond delay="0"/>
                                          </p:stCondLst>
                                        </p:cTn>
                                        <p:tgtEl>
                                          <p:spTgt spid="1049050"/>
                                        </p:tgtEl>
                                        <p:attrNameLst>
                                          <p:attrName>style.visibility</p:attrName>
                                        </p:attrNameLst>
                                      </p:cBhvr>
                                      <p:to>
                                        <p:strVal val="visible"/>
                                      </p:to>
                                    </p:set>
                                    <p:animEffect transition="in" filter="dissolve">
                                      <p:cBhvr>
                                        <p:cTn id="53" dur="500"/>
                                        <p:tgtEl>
                                          <p:spTgt spid="1049050"/>
                                        </p:tgtEl>
                                      </p:cBhvr>
                                    </p:animEffect>
                                  </p:childTnLst>
                                </p:cTn>
                              </p:par>
                              <p:par>
                                <p:cTn id="54" presetID="9" presetClass="entr" presetSubtype="0" fill="hold" grpId="0" nodeType="withEffect">
                                  <p:stCondLst>
                                    <p:cond delay="0"/>
                                  </p:stCondLst>
                                  <p:childTnLst>
                                    <p:set>
                                      <p:cBhvr>
                                        <p:cTn id="55" dur="1" fill="hold">
                                          <p:stCondLst>
                                            <p:cond delay="0"/>
                                          </p:stCondLst>
                                        </p:cTn>
                                        <p:tgtEl>
                                          <p:spTgt spid="1049051"/>
                                        </p:tgtEl>
                                        <p:attrNameLst>
                                          <p:attrName>style.visibility</p:attrName>
                                        </p:attrNameLst>
                                      </p:cBhvr>
                                      <p:to>
                                        <p:strVal val="visible"/>
                                      </p:to>
                                    </p:set>
                                    <p:animEffect transition="in" filter="dissolve">
                                      <p:cBhvr>
                                        <p:cTn id="56" dur="500"/>
                                        <p:tgtEl>
                                          <p:spTgt spid="10490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9032" grpId="0"/>
      <p:bldP spid="1049033" grpId="0"/>
      <p:bldP spid="1049034" grpId="0" animBg="1"/>
      <p:bldP spid="1049035" grpId="0"/>
      <p:bldP spid="1049038" grpId="0" animBg="1"/>
      <p:bldP spid="1049039" grpId="0" animBg="1"/>
      <p:bldP spid="1049040" grpId="0" animBg="1"/>
      <p:bldP spid="1049041" grpId="0" animBg="1"/>
      <p:bldP spid="1049042" grpId="0" animBg="1"/>
      <p:bldP spid="1049043" grpId="0" animBg="1"/>
      <p:bldP spid="1049044" grpId="0" animBg="1"/>
      <p:bldP spid="1049045" grpId="0" animBg="1"/>
      <p:bldP spid="1049046" grpId="0" animBg="1"/>
      <p:bldP spid="1049047" grpId="0" animBg="1"/>
      <p:bldP spid="1049048" grpId="0" animBg="1"/>
      <p:bldP spid="1049049" grpId="0" animBg="1"/>
      <p:bldP spid="1049050" grpId="0" animBg="1"/>
      <p:bldP spid="1049051" grpId="0"/>
      <p:bldP spid="1049052" grpId="0"/>
    </p:bldLst>
  </p:timing>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49053" name="Title 1"/>
          <p:cNvSpPr>
            <a:spLocks noGrp="1"/>
          </p:cNvSpPr>
          <p:nvPr>
            <p:ph type="title"/>
          </p:nvPr>
        </p:nvSpPr>
        <p:spPr>
          <a:xfrm>
            <a:off x="457200" y="609600"/>
            <a:ext cx="8229600" cy="469900"/>
          </a:xfrm>
        </p:spPr>
        <p:txBody>
          <a:bodyPr/>
          <a:lstStyle/>
          <a:p>
            <a:r>
              <a:rPr lang="en-IN" b="1">
                <a:latin typeface="Times New Roman" panose="02020603050405020304" pitchFamily="18" charset="0"/>
                <a:cs typeface="Times New Roman" panose="02020603050405020304" pitchFamily="18" charset="0"/>
              </a:rPr>
              <a:t>NETWORK MODEL</a:t>
            </a:r>
            <a:endParaRPr lang="en-US" b="1">
              <a:latin typeface="Times New Roman" panose="02020603050405020304" pitchFamily="18" charset="0"/>
              <a:cs typeface="Times New Roman" panose="02020603050405020304" pitchFamily="18" charset="0"/>
            </a:endParaRPr>
          </a:p>
        </p:txBody>
      </p:sp>
      <p:sp>
        <p:nvSpPr>
          <p:cNvPr id="1049054" name="Content Placeholder 8"/>
          <p:cNvSpPr>
            <a:spLocks noGrp="1"/>
          </p:cNvSpPr>
          <p:nvPr>
            <p:ph type="body" idx="1"/>
          </p:nvPr>
        </p:nvSpPr>
        <p:spPr>
          <a:xfrm>
            <a:off x="466299" y="1447800"/>
            <a:ext cx="8229600" cy="4439677"/>
          </a:xfrm>
        </p:spPr>
        <p:txBody>
          <a:bodyPr/>
          <a:lstStyle/>
          <a:p>
            <a:pPr marL="365760" marR="0" lvl="0" indent="-255905" algn="just" defTabSz="914400" rtl="0" eaLnBrk="1" fontAlgn="auto" latinLnBrk="0" hangingPunct="1">
              <a:lnSpc>
                <a:spcPct val="100000"/>
              </a:lnSpc>
              <a:spcBef>
                <a:spcPts val="300"/>
              </a:spcBef>
              <a:spcAft>
                <a:spcPts val="0"/>
              </a:spcAft>
              <a:buClr>
                <a:srgbClr val="A04DA3"/>
              </a:buClr>
              <a:buSzTx/>
              <a:buFont typeface="Georgia" panose="02040502050405020303"/>
              <a:buChar char="•"/>
            </a:pPr>
            <a:r>
              <a:rPr lang="en-US" sz="2800" kern="1200">
                <a:solidFill>
                  <a:prstClr val="black"/>
                </a:solidFill>
                <a:latin typeface="Times New Roman" panose="02020603050405020304" pitchFamily="18" charset="0"/>
                <a:cs typeface="Times New Roman" panose="02020603050405020304" pitchFamily="18" charset="0"/>
              </a:rPr>
              <a:t>Network models are responsible for establishing a connection among the sender and receiver and transmitting the data.</a:t>
            </a:r>
          </a:p>
          <a:p>
            <a:pPr marL="365760" marR="0" lvl="0" indent="-255905" algn="just" defTabSz="914400" rtl="0" eaLnBrk="1" fontAlgn="auto" latinLnBrk="0" hangingPunct="1">
              <a:lnSpc>
                <a:spcPct val="100000"/>
              </a:lnSpc>
              <a:spcBef>
                <a:spcPts val="300"/>
              </a:spcBef>
              <a:spcAft>
                <a:spcPts val="0"/>
              </a:spcAft>
              <a:buClr>
                <a:srgbClr val="A04DA3"/>
              </a:buClr>
              <a:buSzTx/>
              <a:buFont typeface="Georgia" panose="02040502050405020303"/>
              <a:buChar char="•"/>
            </a:pPr>
            <a:endParaRPr lang="en-US" sz="2800" kern="1200">
              <a:solidFill>
                <a:prstClr val="black"/>
              </a:solidFill>
              <a:latin typeface="Times New Roman" panose="02020603050405020304" pitchFamily="18" charset="0"/>
              <a:cs typeface="Times New Roman" panose="02020603050405020304" pitchFamily="18" charset="0"/>
            </a:endParaRPr>
          </a:p>
          <a:p>
            <a:pPr marL="365760" marR="0" lvl="0" indent="-255905" algn="just" defTabSz="914400" rtl="0" eaLnBrk="1" fontAlgn="auto" latinLnBrk="0" hangingPunct="1">
              <a:lnSpc>
                <a:spcPct val="100000"/>
              </a:lnSpc>
              <a:spcBef>
                <a:spcPts val="300"/>
              </a:spcBef>
              <a:spcAft>
                <a:spcPts val="0"/>
              </a:spcAft>
              <a:buClr>
                <a:srgbClr val="A04DA3"/>
              </a:buClr>
              <a:buSzTx/>
              <a:buFont typeface="Georgia" panose="02040502050405020303"/>
              <a:buChar char="•"/>
            </a:pPr>
            <a:r>
              <a:rPr lang="en-US" sz="2800" kern="1200">
                <a:solidFill>
                  <a:prstClr val="black"/>
                </a:solidFill>
                <a:latin typeface="Times New Roman" panose="02020603050405020304" pitchFamily="18" charset="0"/>
                <a:cs typeface="Times New Roman" panose="02020603050405020304" pitchFamily="18" charset="0"/>
              </a:rPr>
              <a:t>There are two computer network models on which  data communication process relies :</a:t>
            </a:r>
          </a:p>
          <a:p>
            <a:pPr marL="658495" marR="0" lvl="1" indent="-247015" algn="just" defTabSz="914400" rtl="0" eaLnBrk="1" fontAlgn="auto" latinLnBrk="0" hangingPunct="1">
              <a:lnSpc>
                <a:spcPct val="100000"/>
              </a:lnSpc>
              <a:spcBef>
                <a:spcPts val="300"/>
              </a:spcBef>
              <a:spcAft>
                <a:spcPts val="0"/>
              </a:spcAft>
              <a:buClr>
                <a:srgbClr val="438086"/>
              </a:buClr>
              <a:buSzTx/>
              <a:buFont typeface="Georgia" panose="02040502050405020303"/>
              <a:buChar char="▫"/>
            </a:pPr>
            <a:r>
              <a:rPr lang="en-US" sz="2600" kern="1200">
                <a:solidFill>
                  <a:srgbClr val="438086"/>
                </a:solidFill>
                <a:latin typeface="Times New Roman" panose="02020603050405020304" pitchFamily="18" charset="0"/>
                <a:cs typeface="Times New Roman" panose="02020603050405020304" pitchFamily="18" charset="0"/>
              </a:rPr>
              <a:t>TCP/IP Model </a:t>
            </a:r>
          </a:p>
          <a:p>
            <a:pPr marL="658495" lvl="1" indent="-247015" algn="just" rtl="0">
              <a:spcBef>
                <a:spcPts val="300"/>
              </a:spcBef>
              <a:buClr>
                <a:srgbClr val="438086"/>
              </a:buClr>
              <a:buFont typeface="Georgia" panose="02040502050405020303"/>
              <a:buChar char="▫"/>
            </a:pPr>
            <a:r>
              <a:rPr lang="en-US" sz="2600" kern="1200">
                <a:solidFill>
                  <a:srgbClr val="438086"/>
                </a:solidFill>
                <a:latin typeface="Times New Roman" panose="02020603050405020304" pitchFamily="18" charset="0"/>
                <a:cs typeface="Times New Roman" panose="02020603050405020304" pitchFamily="18" charset="0"/>
              </a:rPr>
              <a:t>ISO/OSI Model</a:t>
            </a:r>
          </a:p>
          <a:p>
            <a:pPr marL="658495" marR="0" lvl="1" indent="-247015" algn="l" defTabSz="914400" rtl="0" eaLnBrk="1" fontAlgn="auto" latinLnBrk="0" hangingPunct="1">
              <a:lnSpc>
                <a:spcPct val="100000"/>
              </a:lnSpc>
              <a:spcBef>
                <a:spcPts val="300"/>
              </a:spcBef>
              <a:spcAft>
                <a:spcPts val="0"/>
              </a:spcAft>
              <a:buClr>
                <a:srgbClr val="438086"/>
              </a:buClr>
              <a:buSzTx/>
              <a:buFont typeface="Georgia" panose="02040502050405020303"/>
              <a:buChar char="▫"/>
            </a:pPr>
            <a:endParaRPr lang="en-US" sz="2600" kern="1200">
              <a:solidFill>
                <a:srgbClr val="438086"/>
              </a:solidFill>
              <a:latin typeface="Georgia" panose="02040502050405020303"/>
            </a:endParaRPr>
          </a:p>
          <a:p>
            <a:endParaRPr lang="en-US">
              <a:latin typeface="Times New Roman" panose="02020603050405020304" pitchFamily="18" charset="0"/>
              <a:cs typeface="Times New Roman" panose="02020603050405020304" pitchFamily="18" charset="0"/>
            </a:endParaRPr>
          </a:p>
          <a:p>
            <a:endParaRPr lang="en-US"/>
          </a:p>
        </p:txBody>
      </p:sp>
      <p:sp>
        <p:nvSpPr>
          <p:cNvPr id="1049055" name="Slide Number Placeholder 3"/>
          <p:cNvSpPr>
            <a:spLocks noGrp="1"/>
          </p:cNvSpPr>
          <p:nvPr>
            <p:ph type="sldNum" sz="quarter" idx="7"/>
          </p:nvPr>
        </p:nvSpPr>
        <p:spPr/>
        <p:txBody>
          <a:bodyPr/>
          <a:lstStyle/>
          <a:p>
            <a:fld id="{BCC20C3A-8631-44B9-B2EA-782A539FC911}" type="slidenum">
              <a:rPr lang="en-US" smtClean="0"/>
              <a:t>43</a:t>
            </a:fld>
            <a:endParaRPr lang="en-US"/>
          </a:p>
        </p:txBody>
      </p:sp>
    </p:spTree>
  </p:cSld>
  <p:clrMapOvr>
    <a:overrideClrMapping bg1="lt1" tx1="dk1" bg2="lt2" tx2="dk2" accent1="accent1" accent2="accent2" accent3="accent3" accent4="accent4" accent5="accent5" accent6="accent6" hlink="hlink" folHlink="folHlink"/>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49056" name="Title 1"/>
          <p:cNvSpPr>
            <a:spLocks noGrp="1"/>
          </p:cNvSpPr>
          <p:nvPr>
            <p:ph type="title"/>
          </p:nvPr>
        </p:nvSpPr>
        <p:spPr>
          <a:xfrm>
            <a:off x="630613" y="304800"/>
            <a:ext cx="8229600" cy="762000"/>
          </a:xfrm>
        </p:spPr>
        <p:txBody>
          <a:bodyPr>
            <a:normAutofit/>
          </a:bodyPr>
          <a:lstStyle/>
          <a:p>
            <a:r>
              <a:rPr lang="en-IN" b="1">
                <a:latin typeface="Times New Roman" panose="02020603050405020304" pitchFamily="18" charset="0"/>
                <a:cs typeface="Times New Roman" panose="02020603050405020304" pitchFamily="18" charset="0"/>
              </a:rPr>
              <a:t>TCP/IP MODEL</a:t>
            </a:r>
            <a:endParaRPr lang="en-US" b="1">
              <a:latin typeface="Times New Roman" panose="02020603050405020304" pitchFamily="18" charset="0"/>
              <a:cs typeface="Times New Roman" panose="02020603050405020304" pitchFamily="18" charset="0"/>
            </a:endParaRPr>
          </a:p>
        </p:txBody>
      </p:sp>
      <p:sp>
        <p:nvSpPr>
          <p:cNvPr id="1049057" name="Content Placeholder 2"/>
          <p:cNvSpPr>
            <a:spLocks noGrp="1"/>
          </p:cNvSpPr>
          <p:nvPr>
            <p:ph type="body" idx="1"/>
          </p:nvPr>
        </p:nvSpPr>
        <p:spPr>
          <a:xfrm>
            <a:off x="381000" y="838200"/>
            <a:ext cx="8305800" cy="4974336"/>
          </a:xfrm>
        </p:spPr>
        <p:txBody>
          <a:bodyPr>
            <a:normAutofit fontScale="95000"/>
          </a:bodyPr>
          <a:lstStyle/>
          <a:p>
            <a:pPr marL="365760" marR="0" lvl="0" indent="-255905" algn="just" defTabSz="914400" rtl="0" eaLnBrk="1" fontAlgn="auto" latinLnBrk="0" hangingPunct="1">
              <a:lnSpc>
                <a:spcPct val="160000"/>
              </a:lnSpc>
              <a:spcBef>
                <a:spcPts val="300"/>
              </a:spcBef>
              <a:spcAft>
                <a:spcPts val="0"/>
              </a:spcAft>
              <a:buClr>
                <a:srgbClr val="A04DA3"/>
              </a:buClr>
              <a:buSzTx/>
              <a:buFont typeface="Georgia" panose="02040502050405020303"/>
              <a:buChar char="•"/>
            </a:pPr>
            <a:r>
              <a:rPr lang="en-US" sz="2000" kern="1200">
                <a:solidFill>
                  <a:prstClr val="black"/>
                </a:solidFill>
                <a:latin typeface="Times New Roman" panose="02020603050405020304" pitchFamily="18" charset="0"/>
                <a:cs typeface="Times New Roman" panose="02020603050405020304" pitchFamily="18" charset="0"/>
              </a:rPr>
              <a:t>The TCP/IP model was developed prior to the OSI model.</a:t>
            </a:r>
          </a:p>
          <a:p>
            <a:pPr marL="365760" marR="0" lvl="0" indent="-255905" algn="just" defTabSz="914400" rtl="0" eaLnBrk="1" fontAlgn="auto" latinLnBrk="0" hangingPunct="1">
              <a:lnSpc>
                <a:spcPct val="160000"/>
              </a:lnSpc>
              <a:spcBef>
                <a:spcPts val="300"/>
              </a:spcBef>
              <a:spcAft>
                <a:spcPts val="0"/>
              </a:spcAft>
              <a:buClr>
                <a:srgbClr val="A04DA3"/>
              </a:buClr>
              <a:buSzTx/>
              <a:buFont typeface="Georgia" panose="02040502050405020303"/>
              <a:buChar char="•"/>
            </a:pPr>
            <a:r>
              <a:rPr lang="en-US" sz="2000" kern="1200">
                <a:solidFill>
                  <a:prstClr val="black"/>
                </a:solidFill>
                <a:latin typeface="Times New Roman" panose="02020603050405020304" pitchFamily="18" charset="0"/>
                <a:cs typeface="Times New Roman" panose="02020603050405020304" pitchFamily="18" charset="0"/>
              </a:rPr>
              <a:t>The TCP/IP model is not exactly similar to the OSI model.</a:t>
            </a:r>
          </a:p>
          <a:p>
            <a:pPr marL="365760" marR="0" lvl="0" indent="-255905" algn="just" defTabSz="914400" rtl="0" eaLnBrk="1" fontAlgn="auto" latinLnBrk="0" hangingPunct="1">
              <a:lnSpc>
                <a:spcPct val="160000"/>
              </a:lnSpc>
              <a:spcBef>
                <a:spcPts val="300"/>
              </a:spcBef>
              <a:spcAft>
                <a:spcPts val="0"/>
              </a:spcAft>
              <a:buClr>
                <a:srgbClr val="A04DA3"/>
              </a:buClr>
              <a:buSzTx/>
              <a:buFont typeface="Georgia" panose="02040502050405020303"/>
              <a:buChar char="•"/>
            </a:pPr>
            <a:r>
              <a:rPr lang="en-US" sz="2000" kern="1200">
                <a:solidFill>
                  <a:prstClr val="black"/>
                </a:solidFill>
                <a:latin typeface="Times New Roman" panose="02020603050405020304" pitchFamily="18" charset="0"/>
                <a:cs typeface="Times New Roman" panose="02020603050405020304" pitchFamily="18" charset="0"/>
              </a:rPr>
              <a:t>The TCP/IP model consists of five layers: the application layer, transport layer, network layer, data link layer and physical layer.</a:t>
            </a:r>
          </a:p>
          <a:p>
            <a:pPr marL="365760" marR="0" lvl="0" indent="-255905" algn="just" defTabSz="914400" rtl="0" eaLnBrk="1" fontAlgn="auto" latinLnBrk="0" hangingPunct="1">
              <a:lnSpc>
                <a:spcPct val="160000"/>
              </a:lnSpc>
              <a:spcBef>
                <a:spcPts val="300"/>
              </a:spcBef>
              <a:spcAft>
                <a:spcPts val="0"/>
              </a:spcAft>
              <a:buClr>
                <a:srgbClr val="A04DA3"/>
              </a:buClr>
              <a:buSzTx/>
              <a:buFont typeface="Georgia" panose="02040502050405020303"/>
              <a:buChar char="•"/>
            </a:pPr>
            <a:r>
              <a:rPr lang="en-US" sz="2000" kern="1200">
                <a:solidFill>
                  <a:prstClr val="black"/>
                </a:solidFill>
                <a:latin typeface="Times New Roman" panose="02020603050405020304" pitchFamily="18" charset="0"/>
                <a:cs typeface="Times New Roman" panose="02020603050405020304" pitchFamily="18" charset="0"/>
              </a:rPr>
              <a:t>The first four layers provide physical standards, network interface, internetworking, and transport functions that correspond to the first four layers of the OSI model .</a:t>
            </a:r>
          </a:p>
          <a:p>
            <a:pPr marL="365760" marR="0" lvl="0" indent="-255905" algn="just" defTabSz="914400" rtl="0" eaLnBrk="1" fontAlgn="auto" latinLnBrk="0" hangingPunct="1">
              <a:lnSpc>
                <a:spcPct val="160000"/>
              </a:lnSpc>
              <a:spcBef>
                <a:spcPts val="300"/>
              </a:spcBef>
              <a:spcAft>
                <a:spcPts val="0"/>
              </a:spcAft>
              <a:buClr>
                <a:srgbClr val="A04DA3"/>
              </a:buClr>
              <a:buSzTx/>
              <a:buFont typeface="Georgia" panose="02040502050405020303"/>
              <a:buChar char="•"/>
            </a:pPr>
            <a:r>
              <a:rPr lang="en-US" sz="2000" kern="1200">
                <a:solidFill>
                  <a:prstClr val="black"/>
                </a:solidFill>
                <a:latin typeface="Times New Roman" panose="02020603050405020304" pitchFamily="18" charset="0"/>
                <a:cs typeface="Times New Roman" panose="02020603050405020304" pitchFamily="18" charset="0"/>
              </a:rPr>
              <a:t> TCP/IP is a hierarchical protocol made up of interactive modules, and each of them provides specific functionality.</a:t>
            </a:r>
          </a:p>
          <a:p>
            <a:endParaRPr lang="en-US"/>
          </a:p>
        </p:txBody>
      </p:sp>
      <p:sp>
        <p:nvSpPr>
          <p:cNvPr id="1049058" name="Slide Number Placeholder 3"/>
          <p:cNvSpPr>
            <a:spLocks noGrp="1"/>
          </p:cNvSpPr>
          <p:nvPr>
            <p:ph type="sldNum" sz="quarter" idx="7"/>
          </p:nvPr>
        </p:nvSpPr>
        <p:spPr/>
        <p:txBody>
          <a:bodyPr/>
          <a:lstStyle/>
          <a:p>
            <a:fld id="{BCC20C3A-8631-44B9-B2EA-782A539FC911}" type="slidenum">
              <a:rPr lang="en-US" smtClean="0"/>
              <a:t>44</a:t>
            </a:fld>
            <a:endParaRPr lang="en-US"/>
          </a:p>
        </p:txBody>
      </p:sp>
    </p:spTree>
  </p:cSld>
  <p:clrMapOvr>
    <a:overrideClrMapping bg1="lt1" tx1="dk1" bg2="lt2" tx2="dk2" accent1="accent1" accent2="accent2" accent3="accent3" accent4="accent4" accent5="accent5" accent6="accent6" hlink="hlink" folHlink="folHlink"/>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49059" name="Rectangle 2"/>
          <p:cNvSpPr>
            <a:spLocks noGrp="1" noChangeArrowheads="1"/>
          </p:cNvSpPr>
          <p:nvPr>
            <p:ph type="title"/>
          </p:nvPr>
        </p:nvSpPr>
        <p:spPr>
          <a:xfrm>
            <a:off x="457200" y="381000"/>
            <a:ext cx="8229600" cy="415498"/>
          </a:xfrm>
        </p:spPr>
        <p:txBody>
          <a:bodyPr/>
          <a:lstStyle/>
          <a:p>
            <a:pPr eaLnBrk="1" hangingPunct="1"/>
            <a:r>
              <a:rPr lang="en-US" b="1">
                <a:latin typeface="Times New Roman" panose="02020603050405020304" pitchFamily="18" charset="0"/>
                <a:cs typeface="Times New Roman" panose="02020603050405020304" pitchFamily="18" charset="0"/>
              </a:rPr>
              <a:t>TCP/IP OR INTERNET LAYER MODEL</a:t>
            </a:r>
          </a:p>
        </p:txBody>
      </p:sp>
      <p:sp>
        <p:nvSpPr>
          <p:cNvPr id="1049060" name="Rectangle 3"/>
          <p:cNvSpPr>
            <a:spLocks noGrp="1" noChangeArrowheads="1"/>
          </p:cNvSpPr>
          <p:nvPr>
            <p:ph type="body" idx="1"/>
          </p:nvPr>
        </p:nvSpPr>
        <p:spPr>
          <a:xfrm>
            <a:off x="457200" y="1212629"/>
            <a:ext cx="8229600" cy="304800"/>
          </a:xfrm>
        </p:spPr>
        <p:txBody>
          <a:bodyPr/>
          <a:lstStyle/>
          <a:p>
            <a:pPr eaLnBrk="1" hangingPunct="1"/>
            <a:r>
              <a:rPr lang="en-US" sz="1800" b="1">
                <a:latin typeface="Times New Roman" panose="02020603050405020304" pitchFamily="18" charset="0"/>
                <a:cs typeface="Times New Roman" panose="02020603050405020304" pitchFamily="18" charset="0"/>
              </a:rPr>
              <a:t>The Internet Protocol Stack</a:t>
            </a:r>
          </a:p>
        </p:txBody>
      </p:sp>
      <p:sp>
        <p:nvSpPr>
          <p:cNvPr id="1049061" name="Slide Number Placeholder 5"/>
          <p:cNvSpPr>
            <a:spLocks noGrp="1"/>
          </p:cNvSpPr>
          <p:nvPr>
            <p:ph type="sldNum" sz="quarter" idx="7"/>
          </p:nvPr>
        </p:nvSpPr>
        <p:spPr/>
        <p:txBody>
          <a:bodyPr/>
          <a:lstStyle/>
          <a:p>
            <a:fld id="{D6998243-7BC5-4482-BDED-92DA603B2BEB}" type="slidenum">
              <a:rPr lang="en-US"/>
              <a:t>45</a:t>
            </a:fld>
            <a:endParaRPr lang="en-US"/>
          </a:p>
        </p:txBody>
      </p:sp>
      <p:graphicFrame>
        <p:nvGraphicFramePr>
          <p:cNvPr id="4194304" name="Group 25"/>
          <p:cNvGraphicFramePr>
            <a:graphicFrameLocks noGrp="1"/>
          </p:cNvGraphicFramePr>
          <p:nvPr>
            <p:ph idx="4294967295"/>
          </p:nvPr>
        </p:nvGraphicFramePr>
        <p:xfrm>
          <a:off x="0" y="2514600"/>
          <a:ext cx="4038600" cy="3124201"/>
        </p:xfrm>
        <a:graphic>
          <a:graphicData uri="http://schemas.openxmlformats.org/drawingml/2006/table">
            <a:tbl>
              <a:tblPr/>
              <a:tblGrid>
                <a:gridCol w="4038600">
                  <a:extLst>
                    <a:ext uri="{9D8B030D-6E8A-4147-A177-3AD203B41FA5}">
                      <a16:colId xmlns:a16="http://schemas.microsoft.com/office/drawing/2014/main" val="20000"/>
                    </a:ext>
                  </a:extLst>
                </a:gridCol>
              </a:tblGrid>
              <a:tr h="625475">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65000"/>
                        <a:buFont typeface="Wingdings" panose="05000000000000000000" pitchFamily="2" charset="2"/>
                        <a:buNone/>
                      </a:pPr>
                      <a:r>
                        <a:rPr kumimoji="0" lang="en-US" sz="2800" b="0" i="0" u="none" strike="noStrike" cap="none" normalizeH="0" baseline="0">
                          <a:ln>
                            <a:noFill/>
                          </a:ln>
                          <a:solidFill>
                            <a:schemeClr val="tx1"/>
                          </a:solidFill>
                          <a:effectLst>
                            <a:outerShdw blurRad="38100" dist="38100" dir="2700000" algn="tl">
                              <a:srgbClr val="000000"/>
                            </a:outerShdw>
                          </a:effectLst>
                          <a:latin typeface="Tahoma" panose="020B0604030504040204" pitchFamily="34" charset="0"/>
                          <a:cs typeface="Arial" panose="020B0604020202020204" pitchFamily="34" charset="0"/>
                        </a:rPr>
                        <a:t>Application Layer</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headEnd type="none" w="med" len="med"/>
                      <a:tailEnd type="none" w="med" len="med"/>
                    </a:lnTlToBr>
                    <a:lnBlToTr>
                      <a:noFill/>
                      <a:headEnd type="none" w="med" len="med"/>
                      <a:tailEnd type="none" w="med" len="med"/>
                    </a:lnBlToTr>
                    <a:solidFill>
                      <a:schemeClr val="accent1"/>
                    </a:solidFill>
                  </a:tcPr>
                </a:tc>
                <a:extLst>
                  <a:ext uri="{0D108BD9-81ED-4DB2-BD59-A6C34878D82A}">
                    <a16:rowId xmlns:a16="http://schemas.microsoft.com/office/drawing/2014/main" val="10000"/>
                  </a:ext>
                </a:extLst>
              </a:tr>
              <a:tr h="623888">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65000"/>
                        <a:buFont typeface="Wingdings" panose="05000000000000000000" pitchFamily="2" charset="2"/>
                        <a:buNone/>
                      </a:pPr>
                      <a:r>
                        <a:rPr kumimoji="0" lang="en-US" sz="2800" b="0" i="0" u="none" strike="noStrike" cap="none" normalizeH="0" baseline="0">
                          <a:ln>
                            <a:noFill/>
                          </a:ln>
                          <a:solidFill>
                            <a:schemeClr val="tx1"/>
                          </a:solidFill>
                          <a:effectLst>
                            <a:outerShdw blurRad="38100" dist="38100" dir="2700000" algn="tl">
                              <a:srgbClr val="000000"/>
                            </a:outerShdw>
                          </a:effectLst>
                          <a:latin typeface="Tahoma" panose="020B0604030504040204" pitchFamily="34" charset="0"/>
                          <a:cs typeface="Arial" panose="020B0604020202020204" pitchFamily="34" charset="0"/>
                        </a:rPr>
                        <a:t>Transport Layer</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headEnd type="none" w="med" len="med"/>
                      <a:tailEnd type="none" w="med" len="med"/>
                    </a:lnTlToBr>
                    <a:lnBlToTr>
                      <a:noFill/>
                      <a:headEnd type="none" w="med" len="med"/>
                      <a:tailEnd type="none" w="med" len="med"/>
                    </a:lnBlToTr>
                    <a:solidFill>
                      <a:schemeClr val="accent2"/>
                    </a:solidFill>
                  </a:tcPr>
                </a:tc>
                <a:extLst>
                  <a:ext uri="{0D108BD9-81ED-4DB2-BD59-A6C34878D82A}">
                    <a16:rowId xmlns:a16="http://schemas.microsoft.com/office/drawing/2014/main" val="10001"/>
                  </a:ext>
                </a:extLst>
              </a:tr>
              <a:tr h="625475">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65000"/>
                        <a:buFont typeface="Wingdings" panose="05000000000000000000" pitchFamily="2" charset="2"/>
                        <a:buNone/>
                      </a:pPr>
                      <a:r>
                        <a:rPr kumimoji="0" lang="en-US" sz="2800" b="0" i="0" u="none" strike="noStrike" cap="none" normalizeH="0" baseline="0">
                          <a:ln>
                            <a:noFill/>
                          </a:ln>
                          <a:solidFill>
                            <a:schemeClr val="tx1"/>
                          </a:solidFill>
                          <a:effectLst>
                            <a:outerShdw blurRad="38100" dist="38100" dir="2700000" algn="tl">
                              <a:srgbClr val="000000"/>
                            </a:outerShdw>
                          </a:effectLst>
                          <a:latin typeface="Tahoma" panose="020B0604030504040204" pitchFamily="34" charset="0"/>
                          <a:cs typeface="Arial" panose="020B0604020202020204" pitchFamily="34" charset="0"/>
                        </a:rPr>
                        <a:t>Network Layer</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headEnd type="none" w="med" len="med"/>
                      <a:tailEnd type="none" w="med" len="med"/>
                    </a:lnTlToBr>
                    <a:lnBlToTr>
                      <a:noFill/>
                      <a:headEnd type="none" w="med" len="med"/>
                      <a:tailEnd type="none" w="med" len="med"/>
                    </a:lnBlToTr>
                    <a:solidFill>
                      <a:schemeClr val="bg1"/>
                    </a:solidFill>
                  </a:tcPr>
                </a:tc>
                <a:extLst>
                  <a:ext uri="{0D108BD9-81ED-4DB2-BD59-A6C34878D82A}">
                    <a16:rowId xmlns:a16="http://schemas.microsoft.com/office/drawing/2014/main" val="10002"/>
                  </a:ext>
                </a:extLst>
              </a:tr>
              <a:tr h="623888">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65000"/>
                        <a:buFont typeface="Wingdings" panose="05000000000000000000" pitchFamily="2" charset="2"/>
                        <a:buNone/>
                      </a:pPr>
                      <a:r>
                        <a:rPr kumimoji="0" lang="en-US" sz="2800" b="0" i="0" u="none" strike="noStrike" cap="none" normalizeH="0" baseline="0">
                          <a:ln>
                            <a:noFill/>
                          </a:ln>
                          <a:solidFill>
                            <a:schemeClr val="tx1"/>
                          </a:solidFill>
                          <a:effectLst>
                            <a:outerShdw blurRad="38100" dist="38100" dir="2700000" algn="tl">
                              <a:srgbClr val="000000"/>
                            </a:outerShdw>
                          </a:effectLst>
                          <a:latin typeface="Tahoma" panose="020B0604030504040204" pitchFamily="34" charset="0"/>
                          <a:cs typeface="Arial" panose="020B0604020202020204" pitchFamily="34" charset="0"/>
                        </a:rPr>
                        <a:t>Data Link Layer</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headEnd type="none" w="med" len="med"/>
                      <a:tailEnd type="none" w="med" len="med"/>
                    </a:lnTlToBr>
                    <a:lnBlToTr>
                      <a:noFill/>
                      <a:headEnd type="none" w="med" len="med"/>
                      <a:tailEnd type="none" w="med" len="med"/>
                    </a:lnBlToTr>
                    <a:solidFill>
                      <a:schemeClr val="bg2"/>
                    </a:solidFill>
                  </a:tcPr>
                </a:tc>
                <a:extLst>
                  <a:ext uri="{0D108BD9-81ED-4DB2-BD59-A6C34878D82A}">
                    <a16:rowId xmlns:a16="http://schemas.microsoft.com/office/drawing/2014/main" val="10003"/>
                  </a:ext>
                </a:extLst>
              </a:tr>
              <a:tr h="625475">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65000"/>
                        <a:buFont typeface="Wingdings" panose="05000000000000000000" pitchFamily="2" charset="2"/>
                        <a:buNone/>
                      </a:pPr>
                      <a:r>
                        <a:rPr kumimoji="0" lang="en-US" sz="2800" b="0" i="0" u="none" strike="noStrike" cap="none" normalizeH="0" baseline="0">
                          <a:ln>
                            <a:noFill/>
                          </a:ln>
                          <a:solidFill>
                            <a:schemeClr val="bg1"/>
                          </a:solidFill>
                          <a:effectLst>
                            <a:outerShdw blurRad="38100" dist="38100" dir="2700000" algn="tl">
                              <a:srgbClr val="003366"/>
                            </a:outerShdw>
                          </a:effectLst>
                          <a:latin typeface="Tahoma" panose="020B0604030504040204" pitchFamily="34" charset="0"/>
                          <a:cs typeface="Arial" panose="020B0604020202020204" pitchFamily="34" charset="0"/>
                        </a:rPr>
                        <a:t>Physical Layer</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headEnd type="none" w="med" len="med"/>
                      <a:tailEnd type="none" w="med" len="med"/>
                    </a:lnTlToBr>
                    <a:lnBlToTr>
                      <a:noFill/>
                      <a:headEnd type="none" w="med" len="med"/>
                      <a:tailEnd type="none" w="med" len="med"/>
                    </a:lnBlToTr>
                    <a:solidFill>
                      <a:srgbClr val="080808"/>
                    </a:solidFill>
                  </a:tcPr>
                </a:tc>
                <a:extLst>
                  <a:ext uri="{0D108BD9-81ED-4DB2-BD59-A6C34878D82A}">
                    <a16:rowId xmlns:a16="http://schemas.microsoft.com/office/drawing/2014/main" val="10004"/>
                  </a:ext>
                </a:extLst>
              </a:tr>
            </a:tbl>
          </a:graphicData>
        </a:graphic>
      </p:graphicFrame>
      <p:sp>
        <p:nvSpPr>
          <p:cNvPr id="1049062" name="Oval 26"/>
          <p:cNvSpPr>
            <a:spLocks noChangeArrowheads="1"/>
          </p:cNvSpPr>
          <p:nvPr/>
        </p:nvSpPr>
        <p:spPr bwMode="auto">
          <a:xfrm>
            <a:off x="2514600" y="1828800"/>
            <a:ext cx="3886200" cy="609600"/>
          </a:xfrm>
          <a:prstGeom prst="ellipse">
            <a:avLst/>
          </a:prstGeom>
          <a:solidFill>
            <a:schemeClr val="tx1"/>
          </a:solidFill>
          <a:ln w="38100">
            <a:solidFill>
              <a:schemeClr val="folHlink"/>
            </a:solidFill>
            <a:round/>
          </a:ln>
        </p:spPr>
        <p:txBody>
          <a:bodyPr wrap="none" anchor="ctr"/>
          <a:lstStyle/>
          <a:p>
            <a:pPr algn="ctr" fontAlgn="base">
              <a:spcBef>
                <a:spcPct val="0"/>
              </a:spcBef>
              <a:spcAft>
                <a:spcPct val="0"/>
              </a:spcAft>
            </a:pPr>
            <a:r>
              <a:rPr lang="en-US" sz="3200">
                <a:solidFill>
                  <a:srgbClr val="DEDEDE"/>
                </a:solidFill>
                <a:latin typeface="Tahoma" panose="020B0604030504040204" pitchFamily="34" charset="0"/>
                <a:cs typeface="Arial" panose="020B0604020202020204" pitchFamily="34" charset="0"/>
              </a:rPr>
              <a:t>User</a:t>
            </a:r>
          </a:p>
        </p:txBody>
      </p:sp>
      <p:sp>
        <p:nvSpPr>
          <p:cNvPr id="1049063" name="Oval 27"/>
          <p:cNvSpPr>
            <a:spLocks noChangeArrowheads="1"/>
          </p:cNvSpPr>
          <p:nvPr/>
        </p:nvSpPr>
        <p:spPr bwMode="auto">
          <a:xfrm>
            <a:off x="2514600" y="5715000"/>
            <a:ext cx="3886200" cy="609600"/>
          </a:xfrm>
          <a:prstGeom prst="ellipse">
            <a:avLst/>
          </a:prstGeom>
          <a:solidFill>
            <a:schemeClr val="tx1"/>
          </a:solidFill>
          <a:ln w="38100">
            <a:solidFill>
              <a:schemeClr val="folHlink"/>
            </a:solidFill>
            <a:round/>
          </a:ln>
        </p:spPr>
        <p:txBody>
          <a:bodyPr wrap="none" anchor="ctr"/>
          <a:lstStyle/>
          <a:p>
            <a:pPr algn="ctr" fontAlgn="base">
              <a:spcBef>
                <a:spcPct val="0"/>
              </a:spcBef>
              <a:spcAft>
                <a:spcPct val="0"/>
              </a:spcAft>
            </a:pPr>
            <a:r>
              <a:rPr lang="en-US">
                <a:solidFill>
                  <a:srgbClr val="DEDEDE"/>
                </a:solidFill>
                <a:latin typeface="Tahoma" panose="020B0604030504040204" pitchFamily="34" charset="0"/>
                <a:cs typeface="Arial" panose="020B0604020202020204" pitchFamily="34" charset="0"/>
              </a:rPr>
              <a:t>Transmission</a:t>
            </a:r>
            <a:br>
              <a:rPr lang="en-US">
                <a:solidFill>
                  <a:srgbClr val="DEDEDE"/>
                </a:solidFill>
                <a:latin typeface="Tahoma" panose="020B0604030504040204" pitchFamily="34" charset="0"/>
                <a:cs typeface="Arial" panose="020B0604020202020204" pitchFamily="34" charset="0"/>
              </a:rPr>
            </a:br>
            <a:r>
              <a:rPr lang="en-US">
                <a:solidFill>
                  <a:srgbClr val="DEDEDE"/>
                </a:solidFill>
                <a:latin typeface="Tahoma" panose="020B0604030504040204" pitchFamily="34" charset="0"/>
                <a:cs typeface="Arial" panose="020B0604020202020204" pitchFamily="34" charset="0"/>
              </a:rPr>
              <a:t>Medium</a:t>
            </a:r>
          </a:p>
        </p:txBody>
      </p:sp>
      <p:sp>
        <p:nvSpPr>
          <p:cNvPr id="1049064" name="AutoShape 29"/>
          <p:cNvSpPr>
            <a:spLocks noChangeArrowheads="1"/>
          </p:cNvSpPr>
          <p:nvPr/>
        </p:nvSpPr>
        <p:spPr bwMode="auto">
          <a:xfrm>
            <a:off x="7239000" y="2514600"/>
            <a:ext cx="533400" cy="3048000"/>
          </a:xfrm>
          <a:prstGeom prst="upDownArrow">
            <a:avLst>
              <a:gd name="adj1" fmla="val 50000"/>
              <a:gd name="adj2" fmla="val 114286"/>
            </a:avLst>
          </a:prstGeom>
          <a:gradFill rotWithShape="1">
            <a:gsLst>
              <a:gs pos="0">
                <a:schemeClr val="hlink"/>
              </a:gs>
              <a:gs pos="100000">
                <a:schemeClr val="folHlink"/>
              </a:gs>
            </a:gsLst>
            <a:lin ang="5400000" scaled="1"/>
          </a:gradFill>
          <a:ln w="9525">
            <a:solidFill>
              <a:schemeClr val="tx1"/>
            </a:solidFill>
            <a:miter lim="800000"/>
          </a:ln>
        </p:spPr>
        <p:txBody>
          <a:bodyPr wrap="none" anchor="ctr"/>
          <a:lstStyle/>
          <a:p>
            <a:pPr fontAlgn="base">
              <a:spcBef>
                <a:spcPct val="0"/>
              </a:spcBef>
              <a:spcAft>
                <a:spcPct val="0"/>
              </a:spcAft>
            </a:pPr>
            <a:endParaRPr lang="en-US">
              <a:solidFill>
                <a:prstClr val="black"/>
              </a:solidFill>
              <a:latin typeface="Tahoma" panose="020B0604030504040204" pitchFamily="34" charset="0"/>
              <a:cs typeface="Arial" panose="020B0604020202020204" pitchFamily="34" charset="0"/>
            </a:endParaRPr>
          </a:p>
        </p:txBody>
      </p:sp>
      <p:sp>
        <p:nvSpPr>
          <p:cNvPr id="1049065" name="Text Box 30"/>
          <p:cNvSpPr txBox="1">
            <a:spLocks noChangeArrowheads="1"/>
          </p:cNvSpPr>
          <p:nvPr/>
        </p:nvSpPr>
        <p:spPr bwMode="auto">
          <a:xfrm>
            <a:off x="7772400" y="5181600"/>
            <a:ext cx="1211579" cy="396240"/>
          </a:xfrm>
          <a:prstGeom prst="rect">
            <a:avLst/>
          </a:prstGeom>
          <a:noFill/>
          <a:ln w="9525">
            <a:noFill/>
            <a:miter lim="800000"/>
          </a:ln>
        </p:spPr>
        <p:txBody>
          <a:bodyPr wrap="none">
            <a:spAutoFit/>
          </a:bodyPr>
          <a:lstStyle/>
          <a:p>
            <a:pPr fontAlgn="base">
              <a:spcBef>
                <a:spcPct val="0"/>
              </a:spcBef>
              <a:spcAft>
                <a:spcPct val="0"/>
              </a:spcAft>
            </a:pPr>
            <a:r>
              <a:rPr lang="en-US">
                <a:solidFill>
                  <a:srgbClr val="C2A874"/>
                </a:solidFill>
                <a:latin typeface="Tahoma" panose="020B0604030504040204" pitchFamily="34" charset="0"/>
                <a:cs typeface="Arial" panose="020B0604020202020204" pitchFamily="34" charset="0"/>
              </a:rPr>
              <a:t>Hardware</a:t>
            </a:r>
          </a:p>
        </p:txBody>
      </p:sp>
      <p:sp>
        <p:nvSpPr>
          <p:cNvPr id="1049066" name="Text Box 31"/>
          <p:cNvSpPr txBox="1">
            <a:spLocks noChangeArrowheads="1"/>
          </p:cNvSpPr>
          <p:nvPr/>
        </p:nvSpPr>
        <p:spPr bwMode="auto">
          <a:xfrm>
            <a:off x="7848600" y="2590800"/>
            <a:ext cx="1137612" cy="396239"/>
          </a:xfrm>
          <a:prstGeom prst="rect">
            <a:avLst/>
          </a:prstGeom>
          <a:noFill/>
          <a:ln w="9525">
            <a:noFill/>
            <a:miter lim="800000"/>
          </a:ln>
        </p:spPr>
        <p:txBody>
          <a:bodyPr wrap="none">
            <a:spAutoFit/>
          </a:bodyPr>
          <a:lstStyle/>
          <a:p>
            <a:pPr fontAlgn="base">
              <a:spcBef>
                <a:spcPct val="0"/>
              </a:spcBef>
              <a:spcAft>
                <a:spcPct val="0"/>
              </a:spcAft>
            </a:pPr>
            <a:r>
              <a:rPr lang="en-US">
                <a:solidFill>
                  <a:srgbClr val="67AFBD"/>
                </a:solidFill>
                <a:latin typeface="Tahoma" panose="020B0604030504040204" pitchFamily="34" charset="0"/>
                <a:cs typeface="Arial" panose="020B0604020202020204" pitchFamily="34" charset="0"/>
              </a:rPr>
              <a:t>Software</a:t>
            </a:r>
          </a:p>
        </p:txBody>
      </p:sp>
    </p:spTree>
  </p:cSld>
  <p:clrMapOvr>
    <a:overrideClrMapping bg1="lt1" tx1="dk1" bg2="lt2" tx2="dk2" accent1="accent1" accent2="accent2" accent3="accent3" accent4="accent4" accent5="accent5" accent6="accent6" hlink="hlink" folHlink="folHlink"/>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49067" name="Rectangle 2"/>
          <p:cNvSpPr>
            <a:spLocks noGrp="1" noChangeArrowheads="1"/>
          </p:cNvSpPr>
          <p:nvPr>
            <p:ph type="title"/>
          </p:nvPr>
        </p:nvSpPr>
        <p:spPr>
          <a:xfrm rot="10800000" flipV="1">
            <a:off x="0" y="154473"/>
            <a:ext cx="7675098" cy="711192"/>
          </a:xfrm>
          <a:noFill/>
        </p:spPr>
        <p:txBody>
          <a:bodyPr lIns="90479" tIns="44446" rIns="90479" bIns="44446" anchor="b"/>
          <a:lstStyle/>
          <a:p>
            <a:r>
              <a:rPr lang="en-US" altLang="en-US" sz="3600" b="1">
                <a:latin typeface="Times New Roman" panose="02020603050405020304" pitchFamily="18" charset="0"/>
                <a:cs typeface="Times New Roman" panose="02020603050405020304" pitchFamily="18" charset="0"/>
              </a:rPr>
              <a:t>TCP/IP Model: the Internet model</a:t>
            </a:r>
          </a:p>
        </p:txBody>
      </p:sp>
      <p:sp>
        <p:nvSpPr>
          <p:cNvPr id="1049068" name="Rectangle 40"/>
          <p:cNvSpPr>
            <a:spLocks noGrp="1" noChangeArrowheads="1"/>
          </p:cNvSpPr>
          <p:nvPr>
            <p:ph type="body" idx="1"/>
          </p:nvPr>
        </p:nvSpPr>
        <p:spPr>
          <a:xfrm>
            <a:off x="732525" y="979598"/>
            <a:ext cx="7797800" cy="2457450"/>
          </a:xfrm>
        </p:spPr>
        <p:txBody>
          <a:bodyPr/>
          <a:lstStyle/>
          <a:p>
            <a:pPr marL="342900" indent="-342900">
              <a:lnSpc>
                <a:spcPct val="150000"/>
              </a:lnSpc>
              <a:buFont typeface="Arial" panose="020B0604020202020204" pitchFamily="34" charset="0"/>
              <a:buChar char="•"/>
            </a:pPr>
            <a:r>
              <a:rPr lang="en-US" altLang="en-US" sz="2000"/>
              <a:t>Each layer relies on services from layer below </a:t>
            </a:r>
          </a:p>
          <a:p>
            <a:pPr marL="342900" indent="-342900">
              <a:lnSpc>
                <a:spcPct val="150000"/>
              </a:lnSpc>
              <a:buFont typeface="Arial" panose="020B0604020202020204" pitchFamily="34" charset="0"/>
              <a:buChar char="•"/>
            </a:pPr>
            <a:r>
              <a:rPr lang="en-US" altLang="en-US" sz="2000"/>
              <a:t>Each layer exports services to layer above</a:t>
            </a:r>
          </a:p>
          <a:p>
            <a:pPr marL="342900" indent="-342900">
              <a:lnSpc>
                <a:spcPct val="150000"/>
              </a:lnSpc>
              <a:buFont typeface="Arial" panose="020B0604020202020204" pitchFamily="34" charset="0"/>
              <a:buChar char="•"/>
            </a:pPr>
            <a:r>
              <a:rPr lang="en-US" altLang="en-US" sz="2000"/>
              <a:t>Interface between layers defines interaction</a:t>
            </a:r>
          </a:p>
          <a:p>
            <a:pPr marL="628650" lvl="1" indent="-285750">
              <a:lnSpc>
                <a:spcPct val="150000"/>
              </a:lnSpc>
              <a:buFont typeface="Arial" panose="020B0604020202020204" pitchFamily="34" charset="0"/>
              <a:buChar char="•"/>
            </a:pPr>
            <a:r>
              <a:rPr lang="en-US" altLang="en-US" sz="1800"/>
              <a:t>Hides implementation details</a:t>
            </a:r>
          </a:p>
          <a:p>
            <a:pPr marL="628650" lvl="1" indent="-285750">
              <a:lnSpc>
                <a:spcPct val="150000"/>
              </a:lnSpc>
              <a:buFont typeface="Arial" panose="020B0604020202020204" pitchFamily="34" charset="0"/>
              <a:buChar char="•"/>
            </a:pPr>
            <a:r>
              <a:rPr lang="en-US" altLang="en-US" sz="1800"/>
              <a:t>Layers can change without disturbing other layers </a:t>
            </a:r>
            <a:endParaRPr lang="en-US" altLang="en-US" sz="1600" b="1"/>
          </a:p>
        </p:txBody>
      </p:sp>
      <p:sp>
        <p:nvSpPr>
          <p:cNvPr id="1049069" name="Slide Number Placeholder 3"/>
          <p:cNvSpPr>
            <a:spLocks noGrp="1"/>
          </p:cNvSpPr>
          <p:nvPr>
            <p:ph type="sldNum" sz="quarter" idx="7"/>
          </p:nvPr>
        </p:nvSpPr>
        <p:spPr>
          <a:xfrm>
            <a:off x="8890920" y="6530213"/>
            <a:ext cx="190024" cy="723899"/>
          </a:xfrm>
          <a:noFill/>
        </p:spPr>
        <p:txBody>
          <a:bodyPr/>
          <a:lstStyle>
            <a:lvl1pPr>
              <a:defRPr sz="2400">
                <a:solidFill>
                  <a:schemeClr val="tx1"/>
                </a:solidFill>
                <a:latin typeface="Comic Sans MS" panose="030F0702030302020204" pitchFamily="66" charset="0"/>
              </a:defRPr>
            </a:lvl1pPr>
            <a:lvl2pPr>
              <a:defRPr sz="2000">
                <a:solidFill>
                  <a:schemeClr val="tx1"/>
                </a:solidFill>
                <a:latin typeface="Comic Sans MS" panose="030F0702030302020204" pitchFamily="66" charset="0"/>
              </a:defRPr>
            </a:lvl2pPr>
            <a:lvl3pPr>
              <a:defRPr>
                <a:solidFill>
                  <a:schemeClr val="tx1"/>
                </a:solidFill>
                <a:latin typeface="Comic Sans MS" panose="030F0702030302020204" pitchFamily="66" charset="0"/>
              </a:defRPr>
            </a:lvl3pPr>
            <a:lvl4pPr>
              <a:defRPr sz="2000">
                <a:solidFill>
                  <a:schemeClr val="tx1"/>
                </a:solidFill>
                <a:latin typeface="Times New Roman" panose="02020603050405020304" pitchFamily="18" charset="0"/>
              </a:defRPr>
            </a:lvl4pPr>
            <a:lvl5pPr>
              <a:defRPr sz="2000">
                <a:solidFill>
                  <a:schemeClr val="tx1"/>
                </a:solidFill>
                <a:latin typeface="Times New Roman" panose="02020603050405020304" pitchFamily="18" charset="0"/>
              </a:defRPr>
            </a:lvl5pPr>
            <a:lvl6pPr>
              <a:defRPr sz="2000">
                <a:solidFill>
                  <a:schemeClr val="tx1"/>
                </a:solidFill>
                <a:latin typeface="Times New Roman" panose="02020603050405020304" pitchFamily="18" charset="0"/>
              </a:defRPr>
            </a:lvl6pPr>
            <a:lvl7pPr>
              <a:defRPr sz="2000">
                <a:solidFill>
                  <a:schemeClr val="tx1"/>
                </a:solidFill>
                <a:latin typeface="Times New Roman" panose="02020603050405020304" pitchFamily="18" charset="0"/>
              </a:defRPr>
            </a:lvl7pPr>
            <a:lvl8pPr>
              <a:defRPr sz="2000">
                <a:solidFill>
                  <a:schemeClr val="tx1"/>
                </a:solidFill>
                <a:latin typeface="Times New Roman" panose="02020603050405020304" pitchFamily="18" charset="0"/>
              </a:defRPr>
            </a:lvl8pPr>
            <a:lvl9pPr>
              <a:defRPr sz="2000">
                <a:solidFill>
                  <a:schemeClr val="tx1"/>
                </a:solidFill>
                <a:latin typeface="Times New Roman" panose="02020603050405020304" pitchFamily="18" charset="0"/>
              </a:defRPr>
            </a:lvl9pPr>
          </a:lstStyle>
          <a:p>
            <a:r>
              <a:rPr lang="en-US" altLang="en-US" sz="1400">
                <a:solidFill>
                  <a:prstClr val="black"/>
                </a:solidFill>
              </a:rPr>
              <a:t>2-</a:t>
            </a:r>
            <a:fld id="{C9E78276-A390-4FF6-8C93-B40A3E0819CE}" type="slidenum">
              <a:rPr lang="en-US" altLang="en-US" sz="1400">
                <a:solidFill>
                  <a:prstClr val="black"/>
                </a:solidFill>
              </a:rPr>
              <a:t>46</a:t>
            </a:fld>
            <a:endParaRPr lang="en-US" altLang="en-US" sz="1400">
              <a:solidFill>
                <a:prstClr val="black"/>
              </a:solidFill>
            </a:endParaRPr>
          </a:p>
        </p:txBody>
      </p:sp>
      <p:grpSp>
        <p:nvGrpSpPr>
          <p:cNvPr id="158" name="Group 39"/>
          <p:cNvGrpSpPr/>
          <p:nvPr/>
        </p:nvGrpSpPr>
        <p:grpSpPr bwMode="auto">
          <a:xfrm>
            <a:off x="732525" y="3343238"/>
            <a:ext cx="7508875" cy="2368550"/>
            <a:chOff x="462" y="1779"/>
            <a:chExt cx="4730" cy="1492"/>
          </a:xfrm>
        </p:grpSpPr>
        <p:sp>
          <p:nvSpPr>
            <p:cNvPr id="1049070" name="Rectangle 4"/>
            <p:cNvSpPr>
              <a:spLocks noChangeArrowheads="1"/>
            </p:cNvSpPr>
            <p:nvPr/>
          </p:nvSpPr>
          <p:spPr bwMode="auto">
            <a:xfrm>
              <a:off x="662" y="1779"/>
              <a:ext cx="943" cy="272"/>
            </a:xfrm>
            <a:prstGeom prst="rect">
              <a:avLst/>
            </a:prstGeom>
            <a:solidFill>
              <a:srgbClr val="FF0000"/>
            </a:solidFill>
            <a:ln w="25400">
              <a:solidFill>
                <a:schemeClr val="bg1"/>
              </a:solidFill>
              <a:miter lim="800000"/>
            </a:ln>
            <a:effectLst>
              <a:outerShdw dist="107763" dir="2700000" algn="ctr" rotWithShape="0">
                <a:schemeClr val="bg2"/>
              </a:outerShdw>
            </a:effectLst>
          </p:spPr>
          <p:txBody>
            <a:bodyPr wrap="none" lIns="90479" tIns="44446" rIns="90479" bIns="44446" anchor="ctr"/>
            <a:lstStyle/>
            <a:p>
              <a:pPr algn="ctr" fontAlgn="base">
                <a:spcBef>
                  <a:spcPct val="0"/>
                </a:spcBef>
                <a:spcAft>
                  <a:spcPct val="0"/>
                </a:spcAft>
              </a:pPr>
              <a:r>
                <a:rPr lang="en-US" altLang="en-US" b="1">
                  <a:solidFill>
                    <a:prstClr val="white"/>
                  </a:solidFill>
                  <a:latin typeface="Arial" panose="020B0604020202020204" pitchFamily="34" charset="0"/>
                  <a:cs typeface="Arial" panose="020B0604020202020204" pitchFamily="34" charset="0"/>
                </a:rPr>
                <a:t>Application</a:t>
              </a:r>
            </a:p>
          </p:txBody>
        </p:sp>
        <p:sp>
          <p:nvSpPr>
            <p:cNvPr id="1049071" name="Rectangle 7"/>
            <p:cNvSpPr>
              <a:spLocks noChangeArrowheads="1"/>
            </p:cNvSpPr>
            <p:nvPr/>
          </p:nvSpPr>
          <p:spPr bwMode="auto">
            <a:xfrm>
              <a:off x="662" y="2137"/>
              <a:ext cx="943" cy="272"/>
            </a:xfrm>
            <a:prstGeom prst="rect">
              <a:avLst/>
            </a:prstGeom>
            <a:solidFill>
              <a:srgbClr val="008000"/>
            </a:solidFill>
            <a:ln w="25400">
              <a:solidFill>
                <a:schemeClr val="bg1"/>
              </a:solidFill>
              <a:miter lim="800000"/>
            </a:ln>
            <a:effectLst>
              <a:outerShdw dist="107763" dir="2700000" algn="ctr" rotWithShape="0">
                <a:schemeClr val="bg2"/>
              </a:outerShdw>
            </a:effectLst>
          </p:spPr>
          <p:txBody>
            <a:bodyPr wrap="none" lIns="90479" tIns="44446" rIns="90479" bIns="44446" anchor="ctr"/>
            <a:lstStyle/>
            <a:p>
              <a:pPr algn="ctr" fontAlgn="base">
                <a:spcBef>
                  <a:spcPct val="0"/>
                </a:spcBef>
                <a:spcAft>
                  <a:spcPct val="0"/>
                </a:spcAft>
              </a:pPr>
              <a:r>
                <a:rPr lang="en-US" altLang="en-US" b="1">
                  <a:solidFill>
                    <a:prstClr val="white"/>
                  </a:solidFill>
                  <a:latin typeface="Arial" panose="020B0604020202020204" pitchFamily="34" charset="0"/>
                  <a:cs typeface="Arial" panose="020B0604020202020204" pitchFamily="34" charset="0"/>
                </a:rPr>
                <a:t>Transport</a:t>
              </a:r>
            </a:p>
          </p:txBody>
        </p:sp>
        <p:sp>
          <p:nvSpPr>
            <p:cNvPr id="1049072" name="Rectangle 8"/>
            <p:cNvSpPr>
              <a:spLocks noChangeArrowheads="1"/>
            </p:cNvSpPr>
            <p:nvPr/>
          </p:nvSpPr>
          <p:spPr bwMode="auto">
            <a:xfrm>
              <a:off x="662" y="2425"/>
              <a:ext cx="943" cy="270"/>
            </a:xfrm>
            <a:prstGeom prst="rect">
              <a:avLst/>
            </a:prstGeom>
            <a:solidFill>
              <a:srgbClr val="99CC00"/>
            </a:solidFill>
            <a:ln w="25400" algn="ctr">
              <a:solidFill>
                <a:schemeClr val="bg1"/>
              </a:solidFill>
              <a:miter lim="800000"/>
            </a:ln>
            <a:effectLst>
              <a:outerShdw dist="107763" dir="2700000" algn="ctr" rotWithShape="0">
                <a:schemeClr val="bg2"/>
              </a:outerShdw>
            </a:effectLst>
          </p:spPr>
          <p:txBody>
            <a:bodyPr wrap="none" lIns="90479" tIns="44446" rIns="90479" bIns="44446" anchor="ctr"/>
            <a:lstStyle/>
            <a:p>
              <a:pPr algn="ctr" fontAlgn="base">
                <a:spcBef>
                  <a:spcPct val="0"/>
                </a:spcBef>
                <a:spcAft>
                  <a:spcPct val="0"/>
                </a:spcAft>
              </a:pPr>
              <a:r>
                <a:rPr lang="en-US" altLang="en-US" b="1">
                  <a:solidFill>
                    <a:prstClr val="white"/>
                  </a:solidFill>
                  <a:latin typeface="Arial" panose="020B0604020202020204" pitchFamily="34" charset="0"/>
                  <a:cs typeface="Arial" panose="020B0604020202020204" pitchFamily="34" charset="0"/>
                </a:rPr>
                <a:t>Network</a:t>
              </a:r>
            </a:p>
          </p:txBody>
        </p:sp>
        <p:sp>
          <p:nvSpPr>
            <p:cNvPr id="1049073" name="Rectangle 9"/>
            <p:cNvSpPr>
              <a:spLocks noChangeArrowheads="1"/>
            </p:cNvSpPr>
            <p:nvPr/>
          </p:nvSpPr>
          <p:spPr bwMode="auto">
            <a:xfrm>
              <a:off x="662" y="2712"/>
              <a:ext cx="943" cy="272"/>
            </a:xfrm>
            <a:prstGeom prst="rect">
              <a:avLst/>
            </a:prstGeom>
            <a:solidFill>
              <a:srgbClr val="800000"/>
            </a:solidFill>
            <a:ln w="25400" algn="ctr">
              <a:solidFill>
                <a:schemeClr val="bg1"/>
              </a:solidFill>
              <a:miter lim="800000"/>
            </a:ln>
            <a:effectLst>
              <a:outerShdw dist="107763" dir="2700000" algn="ctr" rotWithShape="0">
                <a:schemeClr val="bg2"/>
              </a:outerShdw>
            </a:effectLst>
          </p:spPr>
          <p:txBody>
            <a:bodyPr wrap="none" lIns="90479" tIns="44446" rIns="90479" bIns="44446" anchor="ctr"/>
            <a:lstStyle/>
            <a:p>
              <a:pPr algn="ctr" fontAlgn="base">
                <a:spcBef>
                  <a:spcPct val="0"/>
                </a:spcBef>
                <a:spcAft>
                  <a:spcPct val="0"/>
                </a:spcAft>
              </a:pPr>
              <a:r>
                <a:rPr lang="en-US" altLang="en-US" b="1">
                  <a:solidFill>
                    <a:prstClr val="white"/>
                  </a:solidFill>
                  <a:latin typeface="Arial" panose="020B0604020202020204" pitchFamily="34" charset="0"/>
                  <a:cs typeface="Arial" panose="020B0604020202020204" pitchFamily="34" charset="0"/>
                </a:rPr>
                <a:t>Data link</a:t>
              </a:r>
            </a:p>
          </p:txBody>
        </p:sp>
        <p:sp>
          <p:nvSpPr>
            <p:cNvPr id="1049074" name="Rectangle 10"/>
            <p:cNvSpPr>
              <a:spLocks noChangeArrowheads="1"/>
            </p:cNvSpPr>
            <p:nvPr/>
          </p:nvSpPr>
          <p:spPr bwMode="auto">
            <a:xfrm>
              <a:off x="662" y="3000"/>
              <a:ext cx="943" cy="271"/>
            </a:xfrm>
            <a:prstGeom prst="rect">
              <a:avLst/>
            </a:prstGeom>
            <a:solidFill>
              <a:srgbClr val="3366FF"/>
            </a:solidFill>
            <a:ln w="25400">
              <a:solidFill>
                <a:schemeClr val="bg1"/>
              </a:solidFill>
              <a:miter lim="800000"/>
            </a:ln>
            <a:effectLst>
              <a:outerShdw dist="107763" dir="2700000" algn="ctr" rotWithShape="0">
                <a:schemeClr val="bg2"/>
              </a:outerShdw>
            </a:effectLst>
          </p:spPr>
          <p:txBody>
            <a:bodyPr wrap="none" lIns="90479" tIns="44446" rIns="90479" bIns="44446" anchor="ctr"/>
            <a:lstStyle/>
            <a:p>
              <a:pPr algn="ctr" fontAlgn="base">
                <a:spcBef>
                  <a:spcPct val="0"/>
                </a:spcBef>
                <a:spcAft>
                  <a:spcPct val="0"/>
                </a:spcAft>
              </a:pPr>
              <a:r>
                <a:rPr lang="en-US" altLang="en-US" b="1">
                  <a:solidFill>
                    <a:prstClr val="white"/>
                  </a:solidFill>
                  <a:latin typeface="Arial" panose="020B0604020202020204" pitchFamily="34" charset="0"/>
                  <a:cs typeface="Arial" panose="020B0604020202020204" pitchFamily="34" charset="0"/>
                </a:rPr>
                <a:t>Physical</a:t>
              </a:r>
            </a:p>
          </p:txBody>
        </p:sp>
        <p:sp>
          <p:nvSpPr>
            <p:cNvPr id="1049075" name="Rectangle 11"/>
            <p:cNvSpPr>
              <a:spLocks noChangeArrowheads="1"/>
            </p:cNvSpPr>
            <p:nvPr/>
          </p:nvSpPr>
          <p:spPr bwMode="auto">
            <a:xfrm>
              <a:off x="470" y="3056"/>
              <a:ext cx="136" cy="196"/>
            </a:xfrm>
            <a:prstGeom prst="rect">
              <a:avLst/>
            </a:prstGeom>
            <a:noFill/>
            <a:ln>
              <a:noFill/>
            </a:ln>
          </p:spPr>
          <p:txBody>
            <a:bodyPr wrap="none" lIns="63493" tIns="25397" rIns="63493" bIns="25397">
              <a:spAutoFit/>
            </a:bodyPr>
            <a:lstStyle/>
            <a:p>
              <a:pPr fontAlgn="base">
                <a:lnSpc>
                  <a:spcPct val="85000"/>
                </a:lnSpc>
                <a:spcBef>
                  <a:spcPct val="0"/>
                </a:spcBef>
                <a:spcAft>
                  <a:spcPct val="0"/>
                </a:spcAft>
              </a:pPr>
              <a:r>
                <a:rPr lang="en-US" altLang="en-US" b="1">
                  <a:solidFill>
                    <a:prstClr val="black"/>
                  </a:solidFill>
                  <a:latin typeface="Arial" panose="020B0604020202020204" pitchFamily="34" charset="0"/>
                  <a:cs typeface="Arial" panose="020B0604020202020204" pitchFamily="34" charset="0"/>
                </a:rPr>
                <a:t>1</a:t>
              </a:r>
            </a:p>
          </p:txBody>
        </p:sp>
        <p:sp>
          <p:nvSpPr>
            <p:cNvPr id="1049076" name="Rectangle 12"/>
            <p:cNvSpPr>
              <a:spLocks noChangeArrowheads="1"/>
            </p:cNvSpPr>
            <p:nvPr/>
          </p:nvSpPr>
          <p:spPr bwMode="auto">
            <a:xfrm>
              <a:off x="470" y="2768"/>
              <a:ext cx="168" cy="196"/>
            </a:xfrm>
            <a:prstGeom prst="rect">
              <a:avLst/>
            </a:prstGeom>
            <a:noFill/>
            <a:ln>
              <a:noFill/>
            </a:ln>
          </p:spPr>
          <p:txBody>
            <a:bodyPr wrap="none" lIns="63493" tIns="25397" rIns="63493" bIns="25397">
              <a:spAutoFit/>
            </a:bodyPr>
            <a:lstStyle/>
            <a:p>
              <a:pPr fontAlgn="base">
                <a:lnSpc>
                  <a:spcPct val="85000"/>
                </a:lnSpc>
                <a:spcBef>
                  <a:spcPct val="0"/>
                </a:spcBef>
                <a:spcAft>
                  <a:spcPct val="0"/>
                </a:spcAft>
              </a:pPr>
              <a:r>
                <a:rPr lang="en-US" altLang="en-US" b="1">
                  <a:solidFill>
                    <a:prstClr val="black"/>
                  </a:solidFill>
                  <a:latin typeface="Arial" panose="020B0604020202020204" pitchFamily="34" charset="0"/>
                  <a:cs typeface="Arial" panose="020B0604020202020204" pitchFamily="34" charset="0"/>
                </a:rPr>
                <a:t>2</a:t>
              </a:r>
            </a:p>
          </p:txBody>
        </p:sp>
        <p:sp>
          <p:nvSpPr>
            <p:cNvPr id="1049077" name="Rectangle 13"/>
            <p:cNvSpPr>
              <a:spLocks noChangeArrowheads="1"/>
            </p:cNvSpPr>
            <p:nvPr/>
          </p:nvSpPr>
          <p:spPr bwMode="auto">
            <a:xfrm>
              <a:off x="470" y="2481"/>
              <a:ext cx="176" cy="196"/>
            </a:xfrm>
            <a:prstGeom prst="rect">
              <a:avLst/>
            </a:prstGeom>
            <a:noFill/>
            <a:ln>
              <a:noFill/>
            </a:ln>
          </p:spPr>
          <p:txBody>
            <a:bodyPr wrap="none" lIns="63493" tIns="25397" rIns="63493" bIns="25397">
              <a:spAutoFit/>
            </a:bodyPr>
            <a:lstStyle/>
            <a:p>
              <a:pPr fontAlgn="base">
                <a:lnSpc>
                  <a:spcPct val="85000"/>
                </a:lnSpc>
                <a:spcBef>
                  <a:spcPct val="0"/>
                </a:spcBef>
                <a:spcAft>
                  <a:spcPct val="0"/>
                </a:spcAft>
              </a:pPr>
              <a:r>
                <a:rPr lang="en-US" altLang="en-US" b="1">
                  <a:solidFill>
                    <a:prstClr val="black"/>
                  </a:solidFill>
                  <a:latin typeface="Arial" panose="020B0604020202020204" pitchFamily="34" charset="0"/>
                  <a:cs typeface="Arial" panose="020B0604020202020204" pitchFamily="34" charset="0"/>
                </a:rPr>
                <a:t>3</a:t>
              </a:r>
            </a:p>
          </p:txBody>
        </p:sp>
        <p:sp>
          <p:nvSpPr>
            <p:cNvPr id="1049078" name="Rectangle 14"/>
            <p:cNvSpPr>
              <a:spLocks noChangeArrowheads="1"/>
            </p:cNvSpPr>
            <p:nvPr/>
          </p:nvSpPr>
          <p:spPr bwMode="auto">
            <a:xfrm>
              <a:off x="470" y="2193"/>
              <a:ext cx="176" cy="196"/>
            </a:xfrm>
            <a:prstGeom prst="rect">
              <a:avLst/>
            </a:prstGeom>
            <a:noFill/>
            <a:ln>
              <a:noFill/>
            </a:ln>
          </p:spPr>
          <p:txBody>
            <a:bodyPr wrap="none" lIns="63493" tIns="25397" rIns="63493" bIns="25397">
              <a:spAutoFit/>
            </a:bodyPr>
            <a:lstStyle/>
            <a:p>
              <a:pPr fontAlgn="base">
                <a:lnSpc>
                  <a:spcPct val="85000"/>
                </a:lnSpc>
                <a:spcBef>
                  <a:spcPct val="0"/>
                </a:spcBef>
                <a:spcAft>
                  <a:spcPct val="0"/>
                </a:spcAft>
              </a:pPr>
              <a:r>
                <a:rPr lang="en-US" altLang="en-US" b="1">
                  <a:solidFill>
                    <a:prstClr val="black"/>
                  </a:solidFill>
                  <a:latin typeface="Arial" panose="020B0604020202020204" pitchFamily="34" charset="0"/>
                  <a:cs typeface="Arial" panose="020B0604020202020204" pitchFamily="34" charset="0"/>
                </a:rPr>
                <a:t>4</a:t>
              </a:r>
            </a:p>
          </p:txBody>
        </p:sp>
        <p:sp>
          <p:nvSpPr>
            <p:cNvPr id="1049079" name="Rectangle 18"/>
            <p:cNvSpPr>
              <a:spLocks noChangeArrowheads="1"/>
            </p:cNvSpPr>
            <p:nvPr/>
          </p:nvSpPr>
          <p:spPr bwMode="auto">
            <a:xfrm>
              <a:off x="2476" y="2413"/>
              <a:ext cx="942" cy="270"/>
            </a:xfrm>
            <a:prstGeom prst="rect">
              <a:avLst/>
            </a:prstGeom>
            <a:solidFill>
              <a:srgbClr val="99CC00"/>
            </a:solidFill>
            <a:ln w="25400" algn="ctr">
              <a:solidFill>
                <a:schemeClr val="bg1"/>
              </a:solidFill>
              <a:miter lim="800000"/>
            </a:ln>
            <a:effectLst>
              <a:outerShdw dist="107763" dir="2700000" algn="ctr" rotWithShape="0">
                <a:schemeClr val="bg2"/>
              </a:outerShdw>
            </a:effectLst>
          </p:spPr>
          <p:txBody>
            <a:bodyPr wrap="none" lIns="90479" tIns="44446" rIns="90479" bIns="44446" anchor="ctr"/>
            <a:lstStyle/>
            <a:p>
              <a:pPr algn="ctr" fontAlgn="base">
                <a:spcBef>
                  <a:spcPct val="0"/>
                </a:spcBef>
                <a:spcAft>
                  <a:spcPct val="0"/>
                </a:spcAft>
              </a:pPr>
              <a:r>
                <a:rPr lang="en-US" altLang="en-US" b="1">
                  <a:solidFill>
                    <a:prstClr val="white"/>
                  </a:solidFill>
                  <a:latin typeface="Arial" panose="020B0604020202020204" pitchFamily="34" charset="0"/>
                  <a:cs typeface="Arial" panose="020B0604020202020204" pitchFamily="34" charset="0"/>
                </a:rPr>
                <a:t>Network</a:t>
              </a:r>
            </a:p>
          </p:txBody>
        </p:sp>
        <p:sp>
          <p:nvSpPr>
            <p:cNvPr id="1049080" name="Rectangle 19"/>
            <p:cNvSpPr>
              <a:spLocks noChangeArrowheads="1"/>
            </p:cNvSpPr>
            <p:nvPr/>
          </p:nvSpPr>
          <p:spPr bwMode="auto">
            <a:xfrm>
              <a:off x="2476" y="2700"/>
              <a:ext cx="942" cy="272"/>
            </a:xfrm>
            <a:prstGeom prst="rect">
              <a:avLst/>
            </a:prstGeom>
            <a:solidFill>
              <a:srgbClr val="800000"/>
            </a:solidFill>
            <a:ln w="25400" algn="ctr">
              <a:solidFill>
                <a:schemeClr val="bg1"/>
              </a:solidFill>
              <a:miter lim="800000"/>
            </a:ln>
            <a:effectLst>
              <a:outerShdw dist="107763" dir="2700000" algn="ctr" rotWithShape="0">
                <a:schemeClr val="bg2"/>
              </a:outerShdw>
            </a:effectLst>
          </p:spPr>
          <p:txBody>
            <a:bodyPr wrap="none" lIns="90479" tIns="44446" rIns="90479" bIns="44446" anchor="ctr"/>
            <a:lstStyle/>
            <a:p>
              <a:pPr algn="ctr" fontAlgn="base">
                <a:spcBef>
                  <a:spcPct val="0"/>
                </a:spcBef>
                <a:spcAft>
                  <a:spcPct val="0"/>
                </a:spcAft>
              </a:pPr>
              <a:r>
                <a:rPr lang="en-US" altLang="en-US" b="1">
                  <a:solidFill>
                    <a:prstClr val="white"/>
                  </a:solidFill>
                  <a:latin typeface="Arial" panose="020B0604020202020204" pitchFamily="34" charset="0"/>
                  <a:cs typeface="Arial" panose="020B0604020202020204" pitchFamily="34" charset="0"/>
                </a:rPr>
                <a:t>Data link</a:t>
              </a:r>
            </a:p>
          </p:txBody>
        </p:sp>
        <p:sp>
          <p:nvSpPr>
            <p:cNvPr id="1049081" name="Rectangle 20"/>
            <p:cNvSpPr>
              <a:spLocks noChangeArrowheads="1"/>
            </p:cNvSpPr>
            <p:nvPr/>
          </p:nvSpPr>
          <p:spPr bwMode="auto">
            <a:xfrm>
              <a:off x="2476" y="2988"/>
              <a:ext cx="942" cy="271"/>
            </a:xfrm>
            <a:prstGeom prst="rect">
              <a:avLst/>
            </a:prstGeom>
            <a:solidFill>
              <a:srgbClr val="3366FF"/>
            </a:solidFill>
            <a:ln w="25400" algn="ctr">
              <a:solidFill>
                <a:schemeClr val="bg1"/>
              </a:solidFill>
              <a:miter lim="800000"/>
            </a:ln>
            <a:effectLst>
              <a:outerShdw dist="107763" dir="2700000" algn="ctr" rotWithShape="0">
                <a:schemeClr val="bg2"/>
              </a:outerShdw>
            </a:effectLst>
          </p:spPr>
          <p:txBody>
            <a:bodyPr wrap="none" lIns="90479" tIns="44446" rIns="90479" bIns="44446" anchor="ctr"/>
            <a:lstStyle/>
            <a:p>
              <a:pPr algn="ctr" fontAlgn="base">
                <a:spcBef>
                  <a:spcPct val="0"/>
                </a:spcBef>
                <a:spcAft>
                  <a:spcPct val="0"/>
                </a:spcAft>
              </a:pPr>
              <a:r>
                <a:rPr lang="en-US" altLang="en-US" b="1">
                  <a:solidFill>
                    <a:prstClr val="white"/>
                  </a:solidFill>
                  <a:latin typeface="Arial" panose="020B0604020202020204" pitchFamily="34" charset="0"/>
                  <a:cs typeface="Arial" panose="020B0604020202020204" pitchFamily="34" charset="0"/>
                </a:rPr>
                <a:t>Physical</a:t>
              </a:r>
            </a:p>
          </p:txBody>
        </p:sp>
        <p:sp>
          <p:nvSpPr>
            <p:cNvPr id="1049082" name="Line 21"/>
            <p:cNvSpPr>
              <a:spLocks noChangeShapeType="1"/>
            </p:cNvSpPr>
            <p:nvPr/>
          </p:nvSpPr>
          <p:spPr bwMode="auto">
            <a:xfrm>
              <a:off x="1621" y="3124"/>
              <a:ext cx="831" cy="0"/>
            </a:xfrm>
            <a:prstGeom prst="line">
              <a:avLst/>
            </a:prstGeom>
            <a:noFill/>
            <a:ln w="50800">
              <a:solidFill>
                <a:schemeClr val="tx1"/>
              </a:solidFill>
              <a:round/>
              <a:headEnd type="triangle" w="med" len="med"/>
              <a:tailEnd type="triangle" w="med" len="med"/>
            </a:ln>
          </p:spPr>
          <p:txBody>
            <a:bodyPr wrap="none" anchor="ctr"/>
            <a:lstStyle/>
            <a:p>
              <a:pPr fontAlgn="base">
                <a:spcBef>
                  <a:spcPct val="0"/>
                </a:spcBef>
                <a:spcAft>
                  <a:spcPct val="0"/>
                </a:spcAft>
              </a:pPr>
              <a:endParaRPr lang="en-US">
                <a:solidFill>
                  <a:prstClr val="black"/>
                </a:solidFill>
                <a:latin typeface="Tahoma" panose="020B0604030504040204" pitchFamily="34" charset="0"/>
                <a:cs typeface="Arial" panose="020B0604020202020204" pitchFamily="34" charset="0"/>
              </a:endParaRPr>
            </a:p>
          </p:txBody>
        </p:sp>
        <p:sp>
          <p:nvSpPr>
            <p:cNvPr id="1049083" name="Line 22"/>
            <p:cNvSpPr>
              <a:spLocks noChangeShapeType="1"/>
            </p:cNvSpPr>
            <p:nvPr/>
          </p:nvSpPr>
          <p:spPr bwMode="auto">
            <a:xfrm>
              <a:off x="1621" y="2836"/>
              <a:ext cx="831" cy="0"/>
            </a:xfrm>
            <a:prstGeom prst="line">
              <a:avLst/>
            </a:prstGeom>
            <a:noFill/>
            <a:ln w="50800">
              <a:pattFill prst="pct50">
                <a:fgClr>
                  <a:schemeClr val="tx1"/>
                </a:fgClr>
                <a:bgClr>
                  <a:schemeClr val="bg1"/>
                </a:bgClr>
              </a:pattFill>
              <a:round/>
              <a:headEnd type="triangle" w="med" len="med"/>
              <a:tailEnd type="triangle" w="med" len="med"/>
            </a:ln>
          </p:spPr>
          <p:txBody>
            <a:bodyPr wrap="none" anchor="ctr"/>
            <a:lstStyle/>
            <a:p>
              <a:pPr fontAlgn="base">
                <a:spcBef>
                  <a:spcPct val="0"/>
                </a:spcBef>
                <a:spcAft>
                  <a:spcPct val="0"/>
                </a:spcAft>
              </a:pPr>
              <a:endParaRPr lang="en-US">
                <a:solidFill>
                  <a:prstClr val="black"/>
                </a:solidFill>
                <a:latin typeface="Tahoma" panose="020B0604030504040204" pitchFamily="34" charset="0"/>
                <a:cs typeface="Arial" panose="020B0604020202020204" pitchFamily="34" charset="0"/>
              </a:endParaRPr>
            </a:p>
          </p:txBody>
        </p:sp>
        <p:sp>
          <p:nvSpPr>
            <p:cNvPr id="1049084" name="Line 23"/>
            <p:cNvSpPr>
              <a:spLocks noChangeShapeType="1"/>
            </p:cNvSpPr>
            <p:nvPr/>
          </p:nvSpPr>
          <p:spPr bwMode="auto">
            <a:xfrm>
              <a:off x="1621" y="2549"/>
              <a:ext cx="831" cy="0"/>
            </a:xfrm>
            <a:prstGeom prst="line">
              <a:avLst/>
            </a:prstGeom>
            <a:noFill/>
            <a:ln w="50800">
              <a:pattFill prst="pct50">
                <a:fgClr>
                  <a:schemeClr val="tx1"/>
                </a:fgClr>
                <a:bgClr>
                  <a:schemeClr val="bg1"/>
                </a:bgClr>
              </a:pattFill>
              <a:round/>
              <a:headEnd type="triangle" w="med" len="med"/>
              <a:tailEnd type="triangle" w="med" len="med"/>
            </a:ln>
          </p:spPr>
          <p:txBody>
            <a:bodyPr wrap="none" anchor="ctr"/>
            <a:lstStyle/>
            <a:p>
              <a:pPr fontAlgn="base">
                <a:spcBef>
                  <a:spcPct val="0"/>
                </a:spcBef>
                <a:spcAft>
                  <a:spcPct val="0"/>
                </a:spcAft>
              </a:pPr>
              <a:endParaRPr lang="en-US">
                <a:solidFill>
                  <a:prstClr val="black"/>
                </a:solidFill>
                <a:latin typeface="Tahoma" panose="020B0604030504040204" pitchFamily="34" charset="0"/>
                <a:cs typeface="Arial" panose="020B0604020202020204" pitchFamily="34" charset="0"/>
              </a:endParaRPr>
            </a:p>
          </p:txBody>
        </p:sp>
        <p:sp>
          <p:nvSpPr>
            <p:cNvPr id="1049085" name="Line 24"/>
            <p:cNvSpPr>
              <a:spLocks noChangeShapeType="1"/>
            </p:cNvSpPr>
            <p:nvPr/>
          </p:nvSpPr>
          <p:spPr bwMode="auto">
            <a:xfrm>
              <a:off x="1621" y="1903"/>
              <a:ext cx="2636" cy="8"/>
            </a:xfrm>
            <a:prstGeom prst="line">
              <a:avLst/>
            </a:prstGeom>
            <a:noFill/>
            <a:ln w="50800">
              <a:pattFill prst="pct50">
                <a:fgClr>
                  <a:schemeClr val="tx1"/>
                </a:fgClr>
                <a:bgClr>
                  <a:schemeClr val="bg1"/>
                </a:bgClr>
              </a:pattFill>
              <a:round/>
              <a:headEnd type="triangle" w="med" len="med"/>
              <a:tailEnd type="triangle" w="med" len="med"/>
            </a:ln>
          </p:spPr>
          <p:txBody>
            <a:bodyPr wrap="none" anchor="ctr"/>
            <a:lstStyle/>
            <a:p>
              <a:pPr fontAlgn="base">
                <a:spcBef>
                  <a:spcPct val="0"/>
                </a:spcBef>
                <a:spcAft>
                  <a:spcPct val="0"/>
                </a:spcAft>
              </a:pPr>
              <a:endParaRPr lang="en-US">
                <a:solidFill>
                  <a:prstClr val="black"/>
                </a:solidFill>
                <a:latin typeface="Tahoma" panose="020B0604030504040204" pitchFamily="34" charset="0"/>
                <a:cs typeface="Arial" panose="020B0604020202020204" pitchFamily="34" charset="0"/>
              </a:endParaRPr>
            </a:p>
          </p:txBody>
        </p:sp>
        <p:sp>
          <p:nvSpPr>
            <p:cNvPr id="1049086" name="Rectangle 25"/>
            <p:cNvSpPr>
              <a:spLocks noChangeArrowheads="1"/>
            </p:cNvSpPr>
            <p:nvPr/>
          </p:nvSpPr>
          <p:spPr bwMode="auto">
            <a:xfrm>
              <a:off x="4249" y="1779"/>
              <a:ext cx="943" cy="272"/>
            </a:xfrm>
            <a:prstGeom prst="rect">
              <a:avLst/>
            </a:prstGeom>
            <a:solidFill>
              <a:srgbClr val="FF3300"/>
            </a:solidFill>
            <a:ln w="25400">
              <a:solidFill>
                <a:schemeClr val="bg1"/>
              </a:solidFill>
              <a:miter lim="800000"/>
            </a:ln>
            <a:effectLst>
              <a:outerShdw dist="107763" dir="2700000" algn="ctr" rotWithShape="0">
                <a:schemeClr val="bg2"/>
              </a:outerShdw>
            </a:effectLst>
          </p:spPr>
          <p:txBody>
            <a:bodyPr wrap="none" lIns="90479" tIns="44446" rIns="90479" bIns="44446" anchor="ctr"/>
            <a:lstStyle/>
            <a:p>
              <a:pPr algn="ctr" fontAlgn="base">
                <a:spcBef>
                  <a:spcPct val="0"/>
                </a:spcBef>
                <a:spcAft>
                  <a:spcPct val="0"/>
                </a:spcAft>
              </a:pPr>
              <a:r>
                <a:rPr lang="en-US" altLang="en-US" b="1">
                  <a:solidFill>
                    <a:prstClr val="white"/>
                  </a:solidFill>
                  <a:latin typeface="Arial" panose="020B0604020202020204" pitchFamily="34" charset="0"/>
                  <a:cs typeface="Arial" panose="020B0604020202020204" pitchFamily="34" charset="0"/>
                </a:rPr>
                <a:t>Application</a:t>
              </a:r>
            </a:p>
          </p:txBody>
        </p:sp>
        <p:sp>
          <p:nvSpPr>
            <p:cNvPr id="1049087" name="Rectangle 28"/>
            <p:cNvSpPr>
              <a:spLocks noChangeArrowheads="1"/>
            </p:cNvSpPr>
            <p:nvPr/>
          </p:nvSpPr>
          <p:spPr bwMode="auto">
            <a:xfrm>
              <a:off x="4249" y="2137"/>
              <a:ext cx="943" cy="272"/>
            </a:xfrm>
            <a:prstGeom prst="rect">
              <a:avLst/>
            </a:prstGeom>
            <a:solidFill>
              <a:srgbClr val="008000"/>
            </a:solidFill>
            <a:ln w="25400">
              <a:solidFill>
                <a:schemeClr val="bg1"/>
              </a:solidFill>
              <a:miter lim="800000"/>
            </a:ln>
            <a:effectLst>
              <a:outerShdw dist="107763" dir="2700000" algn="ctr" rotWithShape="0">
                <a:schemeClr val="bg2"/>
              </a:outerShdw>
            </a:effectLst>
          </p:spPr>
          <p:txBody>
            <a:bodyPr wrap="none" lIns="90479" tIns="44446" rIns="90479" bIns="44446" anchor="ctr"/>
            <a:lstStyle/>
            <a:p>
              <a:pPr algn="ctr" fontAlgn="base">
                <a:spcBef>
                  <a:spcPct val="0"/>
                </a:spcBef>
                <a:spcAft>
                  <a:spcPct val="0"/>
                </a:spcAft>
              </a:pPr>
              <a:r>
                <a:rPr lang="en-US" altLang="en-US" b="1">
                  <a:solidFill>
                    <a:prstClr val="white"/>
                  </a:solidFill>
                  <a:latin typeface="Arial" panose="020B0604020202020204" pitchFamily="34" charset="0"/>
                  <a:cs typeface="Arial" panose="020B0604020202020204" pitchFamily="34" charset="0"/>
                </a:rPr>
                <a:t>Transport</a:t>
              </a:r>
            </a:p>
          </p:txBody>
        </p:sp>
        <p:sp>
          <p:nvSpPr>
            <p:cNvPr id="1049088" name="Rectangle 29"/>
            <p:cNvSpPr>
              <a:spLocks noChangeArrowheads="1"/>
            </p:cNvSpPr>
            <p:nvPr/>
          </p:nvSpPr>
          <p:spPr bwMode="auto">
            <a:xfrm>
              <a:off x="4249" y="2425"/>
              <a:ext cx="943" cy="270"/>
            </a:xfrm>
            <a:prstGeom prst="rect">
              <a:avLst/>
            </a:prstGeom>
            <a:solidFill>
              <a:srgbClr val="99CC00"/>
            </a:solidFill>
            <a:ln w="25400" algn="ctr">
              <a:solidFill>
                <a:schemeClr val="bg1"/>
              </a:solidFill>
              <a:miter lim="800000"/>
            </a:ln>
            <a:effectLst>
              <a:outerShdw dist="107763" dir="2700000" algn="ctr" rotWithShape="0">
                <a:schemeClr val="bg2"/>
              </a:outerShdw>
            </a:effectLst>
          </p:spPr>
          <p:txBody>
            <a:bodyPr wrap="none" lIns="90479" tIns="44446" rIns="90479" bIns="44446" anchor="ctr"/>
            <a:lstStyle/>
            <a:p>
              <a:pPr algn="ctr" fontAlgn="base">
                <a:spcBef>
                  <a:spcPct val="0"/>
                </a:spcBef>
                <a:spcAft>
                  <a:spcPct val="0"/>
                </a:spcAft>
              </a:pPr>
              <a:r>
                <a:rPr lang="en-US" altLang="en-US" b="1">
                  <a:solidFill>
                    <a:prstClr val="white"/>
                  </a:solidFill>
                  <a:latin typeface="Arial" panose="020B0604020202020204" pitchFamily="34" charset="0"/>
                  <a:cs typeface="Arial" panose="020B0604020202020204" pitchFamily="34" charset="0"/>
                </a:rPr>
                <a:t>Network</a:t>
              </a:r>
            </a:p>
          </p:txBody>
        </p:sp>
        <p:sp>
          <p:nvSpPr>
            <p:cNvPr id="1049089" name="Rectangle 30"/>
            <p:cNvSpPr>
              <a:spLocks noChangeArrowheads="1"/>
            </p:cNvSpPr>
            <p:nvPr/>
          </p:nvSpPr>
          <p:spPr bwMode="auto">
            <a:xfrm>
              <a:off x="4249" y="2712"/>
              <a:ext cx="943" cy="272"/>
            </a:xfrm>
            <a:prstGeom prst="rect">
              <a:avLst/>
            </a:prstGeom>
            <a:solidFill>
              <a:srgbClr val="993300"/>
            </a:solidFill>
            <a:ln w="25400" algn="ctr">
              <a:solidFill>
                <a:schemeClr val="bg1"/>
              </a:solidFill>
              <a:miter lim="800000"/>
            </a:ln>
            <a:effectLst>
              <a:outerShdw dist="107763" dir="2700000" algn="ctr" rotWithShape="0">
                <a:schemeClr val="bg2"/>
              </a:outerShdw>
            </a:effectLst>
          </p:spPr>
          <p:txBody>
            <a:bodyPr wrap="none" lIns="90479" tIns="44446" rIns="90479" bIns="44446" anchor="ctr"/>
            <a:lstStyle/>
            <a:p>
              <a:pPr algn="ctr" fontAlgn="base">
                <a:spcBef>
                  <a:spcPct val="0"/>
                </a:spcBef>
                <a:spcAft>
                  <a:spcPct val="0"/>
                </a:spcAft>
              </a:pPr>
              <a:r>
                <a:rPr lang="en-US" altLang="en-US" b="1">
                  <a:solidFill>
                    <a:prstClr val="white"/>
                  </a:solidFill>
                  <a:latin typeface="Arial" panose="020B0604020202020204" pitchFamily="34" charset="0"/>
                  <a:cs typeface="Arial" panose="020B0604020202020204" pitchFamily="34" charset="0"/>
                </a:rPr>
                <a:t>Data link</a:t>
              </a:r>
            </a:p>
          </p:txBody>
        </p:sp>
        <p:sp>
          <p:nvSpPr>
            <p:cNvPr id="1049090" name="Rectangle 31"/>
            <p:cNvSpPr>
              <a:spLocks noChangeArrowheads="1"/>
            </p:cNvSpPr>
            <p:nvPr/>
          </p:nvSpPr>
          <p:spPr bwMode="auto">
            <a:xfrm>
              <a:off x="4249" y="3000"/>
              <a:ext cx="943" cy="271"/>
            </a:xfrm>
            <a:prstGeom prst="rect">
              <a:avLst/>
            </a:prstGeom>
            <a:solidFill>
              <a:srgbClr val="3366FF"/>
            </a:solidFill>
            <a:ln w="25400" algn="ctr">
              <a:solidFill>
                <a:schemeClr val="bg1"/>
              </a:solidFill>
              <a:miter lim="800000"/>
            </a:ln>
            <a:effectLst>
              <a:outerShdw dist="107763" dir="2700000" algn="ctr" rotWithShape="0">
                <a:schemeClr val="bg2"/>
              </a:outerShdw>
            </a:effectLst>
          </p:spPr>
          <p:txBody>
            <a:bodyPr wrap="none" lIns="90479" tIns="44446" rIns="90479" bIns="44446" anchor="ctr"/>
            <a:lstStyle/>
            <a:p>
              <a:pPr algn="ctr" fontAlgn="base">
                <a:spcBef>
                  <a:spcPct val="0"/>
                </a:spcBef>
                <a:spcAft>
                  <a:spcPct val="0"/>
                </a:spcAft>
              </a:pPr>
              <a:r>
                <a:rPr lang="en-US" altLang="en-US" b="1">
                  <a:solidFill>
                    <a:prstClr val="white"/>
                  </a:solidFill>
                  <a:latin typeface="Arial" panose="020B0604020202020204" pitchFamily="34" charset="0"/>
                  <a:cs typeface="Arial" panose="020B0604020202020204" pitchFamily="34" charset="0"/>
                </a:rPr>
                <a:t>Physical</a:t>
              </a:r>
            </a:p>
          </p:txBody>
        </p:sp>
        <p:sp>
          <p:nvSpPr>
            <p:cNvPr id="1049091" name="Line 32"/>
            <p:cNvSpPr>
              <a:spLocks noChangeShapeType="1"/>
            </p:cNvSpPr>
            <p:nvPr/>
          </p:nvSpPr>
          <p:spPr bwMode="auto">
            <a:xfrm>
              <a:off x="3446" y="3136"/>
              <a:ext cx="831" cy="0"/>
            </a:xfrm>
            <a:prstGeom prst="line">
              <a:avLst/>
            </a:prstGeom>
            <a:noFill/>
            <a:ln w="50800">
              <a:solidFill>
                <a:schemeClr val="tx1"/>
              </a:solidFill>
              <a:round/>
              <a:headEnd type="triangle" w="med" len="med"/>
              <a:tailEnd type="triangle" w="med" len="med"/>
            </a:ln>
          </p:spPr>
          <p:txBody>
            <a:bodyPr wrap="none" anchor="ctr"/>
            <a:lstStyle/>
            <a:p>
              <a:pPr fontAlgn="base">
                <a:spcBef>
                  <a:spcPct val="0"/>
                </a:spcBef>
                <a:spcAft>
                  <a:spcPct val="0"/>
                </a:spcAft>
              </a:pPr>
              <a:endParaRPr lang="en-US">
                <a:solidFill>
                  <a:prstClr val="black"/>
                </a:solidFill>
                <a:latin typeface="Tahoma" panose="020B0604030504040204" pitchFamily="34" charset="0"/>
                <a:cs typeface="Arial" panose="020B0604020202020204" pitchFamily="34" charset="0"/>
              </a:endParaRPr>
            </a:p>
          </p:txBody>
        </p:sp>
        <p:sp>
          <p:nvSpPr>
            <p:cNvPr id="1049092" name="Line 33"/>
            <p:cNvSpPr>
              <a:spLocks noChangeShapeType="1"/>
            </p:cNvSpPr>
            <p:nvPr/>
          </p:nvSpPr>
          <p:spPr bwMode="auto">
            <a:xfrm>
              <a:off x="3394" y="2848"/>
              <a:ext cx="831" cy="0"/>
            </a:xfrm>
            <a:prstGeom prst="line">
              <a:avLst/>
            </a:prstGeom>
            <a:noFill/>
            <a:ln w="50800">
              <a:pattFill prst="pct50">
                <a:fgClr>
                  <a:schemeClr val="tx1"/>
                </a:fgClr>
                <a:bgClr>
                  <a:schemeClr val="bg1"/>
                </a:bgClr>
              </a:pattFill>
              <a:round/>
              <a:headEnd type="triangle" w="med" len="med"/>
              <a:tailEnd type="triangle" w="med" len="med"/>
            </a:ln>
          </p:spPr>
          <p:txBody>
            <a:bodyPr wrap="none" anchor="ctr"/>
            <a:lstStyle/>
            <a:p>
              <a:pPr fontAlgn="base">
                <a:spcBef>
                  <a:spcPct val="0"/>
                </a:spcBef>
                <a:spcAft>
                  <a:spcPct val="0"/>
                </a:spcAft>
              </a:pPr>
              <a:endParaRPr lang="en-US">
                <a:solidFill>
                  <a:prstClr val="black"/>
                </a:solidFill>
                <a:latin typeface="Tahoma" panose="020B0604030504040204" pitchFamily="34" charset="0"/>
                <a:cs typeface="Arial" panose="020B0604020202020204" pitchFamily="34" charset="0"/>
              </a:endParaRPr>
            </a:p>
          </p:txBody>
        </p:sp>
        <p:sp>
          <p:nvSpPr>
            <p:cNvPr id="1049093" name="Line 34"/>
            <p:cNvSpPr>
              <a:spLocks noChangeShapeType="1"/>
            </p:cNvSpPr>
            <p:nvPr/>
          </p:nvSpPr>
          <p:spPr bwMode="auto">
            <a:xfrm>
              <a:off x="3394" y="2561"/>
              <a:ext cx="831" cy="0"/>
            </a:xfrm>
            <a:prstGeom prst="line">
              <a:avLst/>
            </a:prstGeom>
            <a:noFill/>
            <a:ln w="50800">
              <a:pattFill prst="pct50">
                <a:fgClr>
                  <a:schemeClr val="tx1"/>
                </a:fgClr>
                <a:bgClr>
                  <a:schemeClr val="bg1"/>
                </a:bgClr>
              </a:pattFill>
              <a:round/>
              <a:headEnd type="triangle" w="med" len="med"/>
              <a:tailEnd type="triangle" w="med" len="med"/>
            </a:ln>
          </p:spPr>
          <p:txBody>
            <a:bodyPr wrap="none" anchor="ctr"/>
            <a:lstStyle/>
            <a:p>
              <a:pPr fontAlgn="base">
                <a:spcBef>
                  <a:spcPct val="0"/>
                </a:spcBef>
                <a:spcAft>
                  <a:spcPct val="0"/>
                </a:spcAft>
              </a:pPr>
              <a:endParaRPr lang="en-US">
                <a:solidFill>
                  <a:prstClr val="black"/>
                </a:solidFill>
                <a:latin typeface="Tahoma" panose="020B0604030504040204" pitchFamily="34" charset="0"/>
                <a:cs typeface="Arial" panose="020B0604020202020204" pitchFamily="34" charset="0"/>
              </a:endParaRPr>
            </a:p>
          </p:txBody>
        </p:sp>
        <p:sp>
          <p:nvSpPr>
            <p:cNvPr id="1049094" name="Line 37"/>
            <p:cNvSpPr>
              <a:spLocks noChangeShapeType="1"/>
            </p:cNvSpPr>
            <p:nvPr/>
          </p:nvSpPr>
          <p:spPr bwMode="auto">
            <a:xfrm>
              <a:off x="1621" y="2269"/>
              <a:ext cx="2636" cy="8"/>
            </a:xfrm>
            <a:prstGeom prst="line">
              <a:avLst/>
            </a:prstGeom>
            <a:noFill/>
            <a:ln w="50800">
              <a:pattFill prst="pct50">
                <a:fgClr>
                  <a:schemeClr val="tx1"/>
                </a:fgClr>
                <a:bgClr>
                  <a:schemeClr val="bg1"/>
                </a:bgClr>
              </a:pattFill>
              <a:round/>
              <a:headEnd type="triangle" w="med" len="med"/>
              <a:tailEnd type="triangle" w="med" len="med"/>
            </a:ln>
          </p:spPr>
          <p:txBody>
            <a:bodyPr wrap="none" anchor="ctr"/>
            <a:lstStyle/>
            <a:p>
              <a:pPr fontAlgn="base">
                <a:spcBef>
                  <a:spcPct val="0"/>
                </a:spcBef>
                <a:spcAft>
                  <a:spcPct val="0"/>
                </a:spcAft>
              </a:pPr>
              <a:endParaRPr lang="en-US">
                <a:solidFill>
                  <a:prstClr val="black"/>
                </a:solidFill>
                <a:latin typeface="Tahoma" panose="020B0604030504040204" pitchFamily="34" charset="0"/>
                <a:cs typeface="Arial" panose="020B0604020202020204" pitchFamily="34" charset="0"/>
              </a:endParaRPr>
            </a:p>
          </p:txBody>
        </p:sp>
        <p:sp>
          <p:nvSpPr>
            <p:cNvPr id="1049095" name="Rectangle 38"/>
            <p:cNvSpPr>
              <a:spLocks noChangeArrowheads="1"/>
            </p:cNvSpPr>
            <p:nvPr/>
          </p:nvSpPr>
          <p:spPr bwMode="auto">
            <a:xfrm>
              <a:off x="462" y="1826"/>
              <a:ext cx="168" cy="196"/>
            </a:xfrm>
            <a:prstGeom prst="rect">
              <a:avLst/>
            </a:prstGeom>
            <a:noFill/>
            <a:ln>
              <a:noFill/>
            </a:ln>
          </p:spPr>
          <p:txBody>
            <a:bodyPr wrap="none" lIns="63493" tIns="25397" rIns="63493" bIns="25397">
              <a:spAutoFit/>
            </a:bodyPr>
            <a:lstStyle/>
            <a:p>
              <a:pPr fontAlgn="base">
                <a:lnSpc>
                  <a:spcPct val="85000"/>
                </a:lnSpc>
                <a:spcBef>
                  <a:spcPct val="0"/>
                </a:spcBef>
                <a:spcAft>
                  <a:spcPct val="0"/>
                </a:spcAft>
              </a:pPr>
              <a:r>
                <a:rPr lang="en-US" altLang="en-US" b="1">
                  <a:solidFill>
                    <a:prstClr val="black"/>
                  </a:solidFill>
                  <a:latin typeface="Arial" panose="020B0604020202020204" pitchFamily="34" charset="0"/>
                  <a:cs typeface="Arial" panose="020B0604020202020204" pitchFamily="34" charset="0"/>
                </a:rPr>
                <a:t>5</a:t>
              </a:r>
            </a:p>
          </p:txBody>
        </p:sp>
      </p:grpSp>
    </p:spTree>
  </p:cSld>
  <p:clrMapOvr>
    <a:overrideClrMapping bg1="lt1" tx1="dk1" bg2="lt2" tx2="dk2" accent1="accent1" accent2="accent2" accent3="accent3" accent4="accent4" accent5="accent5" accent6="accent6" hlink="hlink" folHlink="folHlink"/>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49100" name="Title 1"/>
          <p:cNvSpPr>
            <a:spLocks noGrp="1"/>
          </p:cNvSpPr>
          <p:nvPr>
            <p:ph type="title"/>
          </p:nvPr>
        </p:nvSpPr>
        <p:spPr>
          <a:xfrm>
            <a:off x="1148811" y="31192"/>
            <a:ext cx="3522821" cy="469900"/>
          </a:xfrm>
        </p:spPr>
        <p:txBody>
          <a:bodyPr/>
          <a:lstStyle/>
          <a:p>
            <a:endParaRPr lang="en-US"/>
          </a:p>
        </p:txBody>
      </p:sp>
      <p:sp>
        <p:nvSpPr>
          <p:cNvPr id="1049101" name="Slide Number Placeholder 3"/>
          <p:cNvSpPr>
            <a:spLocks noGrp="1"/>
          </p:cNvSpPr>
          <p:nvPr>
            <p:ph type="sldNum" sz="quarter" idx="7"/>
          </p:nvPr>
        </p:nvSpPr>
        <p:spPr/>
        <p:txBody>
          <a:bodyPr/>
          <a:lstStyle/>
          <a:p>
            <a:fld id="{BCC20C3A-8631-44B9-B2EA-782A539FC911}" type="slidenum">
              <a:rPr lang="en-US" smtClean="0"/>
              <a:t>47</a:t>
            </a:fld>
            <a:endParaRPr lang="en-US"/>
          </a:p>
        </p:txBody>
      </p:sp>
      <p:pic>
        <p:nvPicPr>
          <p:cNvPr id="2097178" name="Content Placeholder 4"/>
          <p:cNvPicPr>
            <a:picLocks noGrp="1" noChangeAspect="1"/>
          </p:cNvPicPr>
          <p:nvPr>
            <p:ph idx="4294967295"/>
          </p:nvPr>
        </p:nvPicPr>
        <p:blipFill>
          <a:blip r:embed="rId3"/>
          <a:stretch>
            <a:fillRect/>
          </a:stretch>
        </p:blipFill>
        <p:spPr>
          <a:xfrm>
            <a:off x="0" y="0"/>
            <a:ext cx="9210675" cy="6858000"/>
          </a:xfrm>
        </p:spPr>
      </p:pic>
    </p:spTree>
  </p:cSld>
  <p:clrMapOvr>
    <a:overrideClrMapping bg1="lt1" tx1="dk1" bg2="lt2" tx2="dk2" accent1="accent1" accent2="accent2" accent3="accent3" accent4="accent4" accent5="accent5" accent6="accent6" hlink="hlink" folHlink="folHlink"/>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49102" name="Title 2"/>
          <p:cNvSpPr>
            <a:spLocks noGrp="1"/>
          </p:cNvSpPr>
          <p:nvPr>
            <p:ph type="title"/>
          </p:nvPr>
        </p:nvSpPr>
        <p:spPr>
          <a:xfrm>
            <a:off x="304800" y="381000"/>
            <a:ext cx="8229600" cy="469900"/>
          </a:xfrm>
        </p:spPr>
        <p:txBody>
          <a:bodyPr/>
          <a:lstStyle/>
          <a:p>
            <a:r>
              <a:rPr lang="en-US" b="1">
                <a:latin typeface="Times New Roman" panose="02020603050405020304" pitchFamily="18" charset="0"/>
                <a:cs typeface="Times New Roman" panose="02020603050405020304" pitchFamily="18" charset="0"/>
              </a:rPr>
              <a:t>APPLICATION LAYER</a:t>
            </a:r>
          </a:p>
        </p:txBody>
      </p:sp>
      <p:sp>
        <p:nvSpPr>
          <p:cNvPr id="1049103" name="Content Placeholder 3"/>
          <p:cNvSpPr>
            <a:spLocks noGrp="1"/>
          </p:cNvSpPr>
          <p:nvPr>
            <p:ph type="body" idx="1"/>
          </p:nvPr>
        </p:nvSpPr>
        <p:spPr>
          <a:xfrm>
            <a:off x="304800" y="1196213"/>
            <a:ext cx="8839200" cy="5334000"/>
          </a:xfrm>
        </p:spPr>
        <p:txBody>
          <a:bodyPr>
            <a:normAutofit/>
          </a:bodyPr>
          <a:lstStyle/>
          <a:p>
            <a:pPr marL="285750" indent="-285750">
              <a:buFont typeface="Wingdings" panose="05000000000000000000" pitchFamily="2" charset="2"/>
              <a:buChar char="Ø"/>
            </a:pPr>
            <a:r>
              <a:rPr lang="en-US" sz="1800">
                <a:latin typeface="Times New Roman" panose="02020603050405020304" pitchFamily="18" charset="0"/>
                <a:cs typeface="Times New Roman" panose="02020603050405020304" pitchFamily="18" charset="0"/>
              </a:rPr>
              <a:t>It is the topmost layer in the TCP/IP model.</a:t>
            </a:r>
          </a:p>
          <a:p>
            <a:pPr marL="285750" indent="-285750">
              <a:buFont typeface="Wingdings" panose="05000000000000000000" pitchFamily="2" charset="2"/>
              <a:buChar char="Ø"/>
            </a:pPr>
            <a:endParaRPr lang="en-US" sz="180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r>
              <a:rPr lang="en-US" sz="1800">
                <a:latin typeface="Times New Roman" panose="02020603050405020304" pitchFamily="18" charset="0"/>
                <a:cs typeface="Times New Roman" panose="02020603050405020304" pitchFamily="18" charset="0"/>
              </a:rPr>
              <a:t>It is responsible for handling high-level protocols, issues of representation.</a:t>
            </a:r>
          </a:p>
          <a:p>
            <a:pPr marL="285750" indent="-285750">
              <a:buFont typeface="Wingdings" panose="05000000000000000000" pitchFamily="2" charset="2"/>
              <a:buChar char="Ø"/>
            </a:pPr>
            <a:endParaRPr lang="en-US" sz="180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r>
              <a:rPr lang="en-US" sz="1800">
                <a:latin typeface="Times New Roman" panose="02020603050405020304" pitchFamily="18" charset="0"/>
                <a:cs typeface="Times New Roman" panose="02020603050405020304" pitchFamily="18" charset="0"/>
              </a:rPr>
              <a:t>This layer allows the user to interact with the application.</a:t>
            </a:r>
          </a:p>
          <a:p>
            <a:pPr marL="285750" indent="-285750">
              <a:buFont typeface="Wingdings" panose="05000000000000000000" pitchFamily="2" charset="2"/>
              <a:buChar char="Ø"/>
            </a:pPr>
            <a:endParaRPr lang="en-US" sz="180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r>
              <a:rPr lang="en-US" sz="1800">
                <a:latin typeface="Times New Roman" panose="02020603050405020304" pitchFamily="18" charset="0"/>
                <a:cs typeface="Times New Roman" panose="02020603050405020304" pitchFamily="18" charset="0"/>
              </a:rPr>
              <a:t>It facilitates the user to use the services of the network.</a:t>
            </a:r>
          </a:p>
          <a:p>
            <a:pPr marL="285750" indent="-285750">
              <a:buFont typeface="Wingdings" panose="05000000000000000000" pitchFamily="2" charset="2"/>
              <a:buChar char="Ø"/>
            </a:pPr>
            <a:endParaRPr lang="en-US" sz="180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r>
              <a:rPr lang="en-US" sz="1800">
                <a:latin typeface="Times New Roman" panose="02020603050405020304" pitchFamily="18" charset="0"/>
                <a:cs typeface="Times New Roman" panose="02020603050405020304" pitchFamily="18" charset="0"/>
              </a:rPr>
              <a:t>It is used to develop network-based applications.</a:t>
            </a:r>
          </a:p>
          <a:p>
            <a:pPr marL="285750" indent="-285750">
              <a:buFont typeface="Wingdings" panose="05000000000000000000" pitchFamily="2" charset="2"/>
              <a:buChar char="Ø"/>
            </a:pPr>
            <a:endParaRPr lang="en-US" sz="180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r>
              <a:rPr lang="en-US" sz="1800">
                <a:latin typeface="Times New Roman" panose="02020603050405020304" pitchFamily="18" charset="0"/>
                <a:cs typeface="Times New Roman" panose="02020603050405020304" pitchFamily="18" charset="0"/>
              </a:rPr>
              <a:t>It provides user services like user login, naming network devices, formatting messages, and e-mails, transfer of files etc.</a:t>
            </a:r>
          </a:p>
          <a:p>
            <a:pPr marL="285750" indent="-285750">
              <a:buFont typeface="Wingdings" panose="05000000000000000000" pitchFamily="2" charset="2"/>
              <a:buChar char="Ø"/>
            </a:pPr>
            <a:endParaRPr lang="en-US" sz="180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r>
              <a:rPr lang="en-US" sz="1800">
                <a:latin typeface="Times New Roman" panose="02020603050405020304" pitchFamily="18" charset="0"/>
                <a:cs typeface="Times New Roman" panose="02020603050405020304" pitchFamily="18" charset="0"/>
              </a:rPr>
              <a:t>When one application layer protocol wants to communicate with another application layer, it forwards its data to the transport layer.</a:t>
            </a:r>
          </a:p>
        </p:txBody>
      </p:sp>
      <p:sp>
        <p:nvSpPr>
          <p:cNvPr id="1049104" name="Slide Number Placeholder 1"/>
          <p:cNvSpPr>
            <a:spLocks noGrp="1"/>
          </p:cNvSpPr>
          <p:nvPr>
            <p:ph type="sldNum" sz="quarter" idx="7"/>
          </p:nvPr>
        </p:nvSpPr>
        <p:spPr/>
        <p:txBody>
          <a:bodyPr/>
          <a:lstStyle/>
          <a:p>
            <a:fld id="{8E375650-F7A3-48ED-8B47-988B4D374DE3}" type="slidenum">
              <a:rPr lang="en-US" smtClean="0"/>
              <a:t>48</a:t>
            </a:fld>
            <a:endParaRPr lang="en-US"/>
          </a:p>
        </p:txBody>
      </p:sp>
    </p:spTree>
  </p:cSld>
  <p:clrMapOvr>
    <a:overrideClrMapping bg1="lt1" tx1="dk1" bg2="lt2" tx2="dk2" accent1="accent1" accent2="accent2" accent3="accent3" accent4="accent4" accent5="accent5" accent6="accent6" hlink="hlink" folHlink="folHlink"/>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49105" name="Rectangle 2"/>
          <p:cNvSpPr>
            <a:spLocks noGrp="1" noChangeArrowheads="1"/>
          </p:cNvSpPr>
          <p:nvPr>
            <p:ph type="title"/>
          </p:nvPr>
        </p:nvSpPr>
        <p:spPr>
          <a:xfrm>
            <a:off x="424218" y="376694"/>
            <a:ext cx="8229600" cy="482600"/>
          </a:xfrm>
        </p:spPr>
        <p:txBody>
          <a:bodyPr/>
          <a:lstStyle/>
          <a:p>
            <a:pPr eaLnBrk="1" hangingPunct="1"/>
            <a:r>
              <a:rPr lang="en-US" sz="2800" b="1">
                <a:latin typeface="Times New Roman" panose="02020603050405020304" pitchFamily="18" charset="0"/>
                <a:cs typeface="Times New Roman" panose="02020603050405020304" pitchFamily="18" charset="0"/>
              </a:rPr>
              <a:t>APPLICATION LAYER</a:t>
            </a:r>
          </a:p>
        </p:txBody>
      </p:sp>
      <p:sp>
        <p:nvSpPr>
          <p:cNvPr id="1049106" name="Rectangle 3"/>
          <p:cNvSpPr>
            <a:spLocks noGrp="1" noChangeArrowheads="1"/>
          </p:cNvSpPr>
          <p:nvPr>
            <p:ph type="body" idx="1"/>
          </p:nvPr>
        </p:nvSpPr>
        <p:spPr>
          <a:xfrm>
            <a:off x="424218" y="1131378"/>
            <a:ext cx="8229600" cy="482600"/>
          </a:xfrm>
        </p:spPr>
        <p:txBody>
          <a:bodyPr/>
          <a:lstStyle/>
          <a:p>
            <a:pPr eaLnBrk="1" hangingPunct="1"/>
            <a:r>
              <a:rPr lang="en-US" sz="2800"/>
              <a:t>The only layer to interact with user</a:t>
            </a:r>
          </a:p>
        </p:txBody>
      </p:sp>
      <p:sp>
        <p:nvSpPr>
          <p:cNvPr id="1049107" name="Slide Number Placeholder 5"/>
          <p:cNvSpPr>
            <a:spLocks noGrp="1"/>
          </p:cNvSpPr>
          <p:nvPr>
            <p:ph type="sldNum" sz="quarter" idx="7"/>
          </p:nvPr>
        </p:nvSpPr>
        <p:spPr/>
        <p:txBody>
          <a:bodyPr/>
          <a:lstStyle/>
          <a:p>
            <a:fld id="{9774D876-8768-47CB-8A5E-C56EBABFCA66}" type="slidenum">
              <a:rPr lang="en-US"/>
              <a:t>49</a:t>
            </a:fld>
            <a:endParaRPr lang="en-US"/>
          </a:p>
        </p:txBody>
      </p:sp>
      <p:sp>
        <p:nvSpPr>
          <p:cNvPr id="1049108" name="Text Box 4"/>
          <p:cNvSpPr txBox="1">
            <a:spLocks noChangeArrowheads="1"/>
          </p:cNvSpPr>
          <p:nvPr/>
        </p:nvSpPr>
        <p:spPr bwMode="auto">
          <a:xfrm>
            <a:off x="762000" y="5957887"/>
            <a:ext cx="7712075" cy="574040"/>
          </a:xfrm>
          <a:prstGeom prst="rect">
            <a:avLst/>
          </a:prstGeom>
          <a:solidFill>
            <a:schemeClr val="tx2"/>
          </a:solidFill>
          <a:ln w="9525">
            <a:noFill/>
            <a:miter lim="800000"/>
          </a:ln>
          <a:effectLst>
            <a:outerShdw dist="107763" dir="2700000" algn="ctr" rotWithShape="0">
              <a:schemeClr val="bg2">
                <a:alpha val="50000"/>
              </a:schemeClr>
            </a:outerShdw>
          </a:effectLst>
        </p:spPr>
        <p:txBody>
          <a:bodyPr>
            <a:spAutoFit/>
          </a:bodyPr>
          <a:lstStyle/>
          <a:p>
            <a:pPr algn="ctr" fontAlgn="base">
              <a:spcBef>
                <a:spcPct val="0"/>
              </a:spcBef>
              <a:spcAft>
                <a:spcPct val="0"/>
              </a:spcAft>
            </a:pPr>
            <a:r>
              <a:rPr lang="en-US" sz="2800" b="1" i="1">
                <a:solidFill>
                  <a:prstClr val="white"/>
                </a:solidFill>
                <a:effectLst>
                  <a:outerShdw blurRad="38100" dist="38100" dir="2700000" algn="tl">
                    <a:srgbClr val="000000"/>
                  </a:outerShdw>
                </a:effectLst>
                <a:latin typeface="Times New Roman" panose="02020603050405020304" pitchFamily="18" charset="0"/>
                <a:cs typeface="Arial" panose="020B0604020202020204" pitchFamily="34" charset="0"/>
              </a:rPr>
              <a:t>Responsible for providing services to the user</a:t>
            </a:r>
          </a:p>
        </p:txBody>
      </p:sp>
      <p:pic>
        <p:nvPicPr>
          <p:cNvPr id="2097179" name="Picture 5"/>
          <p:cNvPicPr>
            <a:picLocks noChangeAspect="1" noChangeArrowheads="1"/>
          </p:cNvPicPr>
          <p:nvPr/>
        </p:nvPicPr>
        <p:blipFill>
          <a:blip r:embed="rId3" cstate="print">
            <a:clrChange>
              <a:clrFrom>
                <a:srgbClr val="FEFEFE"/>
              </a:clrFrom>
              <a:clrTo>
                <a:srgbClr val="FEFEFE">
                  <a:alpha val="0"/>
                </a:srgbClr>
              </a:clrTo>
            </a:clrChange>
          </a:blip>
          <a:srcRect t="2916" r="7600"/>
          <a:stretch>
            <a:fillRect/>
          </a:stretch>
        </p:blipFill>
        <p:spPr bwMode="auto">
          <a:xfrm>
            <a:off x="7239000" y="2824163"/>
            <a:ext cx="366713" cy="739775"/>
          </a:xfrm>
          <a:prstGeom prst="rect">
            <a:avLst/>
          </a:prstGeom>
          <a:noFill/>
          <a:ln w="9525">
            <a:noFill/>
            <a:miter lim="800000"/>
            <a:headEnd/>
            <a:tailEnd/>
          </a:ln>
        </p:spPr>
      </p:pic>
      <p:pic>
        <p:nvPicPr>
          <p:cNvPr id="2097180" name="Picture 6"/>
          <p:cNvPicPr>
            <a:picLocks noChangeAspect="1" noChangeArrowheads="1"/>
          </p:cNvPicPr>
          <p:nvPr/>
        </p:nvPicPr>
        <p:blipFill>
          <a:blip r:embed="rId4" cstate="print">
            <a:clrChange>
              <a:clrFrom>
                <a:srgbClr val="FEFEFE"/>
              </a:clrFrom>
              <a:clrTo>
                <a:srgbClr val="FEFEFE">
                  <a:alpha val="0"/>
                </a:srgbClr>
              </a:clrTo>
            </a:clrChange>
          </a:blip>
          <a:srcRect t="2155"/>
          <a:stretch>
            <a:fillRect/>
          </a:stretch>
        </p:blipFill>
        <p:spPr bwMode="auto">
          <a:xfrm>
            <a:off x="2209800" y="2817813"/>
            <a:ext cx="476250" cy="720725"/>
          </a:xfrm>
          <a:prstGeom prst="rect">
            <a:avLst/>
          </a:prstGeom>
          <a:noFill/>
          <a:ln w="9525">
            <a:noFill/>
            <a:miter lim="800000"/>
            <a:headEnd/>
            <a:tailEnd/>
          </a:ln>
        </p:spPr>
      </p:pic>
      <p:sp>
        <p:nvSpPr>
          <p:cNvPr id="1049109" name="Rectangle 7"/>
          <p:cNvSpPr>
            <a:spLocks noChangeArrowheads="1"/>
          </p:cNvSpPr>
          <p:nvPr/>
        </p:nvSpPr>
        <p:spPr bwMode="auto">
          <a:xfrm>
            <a:off x="1600200" y="3640138"/>
            <a:ext cx="2895600" cy="1066800"/>
          </a:xfrm>
          <a:prstGeom prst="rect">
            <a:avLst/>
          </a:prstGeom>
          <a:solidFill>
            <a:schemeClr val="accent1"/>
          </a:solidFill>
          <a:ln w="9525">
            <a:solidFill>
              <a:schemeClr val="tx1"/>
            </a:solidFill>
            <a:miter lim="800000"/>
          </a:ln>
        </p:spPr>
        <p:txBody>
          <a:bodyPr wrap="none" anchor="ctr"/>
          <a:lstStyle/>
          <a:p>
            <a:pPr fontAlgn="base">
              <a:spcBef>
                <a:spcPct val="0"/>
              </a:spcBef>
              <a:spcAft>
                <a:spcPct val="0"/>
              </a:spcAft>
            </a:pPr>
            <a:endParaRPr lang="en-US">
              <a:solidFill>
                <a:prstClr val="black"/>
              </a:solidFill>
              <a:latin typeface="Tahoma" panose="020B0604030504040204" pitchFamily="34" charset="0"/>
              <a:cs typeface="Arial" panose="020B0604020202020204" pitchFamily="34" charset="0"/>
            </a:endParaRPr>
          </a:p>
        </p:txBody>
      </p:sp>
      <p:sp>
        <p:nvSpPr>
          <p:cNvPr id="1049110" name="Rectangle 8"/>
          <p:cNvSpPr>
            <a:spLocks noChangeArrowheads="1"/>
          </p:cNvSpPr>
          <p:nvPr/>
        </p:nvSpPr>
        <p:spPr bwMode="auto">
          <a:xfrm>
            <a:off x="5334000" y="3640138"/>
            <a:ext cx="2895600" cy="1066800"/>
          </a:xfrm>
          <a:prstGeom prst="rect">
            <a:avLst/>
          </a:prstGeom>
          <a:solidFill>
            <a:schemeClr val="accent1"/>
          </a:solidFill>
          <a:ln w="9525">
            <a:solidFill>
              <a:schemeClr val="tx1"/>
            </a:solidFill>
            <a:miter lim="800000"/>
          </a:ln>
        </p:spPr>
        <p:txBody>
          <a:bodyPr wrap="none" anchor="ctr"/>
          <a:lstStyle/>
          <a:p>
            <a:pPr fontAlgn="base">
              <a:spcBef>
                <a:spcPct val="0"/>
              </a:spcBef>
              <a:spcAft>
                <a:spcPct val="0"/>
              </a:spcAft>
            </a:pPr>
            <a:endParaRPr lang="en-US">
              <a:solidFill>
                <a:prstClr val="black"/>
              </a:solidFill>
              <a:latin typeface="Tahoma" panose="020B0604030504040204" pitchFamily="34" charset="0"/>
              <a:cs typeface="Arial" panose="020B0604020202020204" pitchFamily="34" charset="0"/>
            </a:endParaRPr>
          </a:p>
        </p:txBody>
      </p:sp>
      <p:sp>
        <p:nvSpPr>
          <p:cNvPr id="1049111" name="Rectangle 9"/>
          <p:cNvSpPr>
            <a:spLocks noChangeArrowheads="1"/>
          </p:cNvSpPr>
          <p:nvPr/>
        </p:nvSpPr>
        <p:spPr bwMode="auto">
          <a:xfrm>
            <a:off x="1752600" y="3716338"/>
            <a:ext cx="609600" cy="381000"/>
          </a:xfrm>
          <a:prstGeom prst="rect">
            <a:avLst/>
          </a:prstGeom>
          <a:gradFill rotWithShape="1">
            <a:gsLst>
              <a:gs pos="0">
                <a:schemeClr val="tx1"/>
              </a:gs>
              <a:gs pos="100000">
                <a:schemeClr val="tx1">
                  <a:gamma/>
                  <a:shade val="46275"/>
                  <a:invGamma/>
                </a:schemeClr>
              </a:gs>
            </a:gsLst>
            <a:lin ang="2700000" scaled="1"/>
          </a:gradFill>
          <a:ln w="9525">
            <a:solidFill>
              <a:schemeClr val="accent2"/>
            </a:solidFill>
            <a:miter lim="800000"/>
          </a:ln>
          <a:effectLst/>
        </p:spPr>
        <p:txBody>
          <a:bodyPr wrap="none" anchor="ctr"/>
          <a:lstStyle/>
          <a:p>
            <a:pPr algn="ctr" fontAlgn="base">
              <a:spcBef>
                <a:spcPct val="0"/>
              </a:spcBef>
              <a:spcAft>
                <a:spcPct val="0"/>
              </a:spcAft>
            </a:pPr>
            <a:r>
              <a:rPr lang="en-US">
                <a:solidFill>
                  <a:srgbClr val="DEDEDE"/>
                </a:solidFill>
                <a:latin typeface="Times New Roman" panose="02020603050405020304" pitchFamily="18" charset="0"/>
                <a:cs typeface="Arial" panose="020B0604020202020204" pitchFamily="34" charset="0"/>
              </a:rPr>
              <a:t>SMTP</a:t>
            </a:r>
          </a:p>
        </p:txBody>
      </p:sp>
      <p:sp>
        <p:nvSpPr>
          <p:cNvPr id="1049112" name="Rectangle 10"/>
          <p:cNvSpPr>
            <a:spLocks noChangeArrowheads="1"/>
          </p:cNvSpPr>
          <p:nvPr/>
        </p:nvSpPr>
        <p:spPr bwMode="auto">
          <a:xfrm>
            <a:off x="2743200" y="3716338"/>
            <a:ext cx="609600" cy="381000"/>
          </a:xfrm>
          <a:prstGeom prst="rect">
            <a:avLst/>
          </a:prstGeom>
          <a:gradFill rotWithShape="1">
            <a:gsLst>
              <a:gs pos="0">
                <a:schemeClr val="tx1"/>
              </a:gs>
              <a:gs pos="100000">
                <a:schemeClr val="tx1">
                  <a:gamma/>
                  <a:shade val="46275"/>
                  <a:invGamma/>
                </a:schemeClr>
              </a:gs>
            </a:gsLst>
            <a:lin ang="2700000" scaled="1"/>
          </a:gradFill>
          <a:ln w="9525">
            <a:solidFill>
              <a:schemeClr val="accent2"/>
            </a:solidFill>
            <a:miter lim="800000"/>
          </a:ln>
          <a:effectLst/>
        </p:spPr>
        <p:txBody>
          <a:bodyPr wrap="none" anchor="ctr"/>
          <a:lstStyle/>
          <a:p>
            <a:pPr algn="ctr" fontAlgn="base">
              <a:spcBef>
                <a:spcPct val="0"/>
              </a:spcBef>
              <a:spcAft>
                <a:spcPct val="0"/>
              </a:spcAft>
            </a:pPr>
            <a:r>
              <a:rPr lang="en-US">
                <a:solidFill>
                  <a:srgbClr val="DEDEDE"/>
                </a:solidFill>
                <a:latin typeface="Times New Roman" panose="02020603050405020304" pitchFamily="18" charset="0"/>
                <a:cs typeface="Arial" panose="020B0604020202020204" pitchFamily="34" charset="0"/>
              </a:rPr>
              <a:t>HTTP</a:t>
            </a:r>
          </a:p>
        </p:txBody>
      </p:sp>
      <p:sp>
        <p:nvSpPr>
          <p:cNvPr id="1049113" name="Rectangle 11"/>
          <p:cNvSpPr>
            <a:spLocks noChangeArrowheads="1"/>
          </p:cNvSpPr>
          <p:nvPr/>
        </p:nvSpPr>
        <p:spPr bwMode="auto">
          <a:xfrm>
            <a:off x="3733800" y="3716338"/>
            <a:ext cx="609600" cy="381000"/>
          </a:xfrm>
          <a:prstGeom prst="rect">
            <a:avLst/>
          </a:prstGeom>
          <a:gradFill rotWithShape="1">
            <a:gsLst>
              <a:gs pos="0">
                <a:schemeClr val="tx1"/>
              </a:gs>
              <a:gs pos="100000">
                <a:schemeClr val="tx1">
                  <a:gamma/>
                  <a:shade val="46275"/>
                  <a:invGamma/>
                </a:schemeClr>
              </a:gs>
            </a:gsLst>
            <a:lin ang="2700000" scaled="1"/>
          </a:gradFill>
          <a:ln w="9525">
            <a:solidFill>
              <a:schemeClr val="accent2"/>
            </a:solidFill>
            <a:miter lim="800000"/>
          </a:ln>
          <a:effectLst/>
        </p:spPr>
        <p:txBody>
          <a:bodyPr wrap="none" anchor="ctr"/>
          <a:lstStyle/>
          <a:p>
            <a:pPr algn="ctr" fontAlgn="base">
              <a:spcBef>
                <a:spcPct val="0"/>
              </a:spcBef>
              <a:spcAft>
                <a:spcPct val="0"/>
              </a:spcAft>
            </a:pPr>
            <a:r>
              <a:rPr lang="en-US">
                <a:solidFill>
                  <a:srgbClr val="DEDEDE"/>
                </a:solidFill>
                <a:latin typeface="Times New Roman" panose="02020603050405020304" pitchFamily="18" charset="0"/>
                <a:cs typeface="Arial" panose="020B0604020202020204" pitchFamily="34" charset="0"/>
              </a:rPr>
              <a:t>FTP</a:t>
            </a:r>
          </a:p>
        </p:txBody>
      </p:sp>
      <p:sp>
        <p:nvSpPr>
          <p:cNvPr id="1049114" name="Rectangle 12"/>
          <p:cNvSpPr>
            <a:spLocks noChangeArrowheads="1"/>
          </p:cNvSpPr>
          <p:nvPr/>
        </p:nvSpPr>
        <p:spPr bwMode="auto">
          <a:xfrm>
            <a:off x="5486400" y="3716338"/>
            <a:ext cx="609600" cy="381000"/>
          </a:xfrm>
          <a:prstGeom prst="rect">
            <a:avLst/>
          </a:prstGeom>
          <a:gradFill rotWithShape="1">
            <a:gsLst>
              <a:gs pos="0">
                <a:schemeClr val="tx1"/>
              </a:gs>
              <a:gs pos="100000">
                <a:schemeClr val="tx1">
                  <a:gamma/>
                  <a:shade val="46275"/>
                  <a:invGamma/>
                </a:schemeClr>
              </a:gs>
            </a:gsLst>
            <a:lin ang="2700000" scaled="1"/>
          </a:gradFill>
          <a:ln w="9525">
            <a:solidFill>
              <a:schemeClr val="accent2"/>
            </a:solidFill>
            <a:miter lim="800000"/>
          </a:ln>
          <a:effectLst/>
        </p:spPr>
        <p:txBody>
          <a:bodyPr wrap="none" anchor="ctr"/>
          <a:lstStyle/>
          <a:p>
            <a:pPr algn="ctr" fontAlgn="base">
              <a:spcBef>
                <a:spcPct val="0"/>
              </a:spcBef>
              <a:spcAft>
                <a:spcPct val="0"/>
              </a:spcAft>
            </a:pPr>
            <a:r>
              <a:rPr lang="en-US">
                <a:solidFill>
                  <a:srgbClr val="DEDEDE"/>
                </a:solidFill>
                <a:latin typeface="Times New Roman" panose="02020603050405020304" pitchFamily="18" charset="0"/>
                <a:cs typeface="Arial" panose="020B0604020202020204" pitchFamily="34" charset="0"/>
              </a:rPr>
              <a:t>SMTP</a:t>
            </a:r>
          </a:p>
        </p:txBody>
      </p:sp>
      <p:sp>
        <p:nvSpPr>
          <p:cNvPr id="1049115" name="Rectangle 13"/>
          <p:cNvSpPr>
            <a:spLocks noChangeArrowheads="1"/>
          </p:cNvSpPr>
          <p:nvPr/>
        </p:nvSpPr>
        <p:spPr bwMode="auto">
          <a:xfrm>
            <a:off x="6477000" y="3716338"/>
            <a:ext cx="609600" cy="381000"/>
          </a:xfrm>
          <a:prstGeom prst="rect">
            <a:avLst/>
          </a:prstGeom>
          <a:gradFill rotWithShape="1">
            <a:gsLst>
              <a:gs pos="0">
                <a:schemeClr val="tx1"/>
              </a:gs>
              <a:gs pos="100000">
                <a:schemeClr val="tx1">
                  <a:gamma/>
                  <a:shade val="46275"/>
                  <a:invGamma/>
                </a:schemeClr>
              </a:gs>
            </a:gsLst>
            <a:lin ang="2700000" scaled="1"/>
          </a:gradFill>
          <a:ln w="9525">
            <a:solidFill>
              <a:schemeClr val="accent2"/>
            </a:solidFill>
            <a:miter lim="800000"/>
          </a:ln>
          <a:effectLst/>
        </p:spPr>
        <p:txBody>
          <a:bodyPr wrap="none" anchor="ctr"/>
          <a:lstStyle/>
          <a:p>
            <a:pPr algn="ctr" fontAlgn="base">
              <a:spcBef>
                <a:spcPct val="0"/>
              </a:spcBef>
              <a:spcAft>
                <a:spcPct val="0"/>
              </a:spcAft>
            </a:pPr>
            <a:r>
              <a:rPr lang="en-US">
                <a:solidFill>
                  <a:srgbClr val="DEDEDE"/>
                </a:solidFill>
                <a:latin typeface="Times New Roman" panose="02020603050405020304" pitchFamily="18" charset="0"/>
                <a:cs typeface="Arial" panose="020B0604020202020204" pitchFamily="34" charset="0"/>
              </a:rPr>
              <a:t>HTTP</a:t>
            </a:r>
          </a:p>
        </p:txBody>
      </p:sp>
      <p:sp>
        <p:nvSpPr>
          <p:cNvPr id="1049116" name="Rectangle 14"/>
          <p:cNvSpPr>
            <a:spLocks noChangeArrowheads="1"/>
          </p:cNvSpPr>
          <p:nvPr/>
        </p:nvSpPr>
        <p:spPr bwMode="auto">
          <a:xfrm>
            <a:off x="7467600" y="3716338"/>
            <a:ext cx="609600" cy="381000"/>
          </a:xfrm>
          <a:prstGeom prst="rect">
            <a:avLst/>
          </a:prstGeom>
          <a:gradFill rotWithShape="1">
            <a:gsLst>
              <a:gs pos="0">
                <a:schemeClr val="tx1"/>
              </a:gs>
              <a:gs pos="100000">
                <a:schemeClr val="tx1">
                  <a:gamma/>
                  <a:shade val="46275"/>
                  <a:invGamma/>
                </a:schemeClr>
              </a:gs>
            </a:gsLst>
            <a:lin ang="2700000" scaled="1"/>
          </a:gradFill>
          <a:ln w="9525">
            <a:solidFill>
              <a:schemeClr val="accent2"/>
            </a:solidFill>
            <a:miter lim="800000"/>
          </a:ln>
          <a:effectLst/>
        </p:spPr>
        <p:txBody>
          <a:bodyPr wrap="none" anchor="ctr"/>
          <a:lstStyle/>
          <a:p>
            <a:pPr algn="ctr" fontAlgn="base">
              <a:spcBef>
                <a:spcPct val="0"/>
              </a:spcBef>
              <a:spcAft>
                <a:spcPct val="0"/>
              </a:spcAft>
            </a:pPr>
            <a:r>
              <a:rPr lang="en-US">
                <a:solidFill>
                  <a:srgbClr val="DEDEDE"/>
                </a:solidFill>
                <a:latin typeface="Times New Roman" panose="02020603050405020304" pitchFamily="18" charset="0"/>
                <a:cs typeface="Arial" panose="020B0604020202020204" pitchFamily="34" charset="0"/>
              </a:rPr>
              <a:t>FTP</a:t>
            </a:r>
          </a:p>
        </p:txBody>
      </p:sp>
      <p:sp>
        <p:nvSpPr>
          <p:cNvPr id="1049117" name="Rectangle 15"/>
          <p:cNvSpPr>
            <a:spLocks noChangeArrowheads="1"/>
          </p:cNvSpPr>
          <p:nvPr/>
        </p:nvSpPr>
        <p:spPr bwMode="auto">
          <a:xfrm>
            <a:off x="2667000" y="2878138"/>
            <a:ext cx="838200" cy="228600"/>
          </a:xfrm>
          <a:prstGeom prst="rect">
            <a:avLst/>
          </a:prstGeom>
          <a:solidFill>
            <a:srgbClr val="080808"/>
          </a:solidFill>
          <a:ln w="9525">
            <a:solidFill>
              <a:schemeClr val="tx1"/>
            </a:solidFill>
            <a:miter lim="800000"/>
          </a:ln>
        </p:spPr>
        <p:txBody>
          <a:bodyPr wrap="none" anchor="ctr"/>
          <a:lstStyle/>
          <a:p>
            <a:pPr algn="ctr" fontAlgn="base">
              <a:spcBef>
                <a:spcPct val="0"/>
              </a:spcBef>
              <a:spcAft>
                <a:spcPct val="0"/>
              </a:spcAft>
            </a:pPr>
            <a:r>
              <a:rPr lang="en-US" sz="1600">
                <a:solidFill>
                  <a:prstClr val="black"/>
                </a:solidFill>
                <a:latin typeface="Tahoma" panose="020B0604030504040204" pitchFamily="34" charset="0"/>
                <a:cs typeface="Arial" panose="020B0604020202020204" pitchFamily="34" charset="0"/>
              </a:rPr>
              <a:t>Data</a:t>
            </a:r>
          </a:p>
        </p:txBody>
      </p:sp>
      <p:sp>
        <p:nvSpPr>
          <p:cNvPr id="1049118" name="Rectangle 16"/>
          <p:cNvSpPr>
            <a:spLocks noChangeArrowheads="1"/>
          </p:cNvSpPr>
          <p:nvPr/>
        </p:nvSpPr>
        <p:spPr bwMode="auto">
          <a:xfrm>
            <a:off x="2667000" y="4249738"/>
            <a:ext cx="838200" cy="228600"/>
          </a:xfrm>
          <a:prstGeom prst="rect">
            <a:avLst/>
          </a:prstGeom>
          <a:solidFill>
            <a:srgbClr val="080808"/>
          </a:solidFill>
          <a:ln w="9525">
            <a:solidFill>
              <a:schemeClr val="tx1"/>
            </a:solidFill>
            <a:miter lim="800000"/>
          </a:ln>
        </p:spPr>
        <p:txBody>
          <a:bodyPr wrap="none" anchor="ctr"/>
          <a:lstStyle/>
          <a:p>
            <a:pPr algn="ctr" fontAlgn="base">
              <a:spcBef>
                <a:spcPct val="0"/>
              </a:spcBef>
              <a:spcAft>
                <a:spcPct val="0"/>
              </a:spcAft>
            </a:pPr>
            <a:r>
              <a:rPr lang="en-US" sz="1600">
                <a:solidFill>
                  <a:prstClr val="black"/>
                </a:solidFill>
                <a:latin typeface="Tahoma" panose="020B0604030504040204" pitchFamily="34" charset="0"/>
                <a:cs typeface="Arial" panose="020B0604020202020204" pitchFamily="34" charset="0"/>
              </a:rPr>
              <a:t>Data</a:t>
            </a:r>
          </a:p>
        </p:txBody>
      </p:sp>
      <p:sp>
        <p:nvSpPr>
          <p:cNvPr id="1049119" name="Rectangle 17"/>
          <p:cNvSpPr>
            <a:spLocks noChangeArrowheads="1"/>
          </p:cNvSpPr>
          <p:nvPr/>
        </p:nvSpPr>
        <p:spPr bwMode="auto">
          <a:xfrm>
            <a:off x="3505200" y="4249738"/>
            <a:ext cx="381000" cy="228600"/>
          </a:xfrm>
          <a:prstGeom prst="rect">
            <a:avLst/>
          </a:prstGeom>
          <a:solidFill>
            <a:schemeClr val="tx1"/>
          </a:solidFill>
          <a:ln w="9525">
            <a:solidFill>
              <a:schemeClr val="tx1"/>
            </a:solidFill>
            <a:miter lim="800000"/>
          </a:ln>
        </p:spPr>
        <p:txBody>
          <a:bodyPr wrap="none" anchor="ctr"/>
          <a:lstStyle/>
          <a:p>
            <a:pPr algn="ctr" fontAlgn="base">
              <a:spcBef>
                <a:spcPct val="0"/>
              </a:spcBef>
              <a:spcAft>
                <a:spcPct val="0"/>
              </a:spcAft>
            </a:pPr>
            <a:r>
              <a:rPr lang="en-US" sz="1600" b="1">
                <a:solidFill>
                  <a:srgbClr val="53548A"/>
                </a:solidFill>
                <a:latin typeface="Tahoma" panose="020B0604030504040204" pitchFamily="34" charset="0"/>
                <a:cs typeface="Arial" panose="020B0604020202020204" pitchFamily="34" charset="0"/>
              </a:rPr>
              <a:t>H5</a:t>
            </a:r>
          </a:p>
        </p:txBody>
      </p:sp>
      <p:sp>
        <p:nvSpPr>
          <p:cNvPr id="1049120" name="Line 18"/>
          <p:cNvSpPr>
            <a:spLocks noChangeShapeType="1"/>
          </p:cNvSpPr>
          <p:nvPr/>
        </p:nvSpPr>
        <p:spPr bwMode="auto">
          <a:xfrm>
            <a:off x="3505200" y="3106738"/>
            <a:ext cx="0" cy="1143000"/>
          </a:xfrm>
          <a:prstGeom prst="line">
            <a:avLst/>
          </a:prstGeom>
          <a:noFill/>
          <a:ln w="9525">
            <a:solidFill>
              <a:schemeClr val="tx1"/>
            </a:solidFill>
            <a:prstDash val="dash"/>
            <a:round/>
          </a:ln>
        </p:spPr>
        <p:txBody>
          <a:bodyPr/>
          <a:lstStyle/>
          <a:p>
            <a:pPr fontAlgn="base">
              <a:spcBef>
                <a:spcPct val="0"/>
              </a:spcBef>
              <a:spcAft>
                <a:spcPct val="0"/>
              </a:spcAft>
            </a:pPr>
            <a:endParaRPr lang="en-US">
              <a:solidFill>
                <a:prstClr val="black"/>
              </a:solidFill>
              <a:latin typeface="Tahoma" panose="020B0604030504040204" pitchFamily="34" charset="0"/>
              <a:cs typeface="Arial" panose="020B0604020202020204" pitchFamily="34" charset="0"/>
            </a:endParaRPr>
          </a:p>
        </p:txBody>
      </p:sp>
      <p:sp>
        <p:nvSpPr>
          <p:cNvPr id="1049121" name="Line 19"/>
          <p:cNvSpPr>
            <a:spLocks noChangeShapeType="1"/>
          </p:cNvSpPr>
          <p:nvPr/>
        </p:nvSpPr>
        <p:spPr bwMode="auto">
          <a:xfrm>
            <a:off x="2667000" y="3106738"/>
            <a:ext cx="0" cy="1143000"/>
          </a:xfrm>
          <a:prstGeom prst="line">
            <a:avLst/>
          </a:prstGeom>
          <a:noFill/>
          <a:ln w="9525">
            <a:solidFill>
              <a:schemeClr val="tx1"/>
            </a:solidFill>
            <a:prstDash val="dash"/>
            <a:round/>
          </a:ln>
        </p:spPr>
        <p:txBody>
          <a:bodyPr/>
          <a:lstStyle/>
          <a:p>
            <a:pPr fontAlgn="base">
              <a:spcBef>
                <a:spcPct val="0"/>
              </a:spcBef>
              <a:spcAft>
                <a:spcPct val="0"/>
              </a:spcAft>
            </a:pPr>
            <a:endParaRPr lang="en-US">
              <a:solidFill>
                <a:prstClr val="black"/>
              </a:solidFill>
              <a:latin typeface="Tahoma" panose="020B0604030504040204" pitchFamily="34" charset="0"/>
              <a:cs typeface="Arial" panose="020B0604020202020204" pitchFamily="34" charset="0"/>
            </a:endParaRPr>
          </a:p>
        </p:txBody>
      </p:sp>
      <p:sp>
        <p:nvSpPr>
          <p:cNvPr id="1049122" name="Text Box 20"/>
          <p:cNvSpPr txBox="1">
            <a:spLocks noChangeArrowheads="1"/>
          </p:cNvSpPr>
          <p:nvPr/>
        </p:nvSpPr>
        <p:spPr bwMode="auto">
          <a:xfrm>
            <a:off x="136525" y="3748088"/>
            <a:ext cx="1376630" cy="701039"/>
          </a:xfrm>
          <a:prstGeom prst="rect">
            <a:avLst/>
          </a:prstGeom>
          <a:noFill/>
          <a:ln w="9525">
            <a:noFill/>
            <a:miter lim="800000"/>
          </a:ln>
        </p:spPr>
        <p:txBody>
          <a:bodyPr wrap="none">
            <a:spAutoFit/>
          </a:bodyPr>
          <a:lstStyle/>
          <a:p>
            <a:pPr algn="ctr" fontAlgn="base">
              <a:spcBef>
                <a:spcPct val="0"/>
              </a:spcBef>
              <a:spcAft>
                <a:spcPct val="0"/>
              </a:spcAft>
            </a:pPr>
            <a:r>
              <a:rPr lang="en-US">
                <a:solidFill>
                  <a:prstClr val="black"/>
                </a:solidFill>
                <a:latin typeface="Tahoma" panose="020B0604030504040204" pitchFamily="34" charset="0"/>
                <a:cs typeface="Arial" panose="020B0604020202020204" pitchFamily="34" charset="0"/>
              </a:rPr>
              <a:t>Application</a:t>
            </a:r>
            <a:br>
              <a:rPr lang="en-US">
                <a:solidFill>
                  <a:prstClr val="black"/>
                </a:solidFill>
                <a:latin typeface="Tahoma" panose="020B0604030504040204" pitchFamily="34" charset="0"/>
                <a:cs typeface="Arial" panose="020B0604020202020204" pitchFamily="34" charset="0"/>
              </a:rPr>
            </a:br>
            <a:r>
              <a:rPr lang="en-US">
                <a:solidFill>
                  <a:prstClr val="black"/>
                </a:solidFill>
                <a:latin typeface="Tahoma" panose="020B0604030504040204" pitchFamily="34" charset="0"/>
                <a:cs typeface="Arial" panose="020B0604020202020204" pitchFamily="34" charset="0"/>
              </a:rPr>
              <a:t>Layer</a:t>
            </a:r>
          </a:p>
        </p:txBody>
      </p:sp>
      <p:sp>
        <p:nvSpPr>
          <p:cNvPr id="1049123" name="AutoShape 21"/>
          <p:cNvSpPr>
            <a:spLocks noChangeArrowheads="1"/>
          </p:cNvSpPr>
          <p:nvPr/>
        </p:nvSpPr>
        <p:spPr bwMode="auto">
          <a:xfrm>
            <a:off x="3048000" y="4554538"/>
            <a:ext cx="228600" cy="533400"/>
          </a:xfrm>
          <a:prstGeom prst="downArrow">
            <a:avLst>
              <a:gd name="adj1" fmla="val 50000"/>
              <a:gd name="adj2" fmla="val 58333"/>
            </a:avLst>
          </a:prstGeom>
          <a:solidFill>
            <a:schemeClr val="folHlink"/>
          </a:solidFill>
          <a:ln w="9525">
            <a:solidFill>
              <a:schemeClr val="tx1"/>
            </a:solidFill>
            <a:miter lim="800000"/>
          </a:ln>
        </p:spPr>
        <p:txBody>
          <a:bodyPr wrap="none" anchor="ctr"/>
          <a:lstStyle/>
          <a:p>
            <a:pPr fontAlgn="base">
              <a:spcBef>
                <a:spcPct val="0"/>
              </a:spcBef>
              <a:spcAft>
                <a:spcPct val="0"/>
              </a:spcAft>
            </a:pPr>
            <a:endParaRPr lang="en-US">
              <a:solidFill>
                <a:prstClr val="black"/>
              </a:solidFill>
              <a:latin typeface="Tahoma" panose="020B0604030504040204" pitchFamily="34" charset="0"/>
              <a:cs typeface="Arial" panose="020B0604020202020204" pitchFamily="34" charset="0"/>
            </a:endParaRPr>
          </a:p>
        </p:txBody>
      </p:sp>
      <p:sp>
        <p:nvSpPr>
          <p:cNvPr id="1049124" name="Text Box 22"/>
          <p:cNvSpPr txBox="1">
            <a:spLocks noChangeArrowheads="1"/>
          </p:cNvSpPr>
          <p:nvPr/>
        </p:nvSpPr>
        <p:spPr bwMode="auto">
          <a:xfrm>
            <a:off x="2438400" y="5119688"/>
            <a:ext cx="1493410" cy="396239"/>
          </a:xfrm>
          <a:prstGeom prst="rect">
            <a:avLst/>
          </a:prstGeom>
          <a:noFill/>
          <a:ln w="9525">
            <a:noFill/>
            <a:miter lim="800000"/>
          </a:ln>
        </p:spPr>
        <p:txBody>
          <a:bodyPr wrap="none">
            <a:spAutoFit/>
          </a:bodyPr>
          <a:lstStyle/>
          <a:p>
            <a:pPr fontAlgn="base">
              <a:spcBef>
                <a:spcPct val="0"/>
              </a:spcBef>
              <a:spcAft>
                <a:spcPct val="0"/>
              </a:spcAft>
            </a:pPr>
            <a:r>
              <a:rPr lang="en-US">
                <a:solidFill>
                  <a:prstClr val="black"/>
                </a:solidFill>
                <a:latin typeface="Tahoma" panose="020B0604030504040204" pitchFamily="34" charset="0"/>
                <a:cs typeface="Arial" panose="020B0604020202020204" pitchFamily="34" charset="0"/>
              </a:rPr>
              <a:t>to Transport</a:t>
            </a:r>
          </a:p>
        </p:txBody>
      </p:sp>
      <p:sp>
        <p:nvSpPr>
          <p:cNvPr id="1049125" name="AutoShape 23"/>
          <p:cNvSpPr>
            <a:spLocks noChangeArrowheads="1"/>
          </p:cNvSpPr>
          <p:nvPr/>
        </p:nvSpPr>
        <p:spPr bwMode="auto">
          <a:xfrm flipV="1">
            <a:off x="6645275" y="4522788"/>
            <a:ext cx="228600" cy="533400"/>
          </a:xfrm>
          <a:prstGeom prst="downArrow">
            <a:avLst>
              <a:gd name="adj1" fmla="val 50000"/>
              <a:gd name="adj2" fmla="val 58333"/>
            </a:avLst>
          </a:prstGeom>
          <a:solidFill>
            <a:schemeClr val="folHlink"/>
          </a:solidFill>
          <a:ln w="9525">
            <a:solidFill>
              <a:schemeClr val="tx1"/>
            </a:solidFill>
            <a:miter lim="800000"/>
          </a:ln>
        </p:spPr>
        <p:txBody>
          <a:bodyPr wrap="none" anchor="ctr"/>
          <a:lstStyle/>
          <a:p>
            <a:pPr fontAlgn="base">
              <a:spcBef>
                <a:spcPct val="0"/>
              </a:spcBef>
              <a:spcAft>
                <a:spcPct val="0"/>
              </a:spcAft>
            </a:pPr>
            <a:endParaRPr lang="en-US">
              <a:solidFill>
                <a:prstClr val="black"/>
              </a:solidFill>
              <a:latin typeface="Tahoma" panose="020B0604030504040204" pitchFamily="34" charset="0"/>
              <a:cs typeface="Arial" panose="020B0604020202020204" pitchFamily="34" charset="0"/>
            </a:endParaRPr>
          </a:p>
        </p:txBody>
      </p:sp>
      <p:sp>
        <p:nvSpPr>
          <p:cNvPr id="1049126" name="Text Box 24"/>
          <p:cNvSpPr txBox="1">
            <a:spLocks noChangeArrowheads="1"/>
          </p:cNvSpPr>
          <p:nvPr/>
        </p:nvSpPr>
        <p:spPr bwMode="auto">
          <a:xfrm>
            <a:off x="6035675" y="5087938"/>
            <a:ext cx="1769387" cy="396239"/>
          </a:xfrm>
          <a:prstGeom prst="rect">
            <a:avLst/>
          </a:prstGeom>
          <a:noFill/>
          <a:ln w="9525">
            <a:noFill/>
            <a:miter lim="800000"/>
          </a:ln>
        </p:spPr>
        <p:txBody>
          <a:bodyPr wrap="none">
            <a:spAutoFit/>
          </a:bodyPr>
          <a:lstStyle/>
          <a:p>
            <a:pPr fontAlgn="base">
              <a:spcBef>
                <a:spcPct val="0"/>
              </a:spcBef>
              <a:spcAft>
                <a:spcPct val="0"/>
              </a:spcAft>
            </a:pPr>
            <a:r>
              <a:rPr lang="en-US">
                <a:solidFill>
                  <a:prstClr val="black"/>
                </a:solidFill>
                <a:latin typeface="Tahoma" panose="020B0604030504040204" pitchFamily="34" charset="0"/>
                <a:cs typeface="Arial" panose="020B0604020202020204" pitchFamily="34" charset="0"/>
              </a:rPr>
              <a:t>from Transport</a:t>
            </a:r>
          </a:p>
        </p:txBody>
      </p:sp>
      <p:grpSp>
        <p:nvGrpSpPr>
          <p:cNvPr id="164" name="Group 25"/>
          <p:cNvGrpSpPr/>
          <p:nvPr/>
        </p:nvGrpSpPr>
        <p:grpSpPr bwMode="auto">
          <a:xfrm>
            <a:off x="6324600" y="4249738"/>
            <a:ext cx="1219200" cy="228600"/>
            <a:chOff x="3984" y="2677"/>
            <a:chExt cx="768" cy="144"/>
          </a:xfrm>
        </p:grpSpPr>
        <p:sp>
          <p:nvSpPr>
            <p:cNvPr id="1049127" name="Rectangle 26"/>
            <p:cNvSpPr>
              <a:spLocks noChangeArrowheads="1"/>
            </p:cNvSpPr>
            <p:nvPr/>
          </p:nvSpPr>
          <p:spPr bwMode="auto">
            <a:xfrm>
              <a:off x="3984" y="2677"/>
              <a:ext cx="528" cy="144"/>
            </a:xfrm>
            <a:prstGeom prst="rect">
              <a:avLst/>
            </a:prstGeom>
            <a:solidFill>
              <a:srgbClr val="080808"/>
            </a:solidFill>
            <a:ln w="9525">
              <a:solidFill>
                <a:schemeClr val="tx1"/>
              </a:solidFill>
              <a:miter lim="800000"/>
            </a:ln>
          </p:spPr>
          <p:txBody>
            <a:bodyPr wrap="none" anchor="ctr"/>
            <a:lstStyle/>
            <a:p>
              <a:pPr algn="ctr" fontAlgn="base">
                <a:spcBef>
                  <a:spcPct val="0"/>
                </a:spcBef>
                <a:spcAft>
                  <a:spcPct val="0"/>
                </a:spcAft>
              </a:pPr>
              <a:r>
                <a:rPr lang="en-US" sz="1600">
                  <a:solidFill>
                    <a:prstClr val="black"/>
                  </a:solidFill>
                  <a:latin typeface="Tahoma" panose="020B0604030504040204" pitchFamily="34" charset="0"/>
                  <a:cs typeface="Arial" panose="020B0604020202020204" pitchFamily="34" charset="0"/>
                </a:rPr>
                <a:t>Data</a:t>
              </a:r>
            </a:p>
          </p:txBody>
        </p:sp>
        <p:sp>
          <p:nvSpPr>
            <p:cNvPr id="1049128" name="Rectangle 27"/>
            <p:cNvSpPr>
              <a:spLocks noChangeArrowheads="1"/>
            </p:cNvSpPr>
            <p:nvPr/>
          </p:nvSpPr>
          <p:spPr bwMode="auto">
            <a:xfrm>
              <a:off x="4512" y="2677"/>
              <a:ext cx="240" cy="144"/>
            </a:xfrm>
            <a:prstGeom prst="rect">
              <a:avLst/>
            </a:prstGeom>
            <a:solidFill>
              <a:schemeClr val="tx1"/>
            </a:solidFill>
            <a:ln w="9525">
              <a:solidFill>
                <a:schemeClr val="tx1"/>
              </a:solidFill>
              <a:miter lim="800000"/>
            </a:ln>
          </p:spPr>
          <p:txBody>
            <a:bodyPr wrap="none" anchor="ctr"/>
            <a:lstStyle/>
            <a:p>
              <a:pPr algn="ctr" fontAlgn="base">
                <a:spcBef>
                  <a:spcPct val="0"/>
                </a:spcBef>
                <a:spcAft>
                  <a:spcPct val="0"/>
                </a:spcAft>
              </a:pPr>
              <a:r>
                <a:rPr lang="en-US" sz="1600" b="1">
                  <a:solidFill>
                    <a:srgbClr val="53548A"/>
                  </a:solidFill>
                  <a:latin typeface="Tahoma" panose="020B0604030504040204" pitchFamily="34" charset="0"/>
                  <a:cs typeface="Arial" panose="020B0604020202020204" pitchFamily="34" charset="0"/>
                </a:rPr>
                <a:t>H5</a:t>
              </a:r>
            </a:p>
          </p:txBody>
        </p:sp>
      </p:grpSp>
      <p:sp>
        <p:nvSpPr>
          <p:cNvPr id="1049129" name="AutoShape 28"/>
          <p:cNvSpPr>
            <a:spLocks noChangeArrowheads="1"/>
          </p:cNvSpPr>
          <p:nvPr/>
        </p:nvSpPr>
        <p:spPr bwMode="auto">
          <a:xfrm rot="5400000">
            <a:off x="2781300" y="3297238"/>
            <a:ext cx="457200" cy="381000"/>
          </a:xfrm>
          <a:custGeom>
            <a:avLst/>
            <a:gdLst>
              <a:gd name="T0" fmla="*/ 6776868 w 21600"/>
              <a:gd name="T1" fmla="*/ 0 h 21600"/>
              <a:gd name="T2" fmla="*/ 6776868 w 21600"/>
              <a:gd name="T3" fmla="*/ 3782730 h 21600"/>
              <a:gd name="T4" fmla="*/ 1450255 w 21600"/>
              <a:gd name="T5" fmla="*/ 6720416 h 21600"/>
              <a:gd name="T6" fmla="*/ 9677399 w 21600"/>
              <a:gd name="T7" fmla="*/ 1891365 h 21600"/>
              <a:gd name="T8" fmla="*/ 17694720 60000 65536"/>
              <a:gd name="T9" fmla="*/ 5898240 60000 65536"/>
              <a:gd name="T10" fmla="*/ 5898240 60000 65536"/>
              <a:gd name="T11" fmla="*/ 0 60000 65536"/>
              <a:gd name="T12" fmla="*/ 12427 w 21600"/>
              <a:gd name="T13" fmla="*/ 2912 h 21600"/>
              <a:gd name="T14" fmla="*/ 18227 w 21600"/>
              <a:gd name="T15" fmla="*/ 9246 h 21600"/>
            </a:gdLst>
            <a:ahLst/>
            <a:cxnLst>
              <a:cxn ang="T8">
                <a:pos x="T0" y="T1"/>
              </a:cxn>
              <a:cxn ang="T9">
                <a:pos x="T2" y="T3"/>
              </a:cxn>
              <a:cxn ang="T10">
                <a:pos x="T4" y="T5"/>
              </a:cxn>
              <a:cxn ang="T11">
                <a:pos x="T6" y="T7"/>
              </a:cxn>
            </a:cxnLst>
            <a:rect l="T12" t="T13" r="T14" b="T15"/>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close/>
              </a:path>
            </a:pathLst>
          </a:custGeom>
          <a:solidFill>
            <a:schemeClr val="folHlink"/>
          </a:solidFill>
          <a:ln w="9525">
            <a:solidFill>
              <a:schemeClr val="tx1"/>
            </a:solidFill>
            <a:miter lim="800000"/>
          </a:ln>
        </p:spPr>
        <p:txBody>
          <a:bodyPr wrap="none" anchor="ctr"/>
          <a:lstStyle/>
          <a:p>
            <a:pPr fontAlgn="base">
              <a:spcBef>
                <a:spcPct val="0"/>
              </a:spcBef>
              <a:spcAft>
                <a:spcPct val="0"/>
              </a:spcAft>
            </a:pPr>
            <a:endParaRPr lang="en-US">
              <a:solidFill>
                <a:prstClr val="black"/>
              </a:solidFill>
              <a:latin typeface="Tahoma" panose="020B0604030504040204" pitchFamily="34" charset="0"/>
              <a:cs typeface="Arial" panose="020B0604020202020204" pitchFamily="34" charset="0"/>
            </a:endParaRPr>
          </a:p>
        </p:txBody>
      </p:sp>
      <p:sp>
        <p:nvSpPr>
          <p:cNvPr id="1049130" name="AutoShape 29"/>
          <p:cNvSpPr>
            <a:spLocks noChangeArrowheads="1"/>
          </p:cNvSpPr>
          <p:nvPr/>
        </p:nvSpPr>
        <p:spPr bwMode="auto">
          <a:xfrm>
            <a:off x="6705600" y="3182938"/>
            <a:ext cx="381000" cy="533400"/>
          </a:xfrm>
          <a:custGeom>
            <a:avLst/>
            <a:gdLst>
              <a:gd name="T0" fmla="*/ 4706162 w 21600"/>
              <a:gd name="T1" fmla="*/ 0 h 21600"/>
              <a:gd name="T2" fmla="*/ 4706162 w 21600"/>
              <a:gd name="T3" fmla="*/ 7414137 h 21600"/>
              <a:gd name="T4" fmla="*/ 1007128 w 21600"/>
              <a:gd name="T5" fmla="*/ 13172018 h 21600"/>
              <a:gd name="T6" fmla="*/ 6720416 w 21600"/>
              <a:gd name="T7" fmla="*/ 3707081 h 21600"/>
              <a:gd name="T8" fmla="*/ 17694720 60000 65536"/>
              <a:gd name="T9" fmla="*/ 5898240 60000 65536"/>
              <a:gd name="T10" fmla="*/ 5898240 60000 65536"/>
              <a:gd name="T11" fmla="*/ 0 60000 65536"/>
              <a:gd name="T12" fmla="*/ 12427 w 21600"/>
              <a:gd name="T13" fmla="*/ 2912 h 21600"/>
              <a:gd name="T14" fmla="*/ 18227 w 21600"/>
              <a:gd name="T15" fmla="*/ 9246 h 21600"/>
            </a:gdLst>
            <a:ahLst/>
            <a:cxnLst>
              <a:cxn ang="T8">
                <a:pos x="T0" y="T1"/>
              </a:cxn>
              <a:cxn ang="T9">
                <a:pos x="T2" y="T3"/>
              </a:cxn>
              <a:cxn ang="T10">
                <a:pos x="T4" y="T5"/>
              </a:cxn>
              <a:cxn ang="T11">
                <a:pos x="T6" y="T7"/>
              </a:cxn>
            </a:cxnLst>
            <a:rect l="T12" t="T13" r="T14" b="T15"/>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close/>
              </a:path>
            </a:pathLst>
          </a:custGeom>
          <a:solidFill>
            <a:schemeClr val="folHlink"/>
          </a:solidFill>
          <a:ln w="9525">
            <a:solidFill>
              <a:schemeClr val="tx1"/>
            </a:solidFill>
            <a:miter lim="800000"/>
          </a:ln>
        </p:spPr>
        <p:txBody>
          <a:bodyPr wrap="none" anchor="ctr"/>
          <a:lstStyle/>
          <a:p>
            <a:pPr fontAlgn="base">
              <a:spcBef>
                <a:spcPct val="0"/>
              </a:spcBef>
              <a:spcAft>
                <a:spcPct val="0"/>
              </a:spcAft>
            </a:pPr>
            <a:endParaRPr lang="en-US">
              <a:solidFill>
                <a:prstClr val="black"/>
              </a:solidFill>
              <a:latin typeface="Tahoma" panose="020B0604030504040204" pitchFamily="34" charset="0"/>
              <a:cs typeface="Arial" panose="020B0604020202020204" pitchFamily="34" charset="0"/>
            </a:endParaRPr>
          </a:p>
        </p:txBody>
      </p:sp>
      <p:sp>
        <p:nvSpPr>
          <p:cNvPr id="1049131" name="Rectangle 30"/>
          <p:cNvSpPr>
            <a:spLocks noChangeArrowheads="1"/>
          </p:cNvSpPr>
          <p:nvPr/>
        </p:nvSpPr>
        <p:spPr bwMode="auto">
          <a:xfrm>
            <a:off x="6324600" y="2878138"/>
            <a:ext cx="838200" cy="228600"/>
          </a:xfrm>
          <a:prstGeom prst="rect">
            <a:avLst/>
          </a:prstGeom>
          <a:solidFill>
            <a:srgbClr val="080808"/>
          </a:solidFill>
          <a:ln w="9525">
            <a:solidFill>
              <a:schemeClr val="tx1"/>
            </a:solidFill>
            <a:miter lim="800000"/>
          </a:ln>
        </p:spPr>
        <p:txBody>
          <a:bodyPr wrap="none" anchor="ctr"/>
          <a:lstStyle/>
          <a:p>
            <a:pPr algn="ctr" fontAlgn="base">
              <a:spcBef>
                <a:spcPct val="0"/>
              </a:spcBef>
              <a:spcAft>
                <a:spcPct val="0"/>
              </a:spcAft>
            </a:pPr>
            <a:r>
              <a:rPr lang="en-US" sz="1600">
                <a:solidFill>
                  <a:prstClr val="black"/>
                </a:solidFill>
                <a:latin typeface="Tahoma" panose="020B0604030504040204" pitchFamily="34" charset="0"/>
                <a:cs typeface="Arial" panose="020B0604020202020204" pitchFamily="34" charset="0"/>
              </a:rPr>
              <a:t>Data</a:t>
            </a:r>
          </a:p>
        </p:txBody>
      </p:sp>
      <p:sp>
        <p:nvSpPr>
          <p:cNvPr id="1049132" name="Line 31"/>
          <p:cNvSpPr>
            <a:spLocks noChangeShapeType="1"/>
          </p:cNvSpPr>
          <p:nvPr/>
        </p:nvSpPr>
        <p:spPr bwMode="auto">
          <a:xfrm>
            <a:off x="7162800" y="3106738"/>
            <a:ext cx="0" cy="1143000"/>
          </a:xfrm>
          <a:prstGeom prst="line">
            <a:avLst/>
          </a:prstGeom>
          <a:noFill/>
          <a:ln w="9525">
            <a:solidFill>
              <a:schemeClr val="tx1"/>
            </a:solidFill>
            <a:prstDash val="dash"/>
            <a:round/>
          </a:ln>
        </p:spPr>
        <p:txBody>
          <a:bodyPr/>
          <a:lstStyle/>
          <a:p>
            <a:pPr fontAlgn="base">
              <a:spcBef>
                <a:spcPct val="0"/>
              </a:spcBef>
              <a:spcAft>
                <a:spcPct val="0"/>
              </a:spcAft>
            </a:pPr>
            <a:endParaRPr lang="en-US">
              <a:solidFill>
                <a:prstClr val="black"/>
              </a:solidFill>
              <a:latin typeface="Tahoma" panose="020B0604030504040204" pitchFamily="34" charset="0"/>
              <a:cs typeface="Arial" panose="020B0604020202020204" pitchFamily="34" charset="0"/>
            </a:endParaRPr>
          </a:p>
        </p:txBody>
      </p:sp>
      <p:sp>
        <p:nvSpPr>
          <p:cNvPr id="1049133" name="Line 32"/>
          <p:cNvSpPr>
            <a:spLocks noChangeShapeType="1"/>
          </p:cNvSpPr>
          <p:nvPr/>
        </p:nvSpPr>
        <p:spPr bwMode="auto">
          <a:xfrm>
            <a:off x="6324600" y="3106738"/>
            <a:ext cx="0" cy="1143000"/>
          </a:xfrm>
          <a:prstGeom prst="line">
            <a:avLst/>
          </a:prstGeom>
          <a:noFill/>
          <a:ln w="9525">
            <a:solidFill>
              <a:schemeClr val="tx1"/>
            </a:solidFill>
            <a:prstDash val="dash"/>
            <a:round/>
          </a:ln>
        </p:spPr>
        <p:txBody>
          <a:bodyPr/>
          <a:lstStyle/>
          <a:p>
            <a:pPr fontAlgn="base">
              <a:spcBef>
                <a:spcPct val="0"/>
              </a:spcBef>
              <a:spcAft>
                <a:spcPct val="0"/>
              </a:spcAft>
            </a:pPr>
            <a:endParaRPr lang="en-US">
              <a:solidFill>
                <a:prstClr val="black"/>
              </a:solidFill>
              <a:latin typeface="Tahoma" panose="020B0604030504040204" pitchFamily="34" charset="0"/>
              <a:cs typeface="Arial" panose="020B0604020202020204" pitchFamily="34" charset="0"/>
            </a:endParaRPr>
          </a:p>
        </p:txBody>
      </p:sp>
      <p:sp>
        <p:nvSpPr>
          <p:cNvPr id="1049134" name="AutoShape 33"/>
          <p:cNvSpPr>
            <a:spLocks noChangeArrowheads="1"/>
          </p:cNvSpPr>
          <p:nvPr/>
        </p:nvSpPr>
        <p:spPr bwMode="auto">
          <a:xfrm>
            <a:off x="1447800" y="4191000"/>
            <a:ext cx="6934200" cy="1676400"/>
          </a:xfrm>
          <a:prstGeom prst="roundRect">
            <a:avLst>
              <a:gd name="adj" fmla="val 10338"/>
            </a:avLst>
          </a:prstGeom>
          <a:solidFill>
            <a:srgbClr val="FFFFFF">
              <a:alpha val="39999"/>
            </a:srgbClr>
          </a:solidFill>
          <a:ln w="9525">
            <a:solidFill>
              <a:schemeClr val="tx1"/>
            </a:solidFill>
            <a:prstDash val="dash"/>
            <a:round/>
          </a:ln>
        </p:spPr>
        <p:txBody>
          <a:bodyPr wrap="none" anchor="ctr"/>
          <a:lstStyle/>
          <a:p>
            <a:pPr fontAlgn="base">
              <a:spcBef>
                <a:spcPct val="0"/>
              </a:spcBef>
              <a:spcAft>
                <a:spcPct val="0"/>
              </a:spcAft>
            </a:pPr>
            <a:endParaRPr lang="en-US">
              <a:solidFill>
                <a:prstClr val="black"/>
              </a:solidFill>
              <a:latin typeface="Tahoma" panose="020B0604030504040204" pitchFamily="34" charset="0"/>
              <a:cs typeface="Arial" panose="020B0604020202020204" pitchFamily="34" charset="0"/>
            </a:endParaRPr>
          </a:p>
        </p:txBody>
      </p:sp>
      <p:grpSp>
        <p:nvGrpSpPr>
          <p:cNvPr id="165" name="Group 34"/>
          <p:cNvGrpSpPr/>
          <p:nvPr/>
        </p:nvGrpSpPr>
        <p:grpSpPr bwMode="auto">
          <a:xfrm>
            <a:off x="3581400" y="2971800"/>
            <a:ext cx="2667000" cy="333375"/>
            <a:chOff x="2256" y="1872"/>
            <a:chExt cx="1680" cy="210"/>
          </a:xfrm>
        </p:grpSpPr>
        <p:sp>
          <p:nvSpPr>
            <p:cNvPr id="1049135" name="Line 35"/>
            <p:cNvSpPr>
              <a:spLocks noChangeShapeType="1"/>
            </p:cNvSpPr>
            <p:nvPr/>
          </p:nvSpPr>
          <p:spPr bwMode="auto">
            <a:xfrm>
              <a:off x="2256" y="1872"/>
              <a:ext cx="1680" cy="0"/>
            </a:xfrm>
            <a:prstGeom prst="line">
              <a:avLst/>
            </a:prstGeom>
            <a:noFill/>
            <a:ln w="57150" cap="rnd">
              <a:solidFill>
                <a:schemeClr val="folHlink"/>
              </a:solidFill>
              <a:prstDash val="sysDot"/>
              <a:round/>
              <a:tailEnd type="triangle" w="med" len="med"/>
            </a:ln>
          </p:spPr>
          <p:txBody>
            <a:bodyPr/>
            <a:lstStyle/>
            <a:p>
              <a:pPr fontAlgn="base">
                <a:spcBef>
                  <a:spcPct val="0"/>
                </a:spcBef>
                <a:spcAft>
                  <a:spcPct val="0"/>
                </a:spcAft>
              </a:pPr>
              <a:endParaRPr lang="en-US">
                <a:solidFill>
                  <a:prstClr val="black"/>
                </a:solidFill>
                <a:latin typeface="Tahoma" panose="020B0604030504040204" pitchFamily="34" charset="0"/>
                <a:cs typeface="Arial" panose="020B0604020202020204" pitchFamily="34" charset="0"/>
              </a:endParaRPr>
            </a:p>
          </p:txBody>
        </p:sp>
        <p:sp>
          <p:nvSpPr>
            <p:cNvPr id="1049136" name="Text Box 36"/>
            <p:cNvSpPr txBox="1">
              <a:spLocks noChangeArrowheads="1"/>
            </p:cNvSpPr>
            <p:nvPr/>
          </p:nvSpPr>
          <p:spPr bwMode="auto">
            <a:xfrm>
              <a:off x="2400" y="1872"/>
              <a:ext cx="1307" cy="210"/>
            </a:xfrm>
            <a:prstGeom prst="rect">
              <a:avLst/>
            </a:prstGeom>
            <a:noFill/>
            <a:ln w="9525">
              <a:noFill/>
              <a:miter lim="800000"/>
            </a:ln>
          </p:spPr>
          <p:txBody>
            <a:bodyPr wrap="none">
              <a:spAutoFit/>
            </a:bodyPr>
            <a:lstStyle/>
            <a:p>
              <a:pPr fontAlgn="base">
                <a:spcBef>
                  <a:spcPct val="0"/>
                </a:spcBef>
                <a:spcAft>
                  <a:spcPct val="0"/>
                </a:spcAft>
              </a:pPr>
              <a:r>
                <a:rPr lang="en-US" sz="1400">
                  <a:solidFill>
                    <a:srgbClr val="C2A874"/>
                  </a:solidFill>
                  <a:latin typeface="Tahoma" panose="020B0604030504040204" pitchFamily="34" charset="0"/>
                  <a:cs typeface="Arial" panose="020B0604020202020204" pitchFamily="34" charset="0"/>
                </a:rPr>
                <a:t>Logical communication</a:t>
              </a:r>
            </a:p>
          </p:txBody>
        </p:sp>
      </p:grpSp>
      <p:sp>
        <p:nvSpPr>
          <p:cNvPr id="1049137" name="Freeform 37"/>
          <p:cNvSpPr/>
          <p:nvPr/>
        </p:nvSpPr>
        <p:spPr bwMode="auto">
          <a:xfrm>
            <a:off x="3352800" y="4495800"/>
            <a:ext cx="3200400" cy="381000"/>
          </a:xfrm>
          <a:custGeom>
            <a:avLst/>
            <a:gdLst>
              <a:gd name="T0" fmla="*/ 0 w 480"/>
              <a:gd name="T1" fmla="*/ 0 h 432"/>
              <a:gd name="T2" fmla="*/ 0 w 480"/>
              <a:gd name="T3" fmla="*/ 381000 h 432"/>
              <a:gd name="T4" fmla="*/ 3200400 w 480"/>
              <a:gd name="T5" fmla="*/ 381000 h 432"/>
              <a:gd name="T6" fmla="*/ 3200400 w 480"/>
              <a:gd name="T7" fmla="*/ 0 h 432"/>
              <a:gd name="T8" fmla="*/ 0 60000 65536"/>
              <a:gd name="T9" fmla="*/ 0 60000 65536"/>
              <a:gd name="T10" fmla="*/ 0 60000 65536"/>
              <a:gd name="T11" fmla="*/ 0 60000 65536"/>
              <a:gd name="T12" fmla="*/ 0 w 480"/>
              <a:gd name="T13" fmla="*/ 0 h 432"/>
              <a:gd name="T14" fmla="*/ 480 w 480"/>
              <a:gd name="T15" fmla="*/ 432 h 432"/>
            </a:gdLst>
            <a:ahLst/>
            <a:cxnLst>
              <a:cxn ang="T8">
                <a:pos x="T0" y="T1"/>
              </a:cxn>
              <a:cxn ang="T9">
                <a:pos x="T2" y="T3"/>
              </a:cxn>
              <a:cxn ang="T10">
                <a:pos x="T4" y="T5"/>
              </a:cxn>
              <a:cxn ang="T11">
                <a:pos x="T6" y="T7"/>
              </a:cxn>
            </a:cxnLst>
            <a:rect l="T12" t="T13" r="T14" b="T15"/>
            <a:pathLst>
              <a:path w="480" h="432">
                <a:moveTo>
                  <a:pt x="0" y="0"/>
                </a:moveTo>
                <a:lnTo>
                  <a:pt x="0" y="432"/>
                </a:lnTo>
                <a:lnTo>
                  <a:pt x="480" y="432"/>
                </a:lnTo>
                <a:lnTo>
                  <a:pt x="480" y="0"/>
                </a:lnTo>
              </a:path>
            </a:pathLst>
          </a:custGeom>
          <a:noFill/>
          <a:ln w="57150" cap="rnd" cmpd="sng">
            <a:solidFill>
              <a:schemeClr val="folHlink"/>
            </a:solidFill>
            <a:prstDash val="sysDot"/>
            <a:round/>
            <a:headEnd type="none" w="med" len="med"/>
            <a:tailEnd type="triangle" w="med" len="med"/>
          </a:ln>
        </p:spPr>
        <p:txBody>
          <a:bodyPr/>
          <a:lstStyle/>
          <a:p>
            <a:pPr fontAlgn="base">
              <a:spcBef>
                <a:spcPct val="0"/>
              </a:spcBef>
              <a:spcAft>
                <a:spcPct val="0"/>
              </a:spcAft>
            </a:pPr>
            <a:endParaRPr lang="en-US">
              <a:solidFill>
                <a:prstClr val="black"/>
              </a:solidFill>
              <a:latin typeface="Tahoma" panose="020B0604030504040204" pitchFamily="34" charset="0"/>
              <a:cs typeface="Arial" panose="020B0604020202020204" pitchFamily="34" charset="0"/>
            </a:endParaRPr>
          </a:p>
        </p:txBody>
      </p:sp>
    </p:spTree>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049108"/>
                                        </p:tgtEl>
                                        <p:attrNameLst>
                                          <p:attrName>style.visibility</p:attrName>
                                        </p:attrNameLst>
                                      </p:cBhvr>
                                      <p:to>
                                        <p:strVal val="visible"/>
                                      </p:to>
                                    </p:set>
                                    <p:animEffect transition="in" filter="dissolve">
                                      <p:cBhvr>
                                        <p:cTn id="7" dur="500"/>
                                        <p:tgtEl>
                                          <p:spTgt spid="1049108"/>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1049106">
                                            <p:txEl>
                                              <p:pRg st="0" end="0"/>
                                            </p:txEl>
                                          </p:spTgt>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9" presetClass="entr" presetSubtype="0" fill="hold" nodeType="clickEffect">
                                  <p:stCondLst>
                                    <p:cond delay="0"/>
                                  </p:stCondLst>
                                  <p:childTnLst>
                                    <p:set>
                                      <p:cBhvr>
                                        <p:cTn id="15" dur="1" fill="hold">
                                          <p:stCondLst>
                                            <p:cond delay="0"/>
                                          </p:stCondLst>
                                        </p:cTn>
                                        <p:tgtEl>
                                          <p:spTgt spid="2097180"/>
                                        </p:tgtEl>
                                        <p:attrNameLst>
                                          <p:attrName>style.visibility</p:attrName>
                                        </p:attrNameLst>
                                      </p:cBhvr>
                                      <p:to>
                                        <p:strVal val="visible"/>
                                      </p:to>
                                    </p:set>
                                    <p:animEffect transition="in" filter="dissolve">
                                      <p:cBhvr>
                                        <p:cTn id="16" dur="500"/>
                                        <p:tgtEl>
                                          <p:spTgt spid="2097180"/>
                                        </p:tgtEl>
                                      </p:cBhvr>
                                    </p:animEffect>
                                  </p:childTnLst>
                                </p:cTn>
                              </p:par>
                              <p:par>
                                <p:cTn id="17" presetID="9" presetClass="entr" presetSubtype="0" fill="hold" grpId="0" nodeType="withEffect">
                                  <p:stCondLst>
                                    <p:cond delay="0"/>
                                  </p:stCondLst>
                                  <p:childTnLst>
                                    <p:set>
                                      <p:cBhvr>
                                        <p:cTn id="18" dur="1" fill="hold">
                                          <p:stCondLst>
                                            <p:cond delay="0"/>
                                          </p:stCondLst>
                                        </p:cTn>
                                        <p:tgtEl>
                                          <p:spTgt spid="1049117"/>
                                        </p:tgtEl>
                                        <p:attrNameLst>
                                          <p:attrName>style.visibility</p:attrName>
                                        </p:attrNameLst>
                                      </p:cBhvr>
                                      <p:to>
                                        <p:strVal val="visible"/>
                                      </p:to>
                                    </p:set>
                                    <p:animEffect transition="in" filter="dissolve">
                                      <p:cBhvr>
                                        <p:cTn id="19" dur="500"/>
                                        <p:tgtEl>
                                          <p:spTgt spid="1049117"/>
                                        </p:tgtEl>
                                      </p:cBhvr>
                                    </p:animEffect>
                                  </p:childTnLst>
                                </p:cTn>
                              </p:par>
                            </p:childTnLst>
                          </p:cTn>
                        </p:par>
                      </p:childTnLst>
                    </p:cTn>
                  </p:par>
                  <p:par>
                    <p:cTn id="20" fill="hold">
                      <p:stCondLst>
                        <p:cond delay="indefinite"/>
                      </p:stCondLst>
                      <p:childTnLst>
                        <p:par>
                          <p:cTn id="21" fill="hold">
                            <p:stCondLst>
                              <p:cond delay="0"/>
                            </p:stCondLst>
                            <p:childTnLst>
                              <p:par>
                                <p:cTn id="22" presetID="12" presetClass="entr" presetSubtype="8" fill="hold" nodeType="clickEffect">
                                  <p:stCondLst>
                                    <p:cond delay="0"/>
                                  </p:stCondLst>
                                  <p:childTnLst>
                                    <p:set>
                                      <p:cBhvr>
                                        <p:cTn id="23" dur="1" fill="hold">
                                          <p:stCondLst>
                                            <p:cond delay="0"/>
                                          </p:stCondLst>
                                        </p:cTn>
                                        <p:tgtEl>
                                          <p:spTgt spid="165"/>
                                        </p:tgtEl>
                                        <p:attrNameLst>
                                          <p:attrName>style.visibility</p:attrName>
                                        </p:attrNameLst>
                                      </p:cBhvr>
                                      <p:to>
                                        <p:strVal val="visible"/>
                                      </p:to>
                                    </p:set>
                                    <p:animEffect transition="in" filter="slide(fromLeft)">
                                      <p:cBhvr>
                                        <p:cTn id="24" dur="500"/>
                                        <p:tgtEl>
                                          <p:spTgt spid="165"/>
                                        </p:tgtEl>
                                      </p:cBhvr>
                                    </p:animEffect>
                                  </p:childTnLst>
                                </p:cTn>
                              </p:par>
                            </p:childTnLst>
                          </p:cTn>
                        </p:par>
                      </p:childTnLst>
                    </p:cTn>
                  </p:par>
                  <p:par>
                    <p:cTn id="25" fill="hold">
                      <p:stCondLst>
                        <p:cond delay="indefinite"/>
                      </p:stCondLst>
                      <p:childTnLst>
                        <p:par>
                          <p:cTn id="26" fill="hold">
                            <p:stCondLst>
                              <p:cond delay="0"/>
                            </p:stCondLst>
                            <p:childTnLst>
                              <p:par>
                                <p:cTn id="27" presetID="9" presetClass="entr" presetSubtype="0" fill="hold" grpId="1" nodeType="clickEffect">
                                  <p:stCondLst>
                                    <p:cond delay="0"/>
                                  </p:stCondLst>
                                  <p:childTnLst>
                                    <p:set>
                                      <p:cBhvr>
                                        <p:cTn id="28" dur="1" fill="hold">
                                          <p:stCondLst>
                                            <p:cond delay="0"/>
                                          </p:stCondLst>
                                        </p:cTn>
                                        <p:tgtEl>
                                          <p:spTgt spid="1049131"/>
                                        </p:tgtEl>
                                        <p:attrNameLst>
                                          <p:attrName>style.visibility</p:attrName>
                                        </p:attrNameLst>
                                      </p:cBhvr>
                                      <p:to>
                                        <p:strVal val="visible"/>
                                      </p:to>
                                    </p:set>
                                    <p:animEffect transition="in" filter="dissolve">
                                      <p:cBhvr>
                                        <p:cTn id="29" dur="500"/>
                                        <p:tgtEl>
                                          <p:spTgt spid="1049131"/>
                                        </p:tgtEl>
                                      </p:cBhvr>
                                    </p:animEffect>
                                  </p:childTnLst>
                                </p:cTn>
                              </p:par>
                              <p:par>
                                <p:cTn id="30" presetID="9" presetClass="entr" presetSubtype="0" fill="hold" nodeType="withEffect">
                                  <p:stCondLst>
                                    <p:cond delay="0"/>
                                  </p:stCondLst>
                                  <p:childTnLst>
                                    <p:set>
                                      <p:cBhvr>
                                        <p:cTn id="31" dur="1" fill="hold">
                                          <p:stCondLst>
                                            <p:cond delay="0"/>
                                          </p:stCondLst>
                                        </p:cTn>
                                        <p:tgtEl>
                                          <p:spTgt spid="2097179"/>
                                        </p:tgtEl>
                                        <p:attrNameLst>
                                          <p:attrName>style.visibility</p:attrName>
                                        </p:attrNameLst>
                                      </p:cBhvr>
                                      <p:to>
                                        <p:strVal val="visible"/>
                                      </p:to>
                                    </p:set>
                                    <p:animEffect transition="in" filter="dissolve">
                                      <p:cBhvr>
                                        <p:cTn id="32" dur="500"/>
                                        <p:tgtEl>
                                          <p:spTgt spid="2097179"/>
                                        </p:tgtEl>
                                      </p:cBhvr>
                                    </p:animEffect>
                                  </p:childTnLst>
                                </p:cTn>
                              </p:par>
                            </p:childTnLst>
                          </p:cTn>
                        </p:par>
                      </p:childTnLst>
                    </p:cTn>
                  </p:par>
                  <p:par>
                    <p:cTn id="33" fill="hold">
                      <p:stCondLst>
                        <p:cond delay="indefinite"/>
                      </p:stCondLst>
                      <p:childTnLst>
                        <p:par>
                          <p:cTn id="34" fill="hold">
                            <p:stCondLst>
                              <p:cond delay="0"/>
                            </p:stCondLst>
                            <p:childTnLst>
                              <p:par>
                                <p:cTn id="35" presetID="9" presetClass="entr" presetSubtype="0" fill="hold" grpId="0" nodeType="clickEffect">
                                  <p:stCondLst>
                                    <p:cond delay="0"/>
                                  </p:stCondLst>
                                  <p:childTnLst>
                                    <p:set>
                                      <p:cBhvr>
                                        <p:cTn id="36" dur="1" fill="hold">
                                          <p:stCondLst>
                                            <p:cond delay="0"/>
                                          </p:stCondLst>
                                        </p:cTn>
                                        <p:tgtEl>
                                          <p:spTgt spid="1049122"/>
                                        </p:tgtEl>
                                        <p:attrNameLst>
                                          <p:attrName>style.visibility</p:attrName>
                                        </p:attrNameLst>
                                      </p:cBhvr>
                                      <p:to>
                                        <p:strVal val="visible"/>
                                      </p:to>
                                    </p:set>
                                    <p:animEffect transition="in" filter="dissolve">
                                      <p:cBhvr>
                                        <p:cTn id="37" dur="500"/>
                                        <p:tgtEl>
                                          <p:spTgt spid="1049122"/>
                                        </p:tgtEl>
                                      </p:cBhvr>
                                    </p:animEffect>
                                  </p:childTnLst>
                                </p:cTn>
                              </p:par>
                              <p:par>
                                <p:cTn id="38" presetID="9" presetClass="entr" presetSubtype="0" fill="hold" grpId="0" nodeType="withEffect">
                                  <p:stCondLst>
                                    <p:cond delay="0"/>
                                  </p:stCondLst>
                                  <p:childTnLst>
                                    <p:set>
                                      <p:cBhvr>
                                        <p:cTn id="39" dur="1" fill="hold">
                                          <p:stCondLst>
                                            <p:cond delay="0"/>
                                          </p:stCondLst>
                                        </p:cTn>
                                        <p:tgtEl>
                                          <p:spTgt spid="1049109"/>
                                        </p:tgtEl>
                                        <p:attrNameLst>
                                          <p:attrName>style.visibility</p:attrName>
                                        </p:attrNameLst>
                                      </p:cBhvr>
                                      <p:to>
                                        <p:strVal val="visible"/>
                                      </p:to>
                                    </p:set>
                                    <p:animEffect transition="in" filter="dissolve">
                                      <p:cBhvr>
                                        <p:cTn id="40" dur="500"/>
                                        <p:tgtEl>
                                          <p:spTgt spid="1049109"/>
                                        </p:tgtEl>
                                      </p:cBhvr>
                                    </p:animEffect>
                                  </p:childTnLst>
                                </p:cTn>
                              </p:par>
                            </p:childTnLst>
                          </p:cTn>
                        </p:par>
                      </p:childTnLst>
                    </p:cTn>
                  </p:par>
                  <p:par>
                    <p:cTn id="41" fill="hold">
                      <p:stCondLst>
                        <p:cond delay="indefinite"/>
                      </p:stCondLst>
                      <p:childTnLst>
                        <p:par>
                          <p:cTn id="42" fill="hold">
                            <p:stCondLst>
                              <p:cond delay="0"/>
                            </p:stCondLst>
                            <p:childTnLst>
                              <p:par>
                                <p:cTn id="43" presetID="2" presetClass="entr" presetSubtype="4" fill="hold" grpId="0" nodeType="clickEffect">
                                  <p:stCondLst>
                                    <p:cond delay="0"/>
                                  </p:stCondLst>
                                  <p:childTnLst>
                                    <p:set>
                                      <p:cBhvr>
                                        <p:cTn id="44" dur="1" fill="hold">
                                          <p:stCondLst>
                                            <p:cond delay="0"/>
                                          </p:stCondLst>
                                        </p:cTn>
                                        <p:tgtEl>
                                          <p:spTgt spid="1049111"/>
                                        </p:tgtEl>
                                        <p:attrNameLst>
                                          <p:attrName>style.visibility</p:attrName>
                                        </p:attrNameLst>
                                      </p:cBhvr>
                                      <p:to>
                                        <p:strVal val="visible"/>
                                      </p:to>
                                    </p:set>
                                    <p:anim calcmode="lin" valueType="num">
                                      <p:cBhvr additive="base">
                                        <p:cTn id="45" dur="500" fill="hold"/>
                                        <p:tgtEl>
                                          <p:spTgt spid="1049111"/>
                                        </p:tgtEl>
                                        <p:attrNameLst>
                                          <p:attrName>ppt_x</p:attrName>
                                        </p:attrNameLst>
                                      </p:cBhvr>
                                      <p:tavLst>
                                        <p:tav tm="0">
                                          <p:val>
                                            <p:strVal val="#ppt_x"/>
                                          </p:val>
                                        </p:tav>
                                        <p:tav tm="100000">
                                          <p:val>
                                            <p:strVal val="#ppt_x"/>
                                          </p:val>
                                        </p:tav>
                                      </p:tavLst>
                                    </p:anim>
                                    <p:anim calcmode="lin" valueType="num">
                                      <p:cBhvr additive="base">
                                        <p:cTn id="46" dur="500" fill="hold"/>
                                        <p:tgtEl>
                                          <p:spTgt spid="1049111"/>
                                        </p:tgtEl>
                                        <p:attrNameLst>
                                          <p:attrName>ppt_y</p:attrName>
                                        </p:attrNameLst>
                                      </p:cBhvr>
                                      <p:tavLst>
                                        <p:tav tm="0">
                                          <p:val>
                                            <p:strVal val="1+#ppt_h/2"/>
                                          </p:val>
                                        </p:tav>
                                        <p:tav tm="100000">
                                          <p:val>
                                            <p:strVal val="#ppt_y"/>
                                          </p:val>
                                        </p:tav>
                                      </p:tavLst>
                                    </p:anim>
                                  </p:childTnLst>
                                </p:cTn>
                              </p:par>
                              <p:par>
                                <p:cTn id="47" presetID="2" presetClass="entr" presetSubtype="4" fill="hold" grpId="0" nodeType="withEffect">
                                  <p:stCondLst>
                                    <p:cond delay="0"/>
                                  </p:stCondLst>
                                  <p:childTnLst>
                                    <p:set>
                                      <p:cBhvr>
                                        <p:cTn id="48" dur="1" fill="hold">
                                          <p:stCondLst>
                                            <p:cond delay="0"/>
                                          </p:stCondLst>
                                        </p:cTn>
                                        <p:tgtEl>
                                          <p:spTgt spid="1049112"/>
                                        </p:tgtEl>
                                        <p:attrNameLst>
                                          <p:attrName>style.visibility</p:attrName>
                                        </p:attrNameLst>
                                      </p:cBhvr>
                                      <p:to>
                                        <p:strVal val="visible"/>
                                      </p:to>
                                    </p:set>
                                    <p:anim calcmode="lin" valueType="num">
                                      <p:cBhvr additive="base">
                                        <p:cTn id="49" dur="500" fill="hold"/>
                                        <p:tgtEl>
                                          <p:spTgt spid="1049112"/>
                                        </p:tgtEl>
                                        <p:attrNameLst>
                                          <p:attrName>ppt_x</p:attrName>
                                        </p:attrNameLst>
                                      </p:cBhvr>
                                      <p:tavLst>
                                        <p:tav tm="0">
                                          <p:val>
                                            <p:strVal val="#ppt_x"/>
                                          </p:val>
                                        </p:tav>
                                        <p:tav tm="100000">
                                          <p:val>
                                            <p:strVal val="#ppt_x"/>
                                          </p:val>
                                        </p:tav>
                                      </p:tavLst>
                                    </p:anim>
                                    <p:anim calcmode="lin" valueType="num">
                                      <p:cBhvr additive="base">
                                        <p:cTn id="50" dur="500" fill="hold"/>
                                        <p:tgtEl>
                                          <p:spTgt spid="1049112"/>
                                        </p:tgtEl>
                                        <p:attrNameLst>
                                          <p:attrName>ppt_y</p:attrName>
                                        </p:attrNameLst>
                                      </p:cBhvr>
                                      <p:tavLst>
                                        <p:tav tm="0">
                                          <p:val>
                                            <p:strVal val="1+#ppt_h/2"/>
                                          </p:val>
                                        </p:tav>
                                        <p:tav tm="100000">
                                          <p:val>
                                            <p:strVal val="#ppt_y"/>
                                          </p:val>
                                        </p:tav>
                                      </p:tavLst>
                                    </p:anim>
                                  </p:childTnLst>
                                </p:cTn>
                              </p:par>
                              <p:par>
                                <p:cTn id="51" presetID="2" presetClass="entr" presetSubtype="4" fill="hold" grpId="0" nodeType="withEffect">
                                  <p:stCondLst>
                                    <p:cond delay="0"/>
                                  </p:stCondLst>
                                  <p:childTnLst>
                                    <p:set>
                                      <p:cBhvr>
                                        <p:cTn id="52" dur="1" fill="hold">
                                          <p:stCondLst>
                                            <p:cond delay="0"/>
                                          </p:stCondLst>
                                        </p:cTn>
                                        <p:tgtEl>
                                          <p:spTgt spid="1049113"/>
                                        </p:tgtEl>
                                        <p:attrNameLst>
                                          <p:attrName>style.visibility</p:attrName>
                                        </p:attrNameLst>
                                      </p:cBhvr>
                                      <p:to>
                                        <p:strVal val="visible"/>
                                      </p:to>
                                    </p:set>
                                    <p:anim calcmode="lin" valueType="num">
                                      <p:cBhvr additive="base">
                                        <p:cTn id="53" dur="500" fill="hold"/>
                                        <p:tgtEl>
                                          <p:spTgt spid="1049113"/>
                                        </p:tgtEl>
                                        <p:attrNameLst>
                                          <p:attrName>ppt_x</p:attrName>
                                        </p:attrNameLst>
                                      </p:cBhvr>
                                      <p:tavLst>
                                        <p:tav tm="0">
                                          <p:val>
                                            <p:strVal val="#ppt_x"/>
                                          </p:val>
                                        </p:tav>
                                        <p:tav tm="100000">
                                          <p:val>
                                            <p:strVal val="#ppt_x"/>
                                          </p:val>
                                        </p:tav>
                                      </p:tavLst>
                                    </p:anim>
                                    <p:anim calcmode="lin" valueType="num">
                                      <p:cBhvr additive="base">
                                        <p:cTn id="54" dur="500" fill="hold"/>
                                        <p:tgtEl>
                                          <p:spTgt spid="1049113"/>
                                        </p:tgtEl>
                                        <p:attrNameLst>
                                          <p:attrName>ppt_y</p:attrName>
                                        </p:attrNameLst>
                                      </p:cBhvr>
                                      <p:tavLst>
                                        <p:tav tm="0">
                                          <p:val>
                                            <p:strVal val="1+#ppt_h/2"/>
                                          </p:val>
                                        </p:tav>
                                        <p:tav tm="100000">
                                          <p:val>
                                            <p:strVal val="#ppt_y"/>
                                          </p:val>
                                        </p:tav>
                                      </p:tavLst>
                                    </p:anim>
                                  </p:childTnLst>
                                </p:cTn>
                              </p:par>
                            </p:childTnLst>
                          </p:cTn>
                        </p:par>
                      </p:childTnLst>
                    </p:cTn>
                  </p:par>
                  <p:par>
                    <p:cTn id="55" fill="hold">
                      <p:stCondLst>
                        <p:cond delay="indefinite"/>
                      </p:stCondLst>
                      <p:childTnLst>
                        <p:par>
                          <p:cTn id="56" fill="hold">
                            <p:stCondLst>
                              <p:cond delay="0"/>
                            </p:stCondLst>
                            <p:childTnLst>
                              <p:par>
                                <p:cTn id="57" presetID="22" presetClass="entr" presetSubtype="1" fill="hold" grpId="0" nodeType="clickEffect">
                                  <p:stCondLst>
                                    <p:cond delay="0"/>
                                  </p:stCondLst>
                                  <p:childTnLst>
                                    <p:set>
                                      <p:cBhvr>
                                        <p:cTn id="58" dur="1" fill="hold">
                                          <p:stCondLst>
                                            <p:cond delay="0"/>
                                          </p:stCondLst>
                                        </p:cTn>
                                        <p:tgtEl>
                                          <p:spTgt spid="1049129"/>
                                        </p:tgtEl>
                                        <p:attrNameLst>
                                          <p:attrName>style.visibility</p:attrName>
                                        </p:attrNameLst>
                                      </p:cBhvr>
                                      <p:to>
                                        <p:strVal val="visible"/>
                                      </p:to>
                                    </p:set>
                                    <p:animEffect transition="in" filter="wipe(up)">
                                      <p:cBhvr>
                                        <p:cTn id="59" dur="500"/>
                                        <p:tgtEl>
                                          <p:spTgt spid="1049129"/>
                                        </p:tgtEl>
                                      </p:cBhvr>
                                    </p:animEffect>
                                  </p:childTnLst>
                                </p:cTn>
                              </p:par>
                            </p:childTnLst>
                          </p:cTn>
                        </p:par>
                        <p:par>
                          <p:cTn id="60" fill="hold">
                            <p:stCondLst>
                              <p:cond delay="500"/>
                            </p:stCondLst>
                            <p:childTnLst>
                              <p:par>
                                <p:cTn id="61" presetID="22" presetClass="entr" presetSubtype="1" fill="hold" grpId="0" nodeType="afterEffect">
                                  <p:stCondLst>
                                    <p:cond delay="0"/>
                                  </p:stCondLst>
                                  <p:childTnLst>
                                    <p:set>
                                      <p:cBhvr>
                                        <p:cTn id="62" dur="1" fill="hold">
                                          <p:stCondLst>
                                            <p:cond delay="0"/>
                                          </p:stCondLst>
                                        </p:cTn>
                                        <p:tgtEl>
                                          <p:spTgt spid="1049121"/>
                                        </p:tgtEl>
                                        <p:attrNameLst>
                                          <p:attrName>style.visibility</p:attrName>
                                        </p:attrNameLst>
                                      </p:cBhvr>
                                      <p:to>
                                        <p:strVal val="visible"/>
                                      </p:to>
                                    </p:set>
                                    <p:animEffect transition="in" filter="wipe(up)">
                                      <p:cBhvr>
                                        <p:cTn id="63" dur="500"/>
                                        <p:tgtEl>
                                          <p:spTgt spid="1049121"/>
                                        </p:tgtEl>
                                      </p:cBhvr>
                                    </p:animEffect>
                                  </p:childTnLst>
                                </p:cTn>
                              </p:par>
                              <p:par>
                                <p:cTn id="64" presetID="22" presetClass="entr" presetSubtype="1" fill="hold" grpId="0" nodeType="withEffect">
                                  <p:stCondLst>
                                    <p:cond delay="0"/>
                                  </p:stCondLst>
                                  <p:childTnLst>
                                    <p:set>
                                      <p:cBhvr>
                                        <p:cTn id="65" dur="1" fill="hold">
                                          <p:stCondLst>
                                            <p:cond delay="0"/>
                                          </p:stCondLst>
                                        </p:cTn>
                                        <p:tgtEl>
                                          <p:spTgt spid="1049120"/>
                                        </p:tgtEl>
                                        <p:attrNameLst>
                                          <p:attrName>style.visibility</p:attrName>
                                        </p:attrNameLst>
                                      </p:cBhvr>
                                      <p:to>
                                        <p:strVal val="visible"/>
                                      </p:to>
                                    </p:set>
                                    <p:animEffect transition="in" filter="wipe(up)">
                                      <p:cBhvr>
                                        <p:cTn id="66" dur="500"/>
                                        <p:tgtEl>
                                          <p:spTgt spid="1049120"/>
                                        </p:tgtEl>
                                      </p:cBhvr>
                                    </p:animEffect>
                                  </p:childTnLst>
                                </p:cTn>
                              </p:par>
                            </p:childTnLst>
                          </p:cTn>
                        </p:par>
                        <p:par>
                          <p:cTn id="67" fill="hold">
                            <p:stCondLst>
                              <p:cond delay="1000"/>
                            </p:stCondLst>
                            <p:childTnLst>
                              <p:par>
                                <p:cTn id="68" presetID="22" presetClass="entr" presetSubtype="1" fill="hold" grpId="0" nodeType="afterEffect">
                                  <p:stCondLst>
                                    <p:cond delay="0"/>
                                  </p:stCondLst>
                                  <p:childTnLst>
                                    <p:set>
                                      <p:cBhvr>
                                        <p:cTn id="69" dur="1" fill="hold">
                                          <p:stCondLst>
                                            <p:cond delay="0"/>
                                          </p:stCondLst>
                                        </p:cTn>
                                        <p:tgtEl>
                                          <p:spTgt spid="1049118"/>
                                        </p:tgtEl>
                                        <p:attrNameLst>
                                          <p:attrName>style.visibility</p:attrName>
                                        </p:attrNameLst>
                                      </p:cBhvr>
                                      <p:to>
                                        <p:strVal val="visible"/>
                                      </p:to>
                                    </p:set>
                                    <p:animEffect transition="in" filter="wipe(up)">
                                      <p:cBhvr>
                                        <p:cTn id="70" dur="500"/>
                                        <p:tgtEl>
                                          <p:spTgt spid="1049118"/>
                                        </p:tgtEl>
                                      </p:cBhvr>
                                    </p:animEffect>
                                  </p:childTnLst>
                                </p:cTn>
                              </p:par>
                            </p:childTnLst>
                          </p:cTn>
                        </p:par>
                      </p:childTnLst>
                    </p:cTn>
                  </p:par>
                  <p:par>
                    <p:cTn id="71" fill="hold">
                      <p:stCondLst>
                        <p:cond delay="indefinite"/>
                      </p:stCondLst>
                      <p:childTnLst>
                        <p:par>
                          <p:cTn id="72" fill="hold">
                            <p:stCondLst>
                              <p:cond delay="0"/>
                            </p:stCondLst>
                            <p:childTnLst>
                              <p:par>
                                <p:cTn id="73" presetID="9" presetClass="entr" presetSubtype="0" fill="hold" grpId="0" nodeType="clickEffect">
                                  <p:stCondLst>
                                    <p:cond delay="0"/>
                                  </p:stCondLst>
                                  <p:childTnLst>
                                    <p:set>
                                      <p:cBhvr>
                                        <p:cTn id="74" dur="1" fill="hold">
                                          <p:stCondLst>
                                            <p:cond delay="0"/>
                                          </p:stCondLst>
                                        </p:cTn>
                                        <p:tgtEl>
                                          <p:spTgt spid="1049119"/>
                                        </p:tgtEl>
                                        <p:attrNameLst>
                                          <p:attrName>style.visibility</p:attrName>
                                        </p:attrNameLst>
                                      </p:cBhvr>
                                      <p:to>
                                        <p:strVal val="visible"/>
                                      </p:to>
                                    </p:set>
                                    <p:animEffect transition="in" filter="dissolve">
                                      <p:cBhvr>
                                        <p:cTn id="75" dur="500"/>
                                        <p:tgtEl>
                                          <p:spTgt spid="1049119"/>
                                        </p:tgtEl>
                                      </p:cBhvr>
                                    </p:animEffect>
                                  </p:childTnLst>
                                </p:cTn>
                              </p:par>
                            </p:childTnLst>
                          </p:cTn>
                        </p:par>
                      </p:childTnLst>
                    </p:cTn>
                  </p:par>
                  <p:par>
                    <p:cTn id="76" fill="hold">
                      <p:stCondLst>
                        <p:cond delay="indefinite"/>
                      </p:stCondLst>
                      <p:childTnLst>
                        <p:par>
                          <p:cTn id="77" fill="hold">
                            <p:stCondLst>
                              <p:cond delay="0"/>
                            </p:stCondLst>
                            <p:childTnLst>
                              <p:par>
                                <p:cTn id="78" presetID="9" presetClass="entr" presetSubtype="0" fill="hold" grpId="0" nodeType="clickEffect">
                                  <p:stCondLst>
                                    <p:cond delay="0"/>
                                  </p:stCondLst>
                                  <p:childTnLst>
                                    <p:set>
                                      <p:cBhvr>
                                        <p:cTn id="79" dur="1" fill="hold">
                                          <p:stCondLst>
                                            <p:cond delay="0"/>
                                          </p:stCondLst>
                                        </p:cTn>
                                        <p:tgtEl>
                                          <p:spTgt spid="1049134"/>
                                        </p:tgtEl>
                                        <p:attrNameLst>
                                          <p:attrName>style.visibility</p:attrName>
                                        </p:attrNameLst>
                                      </p:cBhvr>
                                      <p:to>
                                        <p:strVal val="visible"/>
                                      </p:to>
                                    </p:set>
                                    <p:animEffect transition="in" filter="dissolve">
                                      <p:cBhvr>
                                        <p:cTn id="80" dur="500"/>
                                        <p:tgtEl>
                                          <p:spTgt spid="1049134"/>
                                        </p:tgtEl>
                                      </p:cBhvr>
                                    </p:animEffect>
                                  </p:childTnLst>
                                </p:cTn>
                              </p:par>
                            </p:childTnLst>
                          </p:cTn>
                        </p:par>
                      </p:childTnLst>
                    </p:cTn>
                  </p:par>
                  <p:par>
                    <p:cTn id="81" fill="hold">
                      <p:stCondLst>
                        <p:cond delay="indefinite"/>
                      </p:stCondLst>
                      <p:childTnLst>
                        <p:par>
                          <p:cTn id="82" fill="hold">
                            <p:stCondLst>
                              <p:cond delay="0"/>
                            </p:stCondLst>
                            <p:childTnLst>
                              <p:par>
                                <p:cTn id="83" presetID="9" presetClass="entr" presetSubtype="0" fill="hold" grpId="0" nodeType="clickEffect">
                                  <p:stCondLst>
                                    <p:cond delay="0"/>
                                  </p:stCondLst>
                                  <p:childTnLst>
                                    <p:set>
                                      <p:cBhvr>
                                        <p:cTn id="84" dur="1" fill="hold">
                                          <p:stCondLst>
                                            <p:cond delay="0"/>
                                          </p:stCondLst>
                                        </p:cTn>
                                        <p:tgtEl>
                                          <p:spTgt spid="1049110"/>
                                        </p:tgtEl>
                                        <p:attrNameLst>
                                          <p:attrName>style.visibility</p:attrName>
                                        </p:attrNameLst>
                                      </p:cBhvr>
                                      <p:to>
                                        <p:strVal val="visible"/>
                                      </p:to>
                                    </p:set>
                                    <p:animEffect transition="in" filter="dissolve">
                                      <p:cBhvr>
                                        <p:cTn id="85" dur="500"/>
                                        <p:tgtEl>
                                          <p:spTgt spid="1049110"/>
                                        </p:tgtEl>
                                      </p:cBhvr>
                                    </p:animEffect>
                                  </p:childTnLst>
                                </p:cTn>
                              </p:par>
                            </p:childTnLst>
                          </p:cTn>
                        </p:par>
                        <p:par>
                          <p:cTn id="86" fill="hold">
                            <p:stCondLst>
                              <p:cond delay="500"/>
                            </p:stCondLst>
                            <p:childTnLst>
                              <p:par>
                                <p:cTn id="87" presetID="2" presetClass="entr" presetSubtype="4" fill="hold" grpId="0" nodeType="afterEffect">
                                  <p:stCondLst>
                                    <p:cond delay="0"/>
                                  </p:stCondLst>
                                  <p:childTnLst>
                                    <p:set>
                                      <p:cBhvr>
                                        <p:cTn id="88" dur="1" fill="hold">
                                          <p:stCondLst>
                                            <p:cond delay="0"/>
                                          </p:stCondLst>
                                        </p:cTn>
                                        <p:tgtEl>
                                          <p:spTgt spid="1049114"/>
                                        </p:tgtEl>
                                        <p:attrNameLst>
                                          <p:attrName>style.visibility</p:attrName>
                                        </p:attrNameLst>
                                      </p:cBhvr>
                                      <p:to>
                                        <p:strVal val="visible"/>
                                      </p:to>
                                    </p:set>
                                    <p:anim calcmode="lin" valueType="num">
                                      <p:cBhvr additive="base">
                                        <p:cTn id="89" dur="500" fill="hold"/>
                                        <p:tgtEl>
                                          <p:spTgt spid="1049114"/>
                                        </p:tgtEl>
                                        <p:attrNameLst>
                                          <p:attrName>ppt_x</p:attrName>
                                        </p:attrNameLst>
                                      </p:cBhvr>
                                      <p:tavLst>
                                        <p:tav tm="0">
                                          <p:val>
                                            <p:strVal val="#ppt_x"/>
                                          </p:val>
                                        </p:tav>
                                        <p:tav tm="100000">
                                          <p:val>
                                            <p:strVal val="#ppt_x"/>
                                          </p:val>
                                        </p:tav>
                                      </p:tavLst>
                                    </p:anim>
                                    <p:anim calcmode="lin" valueType="num">
                                      <p:cBhvr additive="base">
                                        <p:cTn id="90" dur="500" fill="hold"/>
                                        <p:tgtEl>
                                          <p:spTgt spid="1049114"/>
                                        </p:tgtEl>
                                        <p:attrNameLst>
                                          <p:attrName>ppt_y</p:attrName>
                                        </p:attrNameLst>
                                      </p:cBhvr>
                                      <p:tavLst>
                                        <p:tav tm="0">
                                          <p:val>
                                            <p:strVal val="1+#ppt_h/2"/>
                                          </p:val>
                                        </p:tav>
                                        <p:tav tm="100000">
                                          <p:val>
                                            <p:strVal val="#ppt_y"/>
                                          </p:val>
                                        </p:tav>
                                      </p:tavLst>
                                    </p:anim>
                                  </p:childTnLst>
                                </p:cTn>
                              </p:par>
                              <p:par>
                                <p:cTn id="91" presetID="2" presetClass="entr" presetSubtype="4" fill="hold" grpId="0" nodeType="withEffect">
                                  <p:stCondLst>
                                    <p:cond delay="0"/>
                                  </p:stCondLst>
                                  <p:childTnLst>
                                    <p:set>
                                      <p:cBhvr>
                                        <p:cTn id="92" dur="1" fill="hold">
                                          <p:stCondLst>
                                            <p:cond delay="0"/>
                                          </p:stCondLst>
                                        </p:cTn>
                                        <p:tgtEl>
                                          <p:spTgt spid="1049115"/>
                                        </p:tgtEl>
                                        <p:attrNameLst>
                                          <p:attrName>style.visibility</p:attrName>
                                        </p:attrNameLst>
                                      </p:cBhvr>
                                      <p:to>
                                        <p:strVal val="visible"/>
                                      </p:to>
                                    </p:set>
                                    <p:anim calcmode="lin" valueType="num">
                                      <p:cBhvr additive="base">
                                        <p:cTn id="93" dur="500" fill="hold"/>
                                        <p:tgtEl>
                                          <p:spTgt spid="1049115"/>
                                        </p:tgtEl>
                                        <p:attrNameLst>
                                          <p:attrName>ppt_x</p:attrName>
                                        </p:attrNameLst>
                                      </p:cBhvr>
                                      <p:tavLst>
                                        <p:tav tm="0">
                                          <p:val>
                                            <p:strVal val="#ppt_x"/>
                                          </p:val>
                                        </p:tav>
                                        <p:tav tm="100000">
                                          <p:val>
                                            <p:strVal val="#ppt_x"/>
                                          </p:val>
                                        </p:tav>
                                      </p:tavLst>
                                    </p:anim>
                                    <p:anim calcmode="lin" valueType="num">
                                      <p:cBhvr additive="base">
                                        <p:cTn id="94" dur="500" fill="hold"/>
                                        <p:tgtEl>
                                          <p:spTgt spid="1049115"/>
                                        </p:tgtEl>
                                        <p:attrNameLst>
                                          <p:attrName>ppt_y</p:attrName>
                                        </p:attrNameLst>
                                      </p:cBhvr>
                                      <p:tavLst>
                                        <p:tav tm="0">
                                          <p:val>
                                            <p:strVal val="1+#ppt_h/2"/>
                                          </p:val>
                                        </p:tav>
                                        <p:tav tm="100000">
                                          <p:val>
                                            <p:strVal val="#ppt_y"/>
                                          </p:val>
                                        </p:tav>
                                      </p:tavLst>
                                    </p:anim>
                                  </p:childTnLst>
                                </p:cTn>
                              </p:par>
                              <p:par>
                                <p:cTn id="95" presetID="2" presetClass="entr" presetSubtype="4" fill="hold" grpId="0" nodeType="withEffect">
                                  <p:stCondLst>
                                    <p:cond delay="0"/>
                                  </p:stCondLst>
                                  <p:childTnLst>
                                    <p:set>
                                      <p:cBhvr>
                                        <p:cTn id="96" dur="1" fill="hold">
                                          <p:stCondLst>
                                            <p:cond delay="0"/>
                                          </p:stCondLst>
                                        </p:cTn>
                                        <p:tgtEl>
                                          <p:spTgt spid="1049116"/>
                                        </p:tgtEl>
                                        <p:attrNameLst>
                                          <p:attrName>style.visibility</p:attrName>
                                        </p:attrNameLst>
                                      </p:cBhvr>
                                      <p:to>
                                        <p:strVal val="visible"/>
                                      </p:to>
                                    </p:set>
                                    <p:anim calcmode="lin" valueType="num">
                                      <p:cBhvr additive="base">
                                        <p:cTn id="97" dur="500" fill="hold"/>
                                        <p:tgtEl>
                                          <p:spTgt spid="1049116"/>
                                        </p:tgtEl>
                                        <p:attrNameLst>
                                          <p:attrName>ppt_x</p:attrName>
                                        </p:attrNameLst>
                                      </p:cBhvr>
                                      <p:tavLst>
                                        <p:tav tm="0">
                                          <p:val>
                                            <p:strVal val="#ppt_x"/>
                                          </p:val>
                                        </p:tav>
                                        <p:tav tm="100000">
                                          <p:val>
                                            <p:strVal val="#ppt_x"/>
                                          </p:val>
                                        </p:tav>
                                      </p:tavLst>
                                    </p:anim>
                                    <p:anim calcmode="lin" valueType="num">
                                      <p:cBhvr additive="base">
                                        <p:cTn id="98" dur="500" fill="hold"/>
                                        <p:tgtEl>
                                          <p:spTgt spid="1049116"/>
                                        </p:tgtEl>
                                        <p:attrNameLst>
                                          <p:attrName>ppt_y</p:attrName>
                                        </p:attrNameLst>
                                      </p:cBhvr>
                                      <p:tavLst>
                                        <p:tav tm="0">
                                          <p:val>
                                            <p:strVal val="1+#ppt_h/2"/>
                                          </p:val>
                                        </p:tav>
                                        <p:tav tm="100000">
                                          <p:val>
                                            <p:strVal val="#ppt_y"/>
                                          </p:val>
                                        </p:tav>
                                      </p:tavLst>
                                    </p:anim>
                                  </p:childTnLst>
                                </p:cTn>
                              </p:par>
                            </p:childTnLst>
                          </p:cTn>
                        </p:par>
                      </p:childTnLst>
                    </p:cTn>
                  </p:par>
                  <p:par>
                    <p:cTn id="99" fill="hold">
                      <p:stCondLst>
                        <p:cond delay="indefinite"/>
                      </p:stCondLst>
                      <p:childTnLst>
                        <p:par>
                          <p:cTn id="100" fill="hold">
                            <p:stCondLst>
                              <p:cond delay="0"/>
                            </p:stCondLst>
                            <p:childTnLst>
                              <p:par>
                                <p:cTn id="101" presetID="22" presetClass="entr" presetSubtype="8" fill="hold" grpId="0" nodeType="clickEffect">
                                  <p:stCondLst>
                                    <p:cond delay="0"/>
                                  </p:stCondLst>
                                  <p:childTnLst>
                                    <p:set>
                                      <p:cBhvr>
                                        <p:cTn id="102" dur="1" fill="hold">
                                          <p:stCondLst>
                                            <p:cond delay="0"/>
                                          </p:stCondLst>
                                        </p:cTn>
                                        <p:tgtEl>
                                          <p:spTgt spid="1049137"/>
                                        </p:tgtEl>
                                        <p:attrNameLst>
                                          <p:attrName>style.visibility</p:attrName>
                                        </p:attrNameLst>
                                      </p:cBhvr>
                                      <p:to>
                                        <p:strVal val="visible"/>
                                      </p:to>
                                    </p:set>
                                    <p:animEffect transition="in" filter="wipe(left)">
                                      <p:cBhvr>
                                        <p:cTn id="103" dur="500"/>
                                        <p:tgtEl>
                                          <p:spTgt spid="1049137"/>
                                        </p:tgtEl>
                                      </p:cBhvr>
                                    </p:animEffect>
                                  </p:childTnLst>
                                </p:cTn>
                              </p:par>
                            </p:childTnLst>
                          </p:cTn>
                        </p:par>
                        <p:par>
                          <p:cTn id="104" fill="hold">
                            <p:stCondLst>
                              <p:cond delay="500"/>
                            </p:stCondLst>
                            <p:childTnLst>
                              <p:par>
                                <p:cTn id="105" presetID="12" presetClass="entr" presetSubtype="8" fill="hold" nodeType="afterEffect">
                                  <p:stCondLst>
                                    <p:cond delay="0"/>
                                  </p:stCondLst>
                                  <p:childTnLst>
                                    <p:set>
                                      <p:cBhvr>
                                        <p:cTn id="106" dur="1" fill="hold">
                                          <p:stCondLst>
                                            <p:cond delay="0"/>
                                          </p:stCondLst>
                                        </p:cTn>
                                        <p:tgtEl>
                                          <p:spTgt spid="164"/>
                                        </p:tgtEl>
                                        <p:attrNameLst>
                                          <p:attrName>style.visibility</p:attrName>
                                        </p:attrNameLst>
                                      </p:cBhvr>
                                      <p:to>
                                        <p:strVal val="visible"/>
                                      </p:to>
                                    </p:set>
                                    <p:animEffect transition="in" filter="slide(fromLeft)">
                                      <p:cBhvr>
                                        <p:cTn id="107" dur="500"/>
                                        <p:tgtEl>
                                          <p:spTgt spid="164"/>
                                        </p:tgtEl>
                                      </p:cBhvr>
                                    </p:animEffect>
                                  </p:childTnLst>
                                </p:cTn>
                              </p:par>
                            </p:childTnLst>
                          </p:cTn>
                        </p:par>
                      </p:childTnLst>
                    </p:cTn>
                  </p:par>
                  <p:par>
                    <p:cTn id="108" fill="hold">
                      <p:stCondLst>
                        <p:cond delay="indefinite"/>
                      </p:stCondLst>
                      <p:childTnLst>
                        <p:par>
                          <p:cTn id="109" fill="hold">
                            <p:stCondLst>
                              <p:cond delay="0"/>
                            </p:stCondLst>
                            <p:childTnLst>
                              <p:par>
                                <p:cTn id="110" presetID="22" presetClass="entr" presetSubtype="4" fill="hold" grpId="0" nodeType="clickEffect">
                                  <p:stCondLst>
                                    <p:cond delay="0"/>
                                  </p:stCondLst>
                                  <p:childTnLst>
                                    <p:set>
                                      <p:cBhvr>
                                        <p:cTn id="111" dur="1" fill="hold">
                                          <p:stCondLst>
                                            <p:cond delay="0"/>
                                          </p:stCondLst>
                                        </p:cTn>
                                        <p:tgtEl>
                                          <p:spTgt spid="1049133"/>
                                        </p:tgtEl>
                                        <p:attrNameLst>
                                          <p:attrName>style.visibility</p:attrName>
                                        </p:attrNameLst>
                                      </p:cBhvr>
                                      <p:to>
                                        <p:strVal val="visible"/>
                                      </p:to>
                                    </p:set>
                                    <p:animEffect transition="in" filter="wipe(down)">
                                      <p:cBhvr>
                                        <p:cTn id="112" dur="500"/>
                                        <p:tgtEl>
                                          <p:spTgt spid="1049133"/>
                                        </p:tgtEl>
                                      </p:cBhvr>
                                    </p:animEffect>
                                  </p:childTnLst>
                                </p:cTn>
                              </p:par>
                              <p:par>
                                <p:cTn id="113" presetID="22" presetClass="entr" presetSubtype="4" fill="hold" grpId="0" nodeType="withEffect">
                                  <p:stCondLst>
                                    <p:cond delay="0"/>
                                  </p:stCondLst>
                                  <p:childTnLst>
                                    <p:set>
                                      <p:cBhvr>
                                        <p:cTn id="114" dur="1" fill="hold">
                                          <p:stCondLst>
                                            <p:cond delay="0"/>
                                          </p:stCondLst>
                                        </p:cTn>
                                        <p:tgtEl>
                                          <p:spTgt spid="1049132"/>
                                        </p:tgtEl>
                                        <p:attrNameLst>
                                          <p:attrName>style.visibility</p:attrName>
                                        </p:attrNameLst>
                                      </p:cBhvr>
                                      <p:to>
                                        <p:strVal val="visible"/>
                                      </p:to>
                                    </p:set>
                                    <p:animEffect transition="in" filter="wipe(down)">
                                      <p:cBhvr>
                                        <p:cTn id="115" dur="500"/>
                                        <p:tgtEl>
                                          <p:spTgt spid="1049132"/>
                                        </p:tgtEl>
                                      </p:cBhvr>
                                    </p:animEffect>
                                  </p:childTnLst>
                                </p:cTn>
                              </p:par>
                            </p:childTnLst>
                          </p:cTn>
                        </p:par>
                        <p:par>
                          <p:cTn id="116" fill="hold">
                            <p:stCondLst>
                              <p:cond delay="500"/>
                            </p:stCondLst>
                            <p:childTnLst>
                              <p:par>
                                <p:cTn id="117" presetID="1" presetClass="entr" presetSubtype="0" fill="hold" grpId="0" nodeType="afterEffect">
                                  <p:stCondLst>
                                    <p:cond delay="0"/>
                                  </p:stCondLst>
                                  <p:childTnLst>
                                    <p:set>
                                      <p:cBhvr>
                                        <p:cTn id="118" dur="1" fill="hold">
                                          <p:stCondLst>
                                            <p:cond delay="0"/>
                                          </p:stCondLst>
                                        </p:cTn>
                                        <p:tgtEl>
                                          <p:spTgt spid="1049131"/>
                                        </p:tgtEl>
                                        <p:attrNameLst>
                                          <p:attrName>style.visibility</p:attrName>
                                        </p:attrNameLst>
                                      </p:cBhvr>
                                      <p:to>
                                        <p:strVal val="visible"/>
                                      </p:to>
                                    </p:set>
                                  </p:childTnLst>
                                </p:cTn>
                              </p:par>
                              <p:par>
                                <p:cTn id="119" presetID="22" presetClass="entr" presetSubtype="4" fill="hold" grpId="0" nodeType="withEffect">
                                  <p:stCondLst>
                                    <p:cond delay="0"/>
                                  </p:stCondLst>
                                  <p:childTnLst>
                                    <p:set>
                                      <p:cBhvr>
                                        <p:cTn id="120" dur="1" fill="hold">
                                          <p:stCondLst>
                                            <p:cond delay="0"/>
                                          </p:stCondLst>
                                        </p:cTn>
                                        <p:tgtEl>
                                          <p:spTgt spid="1049130"/>
                                        </p:tgtEl>
                                        <p:attrNameLst>
                                          <p:attrName>style.visibility</p:attrName>
                                        </p:attrNameLst>
                                      </p:cBhvr>
                                      <p:to>
                                        <p:strVal val="visible"/>
                                      </p:to>
                                    </p:set>
                                    <p:animEffect transition="in" filter="wipe(down)">
                                      <p:cBhvr>
                                        <p:cTn id="121" dur="500"/>
                                        <p:tgtEl>
                                          <p:spTgt spid="1049130"/>
                                        </p:tgtEl>
                                      </p:cBhvr>
                                    </p:animEffect>
                                  </p:childTnLst>
                                </p:cTn>
                              </p:par>
                            </p:childTnLst>
                          </p:cTn>
                        </p:par>
                      </p:childTnLst>
                    </p:cTn>
                  </p:par>
                  <p:par>
                    <p:cTn id="122" fill="hold">
                      <p:stCondLst>
                        <p:cond delay="indefinite"/>
                      </p:stCondLst>
                      <p:childTnLst>
                        <p:par>
                          <p:cTn id="123" fill="hold">
                            <p:stCondLst>
                              <p:cond delay="0"/>
                            </p:stCondLst>
                            <p:childTnLst>
                              <p:par>
                                <p:cTn id="124" presetID="22" presetClass="entr" presetSubtype="1" fill="hold" grpId="0" nodeType="clickEffect">
                                  <p:stCondLst>
                                    <p:cond delay="0"/>
                                  </p:stCondLst>
                                  <p:childTnLst>
                                    <p:set>
                                      <p:cBhvr>
                                        <p:cTn id="125" dur="1" fill="hold">
                                          <p:stCondLst>
                                            <p:cond delay="0"/>
                                          </p:stCondLst>
                                        </p:cTn>
                                        <p:tgtEl>
                                          <p:spTgt spid="1049123"/>
                                        </p:tgtEl>
                                        <p:attrNameLst>
                                          <p:attrName>style.visibility</p:attrName>
                                        </p:attrNameLst>
                                      </p:cBhvr>
                                      <p:to>
                                        <p:strVal val="visible"/>
                                      </p:to>
                                    </p:set>
                                    <p:animEffect transition="in" filter="wipe(up)">
                                      <p:cBhvr>
                                        <p:cTn id="126" dur="500"/>
                                        <p:tgtEl>
                                          <p:spTgt spid="1049123"/>
                                        </p:tgtEl>
                                      </p:cBhvr>
                                    </p:animEffect>
                                  </p:childTnLst>
                                </p:cTn>
                              </p:par>
                              <p:par>
                                <p:cTn id="127" presetID="9" presetClass="entr" presetSubtype="0" fill="hold" grpId="0" nodeType="withEffect">
                                  <p:stCondLst>
                                    <p:cond delay="0"/>
                                  </p:stCondLst>
                                  <p:childTnLst>
                                    <p:set>
                                      <p:cBhvr>
                                        <p:cTn id="128" dur="1" fill="hold">
                                          <p:stCondLst>
                                            <p:cond delay="0"/>
                                          </p:stCondLst>
                                        </p:cTn>
                                        <p:tgtEl>
                                          <p:spTgt spid="1049124"/>
                                        </p:tgtEl>
                                        <p:attrNameLst>
                                          <p:attrName>style.visibility</p:attrName>
                                        </p:attrNameLst>
                                      </p:cBhvr>
                                      <p:to>
                                        <p:strVal val="visible"/>
                                      </p:to>
                                    </p:set>
                                    <p:animEffect transition="in" filter="dissolve">
                                      <p:cBhvr>
                                        <p:cTn id="129" dur="500"/>
                                        <p:tgtEl>
                                          <p:spTgt spid="1049124"/>
                                        </p:tgtEl>
                                      </p:cBhvr>
                                    </p:animEffect>
                                  </p:childTnLst>
                                </p:cTn>
                              </p:par>
                            </p:childTnLst>
                          </p:cTn>
                        </p:par>
                      </p:childTnLst>
                    </p:cTn>
                  </p:par>
                  <p:par>
                    <p:cTn id="130" fill="hold">
                      <p:stCondLst>
                        <p:cond delay="indefinite"/>
                      </p:stCondLst>
                      <p:childTnLst>
                        <p:par>
                          <p:cTn id="131" fill="hold">
                            <p:stCondLst>
                              <p:cond delay="0"/>
                            </p:stCondLst>
                            <p:childTnLst>
                              <p:par>
                                <p:cTn id="132" presetID="9" presetClass="entr" presetSubtype="0" fill="hold" grpId="0" nodeType="clickEffect">
                                  <p:stCondLst>
                                    <p:cond delay="0"/>
                                  </p:stCondLst>
                                  <p:childTnLst>
                                    <p:set>
                                      <p:cBhvr>
                                        <p:cTn id="133" dur="1" fill="hold">
                                          <p:stCondLst>
                                            <p:cond delay="0"/>
                                          </p:stCondLst>
                                        </p:cTn>
                                        <p:tgtEl>
                                          <p:spTgt spid="1049126"/>
                                        </p:tgtEl>
                                        <p:attrNameLst>
                                          <p:attrName>style.visibility</p:attrName>
                                        </p:attrNameLst>
                                      </p:cBhvr>
                                      <p:to>
                                        <p:strVal val="visible"/>
                                      </p:to>
                                    </p:set>
                                    <p:animEffect transition="in" filter="dissolve">
                                      <p:cBhvr>
                                        <p:cTn id="134" dur="500"/>
                                        <p:tgtEl>
                                          <p:spTgt spid="1049126"/>
                                        </p:tgtEl>
                                      </p:cBhvr>
                                    </p:animEffect>
                                  </p:childTnLst>
                                </p:cTn>
                              </p:par>
                            </p:childTnLst>
                          </p:cTn>
                        </p:par>
                        <p:par>
                          <p:cTn id="135" fill="hold">
                            <p:stCondLst>
                              <p:cond delay="500"/>
                            </p:stCondLst>
                            <p:childTnLst>
                              <p:par>
                                <p:cTn id="136" presetID="22" presetClass="entr" presetSubtype="4" fill="hold" grpId="0" nodeType="afterEffect">
                                  <p:stCondLst>
                                    <p:cond delay="0"/>
                                  </p:stCondLst>
                                  <p:childTnLst>
                                    <p:set>
                                      <p:cBhvr>
                                        <p:cTn id="137" dur="1" fill="hold">
                                          <p:stCondLst>
                                            <p:cond delay="0"/>
                                          </p:stCondLst>
                                        </p:cTn>
                                        <p:tgtEl>
                                          <p:spTgt spid="1049125"/>
                                        </p:tgtEl>
                                        <p:attrNameLst>
                                          <p:attrName>style.visibility</p:attrName>
                                        </p:attrNameLst>
                                      </p:cBhvr>
                                      <p:to>
                                        <p:strVal val="visible"/>
                                      </p:to>
                                    </p:set>
                                    <p:animEffect transition="in" filter="wipe(down)">
                                      <p:cBhvr>
                                        <p:cTn id="138" dur="500"/>
                                        <p:tgtEl>
                                          <p:spTgt spid="10491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9106" grpId="0" build="p"/>
      <p:bldP spid="1049108" grpId="0" animBg="1"/>
      <p:bldP spid="1049109" grpId="0" animBg="1"/>
      <p:bldP spid="1049110" grpId="0" animBg="1"/>
      <p:bldP spid="1049111" grpId="0" animBg="1"/>
      <p:bldP spid="1049112" grpId="0" animBg="1"/>
      <p:bldP spid="1049113" grpId="0" animBg="1"/>
      <p:bldP spid="1049114" grpId="0" animBg="1"/>
      <p:bldP spid="1049115" grpId="0" animBg="1"/>
      <p:bldP spid="1049116" grpId="0" animBg="1"/>
      <p:bldP spid="1049117" grpId="0" animBg="1"/>
      <p:bldP spid="1049118" grpId="0" animBg="1"/>
      <p:bldP spid="1049119" grpId="0" animBg="1"/>
      <p:bldP spid="1049120" grpId="0" animBg="1"/>
      <p:bldP spid="1049121" grpId="0" animBg="1"/>
      <p:bldP spid="1049122" grpId="0"/>
      <p:bldP spid="1049123" grpId="0" animBg="1"/>
      <p:bldP spid="1049124" grpId="0"/>
      <p:bldP spid="1049125" grpId="0" animBg="1"/>
      <p:bldP spid="1049126" grpId="0"/>
      <p:bldP spid="1049129" grpId="0" animBg="1"/>
      <p:bldP spid="1049130" grpId="0" animBg="1"/>
      <p:bldP spid="1049131" grpId="0" animBg="1"/>
      <p:bldP spid="1049131" grpId="1" animBg="1"/>
      <p:bldP spid="1049132" grpId="0" animBg="1"/>
      <p:bldP spid="1049133" grpId="0" animBg="1"/>
      <p:bldP spid="1049134" grpId="0" animBg="1"/>
      <p:bldP spid="1049137" grpId="0" animBg="1"/>
    </p:bldLst>
  </p:timing>
</p:sld>
</file>

<file path=ppt/slides/slide5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49138" name="Title 1"/>
          <p:cNvSpPr>
            <a:spLocks noGrp="1"/>
          </p:cNvSpPr>
          <p:nvPr>
            <p:ph type="title"/>
          </p:nvPr>
        </p:nvSpPr>
        <p:spPr>
          <a:xfrm>
            <a:off x="457200" y="457200"/>
            <a:ext cx="8229600" cy="482600"/>
          </a:xfrm>
        </p:spPr>
        <p:txBody>
          <a:bodyPr/>
          <a:lstStyle/>
          <a:p>
            <a:r>
              <a:rPr lang="en-US" sz="2800" b="1"/>
              <a:t>TRANSPORT LAYER</a:t>
            </a:r>
          </a:p>
        </p:txBody>
      </p:sp>
      <p:sp>
        <p:nvSpPr>
          <p:cNvPr id="1049139" name="Content Placeholder 2"/>
          <p:cNvSpPr>
            <a:spLocks noGrp="1"/>
          </p:cNvSpPr>
          <p:nvPr>
            <p:ph type="body" idx="1"/>
          </p:nvPr>
        </p:nvSpPr>
        <p:spPr>
          <a:xfrm>
            <a:off x="381000" y="1371600"/>
            <a:ext cx="8305800" cy="5202936"/>
          </a:xfrm>
        </p:spPr>
        <p:txBody>
          <a:bodyPr>
            <a:normAutofit/>
          </a:bodyPr>
          <a:lstStyle/>
          <a:p>
            <a:pPr marL="285750" indent="-285750">
              <a:buFont typeface="Arial" panose="020B0604020202020204" pitchFamily="34" charset="0"/>
              <a:buChar char="•"/>
            </a:pPr>
            <a:r>
              <a:rPr lang="en-US" sz="1800">
                <a:solidFill>
                  <a:schemeClr val="tx1"/>
                </a:solidFill>
                <a:latin typeface="Times New Roman" panose="02020603050405020304" pitchFamily="18" charset="0"/>
                <a:cs typeface="Times New Roman" panose="02020603050405020304" pitchFamily="18" charset="0"/>
              </a:rPr>
              <a:t>The transport layer is a 4</a:t>
            </a:r>
            <a:r>
              <a:rPr lang="en-US" sz="1800" baseline="30000">
                <a:solidFill>
                  <a:schemeClr val="tx1"/>
                </a:solidFill>
                <a:latin typeface="Times New Roman" panose="02020603050405020304" pitchFamily="18" charset="0"/>
                <a:cs typeface="Times New Roman" panose="02020603050405020304" pitchFamily="18" charset="0"/>
              </a:rPr>
              <a:t>th</a:t>
            </a:r>
            <a:r>
              <a:rPr lang="en-US" sz="1800">
                <a:solidFill>
                  <a:schemeClr val="tx1"/>
                </a:solidFill>
                <a:latin typeface="Times New Roman" panose="02020603050405020304" pitchFamily="18" charset="0"/>
                <a:cs typeface="Times New Roman" panose="02020603050405020304" pitchFamily="18" charset="0"/>
              </a:rPr>
              <a:t> layer from the top.</a:t>
            </a:r>
          </a:p>
          <a:p>
            <a:pPr marL="285750" indent="-285750">
              <a:buFont typeface="Arial" panose="020B0604020202020204" pitchFamily="34" charset="0"/>
              <a:buChar char="•"/>
            </a:pPr>
            <a:endParaRPr lang="en-US" sz="1800">
              <a:solidFill>
                <a:schemeClr val="tx1"/>
              </a:solidFill>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1800">
                <a:solidFill>
                  <a:schemeClr val="tx1"/>
                </a:solidFill>
                <a:latin typeface="Times New Roman" panose="02020603050405020304" pitchFamily="18" charset="0"/>
                <a:cs typeface="Times New Roman" panose="02020603050405020304" pitchFamily="18" charset="0"/>
              </a:rPr>
              <a:t>It is responsible for end to end data transmission service using connection oriented or either through connection-less protocols.</a:t>
            </a:r>
          </a:p>
          <a:p>
            <a:pPr marL="285750" indent="-285750">
              <a:buFont typeface="Arial" panose="020B0604020202020204" pitchFamily="34" charset="0"/>
              <a:buChar char="•"/>
            </a:pPr>
            <a:endParaRPr lang="en-US" sz="1800">
              <a:solidFill>
                <a:schemeClr val="tx1"/>
              </a:solidFill>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1800">
                <a:solidFill>
                  <a:schemeClr val="tx1"/>
                </a:solidFill>
                <a:latin typeface="Times New Roman" panose="02020603050405020304" pitchFamily="18" charset="0"/>
                <a:cs typeface="Times New Roman" panose="02020603050405020304" pitchFamily="18" charset="0"/>
              </a:rPr>
              <a:t>TCP and UDP are two transport layer protocols that provide a different set of services to the network layer.</a:t>
            </a:r>
          </a:p>
          <a:p>
            <a:pPr marL="285750" indent="-285750">
              <a:buFont typeface="Arial" panose="020B0604020202020204" pitchFamily="34" charset="0"/>
              <a:buChar char="•"/>
            </a:pPr>
            <a:endParaRPr lang="en-US" sz="1800">
              <a:solidFill>
                <a:schemeClr val="tx1"/>
              </a:solidFill>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1800">
                <a:solidFill>
                  <a:schemeClr val="tx1"/>
                </a:solidFill>
                <a:latin typeface="Times New Roman" panose="02020603050405020304" pitchFamily="18" charset="0"/>
                <a:cs typeface="Times New Roman" panose="02020603050405020304" pitchFamily="18" charset="0"/>
              </a:rPr>
              <a:t>It provide multiplexing/</a:t>
            </a:r>
            <a:r>
              <a:rPr lang="en-US" sz="1800" err="1">
                <a:solidFill>
                  <a:schemeClr val="tx1"/>
                </a:solidFill>
                <a:latin typeface="Times New Roman" panose="02020603050405020304" pitchFamily="18" charset="0"/>
                <a:cs typeface="Times New Roman" panose="02020603050405020304" pitchFamily="18" charset="0"/>
              </a:rPr>
              <a:t>demultiplexing</a:t>
            </a:r>
            <a:r>
              <a:rPr lang="en-US" sz="1800">
                <a:solidFill>
                  <a:schemeClr val="tx1"/>
                </a:solidFill>
                <a:latin typeface="Times New Roman" panose="02020603050405020304" pitchFamily="18" charset="0"/>
                <a:cs typeface="Times New Roman" panose="02020603050405020304" pitchFamily="18" charset="0"/>
              </a:rPr>
              <a:t> service.</a:t>
            </a:r>
          </a:p>
          <a:p>
            <a:pPr marL="285750" indent="-285750">
              <a:buFont typeface="Arial" panose="020B0604020202020204" pitchFamily="34" charset="0"/>
              <a:buChar char="•"/>
            </a:pPr>
            <a:endParaRPr lang="en-US" sz="1800">
              <a:solidFill>
                <a:schemeClr val="tx1"/>
              </a:solidFill>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1800">
                <a:solidFill>
                  <a:schemeClr val="tx1"/>
                </a:solidFill>
                <a:latin typeface="Times New Roman" panose="02020603050405020304" pitchFamily="18" charset="0"/>
                <a:cs typeface="Times New Roman" panose="02020603050405020304" pitchFamily="18" charset="0"/>
              </a:rPr>
              <a:t> It also provides other services such as reliable data transfer, bandwidth guarantees, and delay </a:t>
            </a:r>
            <a:r>
              <a:rPr lang="en-US" sz="1800" err="1">
                <a:solidFill>
                  <a:schemeClr val="tx1"/>
                </a:solidFill>
                <a:latin typeface="Times New Roman" panose="02020603050405020304" pitchFamily="18" charset="0"/>
                <a:cs typeface="Times New Roman" panose="02020603050405020304" pitchFamily="18" charset="0"/>
              </a:rPr>
              <a:t>guarantees,flow</a:t>
            </a:r>
            <a:r>
              <a:rPr lang="en-US" sz="1800">
                <a:solidFill>
                  <a:schemeClr val="tx1"/>
                </a:solidFill>
                <a:latin typeface="Times New Roman" panose="02020603050405020304" pitchFamily="18" charset="0"/>
                <a:cs typeface="Times New Roman" panose="02020603050405020304" pitchFamily="18" charset="0"/>
              </a:rPr>
              <a:t> control.</a:t>
            </a:r>
          </a:p>
          <a:p>
            <a:endParaRPr lang="en-US"/>
          </a:p>
        </p:txBody>
      </p:sp>
      <p:sp>
        <p:nvSpPr>
          <p:cNvPr id="1049140" name="Slide Number Placeholder 3"/>
          <p:cNvSpPr>
            <a:spLocks noGrp="1"/>
          </p:cNvSpPr>
          <p:nvPr>
            <p:ph type="sldNum" sz="quarter" idx="7"/>
          </p:nvPr>
        </p:nvSpPr>
        <p:spPr/>
        <p:txBody>
          <a:bodyPr/>
          <a:lstStyle/>
          <a:p>
            <a:fld id="{BCC20C3A-8631-44B9-B2EA-782A539FC911}" type="slidenum">
              <a:rPr lang="en-US" smtClean="0"/>
              <a:t>50</a:t>
            </a:fld>
            <a:endParaRPr lang="en-US"/>
          </a:p>
        </p:txBody>
      </p:sp>
    </p:spTree>
  </p:cSld>
  <p:clrMapOvr>
    <a:overrideClrMapping bg1="lt1" tx1="dk1" bg2="lt2" tx2="dk2" accent1="accent1" accent2="accent2" accent3="accent3" accent4="accent4" accent5="accent5" accent6="accent6" hlink="hlink" folHlink="folHlink"/>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49141" name="Rectangle 2"/>
          <p:cNvSpPr>
            <a:spLocks noGrp="1" noChangeArrowheads="1"/>
          </p:cNvSpPr>
          <p:nvPr>
            <p:ph type="title"/>
          </p:nvPr>
        </p:nvSpPr>
        <p:spPr>
          <a:xfrm>
            <a:off x="457200" y="381000"/>
            <a:ext cx="8229600" cy="482599"/>
          </a:xfrm>
        </p:spPr>
        <p:txBody>
          <a:bodyPr/>
          <a:lstStyle/>
          <a:p>
            <a:pPr eaLnBrk="1" hangingPunct="1"/>
            <a:r>
              <a:rPr lang="en-US" sz="2800" b="1">
                <a:latin typeface="Times New Roman" panose="02020603050405020304" pitchFamily="18" charset="0"/>
                <a:cs typeface="Times New Roman" panose="02020603050405020304" pitchFamily="18" charset="0"/>
              </a:rPr>
              <a:t>TRANSPORT LAYER</a:t>
            </a:r>
          </a:p>
        </p:txBody>
      </p:sp>
      <p:sp>
        <p:nvSpPr>
          <p:cNvPr id="1049142" name="Rectangle 3"/>
          <p:cNvSpPr>
            <a:spLocks noGrp="1" noChangeArrowheads="1"/>
          </p:cNvSpPr>
          <p:nvPr>
            <p:ph type="body" idx="1"/>
          </p:nvPr>
        </p:nvSpPr>
        <p:spPr>
          <a:xfrm>
            <a:off x="457200" y="2514600"/>
            <a:ext cx="8229600" cy="3302000"/>
          </a:xfrm>
        </p:spPr>
        <p:txBody>
          <a:bodyPr/>
          <a:lstStyle/>
          <a:p>
            <a:pPr marL="365760" marR="0" lvl="0" indent="-255905" algn="l" defTabSz="914400" rtl="0" eaLnBrk="1" fontAlgn="auto" latinLnBrk="0" hangingPunct="1">
              <a:lnSpc>
                <a:spcPct val="100000"/>
              </a:lnSpc>
              <a:spcBef>
                <a:spcPts val="300"/>
              </a:spcBef>
              <a:spcAft>
                <a:spcPts val="0"/>
              </a:spcAft>
              <a:buClr>
                <a:srgbClr val="A04DA3"/>
              </a:buClr>
              <a:buSzTx/>
              <a:buFont typeface="Georgia" panose="02040502050405020303"/>
              <a:buChar char="•"/>
            </a:pPr>
            <a:r>
              <a:rPr lang="en-US" sz="2800" kern="1200">
                <a:solidFill>
                  <a:schemeClr val="accent6">
                    <a:lumMod val="50000"/>
                  </a:schemeClr>
                </a:solidFill>
                <a:latin typeface="Georgia" panose="02040502050405020303"/>
              </a:rPr>
              <a:t>Duties/services</a:t>
            </a:r>
          </a:p>
          <a:p>
            <a:pPr marL="658495" marR="0" lvl="1" indent="-247015" algn="l" defTabSz="914400" rtl="0" eaLnBrk="1" fontAlgn="auto" latinLnBrk="0" hangingPunct="1">
              <a:lnSpc>
                <a:spcPct val="100000"/>
              </a:lnSpc>
              <a:spcBef>
                <a:spcPts val="300"/>
              </a:spcBef>
              <a:spcAft>
                <a:spcPts val="0"/>
              </a:spcAft>
              <a:buClr>
                <a:srgbClr val="438086"/>
              </a:buClr>
              <a:buSzTx/>
              <a:buFont typeface="Georgia" panose="02040502050405020303"/>
              <a:buChar char="▫"/>
            </a:pPr>
            <a:r>
              <a:rPr lang="en-US" sz="2600" kern="1200">
                <a:solidFill>
                  <a:schemeClr val="tx1"/>
                </a:solidFill>
                <a:latin typeface="Georgia" panose="02040502050405020303"/>
              </a:rPr>
              <a:t>Service-point addressing/Port Address</a:t>
            </a:r>
          </a:p>
          <a:p>
            <a:pPr marL="658495" marR="0" lvl="1" indent="-247015" algn="l" defTabSz="914400" rtl="0" eaLnBrk="1" fontAlgn="auto" latinLnBrk="0" hangingPunct="1">
              <a:lnSpc>
                <a:spcPct val="100000"/>
              </a:lnSpc>
              <a:spcBef>
                <a:spcPts val="300"/>
              </a:spcBef>
              <a:spcAft>
                <a:spcPts val="0"/>
              </a:spcAft>
              <a:buClr>
                <a:srgbClr val="438086"/>
              </a:buClr>
              <a:buSzTx/>
              <a:buFont typeface="Georgia" panose="02040502050405020303"/>
              <a:buChar char="▫"/>
            </a:pPr>
            <a:r>
              <a:rPr lang="en-US" sz="2600" kern="1200">
                <a:solidFill>
                  <a:schemeClr val="tx1"/>
                </a:solidFill>
                <a:latin typeface="Georgia" panose="02040502050405020303"/>
              </a:rPr>
              <a:t>Segmentation and reassembly</a:t>
            </a:r>
          </a:p>
          <a:p>
            <a:pPr marL="658495" marR="0" lvl="1" indent="-247015" algn="l" defTabSz="914400" rtl="0" eaLnBrk="1" fontAlgn="auto" latinLnBrk="0" hangingPunct="1">
              <a:lnSpc>
                <a:spcPct val="100000"/>
              </a:lnSpc>
              <a:spcBef>
                <a:spcPts val="300"/>
              </a:spcBef>
              <a:spcAft>
                <a:spcPts val="0"/>
              </a:spcAft>
              <a:buClr>
                <a:srgbClr val="438086"/>
              </a:buClr>
              <a:buSzTx/>
              <a:buFont typeface="Georgia" panose="02040502050405020303"/>
              <a:buChar char="▫"/>
            </a:pPr>
            <a:r>
              <a:rPr lang="en-US" sz="2600" kern="1200">
                <a:solidFill>
                  <a:schemeClr val="tx1"/>
                </a:solidFill>
                <a:latin typeface="Georgia" panose="02040502050405020303"/>
              </a:rPr>
              <a:t>Connection control</a:t>
            </a:r>
          </a:p>
          <a:p>
            <a:pPr marL="658495" marR="0" lvl="1" indent="-247015" algn="l" defTabSz="914400" rtl="0" eaLnBrk="1" fontAlgn="auto" latinLnBrk="0" hangingPunct="1">
              <a:lnSpc>
                <a:spcPct val="100000"/>
              </a:lnSpc>
              <a:spcBef>
                <a:spcPts val="300"/>
              </a:spcBef>
              <a:spcAft>
                <a:spcPts val="0"/>
              </a:spcAft>
              <a:buClr>
                <a:srgbClr val="438086"/>
              </a:buClr>
              <a:buSzTx/>
              <a:buFont typeface="Georgia" panose="02040502050405020303"/>
              <a:buChar char="▫"/>
            </a:pPr>
            <a:r>
              <a:rPr lang="en-US" sz="2600" kern="1200">
                <a:solidFill>
                  <a:schemeClr val="tx1"/>
                </a:solidFill>
                <a:latin typeface="Georgia" panose="02040502050405020303"/>
              </a:rPr>
              <a:t>Flow control (end-to-end)</a:t>
            </a:r>
          </a:p>
          <a:p>
            <a:pPr marL="658495" marR="0" lvl="1" indent="-247015" algn="l" defTabSz="914400" rtl="0" eaLnBrk="1" fontAlgn="auto" latinLnBrk="0" hangingPunct="1">
              <a:lnSpc>
                <a:spcPct val="100000"/>
              </a:lnSpc>
              <a:spcBef>
                <a:spcPts val="300"/>
              </a:spcBef>
              <a:spcAft>
                <a:spcPts val="0"/>
              </a:spcAft>
              <a:buClr>
                <a:srgbClr val="438086"/>
              </a:buClr>
              <a:buSzTx/>
              <a:buFont typeface="Georgia" panose="02040502050405020303"/>
              <a:buChar char="▫"/>
            </a:pPr>
            <a:r>
              <a:rPr lang="en-US" sz="2600" kern="1200">
                <a:solidFill>
                  <a:schemeClr val="tx1"/>
                </a:solidFill>
                <a:latin typeface="Georgia" panose="02040502050405020303"/>
              </a:rPr>
              <a:t>Error control (end-to-end)</a:t>
            </a:r>
          </a:p>
          <a:p>
            <a:pPr eaLnBrk="1" hangingPunct="1"/>
            <a:endParaRPr lang="en-US"/>
          </a:p>
        </p:txBody>
      </p:sp>
      <p:sp>
        <p:nvSpPr>
          <p:cNvPr id="1049143" name="Slide Number Placeholder 5"/>
          <p:cNvSpPr>
            <a:spLocks noGrp="1"/>
          </p:cNvSpPr>
          <p:nvPr>
            <p:ph type="sldNum" sz="quarter" idx="7"/>
          </p:nvPr>
        </p:nvSpPr>
        <p:spPr/>
        <p:txBody>
          <a:bodyPr/>
          <a:lstStyle/>
          <a:p>
            <a:fld id="{C12B9153-E86C-4299-B16B-9BB0FEC7C3C0}" type="slidenum">
              <a:rPr lang="en-US"/>
              <a:t>51</a:t>
            </a:fld>
            <a:endParaRPr lang="en-US"/>
          </a:p>
        </p:txBody>
      </p:sp>
      <p:sp>
        <p:nvSpPr>
          <p:cNvPr id="1049144" name="Text Box 4"/>
          <p:cNvSpPr txBox="1">
            <a:spLocks noChangeArrowheads="1"/>
          </p:cNvSpPr>
          <p:nvPr/>
        </p:nvSpPr>
        <p:spPr bwMode="auto">
          <a:xfrm>
            <a:off x="1524000" y="1166856"/>
            <a:ext cx="6858000" cy="954107"/>
          </a:xfrm>
          <a:prstGeom prst="rect">
            <a:avLst/>
          </a:prstGeom>
          <a:solidFill>
            <a:schemeClr val="tx2"/>
          </a:solidFill>
          <a:ln w="9525">
            <a:noFill/>
            <a:miter lim="800000"/>
          </a:ln>
          <a:effectLst>
            <a:outerShdw dist="107763" dir="2700000" algn="ctr" rotWithShape="0">
              <a:schemeClr val="bg2">
                <a:alpha val="50000"/>
              </a:schemeClr>
            </a:outerShdw>
          </a:effectLst>
        </p:spPr>
        <p:txBody>
          <a:bodyPr wrap="square">
            <a:spAutoFit/>
          </a:bodyPr>
          <a:lstStyle/>
          <a:p>
            <a:pPr algn="ctr" fontAlgn="base">
              <a:spcBef>
                <a:spcPct val="0"/>
              </a:spcBef>
              <a:spcAft>
                <a:spcPct val="0"/>
              </a:spcAft>
            </a:pPr>
            <a:r>
              <a:rPr lang="en-US" sz="2800" b="1" i="1">
                <a:solidFill>
                  <a:srgbClr val="FFFF00"/>
                </a:solidFill>
                <a:effectLst>
                  <a:outerShdw blurRad="38100" dist="38100" dir="2700000" algn="tl">
                    <a:srgbClr val="000000"/>
                  </a:outerShdw>
                </a:effectLst>
                <a:latin typeface="Times New Roman" panose="02020603050405020304" pitchFamily="18" charset="0"/>
                <a:cs typeface="Arial" panose="020B0604020202020204" pitchFamily="34" charset="0"/>
              </a:rPr>
              <a:t>Responsible for delivery of a message</a:t>
            </a:r>
            <a:br>
              <a:rPr lang="en-US" sz="2800" b="1" i="1">
                <a:solidFill>
                  <a:srgbClr val="FFFF00"/>
                </a:solidFill>
                <a:effectLst>
                  <a:outerShdw blurRad="38100" dist="38100" dir="2700000" algn="tl">
                    <a:srgbClr val="000000"/>
                  </a:outerShdw>
                </a:effectLst>
                <a:latin typeface="Times New Roman" panose="02020603050405020304" pitchFamily="18" charset="0"/>
                <a:cs typeface="Arial" panose="020B0604020202020204" pitchFamily="34" charset="0"/>
              </a:rPr>
            </a:br>
            <a:r>
              <a:rPr lang="en-US" sz="2800" b="1" i="1">
                <a:solidFill>
                  <a:srgbClr val="FFFF00"/>
                </a:solidFill>
                <a:effectLst>
                  <a:outerShdw blurRad="38100" dist="38100" dir="2700000" algn="tl">
                    <a:srgbClr val="000000"/>
                  </a:outerShdw>
                </a:effectLst>
                <a:latin typeface="Times New Roman" panose="02020603050405020304" pitchFamily="18" charset="0"/>
                <a:cs typeface="Arial" panose="020B0604020202020204" pitchFamily="34" charset="0"/>
              </a:rPr>
              <a:t>from one process to another</a:t>
            </a:r>
          </a:p>
        </p:txBody>
      </p:sp>
    </p:spTree>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049144"/>
                                        </p:tgtEl>
                                        <p:attrNameLst>
                                          <p:attrName>style.visibility</p:attrName>
                                        </p:attrNameLst>
                                      </p:cBhvr>
                                      <p:to>
                                        <p:strVal val="visible"/>
                                      </p:to>
                                    </p:set>
                                    <p:animEffect transition="in" filter="dissolve">
                                      <p:cBhvr>
                                        <p:cTn id="7" dur="500"/>
                                        <p:tgtEl>
                                          <p:spTgt spid="1049144"/>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1049142">
                                            <p:txEl>
                                              <p:pRg st="0" end="0"/>
                                            </p:txEl>
                                          </p:spTgt>
                                        </p:tgtEl>
                                        <p:attrNameLst>
                                          <p:attrName>style.visibility</p:attrName>
                                        </p:attrNameLst>
                                      </p:cBhvr>
                                      <p:to>
                                        <p:strVal val="visible"/>
                                      </p:to>
                                    </p:set>
                                  </p:childTnLst>
                                </p:cTn>
                              </p:par>
                              <p:par>
                                <p:cTn id="12" presetID="1" presetClass="entr" presetSubtype="0" fill="hold" grpId="0" nodeType="withEffect">
                                  <p:stCondLst>
                                    <p:cond delay="0"/>
                                  </p:stCondLst>
                                  <p:childTnLst>
                                    <p:set>
                                      <p:cBhvr>
                                        <p:cTn id="13" dur="1" fill="hold">
                                          <p:stCondLst>
                                            <p:cond delay="0"/>
                                          </p:stCondLst>
                                        </p:cTn>
                                        <p:tgtEl>
                                          <p:spTgt spid="1049142">
                                            <p:txEl>
                                              <p:pRg st="1" end="1"/>
                                            </p:txEl>
                                          </p:spTgt>
                                        </p:tgtEl>
                                        <p:attrNameLst>
                                          <p:attrName>style.visibility</p:attrName>
                                        </p:attrNameLst>
                                      </p:cBhvr>
                                      <p:to>
                                        <p:strVal val="visible"/>
                                      </p:to>
                                    </p:set>
                                  </p:childTnLst>
                                </p:cTn>
                              </p:par>
                              <p:par>
                                <p:cTn id="14" presetID="1" presetClass="entr" presetSubtype="0" fill="hold" grpId="0" nodeType="withEffect">
                                  <p:stCondLst>
                                    <p:cond delay="0"/>
                                  </p:stCondLst>
                                  <p:childTnLst>
                                    <p:set>
                                      <p:cBhvr>
                                        <p:cTn id="15" dur="1" fill="hold">
                                          <p:stCondLst>
                                            <p:cond delay="0"/>
                                          </p:stCondLst>
                                        </p:cTn>
                                        <p:tgtEl>
                                          <p:spTgt spid="1049142">
                                            <p:txEl>
                                              <p:pRg st="2" end="2"/>
                                            </p:txEl>
                                          </p:spTgt>
                                        </p:tgtEl>
                                        <p:attrNameLst>
                                          <p:attrName>style.visibility</p:attrName>
                                        </p:attrNameLst>
                                      </p:cBhvr>
                                      <p:to>
                                        <p:strVal val="visible"/>
                                      </p:to>
                                    </p:set>
                                  </p:childTnLst>
                                </p:cTn>
                              </p:par>
                              <p:par>
                                <p:cTn id="16" presetID="1" presetClass="entr" presetSubtype="0" fill="hold" grpId="0" nodeType="withEffect">
                                  <p:stCondLst>
                                    <p:cond delay="0"/>
                                  </p:stCondLst>
                                  <p:childTnLst>
                                    <p:set>
                                      <p:cBhvr>
                                        <p:cTn id="17" dur="1" fill="hold">
                                          <p:stCondLst>
                                            <p:cond delay="0"/>
                                          </p:stCondLst>
                                        </p:cTn>
                                        <p:tgtEl>
                                          <p:spTgt spid="1049142">
                                            <p:txEl>
                                              <p:pRg st="3" end="3"/>
                                            </p:txEl>
                                          </p:spTgt>
                                        </p:tgtEl>
                                        <p:attrNameLst>
                                          <p:attrName>style.visibility</p:attrName>
                                        </p:attrNameLst>
                                      </p:cBhvr>
                                      <p:to>
                                        <p:strVal val="visible"/>
                                      </p:to>
                                    </p:set>
                                  </p:childTnLst>
                                </p:cTn>
                              </p:par>
                              <p:par>
                                <p:cTn id="18" presetID="1" presetClass="entr" presetSubtype="0" fill="hold" grpId="0" nodeType="withEffect">
                                  <p:stCondLst>
                                    <p:cond delay="0"/>
                                  </p:stCondLst>
                                  <p:childTnLst>
                                    <p:set>
                                      <p:cBhvr>
                                        <p:cTn id="19" dur="1" fill="hold">
                                          <p:stCondLst>
                                            <p:cond delay="0"/>
                                          </p:stCondLst>
                                        </p:cTn>
                                        <p:tgtEl>
                                          <p:spTgt spid="1049142">
                                            <p:txEl>
                                              <p:pRg st="4" end="4"/>
                                            </p:txEl>
                                          </p:spTgt>
                                        </p:tgtEl>
                                        <p:attrNameLst>
                                          <p:attrName>style.visibility</p:attrName>
                                        </p:attrNameLst>
                                      </p:cBhvr>
                                      <p:to>
                                        <p:strVal val="visible"/>
                                      </p:to>
                                    </p:set>
                                  </p:childTnLst>
                                </p:cTn>
                              </p:par>
                              <p:par>
                                <p:cTn id="20" presetID="1" presetClass="entr" presetSubtype="0" fill="hold" grpId="0" nodeType="withEffect">
                                  <p:stCondLst>
                                    <p:cond delay="0"/>
                                  </p:stCondLst>
                                  <p:childTnLst>
                                    <p:set>
                                      <p:cBhvr>
                                        <p:cTn id="21" dur="1" fill="hold">
                                          <p:stCondLst>
                                            <p:cond delay="0"/>
                                          </p:stCondLst>
                                        </p:cTn>
                                        <p:tgtEl>
                                          <p:spTgt spid="1049142">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9142" grpId="0" build="p"/>
      <p:bldP spid="1049144" grpId="0" animBg="1"/>
    </p:bldLst>
  </p:timing>
</p:sld>
</file>

<file path=ppt/slides/slide5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49145" name="Title 1"/>
          <p:cNvSpPr>
            <a:spLocks noGrp="1"/>
          </p:cNvSpPr>
          <p:nvPr>
            <p:ph type="title"/>
          </p:nvPr>
        </p:nvSpPr>
        <p:spPr>
          <a:xfrm>
            <a:off x="495300" y="152400"/>
            <a:ext cx="8229600" cy="469900"/>
          </a:xfrm>
        </p:spPr>
        <p:txBody>
          <a:bodyPr/>
          <a:lstStyle/>
          <a:p>
            <a:r>
              <a:rPr lang="en-US" b="1"/>
              <a:t>Transport Layer Services</a:t>
            </a:r>
          </a:p>
        </p:txBody>
      </p:sp>
      <p:sp>
        <p:nvSpPr>
          <p:cNvPr id="1049146" name="Content Placeholder 2"/>
          <p:cNvSpPr>
            <a:spLocks noGrp="1"/>
          </p:cNvSpPr>
          <p:nvPr>
            <p:ph type="body" idx="1"/>
          </p:nvPr>
        </p:nvSpPr>
        <p:spPr>
          <a:xfrm>
            <a:off x="304800" y="914400"/>
            <a:ext cx="8610600" cy="5181600"/>
          </a:xfrm>
        </p:spPr>
        <p:txBody>
          <a:bodyPr>
            <a:normAutofit/>
          </a:bodyPr>
          <a:lstStyle/>
          <a:p>
            <a:pPr marL="285750" indent="-285750" algn="just">
              <a:buFont typeface="Arial" panose="020B0604020202020204" pitchFamily="34" charset="0"/>
              <a:buChar char="•"/>
            </a:pPr>
            <a:r>
              <a:rPr lang="en-US" sz="1800" b="1">
                <a:solidFill>
                  <a:schemeClr val="accent6">
                    <a:lumMod val="50000"/>
                  </a:schemeClr>
                </a:solidFill>
                <a:latin typeface="Times New Roman" panose="02020603050405020304" pitchFamily="18" charset="0"/>
                <a:cs typeface="Times New Roman" panose="02020603050405020304" pitchFamily="18" charset="0"/>
              </a:rPr>
              <a:t>Segmentation</a:t>
            </a:r>
            <a:r>
              <a:rPr lang="en-US" sz="1800">
                <a:solidFill>
                  <a:schemeClr val="accent6">
                    <a:lumMod val="50000"/>
                  </a:schemeClr>
                </a:solidFill>
                <a:latin typeface="Times New Roman" panose="02020603050405020304" pitchFamily="18" charset="0"/>
                <a:cs typeface="Times New Roman" panose="02020603050405020304" pitchFamily="18" charset="0"/>
              </a:rPr>
              <a:t> : </a:t>
            </a:r>
            <a:r>
              <a:rPr lang="en-US" sz="1800" b="1">
                <a:solidFill>
                  <a:schemeClr val="accent6">
                    <a:lumMod val="50000"/>
                  </a:schemeClr>
                </a:solidFill>
                <a:latin typeface="Times New Roman" panose="02020603050405020304" pitchFamily="18" charset="0"/>
                <a:cs typeface="Times New Roman" panose="02020603050405020304" pitchFamily="18" charset="0"/>
              </a:rPr>
              <a:t>Large data is divided into smaller segments </a:t>
            </a:r>
            <a:r>
              <a:rPr lang="en-US" sz="1800">
                <a:solidFill>
                  <a:schemeClr val="accent6">
                    <a:lumMod val="50000"/>
                  </a:schemeClr>
                </a:solidFill>
                <a:latin typeface="Times New Roman" panose="02020603050405020304" pitchFamily="18" charset="0"/>
                <a:cs typeface="Times New Roman" panose="02020603050405020304" pitchFamily="18" charset="0"/>
              </a:rPr>
              <a:t>at the senders end and then these smaller segments are recombined in exact format before it is received at receivers end.</a:t>
            </a:r>
          </a:p>
          <a:p>
            <a:pPr marL="285750" indent="-285750" algn="just">
              <a:buFont typeface="Arial" panose="020B0604020202020204" pitchFamily="34" charset="0"/>
              <a:buChar char="•"/>
            </a:pPr>
            <a:endParaRPr lang="en-US" sz="1800">
              <a:solidFill>
                <a:schemeClr val="accent6">
                  <a:lumMod val="50000"/>
                </a:schemeClr>
              </a:solidFill>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sz="1800" b="1">
                <a:solidFill>
                  <a:schemeClr val="accent6">
                    <a:lumMod val="50000"/>
                  </a:schemeClr>
                </a:solidFill>
                <a:latin typeface="Times New Roman" panose="02020603050405020304" pitchFamily="18" charset="0"/>
                <a:cs typeface="Times New Roman" panose="02020603050405020304" pitchFamily="18" charset="0"/>
              </a:rPr>
              <a:t>Error Control</a:t>
            </a:r>
            <a:r>
              <a:rPr lang="en-US" sz="1800">
                <a:solidFill>
                  <a:schemeClr val="accent6">
                    <a:lumMod val="50000"/>
                  </a:schemeClr>
                </a:solidFill>
                <a:latin typeface="Times New Roman" panose="02020603050405020304" pitchFamily="18" charset="0"/>
                <a:cs typeface="Times New Roman" panose="02020603050405020304" pitchFamily="18" charset="0"/>
              </a:rPr>
              <a:t> : Distortion, Un-delivery of data packets and noise in data packets results in error and this is prevented using Data Link and this feature is called Error Control.</a:t>
            </a:r>
          </a:p>
          <a:p>
            <a:pPr marL="395605" indent="-285750" algn="just">
              <a:buFont typeface="Arial" panose="020B0604020202020204" pitchFamily="34" charset="0"/>
              <a:buChar char="•"/>
            </a:pPr>
            <a:endParaRPr lang="en-US" sz="1800">
              <a:solidFill>
                <a:schemeClr val="accent6">
                  <a:lumMod val="50000"/>
                </a:schemeClr>
              </a:solidFill>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sz="1800" b="1">
                <a:solidFill>
                  <a:schemeClr val="accent6">
                    <a:lumMod val="50000"/>
                  </a:schemeClr>
                </a:solidFill>
                <a:latin typeface="Times New Roman" panose="02020603050405020304" pitchFamily="18" charset="0"/>
                <a:cs typeface="Times New Roman" panose="02020603050405020304" pitchFamily="18" charset="0"/>
              </a:rPr>
              <a:t>Flow Control</a:t>
            </a:r>
            <a:r>
              <a:rPr lang="en-US" sz="1800">
                <a:solidFill>
                  <a:schemeClr val="accent6">
                    <a:lumMod val="50000"/>
                  </a:schemeClr>
                </a:solidFill>
                <a:latin typeface="Times New Roman" panose="02020603050405020304" pitchFamily="18" charset="0"/>
                <a:cs typeface="Times New Roman" panose="02020603050405020304" pitchFamily="18" charset="0"/>
              </a:rPr>
              <a:t> : Transport-Layer ensures that faster data transmission and slow data absorption or slow data transmission and faster data absorption must not occur.</a:t>
            </a:r>
          </a:p>
          <a:p>
            <a:pPr marL="285750" indent="-285750" algn="just">
              <a:buFont typeface="Arial" panose="020B0604020202020204" pitchFamily="34" charset="0"/>
              <a:buChar char="•"/>
            </a:pPr>
            <a:endParaRPr lang="en-US" sz="1800">
              <a:solidFill>
                <a:schemeClr val="accent6">
                  <a:lumMod val="50000"/>
                </a:schemeClr>
              </a:solidFill>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sz="1800">
                <a:solidFill>
                  <a:schemeClr val="accent6">
                    <a:lumMod val="50000"/>
                  </a:schemeClr>
                </a:solidFill>
                <a:latin typeface="Times New Roman" panose="02020603050405020304" pitchFamily="18" charset="0"/>
                <a:cs typeface="Times New Roman" panose="02020603050405020304" pitchFamily="18" charset="0"/>
              </a:rPr>
              <a:t>Transport-Layer performs Multiplexing &amp; De-multiplexing.</a:t>
            </a:r>
          </a:p>
          <a:p>
            <a:pPr marL="285750" indent="-285750" algn="just">
              <a:buFont typeface="Arial" panose="020B0604020202020204" pitchFamily="34" charset="0"/>
              <a:buChar char="•"/>
            </a:pPr>
            <a:endParaRPr lang="en-US" sz="1800">
              <a:solidFill>
                <a:schemeClr val="accent6">
                  <a:lumMod val="50000"/>
                </a:schemeClr>
              </a:solidFill>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sz="1800" b="1">
                <a:solidFill>
                  <a:schemeClr val="accent6">
                    <a:lumMod val="50000"/>
                  </a:schemeClr>
                </a:solidFill>
                <a:latin typeface="Times New Roman" panose="02020603050405020304" pitchFamily="18" charset="0"/>
                <a:cs typeface="Times New Roman" panose="02020603050405020304" pitchFamily="18" charset="0"/>
              </a:rPr>
              <a:t>Connection Control</a:t>
            </a:r>
            <a:r>
              <a:rPr lang="en-US" sz="1800">
                <a:solidFill>
                  <a:schemeClr val="accent6">
                    <a:lumMod val="50000"/>
                  </a:schemeClr>
                </a:solidFill>
                <a:latin typeface="Times New Roman" panose="02020603050405020304" pitchFamily="18" charset="0"/>
                <a:cs typeface="Times New Roman" panose="02020603050405020304" pitchFamily="18" charset="0"/>
              </a:rPr>
              <a:t>: Connection oriented service using </a:t>
            </a:r>
            <a:r>
              <a:rPr lang="en-US" sz="1800" b="1">
                <a:solidFill>
                  <a:schemeClr val="accent6">
                    <a:lumMod val="50000"/>
                  </a:schemeClr>
                </a:solidFill>
                <a:latin typeface="Times New Roman" panose="02020603050405020304" pitchFamily="18" charset="0"/>
                <a:cs typeface="Times New Roman" panose="02020603050405020304" pitchFamily="18" charset="0"/>
              </a:rPr>
              <a:t>TCP</a:t>
            </a:r>
            <a:r>
              <a:rPr lang="en-US" sz="1800">
                <a:solidFill>
                  <a:schemeClr val="accent6">
                    <a:lumMod val="50000"/>
                  </a:schemeClr>
                </a:solidFill>
                <a:latin typeface="Times New Roman" panose="02020603050405020304" pitchFamily="18" charset="0"/>
                <a:cs typeface="Times New Roman" panose="02020603050405020304" pitchFamily="18" charset="0"/>
              </a:rPr>
              <a:t>(Transmission Control Protocol) Protocol &amp; Connection less service using </a:t>
            </a:r>
            <a:r>
              <a:rPr lang="en-US" sz="1800" b="1">
                <a:solidFill>
                  <a:schemeClr val="accent6">
                    <a:lumMod val="50000"/>
                  </a:schemeClr>
                </a:solidFill>
                <a:latin typeface="Times New Roman" panose="02020603050405020304" pitchFamily="18" charset="0"/>
                <a:cs typeface="Times New Roman" panose="02020603050405020304" pitchFamily="18" charset="0"/>
              </a:rPr>
              <a:t>UDP</a:t>
            </a:r>
            <a:r>
              <a:rPr lang="en-US" sz="1800">
                <a:solidFill>
                  <a:schemeClr val="accent6">
                    <a:lumMod val="50000"/>
                  </a:schemeClr>
                </a:solidFill>
                <a:latin typeface="Times New Roman" panose="02020603050405020304" pitchFamily="18" charset="0"/>
                <a:cs typeface="Times New Roman" panose="02020603050405020304" pitchFamily="18" charset="0"/>
              </a:rPr>
              <a:t>(User Data-gram Protocol) Protocol are performed by transport layer.</a:t>
            </a:r>
          </a:p>
        </p:txBody>
      </p:sp>
      <p:sp>
        <p:nvSpPr>
          <p:cNvPr id="1049147" name="Slide Number Placeholder 3"/>
          <p:cNvSpPr>
            <a:spLocks noGrp="1"/>
          </p:cNvSpPr>
          <p:nvPr>
            <p:ph type="sldNum" sz="quarter" idx="7"/>
          </p:nvPr>
        </p:nvSpPr>
        <p:spPr/>
        <p:txBody>
          <a:bodyPr/>
          <a:lstStyle/>
          <a:p>
            <a:fld id="{BCC20C3A-8631-44B9-B2EA-782A539FC911}" type="slidenum">
              <a:rPr lang="en-US" smtClean="0"/>
              <a:t>52</a:t>
            </a:fld>
            <a:endParaRPr lang="en-US"/>
          </a:p>
        </p:txBody>
      </p:sp>
    </p:spTree>
  </p:cSld>
  <p:clrMapOvr>
    <a:overrideClrMapping bg1="lt1" tx1="dk1" bg2="lt2" tx2="dk2" accent1="accent1" accent2="accent2" accent3="accent3" accent4="accent4" accent5="accent5" accent6="accent6" hlink="hlink" folHlink="folHlink"/>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49148" name="Rectangle 2"/>
          <p:cNvSpPr>
            <a:spLocks noGrp="1" noChangeArrowheads="1"/>
          </p:cNvSpPr>
          <p:nvPr>
            <p:ph type="title"/>
          </p:nvPr>
        </p:nvSpPr>
        <p:spPr>
          <a:xfrm>
            <a:off x="457200" y="381000"/>
            <a:ext cx="8229600" cy="469900"/>
          </a:xfrm>
        </p:spPr>
        <p:txBody>
          <a:bodyPr/>
          <a:lstStyle/>
          <a:p>
            <a:pPr eaLnBrk="1" hangingPunct="1"/>
            <a:r>
              <a:rPr lang="en-US"/>
              <a:t>Transport Layer</a:t>
            </a:r>
          </a:p>
        </p:txBody>
      </p:sp>
      <p:sp>
        <p:nvSpPr>
          <p:cNvPr id="1049149" name="Slide Number Placeholder 5"/>
          <p:cNvSpPr>
            <a:spLocks noGrp="1"/>
          </p:cNvSpPr>
          <p:nvPr>
            <p:ph type="sldNum" sz="quarter" idx="7"/>
          </p:nvPr>
        </p:nvSpPr>
        <p:spPr/>
        <p:txBody>
          <a:bodyPr/>
          <a:lstStyle/>
          <a:p>
            <a:fld id="{07C1CB4A-A757-4694-BBB5-0710DD6D29AF}" type="slidenum">
              <a:rPr lang="en-US"/>
              <a:t>53</a:t>
            </a:fld>
            <a:endParaRPr lang="en-US"/>
          </a:p>
        </p:txBody>
      </p:sp>
      <p:sp>
        <p:nvSpPr>
          <p:cNvPr id="1049150" name="Line 72"/>
          <p:cNvSpPr>
            <a:spLocks noChangeShapeType="1"/>
          </p:cNvSpPr>
          <p:nvPr/>
        </p:nvSpPr>
        <p:spPr bwMode="auto">
          <a:xfrm>
            <a:off x="304800" y="2590800"/>
            <a:ext cx="8534400" cy="0"/>
          </a:xfrm>
          <a:prstGeom prst="line">
            <a:avLst/>
          </a:prstGeom>
          <a:noFill/>
          <a:ln w="9525">
            <a:solidFill>
              <a:schemeClr val="tx1"/>
            </a:solidFill>
            <a:prstDash val="dash"/>
            <a:round/>
          </a:ln>
        </p:spPr>
        <p:txBody>
          <a:bodyPr/>
          <a:lstStyle/>
          <a:p>
            <a:pPr fontAlgn="base">
              <a:spcBef>
                <a:spcPct val="0"/>
              </a:spcBef>
              <a:spcAft>
                <a:spcPct val="0"/>
              </a:spcAft>
            </a:pPr>
            <a:endParaRPr lang="en-US">
              <a:solidFill>
                <a:prstClr val="black"/>
              </a:solidFill>
              <a:latin typeface="Tahoma" panose="020B0604030504040204" pitchFamily="34" charset="0"/>
              <a:cs typeface="Arial" panose="020B0604020202020204" pitchFamily="34" charset="0"/>
            </a:endParaRPr>
          </a:p>
        </p:txBody>
      </p:sp>
      <p:sp>
        <p:nvSpPr>
          <p:cNvPr id="1049151" name="Rectangle 4"/>
          <p:cNvSpPr>
            <a:spLocks noChangeArrowheads="1"/>
          </p:cNvSpPr>
          <p:nvPr/>
        </p:nvSpPr>
        <p:spPr bwMode="auto">
          <a:xfrm>
            <a:off x="1600200" y="3716338"/>
            <a:ext cx="3048000" cy="1066800"/>
          </a:xfrm>
          <a:prstGeom prst="rect">
            <a:avLst/>
          </a:prstGeom>
          <a:solidFill>
            <a:schemeClr val="accent2"/>
          </a:solidFill>
          <a:ln w="9525">
            <a:solidFill>
              <a:schemeClr val="tx1"/>
            </a:solidFill>
            <a:miter lim="800000"/>
          </a:ln>
        </p:spPr>
        <p:txBody>
          <a:bodyPr wrap="none" anchor="ctr"/>
          <a:lstStyle/>
          <a:p>
            <a:pPr fontAlgn="base">
              <a:spcBef>
                <a:spcPct val="0"/>
              </a:spcBef>
              <a:spcAft>
                <a:spcPct val="0"/>
              </a:spcAft>
            </a:pPr>
            <a:endParaRPr lang="en-US">
              <a:solidFill>
                <a:prstClr val="black"/>
              </a:solidFill>
              <a:latin typeface="Tahoma" panose="020B0604030504040204" pitchFamily="34" charset="0"/>
              <a:cs typeface="Arial" panose="020B0604020202020204" pitchFamily="34" charset="0"/>
            </a:endParaRPr>
          </a:p>
        </p:txBody>
      </p:sp>
      <p:sp>
        <p:nvSpPr>
          <p:cNvPr id="1049152" name="Text Box 6"/>
          <p:cNvSpPr txBox="1">
            <a:spLocks noChangeArrowheads="1"/>
          </p:cNvSpPr>
          <p:nvPr/>
        </p:nvSpPr>
        <p:spPr bwMode="auto">
          <a:xfrm>
            <a:off x="198438" y="3824288"/>
            <a:ext cx="1215201" cy="701039"/>
          </a:xfrm>
          <a:prstGeom prst="rect">
            <a:avLst/>
          </a:prstGeom>
          <a:noFill/>
          <a:ln w="9525">
            <a:noFill/>
            <a:miter lim="800000"/>
          </a:ln>
        </p:spPr>
        <p:txBody>
          <a:bodyPr wrap="none">
            <a:spAutoFit/>
          </a:bodyPr>
          <a:lstStyle/>
          <a:p>
            <a:pPr algn="ctr" fontAlgn="base">
              <a:spcBef>
                <a:spcPct val="0"/>
              </a:spcBef>
              <a:spcAft>
                <a:spcPct val="0"/>
              </a:spcAft>
            </a:pPr>
            <a:r>
              <a:rPr lang="en-US">
                <a:solidFill>
                  <a:prstClr val="black"/>
                </a:solidFill>
                <a:latin typeface="Tahoma" panose="020B0604030504040204" pitchFamily="34" charset="0"/>
                <a:cs typeface="Arial" panose="020B0604020202020204" pitchFamily="34" charset="0"/>
              </a:rPr>
              <a:t>Transport</a:t>
            </a:r>
            <a:br>
              <a:rPr lang="en-US">
                <a:solidFill>
                  <a:prstClr val="black"/>
                </a:solidFill>
                <a:latin typeface="Tahoma" panose="020B0604030504040204" pitchFamily="34" charset="0"/>
                <a:cs typeface="Arial" panose="020B0604020202020204" pitchFamily="34" charset="0"/>
              </a:rPr>
            </a:br>
            <a:r>
              <a:rPr lang="en-US">
                <a:solidFill>
                  <a:prstClr val="black"/>
                </a:solidFill>
                <a:latin typeface="Tahoma" panose="020B0604030504040204" pitchFamily="34" charset="0"/>
                <a:cs typeface="Arial" panose="020B0604020202020204" pitchFamily="34" charset="0"/>
              </a:rPr>
              <a:t>Layer</a:t>
            </a:r>
          </a:p>
        </p:txBody>
      </p:sp>
      <p:sp>
        <p:nvSpPr>
          <p:cNvPr id="1049153" name="Rectangle 7"/>
          <p:cNvSpPr>
            <a:spLocks noChangeArrowheads="1"/>
          </p:cNvSpPr>
          <p:nvPr/>
        </p:nvSpPr>
        <p:spPr bwMode="auto">
          <a:xfrm>
            <a:off x="2133600" y="3124200"/>
            <a:ext cx="1600200" cy="304800"/>
          </a:xfrm>
          <a:prstGeom prst="rect">
            <a:avLst/>
          </a:prstGeom>
          <a:solidFill>
            <a:srgbClr val="080808"/>
          </a:solidFill>
          <a:ln w="9525">
            <a:solidFill>
              <a:schemeClr val="tx1"/>
            </a:solidFill>
            <a:miter lim="800000"/>
          </a:ln>
        </p:spPr>
        <p:txBody>
          <a:bodyPr wrap="none" anchor="ctr"/>
          <a:lstStyle/>
          <a:p>
            <a:pPr algn="ctr" fontAlgn="base">
              <a:spcBef>
                <a:spcPct val="0"/>
              </a:spcBef>
              <a:spcAft>
                <a:spcPct val="0"/>
              </a:spcAft>
            </a:pPr>
            <a:r>
              <a:rPr lang="en-US">
                <a:solidFill>
                  <a:prstClr val="white"/>
                </a:solidFill>
                <a:latin typeface="Tahoma" panose="020B0604030504040204" pitchFamily="34" charset="0"/>
                <a:cs typeface="Arial" panose="020B0604020202020204" pitchFamily="34" charset="0"/>
              </a:rPr>
              <a:t>Data</a:t>
            </a:r>
          </a:p>
        </p:txBody>
      </p:sp>
      <p:sp>
        <p:nvSpPr>
          <p:cNvPr id="1049154" name="Rectangle 10"/>
          <p:cNvSpPr>
            <a:spLocks noChangeArrowheads="1"/>
          </p:cNvSpPr>
          <p:nvPr/>
        </p:nvSpPr>
        <p:spPr bwMode="auto">
          <a:xfrm>
            <a:off x="1676400" y="3886200"/>
            <a:ext cx="533400" cy="304800"/>
          </a:xfrm>
          <a:prstGeom prst="rect">
            <a:avLst/>
          </a:prstGeom>
          <a:solidFill>
            <a:srgbClr val="080808"/>
          </a:solidFill>
          <a:ln w="9525">
            <a:solidFill>
              <a:schemeClr val="tx1"/>
            </a:solidFill>
            <a:miter lim="800000"/>
          </a:ln>
        </p:spPr>
        <p:txBody>
          <a:bodyPr wrap="none" anchor="ctr"/>
          <a:lstStyle/>
          <a:p>
            <a:pPr algn="ctr" fontAlgn="base">
              <a:spcBef>
                <a:spcPct val="0"/>
              </a:spcBef>
              <a:spcAft>
                <a:spcPct val="0"/>
              </a:spcAft>
            </a:pPr>
            <a:r>
              <a:rPr lang="en-US" sz="1600">
                <a:solidFill>
                  <a:prstClr val="white"/>
                </a:solidFill>
                <a:latin typeface="Tahoma" panose="020B0604030504040204" pitchFamily="34" charset="0"/>
                <a:cs typeface="Arial" panose="020B0604020202020204" pitchFamily="34" charset="0"/>
              </a:rPr>
              <a:t>Data</a:t>
            </a:r>
            <a:r>
              <a:rPr lang="en-US" sz="1600" baseline="-25000">
                <a:solidFill>
                  <a:prstClr val="white"/>
                </a:solidFill>
                <a:latin typeface="Tahoma" panose="020B0604030504040204" pitchFamily="34" charset="0"/>
                <a:cs typeface="Arial" panose="020B0604020202020204" pitchFamily="34" charset="0"/>
              </a:rPr>
              <a:t>1</a:t>
            </a:r>
          </a:p>
        </p:txBody>
      </p:sp>
      <p:sp>
        <p:nvSpPr>
          <p:cNvPr id="1049155" name="Rectangle 11"/>
          <p:cNvSpPr>
            <a:spLocks noChangeArrowheads="1"/>
          </p:cNvSpPr>
          <p:nvPr/>
        </p:nvSpPr>
        <p:spPr bwMode="auto">
          <a:xfrm>
            <a:off x="2667000" y="3886200"/>
            <a:ext cx="533400" cy="304800"/>
          </a:xfrm>
          <a:prstGeom prst="rect">
            <a:avLst/>
          </a:prstGeom>
          <a:solidFill>
            <a:srgbClr val="080808"/>
          </a:solidFill>
          <a:ln w="9525">
            <a:solidFill>
              <a:schemeClr val="tx1"/>
            </a:solidFill>
            <a:miter lim="800000"/>
          </a:ln>
        </p:spPr>
        <p:txBody>
          <a:bodyPr wrap="none" anchor="ctr"/>
          <a:lstStyle/>
          <a:p>
            <a:pPr algn="ctr" fontAlgn="base">
              <a:spcBef>
                <a:spcPct val="0"/>
              </a:spcBef>
              <a:spcAft>
                <a:spcPct val="0"/>
              </a:spcAft>
            </a:pPr>
            <a:r>
              <a:rPr lang="en-US" sz="1600">
                <a:solidFill>
                  <a:prstClr val="white"/>
                </a:solidFill>
                <a:latin typeface="Tahoma" panose="020B0604030504040204" pitchFamily="34" charset="0"/>
                <a:cs typeface="Arial" panose="020B0604020202020204" pitchFamily="34" charset="0"/>
              </a:rPr>
              <a:t>Data</a:t>
            </a:r>
            <a:r>
              <a:rPr lang="en-US" sz="1600" baseline="-25000">
                <a:solidFill>
                  <a:prstClr val="white"/>
                </a:solidFill>
                <a:latin typeface="Tahoma" panose="020B0604030504040204" pitchFamily="34" charset="0"/>
                <a:cs typeface="Arial" panose="020B0604020202020204" pitchFamily="34" charset="0"/>
              </a:rPr>
              <a:t>2</a:t>
            </a:r>
          </a:p>
        </p:txBody>
      </p:sp>
      <p:sp>
        <p:nvSpPr>
          <p:cNvPr id="1049156" name="Rectangle 12"/>
          <p:cNvSpPr>
            <a:spLocks noChangeArrowheads="1"/>
          </p:cNvSpPr>
          <p:nvPr/>
        </p:nvSpPr>
        <p:spPr bwMode="auto">
          <a:xfrm>
            <a:off x="3657600" y="3886200"/>
            <a:ext cx="533400" cy="304800"/>
          </a:xfrm>
          <a:prstGeom prst="rect">
            <a:avLst/>
          </a:prstGeom>
          <a:solidFill>
            <a:srgbClr val="080808"/>
          </a:solidFill>
          <a:ln w="9525">
            <a:solidFill>
              <a:schemeClr val="tx1"/>
            </a:solidFill>
            <a:miter lim="800000"/>
          </a:ln>
        </p:spPr>
        <p:txBody>
          <a:bodyPr wrap="none" anchor="ctr"/>
          <a:lstStyle/>
          <a:p>
            <a:pPr algn="ctr" fontAlgn="base">
              <a:spcBef>
                <a:spcPct val="0"/>
              </a:spcBef>
              <a:spcAft>
                <a:spcPct val="0"/>
              </a:spcAft>
            </a:pPr>
            <a:r>
              <a:rPr lang="en-US" sz="1600">
                <a:solidFill>
                  <a:prstClr val="white"/>
                </a:solidFill>
                <a:latin typeface="Tahoma" panose="020B0604030504040204" pitchFamily="34" charset="0"/>
                <a:cs typeface="Arial" panose="020B0604020202020204" pitchFamily="34" charset="0"/>
              </a:rPr>
              <a:t>Data</a:t>
            </a:r>
            <a:r>
              <a:rPr lang="en-US" sz="1600" baseline="-25000">
                <a:solidFill>
                  <a:prstClr val="white"/>
                </a:solidFill>
                <a:latin typeface="Tahoma" panose="020B0604030504040204" pitchFamily="34" charset="0"/>
                <a:cs typeface="Arial" panose="020B0604020202020204" pitchFamily="34" charset="0"/>
              </a:rPr>
              <a:t>3</a:t>
            </a:r>
          </a:p>
        </p:txBody>
      </p:sp>
      <p:sp>
        <p:nvSpPr>
          <p:cNvPr id="1049157" name="Rectangle 13"/>
          <p:cNvSpPr>
            <a:spLocks noChangeArrowheads="1"/>
          </p:cNvSpPr>
          <p:nvPr/>
        </p:nvSpPr>
        <p:spPr bwMode="auto">
          <a:xfrm>
            <a:off x="2209800" y="3886200"/>
            <a:ext cx="381000" cy="304800"/>
          </a:xfrm>
          <a:prstGeom prst="rect">
            <a:avLst/>
          </a:prstGeom>
          <a:solidFill>
            <a:schemeClr val="tx1"/>
          </a:solidFill>
          <a:ln w="9525">
            <a:solidFill>
              <a:schemeClr val="tx1"/>
            </a:solidFill>
            <a:miter lim="800000"/>
          </a:ln>
        </p:spPr>
        <p:txBody>
          <a:bodyPr wrap="none" anchor="ctr"/>
          <a:lstStyle/>
          <a:p>
            <a:pPr algn="ctr" fontAlgn="base">
              <a:spcBef>
                <a:spcPct val="0"/>
              </a:spcBef>
              <a:spcAft>
                <a:spcPct val="0"/>
              </a:spcAft>
            </a:pPr>
            <a:r>
              <a:rPr lang="en-US" sz="1600" b="1">
                <a:solidFill>
                  <a:srgbClr val="438086"/>
                </a:solidFill>
                <a:latin typeface="Tahoma" panose="020B0604030504040204" pitchFamily="34" charset="0"/>
                <a:cs typeface="Arial" panose="020B0604020202020204" pitchFamily="34" charset="0"/>
              </a:rPr>
              <a:t>H4</a:t>
            </a:r>
            <a:endParaRPr lang="en-US" sz="1600" b="1" baseline="-25000">
              <a:solidFill>
                <a:srgbClr val="438086"/>
              </a:solidFill>
              <a:latin typeface="Tahoma" panose="020B0604030504040204" pitchFamily="34" charset="0"/>
              <a:cs typeface="Arial" panose="020B0604020202020204" pitchFamily="34" charset="0"/>
            </a:endParaRPr>
          </a:p>
        </p:txBody>
      </p:sp>
      <p:sp>
        <p:nvSpPr>
          <p:cNvPr id="1049158" name="Rectangle 14"/>
          <p:cNvSpPr>
            <a:spLocks noChangeArrowheads="1"/>
          </p:cNvSpPr>
          <p:nvPr/>
        </p:nvSpPr>
        <p:spPr bwMode="auto">
          <a:xfrm>
            <a:off x="3200400" y="3886200"/>
            <a:ext cx="381000" cy="304800"/>
          </a:xfrm>
          <a:prstGeom prst="rect">
            <a:avLst/>
          </a:prstGeom>
          <a:solidFill>
            <a:schemeClr val="tx1"/>
          </a:solidFill>
          <a:ln w="9525">
            <a:solidFill>
              <a:schemeClr val="tx1"/>
            </a:solidFill>
            <a:miter lim="800000"/>
          </a:ln>
        </p:spPr>
        <p:txBody>
          <a:bodyPr wrap="none" anchor="ctr"/>
          <a:lstStyle/>
          <a:p>
            <a:pPr algn="ctr" fontAlgn="base">
              <a:spcBef>
                <a:spcPct val="0"/>
              </a:spcBef>
              <a:spcAft>
                <a:spcPct val="0"/>
              </a:spcAft>
            </a:pPr>
            <a:r>
              <a:rPr lang="en-US" sz="1600" b="1">
                <a:solidFill>
                  <a:srgbClr val="438086"/>
                </a:solidFill>
                <a:latin typeface="Tahoma" panose="020B0604030504040204" pitchFamily="34" charset="0"/>
                <a:cs typeface="Arial" panose="020B0604020202020204" pitchFamily="34" charset="0"/>
              </a:rPr>
              <a:t>H4</a:t>
            </a:r>
            <a:endParaRPr lang="en-US" sz="1600" b="1" baseline="-25000">
              <a:solidFill>
                <a:srgbClr val="438086"/>
              </a:solidFill>
              <a:latin typeface="Tahoma" panose="020B0604030504040204" pitchFamily="34" charset="0"/>
              <a:cs typeface="Arial" panose="020B0604020202020204" pitchFamily="34" charset="0"/>
            </a:endParaRPr>
          </a:p>
        </p:txBody>
      </p:sp>
      <p:sp>
        <p:nvSpPr>
          <p:cNvPr id="1049159" name="Rectangle 15"/>
          <p:cNvSpPr>
            <a:spLocks noChangeArrowheads="1"/>
          </p:cNvSpPr>
          <p:nvPr/>
        </p:nvSpPr>
        <p:spPr bwMode="auto">
          <a:xfrm>
            <a:off x="4191000" y="3886200"/>
            <a:ext cx="381000" cy="304800"/>
          </a:xfrm>
          <a:prstGeom prst="rect">
            <a:avLst/>
          </a:prstGeom>
          <a:solidFill>
            <a:schemeClr val="tx1"/>
          </a:solidFill>
          <a:ln w="9525">
            <a:solidFill>
              <a:schemeClr val="tx1"/>
            </a:solidFill>
            <a:miter lim="800000"/>
          </a:ln>
        </p:spPr>
        <p:txBody>
          <a:bodyPr wrap="none" anchor="ctr"/>
          <a:lstStyle/>
          <a:p>
            <a:pPr algn="ctr" fontAlgn="base">
              <a:spcBef>
                <a:spcPct val="0"/>
              </a:spcBef>
              <a:spcAft>
                <a:spcPct val="0"/>
              </a:spcAft>
            </a:pPr>
            <a:r>
              <a:rPr lang="en-US" sz="1600" b="1">
                <a:solidFill>
                  <a:srgbClr val="438086"/>
                </a:solidFill>
                <a:latin typeface="Tahoma" panose="020B0604030504040204" pitchFamily="34" charset="0"/>
                <a:cs typeface="Arial" panose="020B0604020202020204" pitchFamily="34" charset="0"/>
              </a:rPr>
              <a:t>H4</a:t>
            </a:r>
            <a:endParaRPr lang="en-US" sz="1600" b="1" baseline="-25000">
              <a:solidFill>
                <a:srgbClr val="438086"/>
              </a:solidFill>
              <a:latin typeface="Tahoma" panose="020B0604030504040204" pitchFamily="34" charset="0"/>
              <a:cs typeface="Arial" panose="020B0604020202020204" pitchFamily="34" charset="0"/>
            </a:endParaRPr>
          </a:p>
        </p:txBody>
      </p:sp>
      <p:sp>
        <p:nvSpPr>
          <p:cNvPr id="1049160" name="AutoShape 16"/>
          <p:cNvSpPr>
            <a:spLocks noChangeArrowheads="1"/>
          </p:cNvSpPr>
          <p:nvPr/>
        </p:nvSpPr>
        <p:spPr bwMode="auto">
          <a:xfrm>
            <a:off x="2057400" y="4572000"/>
            <a:ext cx="228600" cy="533400"/>
          </a:xfrm>
          <a:prstGeom prst="downArrow">
            <a:avLst>
              <a:gd name="adj1" fmla="val 50000"/>
              <a:gd name="adj2" fmla="val 58333"/>
            </a:avLst>
          </a:prstGeom>
          <a:solidFill>
            <a:schemeClr val="folHlink"/>
          </a:solidFill>
          <a:ln w="9525">
            <a:solidFill>
              <a:schemeClr val="tx1"/>
            </a:solidFill>
            <a:miter lim="800000"/>
          </a:ln>
        </p:spPr>
        <p:txBody>
          <a:bodyPr wrap="none" anchor="ctr"/>
          <a:lstStyle/>
          <a:p>
            <a:pPr fontAlgn="base">
              <a:spcBef>
                <a:spcPct val="0"/>
              </a:spcBef>
              <a:spcAft>
                <a:spcPct val="0"/>
              </a:spcAft>
            </a:pPr>
            <a:endParaRPr lang="en-US">
              <a:solidFill>
                <a:prstClr val="black"/>
              </a:solidFill>
              <a:latin typeface="Tahoma" panose="020B0604030504040204" pitchFamily="34" charset="0"/>
              <a:cs typeface="Arial" panose="020B0604020202020204" pitchFamily="34" charset="0"/>
            </a:endParaRPr>
          </a:p>
        </p:txBody>
      </p:sp>
      <p:sp>
        <p:nvSpPr>
          <p:cNvPr id="1049161" name="AutoShape 17"/>
          <p:cNvSpPr>
            <a:spLocks noChangeArrowheads="1"/>
          </p:cNvSpPr>
          <p:nvPr/>
        </p:nvSpPr>
        <p:spPr bwMode="auto">
          <a:xfrm>
            <a:off x="3048000" y="4572000"/>
            <a:ext cx="228600" cy="533400"/>
          </a:xfrm>
          <a:prstGeom prst="downArrow">
            <a:avLst>
              <a:gd name="adj1" fmla="val 50000"/>
              <a:gd name="adj2" fmla="val 58333"/>
            </a:avLst>
          </a:prstGeom>
          <a:solidFill>
            <a:schemeClr val="folHlink"/>
          </a:solidFill>
          <a:ln w="9525">
            <a:solidFill>
              <a:schemeClr val="tx1"/>
            </a:solidFill>
            <a:miter lim="800000"/>
          </a:ln>
        </p:spPr>
        <p:txBody>
          <a:bodyPr wrap="none" anchor="ctr"/>
          <a:lstStyle/>
          <a:p>
            <a:pPr fontAlgn="base">
              <a:spcBef>
                <a:spcPct val="0"/>
              </a:spcBef>
              <a:spcAft>
                <a:spcPct val="0"/>
              </a:spcAft>
            </a:pPr>
            <a:endParaRPr lang="en-US">
              <a:solidFill>
                <a:prstClr val="black"/>
              </a:solidFill>
              <a:latin typeface="Tahoma" panose="020B0604030504040204" pitchFamily="34" charset="0"/>
              <a:cs typeface="Arial" panose="020B0604020202020204" pitchFamily="34" charset="0"/>
            </a:endParaRPr>
          </a:p>
        </p:txBody>
      </p:sp>
      <p:sp>
        <p:nvSpPr>
          <p:cNvPr id="1049162" name="AutoShape 18"/>
          <p:cNvSpPr>
            <a:spLocks noChangeArrowheads="1"/>
          </p:cNvSpPr>
          <p:nvPr/>
        </p:nvSpPr>
        <p:spPr bwMode="auto">
          <a:xfrm>
            <a:off x="3962400" y="4572000"/>
            <a:ext cx="228600" cy="533400"/>
          </a:xfrm>
          <a:prstGeom prst="downArrow">
            <a:avLst>
              <a:gd name="adj1" fmla="val 50000"/>
              <a:gd name="adj2" fmla="val 58333"/>
            </a:avLst>
          </a:prstGeom>
          <a:solidFill>
            <a:schemeClr val="folHlink"/>
          </a:solidFill>
          <a:ln w="9525">
            <a:solidFill>
              <a:schemeClr val="tx1"/>
            </a:solidFill>
            <a:miter lim="800000"/>
          </a:ln>
        </p:spPr>
        <p:txBody>
          <a:bodyPr wrap="none" anchor="ctr"/>
          <a:lstStyle/>
          <a:p>
            <a:pPr fontAlgn="base">
              <a:spcBef>
                <a:spcPct val="0"/>
              </a:spcBef>
              <a:spcAft>
                <a:spcPct val="0"/>
              </a:spcAft>
            </a:pPr>
            <a:endParaRPr lang="en-US">
              <a:solidFill>
                <a:prstClr val="black"/>
              </a:solidFill>
              <a:latin typeface="Tahoma" panose="020B0604030504040204" pitchFamily="34" charset="0"/>
              <a:cs typeface="Arial" panose="020B0604020202020204" pitchFamily="34" charset="0"/>
            </a:endParaRPr>
          </a:p>
        </p:txBody>
      </p:sp>
      <p:sp>
        <p:nvSpPr>
          <p:cNvPr id="1049163" name="Text Box 19"/>
          <p:cNvSpPr txBox="1">
            <a:spLocks noChangeArrowheads="1"/>
          </p:cNvSpPr>
          <p:nvPr/>
        </p:nvSpPr>
        <p:spPr bwMode="auto">
          <a:xfrm>
            <a:off x="2362200" y="5257800"/>
            <a:ext cx="1360408" cy="396240"/>
          </a:xfrm>
          <a:prstGeom prst="rect">
            <a:avLst/>
          </a:prstGeom>
          <a:noFill/>
          <a:ln w="9525">
            <a:noFill/>
            <a:miter lim="800000"/>
          </a:ln>
        </p:spPr>
        <p:txBody>
          <a:bodyPr wrap="none">
            <a:spAutoFit/>
          </a:bodyPr>
          <a:lstStyle/>
          <a:p>
            <a:pPr fontAlgn="base">
              <a:spcBef>
                <a:spcPct val="0"/>
              </a:spcBef>
              <a:spcAft>
                <a:spcPct val="0"/>
              </a:spcAft>
            </a:pPr>
            <a:r>
              <a:rPr lang="en-US">
                <a:solidFill>
                  <a:prstClr val="black"/>
                </a:solidFill>
                <a:latin typeface="Tahoma" panose="020B0604030504040204" pitchFamily="34" charset="0"/>
                <a:cs typeface="Arial" panose="020B0604020202020204" pitchFamily="34" charset="0"/>
              </a:rPr>
              <a:t>to Network</a:t>
            </a:r>
          </a:p>
        </p:txBody>
      </p:sp>
      <p:sp>
        <p:nvSpPr>
          <p:cNvPr id="1049164" name="Line 20"/>
          <p:cNvSpPr>
            <a:spLocks noChangeShapeType="1"/>
          </p:cNvSpPr>
          <p:nvPr/>
        </p:nvSpPr>
        <p:spPr bwMode="auto">
          <a:xfrm flipH="1">
            <a:off x="1676400" y="3429000"/>
            <a:ext cx="457200" cy="457200"/>
          </a:xfrm>
          <a:prstGeom prst="line">
            <a:avLst/>
          </a:prstGeom>
          <a:noFill/>
          <a:ln w="9525">
            <a:solidFill>
              <a:schemeClr val="tx1"/>
            </a:solidFill>
            <a:prstDash val="dash"/>
            <a:round/>
          </a:ln>
        </p:spPr>
        <p:txBody>
          <a:bodyPr/>
          <a:lstStyle/>
          <a:p>
            <a:pPr fontAlgn="base">
              <a:spcBef>
                <a:spcPct val="0"/>
              </a:spcBef>
              <a:spcAft>
                <a:spcPct val="0"/>
              </a:spcAft>
            </a:pPr>
            <a:endParaRPr lang="en-US">
              <a:solidFill>
                <a:prstClr val="black"/>
              </a:solidFill>
              <a:latin typeface="Tahoma" panose="020B0604030504040204" pitchFamily="34" charset="0"/>
              <a:cs typeface="Arial" panose="020B0604020202020204" pitchFamily="34" charset="0"/>
            </a:endParaRPr>
          </a:p>
        </p:txBody>
      </p:sp>
      <p:sp>
        <p:nvSpPr>
          <p:cNvPr id="1049165" name="Line 21"/>
          <p:cNvSpPr>
            <a:spLocks noChangeShapeType="1"/>
          </p:cNvSpPr>
          <p:nvPr/>
        </p:nvSpPr>
        <p:spPr bwMode="auto">
          <a:xfrm flipH="1">
            <a:off x="2209800" y="3429000"/>
            <a:ext cx="457200" cy="457200"/>
          </a:xfrm>
          <a:prstGeom prst="line">
            <a:avLst/>
          </a:prstGeom>
          <a:noFill/>
          <a:ln w="9525">
            <a:solidFill>
              <a:schemeClr val="tx1"/>
            </a:solidFill>
            <a:prstDash val="dash"/>
            <a:round/>
          </a:ln>
        </p:spPr>
        <p:txBody>
          <a:bodyPr/>
          <a:lstStyle/>
          <a:p>
            <a:pPr fontAlgn="base">
              <a:spcBef>
                <a:spcPct val="0"/>
              </a:spcBef>
              <a:spcAft>
                <a:spcPct val="0"/>
              </a:spcAft>
            </a:pPr>
            <a:endParaRPr lang="en-US">
              <a:solidFill>
                <a:prstClr val="black"/>
              </a:solidFill>
              <a:latin typeface="Tahoma" panose="020B0604030504040204" pitchFamily="34" charset="0"/>
              <a:cs typeface="Arial" panose="020B0604020202020204" pitchFamily="34" charset="0"/>
            </a:endParaRPr>
          </a:p>
        </p:txBody>
      </p:sp>
      <p:sp>
        <p:nvSpPr>
          <p:cNvPr id="1049166" name="Line 22"/>
          <p:cNvSpPr>
            <a:spLocks noChangeShapeType="1"/>
          </p:cNvSpPr>
          <p:nvPr/>
        </p:nvSpPr>
        <p:spPr bwMode="auto">
          <a:xfrm>
            <a:off x="2667000" y="3429000"/>
            <a:ext cx="0" cy="457200"/>
          </a:xfrm>
          <a:prstGeom prst="line">
            <a:avLst/>
          </a:prstGeom>
          <a:noFill/>
          <a:ln w="9525">
            <a:solidFill>
              <a:schemeClr val="tx1"/>
            </a:solidFill>
            <a:prstDash val="dash"/>
            <a:round/>
          </a:ln>
        </p:spPr>
        <p:txBody>
          <a:bodyPr/>
          <a:lstStyle/>
          <a:p>
            <a:pPr fontAlgn="base">
              <a:spcBef>
                <a:spcPct val="0"/>
              </a:spcBef>
              <a:spcAft>
                <a:spcPct val="0"/>
              </a:spcAft>
            </a:pPr>
            <a:endParaRPr lang="en-US">
              <a:solidFill>
                <a:prstClr val="black"/>
              </a:solidFill>
              <a:latin typeface="Tahoma" panose="020B0604030504040204" pitchFamily="34" charset="0"/>
              <a:cs typeface="Arial" panose="020B0604020202020204" pitchFamily="34" charset="0"/>
            </a:endParaRPr>
          </a:p>
        </p:txBody>
      </p:sp>
      <p:sp>
        <p:nvSpPr>
          <p:cNvPr id="1049167" name="Line 23"/>
          <p:cNvSpPr>
            <a:spLocks noChangeShapeType="1"/>
          </p:cNvSpPr>
          <p:nvPr/>
        </p:nvSpPr>
        <p:spPr bwMode="auto">
          <a:xfrm flipH="1">
            <a:off x="3200400" y="3429000"/>
            <a:ext cx="0" cy="457200"/>
          </a:xfrm>
          <a:prstGeom prst="line">
            <a:avLst/>
          </a:prstGeom>
          <a:noFill/>
          <a:ln w="9525">
            <a:solidFill>
              <a:schemeClr val="tx1"/>
            </a:solidFill>
            <a:prstDash val="dash"/>
            <a:round/>
          </a:ln>
        </p:spPr>
        <p:txBody>
          <a:bodyPr/>
          <a:lstStyle/>
          <a:p>
            <a:pPr fontAlgn="base">
              <a:spcBef>
                <a:spcPct val="0"/>
              </a:spcBef>
              <a:spcAft>
                <a:spcPct val="0"/>
              </a:spcAft>
            </a:pPr>
            <a:endParaRPr lang="en-US">
              <a:solidFill>
                <a:prstClr val="black"/>
              </a:solidFill>
              <a:latin typeface="Tahoma" panose="020B0604030504040204" pitchFamily="34" charset="0"/>
              <a:cs typeface="Arial" panose="020B0604020202020204" pitchFamily="34" charset="0"/>
            </a:endParaRPr>
          </a:p>
        </p:txBody>
      </p:sp>
      <p:sp>
        <p:nvSpPr>
          <p:cNvPr id="1049168" name="Line 24"/>
          <p:cNvSpPr>
            <a:spLocks noChangeShapeType="1"/>
          </p:cNvSpPr>
          <p:nvPr/>
        </p:nvSpPr>
        <p:spPr bwMode="auto">
          <a:xfrm>
            <a:off x="3200400" y="3429000"/>
            <a:ext cx="457200" cy="457200"/>
          </a:xfrm>
          <a:prstGeom prst="line">
            <a:avLst/>
          </a:prstGeom>
          <a:noFill/>
          <a:ln w="9525">
            <a:solidFill>
              <a:schemeClr val="tx1"/>
            </a:solidFill>
            <a:prstDash val="dash"/>
            <a:round/>
          </a:ln>
        </p:spPr>
        <p:txBody>
          <a:bodyPr/>
          <a:lstStyle/>
          <a:p>
            <a:pPr fontAlgn="base">
              <a:spcBef>
                <a:spcPct val="0"/>
              </a:spcBef>
              <a:spcAft>
                <a:spcPct val="0"/>
              </a:spcAft>
            </a:pPr>
            <a:endParaRPr lang="en-US">
              <a:solidFill>
                <a:prstClr val="black"/>
              </a:solidFill>
              <a:latin typeface="Tahoma" panose="020B0604030504040204" pitchFamily="34" charset="0"/>
              <a:cs typeface="Arial" panose="020B0604020202020204" pitchFamily="34" charset="0"/>
            </a:endParaRPr>
          </a:p>
        </p:txBody>
      </p:sp>
      <p:sp>
        <p:nvSpPr>
          <p:cNvPr id="1049169" name="Line 25"/>
          <p:cNvSpPr>
            <a:spLocks noChangeShapeType="1"/>
          </p:cNvSpPr>
          <p:nvPr/>
        </p:nvSpPr>
        <p:spPr bwMode="auto">
          <a:xfrm>
            <a:off x="3733800" y="3429000"/>
            <a:ext cx="457200" cy="457200"/>
          </a:xfrm>
          <a:prstGeom prst="line">
            <a:avLst/>
          </a:prstGeom>
          <a:noFill/>
          <a:ln w="9525">
            <a:solidFill>
              <a:schemeClr val="tx1"/>
            </a:solidFill>
            <a:prstDash val="dash"/>
            <a:round/>
          </a:ln>
        </p:spPr>
        <p:txBody>
          <a:bodyPr/>
          <a:lstStyle/>
          <a:p>
            <a:pPr fontAlgn="base">
              <a:spcBef>
                <a:spcPct val="0"/>
              </a:spcBef>
              <a:spcAft>
                <a:spcPct val="0"/>
              </a:spcAft>
            </a:pPr>
            <a:endParaRPr lang="en-US">
              <a:solidFill>
                <a:prstClr val="black"/>
              </a:solidFill>
              <a:latin typeface="Tahoma" panose="020B0604030504040204" pitchFamily="34" charset="0"/>
              <a:cs typeface="Arial" panose="020B0604020202020204" pitchFamily="34" charset="0"/>
            </a:endParaRPr>
          </a:p>
        </p:txBody>
      </p:sp>
      <p:sp>
        <p:nvSpPr>
          <p:cNvPr id="1049170" name="Rectangle 26"/>
          <p:cNvSpPr>
            <a:spLocks noChangeArrowheads="1"/>
          </p:cNvSpPr>
          <p:nvPr/>
        </p:nvSpPr>
        <p:spPr bwMode="auto">
          <a:xfrm>
            <a:off x="5181600" y="3716338"/>
            <a:ext cx="3048000" cy="1066800"/>
          </a:xfrm>
          <a:prstGeom prst="rect">
            <a:avLst/>
          </a:prstGeom>
          <a:solidFill>
            <a:schemeClr val="accent2"/>
          </a:solidFill>
          <a:ln w="9525">
            <a:solidFill>
              <a:schemeClr val="tx1"/>
            </a:solidFill>
            <a:miter lim="800000"/>
          </a:ln>
        </p:spPr>
        <p:txBody>
          <a:bodyPr wrap="none" anchor="ctr"/>
          <a:lstStyle/>
          <a:p>
            <a:pPr fontAlgn="base">
              <a:spcBef>
                <a:spcPct val="0"/>
              </a:spcBef>
              <a:spcAft>
                <a:spcPct val="0"/>
              </a:spcAft>
            </a:pPr>
            <a:endParaRPr lang="en-US">
              <a:solidFill>
                <a:prstClr val="black"/>
              </a:solidFill>
              <a:latin typeface="Tahoma" panose="020B0604030504040204" pitchFamily="34" charset="0"/>
              <a:cs typeface="Arial" panose="020B0604020202020204" pitchFamily="34" charset="0"/>
            </a:endParaRPr>
          </a:p>
        </p:txBody>
      </p:sp>
      <p:sp>
        <p:nvSpPr>
          <p:cNvPr id="1049171" name="Rectangle 27"/>
          <p:cNvSpPr>
            <a:spLocks noChangeArrowheads="1"/>
          </p:cNvSpPr>
          <p:nvPr/>
        </p:nvSpPr>
        <p:spPr bwMode="auto">
          <a:xfrm>
            <a:off x="5715000" y="3124200"/>
            <a:ext cx="1600200" cy="304800"/>
          </a:xfrm>
          <a:prstGeom prst="rect">
            <a:avLst/>
          </a:prstGeom>
          <a:solidFill>
            <a:srgbClr val="080808"/>
          </a:solidFill>
          <a:ln w="9525">
            <a:solidFill>
              <a:schemeClr val="tx1"/>
            </a:solidFill>
            <a:miter lim="800000"/>
          </a:ln>
        </p:spPr>
        <p:txBody>
          <a:bodyPr wrap="none" anchor="ctr"/>
          <a:lstStyle/>
          <a:p>
            <a:pPr algn="ctr" fontAlgn="base">
              <a:spcBef>
                <a:spcPct val="0"/>
              </a:spcBef>
              <a:spcAft>
                <a:spcPct val="0"/>
              </a:spcAft>
            </a:pPr>
            <a:r>
              <a:rPr lang="en-US">
                <a:solidFill>
                  <a:prstClr val="white"/>
                </a:solidFill>
                <a:latin typeface="Tahoma" panose="020B0604030504040204" pitchFamily="34" charset="0"/>
                <a:cs typeface="Arial" panose="020B0604020202020204" pitchFamily="34" charset="0"/>
              </a:rPr>
              <a:t>Data</a:t>
            </a:r>
          </a:p>
        </p:txBody>
      </p:sp>
      <p:sp>
        <p:nvSpPr>
          <p:cNvPr id="1049172" name="Rectangle 30"/>
          <p:cNvSpPr>
            <a:spLocks noChangeArrowheads="1"/>
          </p:cNvSpPr>
          <p:nvPr/>
        </p:nvSpPr>
        <p:spPr bwMode="auto">
          <a:xfrm>
            <a:off x="5257800" y="3886200"/>
            <a:ext cx="533400" cy="304800"/>
          </a:xfrm>
          <a:prstGeom prst="rect">
            <a:avLst/>
          </a:prstGeom>
          <a:solidFill>
            <a:srgbClr val="080808"/>
          </a:solidFill>
          <a:ln w="9525">
            <a:solidFill>
              <a:schemeClr val="tx1"/>
            </a:solidFill>
            <a:miter lim="800000"/>
          </a:ln>
        </p:spPr>
        <p:txBody>
          <a:bodyPr wrap="none" anchor="ctr"/>
          <a:lstStyle/>
          <a:p>
            <a:pPr algn="ctr" fontAlgn="base">
              <a:spcBef>
                <a:spcPct val="0"/>
              </a:spcBef>
              <a:spcAft>
                <a:spcPct val="0"/>
              </a:spcAft>
            </a:pPr>
            <a:r>
              <a:rPr lang="en-US" sz="1600">
                <a:solidFill>
                  <a:prstClr val="white"/>
                </a:solidFill>
                <a:latin typeface="Tahoma" panose="020B0604030504040204" pitchFamily="34" charset="0"/>
                <a:cs typeface="Arial" panose="020B0604020202020204" pitchFamily="34" charset="0"/>
              </a:rPr>
              <a:t>Data</a:t>
            </a:r>
            <a:r>
              <a:rPr lang="en-US" sz="1600" baseline="-25000">
                <a:solidFill>
                  <a:prstClr val="white"/>
                </a:solidFill>
                <a:latin typeface="Tahoma" panose="020B0604030504040204" pitchFamily="34" charset="0"/>
                <a:cs typeface="Arial" panose="020B0604020202020204" pitchFamily="34" charset="0"/>
              </a:rPr>
              <a:t>1</a:t>
            </a:r>
          </a:p>
        </p:txBody>
      </p:sp>
      <p:sp>
        <p:nvSpPr>
          <p:cNvPr id="1049173" name="Rectangle 31"/>
          <p:cNvSpPr>
            <a:spLocks noChangeArrowheads="1"/>
          </p:cNvSpPr>
          <p:nvPr/>
        </p:nvSpPr>
        <p:spPr bwMode="auto">
          <a:xfrm>
            <a:off x="6248400" y="3886200"/>
            <a:ext cx="533400" cy="304800"/>
          </a:xfrm>
          <a:prstGeom prst="rect">
            <a:avLst/>
          </a:prstGeom>
          <a:solidFill>
            <a:srgbClr val="080808"/>
          </a:solidFill>
          <a:ln w="9525">
            <a:solidFill>
              <a:schemeClr val="tx1"/>
            </a:solidFill>
            <a:miter lim="800000"/>
          </a:ln>
        </p:spPr>
        <p:txBody>
          <a:bodyPr wrap="none" anchor="ctr"/>
          <a:lstStyle/>
          <a:p>
            <a:pPr algn="ctr" fontAlgn="base">
              <a:spcBef>
                <a:spcPct val="0"/>
              </a:spcBef>
              <a:spcAft>
                <a:spcPct val="0"/>
              </a:spcAft>
            </a:pPr>
            <a:r>
              <a:rPr lang="en-US" sz="1600">
                <a:solidFill>
                  <a:prstClr val="white"/>
                </a:solidFill>
                <a:latin typeface="Tahoma" panose="020B0604030504040204" pitchFamily="34" charset="0"/>
                <a:cs typeface="Arial" panose="020B0604020202020204" pitchFamily="34" charset="0"/>
              </a:rPr>
              <a:t>Data</a:t>
            </a:r>
            <a:r>
              <a:rPr lang="en-US" sz="1600" baseline="-25000">
                <a:solidFill>
                  <a:prstClr val="white"/>
                </a:solidFill>
                <a:latin typeface="Tahoma" panose="020B0604030504040204" pitchFamily="34" charset="0"/>
                <a:cs typeface="Arial" panose="020B0604020202020204" pitchFamily="34" charset="0"/>
              </a:rPr>
              <a:t>2</a:t>
            </a:r>
          </a:p>
        </p:txBody>
      </p:sp>
      <p:sp>
        <p:nvSpPr>
          <p:cNvPr id="1049174" name="Rectangle 32"/>
          <p:cNvSpPr>
            <a:spLocks noChangeArrowheads="1"/>
          </p:cNvSpPr>
          <p:nvPr/>
        </p:nvSpPr>
        <p:spPr bwMode="auto">
          <a:xfrm>
            <a:off x="7239000" y="3886200"/>
            <a:ext cx="533400" cy="304800"/>
          </a:xfrm>
          <a:prstGeom prst="rect">
            <a:avLst/>
          </a:prstGeom>
          <a:solidFill>
            <a:srgbClr val="080808"/>
          </a:solidFill>
          <a:ln w="9525">
            <a:solidFill>
              <a:schemeClr val="tx1"/>
            </a:solidFill>
            <a:miter lim="800000"/>
          </a:ln>
        </p:spPr>
        <p:txBody>
          <a:bodyPr wrap="none" anchor="ctr"/>
          <a:lstStyle/>
          <a:p>
            <a:pPr algn="ctr" fontAlgn="base">
              <a:spcBef>
                <a:spcPct val="0"/>
              </a:spcBef>
              <a:spcAft>
                <a:spcPct val="0"/>
              </a:spcAft>
            </a:pPr>
            <a:r>
              <a:rPr lang="en-US" sz="1600">
                <a:solidFill>
                  <a:prstClr val="white"/>
                </a:solidFill>
                <a:latin typeface="Tahoma" panose="020B0604030504040204" pitchFamily="34" charset="0"/>
                <a:cs typeface="Arial" panose="020B0604020202020204" pitchFamily="34" charset="0"/>
              </a:rPr>
              <a:t>Data</a:t>
            </a:r>
            <a:r>
              <a:rPr lang="en-US" sz="1600" baseline="-25000">
                <a:solidFill>
                  <a:prstClr val="white"/>
                </a:solidFill>
                <a:latin typeface="Tahoma" panose="020B0604030504040204" pitchFamily="34" charset="0"/>
                <a:cs typeface="Arial" panose="020B0604020202020204" pitchFamily="34" charset="0"/>
              </a:rPr>
              <a:t>3</a:t>
            </a:r>
          </a:p>
        </p:txBody>
      </p:sp>
      <p:sp>
        <p:nvSpPr>
          <p:cNvPr id="1049175" name="Rectangle 33"/>
          <p:cNvSpPr>
            <a:spLocks noChangeArrowheads="1"/>
          </p:cNvSpPr>
          <p:nvPr/>
        </p:nvSpPr>
        <p:spPr bwMode="auto">
          <a:xfrm>
            <a:off x="5791200" y="3886200"/>
            <a:ext cx="381000" cy="304800"/>
          </a:xfrm>
          <a:prstGeom prst="rect">
            <a:avLst/>
          </a:prstGeom>
          <a:solidFill>
            <a:schemeClr val="tx1"/>
          </a:solidFill>
          <a:ln w="9525">
            <a:solidFill>
              <a:schemeClr val="tx1"/>
            </a:solidFill>
            <a:miter lim="800000"/>
          </a:ln>
        </p:spPr>
        <p:txBody>
          <a:bodyPr wrap="none" anchor="ctr"/>
          <a:lstStyle/>
          <a:p>
            <a:pPr algn="ctr" fontAlgn="base">
              <a:spcBef>
                <a:spcPct val="0"/>
              </a:spcBef>
              <a:spcAft>
                <a:spcPct val="0"/>
              </a:spcAft>
            </a:pPr>
            <a:r>
              <a:rPr lang="en-US" sz="1600" b="1">
                <a:solidFill>
                  <a:srgbClr val="438086"/>
                </a:solidFill>
                <a:latin typeface="Tahoma" panose="020B0604030504040204" pitchFamily="34" charset="0"/>
                <a:cs typeface="Arial" panose="020B0604020202020204" pitchFamily="34" charset="0"/>
              </a:rPr>
              <a:t>H4</a:t>
            </a:r>
            <a:endParaRPr lang="en-US" sz="1600" b="1" baseline="-25000">
              <a:solidFill>
                <a:srgbClr val="438086"/>
              </a:solidFill>
              <a:latin typeface="Tahoma" panose="020B0604030504040204" pitchFamily="34" charset="0"/>
              <a:cs typeface="Arial" panose="020B0604020202020204" pitchFamily="34" charset="0"/>
            </a:endParaRPr>
          </a:p>
        </p:txBody>
      </p:sp>
      <p:sp>
        <p:nvSpPr>
          <p:cNvPr id="1049176" name="Rectangle 34"/>
          <p:cNvSpPr>
            <a:spLocks noChangeArrowheads="1"/>
          </p:cNvSpPr>
          <p:nvPr/>
        </p:nvSpPr>
        <p:spPr bwMode="auto">
          <a:xfrm>
            <a:off x="6781800" y="3886200"/>
            <a:ext cx="381000" cy="304800"/>
          </a:xfrm>
          <a:prstGeom prst="rect">
            <a:avLst/>
          </a:prstGeom>
          <a:solidFill>
            <a:schemeClr val="tx1"/>
          </a:solidFill>
          <a:ln w="9525">
            <a:solidFill>
              <a:schemeClr val="tx1"/>
            </a:solidFill>
            <a:miter lim="800000"/>
          </a:ln>
        </p:spPr>
        <p:txBody>
          <a:bodyPr wrap="none" anchor="ctr"/>
          <a:lstStyle/>
          <a:p>
            <a:pPr algn="ctr" fontAlgn="base">
              <a:spcBef>
                <a:spcPct val="0"/>
              </a:spcBef>
              <a:spcAft>
                <a:spcPct val="0"/>
              </a:spcAft>
            </a:pPr>
            <a:r>
              <a:rPr lang="en-US" sz="1600" b="1">
                <a:solidFill>
                  <a:srgbClr val="438086"/>
                </a:solidFill>
                <a:latin typeface="Tahoma" panose="020B0604030504040204" pitchFamily="34" charset="0"/>
                <a:cs typeface="Arial" panose="020B0604020202020204" pitchFamily="34" charset="0"/>
              </a:rPr>
              <a:t>H4</a:t>
            </a:r>
            <a:endParaRPr lang="en-US" sz="1600" b="1" baseline="-25000">
              <a:solidFill>
                <a:srgbClr val="438086"/>
              </a:solidFill>
              <a:latin typeface="Tahoma" panose="020B0604030504040204" pitchFamily="34" charset="0"/>
              <a:cs typeface="Arial" panose="020B0604020202020204" pitchFamily="34" charset="0"/>
            </a:endParaRPr>
          </a:p>
        </p:txBody>
      </p:sp>
      <p:sp>
        <p:nvSpPr>
          <p:cNvPr id="1049177" name="Rectangle 35"/>
          <p:cNvSpPr>
            <a:spLocks noChangeArrowheads="1"/>
          </p:cNvSpPr>
          <p:nvPr/>
        </p:nvSpPr>
        <p:spPr bwMode="auto">
          <a:xfrm>
            <a:off x="7772400" y="3886200"/>
            <a:ext cx="381000" cy="304800"/>
          </a:xfrm>
          <a:prstGeom prst="rect">
            <a:avLst/>
          </a:prstGeom>
          <a:solidFill>
            <a:schemeClr val="tx1"/>
          </a:solidFill>
          <a:ln w="9525">
            <a:solidFill>
              <a:schemeClr val="tx1"/>
            </a:solidFill>
            <a:miter lim="800000"/>
          </a:ln>
        </p:spPr>
        <p:txBody>
          <a:bodyPr wrap="none" anchor="ctr"/>
          <a:lstStyle/>
          <a:p>
            <a:pPr algn="ctr" fontAlgn="base">
              <a:spcBef>
                <a:spcPct val="0"/>
              </a:spcBef>
              <a:spcAft>
                <a:spcPct val="0"/>
              </a:spcAft>
            </a:pPr>
            <a:r>
              <a:rPr lang="en-US" sz="1600" b="1">
                <a:solidFill>
                  <a:srgbClr val="438086"/>
                </a:solidFill>
                <a:latin typeface="Tahoma" panose="020B0604030504040204" pitchFamily="34" charset="0"/>
                <a:cs typeface="Arial" panose="020B0604020202020204" pitchFamily="34" charset="0"/>
              </a:rPr>
              <a:t>H4</a:t>
            </a:r>
            <a:endParaRPr lang="en-US" sz="1600" b="1" baseline="-25000">
              <a:solidFill>
                <a:srgbClr val="438086"/>
              </a:solidFill>
              <a:latin typeface="Tahoma" panose="020B0604030504040204" pitchFamily="34" charset="0"/>
              <a:cs typeface="Arial" panose="020B0604020202020204" pitchFamily="34" charset="0"/>
            </a:endParaRPr>
          </a:p>
        </p:txBody>
      </p:sp>
      <p:sp>
        <p:nvSpPr>
          <p:cNvPr id="1049178" name="AutoShape 36"/>
          <p:cNvSpPr>
            <a:spLocks noChangeArrowheads="1"/>
          </p:cNvSpPr>
          <p:nvPr/>
        </p:nvSpPr>
        <p:spPr bwMode="auto">
          <a:xfrm flipV="1">
            <a:off x="5638800" y="4419600"/>
            <a:ext cx="228600" cy="685800"/>
          </a:xfrm>
          <a:prstGeom prst="downArrow">
            <a:avLst>
              <a:gd name="adj1" fmla="val 50000"/>
              <a:gd name="adj2" fmla="val 75000"/>
            </a:avLst>
          </a:prstGeom>
          <a:solidFill>
            <a:schemeClr val="folHlink"/>
          </a:solidFill>
          <a:ln w="9525">
            <a:solidFill>
              <a:schemeClr val="tx1"/>
            </a:solidFill>
            <a:miter lim="800000"/>
          </a:ln>
        </p:spPr>
        <p:txBody>
          <a:bodyPr wrap="none" anchor="ctr"/>
          <a:lstStyle/>
          <a:p>
            <a:pPr fontAlgn="base">
              <a:spcBef>
                <a:spcPct val="0"/>
              </a:spcBef>
              <a:spcAft>
                <a:spcPct val="0"/>
              </a:spcAft>
            </a:pPr>
            <a:endParaRPr lang="en-US">
              <a:solidFill>
                <a:prstClr val="black"/>
              </a:solidFill>
              <a:latin typeface="Tahoma" panose="020B0604030504040204" pitchFamily="34" charset="0"/>
              <a:cs typeface="Arial" panose="020B0604020202020204" pitchFamily="34" charset="0"/>
            </a:endParaRPr>
          </a:p>
        </p:txBody>
      </p:sp>
      <p:sp>
        <p:nvSpPr>
          <p:cNvPr id="1049179" name="AutoShape 37"/>
          <p:cNvSpPr>
            <a:spLocks noChangeArrowheads="1"/>
          </p:cNvSpPr>
          <p:nvPr/>
        </p:nvSpPr>
        <p:spPr bwMode="auto">
          <a:xfrm flipV="1">
            <a:off x="6629400" y="4419600"/>
            <a:ext cx="228600" cy="685800"/>
          </a:xfrm>
          <a:prstGeom prst="downArrow">
            <a:avLst>
              <a:gd name="adj1" fmla="val 50000"/>
              <a:gd name="adj2" fmla="val 75000"/>
            </a:avLst>
          </a:prstGeom>
          <a:solidFill>
            <a:schemeClr val="folHlink"/>
          </a:solidFill>
          <a:ln w="9525">
            <a:solidFill>
              <a:schemeClr val="tx1"/>
            </a:solidFill>
            <a:miter lim="800000"/>
          </a:ln>
        </p:spPr>
        <p:txBody>
          <a:bodyPr wrap="none" anchor="ctr"/>
          <a:lstStyle/>
          <a:p>
            <a:pPr fontAlgn="base">
              <a:spcBef>
                <a:spcPct val="0"/>
              </a:spcBef>
              <a:spcAft>
                <a:spcPct val="0"/>
              </a:spcAft>
            </a:pPr>
            <a:endParaRPr lang="en-US">
              <a:solidFill>
                <a:prstClr val="black"/>
              </a:solidFill>
              <a:latin typeface="Tahoma" panose="020B0604030504040204" pitchFamily="34" charset="0"/>
              <a:cs typeface="Arial" panose="020B0604020202020204" pitchFamily="34" charset="0"/>
            </a:endParaRPr>
          </a:p>
        </p:txBody>
      </p:sp>
      <p:sp>
        <p:nvSpPr>
          <p:cNvPr id="1049180" name="AutoShape 38"/>
          <p:cNvSpPr>
            <a:spLocks noChangeArrowheads="1"/>
          </p:cNvSpPr>
          <p:nvPr/>
        </p:nvSpPr>
        <p:spPr bwMode="auto">
          <a:xfrm flipV="1">
            <a:off x="7543800" y="4419600"/>
            <a:ext cx="228600" cy="685800"/>
          </a:xfrm>
          <a:prstGeom prst="downArrow">
            <a:avLst>
              <a:gd name="adj1" fmla="val 50000"/>
              <a:gd name="adj2" fmla="val 75000"/>
            </a:avLst>
          </a:prstGeom>
          <a:solidFill>
            <a:schemeClr val="folHlink"/>
          </a:solidFill>
          <a:ln w="9525">
            <a:solidFill>
              <a:schemeClr val="tx1"/>
            </a:solidFill>
            <a:miter lim="800000"/>
          </a:ln>
        </p:spPr>
        <p:txBody>
          <a:bodyPr wrap="none" anchor="ctr"/>
          <a:lstStyle/>
          <a:p>
            <a:pPr fontAlgn="base">
              <a:spcBef>
                <a:spcPct val="0"/>
              </a:spcBef>
              <a:spcAft>
                <a:spcPct val="0"/>
              </a:spcAft>
            </a:pPr>
            <a:endParaRPr lang="en-US">
              <a:solidFill>
                <a:prstClr val="black"/>
              </a:solidFill>
              <a:latin typeface="Tahoma" panose="020B0604030504040204" pitchFamily="34" charset="0"/>
              <a:cs typeface="Arial" panose="020B0604020202020204" pitchFamily="34" charset="0"/>
            </a:endParaRPr>
          </a:p>
        </p:txBody>
      </p:sp>
      <p:sp>
        <p:nvSpPr>
          <p:cNvPr id="1049181" name="Text Box 39"/>
          <p:cNvSpPr txBox="1">
            <a:spLocks noChangeArrowheads="1"/>
          </p:cNvSpPr>
          <p:nvPr/>
        </p:nvSpPr>
        <p:spPr bwMode="auto">
          <a:xfrm>
            <a:off x="5943600" y="5257800"/>
            <a:ext cx="1636384" cy="396240"/>
          </a:xfrm>
          <a:prstGeom prst="rect">
            <a:avLst/>
          </a:prstGeom>
          <a:noFill/>
          <a:ln w="9525">
            <a:noFill/>
            <a:miter lim="800000"/>
          </a:ln>
        </p:spPr>
        <p:txBody>
          <a:bodyPr wrap="none">
            <a:spAutoFit/>
          </a:bodyPr>
          <a:lstStyle/>
          <a:p>
            <a:pPr fontAlgn="base">
              <a:spcBef>
                <a:spcPct val="0"/>
              </a:spcBef>
              <a:spcAft>
                <a:spcPct val="0"/>
              </a:spcAft>
            </a:pPr>
            <a:r>
              <a:rPr lang="en-US">
                <a:solidFill>
                  <a:prstClr val="black"/>
                </a:solidFill>
                <a:latin typeface="Tahoma" panose="020B0604030504040204" pitchFamily="34" charset="0"/>
                <a:cs typeface="Arial" panose="020B0604020202020204" pitchFamily="34" charset="0"/>
              </a:rPr>
              <a:t>from Network</a:t>
            </a:r>
          </a:p>
        </p:txBody>
      </p:sp>
      <p:sp>
        <p:nvSpPr>
          <p:cNvPr id="1049182" name="Line 40"/>
          <p:cNvSpPr>
            <a:spLocks noChangeShapeType="1"/>
          </p:cNvSpPr>
          <p:nvPr/>
        </p:nvSpPr>
        <p:spPr bwMode="auto">
          <a:xfrm flipH="1">
            <a:off x="5257800" y="3429000"/>
            <a:ext cx="457200" cy="457200"/>
          </a:xfrm>
          <a:prstGeom prst="line">
            <a:avLst/>
          </a:prstGeom>
          <a:noFill/>
          <a:ln w="9525">
            <a:solidFill>
              <a:schemeClr val="tx1"/>
            </a:solidFill>
            <a:prstDash val="dash"/>
            <a:round/>
          </a:ln>
        </p:spPr>
        <p:txBody>
          <a:bodyPr/>
          <a:lstStyle/>
          <a:p>
            <a:pPr fontAlgn="base">
              <a:spcBef>
                <a:spcPct val="0"/>
              </a:spcBef>
              <a:spcAft>
                <a:spcPct val="0"/>
              </a:spcAft>
            </a:pPr>
            <a:endParaRPr lang="en-US">
              <a:solidFill>
                <a:prstClr val="black"/>
              </a:solidFill>
              <a:latin typeface="Tahoma" panose="020B0604030504040204" pitchFamily="34" charset="0"/>
              <a:cs typeface="Arial" panose="020B0604020202020204" pitchFamily="34" charset="0"/>
            </a:endParaRPr>
          </a:p>
        </p:txBody>
      </p:sp>
      <p:sp>
        <p:nvSpPr>
          <p:cNvPr id="1049183" name="Line 41"/>
          <p:cNvSpPr>
            <a:spLocks noChangeShapeType="1"/>
          </p:cNvSpPr>
          <p:nvPr/>
        </p:nvSpPr>
        <p:spPr bwMode="auto">
          <a:xfrm flipH="1">
            <a:off x="5791200" y="3429000"/>
            <a:ext cx="457200" cy="457200"/>
          </a:xfrm>
          <a:prstGeom prst="line">
            <a:avLst/>
          </a:prstGeom>
          <a:noFill/>
          <a:ln w="9525">
            <a:solidFill>
              <a:schemeClr val="tx1"/>
            </a:solidFill>
            <a:prstDash val="dash"/>
            <a:round/>
          </a:ln>
        </p:spPr>
        <p:txBody>
          <a:bodyPr/>
          <a:lstStyle/>
          <a:p>
            <a:pPr fontAlgn="base">
              <a:spcBef>
                <a:spcPct val="0"/>
              </a:spcBef>
              <a:spcAft>
                <a:spcPct val="0"/>
              </a:spcAft>
            </a:pPr>
            <a:endParaRPr lang="en-US">
              <a:solidFill>
                <a:prstClr val="black"/>
              </a:solidFill>
              <a:latin typeface="Tahoma" panose="020B0604030504040204" pitchFamily="34" charset="0"/>
              <a:cs typeface="Arial" panose="020B0604020202020204" pitchFamily="34" charset="0"/>
            </a:endParaRPr>
          </a:p>
        </p:txBody>
      </p:sp>
      <p:sp>
        <p:nvSpPr>
          <p:cNvPr id="1049184" name="Line 42"/>
          <p:cNvSpPr>
            <a:spLocks noChangeShapeType="1"/>
          </p:cNvSpPr>
          <p:nvPr/>
        </p:nvSpPr>
        <p:spPr bwMode="auto">
          <a:xfrm>
            <a:off x="6248400" y="3429000"/>
            <a:ext cx="0" cy="457200"/>
          </a:xfrm>
          <a:prstGeom prst="line">
            <a:avLst/>
          </a:prstGeom>
          <a:noFill/>
          <a:ln w="9525">
            <a:solidFill>
              <a:schemeClr val="tx1"/>
            </a:solidFill>
            <a:prstDash val="dash"/>
            <a:round/>
          </a:ln>
        </p:spPr>
        <p:txBody>
          <a:bodyPr/>
          <a:lstStyle/>
          <a:p>
            <a:pPr fontAlgn="base">
              <a:spcBef>
                <a:spcPct val="0"/>
              </a:spcBef>
              <a:spcAft>
                <a:spcPct val="0"/>
              </a:spcAft>
            </a:pPr>
            <a:endParaRPr lang="en-US">
              <a:solidFill>
                <a:prstClr val="black"/>
              </a:solidFill>
              <a:latin typeface="Tahoma" panose="020B0604030504040204" pitchFamily="34" charset="0"/>
              <a:cs typeface="Arial" panose="020B0604020202020204" pitchFamily="34" charset="0"/>
            </a:endParaRPr>
          </a:p>
        </p:txBody>
      </p:sp>
      <p:sp>
        <p:nvSpPr>
          <p:cNvPr id="1049185" name="Line 43"/>
          <p:cNvSpPr>
            <a:spLocks noChangeShapeType="1"/>
          </p:cNvSpPr>
          <p:nvPr/>
        </p:nvSpPr>
        <p:spPr bwMode="auto">
          <a:xfrm flipH="1">
            <a:off x="6781800" y="3429000"/>
            <a:ext cx="0" cy="457200"/>
          </a:xfrm>
          <a:prstGeom prst="line">
            <a:avLst/>
          </a:prstGeom>
          <a:noFill/>
          <a:ln w="9525">
            <a:solidFill>
              <a:schemeClr val="tx1"/>
            </a:solidFill>
            <a:prstDash val="dash"/>
            <a:round/>
          </a:ln>
        </p:spPr>
        <p:txBody>
          <a:bodyPr/>
          <a:lstStyle/>
          <a:p>
            <a:pPr fontAlgn="base">
              <a:spcBef>
                <a:spcPct val="0"/>
              </a:spcBef>
              <a:spcAft>
                <a:spcPct val="0"/>
              </a:spcAft>
            </a:pPr>
            <a:endParaRPr lang="en-US">
              <a:solidFill>
                <a:prstClr val="black"/>
              </a:solidFill>
              <a:latin typeface="Tahoma" panose="020B0604030504040204" pitchFamily="34" charset="0"/>
              <a:cs typeface="Arial" panose="020B0604020202020204" pitchFamily="34" charset="0"/>
            </a:endParaRPr>
          </a:p>
        </p:txBody>
      </p:sp>
      <p:sp>
        <p:nvSpPr>
          <p:cNvPr id="1049186" name="Line 44"/>
          <p:cNvSpPr>
            <a:spLocks noChangeShapeType="1"/>
          </p:cNvSpPr>
          <p:nvPr/>
        </p:nvSpPr>
        <p:spPr bwMode="auto">
          <a:xfrm>
            <a:off x="6781800" y="3429000"/>
            <a:ext cx="457200" cy="457200"/>
          </a:xfrm>
          <a:prstGeom prst="line">
            <a:avLst/>
          </a:prstGeom>
          <a:noFill/>
          <a:ln w="9525">
            <a:solidFill>
              <a:schemeClr val="tx1"/>
            </a:solidFill>
            <a:prstDash val="dash"/>
            <a:round/>
          </a:ln>
        </p:spPr>
        <p:txBody>
          <a:bodyPr/>
          <a:lstStyle/>
          <a:p>
            <a:pPr fontAlgn="base">
              <a:spcBef>
                <a:spcPct val="0"/>
              </a:spcBef>
              <a:spcAft>
                <a:spcPct val="0"/>
              </a:spcAft>
            </a:pPr>
            <a:endParaRPr lang="en-US">
              <a:solidFill>
                <a:prstClr val="black"/>
              </a:solidFill>
              <a:latin typeface="Tahoma" panose="020B0604030504040204" pitchFamily="34" charset="0"/>
              <a:cs typeface="Arial" panose="020B0604020202020204" pitchFamily="34" charset="0"/>
            </a:endParaRPr>
          </a:p>
        </p:txBody>
      </p:sp>
      <p:sp>
        <p:nvSpPr>
          <p:cNvPr id="1049187" name="Line 45"/>
          <p:cNvSpPr>
            <a:spLocks noChangeShapeType="1"/>
          </p:cNvSpPr>
          <p:nvPr/>
        </p:nvSpPr>
        <p:spPr bwMode="auto">
          <a:xfrm>
            <a:off x="7315200" y="3429000"/>
            <a:ext cx="457200" cy="457200"/>
          </a:xfrm>
          <a:prstGeom prst="line">
            <a:avLst/>
          </a:prstGeom>
          <a:noFill/>
          <a:ln w="9525">
            <a:solidFill>
              <a:schemeClr val="tx1"/>
            </a:solidFill>
            <a:prstDash val="dash"/>
            <a:round/>
          </a:ln>
        </p:spPr>
        <p:txBody>
          <a:bodyPr/>
          <a:lstStyle/>
          <a:p>
            <a:pPr fontAlgn="base">
              <a:spcBef>
                <a:spcPct val="0"/>
              </a:spcBef>
              <a:spcAft>
                <a:spcPct val="0"/>
              </a:spcAft>
            </a:pPr>
            <a:endParaRPr lang="en-US">
              <a:solidFill>
                <a:prstClr val="black"/>
              </a:solidFill>
              <a:latin typeface="Tahoma" panose="020B0604030504040204" pitchFamily="34" charset="0"/>
              <a:cs typeface="Arial" panose="020B0604020202020204" pitchFamily="34" charset="0"/>
            </a:endParaRPr>
          </a:p>
        </p:txBody>
      </p:sp>
      <p:sp>
        <p:nvSpPr>
          <p:cNvPr id="1049188" name="Line 46"/>
          <p:cNvSpPr>
            <a:spLocks noChangeShapeType="1"/>
          </p:cNvSpPr>
          <p:nvPr/>
        </p:nvSpPr>
        <p:spPr bwMode="auto">
          <a:xfrm flipH="1">
            <a:off x="1981200" y="3505200"/>
            <a:ext cx="304800" cy="304800"/>
          </a:xfrm>
          <a:prstGeom prst="line">
            <a:avLst/>
          </a:prstGeom>
          <a:noFill/>
          <a:ln w="9525">
            <a:solidFill>
              <a:schemeClr val="folHlink"/>
            </a:solidFill>
            <a:round/>
            <a:tailEnd type="triangle" w="med" len="med"/>
          </a:ln>
        </p:spPr>
        <p:txBody>
          <a:bodyPr/>
          <a:lstStyle/>
          <a:p>
            <a:pPr fontAlgn="base">
              <a:spcBef>
                <a:spcPct val="0"/>
              </a:spcBef>
              <a:spcAft>
                <a:spcPct val="0"/>
              </a:spcAft>
            </a:pPr>
            <a:endParaRPr lang="en-US">
              <a:solidFill>
                <a:prstClr val="black"/>
              </a:solidFill>
              <a:latin typeface="Tahoma" panose="020B0604030504040204" pitchFamily="34" charset="0"/>
              <a:cs typeface="Arial" panose="020B0604020202020204" pitchFamily="34" charset="0"/>
            </a:endParaRPr>
          </a:p>
        </p:txBody>
      </p:sp>
      <p:sp>
        <p:nvSpPr>
          <p:cNvPr id="1049189" name="Line 47"/>
          <p:cNvSpPr>
            <a:spLocks noChangeShapeType="1"/>
          </p:cNvSpPr>
          <p:nvPr/>
        </p:nvSpPr>
        <p:spPr bwMode="auto">
          <a:xfrm flipH="1">
            <a:off x="2971800" y="3505200"/>
            <a:ext cx="0" cy="304800"/>
          </a:xfrm>
          <a:prstGeom prst="line">
            <a:avLst/>
          </a:prstGeom>
          <a:noFill/>
          <a:ln w="9525">
            <a:solidFill>
              <a:schemeClr val="folHlink"/>
            </a:solidFill>
            <a:round/>
            <a:tailEnd type="triangle" w="med" len="med"/>
          </a:ln>
        </p:spPr>
        <p:txBody>
          <a:bodyPr/>
          <a:lstStyle/>
          <a:p>
            <a:pPr fontAlgn="base">
              <a:spcBef>
                <a:spcPct val="0"/>
              </a:spcBef>
              <a:spcAft>
                <a:spcPct val="0"/>
              </a:spcAft>
            </a:pPr>
            <a:endParaRPr lang="en-US">
              <a:solidFill>
                <a:prstClr val="black"/>
              </a:solidFill>
              <a:latin typeface="Tahoma" panose="020B0604030504040204" pitchFamily="34" charset="0"/>
              <a:cs typeface="Arial" panose="020B0604020202020204" pitchFamily="34" charset="0"/>
            </a:endParaRPr>
          </a:p>
        </p:txBody>
      </p:sp>
      <p:sp>
        <p:nvSpPr>
          <p:cNvPr id="1049190" name="Line 48"/>
          <p:cNvSpPr>
            <a:spLocks noChangeShapeType="1"/>
          </p:cNvSpPr>
          <p:nvPr/>
        </p:nvSpPr>
        <p:spPr bwMode="auto">
          <a:xfrm>
            <a:off x="3505200" y="3505200"/>
            <a:ext cx="304800" cy="304800"/>
          </a:xfrm>
          <a:prstGeom prst="line">
            <a:avLst/>
          </a:prstGeom>
          <a:noFill/>
          <a:ln w="9525">
            <a:solidFill>
              <a:schemeClr val="folHlink"/>
            </a:solidFill>
            <a:round/>
            <a:tailEnd type="triangle" w="med" len="med"/>
          </a:ln>
        </p:spPr>
        <p:txBody>
          <a:bodyPr/>
          <a:lstStyle/>
          <a:p>
            <a:pPr fontAlgn="base">
              <a:spcBef>
                <a:spcPct val="0"/>
              </a:spcBef>
              <a:spcAft>
                <a:spcPct val="0"/>
              </a:spcAft>
            </a:pPr>
            <a:endParaRPr lang="en-US">
              <a:solidFill>
                <a:prstClr val="black"/>
              </a:solidFill>
              <a:latin typeface="Tahoma" panose="020B0604030504040204" pitchFamily="34" charset="0"/>
              <a:cs typeface="Arial" panose="020B0604020202020204" pitchFamily="34" charset="0"/>
            </a:endParaRPr>
          </a:p>
        </p:txBody>
      </p:sp>
      <p:sp>
        <p:nvSpPr>
          <p:cNvPr id="1049191" name="Text Box 49"/>
          <p:cNvSpPr txBox="1">
            <a:spLocks noChangeArrowheads="1"/>
          </p:cNvSpPr>
          <p:nvPr/>
        </p:nvSpPr>
        <p:spPr bwMode="auto">
          <a:xfrm>
            <a:off x="2438400" y="4191000"/>
            <a:ext cx="1378763" cy="396240"/>
          </a:xfrm>
          <a:prstGeom prst="rect">
            <a:avLst/>
          </a:prstGeom>
          <a:noFill/>
          <a:ln w="9525">
            <a:noFill/>
            <a:miter lim="800000"/>
          </a:ln>
        </p:spPr>
        <p:txBody>
          <a:bodyPr wrap="none">
            <a:spAutoFit/>
          </a:bodyPr>
          <a:lstStyle/>
          <a:p>
            <a:pPr fontAlgn="base">
              <a:spcBef>
                <a:spcPct val="0"/>
              </a:spcBef>
              <a:spcAft>
                <a:spcPct val="0"/>
              </a:spcAft>
            </a:pPr>
            <a:r>
              <a:rPr lang="en-US" i="1">
                <a:solidFill>
                  <a:prstClr val="black"/>
                </a:solidFill>
                <a:latin typeface="Tahoma" panose="020B0604030504040204" pitchFamily="34" charset="0"/>
                <a:cs typeface="Arial" panose="020B0604020202020204" pitchFamily="34" charset="0"/>
              </a:rPr>
              <a:t>(segments)</a:t>
            </a:r>
          </a:p>
        </p:txBody>
      </p:sp>
      <p:grpSp>
        <p:nvGrpSpPr>
          <p:cNvPr id="170" name="Group 65"/>
          <p:cNvGrpSpPr/>
          <p:nvPr/>
        </p:nvGrpSpPr>
        <p:grpSpPr bwMode="auto">
          <a:xfrm>
            <a:off x="914400" y="1244600"/>
            <a:ext cx="2876550" cy="584200"/>
            <a:chOff x="576" y="784"/>
            <a:chExt cx="1812" cy="368"/>
          </a:xfrm>
        </p:grpSpPr>
        <p:sp>
          <p:nvSpPr>
            <p:cNvPr id="1049192" name="Oval 51"/>
            <p:cNvSpPr>
              <a:spLocks noChangeArrowheads="1"/>
            </p:cNvSpPr>
            <p:nvPr/>
          </p:nvSpPr>
          <p:spPr bwMode="auto">
            <a:xfrm>
              <a:off x="576" y="816"/>
              <a:ext cx="672" cy="336"/>
            </a:xfrm>
            <a:prstGeom prst="ellipse">
              <a:avLst/>
            </a:prstGeom>
            <a:solidFill>
              <a:schemeClr val="accent1"/>
            </a:solidFill>
            <a:ln w="9525">
              <a:solidFill>
                <a:schemeClr val="tx1"/>
              </a:solidFill>
              <a:round/>
            </a:ln>
          </p:spPr>
          <p:txBody>
            <a:bodyPr wrap="none" anchor="ctr"/>
            <a:lstStyle/>
            <a:p>
              <a:pPr algn="ctr" fontAlgn="base">
                <a:spcBef>
                  <a:spcPct val="0"/>
                </a:spcBef>
                <a:spcAft>
                  <a:spcPct val="0"/>
                </a:spcAft>
              </a:pPr>
              <a:r>
                <a:rPr lang="en-US">
                  <a:solidFill>
                    <a:prstClr val="black"/>
                  </a:solidFill>
                  <a:latin typeface="Tahoma" panose="020B0604030504040204" pitchFamily="34" charset="0"/>
                  <a:cs typeface="Arial" panose="020B0604020202020204" pitchFamily="34" charset="0"/>
                </a:rPr>
                <a:t>Process</a:t>
              </a:r>
            </a:p>
          </p:txBody>
        </p:sp>
        <p:sp>
          <p:nvSpPr>
            <p:cNvPr id="1049193" name="Oval 53"/>
            <p:cNvSpPr>
              <a:spLocks noChangeArrowheads="1"/>
            </p:cNvSpPr>
            <p:nvPr/>
          </p:nvSpPr>
          <p:spPr bwMode="auto">
            <a:xfrm>
              <a:off x="1344" y="816"/>
              <a:ext cx="672" cy="336"/>
            </a:xfrm>
            <a:prstGeom prst="ellipse">
              <a:avLst/>
            </a:prstGeom>
            <a:solidFill>
              <a:schemeClr val="accent1"/>
            </a:solidFill>
            <a:ln w="9525">
              <a:solidFill>
                <a:schemeClr val="tx1"/>
              </a:solidFill>
              <a:round/>
            </a:ln>
          </p:spPr>
          <p:txBody>
            <a:bodyPr wrap="none" anchor="ctr"/>
            <a:lstStyle/>
            <a:p>
              <a:pPr algn="ctr" fontAlgn="base">
                <a:spcBef>
                  <a:spcPct val="0"/>
                </a:spcBef>
                <a:spcAft>
                  <a:spcPct val="0"/>
                </a:spcAft>
              </a:pPr>
              <a:r>
                <a:rPr lang="en-US">
                  <a:solidFill>
                    <a:prstClr val="black"/>
                  </a:solidFill>
                  <a:latin typeface="Tahoma" panose="020B0604030504040204" pitchFamily="34" charset="0"/>
                  <a:cs typeface="Arial" panose="020B0604020202020204" pitchFamily="34" charset="0"/>
                </a:rPr>
                <a:t>Process</a:t>
              </a:r>
            </a:p>
          </p:txBody>
        </p:sp>
        <p:sp>
          <p:nvSpPr>
            <p:cNvPr id="1049194" name="Text Box 54"/>
            <p:cNvSpPr txBox="1">
              <a:spLocks noChangeArrowheads="1"/>
            </p:cNvSpPr>
            <p:nvPr/>
          </p:nvSpPr>
          <p:spPr bwMode="auto">
            <a:xfrm>
              <a:off x="2112" y="784"/>
              <a:ext cx="276" cy="362"/>
            </a:xfrm>
            <a:prstGeom prst="rect">
              <a:avLst/>
            </a:prstGeom>
            <a:noFill/>
            <a:ln w="9525">
              <a:noFill/>
              <a:miter lim="800000"/>
            </a:ln>
          </p:spPr>
          <p:txBody>
            <a:bodyPr wrap="none">
              <a:spAutoFit/>
            </a:bodyPr>
            <a:lstStyle/>
            <a:p>
              <a:pPr fontAlgn="base">
                <a:spcBef>
                  <a:spcPct val="0"/>
                </a:spcBef>
                <a:spcAft>
                  <a:spcPct val="0"/>
                </a:spcAft>
              </a:pPr>
              <a:r>
                <a:rPr lang="en-US" sz="2800">
                  <a:solidFill>
                    <a:prstClr val="black"/>
                  </a:solidFill>
                  <a:latin typeface="Tahoma" panose="020B0604030504040204" pitchFamily="34" charset="0"/>
                  <a:cs typeface="Arial" panose="020B0604020202020204" pitchFamily="34" charset="0"/>
                </a:rPr>
                <a:t>…</a:t>
              </a:r>
            </a:p>
          </p:txBody>
        </p:sp>
      </p:grpSp>
      <p:grpSp>
        <p:nvGrpSpPr>
          <p:cNvPr id="171" name="Group 64"/>
          <p:cNvGrpSpPr/>
          <p:nvPr/>
        </p:nvGrpSpPr>
        <p:grpSpPr bwMode="auto">
          <a:xfrm>
            <a:off x="5181600" y="1244600"/>
            <a:ext cx="2876550" cy="584200"/>
            <a:chOff x="3264" y="784"/>
            <a:chExt cx="1812" cy="368"/>
          </a:xfrm>
        </p:grpSpPr>
        <p:sp>
          <p:nvSpPr>
            <p:cNvPr id="1049195" name="Oval 55"/>
            <p:cNvSpPr>
              <a:spLocks noChangeArrowheads="1"/>
            </p:cNvSpPr>
            <p:nvPr/>
          </p:nvSpPr>
          <p:spPr bwMode="auto">
            <a:xfrm>
              <a:off x="3264" y="816"/>
              <a:ext cx="672" cy="336"/>
            </a:xfrm>
            <a:prstGeom prst="ellipse">
              <a:avLst/>
            </a:prstGeom>
            <a:solidFill>
              <a:schemeClr val="accent1"/>
            </a:solidFill>
            <a:ln w="9525">
              <a:solidFill>
                <a:schemeClr val="tx1"/>
              </a:solidFill>
              <a:round/>
            </a:ln>
          </p:spPr>
          <p:txBody>
            <a:bodyPr wrap="none" anchor="ctr"/>
            <a:lstStyle/>
            <a:p>
              <a:pPr algn="ctr" fontAlgn="base">
                <a:spcBef>
                  <a:spcPct val="0"/>
                </a:spcBef>
                <a:spcAft>
                  <a:spcPct val="0"/>
                </a:spcAft>
              </a:pPr>
              <a:r>
                <a:rPr lang="en-US">
                  <a:solidFill>
                    <a:prstClr val="black"/>
                  </a:solidFill>
                  <a:latin typeface="Tahoma" panose="020B0604030504040204" pitchFamily="34" charset="0"/>
                  <a:cs typeface="Arial" panose="020B0604020202020204" pitchFamily="34" charset="0"/>
                </a:rPr>
                <a:t>Process</a:t>
              </a:r>
            </a:p>
          </p:txBody>
        </p:sp>
        <p:sp>
          <p:nvSpPr>
            <p:cNvPr id="1049196" name="Oval 56"/>
            <p:cNvSpPr>
              <a:spLocks noChangeArrowheads="1"/>
            </p:cNvSpPr>
            <p:nvPr/>
          </p:nvSpPr>
          <p:spPr bwMode="auto">
            <a:xfrm>
              <a:off x="4032" y="816"/>
              <a:ext cx="672" cy="336"/>
            </a:xfrm>
            <a:prstGeom prst="ellipse">
              <a:avLst/>
            </a:prstGeom>
            <a:solidFill>
              <a:schemeClr val="accent1"/>
            </a:solidFill>
            <a:ln w="9525">
              <a:solidFill>
                <a:schemeClr val="tx1"/>
              </a:solidFill>
              <a:round/>
            </a:ln>
          </p:spPr>
          <p:txBody>
            <a:bodyPr wrap="none" anchor="ctr"/>
            <a:lstStyle/>
            <a:p>
              <a:pPr algn="ctr" fontAlgn="base">
                <a:spcBef>
                  <a:spcPct val="0"/>
                </a:spcBef>
                <a:spcAft>
                  <a:spcPct val="0"/>
                </a:spcAft>
              </a:pPr>
              <a:r>
                <a:rPr lang="en-US">
                  <a:solidFill>
                    <a:prstClr val="black"/>
                  </a:solidFill>
                  <a:latin typeface="Tahoma" panose="020B0604030504040204" pitchFamily="34" charset="0"/>
                  <a:cs typeface="Arial" panose="020B0604020202020204" pitchFamily="34" charset="0"/>
                </a:rPr>
                <a:t>Process</a:t>
              </a:r>
            </a:p>
          </p:txBody>
        </p:sp>
        <p:sp>
          <p:nvSpPr>
            <p:cNvPr id="1049197" name="Text Box 57"/>
            <p:cNvSpPr txBox="1">
              <a:spLocks noChangeArrowheads="1"/>
            </p:cNvSpPr>
            <p:nvPr/>
          </p:nvSpPr>
          <p:spPr bwMode="auto">
            <a:xfrm>
              <a:off x="4800" y="784"/>
              <a:ext cx="276" cy="362"/>
            </a:xfrm>
            <a:prstGeom prst="rect">
              <a:avLst/>
            </a:prstGeom>
            <a:noFill/>
            <a:ln w="9525">
              <a:noFill/>
              <a:miter lim="800000"/>
            </a:ln>
          </p:spPr>
          <p:txBody>
            <a:bodyPr wrap="none">
              <a:spAutoFit/>
            </a:bodyPr>
            <a:lstStyle/>
            <a:p>
              <a:pPr fontAlgn="base">
                <a:spcBef>
                  <a:spcPct val="0"/>
                </a:spcBef>
                <a:spcAft>
                  <a:spcPct val="0"/>
                </a:spcAft>
              </a:pPr>
              <a:r>
                <a:rPr lang="en-US" sz="2800">
                  <a:solidFill>
                    <a:prstClr val="black"/>
                  </a:solidFill>
                  <a:latin typeface="Tahoma" panose="020B0604030504040204" pitchFamily="34" charset="0"/>
                  <a:cs typeface="Arial" panose="020B0604020202020204" pitchFamily="34" charset="0"/>
                </a:rPr>
                <a:t>…</a:t>
              </a:r>
            </a:p>
          </p:txBody>
        </p:sp>
      </p:grpSp>
      <p:grpSp>
        <p:nvGrpSpPr>
          <p:cNvPr id="172" name="Group 73"/>
          <p:cNvGrpSpPr/>
          <p:nvPr/>
        </p:nvGrpSpPr>
        <p:grpSpPr bwMode="auto">
          <a:xfrm>
            <a:off x="1143000" y="1752600"/>
            <a:ext cx="1676400" cy="1219200"/>
            <a:chOff x="720" y="1104"/>
            <a:chExt cx="1056" cy="768"/>
          </a:xfrm>
        </p:grpSpPr>
        <p:sp>
          <p:nvSpPr>
            <p:cNvPr id="1049198" name="Arc 60"/>
            <p:cNvSpPr/>
            <p:nvPr/>
          </p:nvSpPr>
          <p:spPr bwMode="auto">
            <a:xfrm>
              <a:off x="720" y="1104"/>
              <a:ext cx="960" cy="768"/>
            </a:xfrm>
            <a:custGeom>
              <a:avLst/>
              <a:gdLst>
                <a:gd name="T0" fmla="*/ 19 w 21600"/>
                <a:gd name="T1" fmla="*/ 0 h 19280"/>
                <a:gd name="T2" fmla="*/ 43 w 21600"/>
                <a:gd name="T3" fmla="*/ 31 h 19280"/>
                <a:gd name="T4" fmla="*/ 0 w 21600"/>
                <a:gd name="T5" fmla="*/ 31 h 19280"/>
                <a:gd name="T6" fmla="*/ 0 60000 65536"/>
                <a:gd name="T7" fmla="*/ 0 60000 65536"/>
                <a:gd name="T8" fmla="*/ 0 60000 65536"/>
                <a:gd name="T9" fmla="*/ 0 w 21600"/>
                <a:gd name="T10" fmla="*/ 0 h 19280"/>
                <a:gd name="T11" fmla="*/ 21600 w 21600"/>
                <a:gd name="T12" fmla="*/ 19280 h 19280"/>
              </a:gdLst>
              <a:ahLst/>
              <a:cxnLst>
                <a:cxn ang="T6">
                  <a:pos x="T0" y="T1"/>
                </a:cxn>
                <a:cxn ang="T7">
                  <a:pos x="T2" y="T3"/>
                </a:cxn>
                <a:cxn ang="T8">
                  <a:pos x="T4" y="T5"/>
                </a:cxn>
              </a:cxnLst>
              <a:rect l="T9" t="T10" r="T11" b="T12"/>
              <a:pathLst>
                <a:path w="21600" h="19280" fill="none" extrusionOk="0">
                  <a:moveTo>
                    <a:pt x="9738" y="0"/>
                  </a:moveTo>
                  <a:cubicBezTo>
                    <a:pt x="17013" y="3674"/>
                    <a:pt x="21600" y="11130"/>
                    <a:pt x="21600" y="19280"/>
                  </a:cubicBezTo>
                </a:path>
                <a:path w="21600" h="19280" stroke="0" extrusionOk="0">
                  <a:moveTo>
                    <a:pt x="9738" y="0"/>
                  </a:moveTo>
                  <a:cubicBezTo>
                    <a:pt x="17013" y="3674"/>
                    <a:pt x="21600" y="11130"/>
                    <a:pt x="21600" y="19280"/>
                  </a:cubicBezTo>
                  <a:lnTo>
                    <a:pt x="0" y="19280"/>
                  </a:lnTo>
                  <a:close/>
                </a:path>
              </a:pathLst>
            </a:custGeom>
            <a:noFill/>
            <a:ln w="38100">
              <a:solidFill>
                <a:schemeClr val="tx1"/>
              </a:solidFill>
              <a:round/>
              <a:tailEnd type="triangle" w="med" len="med"/>
            </a:ln>
          </p:spPr>
          <p:txBody>
            <a:bodyPr wrap="none" anchor="ctr"/>
            <a:lstStyle/>
            <a:p>
              <a:pPr fontAlgn="base">
                <a:spcBef>
                  <a:spcPct val="0"/>
                </a:spcBef>
                <a:spcAft>
                  <a:spcPct val="0"/>
                </a:spcAft>
              </a:pPr>
              <a:endParaRPr lang="en-US">
                <a:solidFill>
                  <a:prstClr val="black"/>
                </a:solidFill>
                <a:latin typeface="Tahoma" panose="020B0604030504040204" pitchFamily="34" charset="0"/>
                <a:cs typeface="Arial" panose="020B0604020202020204" pitchFamily="34" charset="0"/>
              </a:endParaRPr>
            </a:p>
          </p:txBody>
        </p:sp>
        <p:sp>
          <p:nvSpPr>
            <p:cNvPr id="1049199" name="Text Box 61"/>
            <p:cNvSpPr txBox="1">
              <a:spLocks noChangeArrowheads="1"/>
            </p:cNvSpPr>
            <p:nvPr/>
          </p:nvSpPr>
          <p:spPr bwMode="auto">
            <a:xfrm>
              <a:off x="868" y="1413"/>
              <a:ext cx="652" cy="250"/>
            </a:xfrm>
            <a:prstGeom prst="rect">
              <a:avLst/>
            </a:prstGeom>
            <a:noFill/>
            <a:ln w="9525">
              <a:noFill/>
              <a:miter lim="800000"/>
            </a:ln>
          </p:spPr>
          <p:txBody>
            <a:bodyPr wrap="none">
              <a:spAutoFit/>
            </a:bodyPr>
            <a:lstStyle/>
            <a:p>
              <a:pPr fontAlgn="base">
                <a:spcBef>
                  <a:spcPct val="0"/>
                </a:spcBef>
                <a:spcAft>
                  <a:spcPct val="0"/>
                </a:spcAft>
              </a:pPr>
              <a:r>
                <a:rPr lang="en-US">
                  <a:solidFill>
                    <a:prstClr val="black"/>
                  </a:solidFill>
                  <a:latin typeface="Tahoma" panose="020B0604030504040204" pitchFamily="34" charset="0"/>
                  <a:cs typeface="Arial" panose="020B0604020202020204" pitchFamily="34" charset="0"/>
                </a:rPr>
                <a:t>PORT #</a:t>
              </a:r>
            </a:p>
          </p:txBody>
        </p:sp>
        <p:sp>
          <p:nvSpPr>
            <p:cNvPr id="1049200" name="Oval 68"/>
            <p:cNvSpPr>
              <a:spLocks noChangeArrowheads="1"/>
            </p:cNvSpPr>
            <p:nvPr/>
          </p:nvSpPr>
          <p:spPr bwMode="auto">
            <a:xfrm>
              <a:off x="1536" y="1584"/>
              <a:ext cx="240" cy="96"/>
            </a:xfrm>
            <a:prstGeom prst="ellipse">
              <a:avLst/>
            </a:prstGeom>
            <a:solidFill>
              <a:schemeClr val="folHlink"/>
            </a:solidFill>
            <a:ln w="9525">
              <a:solidFill>
                <a:schemeClr val="tx1"/>
              </a:solidFill>
              <a:round/>
            </a:ln>
          </p:spPr>
          <p:txBody>
            <a:bodyPr wrap="none" anchor="ctr"/>
            <a:lstStyle/>
            <a:p>
              <a:pPr fontAlgn="base">
                <a:spcBef>
                  <a:spcPct val="0"/>
                </a:spcBef>
                <a:spcAft>
                  <a:spcPct val="0"/>
                </a:spcAft>
              </a:pPr>
              <a:endParaRPr lang="en-US">
                <a:solidFill>
                  <a:prstClr val="black"/>
                </a:solidFill>
                <a:latin typeface="Tahoma" panose="020B0604030504040204" pitchFamily="34" charset="0"/>
                <a:cs typeface="Arial" panose="020B0604020202020204" pitchFamily="34" charset="0"/>
              </a:endParaRPr>
            </a:p>
          </p:txBody>
        </p:sp>
      </p:grpSp>
      <p:grpSp>
        <p:nvGrpSpPr>
          <p:cNvPr id="173" name="Group 74"/>
          <p:cNvGrpSpPr/>
          <p:nvPr/>
        </p:nvGrpSpPr>
        <p:grpSpPr bwMode="auto">
          <a:xfrm>
            <a:off x="6400800" y="1828800"/>
            <a:ext cx="1416050" cy="1143000"/>
            <a:chOff x="4032" y="1152"/>
            <a:chExt cx="892" cy="720"/>
          </a:xfrm>
        </p:grpSpPr>
        <p:sp>
          <p:nvSpPr>
            <p:cNvPr id="1049201" name="Arc 62"/>
            <p:cNvSpPr/>
            <p:nvPr/>
          </p:nvSpPr>
          <p:spPr bwMode="auto">
            <a:xfrm flipH="1">
              <a:off x="4128" y="1152"/>
              <a:ext cx="432" cy="720"/>
            </a:xfrm>
            <a:custGeom>
              <a:avLst/>
              <a:gdLst>
                <a:gd name="T0" fmla="*/ 4 w 21600"/>
                <a:gd name="T1" fmla="*/ 0 h 19280"/>
                <a:gd name="T2" fmla="*/ 9 w 21600"/>
                <a:gd name="T3" fmla="*/ 27 h 19280"/>
                <a:gd name="T4" fmla="*/ 0 w 21600"/>
                <a:gd name="T5" fmla="*/ 27 h 19280"/>
                <a:gd name="T6" fmla="*/ 0 60000 65536"/>
                <a:gd name="T7" fmla="*/ 0 60000 65536"/>
                <a:gd name="T8" fmla="*/ 0 60000 65536"/>
                <a:gd name="T9" fmla="*/ 0 w 21600"/>
                <a:gd name="T10" fmla="*/ 0 h 19280"/>
                <a:gd name="T11" fmla="*/ 21600 w 21600"/>
                <a:gd name="T12" fmla="*/ 19280 h 19280"/>
              </a:gdLst>
              <a:ahLst/>
              <a:cxnLst>
                <a:cxn ang="T6">
                  <a:pos x="T0" y="T1"/>
                </a:cxn>
                <a:cxn ang="T7">
                  <a:pos x="T2" y="T3"/>
                </a:cxn>
                <a:cxn ang="T8">
                  <a:pos x="T4" y="T5"/>
                </a:cxn>
              </a:cxnLst>
              <a:rect l="T9" t="T10" r="T11" b="T12"/>
              <a:pathLst>
                <a:path w="21600" h="19280" fill="none" extrusionOk="0">
                  <a:moveTo>
                    <a:pt x="9738" y="0"/>
                  </a:moveTo>
                  <a:cubicBezTo>
                    <a:pt x="17013" y="3674"/>
                    <a:pt x="21600" y="11130"/>
                    <a:pt x="21600" y="19280"/>
                  </a:cubicBezTo>
                </a:path>
                <a:path w="21600" h="19280" stroke="0" extrusionOk="0">
                  <a:moveTo>
                    <a:pt x="9738" y="0"/>
                  </a:moveTo>
                  <a:cubicBezTo>
                    <a:pt x="17013" y="3674"/>
                    <a:pt x="21600" y="11130"/>
                    <a:pt x="21600" y="19280"/>
                  </a:cubicBezTo>
                  <a:lnTo>
                    <a:pt x="0" y="19280"/>
                  </a:lnTo>
                  <a:close/>
                </a:path>
              </a:pathLst>
            </a:custGeom>
            <a:noFill/>
            <a:ln w="38100">
              <a:solidFill>
                <a:schemeClr val="tx1"/>
              </a:solidFill>
              <a:round/>
              <a:headEnd type="triangle" w="med" len="med"/>
            </a:ln>
          </p:spPr>
          <p:txBody>
            <a:bodyPr wrap="none" anchor="ctr"/>
            <a:lstStyle/>
            <a:p>
              <a:pPr fontAlgn="base">
                <a:spcBef>
                  <a:spcPct val="0"/>
                </a:spcBef>
                <a:spcAft>
                  <a:spcPct val="0"/>
                </a:spcAft>
              </a:pPr>
              <a:endParaRPr lang="en-US">
                <a:solidFill>
                  <a:prstClr val="black"/>
                </a:solidFill>
                <a:latin typeface="Tahoma" panose="020B0604030504040204" pitchFamily="34" charset="0"/>
                <a:cs typeface="Arial" panose="020B0604020202020204" pitchFamily="34" charset="0"/>
              </a:endParaRPr>
            </a:p>
          </p:txBody>
        </p:sp>
        <p:sp>
          <p:nvSpPr>
            <p:cNvPr id="1049202" name="Text Box 63"/>
            <p:cNvSpPr txBox="1">
              <a:spLocks noChangeArrowheads="1"/>
            </p:cNvSpPr>
            <p:nvPr/>
          </p:nvSpPr>
          <p:spPr bwMode="auto">
            <a:xfrm>
              <a:off x="4272" y="1413"/>
              <a:ext cx="652" cy="250"/>
            </a:xfrm>
            <a:prstGeom prst="rect">
              <a:avLst/>
            </a:prstGeom>
            <a:noFill/>
            <a:ln w="9525">
              <a:noFill/>
              <a:miter lim="800000"/>
            </a:ln>
          </p:spPr>
          <p:txBody>
            <a:bodyPr wrap="none">
              <a:spAutoFit/>
            </a:bodyPr>
            <a:lstStyle/>
            <a:p>
              <a:pPr fontAlgn="base">
                <a:spcBef>
                  <a:spcPct val="0"/>
                </a:spcBef>
                <a:spcAft>
                  <a:spcPct val="0"/>
                </a:spcAft>
              </a:pPr>
              <a:r>
                <a:rPr lang="en-US">
                  <a:solidFill>
                    <a:prstClr val="black"/>
                  </a:solidFill>
                  <a:latin typeface="Tahoma" panose="020B0604030504040204" pitchFamily="34" charset="0"/>
                  <a:cs typeface="Arial" panose="020B0604020202020204" pitchFamily="34" charset="0"/>
                </a:rPr>
                <a:t>PORT #</a:t>
              </a:r>
            </a:p>
          </p:txBody>
        </p:sp>
        <p:sp>
          <p:nvSpPr>
            <p:cNvPr id="1049203" name="Oval 69"/>
            <p:cNvSpPr>
              <a:spLocks noChangeArrowheads="1"/>
            </p:cNvSpPr>
            <p:nvPr/>
          </p:nvSpPr>
          <p:spPr bwMode="auto">
            <a:xfrm>
              <a:off x="4032" y="1584"/>
              <a:ext cx="240" cy="96"/>
            </a:xfrm>
            <a:prstGeom prst="ellipse">
              <a:avLst/>
            </a:prstGeom>
            <a:solidFill>
              <a:schemeClr val="folHlink"/>
            </a:solidFill>
            <a:ln w="9525">
              <a:solidFill>
                <a:schemeClr val="tx1"/>
              </a:solidFill>
              <a:round/>
            </a:ln>
          </p:spPr>
          <p:txBody>
            <a:bodyPr wrap="none" anchor="ctr"/>
            <a:lstStyle/>
            <a:p>
              <a:pPr fontAlgn="base">
                <a:spcBef>
                  <a:spcPct val="0"/>
                </a:spcBef>
                <a:spcAft>
                  <a:spcPct val="0"/>
                </a:spcAft>
              </a:pPr>
              <a:endParaRPr lang="en-US">
                <a:solidFill>
                  <a:prstClr val="black"/>
                </a:solidFill>
                <a:latin typeface="Tahoma" panose="020B0604030504040204" pitchFamily="34" charset="0"/>
                <a:cs typeface="Arial" panose="020B0604020202020204" pitchFamily="34" charset="0"/>
              </a:endParaRPr>
            </a:p>
          </p:txBody>
        </p:sp>
      </p:grpSp>
    </p:spTree>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172"/>
                                        </p:tgtEl>
                                        <p:attrNameLst>
                                          <p:attrName>style.visibility</p:attrName>
                                        </p:attrNameLst>
                                      </p:cBhvr>
                                      <p:to>
                                        <p:strVal val="visible"/>
                                      </p:to>
                                    </p:set>
                                    <p:animEffect transition="in" filter="wipe(up)">
                                      <p:cBhvr>
                                        <p:cTn id="7" dur="500"/>
                                        <p:tgtEl>
                                          <p:spTgt spid="172"/>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grpId="0" nodeType="clickEffect">
                                  <p:stCondLst>
                                    <p:cond delay="0"/>
                                  </p:stCondLst>
                                  <p:childTnLst>
                                    <p:set>
                                      <p:cBhvr>
                                        <p:cTn id="11" dur="1" fill="hold">
                                          <p:stCondLst>
                                            <p:cond delay="0"/>
                                          </p:stCondLst>
                                        </p:cTn>
                                        <p:tgtEl>
                                          <p:spTgt spid="1049151"/>
                                        </p:tgtEl>
                                        <p:attrNameLst>
                                          <p:attrName>style.visibility</p:attrName>
                                        </p:attrNameLst>
                                      </p:cBhvr>
                                      <p:to>
                                        <p:strVal val="visible"/>
                                      </p:to>
                                    </p:set>
                                    <p:anim calcmode="lin" valueType="num">
                                      <p:cBhvr additive="base">
                                        <p:cTn id="12" dur="500" fill="hold"/>
                                        <p:tgtEl>
                                          <p:spTgt spid="1049151"/>
                                        </p:tgtEl>
                                        <p:attrNameLst>
                                          <p:attrName>ppt_x</p:attrName>
                                        </p:attrNameLst>
                                      </p:cBhvr>
                                      <p:tavLst>
                                        <p:tav tm="0">
                                          <p:val>
                                            <p:strVal val="0-#ppt_w/2"/>
                                          </p:val>
                                        </p:tav>
                                        <p:tav tm="100000">
                                          <p:val>
                                            <p:strVal val="#ppt_x"/>
                                          </p:val>
                                        </p:tav>
                                      </p:tavLst>
                                    </p:anim>
                                    <p:anim calcmode="lin" valueType="num">
                                      <p:cBhvr additive="base">
                                        <p:cTn id="13" dur="500" fill="hold"/>
                                        <p:tgtEl>
                                          <p:spTgt spid="1049151"/>
                                        </p:tgtEl>
                                        <p:attrNameLst>
                                          <p:attrName>ppt_y</p:attrName>
                                        </p:attrNameLst>
                                      </p:cBhvr>
                                      <p:tavLst>
                                        <p:tav tm="0">
                                          <p:val>
                                            <p:strVal val="#ppt_y"/>
                                          </p:val>
                                        </p:tav>
                                        <p:tav tm="100000">
                                          <p:val>
                                            <p:strVal val="#ppt_y"/>
                                          </p:val>
                                        </p:tav>
                                      </p:tavLst>
                                    </p:anim>
                                  </p:childTnLst>
                                </p:cTn>
                              </p:par>
                            </p:childTnLst>
                          </p:cTn>
                        </p:par>
                        <p:par>
                          <p:cTn id="14" fill="hold">
                            <p:stCondLst>
                              <p:cond delay="500"/>
                            </p:stCondLst>
                            <p:childTnLst>
                              <p:par>
                                <p:cTn id="15" presetID="22" presetClass="entr" presetSubtype="1" fill="hold" grpId="0" nodeType="afterEffect">
                                  <p:stCondLst>
                                    <p:cond delay="0"/>
                                  </p:stCondLst>
                                  <p:childTnLst>
                                    <p:set>
                                      <p:cBhvr>
                                        <p:cTn id="16" dur="1" fill="hold">
                                          <p:stCondLst>
                                            <p:cond delay="0"/>
                                          </p:stCondLst>
                                        </p:cTn>
                                        <p:tgtEl>
                                          <p:spTgt spid="1049153"/>
                                        </p:tgtEl>
                                        <p:attrNameLst>
                                          <p:attrName>style.visibility</p:attrName>
                                        </p:attrNameLst>
                                      </p:cBhvr>
                                      <p:to>
                                        <p:strVal val="visible"/>
                                      </p:to>
                                    </p:set>
                                    <p:animEffect transition="in" filter="wipe(up)">
                                      <p:cBhvr>
                                        <p:cTn id="17" dur="500"/>
                                        <p:tgtEl>
                                          <p:spTgt spid="1049153"/>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1049164"/>
                                        </p:tgtEl>
                                        <p:attrNameLst>
                                          <p:attrName>style.visibility</p:attrName>
                                        </p:attrNameLst>
                                      </p:cBhvr>
                                      <p:to>
                                        <p:strVal val="visible"/>
                                      </p:to>
                                    </p:set>
                                    <p:animEffect transition="in" filter="wipe(up)">
                                      <p:cBhvr>
                                        <p:cTn id="22" dur="500"/>
                                        <p:tgtEl>
                                          <p:spTgt spid="1049164"/>
                                        </p:tgtEl>
                                      </p:cBhvr>
                                    </p:animEffect>
                                  </p:childTnLst>
                                </p:cTn>
                              </p:par>
                              <p:par>
                                <p:cTn id="23" presetID="22" presetClass="entr" presetSubtype="1" fill="hold" grpId="0" nodeType="withEffect">
                                  <p:stCondLst>
                                    <p:cond delay="0"/>
                                  </p:stCondLst>
                                  <p:childTnLst>
                                    <p:set>
                                      <p:cBhvr>
                                        <p:cTn id="24" dur="1" fill="hold">
                                          <p:stCondLst>
                                            <p:cond delay="0"/>
                                          </p:stCondLst>
                                        </p:cTn>
                                        <p:tgtEl>
                                          <p:spTgt spid="1049188"/>
                                        </p:tgtEl>
                                        <p:attrNameLst>
                                          <p:attrName>style.visibility</p:attrName>
                                        </p:attrNameLst>
                                      </p:cBhvr>
                                      <p:to>
                                        <p:strVal val="visible"/>
                                      </p:to>
                                    </p:set>
                                    <p:animEffect transition="in" filter="wipe(up)">
                                      <p:cBhvr>
                                        <p:cTn id="25" dur="500"/>
                                        <p:tgtEl>
                                          <p:spTgt spid="1049188"/>
                                        </p:tgtEl>
                                      </p:cBhvr>
                                    </p:animEffect>
                                  </p:childTnLst>
                                </p:cTn>
                              </p:par>
                              <p:par>
                                <p:cTn id="26" presetID="22" presetClass="entr" presetSubtype="1" fill="hold" grpId="0" nodeType="withEffect">
                                  <p:stCondLst>
                                    <p:cond delay="0"/>
                                  </p:stCondLst>
                                  <p:childTnLst>
                                    <p:set>
                                      <p:cBhvr>
                                        <p:cTn id="27" dur="1" fill="hold">
                                          <p:stCondLst>
                                            <p:cond delay="0"/>
                                          </p:stCondLst>
                                        </p:cTn>
                                        <p:tgtEl>
                                          <p:spTgt spid="1049165"/>
                                        </p:tgtEl>
                                        <p:attrNameLst>
                                          <p:attrName>style.visibility</p:attrName>
                                        </p:attrNameLst>
                                      </p:cBhvr>
                                      <p:to>
                                        <p:strVal val="visible"/>
                                      </p:to>
                                    </p:set>
                                    <p:animEffect transition="in" filter="wipe(up)">
                                      <p:cBhvr>
                                        <p:cTn id="28" dur="500"/>
                                        <p:tgtEl>
                                          <p:spTgt spid="1049165"/>
                                        </p:tgtEl>
                                      </p:cBhvr>
                                    </p:animEffect>
                                  </p:childTnLst>
                                </p:cTn>
                              </p:par>
                              <p:par>
                                <p:cTn id="29" presetID="22" presetClass="entr" presetSubtype="1" fill="hold" grpId="0" nodeType="withEffect">
                                  <p:stCondLst>
                                    <p:cond delay="0"/>
                                  </p:stCondLst>
                                  <p:childTnLst>
                                    <p:set>
                                      <p:cBhvr>
                                        <p:cTn id="30" dur="1" fill="hold">
                                          <p:stCondLst>
                                            <p:cond delay="0"/>
                                          </p:stCondLst>
                                        </p:cTn>
                                        <p:tgtEl>
                                          <p:spTgt spid="1049166"/>
                                        </p:tgtEl>
                                        <p:attrNameLst>
                                          <p:attrName>style.visibility</p:attrName>
                                        </p:attrNameLst>
                                      </p:cBhvr>
                                      <p:to>
                                        <p:strVal val="visible"/>
                                      </p:to>
                                    </p:set>
                                    <p:animEffect transition="in" filter="wipe(up)">
                                      <p:cBhvr>
                                        <p:cTn id="31" dur="500"/>
                                        <p:tgtEl>
                                          <p:spTgt spid="1049166"/>
                                        </p:tgtEl>
                                      </p:cBhvr>
                                    </p:animEffect>
                                  </p:childTnLst>
                                </p:cTn>
                              </p:par>
                              <p:par>
                                <p:cTn id="32" presetID="22" presetClass="entr" presetSubtype="1" fill="hold" grpId="0" nodeType="withEffect">
                                  <p:stCondLst>
                                    <p:cond delay="0"/>
                                  </p:stCondLst>
                                  <p:childTnLst>
                                    <p:set>
                                      <p:cBhvr>
                                        <p:cTn id="33" dur="1" fill="hold">
                                          <p:stCondLst>
                                            <p:cond delay="0"/>
                                          </p:stCondLst>
                                        </p:cTn>
                                        <p:tgtEl>
                                          <p:spTgt spid="1049189"/>
                                        </p:tgtEl>
                                        <p:attrNameLst>
                                          <p:attrName>style.visibility</p:attrName>
                                        </p:attrNameLst>
                                      </p:cBhvr>
                                      <p:to>
                                        <p:strVal val="visible"/>
                                      </p:to>
                                    </p:set>
                                    <p:animEffect transition="in" filter="wipe(up)">
                                      <p:cBhvr>
                                        <p:cTn id="34" dur="500"/>
                                        <p:tgtEl>
                                          <p:spTgt spid="1049189"/>
                                        </p:tgtEl>
                                      </p:cBhvr>
                                    </p:animEffect>
                                  </p:childTnLst>
                                </p:cTn>
                              </p:par>
                              <p:par>
                                <p:cTn id="35" presetID="22" presetClass="entr" presetSubtype="1" fill="hold" grpId="0" nodeType="withEffect">
                                  <p:stCondLst>
                                    <p:cond delay="0"/>
                                  </p:stCondLst>
                                  <p:childTnLst>
                                    <p:set>
                                      <p:cBhvr>
                                        <p:cTn id="36" dur="1" fill="hold">
                                          <p:stCondLst>
                                            <p:cond delay="0"/>
                                          </p:stCondLst>
                                        </p:cTn>
                                        <p:tgtEl>
                                          <p:spTgt spid="1049167"/>
                                        </p:tgtEl>
                                        <p:attrNameLst>
                                          <p:attrName>style.visibility</p:attrName>
                                        </p:attrNameLst>
                                      </p:cBhvr>
                                      <p:to>
                                        <p:strVal val="visible"/>
                                      </p:to>
                                    </p:set>
                                    <p:animEffect transition="in" filter="wipe(up)">
                                      <p:cBhvr>
                                        <p:cTn id="37" dur="500"/>
                                        <p:tgtEl>
                                          <p:spTgt spid="1049167"/>
                                        </p:tgtEl>
                                      </p:cBhvr>
                                    </p:animEffect>
                                  </p:childTnLst>
                                </p:cTn>
                              </p:par>
                              <p:par>
                                <p:cTn id="38" presetID="22" presetClass="entr" presetSubtype="1" fill="hold" grpId="0" nodeType="withEffect">
                                  <p:stCondLst>
                                    <p:cond delay="0"/>
                                  </p:stCondLst>
                                  <p:childTnLst>
                                    <p:set>
                                      <p:cBhvr>
                                        <p:cTn id="39" dur="1" fill="hold">
                                          <p:stCondLst>
                                            <p:cond delay="0"/>
                                          </p:stCondLst>
                                        </p:cTn>
                                        <p:tgtEl>
                                          <p:spTgt spid="1049168"/>
                                        </p:tgtEl>
                                        <p:attrNameLst>
                                          <p:attrName>style.visibility</p:attrName>
                                        </p:attrNameLst>
                                      </p:cBhvr>
                                      <p:to>
                                        <p:strVal val="visible"/>
                                      </p:to>
                                    </p:set>
                                    <p:animEffect transition="in" filter="wipe(up)">
                                      <p:cBhvr>
                                        <p:cTn id="40" dur="500"/>
                                        <p:tgtEl>
                                          <p:spTgt spid="1049168"/>
                                        </p:tgtEl>
                                      </p:cBhvr>
                                    </p:animEffect>
                                  </p:childTnLst>
                                </p:cTn>
                              </p:par>
                              <p:par>
                                <p:cTn id="41" presetID="22" presetClass="entr" presetSubtype="1" fill="hold" grpId="0" nodeType="withEffect">
                                  <p:stCondLst>
                                    <p:cond delay="0"/>
                                  </p:stCondLst>
                                  <p:childTnLst>
                                    <p:set>
                                      <p:cBhvr>
                                        <p:cTn id="42" dur="1" fill="hold">
                                          <p:stCondLst>
                                            <p:cond delay="0"/>
                                          </p:stCondLst>
                                        </p:cTn>
                                        <p:tgtEl>
                                          <p:spTgt spid="1049190"/>
                                        </p:tgtEl>
                                        <p:attrNameLst>
                                          <p:attrName>style.visibility</p:attrName>
                                        </p:attrNameLst>
                                      </p:cBhvr>
                                      <p:to>
                                        <p:strVal val="visible"/>
                                      </p:to>
                                    </p:set>
                                    <p:animEffect transition="in" filter="wipe(up)">
                                      <p:cBhvr>
                                        <p:cTn id="43" dur="500"/>
                                        <p:tgtEl>
                                          <p:spTgt spid="1049190"/>
                                        </p:tgtEl>
                                      </p:cBhvr>
                                    </p:animEffect>
                                  </p:childTnLst>
                                </p:cTn>
                              </p:par>
                              <p:par>
                                <p:cTn id="44" presetID="22" presetClass="entr" presetSubtype="1" fill="hold" grpId="0" nodeType="withEffect">
                                  <p:stCondLst>
                                    <p:cond delay="0"/>
                                  </p:stCondLst>
                                  <p:childTnLst>
                                    <p:set>
                                      <p:cBhvr>
                                        <p:cTn id="45" dur="1" fill="hold">
                                          <p:stCondLst>
                                            <p:cond delay="0"/>
                                          </p:stCondLst>
                                        </p:cTn>
                                        <p:tgtEl>
                                          <p:spTgt spid="1049169"/>
                                        </p:tgtEl>
                                        <p:attrNameLst>
                                          <p:attrName>style.visibility</p:attrName>
                                        </p:attrNameLst>
                                      </p:cBhvr>
                                      <p:to>
                                        <p:strVal val="visible"/>
                                      </p:to>
                                    </p:set>
                                    <p:animEffect transition="in" filter="wipe(up)">
                                      <p:cBhvr>
                                        <p:cTn id="46" dur="500"/>
                                        <p:tgtEl>
                                          <p:spTgt spid="1049169"/>
                                        </p:tgtEl>
                                      </p:cBhvr>
                                    </p:animEffect>
                                  </p:childTnLst>
                                </p:cTn>
                              </p:par>
                            </p:childTnLst>
                          </p:cTn>
                        </p:par>
                        <p:par>
                          <p:cTn id="47" fill="hold">
                            <p:stCondLst>
                              <p:cond delay="500"/>
                            </p:stCondLst>
                            <p:childTnLst>
                              <p:par>
                                <p:cTn id="48" presetID="9" presetClass="entr" presetSubtype="0" fill="hold" grpId="0" nodeType="afterEffect">
                                  <p:stCondLst>
                                    <p:cond delay="0"/>
                                  </p:stCondLst>
                                  <p:childTnLst>
                                    <p:set>
                                      <p:cBhvr>
                                        <p:cTn id="49" dur="1" fill="hold">
                                          <p:stCondLst>
                                            <p:cond delay="0"/>
                                          </p:stCondLst>
                                        </p:cTn>
                                        <p:tgtEl>
                                          <p:spTgt spid="1049154"/>
                                        </p:tgtEl>
                                        <p:attrNameLst>
                                          <p:attrName>style.visibility</p:attrName>
                                        </p:attrNameLst>
                                      </p:cBhvr>
                                      <p:to>
                                        <p:strVal val="visible"/>
                                      </p:to>
                                    </p:set>
                                    <p:animEffect transition="in" filter="dissolve">
                                      <p:cBhvr>
                                        <p:cTn id="50" dur="500"/>
                                        <p:tgtEl>
                                          <p:spTgt spid="1049154"/>
                                        </p:tgtEl>
                                      </p:cBhvr>
                                    </p:animEffect>
                                  </p:childTnLst>
                                </p:cTn>
                              </p:par>
                              <p:par>
                                <p:cTn id="51" presetID="9" presetClass="entr" presetSubtype="0" fill="hold" grpId="0" nodeType="withEffect">
                                  <p:stCondLst>
                                    <p:cond delay="0"/>
                                  </p:stCondLst>
                                  <p:childTnLst>
                                    <p:set>
                                      <p:cBhvr>
                                        <p:cTn id="52" dur="1" fill="hold">
                                          <p:stCondLst>
                                            <p:cond delay="0"/>
                                          </p:stCondLst>
                                        </p:cTn>
                                        <p:tgtEl>
                                          <p:spTgt spid="1049155"/>
                                        </p:tgtEl>
                                        <p:attrNameLst>
                                          <p:attrName>style.visibility</p:attrName>
                                        </p:attrNameLst>
                                      </p:cBhvr>
                                      <p:to>
                                        <p:strVal val="visible"/>
                                      </p:to>
                                    </p:set>
                                    <p:animEffect transition="in" filter="dissolve">
                                      <p:cBhvr>
                                        <p:cTn id="53" dur="500"/>
                                        <p:tgtEl>
                                          <p:spTgt spid="1049155"/>
                                        </p:tgtEl>
                                      </p:cBhvr>
                                    </p:animEffect>
                                  </p:childTnLst>
                                </p:cTn>
                              </p:par>
                              <p:par>
                                <p:cTn id="54" presetID="9" presetClass="entr" presetSubtype="0" fill="hold" grpId="0" nodeType="withEffect">
                                  <p:stCondLst>
                                    <p:cond delay="0"/>
                                  </p:stCondLst>
                                  <p:childTnLst>
                                    <p:set>
                                      <p:cBhvr>
                                        <p:cTn id="55" dur="1" fill="hold">
                                          <p:stCondLst>
                                            <p:cond delay="0"/>
                                          </p:stCondLst>
                                        </p:cTn>
                                        <p:tgtEl>
                                          <p:spTgt spid="1049156"/>
                                        </p:tgtEl>
                                        <p:attrNameLst>
                                          <p:attrName>style.visibility</p:attrName>
                                        </p:attrNameLst>
                                      </p:cBhvr>
                                      <p:to>
                                        <p:strVal val="visible"/>
                                      </p:to>
                                    </p:set>
                                    <p:animEffect transition="in" filter="dissolve">
                                      <p:cBhvr>
                                        <p:cTn id="56" dur="500"/>
                                        <p:tgtEl>
                                          <p:spTgt spid="1049156"/>
                                        </p:tgtEl>
                                      </p:cBhvr>
                                    </p:animEffect>
                                  </p:childTnLst>
                                </p:cTn>
                              </p:par>
                            </p:childTnLst>
                          </p:cTn>
                        </p:par>
                      </p:childTnLst>
                    </p:cTn>
                  </p:par>
                  <p:par>
                    <p:cTn id="57" fill="hold">
                      <p:stCondLst>
                        <p:cond delay="indefinite"/>
                      </p:stCondLst>
                      <p:childTnLst>
                        <p:par>
                          <p:cTn id="58" fill="hold">
                            <p:stCondLst>
                              <p:cond delay="0"/>
                            </p:stCondLst>
                            <p:childTnLst>
                              <p:par>
                                <p:cTn id="59" presetID="2" presetClass="entr" presetSubtype="2" fill="hold" grpId="0" nodeType="clickEffect">
                                  <p:stCondLst>
                                    <p:cond delay="0"/>
                                  </p:stCondLst>
                                  <p:childTnLst>
                                    <p:set>
                                      <p:cBhvr>
                                        <p:cTn id="60" dur="1" fill="hold">
                                          <p:stCondLst>
                                            <p:cond delay="0"/>
                                          </p:stCondLst>
                                        </p:cTn>
                                        <p:tgtEl>
                                          <p:spTgt spid="1049157"/>
                                        </p:tgtEl>
                                        <p:attrNameLst>
                                          <p:attrName>style.visibility</p:attrName>
                                        </p:attrNameLst>
                                      </p:cBhvr>
                                      <p:to>
                                        <p:strVal val="visible"/>
                                      </p:to>
                                    </p:set>
                                    <p:anim calcmode="lin" valueType="num">
                                      <p:cBhvr additive="base">
                                        <p:cTn id="61" dur="500" fill="hold"/>
                                        <p:tgtEl>
                                          <p:spTgt spid="1049157"/>
                                        </p:tgtEl>
                                        <p:attrNameLst>
                                          <p:attrName>ppt_x</p:attrName>
                                        </p:attrNameLst>
                                      </p:cBhvr>
                                      <p:tavLst>
                                        <p:tav tm="0">
                                          <p:val>
                                            <p:strVal val="1+#ppt_w/2"/>
                                          </p:val>
                                        </p:tav>
                                        <p:tav tm="100000">
                                          <p:val>
                                            <p:strVal val="#ppt_x"/>
                                          </p:val>
                                        </p:tav>
                                      </p:tavLst>
                                    </p:anim>
                                    <p:anim calcmode="lin" valueType="num">
                                      <p:cBhvr additive="base">
                                        <p:cTn id="62" dur="500" fill="hold"/>
                                        <p:tgtEl>
                                          <p:spTgt spid="1049157"/>
                                        </p:tgtEl>
                                        <p:attrNameLst>
                                          <p:attrName>ppt_y</p:attrName>
                                        </p:attrNameLst>
                                      </p:cBhvr>
                                      <p:tavLst>
                                        <p:tav tm="0">
                                          <p:val>
                                            <p:strVal val="#ppt_y"/>
                                          </p:val>
                                        </p:tav>
                                        <p:tav tm="100000">
                                          <p:val>
                                            <p:strVal val="#ppt_y"/>
                                          </p:val>
                                        </p:tav>
                                      </p:tavLst>
                                    </p:anim>
                                  </p:childTnLst>
                                </p:cTn>
                              </p:par>
                            </p:childTnLst>
                          </p:cTn>
                        </p:par>
                        <p:par>
                          <p:cTn id="63" fill="hold">
                            <p:stCondLst>
                              <p:cond delay="500"/>
                            </p:stCondLst>
                            <p:childTnLst>
                              <p:par>
                                <p:cTn id="64" presetID="2" presetClass="entr" presetSubtype="2" fill="hold" grpId="0" nodeType="afterEffect">
                                  <p:stCondLst>
                                    <p:cond delay="0"/>
                                  </p:stCondLst>
                                  <p:childTnLst>
                                    <p:set>
                                      <p:cBhvr>
                                        <p:cTn id="65" dur="1" fill="hold">
                                          <p:stCondLst>
                                            <p:cond delay="0"/>
                                          </p:stCondLst>
                                        </p:cTn>
                                        <p:tgtEl>
                                          <p:spTgt spid="1049158"/>
                                        </p:tgtEl>
                                        <p:attrNameLst>
                                          <p:attrName>style.visibility</p:attrName>
                                        </p:attrNameLst>
                                      </p:cBhvr>
                                      <p:to>
                                        <p:strVal val="visible"/>
                                      </p:to>
                                    </p:set>
                                    <p:anim calcmode="lin" valueType="num">
                                      <p:cBhvr additive="base">
                                        <p:cTn id="66" dur="500" fill="hold"/>
                                        <p:tgtEl>
                                          <p:spTgt spid="1049158"/>
                                        </p:tgtEl>
                                        <p:attrNameLst>
                                          <p:attrName>ppt_x</p:attrName>
                                        </p:attrNameLst>
                                      </p:cBhvr>
                                      <p:tavLst>
                                        <p:tav tm="0">
                                          <p:val>
                                            <p:strVal val="1+#ppt_w/2"/>
                                          </p:val>
                                        </p:tav>
                                        <p:tav tm="100000">
                                          <p:val>
                                            <p:strVal val="#ppt_x"/>
                                          </p:val>
                                        </p:tav>
                                      </p:tavLst>
                                    </p:anim>
                                    <p:anim calcmode="lin" valueType="num">
                                      <p:cBhvr additive="base">
                                        <p:cTn id="67" dur="500" fill="hold"/>
                                        <p:tgtEl>
                                          <p:spTgt spid="1049158"/>
                                        </p:tgtEl>
                                        <p:attrNameLst>
                                          <p:attrName>ppt_y</p:attrName>
                                        </p:attrNameLst>
                                      </p:cBhvr>
                                      <p:tavLst>
                                        <p:tav tm="0">
                                          <p:val>
                                            <p:strVal val="#ppt_y"/>
                                          </p:val>
                                        </p:tav>
                                        <p:tav tm="100000">
                                          <p:val>
                                            <p:strVal val="#ppt_y"/>
                                          </p:val>
                                        </p:tav>
                                      </p:tavLst>
                                    </p:anim>
                                  </p:childTnLst>
                                </p:cTn>
                              </p:par>
                            </p:childTnLst>
                          </p:cTn>
                        </p:par>
                        <p:par>
                          <p:cTn id="68" fill="hold">
                            <p:stCondLst>
                              <p:cond delay="1000"/>
                            </p:stCondLst>
                            <p:childTnLst>
                              <p:par>
                                <p:cTn id="69" presetID="2" presetClass="entr" presetSubtype="2" fill="hold" grpId="0" nodeType="afterEffect">
                                  <p:stCondLst>
                                    <p:cond delay="0"/>
                                  </p:stCondLst>
                                  <p:childTnLst>
                                    <p:set>
                                      <p:cBhvr>
                                        <p:cTn id="70" dur="1" fill="hold">
                                          <p:stCondLst>
                                            <p:cond delay="0"/>
                                          </p:stCondLst>
                                        </p:cTn>
                                        <p:tgtEl>
                                          <p:spTgt spid="1049159"/>
                                        </p:tgtEl>
                                        <p:attrNameLst>
                                          <p:attrName>style.visibility</p:attrName>
                                        </p:attrNameLst>
                                      </p:cBhvr>
                                      <p:to>
                                        <p:strVal val="visible"/>
                                      </p:to>
                                    </p:set>
                                    <p:anim calcmode="lin" valueType="num">
                                      <p:cBhvr additive="base">
                                        <p:cTn id="71" dur="500" fill="hold"/>
                                        <p:tgtEl>
                                          <p:spTgt spid="1049159"/>
                                        </p:tgtEl>
                                        <p:attrNameLst>
                                          <p:attrName>ppt_x</p:attrName>
                                        </p:attrNameLst>
                                      </p:cBhvr>
                                      <p:tavLst>
                                        <p:tav tm="0">
                                          <p:val>
                                            <p:strVal val="1+#ppt_w/2"/>
                                          </p:val>
                                        </p:tav>
                                        <p:tav tm="100000">
                                          <p:val>
                                            <p:strVal val="#ppt_x"/>
                                          </p:val>
                                        </p:tav>
                                      </p:tavLst>
                                    </p:anim>
                                    <p:anim calcmode="lin" valueType="num">
                                      <p:cBhvr additive="base">
                                        <p:cTn id="72" dur="500" fill="hold"/>
                                        <p:tgtEl>
                                          <p:spTgt spid="1049159"/>
                                        </p:tgtEl>
                                        <p:attrNameLst>
                                          <p:attrName>ppt_y</p:attrName>
                                        </p:attrNameLst>
                                      </p:cBhvr>
                                      <p:tavLst>
                                        <p:tav tm="0">
                                          <p:val>
                                            <p:strVal val="#ppt_y"/>
                                          </p:val>
                                        </p:tav>
                                        <p:tav tm="100000">
                                          <p:val>
                                            <p:strVal val="#ppt_y"/>
                                          </p:val>
                                        </p:tav>
                                      </p:tavLst>
                                    </p:anim>
                                  </p:childTnLst>
                                </p:cTn>
                              </p:par>
                            </p:childTnLst>
                          </p:cTn>
                        </p:par>
                      </p:childTnLst>
                    </p:cTn>
                  </p:par>
                  <p:par>
                    <p:cTn id="73" fill="hold">
                      <p:stCondLst>
                        <p:cond delay="indefinite"/>
                      </p:stCondLst>
                      <p:childTnLst>
                        <p:par>
                          <p:cTn id="74" fill="hold">
                            <p:stCondLst>
                              <p:cond delay="0"/>
                            </p:stCondLst>
                            <p:childTnLst>
                              <p:par>
                                <p:cTn id="75" presetID="9" presetClass="entr" presetSubtype="0" fill="hold" grpId="0" nodeType="clickEffect">
                                  <p:stCondLst>
                                    <p:cond delay="0"/>
                                  </p:stCondLst>
                                  <p:childTnLst>
                                    <p:set>
                                      <p:cBhvr>
                                        <p:cTn id="76" dur="1" fill="hold">
                                          <p:stCondLst>
                                            <p:cond delay="0"/>
                                          </p:stCondLst>
                                        </p:cTn>
                                        <p:tgtEl>
                                          <p:spTgt spid="1049191"/>
                                        </p:tgtEl>
                                        <p:attrNameLst>
                                          <p:attrName>style.visibility</p:attrName>
                                        </p:attrNameLst>
                                      </p:cBhvr>
                                      <p:to>
                                        <p:strVal val="visible"/>
                                      </p:to>
                                    </p:set>
                                    <p:animEffect transition="in" filter="dissolve">
                                      <p:cBhvr>
                                        <p:cTn id="77" dur="500"/>
                                        <p:tgtEl>
                                          <p:spTgt spid="1049191"/>
                                        </p:tgtEl>
                                      </p:cBhvr>
                                    </p:animEffect>
                                  </p:childTnLst>
                                </p:cTn>
                              </p:par>
                            </p:childTnLst>
                          </p:cTn>
                        </p:par>
                      </p:childTnLst>
                    </p:cTn>
                  </p:par>
                  <p:par>
                    <p:cTn id="78" fill="hold">
                      <p:stCondLst>
                        <p:cond delay="indefinite"/>
                      </p:stCondLst>
                      <p:childTnLst>
                        <p:par>
                          <p:cTn id="79" fill="hold">
                            <p:stCondLst>
                              <p:cond delay="0"/>
                            </p:stCondLst>
                            <p:childTnLst>
                              <p:par>
                                <p:cTn id="80" presetID="22" presetClass="entr" presetSubtype="1" fill="hold" grpId="0" nodeType="clickEffect">
                                  <p:stCondLst>
                                    <p:cond delay="0"/>
                                  </p:stCondLst>
                                  <p:childTnLst>
                                    <p:set>
                                      <p:cBhvr>
                                        <p:cTn id="81" dur="1" fill="hold">
                                          <p:stCondLst>
                                            <p:cond delay="0"/>
                                          </p:stCondLst>
                                        </p:cTn>
                                        <p:tgtEl>
                                          <p:spTgt spid="1049160"/>
                                        </p:tgtEl>
                                        <p:attrNameLst>
                                          <p:attrName>style.visibility</p:attrName>
                                        </p:attrNameLst>
                                      </p:cBhvr>
                                      <p:to>
                                        <p:strVal val="visible"/>
                                      </p:to>
                                    </p:set>
                                    <p:animEffect transition="in" filter="wipe(up)">
                                      <p:cBhvr>
                                        <p:cTn id="82" dur="500"/>
                                        <p:tgtEl>
                                          <p:spTgt spid="1049160"/>
                                        </p:tgtEl>
                                      </p:cBhvr>
                                    </p:animEffect>
                                  </p:childTnLst>
                                </p:cTn>
                              </p:par>
                              <p:par>
                                <p:cTn id="83" presetID="22" presetClass="entr" presetSubtype="1" fill="hold" grpId="0" nodeType="withEffect">
                                  <p:stCondLst>
                                    <p:cond delay="0"/>
                                  </p:stCondLst>
                                  <p:childTnLst>
                                    <p:set>
                                      <p:cBhvr>
                                        <p:cTn id="84" dur="1" fill="hold">
                                          <p:stCondLst>
                                            <p:cond delay="0"/>
                                          </p:stCondLst>
                                        </p:cTn>
                                        <p:tgtEl>
                                          <p:spTgt spid="1049161"/>
                                        </p:tgtEl>
                                        <p:attrNameLst>
                                          <p:attrName>style.visibility</p:attrName>
                                        </p:attrNameLst>
                                      </p:cBhvr>
                                      <p:to>
                                        <p:strVal val="visible"/>
                                      </p:to>
                                    </p:set>
                                    <p:animEffect transition="in" filter="wipe(up)">
                                      <p:cBhvr>
                                        <p:cTn id="85" dur="500"/>
                                        <p:tgtEl>
                                          <p:spTgt spid="1049161"/>
                                        </p:tgtEl>
                                      </p:cBhvr>
                                    </p:animEffect>
                                  </p:childTnLst>
                                </p:cTn>
                              </p:par>
                              <p:par>
                                <p:cTn id="86" presetID="22" presetClass="entr" presetSubtype="1" fill="hold" grpId="0" nodeType="withEffect">
                                  <p:stCondLst>
                                    <p:cond delay="0"/>
                                  </p:stCondLst>
                                  <p:childTnLst>
                                    <p:set>
                                      <p:cBhvr>
                                        <p:cTn id="87" dur="1" fill="hold">
                                          <p:stCondLst>
                                            <p:cond delay="0"/>
                                          </p:stCondLst>
                                        </p:cTn>
                                        <p:tgtEl>
                                          <p:spTgt spid="1049162"/>
                                        </p:tgtEl>
                                        <p:attrNameLst>
                                          <p:attrName>style.visibility</p:attrName>
                                        </p:attrNameLst>
                                      </p:cBhvr>
                                      <p:to>
                                        <p:strVal val="visible"/>
                                      </p:to>
                                    </p:set>
                                    <p:animEffect transition="in" filter="wipe(up)">
                                      <p:cBhvr>
                                        <p:cTn id="88" dur="500"/>
                                        <p:tgtEl>
                                          <p:spTgt spid="1049162"/>
                                        </p:tgtEl>
                                      </p:cBhvr>
                                    </p:animEffect>
                                  </p:childTnLst>
                                </p:cTn>
                              </p:par>
                              <p:par>
                                <p:cTn id="89" presetID="9" presetClass="entr" presetSubtype="0" fill="hold" grpId="0" nodeType="withEffect">
                                  <p:stCondLst>
                                    <p:cond delay="0"/>
                                  </p:stCondLst>
                                  <p:childTnLst>
                                    <p:set>
                                      <p:cBhvr>
                                        <p:cTn id="90" dur="1" fill="hold">
                                          <p:stCondLst>
                                            <p:cond delay="0"/>
                                          </p:stCondLst>
                                        </p:cTn>
                                        <p:tgtEl>
                                          <p:spTgt spid="1049163"/>
                                        </p:tgtEl>
                                        <p:attrNameLst>
                                          <p:attrName>style.visibility</p:attrName>
                                        </p:attrNameLst>
                                      </p:cBhvr>
                                      <p:to>
                                        <p:strVal val="visible"/>
                                      </p:to>
                                    </p:set>
                                    <p:animEffect transition="in" filter="dissolve">
                                      <p:cBhvr>
                                        <p:cTn id="91" dur="500"/>
                                        <p:tgtEl>
                                          <p:spTgt spid="1049163"/>
                                        </p:tgtEl>
                                      </p:cBhvr>
                                    </p:animEffect>
                                  </p:childTnLst>
                                </p:cTn>
                              </p:par>
                            </p:childTnLst>
                          </p:cTn>
                        </p:par>
                      </p:childTnLst>
                    </p:cTn>
                  </p:par>
                  <p:par>
                    <p:cTn id="92" fill="hold">
                      <p:stCondLst>
                        <p:cond delay="indefinite"/>
                      </p:stCondLst>
                      <p:childTnLst>
                        <p:par>
                          <p:cTn id="93" fill="hold">
                            <p:stCondLst>
                              <p:cond delay="0"/>
                            </p:stCondLst>
                            <p:childTnLst>
                              <p:par>
                                <p:cTn id="94" presetID="2" presetClass="entr" presetSubtype="2" fill="hold" grpId="0" nodeType="clickEffect">
                                  <p:stCondLst>
                                    <p:cond delay="0"/>
                                  </p:stCondLst>
                                  <p:childTnLst>
                                    <p:set>
                                      <p:cBhvr>
                                        <p:cTn id="95" dur="1" fill="hold">
                                          <p:stCondLst>
                                            <p:cond delay="0"/>
                                          </p:stCondLst>
                                        </p:cTn>
                                        <p:tgtEl>
                                          <p:spTgt spid="1049170"/>
                                        </p:tgtEl>
                                        <p:attrNameLst>
                                          <p:attrName>style.visibility</p:attrName>
                                        </p:attrNameLst>
                                      </p:cBhvr>
                                      <p:to>
                                        <p:strVal val="visible"/>
                                      </p:to>
                                    </p:set>
                                    <p:anim calcmode="lin" valueType="num">
                                      <p:cBhvr additive="base">
                                        <p:cTn id="96" dur="500" fill="hold"/>
                                        <p:tgtEl>
                                          <p:spTgt spid="1049170"/>
                                        </p:tgtEl>
                                        <p:attrNameLst>
                                          <p:attrName>ppt_x</p:attrName>
                                        </p:attrNameLst>
                                      </p:cBhvr>
                                      <p:tavLst>
                                        <p:tav tm="0">
                                          <p:val>
                                            <p:strVal val="1+#ppt_w/2"/>
                                          </p:val>
                                        </p:tav>
                                        <p:tav tm="100000">
                                          <p:val>
                                            <p:strVal val="#ppt_x"/>
                                          </p:val>
                                        </p:tav>
                                      </p:tavLst>
                                    </p:anim>
                                    <p:anim calcmode="lin" valueType="num">
                                      <p:cBhvr additive="base">
                                        <p:cTn id="97" dur="500" fill="hold"/>
                                        <p:tgtEl>
                                          <p:spTgt spid="1049170"/>
                                        </p:tgtEl>
                                        <p:attrNameLst>
                                          <p:attrName>ppt_y</p:attrName>
                                        </p:attrNameLst>
                                      </p:cBhvr>
                                      <p:tavLst>
                                        <p:tav tm="0">
                                          <p:val>
                                            <p:strVal val="#ppt_y"/>
                                          </p:val>
                                        </p:tav>
                                        <p:tav tm="100000">
                                          <p:val>
                                            <p:strVal val="#ppt_y"/>
                                          </p:val>
                                        </p:tav>
                                      </p:tavLst>
                                    </p:anim>
                                  </p:childTnLst>
                                </p:cTn>
                              </p:par>
                            </p:childTnLst>
                          </p:cTn>
                        </p:par>
                        <p:par>
                          <p:cTn id="98" fill="hold">
                            <p:stCondLst>
                              <p:cond delay="500"/>
                            </p:stCondLst>
                            <p:childTnLst>
                              <p:par>
                                <p:cTn id="99" presetID="22" presetClass="entr" presetSubtype="4" fill="hold" grpId="0" nodeType="afterEffect">
                                  <p:stCondLst>
                                    <p:cond delay="0"/>
                                  </p:stCondLst>
                                  <p:childTnLst>
                                    <p:set>
                                      <p:cBhvr>
                                        <p:cTn id="100" dur="1" fill="hold">
                                          <p:stCondLst>
                                            <p:cond delay="0"/>
                                          </p:stCondLst>
                                        </p:cTn>
                                        <p:tgtEl>
                                          <p:spTgt spid="1049178"/>
                                        </p:tgtEl>
                                        <p:attrNameLst>
                                          <p:attrName>style.visibility</p:attrName>
                                        </p:attrNameLst>
                                      </p:cBhvr>
                                      <p:to>
                                        <p:strVal val="visible"/>
                                      </p:to>
                                    </p:set>
                                    <p:animEffect transition="in" filter="wipe(down)">
                                      <p:cBhvr>
                                        <p:cTn id="101" dur="500"/>
                                        <p:tgtEl>
                                          <p:spTgt spid="1049178"/>
                                        </p:tgtEl>
                                      </p:cBhvr>
                                    </p:animEffect>
                                  </p:childTnLst>
                                </p:cTn>
                              </p:par>
                              <p:par>
                                <p:cTn id="102" presetID="22" presetClass="entr" presetSubtype="4" fill="hold" grpId="0" nodeType="withEffect">
                                  <p:stCondLst>
                                    <p:cond delay="0"/>
                                  </p:stCondLst>
                                  <p:childTnLst>
                                    <p:set>
                                      <p:cBhvr>
                                        <p:cTn id="103" dur="1" fill="hold">
                                          <p:stCondLst>
                                            <p:cond delay="0"/>
                                          </p:stCondLst>
                                        </p:cTn>
                                        <p:tgtEl>
                                          <p:spTgt spid="1049179"/>
                                        </p:tgtEl>
                                        <p:attrNameLst>
                                          <p:attrName>style.visibility</p:attrName>
                                        </p:attrNameLst>
                                      </p:cBhvr>
                                      <p:to>
                                        <p:strVal val="visible"/>
                                      </p:to>
                                    </p:set>
                                    <p:animEffect transition="in" filter="wipe(down)">
                                      <p:cBhvr>
                                        <p:cTn id="104" dur="500"/>
                                        <p:tgtEl>
                                          <p:spTgt spid="1049179"/>
                                        </p:tgtEl>
                                      </p:cBhvr>
                                    </p:animEffect>
                                  </p:childTnLst>
                                </p:cTn>
                              </p:par>
                              <p:par>
                                <p:cTn id="105" presetID="22" presetClass="entr" presetSubtype="4" fill="hold" grpId="0" nodeType="withEffect">
                                  <p:stCondLst>
                                    <p:cond delay="0"/>
                                  </p:stCondLst>
                                  <p:childTnLst>
                                    <p:set>
                                      <p:cBhvr>
                                        <p:cTn id="106" dur="1" fill="hold">
                                          <p:stCondLst>
                                            <p:cond delay="0"/>
                                          </p:stCondLst>
                                        </p:cTn>
                                        <p:tgtEl>
                                          <p:spTgt spid="1049180"/>
                                        </p:tgtEl>
                                        <p:attrNameLst>
                                          <p:attrName>style.visibility</p:attrName>
                                        </p:attrNameLst>
                                      </p:cBhvr>
                                      <p:to>
                                        <p:strVal val="visible"/>
                                      </p:to>
                                    </p:set>
                                    <p:animEffect transition="in" filter="wipe(down)">
                                      <p:cBhvr>
                                        <p:cTn id="107" dur="500"/>
                                        <p:tgtEl>
                                          <p:spTgt spid="1049180"/>
                                        </p:tgtEl>
                                      </p:cBhvr>
                                    </p:animEffect>
                                  </p:childTnLst>
                                </p:cTn>
                              </p:par>
                              <p:par>
                                <p:cTn id="108" presetID="9" presetClass="entr" presetSubtype="0" fill="hold" grpId="0" nodeType="withEffect">
                                  <p:stCondLst>
                                    <p:cond delay="0"/>
                                  </p:stCondLst>
                                  <p:childTnLst>
                                    <p:set>
                                      <p:cBhvr>
                                        <p:cTn id="109" dur="1" fill="hold">
                                          <p:stCondLst>
                                            <p:cond delay="0"/>
                                          </p:stCondLst>
                                        </p:cTn>
                                        <p:tgtEl>
                                          <p:spTgt spid="1049181"/>
                                        </p:tgtEl>
                                        <p:attrNameLst>
                                          <p:attrName>style.visibility</p:attrName>
                                        </p:attrNameLst>
                                      </p:cBhvr>
                                      <p:to>
                                        <p:strVal val="visible"/>
                                      </p:to>
                                    </p:set>
                                    <p:animEffect transition="in" filter="dissolve">
                                      <p:cBhvr>
                                        <p:cTn id="110" dur="500"/>
                                        <p:tgtEl>
                                          <p:spTgt spid="1049181"/>
                                        </p:tgtEl>
                                      </p:cBhvr>
                                    </p:animEffect>
                                  </p:childTnLst>
                                </p:cTn>
                              </p:par>
                            </p:childTnLst>
                          </p:cTn>
                        </p:par>
                        <p:par>
                          <p:cTn id="111" fill="hold">
                            <p:stCondLst>
                              <p:cond delay="1000"/>
                            </p:stCondLst>
                            <p:childTnLst>
                              <p:par>
                                <p:cTn id="112" presetID="2" presetClass="entr" presetSubtype="4" fill="hold" grpId="0" nodeType="afterEffect">
                                  <p:stCondLst>
                                    <p:cond delay="0"/>
                                  </p:stCondLst>
                                  <p:childTnLst>
                                    <p:set>
                                      <p:cBhvr>
                                        <p:cTn id="113" dur="1" fill="hold">
                                          <p:stCondLst>
                                            <p:cond delay="0"/>
                                          </p:stCondLst>
                                        </p:cTn>
                                        <p:tgtEl>
                                          <p:spTgt spid="1049172"/>
                                        </p:tgtEl>
                                        <p:attrNameLst>
                                          <p:attrName>style.visibility</p:attrName>
                                        </p:attrNameLst>
                                      </p:cBhvr>
                                      <p:to>
                                        <p:strVal val="visible"/>
                                      </p:to>
                                    </p:set>
                                    <p:anim calcmode="lin" valueType="num">
                                      <p:cBhvr additive="base">
                                        <p:cTn id="114" dur="500" fill="hold"/>
                                        <p:tgtEl>
                                          <p:spTgt spid="1049172"/>
                                        </p:tgtEl>
                                        <p:attrNameLst>
                                          <p:attrName>ppt_x</p:attrName>
                                        </p:attrNameLst>
                                      </p:cBhvr>
                                      <p:tavLst>
                                        <p:tav tm="0">
                                          <p:val>
                                            <p:strVal val="#ppt_x"/>
                                          </p:val>
                                        </p:tav>
                                        <p:tav tm="100000">
                                          <p:val>
                                            <p:strVal val="#ppt_x"/>
                                          </p:val>
                                        </p:tav>
                                      </p:tavLst>
                                    </p:anim>
                                    <p:anim calcmode="lin" valueType="num">
                                      <p:cBhvr additive="base">
                                        <p:cTn id="115" dur="500" fill="hold"/>
                                        <p:tgtEl>
                                          <p:spTgt spid="1049172"/>
                                        </p:tgtEl>
                                        <p:attrNameLst>
                                          <p:attrName>ppt_y</p:attrName>
                                        </p:attrNameLst>
                                      </p:cBhvr>
                                      <p:tavLst>
                                        <p:tav tm="0">
                                          <p:val>
                                            <p:strVal val="1+#ppt_h/2"/>
                                          </p:val>
                                        </p:tav>
                                        <p:tav tm="100000">
                                          <p:val>
                                            <p:strVal val="#ppt_y"/>
                                          </p:val>
                                        </p:tav>
                                      </p:tavLst>
                                    </p:anim>
                                  </p:childTnLst>
                                </p:cTn>
                              </p:par>
                              <p:par>
                                <p:cTn id="116" presetID="2" presetClass="entr" presetSubtype="4" fill="hold" grpId="0" nodeType="withEffect">
                                  <p:stCondLst>
                                    <p:cond delay="0"/>
                                  </p:stCondLst>
                                  <p:childTnLst>
                                    <p:set>
                                      <p:cBhvr>
                                        <p:cTn id="117" dur="1" fill="hold">
                                          <p:stCondLst>
                                            <p:cond delay="0"/>
                                          </p:stCondLst>
                                        </p:cTn>
                                        <p:tgtEl>
                                          <p:spTgt spid="1049175"/>
                                        </p:tgtEl>
                                        <p:attrNameLst>
                                          <p:attrName>style.visibility</p:attrName>
                                        </p:attrNameLst>
                                      </p:cBhvr>
                                      <p:to>
                                        <p:strVal val="visible"/>
                                      </p:to>
                                    </p:set>
                                    <p:anim calcmode="lin" valueType="num">
                                      <p:cBhvr additive="base">
                                        <p:cTn id="118" dur="500" fill="hold"/>
                                        <p:tgtEl>
                                          <p:spTgt spid="1049175"/>
                                        </p:tgtEl>
                                        <p:attrNameLst>
                                          <p:attrName>ppt_x</p:attrName>
                                        </p:attrNameLst>
                                      </p:cBhvr>
                                      <p:tavLst>
                                        <p:tav tm="0">
                                          <p:val>
                                            <p:strVal val="#ppt_x"/>
                                          </p:val>
                                        </p:tav>
                                        <p:tav tm="100000">
                                          <p:val>
                                            <p:strVal val="#ppt_x"/>
                                          </p:val>
                                        </p:tav>
                                      </p:tavLst>
                                    </p:anim>
                                    <p:anim calcmode="lin" valueType="num">
                                      <p:cBhvr additive="base">
                                        <p:cTn id="119" dur="500" fill="hold"/>
                                        <p:tgtEl>
                                          <p:spTgt spid="1049175"/>
                                        </p:tgtEl>
                                        <p:attrNameLst>
                                          <p:attrName>ppt_y</p:attrName>
                                        </p:attrNameLst>
                                      </p:cBhvr>
                                      <p:tavLst>
                                        <p:tav tm="0">
                                          <p:val>
                                            <p:strVal val="1+#ppt_h/2"/>
                                          </p:val>
                                        </p:tav>
                                        <p:tav tm="100000">
                                          <p:val>
                                            <p:strVal val="#ppt_y"/>
                                          </p:val>
                                        </p:tav>
                                      </p:tavLst>
                                    </p:anim>
                                  </p:childTnLst>
                                </p:cTn>
                              </p:par>
                            </p:childTnLst>
                          </p:cTn>
                        </p:par>
                        <p:par>
                          <p:cTn id="120" fill="hold">
                            <p:stCondLst>
                              <p:cond delay="1500"/>
                            </p:stCondLst>
                            <p:childTnLst>
                              <p:par>
                                <p:cTn id="121" presetID="2" presetClass="entr" presetSubtype="4" fill="hold" grpId="0" nodeType="afterEffect">
                                  <p:stCondLst>
                                    <p:cond delay="0"/>
                                  </p:stCondLst>
                                  <p:childTnLst>
                                    <p:set>
                                      <p:cBhvr>
                                        <p:cTn id="122" dur="1" fill="hold">
                                          <p:stCondLst>
                                            <p:cond delay="0"/>
                                          </p:stCondLst>
                                        </p:cTn>
                                        <p:tgtEl>
                                          <p:spTgt spid="1049173"/>
                                        </p:tgtEl>
                                        <p:attrNameLst>
                                          <p:attrName>style.visibility</p:attrName>
                                        </p:attrNameLst>
                                      </p:cBhvr>
                                      <p:to>
                                        <p:strVal val="visible"/>
                                      </p:to>
                                    </p:set>
                                    <p:anim calcmode="lin" valueType="num">
                                      <p:cBhvr additive="base">
                                        <p:cTn id="123" dur="500" fill="hold"/>
                                        <p:tgtEl>
                                          <p:spTgt spid="1049173"/>
                                        </p:tgtEl>
                                        <p:attrNameLst>
                                          <p:attrName>ppt_x</p:attrName>
                                        </p:attrNameLst>
                                      </p:cBhvr>
                                      <p:tavLst>
                                        <p:tav tm="0">
                                          <p:val>
                                            <p:strVal val="#ppt_x"/>
                                          </p:val>
                                        </p:tav>
                                        <p:tav tm="100000">
                                          <p:val>
                                            <p:strVal val="#ppt_x"/>
                                          </p:val>
                                        </p:tav>
                                      </p:tavLst>
                                    </p:anim>
                                    <p:anim calcmode="lin" valueType="num">
                                      <p:cBhvr additive="base">
                                        <p:cTn id="124" dur="500" fill="hold"/>
                                        <p:tgtEl>
                                          <p:spTgt spid="1049173"/>
                                        </p:tgtEl>
                                        <p:attrNameLst>
                                          <p:attrName>ppt_y</p:attrName>
                                        </p:attrNameLst>
                                      </p:cBhvr>
                                      <p:tavLst>
                                        <p:tav tm="0">
                                          <p:val>
                                            <p:strVal val="1+#ppt_h/2"/>
                                          </p:val>
                                        </p:tav>
                                        <p:tav tm="100000">
                                          <p:val>
                                            <p:strVal val="#ppt_y"/>
                                          </p:val>
                                        </p:tav>
                                      </p:tavLst>
                                    </p:anim>
                                  </p:childTnLst>
                                </p:cTn>
                              </p:par>
                              <p:par>
                                <p:cTn id="125" presetID="2" presetClass="entr" presetSubtype="4" fill="hold" grpId="0" nodeType="withEffect">
                                  <p:stCondLst>
                                    <p:cond delay="0"/>
                                  </p:stCondLst>
                                  <p:childTnLst>
                                    <p:set>
                                      <p:cBhvr>
                                        <p:cTn id="126" dur="1" fill="hold">
                                          <p:stCondLst>
                                            <p:cond delay="0"/>
                                          </p:stCondLst>
                                        </p:cTn>
                                        <p:tgtEl>
                                          <p:spTgt spid="1049176"/>
                                        </p:tgtEl>
                                        <p:attrNameLst>
                                          <p:attrName>style.visibility</p:attrName>
                                        </p:attrNameLst>
                                      </p:cBhvr>
                                      <p:to>
                                        <p:strVal val="visible"/>
                                      </p:to>
                                    </p:set>
                                    <p:anim calcmode="lin" valueType="num">
                                      <p:cBhvr additive="base">
                                        <p:cTn id="127" dur="500" fill="hold"/>
                                        <p:tgtEl>
                                          <p:spTgt spid="1049176"/>
                                        </p:tgtEl>
                                        <p:attrNameLst>
                                          <p:attrName>ppt_x</p:attrName>
                                        </p:attrNameLst>
                                      </p:cBhvr>
                                      <p:tavLst>
                                        <p:tav tm="0">
                                          <p:val>
                                            <p:strVal val="#ppt_x"/>
                                          </p:val>
                                        </p:tav>
                                        <p:tav tm="100000">
                                          <p:val>
                                            <p:strVal val="#ppt_x"/>
                                          </p:val>
                                        </p:tav>
                                      </p:tavLst>
                                    </p:anim>
                                    <p:anim calcmode="lin" valueType="num">
                                      <p:cBhvr additive="base">
                                        <p:cTn id="128" dur="500" fill="hold"/>
                                        <p:tgtEl>
                                          <p:spTgt spid="1049176"/>
                                        </p:tgtEl>
                                        <p:attrNameLst>
                                          <p:attrName>ppt_y</p:attrName>
                                        </p:attrNameLst>
                                      </p:cBhvr>
                                      <p:tavLst>
                                        <p:tav tm="0">
                                          <p:val>
                                            <p:strVal val="1+#ppt_h/2"/>
                                          </p:val>
                                        </p:tav>
                                        <p:tav tm="100000">
                                          <p:val>
                                            <p:strVal val="#ppt_y"/>
                                          </p:val>
                                        </p:tav>
                                      </p:tavLst>
                                    </p:anim>
                                  </p:childTnLst>
                                </p:cTn>
                              </p:par>
                            </p:childTnLst>
                          </p:cTn>
                        </p:par>
                        <p:par>
                          <p:cTn id="129" fill="hold">
                            <p:stCondLst>
                              <p:cond delay="2000"/>
                            </p:stCondLst>
                            <p:childTnLst>
                              <p:par>
                                <p:cTn id="130" presetID="2" presetClass="entr" presetSubtype="4" fill="hold" grpId="0" nodeType="afterEffect">
                                  <p:stCondLst>
                                    <p:cond delay="0"/>
                                  </p:stCondLst>
                                  <p:childTnLst>
                                    <p:set>
                                      <p:cBhvr>
                                        <p:cTn id="131" dur="1" fill="hold">
                                          <p:stCondLst>
                                            <p:cond delay="0"/>
                                          </p:stCondLst>
                                        </p:cTn>
                                        <p:tgtEl>
                                          <p:spTgt spid="1049174"/>
                                        </p:tgtEl>
                                        <p:attrNameLst>
                                          <p:attrName>style.visibility</p:attrName>
                                        </p:attrNameLst>
                                      </p:cBhvr>
                                      <p:to>
                                        <p:strVal val="visible"/>
                                      </p:to>
                                    </p:set>
                                    <p:anim calcmode="lin" valueType="num">
                                      <p:cBhvr additive="base">
                                        <p:cTn id="132" dur="500" fill="hold"/>
                                        <p:tgtEl>
                                          <p:spTgt spid="1049174"/>
                                        </p:tgtEl>
                                        <p:attrNameLst>
                                          <p:attrName>ppt_x</p:attrName>
                                        </p:attrNameLst>
                                      </p:cBhvr>
                                      <p:tavLst>
                                        <p:tav tm="0">
                                          <p:val>
                                            <p:strVal val="#ppt_x"/>
                                          </p:val>
                                        </p:tav>
                                        <p:tav tm="100000">
                                          <p:val>
                                            <p:strVal val="#ppt_x"/>
                                          </p:val>
                                        </p:tav>
                                      </p:tavLst>
                                    </p:anim>
                                    <p:anim calcmode="lin" valueType="num">
                                      <p:cBhvr additive="base">
                                        <p:cTn id="133" dur="500" fill="hold"/>
                                        <p:tgtEl>
                                          <p:spTgt spid="1049174"/>
                                        </p:tgtEl>
                                        <p:attrNameLst>
                                          <p:attrName>ppt_y</p:attrName>
                                        </p:attrNameLst>
                                      </p:cBhvr>
                                      <p:tavLst>
                                        <p:tav tm="0">
                                          <p:val>
                                            <p:strVal val="1+#ppt_h/2"/>
                                          </p:val>
                                        </p:tav>
                                        <p:tav tm="100000">
                                          <p:val>
                                            <p:strVal val="#ppt_y"/>
                                          </p:val>
                                        </p:tav>
                                      </p:tavLst>
                                    </p:anim>
                                  </p:childTnLst>
                                </p:cTn>
                              </p:par>
                              <p:par>
                                <p:cTn id="134" presetID="2" presetClass="entr" presetSubtype="4" fill="hold" grpId="0" nodeType="withEffect">
                                  <p:stCondLst>
                                    <p:cond delay="0"/>
                                  </p:stCondLst>
                                  <p:childTnLst>
                                    <p:set>
                                      <p:cBhvr>
                                        <p:cTn id="135" dur="1" fill="hold">
                                          <p:stCondLst>
                                            <p:cond delay="0"/>
                                          </p:stCondLst>
                                        </p:cTn>
                                        <p:tgtEl>
                                          <p:spTgt spid="1049177"/>
                                        </p:tgtEl>
                                        <p:attrNameLst>
                                          <p:attrName>style.visibility</p:attrName>
                                        </p:attrNameLst>
                                      </p:cBhvr>
                                      <p:to>
                                        <p:strVal val="visible"/>
                                      </p:to>
                                    </p:set>
                                    <p:anim calcmode="lin" valueType="num">
                                      <p:cBhvr additive="base">
                                        <p:cTn id="136" dur="500" fill="hold"/>
                                        <p:tgtEl>
                                          <p:spTgt spid="1049177"/>
                                        </p:tgtEl>
                                        <p:attrNameLst>
                                          <p:attrName>ppt_x</p:attrName>
                                        </p:attrNameLst>
                                      </p:cBhvr>
                                      <p:tavLst>
                                        <p:tav tm="0">
                                          <p:val>
                                            <p:strVal val="#ppt_x"/>
                                          </p:val>
                                        </p:tav>
                                        <p:tav tm="100000">
                                          <p:val>
                                            <p:strVal val="#ppt_x"/>
                                          </p:val>
                                        </p:tav>
                                      </p:tavLst>
                                    </p:anim>
                                    <p:anim calcmode="lin" valueType="num">
                                      <p:cBhvr additive="base">
                                        <p:cTn id="137" dur="500" fill="hold"/>
                                        <p:tgtEl>
                                          <p:spTgt spid="1049177"/>
                                        </p:tgtEl>
                                        <p:attrNameLst>
                                          <p:attrName>ppt_y</p:attrName>
                                        </p:attrNameLst>
                                      </p:cBhvr>
                                      <p:tavLst>
                                        <p:tav tm="0">
                                          <p:val>
                                            <p:strVal val="1+#ppt_h/2"/>
                                          </p:val>
                                        </p:tav>
                                        <p:tav tm="100000">
                                          <p:val>
                                            <p:strVal val="#ppt_y"/>
                                          </p:val>
                                        </p:tav>
                                      </p:tavLst>
                                    </p:anim>
                                  </p:childTnLst>
                                </p:cTn>
                              </p:par>
                            </p:childTnLst>
                          </p:cTn>
                        </p:par>
                      </p:childTnLst>
                    </p:cTn>
                  </p:par>
                  <p:par>
                    <p:cTn id="138" fill="hold">
                      <p:stCondLst>
                        <p:cond delay="indefinite"/>
                      </p:stCondLst>
                      <p:childTnLst>
                        <p:par>
                          <p:cTn id="139" fill="hold">
                            <p:stCondLst>
                              <p:cond delay="0"/>
                            </p:stCondLst>
                            <p:childTnLst>
                              <p:par>
                                <p:cTn id="140" presetID="22" presetClass="entr" presetSubtype="4" fill="hold" grpId="0" nodeType="clickEffect">
                                  <p:stCondLst>
                                    <p:cond delay="0"/>
                                  </p:stCondLst>
                                  <p:childTnLst>
                                    <p:set>
                                      <p:cBhvr>
                                        <p:cTn id="141" dur="1" fill="hold">
                                          <p:stCondLst>
                                            <p:cond delay="0"/>
                                          </p:stCondLst>
                                        </p:cTn>
                                        <p:tgtEl>
                                          <p:spTgt spid="1049182"/>
                                        </p:tgtEl>
                                        <p:attrNameLst>
                                          <p:attrName>style.visibility</p:attrName>
                                        </p:attrNameLst>
                                      </p:cBhvr>
                                      <p:to>
                                        <p:strVal val="visible"/>
                                      </p:to>
                                    </p:set>
                                    <p:animEffect transition="in" filter="wipe(down)">
                                      <p:cBhvr>
                                        <p:cTn id="142" dur="500"/>
                                        <p:tgtEl>
                                          <p:spTgt spid="1049182"/>
                                        </p:tgtEl>
                                      </p:cBhvr>
                                    </p:animEffect>
                                  </p:childTnLst>
                                </p:cTn>
                              </p:par>
                              <p:par>
                                <p:cTn id="143" presetID="22" presetClass="entr" presetSubtype="4" fill="hold" grpId="0" nodeType="withEffect">
                                  <p:stCondLst>
                                    <p:cond delay="0"/>
                                  </p:stCondLst>
                                  <p:childTnLst>
                                    <p:set>
                                      <p:cBhvr>
                                        <p:cTn id="144" dur="1" fill="hold">
                                          <p:stCondLst>
                                            <p:cond delay="0"/>
                                          </p:stCondLst>
                                        </p:cTn>
                                        <p:tgtEl>
                                          <p:spTgt spid="1049183"/>
                                        </p:tgtEl>
                                        <p:attrNameLst>
                                          <p:attrName>style.visibility</p:attrName>
                                        </p:attrNameLst>
                                      </p:cBhvr>
                                      <p:to>
                                        <p:strVal val="visible"/>
                                      </p:to>
                                    </p:set>
                                    <p:animEffect transition="in" filter="wipe(down)">
                                      <p:cBhvr>
                                        <p:cTn id="145" dur="500"/>
                                        <p:tgtEl>
                                          <p:spTgt spid="1049183"/>
                                        </p:tgtEl>
                                      </p:cBhvr>
                                    </p:animEffect>
                                  </p:childTnLst>
                                </p:cTn>
                              </p:par>
                              <p:par>
                                <p:cTn id="146" presetID="22" presetClass="entr" presetSubtype="4" fill="hold" grpId="0" nodeType="withEffect">
                                  <p:stCondLst>
                                    <p:cond delay="0"/>
                                  </p:stCondLst>
                                  <p:childTnLst>
                                    <p:set>
                                      <p:cBhvr>
                                        <p:cTn id="147" dur="1" fill="hold">
                                          <p:stCondLst>
                                            <p:cond delay="0"/>
                                          </p:stCondLst>
                                        </p:cTn>
                                        <p:tgtEl>
                                          <p:spTgt spid="1049184"/>
                                        </p:tgtEl>
                                        <p:attrNameLst>
                                          <p:attrName>style.visibility</p:attrName>
                                        </p:attrNameLst>
                                      </p:cBhvr>
                                      <p:to>
                                        <p:strVal val="visible"/>
                                      </p:to>
                                    </p:set>
                                    <p:animEffect transition="in" filter="wipe(down)">
                                      <p:cBhvr>
                                        <p:cTn id="148" dur="500"/>
                                        <p:tgtEl>
                                          <p:spTgt spid="1049184"/>
                                        </p:tgtEl>
                                      </p:cBhvr>
                                    </p:animEffect>
                                  </p:childTnLst>
                                </p:cTn>
                              </p:par>
                              <p:par>
                                <p:cTn id="149" presetID="22" presetClass="entr" presetSubtype="4" fill="hold" grpId="0" nodeType="withEffect">
                                  <p:stCondLst>
                                    <p:cond delay="0"/>
                                  </p:stCondLst>
                                  <p:childTnLst>
                                    <p:set>
                                      <p:cBhvr>
                                        <p:cTn id="150" dur="1" fill="hold">
                                          <p:stCondLst>
                                            <p:cond delay="0"/>
                                          </p:stCondLst>
                                        </p:cTn>
                                        <p:tgtEl>
                                          <p:spTgt spid="1049185"/>
                                        </p:tgtEl>
                                        <p:attrNameLst>
                                          <p:attrName>style.visibility</p:attrName>
                                        </p:attrNameLst>
                                      </p:cBhvr>
                                      <p:to>
                                        <p:strVal val="visible"/>
                                      </p:to>
                                    </p:set>
                                    <p:animEffect transition="in" filter="wipe(down)">
                                      <p:cBhvr>
                                        <p:cTn id="151" dur="500"/>
                                        <p:tgtEl>
                                          <p:spTgt spid="1049185"/>
                                        </p:tgtEl>
                                      </p:cBhvr>
                                    </p:animEffect>
                                  </p:childTnLst>
                                </p:cTn>
                              </p:par>
                              <p:par>
                                <p:cTn id="152" presetID="22" presetClass="entr" presetSubtype="4" fill="hold" grpId="0" nodeType="withEffect">
                                  <p:stCondLst>
                                    <p:cond delay="0"/>
                                  </p:stCondLst>
                                  <p:childTnLst>
                                    <p:set>
                                      <p:cBhvr>
                                        <p:cTn id="153" dur="1" fill="hold">
                                          <p:stCondLst>
                                            <p:cond delay="0"/>
                                          </p:stCondLst>
                                        </p:cTn>
                                        <p:tgtEl>
                                          <p:spTgt spid="1049186"/>
                                        </p:tgtEl>
                                        <p:attrNameLst>
                                          <p:attrName>style.visibility</p:attrName>
                                        </p:attrNameLst>
                                      </p:cBhvr>
                                      <p:to>
                                        <p:strVal val="visible"/>
                                      </p:to>
                                    </p:set>
                                    <p:animEffect transition="in" filter="wipe(down)">
                                      <p:cBhvr>
                                        <p:cTn id="154" dur="500"/>
                                        <p:tgtEl>
                                          <p:spTgt spid="1049186"/>
                                        </p:tgtEl>
                                      </p:cBhvr>
                                    </p:animEffect>
                                  </p:childTnLst>
                                </p:cTn>
                              </p:par>
                              <p:par>
                                <p:cTn id="155" presetID="22" presetClass="entr" presetSubtype="4" fill="hold" grpId="0" nodeType="withEffect">
                                  <p:stCondLst>
                                    <p:cond delay="0"/>
                                  </p:stCondLst>
                                  <p:childTnLst>
                                    <p:set>
                                      <p:cBhvr>
                                        <p:cTn id="156" dur="1" fill="hold">
                                          <p:stCondLst>
                                            <p:cond delay="0"/>
                                          </p:stCondLst>
                                        </p:cTn>
                                        <p:tgtEl>
                                          <p:spTgt spid="1049187"/>
                                        </p:tgtEl>
                                        <p:attrNameLst>
                                          <p:attrName>style.visibility</p:attrName>
                                        </p:attrNameLst>
                                      </p:cBhvr>
                                      <p:to>
                                        <p:strVal val="visible"/>
                                      </p:to>
                                    </p:set>
                                    <p:animEffect transition="in" filter="wipe(down)">
                                      <p:cBhvr>
                                        <p:cTn id="157" dur="500"/>
                                        <p:tgtEl>
                                          <p:spTgt spid="1049187"/>
                                        </p:tgtEl>
                                      </p:cBhvr>
                                    </p:animEffect>
                                  </p:childTnLst>
                                </p:cTn>
                              </p:par>
                            </p:childTnLst>
                          </p:cTn>
                        </p:par>
                        <p:par>
                          <p:cTn id="158" fill="hold">
                            <p:stCondLst>
                              <p:cond delay="500"/>
                            </p:stCondLst>
                            <p:childTnLst>
                              <p:par>
                                <p:cTn id="159" presetID="9" presetClass="entr" presetSubtype="0" fill="hold" grpId="0" nodeType="afterEffect">
                                  <p:stCondLst>
                                    <p:cond delay="0"/>
                                  </p:stCondLst>
                                  <p:childTnLst>
                                    <p:set>
                                      <p:cBhvr>
                                        <p:cTn id="160" dur="1" fill="hold">
                                          <p:stCondLst>
                                            <p:cond delay="0"/>
                                          </p:stCondLst>
                                        </p:cTn>
                                        <p:tgtEl>
                                          <p:spTgt spid="1049171"/>
                                        </p:tgtEl>
                                        <p:attrNameLst>
                                          <p:attrName>style.visibility</p:attrName>
                                        </p:attrNameLst>
                                      </p:cBhvr>
                                      <p:to>
                                        <p:strVal val="visible"/>
                                      </p:to>
                                    </p:set>
                                    <p:animEffect transition="in" filter="dissolve">
                                      <p:cBhvr>
                                        <p:cTn id="161" dur="500"/>
                                        <p:tgtEl>
                                          <p:spTgt spid="1049171"/>
                                        </p:tgtEl>
                                      </p:cBhvr>
                                    </p:animEffect>
                                  </p:childTnLst>
                                </p:cTn>
                              </p:par>
                            </p:childTnLst>
                          </p:cTn>
                        </p:par>
                      </p:childTnLst>
                    </p:cTn>
                  </p:par>
                  <p:par>
                    <p:cTn id="162" fill="hold">
                      <p:stCondLst>
                        <p:cond delay="indefinite"/>
                      </p:stCondLst>
                      <p:childTnLst>
                        <p:par>
                          <p:cTn id="163" fill="hold">
                            <p:stCondLst>
                              <p:cond delay="0"/>
                            </p:stCondLst>
                            <p:childTnLst>
                              <p:par>
                                <p:cTn id="164" presetID="1" presetClass="entr" presetSubtype="0" fill="hold" nodeType="clickEffect">
                                  <p:stCondLst>
                                    <p:cond delay="0"/>
                                  </p:stCondLst>
                                  <p:childTnLst>
                                    <p:set>
                                      <p:cBhvr>
                                        <p:cTn id="165" dur="1" fill="hold">
                                          <p:stCondLst>
                                            <p:cond delay="0"/>
                                          </p:stCondLst>
                                        </p:cTn>
                                        <p:tgtEl>
                                          <p:spTgt spid="171"/>
                                        </p:tgtEl>
                                        <p:attrNameLst>
                                          <p:attrName>style.visibility</p:attrName>
                                        </p:attrNameLst>
                                      </p:cBhvr>
                                      <p:to>
                                        <p:strVal val="visible"/>
                                      </p:to>
                                    </p:set>
                                  </p:childTnLst>
                                </p:cTn>
                              </p:par>
                            </p:childTnLst>
                          </p:cTn>
                        </p:par>
                      </p:childTnLst>
                    </p:cTn>
                  </p:par>
                  <p:par>
                    <p:cTn id="166" fill="hold">
                      <p:stCondLst>
                        <p:cond delay="indefinite"/>
                      </p:stCondLst>
                      <p:childTnLst>
                        <p:par>
                          <p:cTn id="167" fill="hold">
                            <p:stCondLst>
                              <p:cond delay="0"/>
                            </p:stCondLst>
                            <p:childTnLst>
                              <p:par>
                                <p:cTn id="168" presetID="22" presetClass="entr" presetSubtype="4" fill="hold" nodeType="clickEffect">
                                  <p:stCondLst>
                                    <p:cond delay="0"/>
                                  </p:stCondLst>
                                  <p:childTnLst>
                                    <p:set>
                                      <p:cBhvr>
                                        <p:cTn id="169" dur="1" fill="hold">
                                          <p:stCondLst>
                                            <p:cond delay="0"/>
                                          </p:stCondLst>
                                        </p:cTn>
                                        <p:tgtEl>
                                          <p:spTgt spid="173"/>
                                        </p:tgtEl>
                                        <p:attrNameLst>
                                          <p:attrName>style.visibility</p:attrName>
                                        </p:attrNameLst>
                                      </p:cBhvr>
                                      <p:to>
                                        <p:strVal val="visible"/>
                                      </p:to>
                                    </p:set>
                                    <p:animEffect transition="in" filter="wipe(down)">
                                      <p:cBhvr>
                                        <p:cTn id="170" dur="500"/>
                                        <p:tgtEl>
                                          <p:spTgt spid="17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9151" grpId="0" animBg="1"/>
      <p:bldP spid="1049153" grpId="0" animBg="1"/>
      <p:bldP spid="1049154" grpId="0" animBg="1"/>
      <p:bldP spid="1049155" grpId="0" animBg="1"/>
      <p:bldP spid="1049156" grpId="0" animBg="1"/>
      <p:bldP spid="1049157" grpId="0" animBg="1"/>
      <p:bldP spid="1049158" grpId="0" animBg="1"/>
      <p:bldP spid="1049159" grpId="0" animBg="1"/>
      <p:bldP spid="1049160" grpId="0" animBg="1"/>
      <p:bldP spid="1049161" grpId="0" animBg="1"/>
      <p:bldP spid="1049162" grpId="0" animBg="1"/>
      <p:bldP spid="1049163" grpId="0"/>
      <p:bldP spid="1049164" grpId="0" animBg="1"/>
      <p:bldP spid="1049165" grpId="0" animBg="1"/>
      <p:bldP spid="1049166" grpId="0" animBg="1"/>
      <p:bldP spid="1049167" grpId="0" animBg="1"/>
      <p:bldP spid="1049168" grpId="0" animBg="1"/>
      <p:bldP spid="1049169" grpId="0" animBg="1"/>
      <p:bldP spid="1049170" grpId="0" animBg="1"/>
      <p:bldP spid="1049171" grpId="0" animBg="1"/>
      <p:bldP spid="1049172" grpId="0" animBg="1"/>
      <p:bldP spid="1049173" grpId="0" animBg="1"/>
      <p:bldP spid="1049174" grpId="0" animBg="1"/>
      <p:bldP spid="1049175" grpId="0" animBg="1"/>
      <p:bldP spid="1049176" grpId="0" animBg="1"/>
      <p:bldP spid="1049177" grpId="0" animBg="1"/>
      <p:bldP spid="1049178" grpId="0" animBg="1"/>
      <p:bldP spid="1049179" grpId="0" animBg="1"/>
      <p:bldP spid="1049180" grpId="0" animBg="1"/>
      <p:bldP spid="1049181" grpId="0"/>
      <p:bldP spid="1049182" grpId="0" animBg="1"/>
      <p:bldP spid="1049183" grpId="0" animBg="1"/>
      <p:bldP spid="1049184" grpId="0" animBg="1"/>
      <p:bldP spid="1049185" grpId="0" animBg="1"/>
      <p:bldP spid="1049186" grpId="0" animBg="1"/>
      <p:bldP spid="1049187" grpId="0" animBg="1"/>
      <p:bldP spid="1049188" grpId="0" animBg="1"/>
      <p:bldP spid="1049189" grpId="0" animBg="1"/>
      <p:bldP spid="1049190" grpId="0" animBg="1"/>
      <p:bldP spid="1049191" grpId="0"/>
    </p:bldLst>
  </p:timing>
</p:sld>
</file>

<file path=ppt/slides/slide5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49204" name="Rectangle 2"/>
          <p:cNvSpPr>
            <a:spLocks noGrp="1" noChangeArrowheads="1"/>
          </p:cNvSpPr>
          <p:nvPr>
            <p:ph type="title"/>
          </p:nvPr>
        </p:nvSpPr>
        <p:spPr>
          <a:xfrm>
            <a:off x="457200" y="228600"/>
            <a:ext cx="8229600" cy="482599"/>
          </a:xfrm>
        </p:spPr>
        <p:txBody>
          <a:bodyPr/>
          <a:lstStyle/>
          <a:p>
            <a:pPr eaLnBrk="1" hangingPunct="1"/>
            <a:r>
              <a:rPr lang="en-US" sz="2800" b="1">
                <a:latin typeface="Times New Roman" panose="02020603050405020304" pitchFamily="18" charset="0"/>
                <a:cs typeface="Times New Roman" panose="02020603050405020304" pitchFamily="18" charset="0"/>
              </a:rPr>
              <a:t>NETWORK LAYER</a:t>
            </a:r>
          </a:p>
        </p:txBody>
      </p:sp>
      <p:sp>
        <p:nvSpPr>
          <p:cNvPr id="1049205" name="Rectangle 3"/>
          <p:cNvSpPr>
            <a:spLocks noGrp="1" noChangeArrowheads="1"/>
          </p:cNvSpPr>
          <p:nvPr>
            <p:ph type="body" idx="1"/>
          </p:nvPr>
        </p:nvSpPr>
        <p:spPr>
          <a:xfrm>
            <a:off x="661320" y="2743200"/>
            <a:ext cx="8229600" cy="1816100"/>
          </a:xfrm>
        </p:spPr>
        <p:txBody>
          <a:bodyPr/>
          <a:lstStyle/>
          <a:p>
            <a:pPr marL="365760" marR="0" lvl="0" indent="-255905" algn="l" defTabSz="914400" rtl="0" eaLnBrk="1" fontAlgn="auto" latinLnBrk="0" hangingPunct="1">
              <a:lnSpc>
                <a:spcPct val="100000"/>
              </a:lnSpc>
              <a:spcBef>
                <a:spcPts val="300"/>
              </a:spcBef>
              <a:spcAft>
                <a:spcPts val="0"/>
              </a:spcAft>
              <a:buClr>
                <a:srgbClr val="A04DA3"/>
              </a:buClr>
              <a:buSzTx/>
              <a:buFont typeface="Georgia" panose="02040502050405020303"/>
              <a:buChar char="•"/>
            </a:pPr>
            <a:r>
              <a:rPr lang="en-US" sz="2800" kern="1200">
                <a:solidFill>
                  <a:prstClr val="black"/>
                </a:solidFill>
                <a:latin typeface="Georgia" panose="02040502050405020303"/>
              </a:rPr>
              <a:t>Duties/services</a:t>
            </a:r>
          </a:p>
          <a:p>
            <a:pPr marL="658495" marR="0" lvl="1" indent="-247015" algn="l" defTabSz="914400" rtl="0" eaLnBrk="1" fontAlgn="auto" latinLnBrk="0" hangingPunct="1">
              <a:lnSpc>
                <a:spcPct val="100000"/>
              </a:lnSpc>
              <a:spcBef>
                <a:spcPts val="300"/>
              </a:spcBef>
              <a:spcAft>
                <a:spcPts val="0"/>
              </a:spcAft>
              <a:buClr>
                <a:srgbClr val="438086"/>
              </a:buClr>
              <a:buSzTx/>
              <a:buFont typeface="Georgia" panose="02040502050405020303"/>
              <a:buChar char="▫"/>
            </a:pPr>
            <a:r>
              <a:rPr lang="en-US" sz="2600" kern="1200">
                <a:solidFill>
                  <a:srgbClr val="438086"/>
                </a:solidFill>
                <a:latin typeface="Georgia" panose="02040502050405020303"/>
              </a:rPr>
              <a:t>Logical addressing</a:t>
            </a:r>
          </a:p>
          <a:p>
            <a:pPr marL="658495" marR="0" lvl="1" indent="-247015" algn="l" defTabSz="914400" rtl="0" eaLnBrk="1" fontAlgn="auto" latinLnBrk="0" hangingPunct="1">
              <a:lnSpc>
                <a:spcPct val="100000"/>
              </a:lnSpc>
              <a:spcBef>
                <a:spcPts val="300"/>
              </a:spcBef>
              <a:spcAft>
                <a:spcPts val="0"/>
              </a:spcAft>
              <a:buClr>
                <a:srgbClr val="438086"/>
              </a:buClr>
              <a:buSzTx/>
              <a:buFont typeface="Georgia" panose="02040502050405020303"/>
              <a:buChar char="▫"/>
            </a:pPr>
            <a:r>
              <a:rPr lang="en-US" sz="2600" kern="1200">
                <a:solidFill>
                  <a:srgbClr val="438086"/>
                </a:solidFill>
                <a:latin typeface="Georgia" panose="02040502050405020303"/>
              </a:rPr>
              <a:t>Routing</a:t>
            </a:r>
          </a:p>
          <a:p>
            <a:pPr eaLnBrk="1" hangingPunct="1"/>
            <a:endParaRPr lang="en-US"/>
          </a:p>
        </p:txBody>
      </p:sp>
      <p:sp>
        <p:nvSpPr>
          <p:cNvPr id="1049206" name="Slide Number Placeholder 5"/>
          <p:cNvSpPr>
            <a:spLocks noGrp="1"/>
          </p:cNvSpPr>
          <p:nvPr>
            <p:ph type="sldNum" sz="quarter" idx="7"/>
          </p:nvPr>
        </p:nvSpPr>
        <p:spPr/>
        <p:txBody>
          <a:bodyPr/>
          <a:lstStyle/>
          <a:p>
            <a:fld id="{815AEBDE-DF6E-449E-8B72-AF10559C6AA6}" type="slidenum">
              <a:rPr lang="en-US"/>
              <a:t>54</a:t>
            </a:fld>
            <a:endParaRPr lang="en-US"/>
          </a:p>
        </p:txBody>
      </p:sp>
      <p:sp>
        <p:nvSpPr>
          <p:cNvPr id="1049207" name="Text Box 4"/>
          <p:cNvSpPr txBox="1">
            <a:spLocks noChangeArrowheads="1"/>
          </p:cNvSpPr>
          <p:nvPr/>
        </p:nvSpPr>
        <p:spPr bwMode="auto">
          <a:xfrm>
            <a:off x="914400" y="921866"/>
            <a:ext cx="7010400" cy="1539240"/>
          </a:xfrm>
          <a:prstGeom prst="rect">
            <a:avLst/>
          </a:prstGeom>
          <a:solidFill>
            <a:schemeClr val="tx2"/>
          </a:solidFill>
          <a:ln w="9525">
            <a:noFill/>
            <a:miter lim="800000"/>
          </a:ln>
          <a:effectLst>
            <a:outerShdw dist="107763" dir="2700000" algn="ctr" rotWithShape="0">
              <a:schemeClr val="bg2">
                <a:alpha val="50000"/>
              </a:schemeClr>
            </a:outerShdw>
          </a:effectLst>
        </p:spPr>
        <p:txBody>
          <a:bodyPr>
            <a:spAutoFit/>
          </a:bodyPr>
          <a:lstStyle/>
          <a:p>
            <a:pPr algn="ctr" fontAlgn="base">
              <a:spcBef>
                <a:spcPct val="0"/>
              </a:spcBef>
              <a:spcAft>
                <a:spcPct val="0"/>
              </a:spcAft>
            </a:pPr>
            <a:r>
              <a:rPr lang="en-US" sz="2800" b="1" i="1">
                <a:solidFill>
                  <a:srgbClr val="FF0000"/>
                </a:solidFill>
                <a:effectLst>
                  <a:outerShdw blurRad="38100" dist="38100" dir="2700000" algn="tl">
                    <a:srgbClr val="000000"/>
                  </a:outerShdw>
                </a:effectLst>
                <a:latin typeface="Times New Roman" panose="02020603050405020304" pitchFamily="18" charset="0"/>
                <a:cs typeface="Arial" panose="020B0604020202020204" pitchFamily="34" charset="0"/>
              </a:rPr>
              <a:t>Responsible for the delivery of packets</a:t>
            </a:r>
            <a:br>
              <a:rPr lang="en-US" sz="2800" b="1" i="1">
                <a:solidFill>
                  <a:srgbClr val="FF0000"/>
                </a:solidFill>
                <a:effectLst>
                  <a:outerShdw blurRad="38100" dist="38100" dir="2700000" algn="tl">
                    <a:srgbClr val="000000"/>
                  </a:outerShdw>
                </a:effectLst>
                <a:latin typeface="Times New Roman" panose="02020603050405020304" pitchFamily="18" charset="0"/>
                <a:cs typeface="Arial" panose="020B0604020202020204" pitchFamily="34" charset="0"/>
              </a:rPr>
            </a:br>
            <a:r>
              <a:rPr lang="en-US" sz="2800" b="1" i="1">
                <a:solidFill>
                  <a:srgbClr val="FF0000"/>
                </a:solidFill>
                <a:effectLst>
                  <a:outerShdw blurRad="38100" dist="38100" dir="2700000" algn="tl">
                    <a:srgbClr val="000000"/>
                  </a:outerShdw>
                </a:effectLst>
                <a:latin typeface="Times New Roman" panose="02020603050405020304" pitchFamily="18" charset="0"/>
                <a:cs typeface="Arial" panose="020B0604020202020204" pitchFamily="34" charset="0"/>
              </a:rPr>
              <a:t>from the original source to the destination</a:t>
            </a:r>
          </a:p>
        </p:txBody>
      </p:sp>
    </p:spTree>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049207"/>
                                        </p:tgtEl>
                                        <p:attrNameLst>
                                          <p:attrName>style.visibility</p:attrName>
                                        </p:attrNameLst>
                                      </p:cBhvr>
                                      <p:to>
                                        <p:strVal val="visible"/>
                                      </p:to>
                                    </p:set>
                                    <p:animEffect transition="in" filter="dissolve">
                                      <p:cBhvr>
                                        <p:cTn id="7" dur="500"/>
                                        <p:tgtEl>
                                          <p:spTgt spid="1049207"/>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1049205">
                                            <p:txEl>
                                              <p:pRg st="0" end="0"/>
                                            </p:txEl>
                                          </p:spTgt>
                                        </p:tgtEl>
                                        <p:attrNameLst>
                                          <p:attrName>style.visibility</p:attrName>
                                        </p:attrNameLst>
                                      </p:cBhvr>
                                      <p:to>
                                        <p:strVal val="visible"/>
                                      </p:to>
                                    </p:set>
                                  </p:childTnLst>
                                </p:cTn>
                              </p:par>
                              <p:par>
                                <p:cTn id="12" presetID="1" presetClass="entr" presetSubtype="0" fill="hold" grpId="0" nodeType="withEffect">
                                  <p:stCondLst>
                                    <p:cond delay="0"/>
                                  </p:stCondLst>
                                  <p:childTnLst>
                                    <p:set>
                                      <p:cBhvr>
                                        <p:cTn id="13" dur="1" fill="hold">
                                          <p:stCondLst>
                                            <p:cond delay="0"/>
                                          </p:stCondLst>
                                        </p:cTn>
                                        <p:tgtEl>
                                          <p:spTgt spid="1049205">
                                            <p:txEl>
                                              <p:pRg st="1" end="1"/>
                                            </p:txEl>
                                          </p:spTgt>
                                        </p:tgtEl>
                                        <p:attrNameLst>
                                          <p:attrName>style.visibility</p:attrName>
                                        </p:attrNameLst>
                                      </p:cBhvr>
                                      <p:to>
                                        <p:strVal val="visible"/>
                                      </p:to>
                                    </p:set>
                                  </p:childTnLst>
                                </p:cTn>
                              </p:par>
                              <p:par>
                                <p:cTn id="14" presetID="1" presetClass="entr" presetSubtype="0" fill="hold" grpId="0" nodeType="withEffect">
                                  <p:stCondLst>
                                    <p:cond delay="0"/>
                                  </p:stCondLst>
                                  <p:childTnLst>
                                    <p:set>
                                      <p:cBhvr>
                                        <p:cTn id="15" dur="1" fill="hold">
                                          <p:stCondLst>
                                            <p:cond delay="0"/>
                                          </p:stCondLst>
                                        </p:cTn>
                                        <p:tgtEl>
                                          <p:spTgt spid="1049205">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9205" grpId="0" build="p"/>
      <p:bldP spid="1049207" grpId="0" animBg="1"/>
    </p:bldLst>
  </p:timing>
</p:sld>
</file>

<file path=ppt/slides/slide5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49208" name="Rectangle 2"/>
          <p:cNvSpPr>
            <a:spLocks noGrp="1" noChangeArrowheads="1"/>
          </p:cNvSpPr>
          <p:nvPr>
            <p:ph type="title"/>
          </p:nvPr>
        </p:nvSpPr>
        <p:spPr>
          <a:xfrm>
            <a:off x="457200" y="533400"/>
            <a:ext cx="8229600" cy="482600"/>
          </a:xfrm>
        </p:spPr>
        <p:txBody>
          <a:bodyPr/>
          <a:lstStyle/>
          <a:p>
            <a:pPr eaLnBrk="1" hangingPunct="1"/>
            <a:r>
              <a:rPr lang="en-US" sz="2800" b="1">
                <a:latin typeface="Times New Roman" panose="02020603050405020304" pitchFamily="18" charset="0"/>
                <a:cs typeface="Times New Roman" panose="02020603050405020304" pitchFamily="18" charset="0"/>
              </a:rPr>
              <a:t>NETWORK LAYER</a:t>
            </a:r>
          </a:p>
        </p:txBody>
      </p:sp>
      <p:sp>
        <p:nvSpPr>
          <p:cNvPr id="1049209" name="Slide Number Placeholder 5"/>
          <p:cNvSpPr>
            <a:spLocks noGrp="1"/>
          </p:cNvSpPr>
          <p:nvPr>
            <p:ph type="sldNum" sz="quarter" idx="7"/>
          </p:nvPr>
        </p:nvSpPr>
        <p:spPr/>
        <p:txBody>
          <a:bodyPr/>
          <a:lstStyle/>
          <a:p>
            <a:fld id="{07F30415-3B00-423B-9671-A36CBA179F35}" type="slidenum">
              <a:rPr lang="en-US"/>
              <a:t>55</a:t>
            </a:fld>
            <a:endParaRPr lang="en-US"/>
          </a:p>
        </p:txBody>
      </p:sp>
      <p:sp>
        <p:nvSpPr>
          <p:cNvPr id="1049210" name="Rectangle 3"/>
          <p:cNvSpPr>
            <a:spLocks noChangeArrowheads="1"/>
          </p:cNvSpPr>
          <p:nvPr/>
        </p:nvSpPr>
        <p:spPr bwMode="auto">
          <a:xfrm>
            <a:off x="1600200" y="3335338"/>
            <a:ext cx="3048000" cy="1066800"/>
          </a:xfrm>
          <a:prstGeom prst="rect">
            <a:avLst/>
          </a:prstGeom>
          <a:solidFill>
            <a:schemeClr val="bg1"/>
          </a:solidFill>
          <a:ln w="9525">
            <a:solidFill>
              <a:schemeClr val="tx1"/>
            </a:solidFill>
            <a:miter lim="800000"/>
          </a:ln>
        </p:spPr>
        <p:txBody>
          <a:bodyPr wrap="none" anchor="ctr"/>
          <a:lstStyle/>
          <a:p>
            <a:pPr fontAlgn="base">
              <a:spcBef>
                <a:spcPct val="0"/>
              </a:spcBef>
              <a:spcAft>
                <a:spcPct val="0"/>
              </a:spcAft>
            </a:pPr>
            <a:endParaRPr lang="en-US">
              <a:solidFill>
                <a:prstClr val="black"/>
              </a:solidFill>
              <a:latin typeface="Tahoma" panose="020B0604030504040204" pitchFamily="34" charset="0"/>
              <a:cs typeface="Arial" panose="020B0604020202020204" pitchFamily="34" charset="0"/>
            </a:endParaRPr>
          </a:p>
        </p:txBody>
      </p:sp>
      <p:sp>
        <p:nvSpPr>
          <p:cNvPr id="1049211" name="Text Box 4"/>
          <p:cNvSpPr txBox="1">
            <a:spLocks noChangeArrowheads="1"/>
          </p:cNvSpPr>
          <p:nvPr/>
        </p:nvSpPr>
        <p:spPr bwMode="auto">
          <a:xfrm>
            <a:off x="266700" y="3443288"/>
            <a:ext cx="1082198" cy="701039"/>
          </a:xfrm>
          <a:prstGeom prst="rect">
            <a:avLst/>
          </a:prstGeom>
          <a:noFill/>
          <a:ln w="9525">
            <a:noFill/>
            <a:miter lim="800000"/>
          </a:ln>
        </p:spPr>
        <p:txBody>
          <a:bodyPr wrap="none">
            <a:spAutoFit/>
          </a:bodyPr>
          <a:lstStyle/>
          <a:p>
            <a:pPr algn="ctr" fontAlgn="base">
              <a:spcBef>
                <a:spcPct val="0"/>
              </a:spcBef>
              <a:spcAft>
                <a:spcPct val="0"/>
              </a:spcAft>
            </a:pPr>
            <a:r>
              <a:rPr lang="en-US">
                <a:solidFill>
                  <a:prstClr val="black"/>
                </a:solidFill>
                <a:latin typeface="Tahoma" panose="020B0604030504040204" pitchFamily="34" charset="0"/>
                <a:cs typeface="Arial" panose="020B0604020202020204" pitchFamily="34" charset="0"/>
              </a:rPr>
              <a:t>Network</a:t>
            </a:r>
            <a:br>
              <a:rPr lang="en-US">
                <a:solidFill>
                  <a:prstClr val="black"/>
                </a:solidFill>
                <a:latin typeface="Tahoma" panose="020B0604030504040204" pitchFamily="34" charset="0"/>
                <a:cs typeface="Arial" panose="020B0604020202020204" pitchFamily="34" charset="0"/>
              </a:rPr>
            </a:br>
            <a:r>
              <a:rPr lang="en-US">
                <a:solidFill>
                  <a:prstClr val="black"/>
                </a:solidFill>
                <a:latin typeface="Tahoma" panose="020B0604030504040204" pitchFamily="34" charset="0"/>
                <a:cs typeface="Arial" panose="020B0604020202020204" pitchFamily="34" charset="0"/>
              </a:rPr>
              <a:t>Layer</a:t>
            </a:r>
          </a:p>
        </p:txBody>
      </p:sp>
      <p:sp>
        <p:nvSpPr>
          <p:cNvPr id="1049212" name="Rectangle 5"/>
          <p:cNvSpPr>
            <a:spLocks noChangeArrowheads="1"/>
          </p:cNvSpPr>
          <p:nvPr/>
        </p:nvSpPr>
        <p:spPr bwMode="auto">
          <a:xfrm>
            <a:off x="2133600" y="2743200"/>
            <a:ext cx="1600200" cy="304800"/>
          </a:xfrm>
          <a:prstGeom prst="rect">
            <a:avLst/>
          </a:prstGeom>
          <a:solidFill>
            <a:srgbClr val="080808"/>
          </a:solidFill>
          <a:ln w="9525">
            <a:solidFill>
              <a:schemeClr val="tx1"/>
            </a:solidFill>
            <a:miter lim="800000"/>
          </a:ln>
        </p:spPr>
        <p:txBody>
          <a:bodyPr wrap="none" anchor="ctr"/>
          <a:lstStyle/>
          <a:p>
            <a:pPr algn="ctr" fontAlgn="base">
              <a:spcBef>
                <a:spcPct val="0"/>
              </a:spcBef>
              <a:spcAft>
                <a:spcPct val="0"/>
              </a:spcAft>
            </a:pPr>
            <a:r>
              <a:rPr lang="en-US">
                <a:solidFill>
                  <a:prstClr val="white"/>
                </a:solidFill>
                <a:latin typeface="Tahoma" panose="020B0604030504040204" pitchFamily="34" charset="0"/>
                <a:cs typeface="Arial" panose="020B0604020202020204" pitchFamily="34" charset="0"/>
              </a:rPr>
              <a:t>Data</a:t>
            </a:r>
          </a:p>
        </p:txBody>
      </p:sp>
      <p:sp>
        <p:nvSpPr>
          <p:cNvPr id="1049213" name="AutoShape 6"/>
          <p:cNvSpPr>
            <a:spLocks noChangeArrowheads="1"/>
          </p:cNvSpPr>
          <p:nvPr/>
        </p:nvSpPr>
        <p:spPr bwMode="auto">
          <a:xfrm>
            <a:off x="2819400" y="2133600"/>
            <a:ext cx="381000" cy="533400"/>
          </a:xfrm>
          <a:prstGeom prst="downArrow">
            <a:avLst>
              <a:gd name="adj1" fmla="val 50000"/>
              <a:gd name="adj2" fmla="val 35000"/>
            </a:avLst>
          </a:prstGeom>
          <a:solidFill>
            <a:schemeClr val="folHlink"/>
          </a:solidFill>
          <a:ln w="9525">
            <a:solidFill>
              <a:schemeClr val="tx1"/>
            </a:solidFill>
            <a:miter lim="800000"/>
          </a:ln>
        </p:spPr>
        <p:txBody>
          <a:bodyPr wrap="none" anchor="ctr"/>
          <a:lstStyle/>
          <a:p>
            <a:pPr fontAlgn="base">
              <a:spcBef>
                <a:spcPct val="0"/>
              </a:spcBef>
              <a:spcAft>
                <a:spcPct val="0"/>
              </a:spcAft>
            </a:pPr>
            <a:endParaRPr lang="en-US">
              <a:solidFill>
                <a:prstClr val="black"/>
              </a:solidFill>
              <a:latin typeface="Tahoma" panose="020B0604030504040204" pitchFamily="34" charset="0"/>
              <a:cs typeface="Arial" panose="020B0604020202020204" pitchFamily="34" charset="0"/>
            </a:endParaRPr>
          </a:p>
        </p:txBody>
      </p:sp>
      <p:sp>
        <p:nvSpPr>
          <p:cNvPr id="1049214" name="Text Box 7"/>
          <p:cNvSpPr txBox="1">
            <a:spLocks noChangeArrowheads="1"/>
          </p:cNvSpPr>
          <p:nvPr/>
        </p:nvSpPr>
        <p:spPr bwMode="auto">
          <a:xfrm>
            <a:off x="2057400" y="1676400"/>
            <a:ext cx="1769387" cy="396239"/>
          </a:xfrm>
          <a:prstGeom prst="rect">
            <a:avLst/>
          </a:prstGeom>
          <a:noFill/>
          <a:ln w="9525">
            <a:noFill/>
            <a:miter lim="800000"/>
          </a:ln>
        </p:spPr>
        <p:txBody>
          <a:bodyPr wrap="none">
            <a:spAutoFit/>
          </a:bodyPr>
          <a:lstStyle/>
          <a:p>
            <a:pPr fontAlgn="base">
              <a:spcBef>
                <a:spcPct val="0"/>
              </a:spcBef>
              <a:spcAft>
                <a:spcPct val="0"/>
              </a:spcAft>
            </a:pPr>
            <a:r>
              <a:rPr lang="en-US">
                <a:solidFill>
                  <a:prstClr val="black"/>
                </a:solidFill>
                <a:latin typeface="Tahoma" panose="020B0604030504040204" pitchFamily="34" charset="0"/>
                <a:cs typeface="Arial" panose="020B0604020202020204" pitchFamily="34" charset="0"/>
              </a:rPr>
              <a:t>from Transport</a:t>
            </a:r>
          </a:p>
        </p:txBody>
      </p:sp>
      <p:sp>
        <p:nvSpPr>
          <p:cNvPr id="1049215" name="Text Box 17"/>
          <p:cNvSpPr txBox="1">
            <a:spLocks noChangeArrowheads="1"/>
          </p:cNvSpPr>
          <p:nvPr/>
        </p:nvSpPr>
        <p:spPr bwMode="auto">
          <a:xfrm>
            <a:off x="2362200" y="4876800"/>
            <a:ext cx="1459726" cy="396240"/>
          </a:xfrm>
          <a:prstGeom prst="rect">
            <a:avLst/>
          </a:prstGeom>
          <a:noFill/>
          <a:ln w="9525">
            <a:noFill/>
            <a:miter lim="800000"/>
          </a:ln>
        </p:spPr>
        <p:txBody>
          <a:bodyPr wrap="none">
            <a:spAutoFit/>
          </a:bodyPr>
          <a:lstStyle/>
          <a:p>
            <a:pPr fontAlgn="base">
              <a:spcBef>
                <a:spcPct val="0"/>
              </a:spcBef>
              <a:spcAft>
                <a:spcPct val="0"/>
              </a:spcAft>
            </a:pPr>
            <a:r>
              <a:rPr lang="en-US">
                <a:solidFill>
                  <a:prstClr val="black"/>
                </a:solidFill>
                <a:latin typeface="Tahoma" panose="020B0604030504040204" pitchFamily="34" charset="0"/>
                <a:cs typeface="Arial" panose="020B0604020202020204" pitchFamily="34" charset="0"/>
              </a:rPr>
              <a:t>to Data Link</a:t>
            </a:r>
          </a:p>
        </p:txBody>
      </p:sp>
      <p:sp>
        <p:nvSpPr>
          <p:cNvPr id="1049216" name="Rectangle 24"/>
          <p:cNvSpPr>
            <a:spLocks noChangeArrowheads="1"/>
          </p:cNvSpPr>
          <p:nvPr/>
        </p:nvSpPr>
        <p:spPr bwMode="auto">
          <a:xfrm>
            <a:off x="5181600" y="3335338"/>
            <a:ext cx="3048000" cy="1066800"/>
          </a:xfrm>
          <a:prstGeom prst="rect">
            <a:avLst/>
          </a:prstGeom>
          <a:solidFill>
            <a:schemeClr val="bg1"/>
          </a:solidFill>
          <a:ln w="9525">
            <a:solidFill>
              <a:schemeClr val="tx1"/>
            </a:solidFill>
            <a:miter lim="800000"/>
          </a:ln>
        </p:spPr>
        <p:txBody>
          <a:bodyPr wrap="none" anchor="ctr"/>
          <a:lstStyle/>
          <a:p>
            <a:pPr fontAlgn="base">
              <a:spcBef>
                <a:spcPct val="0"/>
              </a:spcBef>
              <a:spcAft>
                <a:spcPct val="0"/>
              </a:spcAft>
            </a:pPr>
            <a:endParaRPr lang="en-US">
              <a:solidFill>
                <a:prstClr val="black"/>
              </a:solidFill>
              <a:latin typeface="Tahoma" panose="020B0604030504040204" pitchFamily="34" charset="0"/>
              <a:cs typeface="Arial" panose="020B0604020202020204" pitchFamily="34" charset="0"/>
            </a:endParaRPr>
          </a:p>
        </p:txBody>
      </p:sp>
      <p:sp>
        <p:nvSpPr>
          <p:cNvPr id="1049217" name="Rectangle 25"/>
          <p:cNvSpPr>
            <a:spLocks noChangeArrowheads="1"/>
          </p:cNvSpPr>
          <p:nvPr/>
        </p:nvSpPr>
        <p:spPr bwMode="auto">
          <a:xfrm>
            <a:off x="5715000" y="2743200"/>
            <a:ext cx="1600200" cy="304800"/>
          </a:xfrm>
          <a:prstGeom prst="rect">
            <a:avLst/>
          </a:prstGeom>
          <a:solidFill>
            <a:srgbClr val="080808"/>
          </a:solidFill>
          <a:ln w="9525">
            <a:solidFill>
              <a:schemeClr val="tx1"/>
            </a:solidFill>
            <a:miter lim="800000"/>
          </a:ln>
        </p:spPr>
        <p:txBody>
          <a:bodyPr wrap="none" anchor="ctr"/>
          <a:lstStyle/>
          <a:p>
            <a:pPr algn="ctr" fontAlgn="base">
              <a:spcBef>
                <a:spcPct val="0"/>
              </a:spcBef>
              <a:spcAft>
                <a:spcPct val="0"/>
              </a:spcAft>
            </a:pPr>
            <a:r>
              <a:rPr lang="en-US">
                <a:solidFill>
                  <a:prstClr val="white"/>
                </a:solidFill>
                <a:latin typeface="Tahoma" panose="020B0604030504040204" pitchFamily="34" charset="0"/>
                <a:cs typeface="Arial" panose="020B0604020202020204" pitchFamily="34" charset="0"/>
              </a:rPr>
              <a:t>Data</a:t>
            </a:r>
          </a:p>
        </p:txBody>
      </p:sp>
      <p:sp>
        <p:nvSpPr>
          <p:cNvPr id="1049218" name="AutoShape 26"/>
          <p:cNvSpPr>
            <a:spLocks noChangeArrowheads="1"/>
          </p:cNvSpPr>
          <p:nvPr/>
        </p:nvSpPr>
        <p:spPr bwMode="auto">
          <a:xfrm flipV="1">
            <a:off x="6400800" y="2133600"/>
            <a:ext cx="381000" cy="533400"/>
          </a:xfrm>
          <a:prstGeom prst="downArrow">
            <a:avLst>
              <a:gd name="adj1" fmla="val 50000"/>
              <a:gd name="adj2" fmla="val 35000"/>
            </a:avLst>
          </a:prstGeom>
          <a:solidFill>
            <a:schemeClr val="folHlink"/>
          </a:solidFill>
          <a:ln w="9525">
            <a:solidFill>
              <a:schemeClr val="tx1"/>
            </a:solidFill>
            <a:miter lim="800000"/>
          </a:ln>
        </p:spPr>
        <p:txBody>
          <a:bodyPr wrap="none" anchor="ctr"/>
          <a:lstStyle/>
          <a:p>
            <a:pPr fontAlgn="base">
              <a:spcBef>
                <a:spcPct val="0"/>
              </a:spcBef>
              <a:spcAft>
                <a:spcPct val="0"/>
              </a:spcAft>
            </a:pPr>
            <a:endParaRPr lang="en-US">
              <a:solidFill>
                <a:prstClr val="black"/>
              </a:solidFill>
              <a:latin typeface="Tahoma" panose="020B0604030504040204" pitchFamily="34" charset="0"/>
              <a:cs typeface="Arial" panose="020B0604020202020204" pitchFamily="34" charset="0"/>
            </a:endParaRPr>
          </a:p>
        </p:txBody>
      </p:sp>
      <p:sp>
        <p:nvSpPr>
          <p:cNvPr id="1049219" name="Text Box 27"/>
          <p:cNvSpPr txBox="1">
            <a:spLocks noChangeArrowheads="1"/>
          </p:cNvSpPr>
          <p:nvPr/>
        </p:nvSpPr>
        <p:spPr bwMode="auto">
          <a:xfrm>
            <a:off x="5638800" y="1676400"/>
            <a:ext cx="1493410" cy="396239"/>
          </a:xfrm>
          <a:prstGeom prst="rect">
            <a:avLst/>
          </a:prstGeom>
          <a:noFill/>
          <a:ln w="9525">
            <a:noFill/>
            <a:miter lim="800000"/>
          </a:ln>
        </p:spPr>
        <p:txBody>
          <a:bodyPr wrap="none">
            <a:spAutoFit/>
          </a:bodyPr>
          <a:lstStyle/>
          <a:p>
            <a:pPr fontAlgn="base">
              <a:spcBef>
                <a:spcPct val="0"/>
              </a:spcBef>
              <a:spcAft>
                <a:spcPct val="0"/>
              </a:spcAft>
            </a:pPr>
            <a:r>
              <a:rPr lang="en-US">
                <a:solidFill>
                  <a:prstClr val="black"/>
                </a:solidFill>
                <a:latin typeface="Tahoma" panose="020B0604030504040204" pitchFamily="34" charset="0"/>
                <a:cs typeface="Arial" panose="020B0604020202020204" pitchFamily="34" charset="0"/>
              </a:rPr>
              <a:t>to Transport</a:t>
            </a:r>
          </a:p>
        </p:txBody>
      </p:sp>
      <p:sp>
        <p:nvSpPr>
          <p:cNvPr id="1049220" name="Text Box 37"/>
          <p:cNvSpPr txBox="1">
            <a:spLocks noChangeArrowheads="1"/>
          </p:cNvSpPr>
          <p:nvPr/>
        </p:nvSpPr>
        <p:spPr bwMode="auto">
          <a:xfrm>
            <a:off x="5943600" y="4876800"/>
            <a:ext cx="1735703" cy="396240"/>
          </a:xfrm>
          <a:prstGeom prst="rect">
            <a:avLst/>
          </a:prstGeom>
          <a:noFill/>
          <a:ln w="9525">
            <a:noFill/>
            <a:miter lim="800000"/>
          </a:ln>
        </p:spPr>
        <p:txBody>
          <a:bodyPr wrap="none">
            <a:spAutoFit/>
          </a:bodyPr>
          <a:lstStyle/>
          <a:p>
            <a:pPr fontAlgn="base">
              <a:spcBef>
                <a:spcPct val="0"/>
              </a:spcBef>
              <a:spcAft>
                <a:spcPct val="0"/>
              </a:spcAft>
            </a:pPr>
            <a:r>
              <a:rPr lang="en-US">
                <a:solidFill>
                  <a:prstClr val="black"/>
                </a:solidFill>
                <a:latin typeface="Tahoma" panose="020B0604030504040204" pitchFamily="34" charset="0"/>
                <a:cs typeface="Arial" panose="020B0604020202020204" pitchFamily="34" charset="0"/>
              </a:rPr>
              <a:t>from Data Link</a:t>
            </a:r>
          </a:p>
        </p:txBody>
      </p:sp>
      <p:sp>
        <p:nvSpPr>
          <p:cNvPr id="1049221" name="Rectangle 47"/>
          <p:cNvSpPr>
            <a:spLocks noChangeArrowheads="1"/>
          </p:cNvSpPr>
          <p:nvPr/>
        </p:nvSpPr>
        <p:spPr bwMode="auto">
          <a:xfrm>
            <a:off x="2133600" y="3505200"/>
            <a:ext cx="1600200" cy="304800"/>
          </a:xfrm>
          <a:prstGeom prst="rect">
            <a:avLst/>
          </a:prstGeom>
          <a:solidFill>
            <a:srgbClr val="080808"/>
          </a:solidFill>
          <a:ln w="9525">
            <a:solidFill>
              <a:schemeClr val="tx1"/>
            </a:solidFill>
            <a:miter lim="800000"/>
          </a:ln>
        </p:spPr>
        <p:txBody>
          <a:bodyPr wrap="none" anchor="ctr"/>
          <a:lstStyle/>
          <a:p>
            <a:pPr algn="ctr" fontAlgn="base">
              <a:spcBef>
                <a:spcPct val="0"/>
              </a:spcBef>
              <a:spcAft>
                <a:spcPct val="0"/>
              </a:spcAft>
            </a:pPr>
            <a:r>
              <a:rPr lang="en-US">
                <a:solidFill>
                  <a:prstClr val="white"/>
                </a:solidFill>
                <a:latin typeface="Tahoma" panose="020B0604030504040204" pitchFamily="34" charset="0"/>
                <a:cs typeface="Arial" panose="020B0604020202020204" pitchFamily="34" charset="0"/>
              </a:rPr>
              <a:t>Data</a:t>
            </a:r>
          </a:p>
        </p:txBody>
      </p:sp>
      <p:sp>
        <p:nvSpPr>
          <p:cNvPr id="1049222" name="Rectangle 48"/>
          <p:cNvSpPr>
            <a:spLocks noChangeArrowheads="1"/>
          </p:cNvSpPr>
          <p:nvPr/>
        </p:nvSpPr>
        <p:spPr bwMode="auto">
          <a:xfrm>
            <a:off x="3733800" y="3505200"/>
            <a:ext cx="609600" cy="304800"/>
          </a:xfrm>
          <a:prstGeom prst="rect">
            <a:avLst/>
          </a:prstGeom>
          <a:solidFill>
            <a:schemeClr val="tx1"/>
          </a:solidFill>
          <a:ln w="9525">
            <a:solidFill>
              <a:schemeClr val="tx1"/>
            </a:solidFill>
            <a:miter lim="800000"/>
          </a:ln>
        </p:spPr>
        <p:txBody>
          <a:bodyPr wrap="none" anchor="ctr"/>
          <a:lstStyle/>
          <a:p>
            <a:pPr algn="ctr" fontAlgn="base">
              <a:spcBef>
                <a:spcPct val="0"/>
              </a:spcBef>
              <a:spcAft>
                <a:spcPct val="0"/>
              </a:spcAft>
            </a:pPr>
            <a:r>
              <a:rPr lang="en-US">
                <a:solidFill>
                  <a:prstClr val="white"/>
                </a:solidFill>
                <a:latin typeface="Tahoma" panose="020B0604030504040204" pitchFamily="34" charset="0"/>
                <a:cs typeface="Arial" panose="020B0604020202020204" pitchFamily="34" charset="0"/>
              </a:rPr>
              <a:t>H3</a:t>
            </a:r>
          </a:p>
        </p:txBody>
      </p:sp>
      <p:sp>
        <p:nvSpPr>
          <p:cNvPr id="1049223" name="AutoShape 49"/>
          <p:cNvSpPr>
            <a:spLocks noChangeArrowheads="1"/>
          </p:cNvSpPr>
          <p:nvPr/>
        </p:nvSpPr>
        <p:spPr bwMode="auto">
          <a:xfrm>
            <a:off x="3048000" y="4191000"/>
            <a:ext cx="381000" cy="609600"/>
          </a:xfrm>
          <a:prstGeom prst="downArrow">
            <a:avLst>
              <a:gd name="adj1" fmla="val 50000"/>
              <a:gd name="adj2" fmla="val 40000"/>
            </a:avLst>
          </a:prstGeom>
          <a:solidFill>
            <a:schemeClr val="folHlink"/>
          </a:solidFill>
          <a:ln w="9525">
            <a:solidFill>
              <a:schemeClr val="tx1"/>
            </a:solidFill>
            <a:miter lim="800000"/>
          </a:ln>
        </p:spPr>
        <p:txBody>
          <a:bodyPr wrap="none" anchor="ctr"/>
          <a:lstStyle/>
          <a:p>
            <a:pPr fontAlgn="base">
              <a:spcBef>
                <a:spcPct val="0"/>
              </a:spcBef>
              <a:spcAft>
                <a:spcPct val="0"/>
              </a:spcAft>
            </a:pPr>
            <a:endParaRPr lang="en-US">
              <a:solidFill>
                <a:prstClr val="black"/>
              </a:solidFill>
              <a:latin typeface="Tahoma" panose="020B0604030504040204" pitchFamily="34" charset="0"/>
              <a:cs typeface="Arial" panose="020B0604020202020204" pitchFamily="34" charset="0"/>
            </a:endParaRPr>
          </a:p>
        </p:txBody>
      </p:sp>
      <p:sp>
        <p:nvSpPr>
          <p:cNvPr id="1049224" name="Rectangle 50"/>
          <p:cNvSpPr>
            <a:spLocks noChangeArrowheads="1"/>
          </p:cNvSpPr>
          <p:nvPr/>
        </p:nvSpPr>
        <p:spPr bwMode="auto">
          <a:xfrm>
            <a:off x="5715000" y="3505200"/>
            <a:ext cx="1600200" cy="304800"/>
          </a:xfrm>
          <a:prstGeom prst="rect">
            <a:avLst/>
          </a:prstGeom>
          <a:solidFill>
            <a:srgbClr val="080808"/>
          </a:solidFill>
          <a:ln w="9525">
            <a:solidFill>
              <a:schemeClr val="tx1"/>
            </a:solidFill>
            <a:miter lim="800000"/>
          </a:ln>
        </p:spPr>
        <p:txBody>
          <a:bodyPr wrap="none" anchor="ctr"/>
          <a:lstStyle/>
          <a:p>
            <a:pPr algn="ctr" fontAlgn="base">
              <a:spcBef>
                <a:spcPct val="0"/>
              </a:spcBef>
              <a:spcAft>
                <a:spcPct val="0"/>
              </a:spcAft>
            </a:pPr>
            <a:r>
              <a:rPr lang="en-US">
                <a:solidFill>
                  <a:prstClr val="white"/>
                </a:solidFill>
                <a:latin typeface="Tahoma" panose="020B0604030504040204" pitchFamily="34" charset="0"/>
                <a:cs typeface="Arial" panose="020B0604020202020204" pitchFamily="34" charset="0"/>
              </a:rPr>
              <a:t>Data</a:t>
            </a:r>
          </a:p>
        </p:txBody>
      </p:sp>
      <p:sp>
        <p:nvSpPr>
          <p:cNvPr id="1049225" name="Rectangle 51"/>
          <p:cNvSpPr>
            <a:spLocks noChangeArrowheads="1"/>
          </p:cNvSpPr>
          <p:nvPr/>
        </p:nvSpPr>
        <p:spPr bwMode="auto">
          <a:xfrm>
            <a:off x="7315200" y="3505200"/>
            <a:ext cx="609600" cy="304800"/>
          </a:xfrm>
          <a:prstGeom prst="rect">
            <a:avLst/>
          </a:prstGeom>
          <a:solidFill>
            <a:schemeClr val="tx1"/>
          </a:solidFill>
          <a:ln w="9525">
            <a:solidFill>
              <a:schemeClr val="tx1"/>
            </a:solidFill>
            <a:miter lim="800000"/>
          </a:ln>
        </p:spPr>
        <p:txBody>
          <a:bodyPr wrap="none" anchor="ctr"/>
          <a:lstStyle/>
          <a:p>
            <a:pPr algn="ctr" fontAlgn="base">
              <a:spcBef>
                <a:spcPct val="0"/>
              </a:spcBef>
              <a:spcAft>
                <a:spcPct val="0"/>
              </a:spcAft>
            </a:pPr>
            <a:r>
              <a:rPr lang="en-US">
                <a:solidFill>
                  <a:prstClr val="white"/>
                </a:solidFill>
                <a:latin typeface="Tahoma" panose="020B0604030504040204" pitchFamily="34" charset="0"/>
                <a:cs typeface="Arial" panose="020B0604020202020204" pitchFamily="34" charset="0"/>
              </a:rPr>
              <a:t>H3</a:t>
            </a:r>
          </a:p>
        </p:txBody>
      </p:sp>
      <p:sp>
        <p:nvSpPr>
          <p:cNvPr id="1049226" name="Line 52"/>
          <p:cNvSpPr>
            <a:spLocks noChangeShapeType="1"/>
          </p:cNvSpPr>
          <p:nvPr/>
        </p:nvSpPr>
        <p:spPr bwMode="auto">
          <a:xfrm>
            <a:off x="2133600" y="3048000"/>
            <a:ext cx="0" cy="457200"/>
          </a:xfrm>
          <a:prstGeom prst="line">
            <a:avLst/>
          </a:prstGeom>
          <a:noFill/>
          <a:ln w="9525">
            <a:solidFill>
              <a:schemeClr val="tx1"/>
            </a:solidFill>
            <a:prstDash val="dash"/>
            <a:round/>
          </a:ln>
        </p:spPr>
        <p:txBody>
          <a:bodyPr/>
          <a:lstStyle/>
          <a:p>
            <a:pPr fontAlgn="base">
              <a:spcBef>
                <a:spcPct val="0"/>
              </a:spcBef>
              <a:spcAft>
                <a:spcPct val="0"/>
              </a:spcAft>
            </a:pPr>
            <a:endParaRPr lang="en-US">
              <a:solidFill>
                <a:prstClr val="black"/>
              </a:solidFill>
              <a:latin typeface="Tahoma" panose="020B0604030504040204" pitchFamily="34" charset="0"/>
              <a:cs typeface="Arial" panose="020B0604020202020204" pitchFamily="34" charset="0"/>
            </a:endParaRPr>
          </a:p>
        </p:txBody>
      </p:sp>
      <p:sp>
        <p:nvSpPr>
          <p:cNvPr id="1049227" name="Line 53"/>
          <p:cNvSpPr>
            <a:spLocks noChangeShapeType="1"/>
          </p:cNvSpPr>
          <p:nvPr/>
        </p:nvSpPr>
        <p:spPr bwMode="auto">
          <a:xfrm>
            <a:off x="3733800" y="3048000"/>
            <a:ext cx="0" cy="457200"/>
          </a:xfrm>
          <a:prstGeom prst="line">
            <a:avLst/>
          </a:prstGeom>
          <a:noFill/>
          <a:ln w="9525">
            <a:solidFill>
              <a:schemeClr val="tx1"/>
            </a:solidFill>
            <a:prstDash val="dash"/>
            <a:round/>
          </a:ln>
        </p:spPr>
        <p:txBody>
          <a:bodyPr/>
          <a:lstStyle/>
          <a:p>
            <a:pPr fontAlgn="base">
              <a:spcBef>
                <a:spcPct val="0"/>
              </a:spcBef>
              <a:spcAft>
                <a:spcPct val="0"/>
              </a:spcAft>
            </a:pPr>
            <a:endParaRPr lang="en-US">
              <a:solidFill>
                <a:prstClr val="black"/>
              </a:solidFill>
              <a:latin typeface="Tahoma" panose="020B0604030504040204" pitchFamily="34" charset="0"/>
              <a:cs typeface="Arial" panose="020B0604020202020204" pitchFamily="34" charset="0"/>
            </a:endParaRPr>
          </a:p>
        </p:txBody>
      </p:sp>
      <p:sp>
        <p:nvSpPr>
          <p:cNvPr id="1049228" name="Line 54"/>
          <p:cNvSpPr>
            <a:spLocks noChangeShapeType="1"/>
          </p:cNvSpPr>
          <p:nvPr/>
        </p:nvSpPr>
        <p:spPr bwMode="auto">
          <a:xfrm>
            <a:off x="5715000" y="3048000"/>
            <a:ext cx="0" cy="457200"/>
          </a:xfrm>
          <a:prstGeom prst="line">
            <a:avLst/>
          </a:prstGeom>
          <a:noFill/>
          <a:ln w="9525">
            <a:solidFill>
              <a:schemeClr val="tx1"/>
            </a:solidFill>
            <a:prstDash val="dash"/>
            <a:round/>
          </a:ln>
        </p:spPr>
        <p:txBody>
          <a:bodyPr/>
          <a:lstStyle/>
          <a:p>
            <a:pPr fontAlgn="base">
              <a:spcBef>
                <a:spcPct val="0"/>
              </a:spcBef>
              <a:spcAft>
                <a:spcPct val="0"/>
              </a:spcAft>
            </a:pPr>
            <a:endParaRPr lang="en-US">
              <a:solidFill>
                <a:prstClr val="black"/>
              </a:solidFill>
              <a:latin typeface="Tahoma" panose="020B0604030504040204" pitchFamily="34" charset="0"/>
              <a:cs typeface="Arial" panose="020B0604020202020204" pitchFamily="34" charset="0"/>
            </a:endParaRPr>
          </a:p>
        </p:txBody>
      </p:sp>
      <p:sp>
        <p:nvSpPr>
          <p:cNvPr id="1049229" name="Line 55"/>
          <p:cNvSpPr>
            <a:spLocks noChangeShapeType="1"/>
          </p:cNvSpPr>
          <p:nvPr/>
        </p:nvSpPr>
        <p:spPr bwMode="auto">
          <a:xfrm>
            <a:off x="7315200" y="3048000"/>
            <a:ext cx="0" cy="457200"/>
          </a:xfrm>
          <a:prstGeom prst="line">
            <a:avLst/>
          </a:prstGeom>
          <a:noFill/>
          <a:ln w="9525">
            <a:solidFill>
              <a:schemeClr val="tx1"/>
            </a:solidFill>
            <a:prstDash val="dash"/>
            <a:round/>
          </a:ln>
        </p:spPr>
        <p:txBody>
          <a:bodyPr/>
          <a:lstStyle/>
          <a:p>
            <a:pPr fontAlgn="base">
              <a:spcBef>
                <a:spcPct val="0"/>
              </a:spcBef>
              <a:spcAft>
                <a:spcPct val="0"/>
              </a:spcAft>
            </a:pPr>
            <a:endParaRPr lang="en-US">
              <a:solidFill>
                <a:prstClr val="black"/>
              </a:solidFill>
              <a:latin typeface="Tahoma" panose="020B0604030504040204" pitchFamily="34" charset="0"/>
              <a:cs typeface="Arial" panose="020B0604020202020204" pitchFamily="34" charset="0"/>
            </a:endParaRPr>
          </a:p>
        </p:txBody>
      </p:sp>
      <p:sp>
        <p:nvSpPr>
          <p:cNvPr id="1049230" name="Text Box 58"/>
          <p:cNvSpPr txBox="1">
            <a:spLocks noChangeArrowheads="1"/>
          </p:cNvSpPr>
          <p:nvPr/>
        </p:nvSpPr>
        <p:spPr bwMode="auto">
          <a:xfrm>
            <a:off x="2667000" y="3810000"/>
            <a:ext cx="1056749" cy="396240"/>
          </a:xfrm>
          <a:prstGeom prst="rect">
            <a:avLst/>
          </a:prstGeom>
          <a:noFill/>
          <a:ln w="9525">
            <a:noFill/>
            <a:miter lim="800000"/>
          </a:ln>
        </p:spPr>
        <p:txBody>
          <a:bodyPr wrap="none">
            <a:spAutoFit/>
          </a:bodyPr>
          <a:lstStyle/>
          <a:p>
            <a:pPr fontAlgn="base">
              <a:spcBef>
                <a:spcPct val="0"/>
              </a:spcBef>
              <a:spcAft>
                <a:spcPct val="0"/>
              </a:spcAft>
            </a:pPr>
            <a:r>
              <a:rPr lang="en-US" i="1">
                <a:solidFill>
                  <a:prstClr val="black"/>
                </a:solidFill>
                <a:latin typeface="Tahoma" panose="020B0604030504040204" pitchFamily="34" charset="0"/>
                <a:cs typeface="Arial" panose="020B0604020202020204" pitchFamily="34" charset="0"/>
              </a:rPr>
              <a:t>(packet)</a:t>
            </a:r>
          </a:p>
        </p:txBody>
      </p:sp>
      <p:sp>
        <p:nvSpPr>
          <p:cNvPr id="1049231" name="AutoShape 59"/>
          <p:cNvSpPr>
            <a:spLocks noChangeArrowheads="1"/>
          </p:cNvSpPr>
          <p:nvPr/>
        </p:nvSpPr>
        <p:spPr bwMode="auto">
          <a:xfrm flipV="1">
            <a:off x="6553200" y="4038600"/>
            <a:ext cx="381000" cy="762000"/>
          </a:xfrm>
          <a:prstGeom prst="downArrow">
            <a:avLst>
              <a:gd name="adj1" fmla="val 50000"/>
              <a:gd name="adj2" fmla="val 50000"/>
            </a:avLst>
          </a:prstGeom>
          <a:solidFill>
            <a:schemeClr val="folHlink"/>
          </a:solidFill>
          <a:ln w="9525">
            <a:solidFill>
              <a:schemeClr val="tx1"/>
            </a:solidFill>
            <a:miter lim="800000"/>
          </a:ln>
        </p:spPr>
        <p:txBody>
          <a:bodyPr wrap="none" anchor="ctr"/>
          <a:lstStyle/>
          <a:p>
            <a:pPr fontAlgn="base">
              <a:spcBef>
                <a:spcPct val="0"/>
              </a:spcBef>
              <a:spcAft>
                <a:spcPct val="0"/>
              </a:spcAft>
            </a:pPr>
            <a:endParaRPr lang="en-US">
              <a:solidFill>
                <a:prstClr val="black"/>
              </a:solidFill>
              <a:latin typeface="Tahoma" panose="020B0604030504040204" pitchFamily="34" charset="0"/>
              <a:cs typeface="Arial" panose="020B0604020202020204" pitchFamily="34" charset="0"/>
            </a:endParaRPr>
          </a:p>
        </p:txBody>
      </p:sp>
    </p:spTree>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049210"/>
                                        </p:tgtEl>
                                        <p:attrNameLst>
                                          <p:attrName>style.visibility</p:attrName>
                                        </p:attrNameLst>
                                      </p:cBhvr>
                                      <p:to>
                                        <p:strVal val="visible"/>
                                      </p:to>
                                    </p:set>
                                    <p:anim calcmode="lin" valueType="num">
                                      <p:cBhvr additive="base">
                                        <p:cTn id="7" dur="500" fill="hold"/>
                                        <p:tgtEl>
                                          <p:spTgt spid="1049210"/>
                                        </p:tgtEl>
                                        <p:attrNameLst>
                                          <p:attrName>ppt_x</p:attrName>
                                        </p:attrNameLst>
                                      </p:cBhvr>
                                      <p:tavLst>
                                        <p:tav tm="0">
                                          <p:val>
                                            <p:strVal val="0-#ppt_w/2"/>
                                          </p:val>
                                        </p:tav>
                                        <p:tav tm="100000">
                                          <p:val>
                                            <p:strVal val="#ppt_x"/>
                                          </p:val>
                                        </p:tav>
                                      </p:tavLst>
                                    </p:anim>
                                    <p:anim calcmode="lin" valueType="num">
                                      <p:cBhvr additive="base">
                                        <p:cTn id="8" dur="500" fill="hold"/>
                                        <p:tgtEl>
                                          <p:spTgt spid="1049210"/>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8" fill="hold" grpId="0" nodeType="afterEffect">
                                  <p:stCondLst>
                                    <p:cond delay="0"/>
                                  </p:stCondLst>
                                  <p:childTnLst>
                                    <p:set>
                                      <p:cBhvr>
                                        <p:cTn id="11" dur="1" fill="hold">
                                          <p:stCondLst>
                                            <p:cond delay="0"/>
                                          </p:stCondLst>
                                        </p:cTn>
                                        <p:tgtEl>
                                          <p:spTgt spid="1049211"/>
                                        </p:tgtEl>
                                        <p:attrNameLst>
                                          <p:attrName>style.visibility</p:attrName>
                                        </p:attrNameLst>
                                      </p:cBhvr>
                                      <p:to>
                                        <p:strVal val="visible"/>
                                      </p:to>
                                    </p:set>
                                    <p:anim calcmode="lin" valueType="num">
                                      <p:cBhvr additive="base">
                                        <p:cTn id="12" dur="500" fill="hold"/>
                                        <p:tgtEl>
                                          <p:spTgt spid="1049211"/>
                                        </p:tgtEl>
                                        <p:attrNameLst>
                                          <p:attrName>ppt_x</p:attrName>
                                        </p:attrNameLst>
                                      </p:cBhvr>
                                      <p:tavLst>
                                        <p:tav tm="0">
                                          <p:val>
                                            <p:strVal val="0-#ppt_w/2"/>
                                          </p:val>
                                        </p:tav>
                                        <p:tav tm="100000">
                                          <p:val>
                                            <p:strVal val="#ppt_x"/>
                                          </p:val>
                                        </p:tav>
                                      </p:tavLst>
                                    </p:anim>
                                    <p:anim calcmode="lin" valueType="num">
                                      <p:cBhvr additive="base">
                                        <p:cTn id="13" dur="500" fill="hold"/>
                                        <p:tgtEl>
                                          <p:spTgt spid="1049211"/>
                                        </p:tgtEl>
                                        <p:attrNameLst>
                                          <p:attrName>ppt_y</p:attrName>
                                        </p:attrNameLst>
                                      </p:cBhvr>
                                      <p:tavLst>
                                        <p:tav tm="0">
                                          <p:val>
                                            <p:strVal val="#ppt_y"/>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grpId="0" nodeType="clickEffect">
                                  <p:stCondLst>
                                    <p:cond delay="0"/>
                                  </p:stCondLst>
                                  <p:childTnLst>
                                    <p:set>
                                      <p:cBhvr>
                                        <p:cTn id="17" dur="1" fill="hold">
                                          <p:stCondLst>
                                            <p:cond delay="0"/>
                                          </p:stCondLst>
                                        </p:cTn>
                                        <p:tgtEl>
                                          <p:spTgt spid="1049214"/>
                                        </p:tgtEl>
                                        <p:attrNameLst>
                                          <p:attrName>style.visibility</p:attrName>
                                        </p:attrNameLst>
                                      </p:cBhvr>
                                      <p:to>
                                        <p:strVal val="visible"/>
                                      </p:to>
                                    </p:set>
                                  </p:childTnLst>
                                </p:cTn>
                              </p:par>
                            </p:childTnLst>
                          </p:cTn>
                        </p:par>
                        <p:par>
                          <p:cTn id="18" fill="hold">
                            <p:stCondLst>
                              <p:cond delay="0"/>
                            </p:stCondLst>
                            <p:childTnLst>
                              <p:par>
                                <p:cTn id="19" presetID="22" presetClass="entr" presetSubtype="1" fill="hold" grpId="0" nodeType="afterEffect">
                                  <p:stCondLst>
                                    <p:cond delay="0"/>
                                  </p:stCondLst>
                                  <p:childTnLst>
                                    <p:set>
                                      <p:cBhvr>
                                        <p:cTn id="20" dur="1" fill="hold">
                                          <p:stCondLst>
                                            <p:cond delay="0"/>
                                          </p:stCondLst>
                                        </p:cTn>
                                        <p:tgtEl>
                                          <p:spTgt spid="1049213"/>
                                        </p:tgtEl>
                                        <p:attrNameLst>
                                          <p:attrName>style.visibility</p:attrName>
                                        </p:attrNameLst>
                                      </p:cBhvr>
                                      <p:to>
                                        <p:strVal val="visible"/>
                                      </p:to>
                                    </p:set>
                                    <p:animEffect transition="in" filter="wipe(up)">
                                      <p:cBhvr>
                                        <p:cTn id="21" dur="500"/>
                                        <p:tgtEl>
                                          <p:spTgt spid="1049213"/>
                                        </p:tgtEl>
                                      </p:cBhvr>
                                    </p:animEffect>
                                  </p:childTnLst>
                                </p:cTn>
                              </p:par>
                            </p:childTnLst>
                          </p:cTn>
                        </p:par>
                        <p:par>
                          <p:cTn id="22" fill="hold">
                            <p:stCondLst>
                              <p:cond delay="500"/>
                            </p:stCondLst>
                            <p:childTnLst>
                              <p:par>
                                <p:cTn id="23" presetID="22" presetClass="entr" presetSubtype="1" fill="hold" grpId="0" nodeType="afterEffect">
                                  <p:stCondLst>
                                    <p:cond delay="0"/>
                                  </p:stCondLst>
                                  <p:childTnLst>
                                    <p:set>
                                      <p:cBhvr>
                                        <p:cTn id="24" dur="1" fill="hold">
                                          <p:stCondLst>
                                            <p:cond delay="0"/>
                                          </p:stCondLst>
                                        </p:cTn>
                                        <p:tgtEl>
                                          <p:spTgt spid="1049212"/>
                                        </p:tgtEl>
                                        <p:attrNameLst>
                                          <p:attrName>style.visibility</p:attrName>
                                        </p:attrNameLst>
                                      </p:cBhvr>
                                      <p:to>
                                        <p:strVal val="visible"/>
                                      </p:to>
                                    </p:set>
                                    <p:animEffect transition="in" filter="wipe(up)">
                                      <p:cBhvr>
                                        <p:cTn id="25" dur="500"/>
                                        <p:tgtEl>
                                          <p:spTgt spid="1049212"/>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1" fill="hold" grpId="0" nodeType="clickEffect">
                                  <p:stCondLst>
                                    <p:cond delay="0"/>
                                  </p:stCondLst>
                                  <p:childTnLst>
                                    <p:set>
                                      <p:cBhvr>
                                        <p:cTn id="29" dur="1" fill="hold">
                                          <p:stCondLst>
                                            <p:cond delay="0"/>
                                          </p:stCondLst>
                                        </p:cTn>
                                        <p:tgtEl>
                                          <p:spTgt spid="1049226"/>
                                        </p:tgtEl>
                                        <p:attrNameLst>
                                          <p:attrName>style.visibility</p:attrName>
                                        </p:attrNameLst>
                                      </p:cBhvr>
                                      <p:to>
                                        <p:strVal val="visible"/>
                                      </p:to>
                                    </p:set>
                                    <p:animEffect transition="in" filter="wipe(up)">
                                      <p:cBhvr>
                                        <p:cTn id="30" dur="500"/>
                                        <p:tgtEl>
                                          <p:spTgt spid="1049226"/>
                                        </p:tgtEl>
                                      </p:cBhvr>
                                    </p:animEffect>
                                  </p:childTnLst>
                                </p:cTn>
                              </p:par>
                              <p:par>
                                <p:cTn id="31" presetID="22" presetClass="entr" presetSubtype="1" fill="hold" grpId="0" nodeType="withEffect">
                                  <p:stCondLst>
                                    <p:cond delay="0"/>
                                  </p:stCondLst>
                                  <p:childTnLst>
                                    <p:set>
                                      <p:cBhvr>
                                        <p:cTn id="32" dur="1" fill="hold">
                                          <p:stCondLst>
                                            <p:cond delay="0"/>
                                          </p:stCondLst>
                                        </p:cTn>
                                        <p:tgtEl>
                                          <p:spTgt spid="1049227"/>
                                        </p:tgtEl>
                                        <p:attrNameLst>
                                          <p:attrName>style.visibility</p:attrName>
                                        </p:attrNameLst>
                                      </p:cBhvr>
                                      <p:to>
                                        <p:strVal val="visible"/>
                                      </p:to>
                                    </p:set>
                                    <p:animEffect transition="in" filter="wipe(up)">
                                      <p:cBhvr>
                                        <p:cTn id="33" dur="500"/>
                                        <p:tgtEl>
                                          <p:spTgt spid="1049227"/>
                                        </p:tgtEl>
                                      </p:cBhvr>
                                    </p:animEffect>
                                  </p:childTnLst>
                                </p:cTn>
                              </p:par>
                            </p:childTnLst>
                          </p:cTn>
                        </p:par>
                        <p:par>
                          <p:cTn id="34" fill="hold">
                            <p:stCondLst>
                              <p:cond delay="500"/>
                            </p:stCondLst>
                            <p:childTnLst>
                              <p:par>
                                <p:cTn id="35" presetID="22" presetClass="entr" presetSubtype="1" fill="hold" grpId="0" nodeType="afterEffect">
                                  <p:stCondLst>
                                    <p:cond delay="0"/>
                                  </p:stCondLst>
                                  <p:childTnLst>
                                    <p:set>
                                      <p:cBhvr>
                                        <p:cTn id="36" dur="1" fill="hold">
                                          <p:stCondLst>
                                            <p:cond delay="0"/>
                                          </p:stCondLst>
                                        </p:cTn>
                                        <p:tgtEl>
                                          <p:spTgt spid="1049221"/>
                                        </p:tgtEl>
                                        <p:attrNameLst>
                                          <p:attrName>style.visibility</p:attrName>
                                        </p:attrNameLst>
                                      </p:cBhvr>
                                      <p:to>
                                        <p:strVal val="visible"/>
                                      </p:to>
                                    </p:set>
                                    <p:animEffect transition="in" filter="wipe(up)">
                                      <p:cBhvr>
                                        <p:cTn id="37" dur="500"/>
                                        <p:tgtEl>
                                          <p:spTgt spid="1049221"/>
                                        </p:tgtEl>
                                      </p:cBhvr>
                                    </p:animEffect>
                                  </p:childTnLst>
                                </p:cTn>
                              </p:par>
                            </p:childTnLst>
                          </p:cTn>
                        </p:par>
                        <p:par>
                          <p:cTn id="38" fill="hold">
                            <p:stCondLst>
                              <p:cond delay="1000"/>
                            </p:stCondLst>
                            <p:childTnLst>
                              <p:par>
                                <p:cTn id="39" presetID="2" presetClass="entr" presetSubtype="2" fill="hold" grpId="0" nodeType="afterEffect">
                                  <p:stCondLst>
                                    <p:cond delay="0"/>
                                  </p:stCondLst>
                                  <p:childTnLst>
                                    <p:set>
                                      <p:cBhvr>
                                        <p:cTn id="40" dur="1" fill="hold">
                                          <p:stCondLst>
                                            <p:cond delay="0"/>
                                          </p:stCondLst>
                                        </p:cTn>
                                        <p:tgtEl>
                                          <p:spTgt spid="1049222"/>
                                        </p:tgtEl>
                                        <p:attrNameLst>
                                          <p:attrName>style.visibility</p:attrName>
                                        </p:attrNameLst>
                                      </p:cBhvr>
                                      <p:to>
                                        <p:strVal val="visible"/>
                                      </p:to>
                                    </p:set>
                                    <p:anim calcmode="lin" valueType="num">
                                      <p:cBhvr additive="base">
                                        <p:cTn id="41" dur="500" fill="hold"/>
                                        <p:tgtEl>
                                          <p:spTgt spid="1049222"/>
                                        </p:tgtEl>
                                        <p:attrNameLst>
                                          <p:attrName>ppt_x</p:attrName>
                                        </p:attrNameLst>
                                      </p:cBhvr>
                                      <p:tavLst>
                                        <p:tav tm="0">
                                          <p:val>
                                            <p:strVal val="1+#ppt_w/2"/>
                                          </p:val>
                                        </p:tav>
                                        <p:tav tm="100000">
                                          <p:val>
                                            <p:strVal val="#ppt_x"/>
                                          </p:val>
                                        </p:tav>
                                      </p:tavLst>
                                    </p:anim>
                                    <p:anim calcmode="lin" valueType="num">
                                      <p:cBhvr additive="base">
                                        <p:cTn id="42" dur="500" fill="hold"/>
                                        <p:tgtEl>
                                          <p:spTgt spid="1049222"/>
                                        </p:tgtEl>
                                        <p:attrNameLst>
                                          <p:attrName>ppt_y</p:attrName>
                                        </p:attrNameLst>
                                      </p:cBhvr>
                                      <p:tavLst>
                                        <p:tav tm="0">
                                          <p:val>
                                            <p:strVal val="#ppt_y"/>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9" presetClass="entr" presetSubtype="0" fill="hold" grpId="0" nodeType="clickEffect">
                                  <p:stCondLst>
                                    <p:cond delay="0"/>
                                  </p:stCondLst>
                                  <p:childTnLst>
                                    <p:set>
                                      <p:cBhvr>
                                        <p:cTn id="46" dur="1" fill="hold">
                                          <p:stCondLst>
                                            <p:cond delay="0"/>
                                          </p:stCondLst>
                                        </p:cTn>
                                        <p:tgtEl>
                                          <p:spTgt spid="1049230"/>
                                        </p:tgtEl>
                                        <p:attrNameLst>
                                          <p:attrName>style.visibility</p:attrName>
                                        </p:attrNameLst>
                                      </p:cBhvr>
                                      <p:to>
                                        <p:strVal val="visible"/>
                                      </p:to>
                                    </p:set>
                                    <p:animEffect transition="in" filter="dissolve">
                                      <p:cBhvr>
                                        <p:cTn id="47" dur="500"/>
                                        <p:tgtEl>
                                          <p:spTgt spid="1049230"/>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1" fill="hold" grpId="0" nodeType="clickEffect">
                                  <p:stCondLst>
                                    <p:cond delay="0"/>
                                  </p:stCondLst>
                                  <p:childTnLst>
                                    <p:set>
                                      <p:cBhvr>
                                        <p:cTn id="51" dur="1" fill="hold">
                                          <p:stCondLst>
                                            <p:cond delay="0"/>
                                          </p:stCondLst>
                                        </p:cTn>
                                        <p:tgtEl>
                                          <p:spTgt spid="1049223"/>
                                        </p:tgtEl>
                                        <p:attrNameLst>
                                          <p:attrName>style.visibility</p:attrName>
                                        </p:attrNameLst>
                                      </p:cBhvr>
                                      <p:to>
                                        <p:strVal val="visible"/>
                                      </p:to>
                                    </p:set>
                                    <p:animEffect transition="in" filter="wipe(up)">
                                      <p:cBhvr>
                                        <p:cTn id="52" dur="500"/>
                                        <p:tgtEl>
                                          <p:spTgt spid="1049223"/>
                                        </p:tgtEl>
                                      </p:cBhvr>
                                    </p:animEffect>
                                  </p:childTnLst>
                                </p:cTn>
                              </p:par>
                            </p:childTnLst>
                          </p:cTn>
                        </p:par>
                        <p:par>
                          <p:cTn id="53" fill="hold">
                            <p:stCondLst>
                              <p:cond delay="500"/>
                            </p:stCondLst>
                            <p:childTnLst>
                              <p:par>
                                <p:cTn id="54" presetID="1" presetClass="entr" presetSubtype="0" fill="hold" grpId="0" nodeType="afterEffect">
                                  <p:stCondLst>
                                    <p:cond delay="0"/>
                                  </p:stCondLst>
                                  <p:childTnLst>
                                    <p:set>
                                      <p:cBhvr>
                                        <p:cTn id="55" dur="1" fill="hold">
                                          <p:stCondLst>
                                            <p:cond delay="0"/>
                                          </p:stCondLst>
                                        </p:cTn>
                                        <p:tgtEl>
                                          <p:spTgt spid="1049215"/>
                                        </p:tgtEl>
                                        <p:attrNameLst>
                                          <p:attrName>style.visibility</p:attrName>
                                        </p:attrNameLst>
                                      </p:cBhvr>
                                      <p:to>
                                        <p:strVal val="visible"/>
                                      </p:to>
                                    </p:set>
                                  </p:childTnLst>
                                </p:cTn>
                              </p:par>
                            </p:childTnLst>
                          </p:cTn>
                        </p:par>
                      </p:childTnLst>
                    </p:cTn>
                  </p:par>
                  <p:par>
                    <p:cTn id="56" fill="hold">
                      <p:stCondLst>
                        <p:cond delay="indefinite"/>
                      </p:stCondLst>
                      <p:childTnLst>
                        <p:par>
                          <p:cTn id="57" fill="hold">
                            <p:stCondLst>
                              <p:cond delay="0"/>
                            </p:stCondLst>
                            <p:childTnLst>
                              <p:par>
                                <p:cTn id="58" presetID="2" presetClass="entr" presetSubtype="2" fill="hold" grpId="0" nodeType="clickEffect">
                                  <p:stCondLst>
                                    <p:cond delay="0"/>
                                  </p:stCondLst>
                                  <p:childTnLst>
                                    <p:set>
                                      <p:cBhvr>
                                        <p:cTn id="59" dur="1" fill="hold">
                                          <p:stCondLst>
                                            <p:cond delay="0"/>
                                          </p:stCondLst>
                                        </p:cTn>
                                        <p:tgtEl>
                                          <p:spTgt spid="1049216"/>
                                        </p:tgtEl>
                                        <p:attrNameLst>
                                          <p:attrName>style.visibility</p:attrName>
                                        </p:attrNameLst>
                                      </p:cBhvr>
                                      <p:to>
                                        <p:strVal val="visible"/>
                                      </p:to>
                                    </p:set>
                                    <p:anim calcmode="lin" valueType="num">
                                      <p:cBhvr additive="base">
                                        <p:cTn id="60" dur="500" fill="hold"/>
                                        <p:tgtEl>
                                          <p:spTgt spid="1049216"/>
                                        </p:tgtEl>
                                        <p:attrNameLst>
                                          <p:attrName>ppt_x</p:attrName>
                                        </p:attrNameLst>
                                      </p:cBhvr>
                                      <p:tavLst>
                                        <p:tav tm="0">
                                          <p:val>
                                            <p:strVal val="1+#ppt_w/2"/>
                                          </p:val>
                                        </p:tav>
                                        <p:tav tm="100000">
                                          <p:val>
                                            <p:strVal val="#ppt_x"/>
                                          </p:val>
                                        </p:tav>
                                      </p:tavLst>
                                    </p:anim>
                                    <p:anim calcmode="lin" valueType="num">
                                      <p:cBhvr additive="base">
                                        <p:cTn id="61" dur="500" fill="hold"/>
                                        <p:tgtEl>
                                          <p:spTgt spid="1049216"/>
                                        </p:tgtEl>
                                        <p:attrNameLst>
                                          <p:attrName>ppt_y</p:attrName>
                                        </p:attrNameLst>
                                      </p:cBhvr>
                                      <p:tavLst>
                                        <p:tav tm="0">
                                          <p:val>
                                            <p:strVal val="#ppt_y"/>
                                          </p:val>
                                        </p:tav>
                                        <p:tav tm="100000">
                                          <p:val>
                                            <p:strVal val="#ppt_y"/>
                                          </p:val>
                                        </p:tav>
                                      </p:tavLst>
                                    </p:anim>
                                  </p:childTnLst>
                                </p:cTn>
                              </p:par>
                            </p:childTnLst>
                          </p:cTn>
                        </p:par>
                        <p:par>
                          <p:cTn id="62" fill="hold">
                            <p:stCondLst>
                              <p:cond delay="500"/>
                            </p:stCondLst>
                            <p:childTnLst>
                              <p:par>
                                <p:cTn id="63" presetID="1" presetClass="entr" presetSubtype="0" fill="hold" grpId="0" nodeType="afterEffect">
                                  <p:stCondLst>
                                    <p:cond delay="0"/>
                                  </p:stCondLst>
                                  <p:childTnLst>
                                    <p:set>
                                      <p:cBhvr>
                                        <p:cTn id="64" dur="1" fill="hold">
                                          <p:stCondLst>
                                            <p:cond delay="0"/>
                                          </p:stCondLst>
                                        </p:cTn>
                                        <p:tgtEl>
                                          <p:spTgt spid="1049220"/>
                                        </p:tgtEl>
                                        <p:attrNameLst>
                                          <p:attrName>style.visibility</p:attrName>
                                        </p:attrNameLst>
                                      </p:cBhvr>
                                      <p:to>
                                        <p:strVal val="visible"/>
                                      </p:to>
                                    </p:set>
                                  </p:childTnLst>
                                </p:cTn>
                              </p:par>
                            </p:childTnLst>
                          </p:cTn>
                        </p:par>
                        <p:par>
                          <p:cTn id="65" fill="hold">
                            <p:stCondLst>
                              <p:cond delay="500"/>
                            </p:stCondLst>
                            <p:childTnLst>
                              <p:par>
                                <p:cTn id="66" presetID="22" presetClass="entr" presetSubtype="4" fill="hold" grpId="0" nodeType="afterEffect">
                                  <p:stCondLst>
                                    <p:cond delay="0"/>
                                  </p:stCondLst>
                                  <p:childTnLst>
                                    <p:set>
                                      <p:cBhvr>
                                        <p:cTn id="67" dur="1" fill="hold">
                                          <p:stCondLst>
                                            <p:cond delay="0"/>
                                          </p:stCondLst>
                                        </p:cTn>
                                        <p:tgtEl>
                                          <p:spTgt spid="1049231"/>
                                        </p:tgtEl>
                                        <p:attrNameLst>
                                          <p:attrName>style.visibility</p:attrName>
                                        </p:attrNameLst>
                                      </p:cBhvr>
                                      <p:to>
                                        <p:strVal val="visible"/>
                                      </p:to>
                                    </p:set>
                                    <p:animEffect transition="in" filter="wipe(down)">
                                      <p:cBhvr>
                                        <p:cTn id="68" dur="500"/>
                                        <p:tgtEl>
                                          <p:spTgt spid="1049231"/>
                                        </p:tgtEl>
                                      </p:cBhvr>
                                    </p:animEffect>
                                  </p:childTnLst>
                                </p:cTn>
                              </p:par>
                            </p:childTnLst>
                          </p:cTn>
                        </p:par>
                        <p:par>
                          <p:cTn id="69" fill="hold">
                            <p:stCondLst>
                              <p:cond delay="1000"/>
                            </p:stCondLst>
                            <p:childTnLst>
                              <p:par>
                                <p:cTn id="70" presetID="2" presetClass="entr" presetSubtype="4" fill="hold" grpId="0" nodeType="afterEffect">
                                  <p:stCondLst>
                                    <p:cond delay="0"/>
                                  </p:stCondLst>
                                  <p:childTnLst>
                                    <p:set>
                                      <p:cBhvr>
                                        <p:cTn id="71" dur="1" fill="hold">
                                          <p:stCondLst>
                                            <p:cond delay="0"/>
                                          </p:stCondLst>
                                        </p:cTn>
                                        <p:tgtEl>
                                          <p:spTgt spid="1049224"/>
                                        </p:tgtEl>
                                        <p:attrNameLst>
                                          <p:attrName>style.visibility</p:attrName>
                                        </p:attrNameLst>
                                      </p:cBhvr>
                                      <p:to>
                                        <p:strVal val="visible"/>
                                      </p:to>
                                    </p:set>
                                    <p:anim calcmode="lin" valueType="num">
                                      <p:cBhvr additive="base">
                                        <p:cTn id="72" dur="500" fill="hold"/>
                                        <p:tgtEl>
                                          <p:spTgt spid="1049224"/>
                                        </p:tgtEl>
                                        <p:attrNameLst>
                                          <p:attrName>ppt_x</p:attrName>
                                        </p:attrNameLst>
                                      </p:cBhvr>
                                      <p:tavLst>
                                        <p:tav tm="0">
                                          <p:val>
                                            <p:strVal val="#ppt_x"/>
                                          </p:val>
                                        </p:tav>
                                        <p:tav tm="100000">
                                          <p:val>
                                            <p:strVal val="#ppt_x"/>
                                          </p:val>
                                        </p:tav>
                                      </p:tavLst>
                                    </p:anim>
                                    <p:anim calcmode="lin" valueType="num">
                                      <p:cBhvr additive="base">
                                        <p:cTn id="73" dur="500" fill="hold"/>
                                        <p:tgtEl>
                                          <p:spTgt spid="1049224"/>
                                        </p:tgtEl>
                                        <p:attrNameLst>
                                          <p:attrName>ppt_y</p:attrName>
                                        </p:attrNameLst>
                                      </p:cBhvr>
                                      <p:tavLst>
                                        <p:tav tm="0">
                                          <p:val>
                                            <p:strVal val="1+#ppt_h/2"/>
                                          </p:val>
                                        </p:tav>
                                        <p:tav tm="100000">
                                          <p:val>
                                            <p:strVal val="#ppt_y"/>
                                          </p:val>
                                        </p:tav>
                                      </p:tavLst>
                                    </p:anim>
                                  </p:childTnLst>
                                </p:cTn>
                              </p:par>
                              <p:par>
                                <p:cTn id="74" presetID="2" presetClass="entr" presetSubtype="4" fill="hold" grpId="0" nodeType="withEffect">
                                  <p:stCondLst>
                                    <p:cond delay="0"/>
                                  </p:stCondLst>
                                  <p:childTnLst>
                                    <p:set>
                                      <p:cBhvr>
                                        <p:cTn id="75" dur="1" fill="hold">
                                          <p:stCondLst>
                                            <p:cond delay="0"/>
                                          </p:stCondLst>
                                        </p:cTn>
                                        <p:tgtEl>
                                          <p:spTgt spid="1049225"/>
                                        </p:tgtEl>
                                        <p:attrNameLst>
                                          <p:attrName>style.visibility</p:attrName>
                                        </p:attrNameLst>
                                      </p:cBhvr>
                                      <p:to>
                                        <p:strVal val="visible"/>
                                      </p:to>
                                    </p:set>
                                    <p:anim calcmode="lin" valueType="num">
                                      <p:cBhvr additive="base">
                                        <p:cTn id="76" dur="500" fill="hold"/>
                                        <p:tgtEl>
                                          <p:spTgt spid="1049225"/>
                                        </p:tgtEl>
                                        <p:attrNameLst>
                                          <p:attrName>ppt_x</p:attrName>
                                        </p:attrNameLst>
                                      </p:cBhvr>
                                      <p:tavLst>
                                        <p:tav tm="0">
                                          <p:val>
                                            <p:strVal val="#ppt_x"/>
                                          </p:val>
                                        </p:tav>
                                        <p:tav tm="100000">
                                          <p:val>
                                            <p:strVal val="#ppt_x"/>
                                          </p:val>
                                        </p:tav>
                                      </p:tavLst>
                                    </p:anim>
                                    <p:anim calcmode="lin" valueType="num">
                                      <p:cBhvr additive="base">
                                        <p:cTn id="77" dur="500" fill="hold"/>
                                        <p:tgtEl>
                                          <p:spTgt spid="1049225"/>
                                        </p:tgtEl>
                                        <p:attrNameLst>
                                          <p:attrName>ppt_y</p:attrName>
                                        </p:attrNameLst>
                                      </p:cBhvr>
                                      <p:tavLst>
                                        <p:tav tm="0">
                                          <p:val>
                                            <p:strVal val="1+#ppt_h/2"/>
                                          </p:val>
                                        </p:tav>
                                        <p:tav tm="100000">
                                          <p:val>
                                            <p:strVal val="#ppt_y"/>
                                          </p:val>
                                        </p:tav>
                                      </p:tavLst>
                                    </p:anim>
                                  </p:childTnLst>
                                </p:cTn>
                              </p:par>
                            </p:childTnLst>
                          </p:cTn>
                        </p:par>
                      </p:childTnLst>
                    </p:cTn>
                  </p:par>
                  <p:par>
                    <p:cTn id="78" fill="hold">
                      <p:stCondLst>
                        <p:cond delay="indefinite"/>
                      </p:stCondLst>
                      <p:childTnLst>
                        <p:par>
                          <p:cTn id="79" fill="hold">
                            <p:stCondLst>
                              <p:cond delay="0"/>
                            </p:stCondLst>
                            <p:childTnLst>
                              <p:par>
                                <p:cTn id="80" presetID="22" presetClass="entr" presetSubtype="4" fill="hold" grpId="0" nodeType="clickEffect">
                                  <p:stCondLst>
                                    <p:cond delay="0"/>
                                  </p:stCondLst>
                                  <p:childTnLst>
                                    <p:set>
                                      <p:cBhvr>
                                        <p:cTn id="81" dur="1" fill="hold">
                                          <p:stCondLst>
                                            <p:cond delay="0"/>
                                          </p:stCondLst>
                                        </p:cTn>
                                        <p:tgtEl>
                                          <p:spTgt spid="1049228"/>
                                        </p:tgtEl>
                                        <p:attrNameLst>
                                          <p:attrName>style.visibility</p:attrName>
                                        </p:attrNameLst>
                                      </p:cBhvr>
                                      <p:to>
                                        <p:strVal val="visible"/>
                                      </p:to>
                                    </p:set>
                                    <p:animEffect transition="in" filter="wipe(down)">
                                      <p:cBhvr>
                                        <p:cTn id="82" dur="500"/>
                                        <p:tgtEl>
                                          <p:spTgt spid="1049228"/>
                                        </p:tgtEl>
                                      </p:cBhvr>
                                    </p:animEffect>
                                  </p:childTnLst>
                                </p:cTn>
                              </p:par>
                              <p:par>
                                <p:cTn id="83" presetID="22" presetClass="entr" presetSubtype="4" fill="hold" grpId="0" nodeType="withEffect">
                                  <p:stCondLst>
                                    <p:cond delay="0"/>
                                  </p:stCondLst>
                                  <p:childTnLst>
                                    <p:set>
                                      <p:cBhvr>
                                        <p:cTn id="84" dur="1" fill="hold">
                                          <p:stCondLst>
                                            <p:cond delay="0"/>
                                          </p:stCondLst>
                                        </p:cTn>
                                        <p:tgtEl>
                                          <p:spTgt spid="1049229"/>
                                        </p:tgtEl>
                                        <p:attrNameLst>
                                          <p:attrName>style.visibility</p:attrName>
                                        </p:attrNameLst>
                                      </p:cBhvr>
                                      <p:to>
                                        <p:strVal val="visible"/>
                                      </p:to>
                                    </p:set>
                                    <p:animEffect transition="in" filter="wipe(down)">
                                      <p:cBhvr>
                                        <p:cTn id="85" dur="500"/>
                                        <p:tgtEl>
                                          <p:spTgt spid="1049229"/>
                                        </p:tgtEl>
                                      </p:cBhvr>
                                    </p:animEffect>
                                  </p:childTnLst>
                                </p:cTn>
                              </p:par>
                            </p:childTnLst>
                          </p:cTn>
                        </p:par>
                        <p:par>
                          <p:cTn id="86" fill="hold">
                            <p:stCondLst>
                              <p:cond delay="500"/>
                            </p:stCondLst>
                            <p:childTnLst>
                              <p:par>
                                <p:cTn id="87" presetID="22" presetClass="entr" presetSubtype="4" fill="hold" grpId="0" nodeType="afterEffect">
                                  <p:stCondLst>
                                    <p:cond delay="0"/>
                                  </p:stCondLst>
                                  <p:childTnLst>
                                    <p:set>
                                      <p:cBhvr>
                                        <p:cTn id="88" dur="1" fill="hold">
                                          <p:stCondLst>
                                            <p:cond delay="0"/>
                                          </p:stCondLst>
                                        </p:cTn>
                                        <p:tgtEl>
                                          <p:spTgt spid="1049217"/>
                                        </p:tgtEl>
                                        <p:attrNameLst>
                                          <p:attrName>style.visibility</p:attrName>
                                        </p:attrNameLst>
                                      </p:cBhvr>
                                      <p:to>
                                        <p:strVal val="visible"/>
                                      </p:to>
                                    </p:set>
                                    <p:animEffect transition="in" filter="wipe(down)">
                                      <p:cBhvr>
                                        <p:cTn id="89" dur="500"/>
                                        <p:tgtEl>
                                          <p:spTgt spid="1049217"/>
                                        </p:tgtEl>
                                      </p:cBhvr>
                                    </p:animEffect>
                                  </p:childTnLst>
                                </p:cTn>
                              </p:par>
                            </p:childTnLst>
                          </p:cTn>
                        </p:par>
                        <p:par>
                          <p:cTn id="90" fill="hold">
                            <p:stCondLst>
                              <p:cond delay="1000"/>
                            </p:stCondLst>
                            <p:childTnLst>
                              <p:par>
                                <p:cTn id="91" presetID="22" presetClass="entr" presetSubtype="4" fill="hold" grpId="0" nodeType="afterEffect">
                                  <p:stCondLst>
                                    <p:cond delay="0"/>
                                  </p:stCondLst>
                                  <p:childTnLst>
                                    <p:set>
                                      <p:cBhvr>
                                        <p:cTn id="92" dur="1" fill="hold">
                                          <p:stCondLst>
                                            <p:cond delay="0"/>
                                          </p:stCondLst>
                                        </p:cTn>
                                        <p:tgtEl>
                                          <p:spTgt spid="1049218"/>
                                        </p:tgtEl>
                                        <p:attrNameLst>
                                          <p:attrName>style.visibility</p:attrName>
                                        </p:attrNameLst>
                                      </p:cBhvr>
                                      <p:to>
                                        <p:strVal val="visible"/>
                                      </p:to>
                                    </p:set>
                                    <p:animEffect transition="in" filter="wipe(down)">
                                      <p:cBhvr>
                                        <p:cTn id="93" dur="500"/>
                                        <p:tgtEl>
                                          <p:spTgt spid="1049218"/>
                                        </p:tgtEl>
                                      </p:cBhvr>
                                    </p:animEffect>
                                  </p:childTnLst>
                                </p:cTn>
                              </p:par>
                            </p:childTnLst>
                          </p:cTn>
                        </p:par>
                        <p:par>
                          <p:cTn id="94" fill="hold">
                            <p:stCondLst>
                              <p:cond delay="1500"/>
                            </p:stCondLst>
                            <p:childTnLst>
                              <p:par>
                                <p:cTn id="95" presetID="1" presetClass="entr" presetSubtype="0" fill="hold" grpId="0" nodeType="afterEffect">
                                  <p:stCondLst>
                                    <p:cond delay="0"/>
                                  </p:stCondLst>
                                  <p:childTnLst>
                                    <p:set>
                                      <p:cBhvr>
                                        <p:cTn id="96" dur="1" fill="hold">
                                          <p:stCondLst>
                                            <p:cond delay="0"/>
                                          </p:stCondLst>
                                        </p:cTn>
                                        <p:tgtEl>
                                          <p:spTgt spid="10492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9210" grpId="0" animBg="1"/>
      <p:bldP spid="1049211" grpId="0"/>
      <p:bldP spid="1049212" grpId="0" animBg="1"/>
      <p:bldP spid="1049213" grpId="0" animBg="1"/>
      <p:bldP spid="1049214" grpId="0"/>
      <p:bldP spid="1049215" grpId="0"/>
      <p:bldP spid="1049216" grpId="0" animBg="1"/>
      <p:bldP spid="1049217" grpId="0" animBg="1"/>
      <p:bldP spid="1049218" grpId="0" animBg="1"/>
      <p:bldP spid="1049219" grpId="0"/>
      <p:bldP spid="1049220" grpId="0"/>
      <p:bldP spid="1049221" grpId="0" animBg="1"/>
      <p:bldP spid="1049222" grpId="0" animBg="1"/>
      <p:bldP spid="1049223" grpId="0" animBg="1"/>
      <p:bldP spid="1049224" grpId="0" animBg="1"/>
      <p:bldP spid="1049225" grpId="0" animBg="1"/>
      <p:bldP spid="1049226" grpId="0" animBg="1"/>
      <p:bldP spid="1049227" grpId="0" animBg="1"/>
      <p:bldP spid="1049228" grpId="0" animBg="1"/>
      <p:bldP spid="1049229" grpId="0" animBg="1"/>
      <p:bldP spid="1049230" grpId="0"/>
      <p:bldP spid="1049231" grpId="0" animBg="1"/>
    </p:bldLst>
  </p:timing>
</p:sld>
</file>

<file path=ppt/slides/slide5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49232" name="Rectangle 2"/>
          <p:cNvSpPr>
            <a:spLocks noGrp="1" noChangeArrowheads="1"/>
          </p:cNvSpPr>
          <p:nvPr>
            <p:ph type="title"/>
          </p:nvPr>
        </p:nvSpPr>
        <p:spPr>
          <a:xfrm>
            <a:off x="457200" y="304800"/>
            <a:ext cx="8229600" cy="482599"/>
          </a:xfrm>
        </p:spPr>
        <p:txBody>
          <a:bodyPr/>
          <a:lstStyle/>
          <a:p>
            <a:pPr eaLnBrk="1" hangingPunct="1"/>
            <a:r>
              <a:rPr lang="en-US" sz="2800" b="1">
                <a:latin typeface="Times New Roman" panose="02020603050405020304" pitchFamily="18" charset="0"/>
                <a:cs typeface="Times New Roman" panose="02020603050405020304" pitchFamily="18" charset="0"/>
              </a:rPr>
              <a:t>DATA LINK LAYER</a:t>
            </a:r>
          </a:p>
        </p:txBody>
      </p:sp>
      <p:sp>
        <p:nvSpPr>
          <p:cNvPr id="1049233" name="Content Placeholder 1"/>
          <p:cNvSpPr>
            <a:spLocks noGrp="1"/>
          </p:cNvSpPr>
          <p:nvPr>
            <p:ph type="body" idx="1"/>
          </p:nvPr>
        </p:nvSpPr>
        <p:spPr>
          <a:xfrm>
            <a:off x="152400" y="735687"/>
            <a:ext cx="8534400" cy="5355336"/>
          </a:xfrm>
        </p:spPr>
        <p:txBody>
          <a:bodyPr>
            <a:normAutofit fontScale="95000"/>
          </a:bodyPr>
          <a:lstStyle/>
          <a:p>
            <a:pPr marL="285750" indent="-285750" algn="just">
              <a:buFont typeface="Wingdings" panose="05000000000000000000" pitchFamily="2" charset="2"/>
              <a:buChar char="ü"/>
            </a:pPr>
            <a:r>
              <a:rPr lang="en-US">
                <a:solidFill>
                  <a:srgbClr val="C00000"/>
                </a:solidFill>
              </a:rPr>
              <a:t>Framing: </a:t>
            </a:r>
            <a:r>
              <a:rPr lang="en-US"/>
              <a:t>The data link layer divides the stream of bits received from the network layer into manageable data units called frames.</a:t>
            </a:r>
          </a:p>
          <a:p>
            <a:pPr marL="285750" indent="-285750" algn="just">
              <a:buFont typeface="Wingdings" panose="05000000000000000000" pitchFamily="2" charset="2"/>
              <a:buChar char="ü"/>
            </a:pPr>
            <a:endParaRPr lang="en-US"/>
          </a:p>
          <a:p>
            <a:pPr marL="285750" indent="-285750" algn="just">
              <a:buFont typeface="Wingdings" panose="05000000000000000000" pitchFamily="2" charset="2"/>
              <a:buChar char="ü"/>
            </a:pPr>
            <a:r>
              <a:rPr lang="en-US">
                <a:solidFill>
                  <a:srgbClr val="C00000"/>
                </a:solidFill>
              </a:rPr>
              <a:t>Physical addressing: </a:t>
            </a:r>
            <a:r>
              <a:rPr lang="en-US"/>
              <a:t>If frames are to be distributed to different systems on the network, the data link layer adds a header to the frame to define the sender and/or receiver of the frame. If the frame is intended for a system outside the sender's network, the receiver address is the address of the device that connects the network to the next one.</a:t>
            </a:r>
          </a:p>
          <a:p>
            <a:pPr marL="285750" indent="-285750" algn="just">
              <a:buFont typeface="Wingdings" panose="05000000000000000000" pitchFamily="2" charset="2"/>
              <a:buChar char="ü"/>
            </a:pPr>
            <a:endParaRPr lang="en-US"/>
          </a:p>
          <a:p>
            <a:pPr marL="285750" indent="-285750" algn="just">
              <a:buFont typeface="Wingdings" panose="05000000000000000000" pitchFamily="2" charset="2"/>
              <a:buChar char="ü"/>
            </a:pPr>
            <a:r>
              <a:rPr lang="en-US">
                <a:solidFill>
                  <a:srgbClr val="C00000"/>
                </a:solidFill>
              </a:rPr>
              <a:t>Flow control</a:t>
            </a:r>
            <a:r>
              <a:rPr lang="en-US"/>
              <a:t> (hop-to-hop): A receiving node can receive the frames at a faster rate than it can process the frame. Without flow control, the receiver's buffer can overflow, and frames can get lost. To overcome this problem, the data link layer uses the flow control to prevent the sending node on one side of the link from overwhelming the receiving node on another side of the link.</a:t>
            </a:r>
          </a:p>
          <a:p>
            <a:pPr marL="285750" indent="-285750" algn="just">
              <a:buFont typeface="Wingdings" panose="05000000000000000000" pitchFamily="2" charset="2"/>
              <a:buChar char="ü"/>
            </a:pPr>
            <a:endParaRPr lang="en-US"/>
          </a:p>
          <a:p>
            <a:pPr marL="285750" indent="-285750" algn="just">
              <a:buFont typeface="Wingdings" panose="05000000000000000000" pitchFamily="2" charset="2"/>
              <a:buChar char="ü"/>
            </a:pPr>
            <a:r>
              <a:rPr lang="en-US">
                <a:solidFill>
                  <a:srgbClr val="C00000"/>
                </a:solidFill>
              </a:rPr>
              <a:t>Error control (hop-to-hop):</a:t>
            </a:r>
            <a:r>
              <a:rPr lang="en-US"/>
              <a:t>The data link layer adds reliability to the physical layer by adding mechanisms to detect and retransmit damaged or lost frames. It also uses a mechanism to recognize duplicate frames. Error control is normally achieved through a trailer added to the end of the frame.</a:t>
            </a:r>
          </a:p>
          <a:p>
            <a:pPr marL="285750" indent="-285750" algn="just">
              <a:buFont typeface="Wingdings" panose="05000000000000000000" pitchFamily="2" charset="2"/>
              <a:buChar char="ü"/>
            </a:pPr>
            <a:endParaRPr lang="en-US"/>
          </a:p>
          <a:p>
            <a:pPr marL="285750" indent="-285750" algn="just">
              <a:buFont typeface="Wingdings" panose="05000000000000000000" pitchFamily="2" charset="2"/>
              <a:buChar char="ü"/>
            </a:pPr>
            <a:r>
              <a:rPr lang="en-US">
                <a:solidFill>
                  <a:srgbClr val="C00000"/>
                </a:solidFill>
              </a:rPr>
              <a:t>Access control</a:t>
            </a:r>
            <a:r>
              <a:rPr lang="en-US"/>
              <a:t>:. When two or more devices are connected to the same link, data link layer protocols are necessary to determine which device has control over the link at any given time.</a:t>
            </a:r>
          </a:p>
          <a:p>
            <a:endParaRPr lang="en-US"/>
          </a:p>
        </p:txBody>
      </p:sp>
      <p:sp>
        <p:nvSpPr>
          <p:cNvPr id="1049234" name="Slide Number Placeholder 5"/>
          <p:cNvSpPr>
            <a:spLocks noGrp="1"/>
          </p:cNvSpPr>
          <p:nvPr>
            <p:ph type="sldNum" sz="quarter" idx="7"/>
          </p:nvPr>
        </p:nvSpPr>
        <p:spPr/>
        <p:txBody>
          <a:bodyPr/>
          <a:lstStyle/>
          <a:p>
            <a:fld id="{8423C5B5-DF9E-4041-AA1A-F9B480916FFA}" type="slidenum">
              <a:rPr lang="en-US"/>
              <a:t>56</a:t>
            </a:fld>
            <a:endParaRPr lang="en-US"/>
          </a:p>
        </p:txBody>
      </p:sp>
    </p:spTree>
  </p:cSld>
  <p:clrMapOvr>
    <a:overrideClrMapping bg1="lt1" tx1="dk1" bg2="lt2" tx2="dk2" accent1="accent1" accent2="accent2" accent3="accent3" accent4="accent4" accent5="accent5" accent6="accent6" hlink="hlink" folHlink="folHlink"/>
  </p:clrMapOvr>
</p:sld>
</file>

<file path=ppt/slides/slide5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49235" name="Rectangle 2"/>
          <p:cNvSpPr>
            <a:spLocks noGrp="1" noChangeArrowheads="1"/>
          </p:cNvSpPr>
          <p:nvPr>
            <p:ph type="title"/>
          </p:nvPr>
        </p:nvSpPr>
        <p:spPr>
          <a:xfrm>
            <a:off x="457200" y="609600"/>
            <a:ext cx="8229600" cy="482600"/>
          </a:xfrm>
        </p:spPr>
        <p:txBody>
          <a:bodyPr/>
          <a:lstStyle/>
          <a:p>
            <a:pPr eaLnBrk="1" hangingPunct="1"/>
            <a:r>
              <a:rPr lang="en-US" sz="2800" b="1">
                <a:latin typeface="Times New Roman" panose="02020603050405020304" pitchFamily="18" charset="0"/>
                <a:cs typeface="Times New Roman" panose="02020603050405020304" pitchFamily="18" charset="0"/>
              </a:rPr>
              <a:t>DATA LINK LAYER</a:t>
            </a:r>
          </a:p>
        </p:txBody>
      </p:sp>
      <p:sp>
        <p:nvSpPr>
          <p:cNvPr id="1049236" name="Slide Number Placeholder 5"/>
          <p:cNvSpPr>
            <a:spLocks noGrp="1"/>
          </p:cNvSpPr>
          <p:nvPr>
            <p:ph type="sldNum" sz="quarter" idx="7"/>
          </p:nvPr>
        </p:nvSpPr>
        <p:spPr/>
        <p:txBody>
          <a:bodyPr/>
          <a:lstStyle/>
          <a:p>
            <a:fld id="{F6AED4F5-03FA-45B9-A69E-981CDE1B5036}" type="slidenum">
              <a:rPr lang="en-US"/>
              <a:t>57</a:t>
            </a:fld>
            <a:endParaRPr lang="en-US"/>
          </a:p>
        </p:txBody>
      </p:sp>
      <p:sp>
        <p:nvSpPr>
          <p:cNvPr id="1049237" name="Rectangle 3"/>
          <p:cNvSpPr>
            <a:spLocks noChangeArrowheads="1"/>
          </p:cNvSpPr>
          <p:nvPr/>
        </p:nvSpPr>
        <p:spPr bwMode="auto">
          <a:xfrm>
            <a:off x="1600200" y="3335338"/>
            <a:ext cx="3048000" cy="1066800"/>
          </a:xfrm>
          <a:prstGeom prst="rect">
            <a:avLst/>
          </a:prstGeom>
          <a:solidFill>
            <a:schemeClr val="bg2"/>
          </a:solidFill>
          <a:ln w="9525">
            <a:solidFill>
              <a:schemeClr val="tx1"/>
            </a:solidFill>
            <a:miter lim="800000"/>
          </a:ln>
        </p:spPr>
        <p:txBody>
          <a:bodyPr wrap="none" anchor="ctr"/>
          <a:lstStyle/>
          <a:p>
            <a:pPr fontAlgn="base">
              <a:spcBef>
                <a:spcPct val="0"/>
              </a:spcBef>
              <a:spcAft>
                <a:spcPct val="0"/>
              </a:spcAft>
            </a:pPr>
            <a:endParaRPr lang="en-US">
              <a:solidFill>
                <a:prstClr val="black"/>
              </a:solidFill>
              <a:latin typeface="Tahoma" panose="020B0604030504040204" pitchFamily="34" charset="0"/>
              <a:cs typeface="Arial" panose="020B0604020202020204" pitchFamily="34" charset="0"/>
            </a:endParaRPr>
          </a:p>
        </p:txBody>
      </p:sp>
      <p:sp>
        <p:nvSpPr>
          <p:cNvPr id="1049238" name="Text Box 4"/>
          <p:cNvSpPr txBox="1">
            <a:spLocks noChangeArrowheads="1"/>
          </p:cNvSpPr>
          <p:nvPr/>
        </p:nvSpPr>
        <p:spPr bwMode="auto">
          <a:xfrm>
            <a:off x="211138" y="3443288"/>
            <a:ext cx="1181516" cy="701039"/>
          </a:xfrm>
          <a:prstGeom prst="rect">
            <a:avLst/>
          </a:prstGeom>
          <a:noFill/>
          <a:ln w="9525">
            <a:noFill/>
            <a:miter lim="800000"/>
          </a:ln>
        </p:spPr>
        <p:txBody>
          <a:bodyPr wrap="none">
            <a:spAutoFit/>
          </a:bodyPr>
          <a:lstStyle/>
          <a:p>
            <a:pPr algn="ctr" fontAlgn="base">
              <a:spcBef>
                <a:spcPct val="0"/>
              </a:spcBef>
              <a:spcAft>
                <a:spcPct val="0"/>
              </a:spcAft>
            </a:pPr>
            <a:r>
              <a:rPr lang="en-US">
                <a:solidFill>
                  <a:prstClr val="black"/>
                </a:solidFill>
                <a:latin typeface="Tahoma" panose="020B0604030504040204" pitchFamily="34" charset="0"/>
                <a:cs typeface="Arial" panose="020B0604020202020204" pitchFamily="34" charset="0"/>
              </a:rPr>
              <a:t>Data Link</a:t>
            </a:r>
            <a:br>
              <a:rPr lang="en-US">
                <a:solidFill>
                  <a:prstClr val="black"/>
                </a:solidFill>
                <a:latin typeface="Tahoma" panose="020B0604030504040204" pitchFamily="34" charset="0"/>
                <a:cs typeface="Arial" panose="020B0604020202020204" pitchFamily="34" charset="0"/>
              </a:rPr>
            </a:br>
            <a:r>
              <a:rPr lang="en-US">
                <a:solidFill>
                  <a:prstClr val="black"/>
                </a:solidFill>
                <a:latin typeface="Tahoma" panose="020B0604030504040204" pitchFamily="34" charset="0"/>
                <a:cs typeface="Arial" panose="020B0604020202020204" pitchFamily="34" charset="0"/>
              </a:rPr>
              <a:t>Layer</a:t>
            </a:r>
          </a:p>
        </p:txBody>
      </p:sp>
      <p:sp>
        <p:nvSpPr>
          <p:cNvPr id="1049239" name="Rectangle 5"/>
          <p:cNvSpPr>
            <a:spLocks noChangeArrowheads="1"/>
          </p:cNvSpPr>
          <p:nvPr/>
        </p:nvSpPr>
        <p:spPr bwMode="auto">
          <a:xfrm>
            <a:off x="2133600" y="2743200"/>
            <a:ext cx="1600200" cy="304800"/>
          </a:xfrm>
          <a:prstGeom prst="rect">
            <a:avLst/>
          </a:prstGeom>
          <a:solidFill>
            <a:srgbClr val="080808"/>
          </a:solidFill>
          <a:ln w="9525">
            <a:solidFill>
              <a:schemeClr val="tx1"/>
            </a:solidFill>
            <a:miter lim="800000"/>
          </a:ln>
        </p:spPr>
        <p:txBody>
          <a:bodyPr wrap="none" anchor="ctr"/>
          <a:lstStyle/>
          <a:p>
            <a:pPr algn="ctr" fontAlgn="base">
              <a:spcBef>
                <a:spcPct val="0"/>
              </a:spcBef>
              <a:spcAft>
                <a:spcPct val="0"/>
              </a:spcAft>
            </a:pPr>
            <a:r>
              <a:rPr lang="en-US">
                <a:solidFill>
                  <a:prstClr val="white"/>
                </a:solidFill>
                <a:latin typeface="Tahoma" panose="020B0604030504040204" pitchFamily="34" charset="0"/>
                <a:cs typeface="Arial" panose="020B0604020202020204" pitchFamily="34" charset="0"/>
              </a:rPr>
              <a:t>Data</a:t>
            </a:r>
          </a:p>
        </p:txBody>
      </p:sp>
      <p:sp>
        <p:nvSpPr>
          <p:cNvPr id="1049240" name="AutoShape 6"/>
          <p:cNvSpPr>
            <a:spLocks noChangeArrowheads="1"/>
          </p:cNvSpPr>
          <p:nvPr/>
        </p:nvSpPr>
        <p:spPr bwMode="auto">
          <a:xfrm>
            <a:off x="2819400" y="2133600"/>
            <a:ext cx="381000" cy="533400"/>
          </a:xfrm>
          <a:prstGeom prst="downArrow">
            <a:avLst>
              <a:gd name="adj1" fmla="val 50000"/>
              <a:gd name="adj2" fmla="val 35000"/>
            </a:avLst>
          </a:prstGeom>
          <a:solidFill>
            <a:schemeClr val="folHlink"/>
          </a:solidFill>
          <a:ln w="9525">
            <a:solidFill>
              <a:schemeClr val="tx1"/>
            </a:solidFill>
            <a:miter lim="800000"/>
          </a:ln>
        </p:spPr>
        <p:txBody>
          <a:bodyPr wrap="none" anchor="ctr"/>
          <a:lstStyle/>
          <a:p>
            <a:pPr fontAlgn="base">
              <a:spcBef>
                <a:spcPct val="0"/>
              </a:spcBef>
              <a:spcAft>
                <a:spcPct val="0"/>
              </a:spcAft>
            </a:pPr>
            <a:endParaRPr lang="en-US">
              <a:solidFill>
                <a:prstClr val="black"/>
              </a:solidFill>
              <a:latin typeface="Tahoma" panose="020B0604030504040204" pitchFamily="34" charset="0"/>
              <a:cs typeface="Arial" panose="020B0604020202020204" pitchFamily="34" charset="0"/>
            </a:endParaRPr>
          </a:p>
        </p:txBody>
      </p:sp>
      <p:sp>
        <p:nvSpPr>
          <p:cNvPr id="1049241" name="Text Box 7"/>
          <p:cNvSpPr txBox="1">
            <a:spLocks noChangeArrowheads="1"/>
          </p:cNvSpPr>
          <p:nvPr/>
        </p:nvSpPr>
        <p:spPr bwMode="auto">
          <a:xfrm>
            <a:off x="2057400" y="1676400"/>
            <a:ext cx="1636385" cy="396239"/>
          </a:xfrm>
          <a:prstGeom prst="rect">
            <a:avLst/>
          </a:prstGeom>
          <a:noFill/>
          <a:ln w="9525">
            <a:noFill/>
            <a:miter lim="800000"/>
          </a:ln>
        </p:spPr>
        <p:txBody>
          <a:bodyPr wrap="none">
            <a:spAutoFit/>
          </a:bodyPr>
          <a:lstStyle/>
          <a:p>
            <a:pPr fontAlgn="base">
              <a:spcBef>
                <a:spcPct val="0"/>
              </a:spcBef>
              <a:spcAft>
                <a:spcPct val="0"/>
              </a:spcAft>
            </a:pPr>
            <a:r>
              <a:rPr lang="en-US">
                <a:solidFill>
                  <a:prstClr val="black"/>
                </a:solidFill>
                <a:latin typeface="Tahoma" panose="020B0604030504040204" pitchFamily="34" charset="0"/>
                <a:cs typeface="Arial" panose="020B0604020202020204" pitchFamily="34" charset="0"/>
              </a:rPr>
              <a:t>from Network</a:t>
            </a:r>
          </a:p>
        </p:txBody>
      </p:sp>
      <p:sp>
        <p:nvSpPr>
          <p:cNvPr id="1049242" name="Text Box 8"/>
          <p:cNvSpPr txBox="1">
            <a:spLocks noChangeArrowheads="1"/>
          </p:cNvSpPr>
          <p:nvPr/>
        </p:nvSpPr>
        <p:spPr bwMode="auto">
          <a:xfrm>
            <a:off x="2632075" y="4876800"/>
            <a:ext cx="1323449" cy="396240"/>
          </a:xfrm>
          <a:prstGeom prst="rect">
            <a:avLst/>
          </a:prstGeom>
          <a:noFill/>
          <a:ln w="9525">
            <a:noFill/>
            <a:miter lim="800000"/>
          </a:ln>
        </p:spPr>
        <p:txBody>
          <a:bodyPr wrap="none">
            <a:spAutoFit/>
          </a:bodyPr>
          <a:lstStyle/>
          <a:p>
            <a:pPr fontAlgn="base">
              <a:spcBef>
                <a:spcPct val="0"/>
              </a:spcBef>
              <a:spcAft>
                <a:spcPct val="0"/>
              </a:spcAft>
            </a:pPr>
            <a:r>
              <a:rPr lang="en-US">
                <a:solidFill>
                  <a:prstClr val="black"/>
                </a:solidFill>
                <a:latin typeface="Tahoma" panose="020B0604030504040204" pitchFamily="34" charset="0"/>
                <a:cs typeface="Arial" panose="020B0604020202020204" pitchFamily="34" charset="0"/>
              </a:rPr>
              <a:t>to Physical</a:t>
            </a:r>
          </a:p>
        </p:txBody>
      </p:sp>
      <p:sp>
        <p:nvSpPr>
          <p:cNvPr id="1049243" name="Rectangle 9"/>
          <p:cNvSpPr>
            <a:spLocks noChangeArrowheads="1"/>
          </p:cNvSpPr>
          <p:nvPr/>
        </p:nvSpPr>
        <p:spPr bwMode="auto">
          <a:xfrm>
            <a:off x="5181600" y="3335338"/>
            <a:ext cx="3048000" cy="1066800"/>
          </a:xfrm>
          <a:prstGeom prst="rect">
            <a:avLst/>
          </a:prstGeom>
          <a:solidFill>
            <a:schemeClr val="bg2"/>
          </a:solidFill>
          <a:ln w="9525">
            <a:solidFill>
              <a:schemeClr val="tx1"/>
            </a:solidFill>
            <a:miter lim="800000"/>
          </a:ln>
        </p:spPr>
        <p:txBody>
          <a:bodyPr wrap="none" anchor="ctr"/>
          <a:lstStyle/>
          <a:p>
            <a:pPr fontAlgn="base">
              <a:spcBef>
                <a:spcPct val="0"/>
              </a:spcBef>
              <a:spcAft>
                <a:spcPct val="0"/>
              </a:spcAft>
            </a:pPr>
            <a:endParaRPr lang="en-US">
              <a:solidFill>
                <a:prstClr val="black"/>
              </a:solidFill>
              <a:latin typeface="Tahoma" panose="020B0604030504040204" pitchFamily="34" charset="0"/>
              <a:cs typeface="Arial" panose="020B0604020202020204" pitchFamily="34" charset="0"/>
            </a:endParaRPr>
          </a:p>
        </p:txBody>
      </p:sp>
      <p:sp>
        <p:nvSpPr>
          <p:cNvPr id="1049244" name="Rectangle 10"/>
          <p:cNvSpPr>
            <a:spLocks noChangeArrowheads="1"/>
          </p:cNvSpPr>
          <p:nvPr/>
        </p:nvSpPr>
        <p:spPr bwMode="auto">
          <a:xfrm>
            <a:off x="5715000" y="2743200"/>
            <a:ext cx="1600200" cy="304800"/>
          </a:xfrm>
          <a:prstGeom prst="rect">
            <a:avLst/>
          </a:prstGeom>
          <a:solidFill>
            <a:srgbClr val="080808"/>
          </a:solidFill>
          <a:ln w="9525">
            <a:solidFill>
              <a:schemeClr val="tx1"/>
            </a:solidFill>
            <a:miter lim="800000"/>
          </a:ln>
        </p:spPr>
        <p:txBody>
          <a:bodyPr wrap="none" anchor="ctr"/>
          <a:lstStyle/>
          <a:p>
            <a:pPr algn="ctr" fontAlgn="base">
              <a:spcBef>
                <a:spcPct val="0"/>
              </a:spcBef>
              <a:spcAft>
                <a:spcPct val="0"/>
              </a:spcAft>
            </a:pPr>
            <a:r>
              <a:rPr lang="en-US">
                <a:solidFill>
                  <a:prstClr val="white"/>
                </a:solidFill>
                <a:latin typeface="Tahoma" panose="020B0604030504040204" pitchFamily="34" charset="0"/>
                <a:cs typeface="Arial" panose="020B0604020202020204" pitchFamily="34" charset="0"/>
              </a:rPr>
              <a:t>Data</a:t>
            </a:r>
          </a:p>
        </p:txBody>
      </p:sp>
      <p:sp>
        <p:nvSpPr>
          <p:cNvPr id="1049245" name="AutoShape 11"/>
          <p:cNvSpPr>
            <a:spLocks noChangeArrowheads="1"/>
          </p:cNvSpPr>
          <p:nvPr/>
        </p:nvSpPr>
        <p:spPr bwMode="auto">
          <a:xfrm flipV="1">
            <a:off x="6400800" y="2133600"/>
            <a:ext cx="381000" cy="533400"/>
          </a:xfrm>
          <a:prstGeom prst="downArrow">
            <a:avLst>
              <a:gd name="adj1" fmla="val 50000"/>
              <a:gd name="adj2" fmla="val 35000"/>
            </a:avLst>
          </a:prstGeom>
          <a:solidFill>
            <a:schemeClr val="folHlink"/>
          </a:solidFill>
          <a:ln w="9525">
            <a:solidFill>
              <a:schemeClr val="tx1"/>
            </a:solidFill>
            <a:miter lim="800000"/>
          </a:ln>
        </p:spPr>
        <p:txBody>
          <a:bodyPr wrap="none" anchor="ctr"/>
          <a:lstStyle/>
          <a:p>
            <a:pPr fontAlgn="base">
              <a:spcBef>
                <a:spcPct val="0"/>
              </a:spcBef>
              <a:spcAft>
                <a:spcPct val="0"/>
              </a:spcAft>
            </a:pPr>
            <a:endParaRPr lang="en-US">
              <a:solidFill>
                <a:prstClr val="black"/>
              </a:solidFill>
              <a:latin typeface="Tahoma" panose="020B0604030504040204" pitchFamily="34" charset="0"/>
              <a:cs typeface="Arial" panose="020B0604020202020204" pitchFamily="34" charset="0"/>
            </a:endParaRPr>
          </a:p>
        </p:txBody>
      </p:sp>
      <p:sp>
        <p:nvSpPr>
          <p:cNvPr id="1049246" name="Text Box 12"/>
          <p:cNvSpPr txBox="1">
            <a:spLocks noChangeArrowheads="1"/>
          </p:cNvSpPr>
          <p:nvPr/>
        </p:nvSpPr>
        <p:spPr bwMode="auto">
          <a:xfrm>
            <a:off x="5867400" y="1676400"/>
            <a:ext cx="1360408" cy="396239"/>
          </a:xfrm>
          <a:prstGeom prst="rect">
            <a:avLst/>
          </a:prstGeom>
          <a:noFill/>
          <a:ln w="9525">
            <a:noFill/>
            <a:miter lim="800000"/>
          </a:ln>
        </p:spPr>
        <p:txBody>
          <a:bodyPr wrap="none">
            <a:spAutoFit/>
          </a:bodyPr>
          <a:lstStyle/>
          <a:p>
            <a:pPr fontAlgn="base">
              <a:spcBef>
                <a:spcPct val="0"/>
              </a:spcBef>
              <a:spcAft>
                <a:spcPct val="0"/>
              </a:spcAft>
            </a:pPr>
            <a:r>
              <a:rPr lang="en-US">
                <a:solidFill>
                  <a:prstClr val="black"/>
                </a:solidFill>
                <a:latin typeface="Tahoma" panose="020B0604030504040204" pitchFamily="34" charset="0"/>
                <a:cs typeface="Arial" panose="020B0604020202020204" pitchFamily="34" charset="0"/>
              </a:rPr>
              <a:t>to Network</a:t>
            </a:r>
          </a:p>
        </p:txBody>
      </p:sp>
      <p:sp>
        <p:nvSpPr>
          <p:cNvPr id="1049247" name="Text Box 13"/>
          <p:cNvSpPr txBox="1">
            <a:spLocks noChangeArrowheads="1"/>
          </p:cNvSpPr>
          <p:nvPr/>
        </p:nvSpPr>
        <p:spPr bwMode="auto">
          <a:xfrm>
            <a:off x="5943600" y="4876800"/>
            <a:ext cx="1599425" cy="396240"/>
          </a:xfrm>
          <a:prstGeom prst="rect">
            <a:avLst/>
          </a:prstGeom>
          <a:noFill/>
          <a:ln w="9525">
            <a:noFill/>
            <a:miter lim="800000"/>
          </a:ln>
        </p:spPr>
        <p:txBody>
          <a:bodyPr wrap="none">
            <a:spAutoFit/>
          </a:bodyPr>
          <a:lstStyle/>
          <a:p>
            <a:pPr fontAlgn="base">
              <a:spcBef>
                <a:spcPct val="0"/>
              </a:spcBef>
              <a:spcAft>
                <a:spcPct val="0"/>
              </a:spcAft>
            </a:pPr>
            <a:r>
              <a:rPr lang="en-US">
                <a:solidFill>
                  <a:prstClr val="black"/>
                </a:solidFill>
                <a:latin typeface="Tahoma" panose="020B0604030504040204" pitchFamily="34" charset="0"/>
                <a:cs typeface="Arial" panose="020B0604020202020204" pitchFamily="34" charset="0"/>
              </a:rPr>
              <a:t>from Physical</a:t>
            </a:r>
          </a:p>
        </p:txBody>
      </p:sp>
      <p:sp>
        <p:nvSpPr>
          <p:cNvPr id="1049248" name="Rectangle 14"/>
          <p:cNvSpPr>
            <a:spLocks noChangeArrowheads="1"/>
          </p:cNvSpPr>
          <p:nvPr/>
        </p:nvSpPr>
        <p:spPr bwMode="auto">
          <a:xfrm>
            <a:off x="2133600" y="3505200"/>
            <a:ext cx="1600200" cy="304800"/>
          </a:xfrm>
          <a:prstGeom prst="rect">
            <a:avLst/>
          </a:prstGeom>
          <a:solidFill>
            <a:srgbClr val="080808"/>
          </a:solidFill>
          <a:ln w="9525">
            <a:solidFill>
              <a:schemeClr val="tx1"/>
            </a:solidFill>
            <a:miter lim="800000"/>
          </a:ln>
        </p:spPr>
        <p:txBody>
          <a:bodyPr wrap="none" anchor="ctr"/>
          <a:lstStyle/>
          <a:p>
            <a:pPr algn="ctr" fontAlgn="base">
              <a:spcBef>
                <a:spcPct val="0"/>
              </a:spcBef>
              <a:spcAft>
                <a:spcPct val="0"/>
              </a:spcAft>
            </a:pPr>
            <a:r>
              <a:rPr lang="en-US">
                <a:solidFill>
                  <a:prstClr val="white"/>
                </a:solidFill>
                <a:latin typeface="Tahoma" panose="020B0604030504040204" pitchFamily="34" charset="0"/>
                <a:cs typeface="Arial" panose="020B0604020202020204" pitchFamily="34" charset="0"/>
              </a:rPr>
              <a:t>Data</a:t>
            </a:r>
          </a:p>
        </p:txBody>
      </p:sp>
      <p:sp>
        <p:nvSpPr>
          <p:cNvPr id="1049249" name="Rectangle 15"/>
          <p:cNvSpPr>
            <a:spLocks noChangeArrowheads="1"/>
          </p:cNvSpPr>
          <p:nvPr/>
        </p:nvSpPr>
        <p:spPr bwMode="auto">
          <a:xfrm>
            <a:off x="3733800" y="3505200"/>
            <a:ext cx="609600" cy="304800"/>
          </a:xfrm>
          <a:prstGeom prst="rect">
            <a:avLst/>
          </a:prstGeom>
          <a:solidFill>
            <a:schemeClr val="tx1"/>
          </a:solidFill>
          <a:ln w="9525">
            <a:solidFill>
              <a:schemeClr val="tx1"/>
            </a:solidFill>
            <a:miter lim="800000"/>
          </a:ln>
        </p:spPr>
        <p:txBody>
          <a:bodyPr wrap="none" anchor="ctr"/>
          <a:lstStyle/>
          <a:p>
            <a:pPr algn="ctr" fontAlgn="base">
              <a:spcBef>
                <a:spcPct val="0"/>
              </a:spcBef>
              <a:spcAft>
                <a:spcPct val="0"/>
              </a:spcAft>
            </a:pPr>
            <a:r>
              <a:rPr lang="en-US">
                <a:solidFill>
                  <a:prstClr val="white"/>
                </a:solidFill>
                <a:latin typeface="Tahoma" panose="020B0604030504040204" pitchFamily="34" charset="0"/>
                <a:cs typeface="Arial" panose="020B0604020202020204" pitchFamily="34" charset="0"/>
              </a:rPr>
              <a:t>H2</a:t>
            </a:r>
          </a:p>
        </p:txBody>
      </p:sp>
      <p:sp>
        <p:nvSpPr>
          <p:cNvPr id="1049250" name="AutoShape 16"/>
          <p:cNvSpPr>
            <a:spLocks noChangeArrowheads="1"/>
          </p:cNvSpPr>
          <p:nvPr/>
        </p:nvSpPr>
        <p:spPr bwMode="auto">
          <a:xfrm>
            <a:off x="3048000" y="4191000"/>
            <a:ext cx="381000" cy="609600"/>
          </a:xfrm>
          <a:prstGeom prst="downArrow">
            <a:avLst>
              <a:gd name="adj1" fmla="val 50000"/>
              <a:gd name="adj2" fmla="val 40000"/>
            </a:avLst>
          </a:prstGeom>
          <a:solidFill>
            <a:schemeClr val="folHlink"/>
          </a:solidFill>
          <a:ln w="9525">
            <a:solidFill>
              <a:schemeClr val="tx1"/>
            </a:solidFill>
            <a:miter lim="800000"/>
          </a:ln>
        </p:spPr>
        <p:txBody>
          <a:bodyPr wrap="none" anchor="ctr"/>
          <a:lstStyle/>
          <a:p>
            <a:pPr fontAlgn="base">
              <a:spcBef>
                <a:spcPct val="0"/>
              </a:spcBef>
              <a:spcAft>
                <a:spcPct val="0"/>
              </a:spcAft>
            </a:pPr>
            <a:endParaRPr lang="en-US">
              <a:solidFill>
                <a:prstClr val="black"/>
              </a:solidFill>
              <a:latin typeface="Tahoma" panose="020B0604030504040204" pitchFamily="34" charset="0"/>
              <a:cs typeface="Arial" panose="020B0604020202020204" pitchFamily="34" charset="0"/>
            </a:endParaRPr>
          </a:p>
        </p:txBody>
      </p:sp>
      <p:sp>
        <p:nvSpPr>
          <p:cNvPr id="1049251" name="Rectangle 17"/>
          <p:cNvSpPr>
            <a:spLocks noChangeArrowheads="1"/>
          </p:cNvSpPr>
          <p:nvPr/>
        </p:nvSpPr>
        <p:spPr bwMode="auto">
          <a:xfrm>
            <a:off x="5715000" y="3505200"/>
            <a:ext cx="1600200" cy="304800"/>
          </a:xfrm>
          <a:prstGeom prst="rect">
            <a:avLst/>
          </a:prstGeom>
          <a:solidFill>
            <a:srgbClr val="080808"/>
          </a:solidFill>
          <a:ln w="9525">
            <a:solidFill>
              <a:schemeClr val="tx1"/>
            </a:solidFill>
            <a:miter lim="800000"/>
          </a:ln>
        </p:spPr>
        <p:txBody>
          <a:bodyPr wrap="none" anchor="ctr"/>
          <a:lstStyle/>
          <a:p>
            <a:pPr algn="ctr" fontAlgn="base">
              <a:spcBef>
                <a:spcPct val="0"/>
              </a:spcBef>
              <a:spcAft>
                <a:spcPct val="0"/>
              </a:spcAft>
            </a:pPr>
            <a:r>
              <a:rPr lang="en-US">
                <a:solidFill>
                  <a:prstClr val="white"/>
                </a:solidFill>
                <a:latin typeface="Tahoma" panose="020B0604030504040204" pitchFamily="34" charset="0"/>
                <a:cs typeface="Arial" panose="020B0604020202020204" pitchFamily="34" charset="0"/>
              </a:rPr>
              <a:t>Data</a:t>
            </a:r>
          </a:p>
        </p:txBody>
      </p:sp>
      <p:sp>
        <p:nvSpPr>
          <p:cNvPr id="1049252" name="Rectangle 18"/>
          <p:cNvSpPr>
            <a:spLocks noChangeArrowheads="1"/>
          </p:cNvSpPr>
          <p:nvPr/>
        </p:nvSpPr>
        <p:spPr bwMode="auto">
          <a:xfrm>
            <a:off x="7315200" y="3505200"/>
            <a:ext cx="609600" cy="304800"/>
          </a:xfrm>
          <a:prstGeom prst="rect">
            <a:avLst/>
          </a:prstGeom>
          <a:solidFill>
            <a:schemeClr val="tx1"/>
          </a:solidFill>
          <a:ln w="9525">
            <a:solidFill>
              <a:schemeClr val="tx1"/>
            </a:solidFill>
            <a:miter lim="800000"/>
          </a:ln>
        </p:spPr>
        <p:txBody>
          <a:bodyPr wrap="none" anchor="ctr"/>
          <a:lstStyle/>
          <a:p>
            <a:pPr algn="ctr" fontAlgn="base">
              <a:spcBef>
                <a:spcPct val="0"/>
              </a:spcBef>
              <a:spcAft>
                <a:spcPct val="0"/>
              </a:spcAft>
            </a:pPr>
            <a:r>
              <a:rPr lang="en-US">
                <a:solidFill>
                  <a:prstClr val="white"/>
                </a:solidFill>
                <a:latin typeface="Tahoma" panose="020B0604030504040204" pitchFamily="34" charset="0"/>
                <a:cs typeface="Arial" panose="020B0604020202020204" pitchFamily="34" charset="0"/>
              </a:rPr>
              <a:t>H2</a:t>
            </a:r>
          </a:p>
        </p:txBody>
      </p:sp>
      <p:sp>
        <p:nvSpPr>
          <p:cNvPr id="1049253" name="Line 19"/>
          <p:cNvSpPr>
            <a:spLocks noChangeShapeType="1"/>
          </p:cNvSpPr>
          <p:nvPr/>
        </p:nvSpPr>
        <p:spPr bwMode="auto">
          <a:xfrm>
            <a:off x="2133600" y="3048000"/>
            <a:ext cx="0" cy="457200"/>
          </a:xfrm>
          <a:prstGeom prst="line">
            <a:avLst/>
          </a:prstGeom>
          <a:noFill/>
          <a:ln w="9525">
            <a:solidFill>
              <a:schemeClr val="tx1"/>
            </a:solidFill>
            <a:prstDash val="dash"/>
            <a:round/>
          </a:ln>
        </p:spPr>
        <p:txBody>
          <a:bodyPr/>
          <a:lstStyle/>
          <a:p>
            <a:pPr fontAlgn="base">
              <a:spcBef>
                <a:spcPct val="0"/>
              </a:spcBef>
              <a:spcAft>
                <a:spcPct val="0"/>
              </a:spcAft>
            </a:pPr>
            <a:endParaRPr lang="en-US">
              <a:solidFill>
                <a:prstClr val="black"/>
              </a:solidFill>
              <a:latin typeface="Tahoma" panose="020B0604030504040204" pitchFamily="34" charset="0"/>
              <a:cs typeface="Arial" panose="020B0604020202020204" pitchFamily="34" charset="0"/>
            </a:endParaRPr>
          </a:p>
        </p:txBody>
      </p:sp>
      <p:sp>
        <p:nvSpPr>
          <p:cNvPr id="1049254" name="Line 20"/>
          <p:cNvSpPr>
            <a:spLocks noChangeShapeType="1"/>
          </p:cNvSpPr>
          <p:nvPr/>
        </p:nvSpPr>
        <p:spPr bwMode="auto">
          <a:xfrm>
            <a:off x="3733800" y="3048000"/>
            <a:ext cx="0" cy="457200"/>
          </a:xfrm>
          <a:prstGeom prst="line">
            <a:avLst/>
          </a:prstGeom>
          <a:noFill/>
          <a:ln w="9525">
            <a:solidFill>
              <a:schemeClr val="tx1"/>
            </a:solidFill>
            <a:prstDash val="dash"/>
            <a:round/>
          </a:ln>
        </p:spPr>
        <p:txBody>
          <a:bodyPr/>
          <a:lstStyle/>
          <a:p>
            <a:pPr fontAlgn="base">
              <a:spcBef>
                <a:spcPct val="0"/>
              </a:spcBef>
              <a:spcAft>
                <a:spcPct val="0"/>
              </a:spcAft>
            </a:pPr>
            <a:endParaRPr lang="en-US">
              <a:solidFill>
                <a:prstClr val="black"/>
              </a:solidFill>
              <a:latin typeface="Tahoma" panose="020B0604030504040204" pitchFamily="34" charset="0"/>
              <a:cs typeface="Arial" panose="020B0604020202020204" pitchFamily="34" charset="0"/>
            </a:endParaRPr>
          </a:p>
        </p:txBody>
      </p:sp>
      <p:sp>
        <p:nvSpPr>
          <p:cNvPr id="1049255" name="Line 21"/>
          <p:cNvSpPr>
            <a:spLocks noChangeShapeType="1"/>
          </p:cNvSpPr>
          <p:nvPr/>
        </p:nvSpPr>
        <p:spPr bwMode="auto">
          <a:xfrm>
            <a:off x="5715000" y="3048000"/>
            <a:ext cx="0" cy="457200"/>
          </a:xfrm>
          <a:prstGeom prst="line">
            <a:avLst/>
          </a:prstGeom>
          <a:noFill/>
          <a:ln w="9525">
            <a:solidFill>
              <a:schemeClr val="tx1"/>
            </a:solidFill>
            <a:prstDash val="dash"/>
            <a:round/>
          </a:ln>
        </p:spPr>
        <p:txBody>
          <a:bodyPr/>
          <a:lstStyle/>
          <a:p>
            <a:pPr fontAlgn="base">
              <a:spcBef>
                <a:spcPct val="0"/>
              </a:spcBef>
              <a:spcAft>
                <a:spcPct val="0"/>
              </a:spcAft>
            </a:pPr>
            <a:endParaRPr lang="en-US">
              <a:solidFill>
                <a:prstClr val="black"/>
              </a:solidFill>
              <a:latin typeface="Tahoma" panose="020B0604030504040204" pitchFamily="34" charset="0"/>
              <a:cs typeface="Arial" panose="020B0604020202020204" pitchFamily="34" charset="0"/>
            </a:endParaRPr>
          </a:p>
        </p:txBody>
      </p:sp>
      <p:sp>
        <p:nvSpPr>
          <p:cNvPr id="1049256" name="Line 22"/>
          <p:cNvSpPr>
            <a:spLocks noChangeShapeType="1"/>
          </p:cNvSpPr>
          <p:nvPr/>
        </p:nvSpPr>
        <p:spPr bwMode="auto">
          <a:xfrm>
            <a:off x="7315200" y="3048000"/>
            <a:ext cx="0" cy="457200"/>
          </a:xfrm>
          <a:prstGeom prst="line">
            <a:avLst/>
          </a:prstGeom>
          <a:noFill/>
          <a:ln w="9525">
            <a:solidFill>
              <a:schemeClr val="tx1"/>
            </a:solidFill>
            <a:prstDash val="dash"/>
            <a:round/>
          </a:ln>
        </p:spPr>
        <p:txBody>
          <a:bodyPr/>
          <a:lstStyle/>
          <a:p>
            <a:pPr fontAlgn="base">
              <a:spcBef>
                <a:spcPct val="0"/>
              </a:spcBef>
              <a:spcAft>
                <a:spcPct val="0"/>
              </a:spcAft>
            </a:pPr>
            <a:endParaRPr lang="en-US">
              <a:solidFill>
                <a:prstClr val="black"/>
              </a:solidFill>
              <a:latin typeface="Tahoma" panose="020B0604030504040204" pitchFamily="34" charset="0"/>
              <a:cs typeface="Arial" panose="020B0604020202020204" pitchFamily="34" charset="0"/>
            </a:endParaRPr>
          </a:p>
        </p:txBody>
      </p:sp>
      <p:sp>
        <p:nvSpPr>
          <p:cNvPr id="1049257" name="Text Box 23"/>
          <p:cNvSpPr txBox="1">
            <a:spLocks noChangeArrowheads="1"/>
          </p:cNvSpPr>
          <p:nvPr/>
        </p:nvSpPr>
        <p:spPr bwMode="auto">
          <a:xfrm>
            <a:off x="2667000" y="3810000"/>
            <a:ext cx="954355" cy="396240"/>
          </a:xfrm>
          <a:prstGeom prst="rect">
            <a:avLst/>
          </a:prstGeom>
          <a:noFill/>
          <a:ln w="9525">
            <a:noFill/>
            <a:miter lim="800000"/>
          </a:ln>
        </p:spPr>
        <p:txBody>
          <a:bodyPr wrap="none">
            <a:spAutoFit/>
          </a:bodyPr>
          <a:lstStyle/>
          <a:p>
            <a:pPr fontAlgn="base">
              <a:spcBef>
                <a:spcPct val="0"/>
              </a:spcBef>
              <a:spcAft>
                <a:spcPct val="0"/>
              </a:spcAft>
            </a:pPr>
            <a:r>
              <a:rPr lang="en-US" i="1">
                <a:solidFill>
                  <a:prstClr val="black"/>
                </a:solidFill>
                <a:latin typeface="Tahoma" panose="020B0604030504040204" pitchFamily="34" charset="0"/>
                <a:cs typeface="Arial" panose="020B0604020202020204" pitchFamily="34" charset="0"/>
              </a:rPr>
              <a:t>(frame)</a:t>
            </a:r>
          </a:p>
        </p:txBody>
      </p:sp>
      <p:sp>
        <p:nvSpPr>
          <p:cNvPr id="1049258" name="AutoShape 24"/>
          <p:cNvSpPr>
            <a:spLocks noChangeArrowheads="1"/>
          </p:cNvSpPr>
          <p:nvPr/>
        </p:nvSpPr>
        <p:spPr bwMode="auto">
          <a:xfrm flipV="1">
            <a:off x="6553200" y="4038600"/>
            <a:ext cx="381000" cy="762000"/>
          </a:xfrm>
          <a:prstGeom prst="downArrow">
            <a:avLst>
              <a:gd name="adj1" fmla="val 50000"/>
              <a:gd name="adj2" fmla="val 50000"/>
            </a:avLst>
          </a:prstGeom>
          <a:solidFill>
            <a:schemeClr val="folHlink"/>
          </a:solidFill>
          <a:ln w="9525">
            <a:solidFill>
              <a:schemeClr val="tx1"/>
            </a:solidFill>
            <a:miter lim="800000"/>
          </a:ln>
        </p:spPr>
        <p:txBody>
          <a:bodyPr wrap="none" anchor="ctr"/>
          <a:lstStyle/>
          <a:p>
            <a:pPr fontAlgn="base">
              <a:spcBef>
                <a:spcPct val="0"/>
              </a:spcBef>
              <a:spcAft>
                <a:spcPct val="0"/>
              </a:spcAft>
            </a:pPr>
            <a:endParaRPr lang="en-US">
              <a:solidFill>
                <a:prstClr val="black"/>
              </a:solidFill>
              <a:latin typeface="Tahoma" panose="020B0604030504040204" pitchFamily="34" charset="0"/>
              <a:cs typeface="Arial" panose="020B0604020202020204" pitchFamily="34" charset="0"/>
            </a:endParaRPr>
          </a:p>
        </p:txBody>
      </p:sp>
      <p:sp>
        <p:nvSpPr>
          <p:cNvPr id="1049259" name="Rectangle 25"/>
          <p:cNvSpPr>
            <a:spLocks noChangeArrowheads="1"/>
          </p:cNvSpPr>
          <p:nvPr/>
        </p:nvSpPr>
        <p:spPr bwMode="auto">
          <a:xfrm>
            <a:off x="1676400" y="3505200"/>
            <a:ext cx="457200" cy="304800"/>
          </a:xfrm>
          <a:prstGeom prst="rect">
            <a:avLst/>
          </a:prstGeom>
          <a:solidFill>
            <a:schemeClr val="tx1"/>
          </a:solidFill>
          <a:ln w="9525">
            <a:solidFill>
              <a:schemeClr val="tx1"/>
            </a:solidFill>
            <a:miter lim="800000"/>
          </a:ln>
        </p:spPr>
        <p:txBody>
          <a:bodyPr wrap="none" anchor="ctr"/>
          <a:lstStyle/>
          <a:p>
            <a:pPr algn="ctr" fontAlgn="base">
              <a:spcBef>
                <a:spcPct val="0"/>
              </a:spcBef>
              <a:spcAft>
                <a:spcPct val="0"/>
              </a:spcAft>
            </a:pPr>
            <a:r>
              <a:rPr lang="en-US">
                <a:solidFill>
                  <a:prstClr val="white"/>
                </a:solidFill>
                <a:latin typeface="Tahoma" panose="020B0604030504040204" pitchFamily="34" charset="0"/>
                <a:cs typeface="Arial" panose="020B0604020202020204" pitchFamily="34" charset="0"/>
              </a:rPr>
              <a:t>T2</a:t>
            </a:r>
          </a:p>
        </p:txBody>
      </p:sp>
      <p:sp>
        <p:nvSpPr>
          <p:cNvPr id="1049260" name="Rectangle 26"/>
          <p:cNvSpPr>
            <a:spLocks noChangeArrowheads="1"/>
          </p:cNvSpPr>
          <p:nvPr/>
        </p:nvSpPr>
        <p:spPr bwMode="auto">
          <a:xfrm>
            <a:off x="5257800" y="3505200"/>
            <a:ext cx="457200" cy="304800"/>
          </a:xfrm>
          <a:prstGeom prst="rect">
            <a:avLst/>
          </a:prstGeom>
          <a:solidFill>
            <a:schemeClr val="tx1"/>
          </a:solidFill>
          <a:ln w="9525">
            <a:solidFill>
              <a:schemeClr val="tx1"/>
            </a:solidFill>
            <a:miter lim="800000"/>
          </a:ln>
        </p:spPr>
        <p:txBody>
          <a:bodyPr wrap="none" anchor="ctr"/>
          <a:lstStyle/>
          <a:p>
            <a:pPr algn="ctr" fontAlgn="base">
              <a:spcBef>
                <a:spcPct val="0"/>
              </a:spcBef>
              <a:spcAft>
                <a:spcPct val="0"/>
              </a:spcAft>
            </a:pPr>
            <a:r>
              <a:rPr lang="en-US">
                <a:solidFill>
                  <a:prstClr val="white"/>
                </a:solidFill>
                <a:latin typeface="Tahoma" panose="020B0604030504040204" pitchFamily="34" charset="0"/>
                <a:cs typeface="Arial" panose="020B0604020202020204" pitchFamily="34" charset="0"/>
              </a:rPr>
              <a:t>T2</a:t>
            </a:r>
          </a:p>
        </p:txBody>
      </p:sp>
      <p:sp>
        <p:nvSpPr>
          <p:cNvPr id="1049261" name="Text Box 4"/>
          <p:cNvSpPr txBox="1">
            <a:spLocks noChangeArrowheads="1"/>
          </p:cNvSpPr>
          <p:nvPr/>
        </p:nvSpPr>
        <p:spPr bwMode="auto">
          <a:xfrm>
            <a:off x="1066800" y="5302250"/>
            <a:ext cx="7010400" cy="1056640"/>
          </a:xfrm>
          <a:prstGeom prst="rect">
            <a:avLst/>
          </a:prstGeom>
          <a:solidFill>
            <a:schemeClr val="tx2"/>
          </a:solidFill>
          <a:ln w="9525">
            <a:noFill/>
            <a:miter lim="800000"/>
          </a:ln>
          <a:effectLst>
            <a:outerShdw dist="107763" dir="2700000" algn="ctr" rotWithShape="0">
              <a:schemeClr val="bg2">
                <a:alpha val="50000"/>
              </a:schemeClr>
            </a:outerShdw>
          </a:effectLst>
        </p:spPr>
        <p:txBody>
          <a:bodyPr>
            <a:spAutoFit/>
          </a:bodyPr>
          <a:lstStyle/>
          <a:p>
            <a:pPr algn="ctr" fontAlgn="base">
              <a:spcBef>
                <a:spcPct val="0"/>
              </a:spcBef>
              <a:spcAft>
                <a:spcPct val="0"/>
              </a:spcAft>
            </a:pPr>
            <a:r>
              <a:rPr lang="en-US" sz="2800" b="1" i="1">
                <a:solidFill>
                  <a:srgbClr val="FF0000"/>
                </a:solidFill>
                <a:effectLst>
                  <a:outerShdw blurRad="38100" dist="38100" dir="2700000" algn="tl">
                    <a:srgbClr val="000000"/>
                  </a:outerShdw>
                </a:effectLst>
                <a:latin typeface="Times New Roman" panose="02020603050405020304" pitchFamily="18" charset="0"/>
                <a:cs typeface="Arial" panose="020B0604020202020204" pitchFamily="34" charset="0"/>
              </a:rPr>
              <a:t>Responsible for transmitting frames</a:t>
            </a:r>
            <a:br>
              <a:rPr lang="en-US" sz="2800" b="1" i="1">
                <a:solidFill>
                  <a:srgbClr val="FF0000"/>
                </a:solidFill>
                <a:effectLst>
                  <a:outerShdw blurRad="38100" dist="38100" dir="2700000" algn="tl">
                    <a:srgbClr val="000000"/>
                  </a:outerShdw>
                </a:effectLst>
                <a:latin typeface="Times New Roman" panose="02020603050405020304" pitchFamily="18" charset="0"/>
                <a:cs typeface="Arial" panose="020B0604020202020204" pitchFamily="34" charset="0"/>
              </a:rPr>
            </a:br>
            <a:r>
              <a:rPr lang="en-US" sz="2800" b="1" i="1">
                <a:solidFill>
                  <a:srgbClr val="FF0000"/>
                </a:solidFill>
                <a:effectLst>
                  <a:outerShdw blurRad="38100" dist="38100" dir="2700000" algn="tl">
                    <a:srgbClr val="000000"/>
                  </a:outerShdw>
                </a:effectLst>
                <a:latin typeface="Times New Roman" panose="02020603050405020304" pitchFamily="18" charset="0"/>
                <a:cs typeface="Arial" panose="020B0604020202020204" pitchFamily="34" charset="0"/>
              </a:rPr>
              <a:t>from one hop (node) to the next</a:t>
            </a:r>
          </a:p>
        </p:txBody>
      </p:sp>
    </p:spTree>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1049253"/>
                                        </p:tgtEl>
                                        <p:attrNameLst>
                                          <p:attrName>style.visibility</p:attrName>
                                        </p:attrNameLst>
                                      </p:cBhvr>
                                      <p:to>
                                        <p:strVal val="visible"/>
                                      </p:to>
                                    </p:set>
                                    <p:animEffect transition="in" filter="wipe(up)">
                                      <p:cBhvr>
                                        <p:cTn id="7" dur="500"/>
                                        <p:tgtEl>
                                          <p:spTgt spid="1049253"/>
                                        </p:tgtEl>
                                      </p:cBhvr>
                                    </p:animEffect>
                                  </p:childTnLst>
                                </p:cTn>
                              </p:par>
                              <p:par>
                                <p:cTn id="8" presetID="22" presetClass="entr" presetSubtype="1" fill="hold" grpId="0" nodeType="withEffect">
                                  <p:stCondLst>
                                    <p:cond delay="0"/>
                                  </p:stCondLst>
                                  <p:childTnLst>
                                    <p:set>
                                      <p:cBhvr>
                                        <p:cTn id="9" dur="1" fill="hold">
                                          <p:stCondLst>
                                            <p:cond delay="0"/>
                                          </p:stCondLst>
                                        </p:cTn>
                                        <p:tgtEl>
                                          <p:spTgt spid="1049254"/>
                                        </p:tgtEl>
                                        <p:attrNameLst>
                                          <p:attrName>style.visibility</p:attrName>
                                        </p:attrNameLst>
                                      </p:cBhvr>
                                      <p:to>
                                        <p:strVal val="visible"/>
                                      </p:to>
                                    </p:set>
                                    <p:animEffect transition="in" filter="wipe(up)">
                                      <p:cBhvr>
                                        <p:cTn id="10" dur="500"/>
                                        <p:tgtEl>
                                          <p:spTgt spid="1049254"/>
                                        </p:tgtEl>
                                      </p:cBhvr>
                                    </p:animEffect>
                                  </p:childTnLst>
                                </p:cTn>
                              </p:par>
                            </p:childTnLst>
                          </p:cTn>
                        </p:par>
                        <p:par>
                          <p:cTn id="11" fill="hold">
                            <p:stCondLst>
                              <p:cond delay="500"/>
                            </p:stCondLst>
                            <p:childTnLst>
                              <p:par>
                                <p:cTn id="12" presetID="22" presetClass="entr" presetSubtype="1" fill="hold" grpId="0" nodeType="afterEffect">
                                  <p:stCondLst>
                                    <p:cond delay="0"/>
                                  </p:stCondLst>
                                  <p:childTnLst>
                                    <p:set>
                                      <p:cBhvr>
                                        <p:cTn id="13" dur="1" fill="hold">
                                          <p:stCondLst>
                                            <p:cond delay="0"/>
                                          </p:stCondLst>
                                        </p:cTn>
                                        <p:tgtEl>
                                          <p:spTgt spid="1049248"/>
                                        </p:tgtEl>
                                        <p:attrNameLst>
                                          <p:attrName>style.visibility</p:attrName>
                                        </p:attrNameLst>
                                      </p:cBhvr>
                                      <p:to>
                                        <p:strVal val="visible"/>
                                      </p:to>
                                    </p:set>
                                    <p:animEffect transition="in" filter="wipe(up)">
                                      <p:cBhvr>
                                        <p:cTn id="14" dur="500"/>
                                        <p:tgtEl>
                                          <p:spTgt spid="1049248"/>
                                        </p:tgtEl>
                                      </p:cBhvr>
                                    </p:animEffect>
                                  </p:childTnLst>
                                </p:cTn>
                              </p:par>
                            </p:childTnLst>
                          </p:cTn>
                        </p:par>
                      </p:childTnLst>
                    </p:cTn>
                  </p:par>
                  <p:par>
                    <p:cTn id="15" fill="hold">
                      <p:stCondLst>
                        <p:cond delay="indefinite"/>
                      </p:stCondLst>
                      <p:childTnLst>
                        <p:par>
                          <p:cTn id="16" fill="hold">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1049249"/>
                                        </p:tgtEl>
                                        <p:attrNameLst>
                                          <p:attrName>style.visibility</p:attrName>
                                        </p:attrNameLst>
                                      </p:cBhvr>
                                      <p:to>
                                        <p:strVal val="visible"/>
                                      </p:to>
                                    </p:set>
                                    <p:anim calcmode="lin" valueType="num">
                                      <p:cBhvr additive="base">
                                        <p:cTn id="19" dur="500" fill="hold"/>
                                        <p:tgtEl>
                                          <p:spTgt spid="1049249"/>
                                        </p:tgtEl>
                                        <p:attrNameLst>
                                          <p:attrName>ppt_x</p:attrName>
                                        </p:attrNameLst>
                                      </p:cBhvr>
                                      <p:tavLst>
                                        <p:tav tm="0">
                                          <p:val>
                                            <p:strVal val="1+#ppt_w/2"/>
                                          </p:val>
                                        </p:tav>
                                        <p:tav tm="100000">
                                          <p:val>
                                            <p:strVal val="#ppt_x"/>
                                          </p:val>
                                        </p:tav>
                                      </p:tavLst>
                                    </p:anim>
                                    <p:anim calcmode="lin" valueType="num">
                                      <p:cBhvr additive="base">
                                        <p:cTn id="20" dur="500" fill="hold"/>
                                        <p:tgtEl>
                                          <p:spTgt spid="1049249"/>
                                        </p:tgtEl>
                                        <p:attrNameLst>
                                          <p:attrName>ppt_y</p:attrName>
                                        </p:attrNameLst>
                                      </p:cBhvr>
                                      <p:tavLst>
                                        <p:tav tm="0">
                                          <p:val>
                                            <p:strVal val="#ppt_y"/>
                                          </p:val>
                                        </p:tav>
                                        <p:tav tm="100000">
                                          <p:val>
                                            <p:strVal val="#ppt_y"/>
                                          </p:val>
                                        </p:tav>
                                      </p:tavLst>
                                    </p:anim>
                                  </p:childTnLst>
                                </p:cTn>
                              </p:par>
                              <p:par>
                                <p:cTn id="21" presetID="2" presetClass="entr" presetSubtype="8" fill="hold" grpId="0" nodeType="withEffect">
                                  <p:stCondLst>
                                    <p:cond delay="0"/>
                                  </p:stCondLst>
                                  <p:childTnLst>
                                    <p:set>
                                      <p:cBhvr>
                                        <p:cTn id="22" dur="1" fill="hold">
                                          <p:stCondLst>
                                            <p:cond delay="0"/>
                                          </p:stCondLst>
                                        </p:cTn>
                                        <p:tgtEl>
                                          <p:spTgt spid="1049259"/>
                                        </p:tgtEl>
                                        <p:attrNameLst>
                                          <p:attrName>style.visibility</p:attrName>
                                        </p:attrNameLst>
                                      </p:cBhvr>
                                      <p:to>
                                        <p:strVal val="visible"/>
                                      </p:to>
                                    </p:set>
                                    <p:anim calcmode="lin" valueType="num">
                                      <p:cBhvr additive="base">
                                        <p:cTn id="23" dur="500" fill="hold"/>
                                        <p:tgtEl>
                                          <p:spTgt spid="1049259"/>
                                        </p:tgtEl>
                                        <p:attrNameLst>
                                          <p:attrName>ppt_x</p:attrName>
                                        </p:attrNameLst>
                                      </p:cBhvr>
                                      <p:tavLst>
                                        <p:tav tm="0">
                                          <p:val>
                                            <p:strVal val="0-#ppt_w/2"/>
                                          </p:val>
                                        </p:tav>
                                        <p:tav tm="100000">
                                          <p:val>
                                            <p:strVal val="#ppt_x"/>
                                          </p:val>
                                        </p:tav>
                                      </p:tavLst>
                                    </p:anim>
                                    <p:anim calcmode="lin" valueType="num">
                                      <p:cBhvr additive="base">
                                        <p:cTn id="24" dur="500" fill="hold"/>
                                        <p:tgtEl>
                                          <p:spTgt spid="1049259"/>
                                        </p:tgtEl>
                                        <p:attrNameLst>
                                          <p:attrName>ppt_y</p:attrName>
                                        </p:attrNameLst>
                                      </p:cBhvr>
                                      <p:tavLst>
                                        <p:tav tm="0">
                                          <p:val>
                                            <p:strVal val="#ppt_y"/>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9" presetClass="entr" presetSubtype="0" fill="hold" grpId="0" nodeType="clickEffect">
                                  <p:stCondLst>
                                    <p:cond delay="0"/>
                                  </p:stCondLst>
                                  <p:childTnLst>
                                    <p:set>
                                      <p:cBhvr>
                                        <p:cTn id="28" dur="1" fill="hold">
                                          <p:stCondLst>
                                            <p:cond delay="0"/>
                                          </p:stCondLst>
                                        </p:cTn>
                                        <p:tgtEl>
                                          <p:spTgt spid="1049257"/>
                                        </p:tgtEl>
                                        <p:attrNameLst>
                                          <p:attrName>style.visibility</p:attrName>
                                        </p:attrNameLst>
                                      </p:cBhvr>
                                      <p:to>
                                        <p:strVal val="visible"/>
                                      </p:to>
                                    </p:set>
                                    <p:animEffect transition="in" filter="dissolve">
                                      <p:cBhvr>
                                        <p:cTn id="29" dur="500"/>
                                        <p:tgtEl>
                                          <p:spTgt spid="1049257"/>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1" fill="hold" grpId="0" nodeType="clickEffect">
                                  <p:stCondLst>
                                    <p:cond delay="0"/>
                                  </p:stCondLst>
                                  <p:childTnLst>
                                    <p:set>
                                      <p:cBhvr>
                                        <p:cTn id="33" dur="1" fill="hold">
                                          <p:stCondLst>
                                            <p:cond delay="0"/>
                                          </p:stCondLst>
                                        </p:cTn>
                                        <p:tgtEl>
                                          <p:spTgt spid="1049250"/>
                                        </p:tgtEl>
                                        <p:attrNameLst>
                                          <p:attrName>style.visibility</p:attrName>
                                        </p:attrNameLst>
                                      </p:cBhvr>
                                      <p:to>
                                        <p:strVal val="visible"/>
                                      </p:to>
                                    </p:set>
                                    <p:animEffect transition="in" filter="wipe(up)">
                                      <p:cBhvr>
                                        <p:cTn id="34" dur="500"/>
                                        <p:tgtEl>
                                          <p:spTgt spid="1049250"/>
                                        </p:tgtEl>
                                      </p:cBhvr>
                                    </p:animEffect>
                                  </p:childTnLst>
                                </p:cTn>
                              </p:par>
                            </p:childTnLst>
                          </p:cTn>
                        </p:par>
                        <p:par>
                          <p:cTn id="35" fill="hold">
                            <p:stCondLst>
                              <p:cond delay="500"/>
                            </p:stCondLst>
                            <p:childTnLst>
                              <p:par>
                                <p:cTn id="36" presetID="9" presetClass="entr" presetSubtype="0" fill="hold" grpId="0" nodeType="afterEffect">
                                  <p:stCondLst>
                                    <p:cond delay="0"/>
                                  </p:stCondLst>
                                  <p:childTnLst>
                                    <p:set>
                                      <p:cBhvr>
                                        <p:cTn id="37" dur="1" fill="hold">
                                          <p:stCondLst>
                                            <p:cond delay="0"/>
                                          </p:stCondLst>
                                        </p:cTn>
                                        <p:tgtEl>
                                          <p:spTgt spid="1049242"/>
                                        </p:tgtEl>
                                        <p:attrNameLst>
                                          <p:attrName>style.visibility</p:attrName>
                                        </p:attrNameLst>
                                      </p:cBhvr>
                                      <p:to>
                                        <p:strVal val="visible"/>
                                      </p:to>
                                    </p:set>
                                    <p:animEffect transition="in" filter="dissolve">
                                      <p:cBhvr>
                                        <p:cTn id="38" dur="500"/>
                                        <p:tgtEl>
                                          <p:spTgt spid="1049242"/>
                                        </p:tgtEl>
                                      </p:cBhvr>
                                    </p:animEffect>
                                  </p:childTnLst>
                                </p:cTn>
                              </p:par>
                            </p:childTnLst>
                          </p:cTn>
                        </p:par>
                      </p:childTnLst>
                    </p:cTn>
                  </p:par>
                  <p:par>
                    <p:cTn id="39" fill="hold">
                      <p:stCondLst>
                        <p:cond delay="indefinite"/>
                      </p:stCondLst>
                      <p:childTnLst>
                        <p:par>
                          <p:cTn id="40" fill="hold">
                            <p:stCondLst>
                              <p:cond delay="0"/>
                            </p:stCondLst>
                            <p:childTnLst>
                              <p:par>
                                <p:cTn id="41" presetID="2" presetClass="entr" presetSubtype="2" fill="hold" grpId="0" nodeType="clickEffect">
                                  <p:stCondLst>
                                    <p:cond delay="0"/>
                                  </p:stCondLst>
                                  <p:childTnLst>
                                    <p:set>
                                      <p:cBhvr>
                                        <p:cTn id="42" dur="1" fill="hold">
                                          <p:stCondLst>
                                            <p:cond delay="0"/>
                                          </p:stCondLst>
                                        </p:cTn>
                                        <p:tgtEl>
                                          <p:spTgt spid="1049243"/>
                                        </p:tgtEl>
                                        <p:attrNameLst>
                                          <p:attrName>style.visibility</p:attrName>
                                        </p:attrNameLst>
                                      </p:cBhvr>
                                      <p:to>
                                        <p:strVal val="visible"/>
                                      </p:to>
                                    </p:set>
                                    <p:anim calcmode="lin" valueType="num">
                                      <p:cBhvr additive="base">
                                        <p:cTn id="43" dur="500" fill="hold"/>
                                        <p:tgtEl>
                                          <p:spTgt spid="1049243"/>
                                        </p:tgtEl>
                                        <p:attrNameLst>
                                          <p:attrName>ppt_x</p:attrName>
                                        </p:attrNameLst>
                                      </p:cBhvr>
                                      <p:tavLst>
                                        <p:tav tm="0">
                                          <p:val>
                                            <p:strVal val="1+#ppt_w/2"/>
                                          </p:val>
                                        </p:tav>
                                        <p:tav tm="100000">
                                          <p:val>
                                            <p:strVal val="#ppt_x"/>
                                          </p:val>
                                        </p:tav>
                                      </p:tavLst>
                                    </p:anim>
                                    <p:anim calcmode="lin" valueType="num">
                                      <p:cBhvr additive="base">
                                        <p:cTn id="44" dur="500" fill="hold"/>
                                        <p:tgtEl>
                                          <p:spTgt spid="1049243"/>
                                        </p:tgtEl>
                                        <p:attrNameLst>
                                          <p:attrName>ppt_y</p:attrName>
                                        </p:attrNameLst>
                                      </p:cBhvr>
                                      <p:tavLst>
                                        <p:tav tm="0">
                                          <p:val>
                                            <p:strVal val="#ppt_y"/>
                                          </p:val>
                                        </p:tav>
                                        <p:tav tm="100000">
                                          <p:val>
                                            <p:strVal val="#ppt_y"/>
                                          </p:val>
                                        </p:tav>
                                      </p:tavLst>
                                    </p:anim>
                                  </p:childTnLst>
                                </p:cTn>
                              </p:par>
                            </p:childTnLst>
                          </p:cTn>
                        </p:par>
                        <p:par>
                          <p:cTn id="45" fill="hold">
                            <p:stCondLst>
                              <p:cond delay="500"/>
                            </p:stCondLst>
                            <p:childTnLst>
                              <p:par>
                                <p:cTn id="46" presetID="9" presetClass="entr" presetSubtype="0" fill="hold" grpId="0" nodeType="afterEffect">
                                  <p:stCondLst>
                                    <p:cond delay="0"/>
                                  </p:stCondLst>
                                  <p:childTnLst>
                                    <p:set>
                                      <p:cBhvr>
                                        <p:cTn id="47" dur="1" fill="hold">
                                          <p:stCondLst>
                                            <p:cond delay="0"/>
                                          </p:stCondLst>
                                        </p:cTn>
                                        <p:tgtEl>
                                          <p:spTgt spid="1049247"/>
                                        </p:tgtEl>
                                        <p:attrNameLst>
                                          <p:attrName>style.visibility</p:attrName>
                                        </p:attrNameLst>
                                      </p:cBhvr>
                                      <p:to>
                                        <p:strVal val="visible"/>
                                      </p:to>
                                    </p:set>
                                    <p:animEffect transition="in" filter="dissolve">
                                      <p:cBhvr>
                                        <p:cTn id="48" dur="500"/>
                                        <p:tgtEl>
                                          <p:spTgt spid="1049247"/>
                                        </p:tgtEl>
                                      </p:cBhvr>
                                    </p:animEffect>
                                  </p:childTnLst>
                                </p:cTn>
                              </p:par>
                              <p:par>
                                <p:cTn id="49" presetID="22" presetClass="entr" presetSubtype="4" fill="hold" grpId="0" nodeType="withEffect">
                                  <p:stCondLst>
                                    <p:cond delay="0"/>
                                  </p:stCondLst>
                                  <p:childTnLst>
                                    <p:set>
                                      <p:cBhvr>
                                        <p:cTn id="50" dur="1" fill="hold">
                                          <p:stCondLst>
                                            <p:cond delay="0"/>
                                          </p:stCondLst>
                                        </p:cTn>
                                        <p:tgtEl>
                                          <p:spTgt spid="1049258"/>
                                        </p:tgtEl>
                                        <p:attrNameLst>
                                          <p:attrName>style.visibility</p:attrName>
                                        </p:attrNameLst>
                                      </p:cBhvr>
                                      <p:to>
                                        <p:strVal val="visible"/>
                                      </p:to>
                                    </p:set>
                                    <p:animEffect transition="in" filter="wipe(down)">
                                      <p:cBhvr>
                                        <p:cTn id="51" dur="500"/>
                                        <p:tgtEl>
                                          <p:spTgt spid="1049258"/>
                                        </p:tgtEl>
                                      </p:cBhvr>
                                    </p:animEffect>
                                  </p:childTnLst>
                                </p:cTn>
                              </p:par>
                            </p:childTnLst>
                          </p:cTn>
                        </p:par>
                        <p:par>
                          <p:cTn id="52" fill="hold">
                            <p:stCondLst>
                              <p:cond delay="1000"/>
                            </p:stCondLst>
                            <p:childTnLst>
                              <p:par>
                                <p:cTn id="53" presetID="2" presetClass="entr" presetSubtype="4" fill="hold" grpId="0" nodeType="afterEffect">
                                  <p:stCondLst>
                                    <p:cond delay="0"/>
                                  </p:stCondLst>
                                  <p:childTnLst>
                                    <p:set>
                                      <p:cBhvr>
                                        <p:cTn id="54" dur="1" fill="hold">
                                          <p:stCondLst>
                                            <p:cond delay="0"/>
                                          </p:stCondLst>
                                        </p:cTn>
                                        <p:tgtEl>
                                          <p:spTgt spid="1049251"/>
                                        </p:tgtEl>
                                        <p:attrNameLst>
                                          <p:attrName>style.visibility</p:attrName>
                                        </p:attrNameLst>
                                      </p:cBhvr>
                                      <p:to>
                                        <p:strVal val="visible"/>
                                      </p:to>
                                    </p:set>
                                    <p:anim calcmode="lin" valueType="num">
                                      <p:cBhvr additive="base">
                                        <p:cTn id="55" dur="500" fill="hold"/>
                                        <p:tgtEl>
                                          <p:spTgt spid="1049251"/>
                                        </p:tgtEl>
                                        <p:attrNameLst>
                                          <p:attrName>ppt_x</p:attrName>
                                        </p:attrNameLst>
                                      </p:cBhvr>
                                      <p:tavLst>
                                        <p:tav tm="0">
                                          <p:val>
                                            <p:strVal val="#ppt_x"/>
                                          </p:val>
                                        </p:tav>
                                        <p:tav tm="100000">
                                          <p:val>
                                            <p:strVal val="#ppt_x"/>
                                          </p:val>
                                        </p:tav>
                                      </p:tavLst>
                                    </p:anim>
                                    <p:anim calcmode="lin" valueType="num">
                                      <p:cBhvr additive="base">
                                        <p:cTn id="56" dur="500" fill="hold"/>
                                        <p:tgtEl>
                                          <p:spTgt spid="1049251"/>
                                        </p:tgtEl>
                                        <p:attrNameLst>
                                          <p:attrName>ppt_y</p:attrName>
                                        </p:attrNameLst>
                                      </p:cBhvr>
                                      <p:tavLst>
                                        <p:tav tm="0">
                                          <p:val>
                                            <p:strVal val="1+#ppt_h/2"/>
                                          </p:val>
                                        </p:tav>
                                        <p:tav tm="100000">
                                          <p:val>
                                            <p:strVal val="#ppt_y"/>
                                          </p:val>
                                        </p:tav>
                                      </p:tavLst>
                                    </p:anim>
                                  </p:childTnLst>
                                </p:cTn>
                              </p:par>
                              <p:par>
                                <p:cTn id="57" presetID="2" presetClass="entr" presetSubtype="4" fill="hold" grpId="0" nodeType="withEffect">
                                  <p:stCondLst>
                                    <p:cond delay="0"/>
                                  </p:stCondLst>
                                  <p:childTnLst>
                                    <p:set>
                                      <p:cBhvr>
                                        <p:cTn id="58" dur="1" fill="hold">
                                          <p:stCondLst>
                                            <p:cond delay="0"/>
                                          </p:stCondLst>
                                        </p:cTn>
                                        <p:tgtEl>
                                          <p:spTgt spid="1049252"/>
                                        </p:tgtEl>
                                        <p:attrNameLst>
                                          <p:attrName>style.visibility</p:attrName>
                                        </p:attrNameLst>
                                      </p:cBhvr>
                                      <p:to>
                                        <p:strVal val="visible"/>
                                      </p:to>
                                    </p:set>
                                    <p:anim calcmode="lin" valueType="num">
                                      <p:cBhvr additive="base">
                                        <p:cTn id="59" dur="500" fill="hold"/>
                                        <p:tgtEl>
                                          <p:spTgt spid="1049252"/>
                                        </p:tgtEl>
                                        <p:attrNameLst>
                                          <p:attrName>ppt_x</p:attrName>
                                        </p:attrNameLst>
                                      </p:cBhvr>
                                      <p:tavLst>
                                        <p:tav tm="0">
                                          <p:val>
                                            <p:strVal val="#ppt_x"/>
                                          </p:val>
                                        </p:tav>
                                        <p:tav tm="100000">
                                          <p:val>
                                            <p:strVal val="#ppt_x"/>
                                          </p:val>
                                        </p:tav>
                                      </p:tavLst>
                                    </p:anim>
                                    <p:anim calcmode="lin" valueType="num">
                                      <p:cBhvr additive="base">
                                        <p:cTn id="60" dur="500" fill="hold"/>
                                        <p:tgtEl>
                                          <p:spTgt spid="1049252"/>
                                        </p:tgtEl>
                                        <p:attrNameLst>
                                          <p:attrName>ppt_y</p:attrName>
                                        </p:attrNameLst>
                                      </p:cBhvr>
                                      <p:tavLst>
                                        <p:tav tm="0">
                                          <p:val>
                                            <p:strVal val="1+#ppt_h/2"/>
                                          </p:val>
                                        </p:tav>
                                        <p:tav tm="100000">
                                          <p:val>
                                            <p:strVal val="#ppt_y"/>
                                          </p:val>
                                        </p:tav>
                                      </p:tavLst>
                                    </p:anim>
                                  </p:childTnLst>
                                </p:cTn>
                              </p:par>
                              <p:par>
                                <p:cTn id="61" presetID="2" presetClass="entr" presetSubtype="4" fill="hold" grpId="0" nodeType="withEffect">
                                  <p:stCondLst>
                                    <p:cond delay="0"/>
                                  </p:stCondLst>
                                  <p:childTnLst>
                                    <p:set>
                                      <p:cBhvr>
                                        <p:cTn id="62" dur="1" fill="hold">
                                          <p:stCondLst>
                                            <p:cond delay="0"/>
                                          </p:stCondLst>
                                        </p:cTn>
                                        <p:tgtEl>
                                          <p:spTgt spid="1049260"/>
                                        </p:tgtEl>
                                        <p:attrNameLst>
                                          <p:attrName>style.visibility</p:attrName>
                                        </p:attrNameLst>
                                      </p:cBhvr>
                                      <p:to>
                                        <p:strVal val="visible"/>
                                      </p:to>
                                    </p:set>
                                    <p:anim calcmode="lin" valueType="num">
                                      <p:cBhvr additive="base">
                                        <p:cTn id="63" dur="500" fill="hold"/>
                                        <p:tgtEl>
                                          <p:spTgt spid="1049260"/>
                                        </p:tgtEl>
                                        <p:attrNameLst>
                                          <p:attrName>ppt_x</p:attrName>
                                        </p:attrNameLst>
                                      </p:cBhvr>
                                      <p:tavLst>
                                        <p:tav tm="0">
                                          <p:val>
                                            <p:strVal val="#ppt_x"/>
                                          </p:val>
                                        </p:tav>
                                        <p:tav tm="100000">
                                          <p:val>
                                            <p:strVal val="#ppt_x"/>
                                          </p:val>
                                        </p:tav>
                                      </p:tavLst>
                                    </p:anim>
                                    <p:anim calcmode="lin" valueType="num">
                                      <p:cBhvr additive="base">
                                        <p:cTn id="64" dur="500" fill="hold"/>
                                        <p:tgtEl>
                                          <p:spTgt spid="1049260"/>
                                        </p:tgtEl>
                                        <p:attrNameLst>
                                          <p:attrName>ppt_y</p:attrName>
                                        </p:attrNameLst>
                                      </p:cBhvr>
                                      <p:tavLst>
                                        <p:tav tm="0">
                                          <p:val>
                                            <p:strVal val="1+#ppt_h/2"/>
                                          </p:val>
                                        </p:tav>
                                        <p:tav tm="100000">
                                          <p:val>
                                            <p:strVal val="#ppt_y"/>
                                          </p:val>
                                        </p:tav>
                                      </p:tavLst>
                                    </p:anim>
                                  </p:childTnLst>
                                </p:cTn>
                              </p:par>
                            </p:childTnLst>
                          </p:cTn>
                        </p:par>
                      </p:childTnLst>
                    </p:cTn>
                  </p:par>
                  <p:par>
                    <p:cTn id="65" fill="hold">
                      <p:stCondLst>
                        <p:cond delay="indefinite"/>
                      </p:stCondLst>
                      <p:childTnLst>
                        <p:par>
                          <p:cTn id="66" fill="hold">
                            <p:stCondLst>
                              <p:cond delay="0"/>
                            </p:stCondLst>
                            <p:childTnLst>
                              <p:par>
                                <p:cTn id="67" presetID="22" presetClass="entr" presetSubtype="4" fill="hold" grpId="0" nodeType="clickEffect">
                                  <p:stCondLst>
                                    <p:cond delay="0"/>
                                  </p:stCondLst>
                                  <p:childTnLst>
                                    <p:set>
                                      <p:cBhvr>
                                        <p:cTn id="68" dur="1" fill="hold">
                                          <p:stCondLst>
                                            <p:cond delay="0"/>
                                          </p:stCondLst>
                                        </p:cTn>
                                        <p:tgtEl>
                                          <p:spTgt spid="1049256"/>
                                        </p:tgtEl>
                                        <p:attrNameLst>
                                          <p:attrName>style.visibility</p:attrName>
                                        </p:attrNameLst>
                                      </p:cBhvr>
                                      <p:to>
                                        <p:strVal val="visible"/>
                                      </p:to>
                                    </p:set>
                                    <p:animEffect transition="in" filter="wipe(down)">
                                      <p:cBhvr>
                                        <p:cTn id="69" dur="500"/>
                                        <p:tgtEl>
                                          <p:spTgt spid="1049256"/>
                                        </p:tgtEl>
                                      </p:cBhvr>
                                    </p:animEffect>
                                  </p:childTnLst>
                                </p:cTn>
                              </p:par>
                              <p:par>
                                <p:cTn id="70" presetID="22" presetClass="entr" presetSubtype="4" fill="hold" grpId="0" nodeType="withEffect">
                                  <p:stCondLst>
                                    <p:cond delay="0"/>
                                  </p:stCondLst>
                                  <p:childTnLst>
                                    <p:set>
                                      <p:cBhvr>
                                        <p:cTn id="71" dur="1" fill="hold">
                                          <p:stCondLst>
                                            <p:cond delay="0"/>
                                          </p:stCondLst>
                                        </p:cTn>
                                        <p:tgtEl>
                                          <p:spTgt spid="1049255"/>
                                        </p:tgtEl>
                                        <p:attrNameLst>
                                          <p:attrName>style.visibility</p:attrName>
                                        </p:attrNameLst>
                                      </p:cBhvr>
                                      <p:to>
                                        <p:strVal val="visible"/>
                                      </p:to>
                                    </p:set>
                                    <p:animEffect transition="in" filter="wipe(down)">
                                      <p:cBhvr>
                                        <p:cTn id="72" dur="500"/>
                                        <p:tgtEl>
                                          <p:spTgt spid="1049255"/>
                                        </p:tgtEl>
                                      </p:cBhvr>
                                    </p:animEffect>
                                  </p:childTnLst>
                                </p:cTn>
                              </p:par>
                              <p:par>
                                <p:cTn id="73" presetID="9" presetClass="entr" presetSubtype="0" fill="hold" grpId="0" nodeType="withEffect">
                                  <p:stCondLst>
                                    <p:cond delay="0"/>
                                  </p:stCondLst>
                                  <p:childTnLst>
                                    <p:set>
                                      <p:cBhvr>
                                        <p:cTn id="74" dur="1" fill="hold">
                                          <p:stCondLst>
                                            <p:cond delay="0"/>
                                          </p:stCondLst>
                                        </p:cTn>
                                        <p:tgtEl>
                                          <p:spTgt spid="1049244"/>
                                        </p:tgtEl>
                                        <p:attrNameLst>
                                          <p:attrName>style.visibility</p:attrName>
                                        </p:attrNameLst>
                                      </p:cBhvr>
                                      <p:to>
                                        <p:strVal val="visible"/>
                                      </p:to>
                                    </p:set>
                                    <p:animEffect transition="in" filter="dissolve">
                                      <p:cBhvr>
                                        <p:cTn id="75" dur="500"/>
                                        <p:tgtEl>
                                          <p:spTgt spid="1049244"/>
                                        </p:tgtEl>
                                      </p:cBhvr>
                                    </p:animEffect>
                                  </p:childTnLst>
                                </p:cTn>
                              </p:par>
                            </p:childTnLst>
                          </p:cTn>
                        </p:par>
                      </p:childTnLst>
                    </p:cTn>
                  </p:par>
                  <p:par>
                    <p:cTn id="76" fill="hold">
                      <p:stCondLst>
                        <p:cond delay="indefinite"/>
                      </p:stCondLst>
                      <p:childTnLst>
                        <p:par>
                          <p:cTn id="77" fill="hold">
                            <p:stCondLst>
                              <p:cond delay="0"/>
                            </p:stCondLst>
                            <p:childTnLst>
                              <p:par>
                                <p:cTn id="78" presetID="22" presetClass="entr" presetSubtype="4" fill="hold" grpId="0" nodeType="clickEffect">
                                  <p:stCondLst>
                                    <p:cond delay="0"/>
                                  </p:stCondLst>
                                  <p:childTnLst>
                                    <p:set>
                                      <p:cBhvr>
                                        <p:cTn id="79" dur="1" fill="hold">
                                          <p:stCondLst>
                                            <p:cond delay="0"/>
                                          </p:stCondLst>
                                        </p:cTn>
                                        <p:tgtEl>
                                          <p:spTgt spid="1049245"/>
                                        </p:tgtEl>
                                        <p:attrNameLst>
                                          <p:attrName>style.visibility</p:attrName>
                                        </p:attrNameLst>
                                      </p:cBhvr>
                                      <p:to>
                                        <p:strVal val="visible"/>
                                      </p:to>
                                    </p:set>
                                    <p:animEffect transition="in" filter="wipe(down)">
                                      <p:cBhvr>
                                        <p:cTn id="80" dur="500"/>
                                        <p:tgtEl>
                                          <p:spTgt spid="1049245"/>
                                        </p:tgtEl>
                                      </p:cBhvr>
                                    </p:animEffect>
                                  </p:childTnLst>
                                </p:cTn>
                              </p:par>
                              <p:par>
                                <p:cTn id="81" presetID="9" presetClass="entr" presetSubtype="0" fill="hold" grpId="0" nodeType="withEffect">
                                  <p:stCondLst>
                                    <p:cond delay="0"/>
                                  </p:stCondLst>
                                  <p:childTnLst>
                                    <p:set>
                                      <p:cBhvr>
                                        <p:cTn id="82" dur="1" fill="hold">
                                          <p:stCondLst>
                                            <p:cond delay="0"/>
                                          </p:stCondLst>
                                        </p:cTn>
                                        <p:tgtEl>
                                          <p:spTgt spid="1049246"/>
                                        </p:tgtEl>
                                        <p:attrNameLst>
                                          <p:attrName>style.visibility</p:attrName>
                                        </p:attrNameLst>
                                      </p:cBhvr>
                                      <p:to>
                                        <p:strVal val="visible"/>
                                      </p:to>
                                    </p:set>
                                    <p:animEffect transition="in" filter="dissolve">
                                      <p:cBhvr>
                                        <p:cTn id="83" dur="500"/>
                                        <p:tgtEl>
                                          <p:spTgt spid="1049246"/>
                                        </p:tgtEl>
                                      </p:cBhvr>
                                    </p:animEffect>
                                  </p:childTnLst>
                                </p:cTn>
                              </p:par>
                            </p:childTnLst>
                          </p:cTn>
                        </p:par>
                      </p:childTnLst>
                    </p:cTn>
                  </p:par>
                  <p:par>
                    <p:cTn id="84" fill="hold">
                      <p:stCondLst>
                        <p:cond delay="indefinite"/>
                      </p:stCondLst>
                      <p:childTnLst>
                        <p:par>
                          <p:cTn id="85" fill="hold">
                            <p:stCondLst>
                              <p:cond delay="0"/>
                            </p:stCondLst>
                            <p:childTnLst>
                              <p:par>
                                <p:cTn id="86" presetID="9" presetClass="entr" presetSubtype="0" fill="hold" grpId="0" nodeType="clickEffect">
                                  <p:stCondLst>
                                    <p:cond delay="0"/>
                                  </p:stCondLst>
                                  <p:childTnLst>
                                    <p:set>
                                      <p:cBhvr>
                                        <p:cTn id="87" dur="1" fill="hold">
                                          <p:stCondLst>
                                            <p:cond delay="0"/>
                                          </p:stCondLst>
                                        </p:cTn>
                                        <p:tgtEl>
                                          <p:spTgt spid="1049261"/>
                                        </p:tgtEl>
                                        <p:attrNameLst>
                                          <p:attrName>style.visibility</p:attrName>
                                        </p:attrNameLst>
                                      </p:cBhvr>
                                      <p:to>
                                        <p:strVal val="visible"/>
                                      </p:to>
                                    </p:set>
                                    <p:animEffect transition="in" filter="dissolve">
                                      <p:cBhvr>
                                        <p:cTn id="88" dur="500"/>
                                        <p:tgtEl>
                                          <p:spTgt spid="10492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9242" grpId="0"/>
      <p:bldP spid="1049243" grpId="0" animBg="1"/>
      <p:bldP spid="1049244" grpId="0" animBg="1"/>
      <p:bldP spid="1049245" grpId="0" animBg="1"/>
      <p:bldP spid="1049246" grpId="0"/>
      <p:bldP spid="1049247" grpId="0"/>
      <p:bldP spid="1049248" grpId="0" animBg="1"/>
      <p:bldP spid="1049249" grpId="0" animBg="1"/>
      <p:bldP spid="1049250" grpId="0" animBg="1"/>
      <p:bldP spid="1049251" grpId="0" animBg="1"/>
      <p:bldP spid="1049252" grpId="0" animBg="1"/>
      <p:bldP spid="1049253" grpId="0" animBg="1"/>
      <p:bldP spid="1049254" grpId="0" animBg="1"/>
      <p:bldP spid="1049255" grpId="0" animBg="1"/>
      <p:bldP spid="1049256" grpId="0" animBg="1"/>
      <p:bldP spid="1049257" grpId="0"/>
      <p:bldP spid="1049258" grpId="0" animBg="1"/>
      <p:bldP spid="1049259" grpId="0" animBg="1"/>
      <p:bldP spid="1049260" grpId="0" animBg="1"/>
      <p:bldP spid="1049261" grpId="0" animBg="1"/>
    </p:bldLst>
  </p:timing>
</p:sld>
</file>

<file path=ppt/slides/slide5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49262" name="Title 1"/>
          <p:cNvSpPr>
            <a:spLocks noGrp="1"/>
          </p:cNvSpPr>
          <p:nvPr>
            <p:ph type="title"/>
          </p:nvPr>
        </p:nvSpPr>
        <p:spPr>
          <a:xfrm>
            <a:off x="457200" y="457200"/>
            <a:ext cx="8229600" cy="482600"/>
          </a:xfrm>
        </p:spPr>
        <p:txBody>
          <a:bodyPr/>
          <a:lstStyle/>
          <a:p>
            <a:r>
              <a:rPr lang="en-US" sz="2800" b="1">
                <a:latin typeface="Times New Roman" panose="02020603050405020304" pitchFamily="18" charset="0"/>
                <a:cs typeface="Times New Roman" panose="02020603050405020304" pitchFamily="18" charset="0"/>
              </a:rPr>
              <a:t>PHYSICAL LAYER</a:t>
            </a:r>
          </a:p>
        </p:txBody>
      </p:sp>
      <p:sp>
        <p:nvSpPr>
          <p:cNvPr id="1049263" name="Content Placeholder 2"/>
          <p:cNvSpPr>
            <a:spLocks noGrp="1"/>
          </p:cNvSpPr>
          <p:nvPr>
            <p:ph type="body" idx="1"/>
          </p:nvPr>
        </p:nvSpPr>
        <p:spPr>
          <a:xfrm>
            <a:off x="304800" y="3041936"/>
            <a:ext cx="8382000" cy="4669536"/>
          </a:xfrm>
        </p:spPr>
        <p:txBody>
          <a:bodyPr>
            <a:normAutofit/>
          </a:bodyPr>
          <a:lstStyle/>
          <a:p>
            <a:pPr marL="342900" indent="-342900" algn="just">
              <a:buFont typeface="Arial" panose="020B0604020202020204" pitchFamily="34" charset="0"/>
              <a:buChar char="•"/>
            </a:pPr>
            <a:r>
              <a:rPr lang="en-US" sz="2000">
                <a:solidFill>
                  <a:schemeClr val="accent6">
                    <a:lumMod val="75000"/>
                  </a:schemeClr>
                </a:solidFill>
                <a:latin typeface="Times New Roman" panose="02020603050405020304" pitchFamily="18" charset="0"/>
                <a:cs typeface="Times New Roman" panose="02020603050405020304" pitchFamily="18" charset="0"/>
              </a:rPr>
              <a:t>Physical Layer is the bottom-most layer.</a:t>
            </a:r>
          </a:p>
          <a:p>
            <a:pPr marL="171450" indent="-171450" algn="just">
              <a:buFont typeface="Arial" panose="020B0604020202020204" pitchFamily="34" charset="0"/>
              <a:buChar char="•"/>
            </a:pPr>
            <a:endParaRPr lang="en-US" sz="1100">
              <a:solidFill>
                <a:schemeClr val="accent6">
                  <a:lumMod val="75000"/>
                </a:schemeClr>
              </a:solidFill>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US" sz="2000">
                <a:solidFill>
                  <a:schemeClr val="accent6">
                    <a:lumMod val="75000"/>
                  </a:schemeClr>
                </a:solidFill>
                <a:latin typeface="Times New Roman" panose="02020603050405020304" pitchFamily="18" charset="0"/>
                <a:cs typeface="Times New Roman" panose="02020603050405020304" pitchFamily="18" charset="0"/>
              </a:rPr>
              <a:t>It is associated with the electrical, mechanical and transmission media .</a:t>
            </a:r>
          </a:p>
          <a:p>
            <a:pPr marL="171450" indent="-171450" algn="just">
              <a:buFont typeface="Arial" panose="020B0604020202020204" pitchFamily="34" charset="0"/>
              <a:buChar char="•"/>
            </a:pPr>
            <a:endParaRPr lang="en-US" sz="1100">
              <a:solidFill>
                <a:schemeClr val="accent6">
                  <a:lumMod val="75000"/>
                </a:schemeClr>
              </a:solidFill>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US" sz="2000">
                <a:solidFill>
                  <a:schemeClr val="accent6">
                    <a:lumMod val="75000"/>
                  </a:schemeClr>
                </a:solidFill>
                <a:latin typeface="Times New Roman" panose="02020603050405020304" pitchFamily="18" charset="0"/>
                <a:cs typeface="Times New Roman" panose="02020603050405020304" pitchFamily="18" charset="0"/>
              </a:rPr>
              <a:t>Physical layer deals with all the physical devices that can be used for data communication.</a:t>
            </a:r>
          </a:p>
        </p:txBody>
      </p:sp>
      <p:sp>
        <p:nvSpPr>
          <p:cNvPr id="1049264" name="Slide Number Placeholder 3"/>
          <p:cNvSpPr>
            <a:spLocks noGrp="1"/>
          </p:cNvSpPr>
          <p:nvPr>
            <p:ph type="sldNum" sz="quarter" idx="7"/>
          </p:nvPr>
        </p:nvSpPr>
        <p:spPr/>
        <p:txBody>
          <a:bodyPr/>
          <a:lstStyle/>
          <a:p>
            <a:fld id="{BCC20C3A-8631-44B9-B2EA-782A539FC911}" type="slidenum">
              <a:rPr lang="en-US" smtClean="0"/>
              <a:t>58</a:t>
            </a:fld>
            <a:endParaRPr lang="en-US"/>
          </a:p>
        </p:txBody>
      </p:sp>
      <p:sp>
        <p:nvSpPr>
          <p:cNvPr id="1049265" name="Text Box 6"/>
          <p:cNvSpPr txBox="1">
            <a:spLocks noChangeArrowheads="1"/>
          </p:cNvSpPr>
          <p:nvPr/>
        </p:nvSpPr>
        <p:spPr bwMode="auto">
          <a:xfrm>
            <a:off x="212127" y="1257814"/>
            <a:ext cx="8567346" cy="1729739"/>
          </a:xfrm>
          <a:prstGeom prst="rect">
            <a:avLst/>
          </a:prstGeom>
          <a:solidFill>
            <a:schemeClr val="tx2"/>
          </a:solidFill>
          <a:ln w="9525">
            <a:noFill/>
            <a:miter lim="800000"/>
          </a:ln>
          <a:effectLst>
            <a:outerShdw dist="107763" dir="2700000" algn="ctr" rotWithShape="0">
              <a:schemeClr val="bg2">
                <a:alpha val="50000"/>
              </a:schemeClr>
            </a:outerShdw>
          </a:effectLst>
        </p:spPr>
        <p:txBody>
          <a:bodyPr wrap="square">
            <a:spAutoFit/>
          </a:bodyPr>
          <a:lstStyle/>
          <a:p>
            <a:pPr algn="ctr" fontAlgn="base">
              <a:spcBef>
                <a:spcPct val="0"/>
              </a:spcBef>
              <a:spcAft>
                <a:spcPct val="0"/>
              </a:spcAft>
            </a:pPr>
            <a:r>
              <a:rPr lang="en-US" sz="3200" b="1">
                <a:solidFill>
                  <a:prstClr val="white"/>
                </a:solidFill>
                <a:latin typeface="Monotype Corsiva" panose="03010101010201010101" pitchFamily="66" charset="0"/>
                <a:cs typeface="Arial" panose="020B0604020202020204" pitchFamily="34" charset="0"/>
              </a:rPr>
              <a:t>The physical layer is responsible for movements of individual bits from one hop (node) to the next</a:t>
            </a:r>
            <a:endParaRPr lang="en-US" sz="3200" b="1" i="1">
              <a:solidFill>
                <a:prstClr val="white"/>
              </a:solidFill>
              <a:effectLst>
                <a:outerShdw blurRad="38100" dist="38100" dir="2700000" algn="tl">
                  <a:srgbClr val="000000"/>
                </a:outerShdw>
              </a:effectLst>
              <a:latin typeface="Monotype Corsiva" panose="03010101010201010101" pitchFamily="66" charset="0"/>
              <a:cs typeface="Arial" panose="020B0604020202020204" pitchFamily="34" charset="0"/>
            </a:endParaRPr>
          </a:p>
        </p:txBody>
      </p:sp>
    </p:spTree>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049265"/>
                                        </p:tgtEl>
                                        <p:attrNameLst>
                                          <p:attrName>style.visibility</p:attrName>
                                        </p:attrNameLst>
                                      </p:cBhvr>
                                      <p:to>
                                        <p:strVal val="visible"/>
                                      </p:to>
                                    </p:set>
                                    <p:animEffect transition="in" filter="dissolve">
                                      <p:cBhvr>
                                        <p:cTn id="7" dur="500"/>
                                        <p:tgtEl>
                                          <p:spTgt spid="1049265"/>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1049263">
                                            <p:txEl>
                                              <p:pRg st="0" end="0"/>
                                            </p:txEl>
                                          </p:spTgt>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1049263">
                                            <p:txEl>
                                              <p:pRg st="2" end="2"/>
                                            </p:txEl>
                                          </p:spTgt>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0"/>
                                          </p:stCondLst>
                                        </p:cTn>
                                        <p:tgtEl>
                                          <p:spTgt spid="104926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9263" grpId="0" build="p"/>
      <p:bldP spid="1049265" grpId="0" animBg="1"/>
    </p:bldLst>
  </p:timing>
</p:sld>
</file>

<file path=ppt/slides/slide5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49266" name="Rectangle 2"/>
          <p:cNvSpPr>
            <a:spLocks noGrp="1" noChangeArrowheads="1"/>
          </p:cNvSpPr>
          <p:nvPr>
            <p:ph type="title"/>
          </p:nvPr>
        </p:nvSpPr>
        <p:spPr>
          <a:xfrm>
            <a:off x="457200" y="457200"/>
            <a:ext cx="8229600" cy="469900"/>
          </a:xfrm>
        </p:spPr>
        <p:txBody>
          <a:bodyPr/>
          <a:lstStyle/>
          <a:p>
            <a:pPr eaLnBrk="1" hangingPunct="1"/>
            <a:r>
              <a:rPr lang="en-US" b="1"/>
              <a:t>PHYSICAL LAYER</a:t>
            </a:r>
          </a:p>
        </p:txBody>
      </p:sp>
      <p:sp>
        <p:nvSpPr>
          <p:cNvPr id="1049267" name="Slide Number Placeholder 5"/>
          <p:cNvSpPr>
            <a:spLocks noGrp="1"/>
          </p:cNvSpPr>
          <p:nvPr>
            <p:ph type="sldNum" sz="quarter" idx="7"/>
          </p:nvPr>
        </p:nvSpPr>
        <p:spPr/>
        <p:txBody>
          <a:bodyPr/>
          <a:lstStyle/>
          <a:p>
            <a:fld id="{809887BA-383A-4131-945C-E6437FE9E63B}" type="slidenum">
              <a:rPr lang="en-US"/>
              <a:t>59</a:t>
            </a:fld>
            <a:endParaRPr lang="en-US"/>
          </a:p>
        </p:txBody>
      </p:sp>
      <p:sp>
        <p:nvSpPr>
          <p:cNvPr id="1049268" name="Rectangle 3"/>
          <p:cNvSpPr>
            <a:spLocks noChangeArrowheads="1"/>
          </p:cNvSpPr>
          <p:nvPr/>
        </p:nvSpPr>
        <p:spPr bwMode="auto">
          <a:xfrm>
            <a:off x="1600200" y="3335338"/>
            <a:ext cx="3048000" cy="1066800"/>
          </a:xfrm>
          <a:prstGeom prst="rect">
            <a:avLst/>
          </a:prstGeom>
          <a:solidFill>
            <a:schemeClr val="bg2"/>
          </a:solidFill>
          <a:ln w="9525">
            <a:solidFill>
              <a:schemeClr val="tx1"/>
            </a:solidFill>
            <a:miter lim="800000"/>
          </a:ln>
        </p:spPr>
        <p:txBody>
          <a:bodyPr wrap="none" anchor="ctr"/>
          <a:lstStyle/>
          <a:p>
            <a:pPr fontAlgn="base">
              <a:spcBef>
                <a:spcPct val="0"/>
              </a:spcBef>
              <a:spcAft>
                <a:spcPct val="0"/>
              </a:spcAft>
            </a:pPr>
            <a:endParaRPr lang="en-US">
              <a:solidFill>
                <a:prstClr val="black"/>
              </a:solidFill>
              <a:latin typeface="Tahoma" panose="020B0604030504040204" pitchFamily="34" charset="0"/>
              <a:cs typeface="Arial" panose="020B0604020202020204" pitchFamily="34" charset="0"/>
            </a:endParaRPr>
          </a:p>
        </p:txBody>
      </p:sp>
      <p:sp>
        <p:nvSpPr>
          <p:cNvPr id="1049269" name="Text Box 4"/>
          <p:cNvSpPr txBox="1">
            <a:spLocks noChangeArrowheads="1"/>
          </p:cNvSpPr>
          <p:nvPr/>
        </p:nvSpPr>
        <p:spPr bwMode="auto">
          <a:xfrm>
            <a:off x="288925" y="3443288"/>
            <a:ext cx="1045239" cy="701039"/>
          </a:xfrm>
          <a:prstGeom prst="rect">
            <a:avLst/>
          </a:prstGeom>
          <a:noFill/>
          <a:ln w="9525">
            <a:noFill/>
            <a:miter lim="800000"/>
          </a:ln>
        </p:spPr>
        <p:txBody>
          <a:bodyPr wrap="none">
            <a:spAutoFit/>
          </a:bodyPr>
          <a:lstStyle/>
          <a:p>
            <a:pPr algn="ctr" fontAlgn="base">
              <a:spcBef>
                <a:spcPct val="0"/>
              </a:spcBef>
              <a:spcAft>
                <a:spcPct val="0"/>
              </a:spcAft>
            </a:pPr>
            <a:r>
              <a:rPr lang="en-US">
                <a:solidFill>
                  <a:prstClr val="black"/>
                </a:solidFill>
                <a:latin typeface="Tahoma" panose="020B0604030504040204" pitchFamily="34" charset="0"/>
                <a:cs typeface="Arial" panose="020B0604020202020204" pitchFamily="34" charset="0"/>
              </a:rPr>
              <a:t>Physical</a:t>
            </a:r>
            <a:br>
              <a:rPr lang="en-US">
                <a:solidFill>
                  <a:prstClr val="black"/>
                </a:solidFill>
                <a:latin typeface="Tahoma" panose="020B0604030504040204" pitchFamily="34" charset="0"/>
                <a:cs typeface="Arial" panose="020B0604020202020204" pitchFamily="34" charset="0"/>
              </a:rPr>
            </a:br>
            <a:r>
              <a:rPr lang="en-US">
                <a:solidFill>
                  <a:prstClr val="black"/>
                </a:solidFill>
                <a:latin typeface="Tahoma" panose="020B0604030504040204" pitchFamily="34" charset="0"/>
                <a:cs typeface="Arial" panose="020B0604020202020204" pitchFamily="34" charset="0"/>
              </a:rPr>
              <a:t>Layer</a:t>
            </a:r>
          </a:p>
        </p:txBody>
      </p:sp>
      <p:sp>
        <p:nvSpPr>
          <p:cNvPr id="1049270" name="Rectangle 5"/>
          <p:cNvSpPr>
            <a:spLocks noChangeArrowheads="1"/>
          </p:cNvSpPr>
          <p:nvPr/>
        </p:nvSpPr>
        <p:spPr bwMode="auto">
          <a:xfrm>
            <a:off x="2133600" y="2743200"/>
            <a:ext cx="1905000" cy="304800"/>
          </a:xfrm>
          <a:prstGeom prst="rect">
            <a:avLst/>
          </a:prstGeom>
          <a:solidFill>
            <a:srgbClr val="080808"/>
          </a:solidFill>
          <a:ln w="9525">
            <a:solidFill>
              <a:schemeClr val="tx1"/>
            </a:solidFill>
            <a:miter lim="800000"/>
          </a:ln>
        </p:spPr>
        <p:txBody>
          <a:bodyPr wrap="none" anchor="ctr"/>
          <a:lstStyle/>
          <a:p>
            <a:pPr algn="ctr" fontAlgn="base">
              <a:spcBef>
                <a:spcPct val="0"/>
              </a:spcBef>
              <a:spcAft>
                <a:spcPct val="0"/>
              </a:spcAft>
            </a:pPr>
            <a:r>
              <a:rPr lang="en-US">
                <a:solidFill>
                  <a:prstClr val="white"/>
                </a:solidFill>
                <a:latin typeface="Tahoma" panose="020B0604030504040204" pitchFamily="34" charset="0"/>
                <a:cs typeface="Arial" panose="020B0604020202020204" pitchFamily="34" charset="0"/>
              </a:rPr>
              <a:t>Data</a:t>
            </a:r>
          </a:p>
        </p:txBody>
      </p:sp>
      <p:sp>
        <p:nvSpPr>
          <p:cNvPr id="1049271" name="AutoShape 6"/>
          <p:cNvSpPr>
            <a:spLocks noChangeArrowheads="1"/>
          </p:cNvSpPr>
          <p:nvPr/>
        </p:nvSpPr>
        <p:spPr bwMode="auto">
          <a:xfrm>
            <a:off x="2819400" y="2133600"/>
            <a:ext cx="381000" cy="533400"/>
          </a:xfrm>
          <a:prstGeom prst="downArrow">
            <a:avLst>
              <a:gd name="adj1" fmla="val 50000"/>
              <a:gd name="adj2" fmla="val 35000"/>
            </a:avLst>
          </a:prstGeom>
          <a:solidFill>
            <a:schemeClr val="folHlink"/>
          </a:solidFill>
          <a:ln w="9525">
            <a:solidFill>
              <a:schemeClr val="tx1"/>
            </a:solidFill>
            <a:miter lim="800000"/>
          </a:ln>
        </p:spPr>
        <p:txBody>
          <a:bodyPr wrap="none" anchor="ctr"/>
          <a:lstStyle/>
          <a:p>
            <a:pPr fontAlgn="base">
              <a:spcBef>
                <a:spcPct val="0"/>
              </a:spcBef>
              <a:spcAft>
                <a:spcPct val="0"/>
              </a:spcAft>
            </a:pPr>
            <a:endParaRPr lang="en-US">
              <a:solidFill>
                <a:prstClr val="black"/>
              </a:solidFill>
              <a:latin typeface="Tahoma" panose="020B0604030504040204" pitchFamily="34" charset="0"/>
              <a:cs typeface="Arial" panose="020B0604020202020204" pitchFamily="34" charset="0"/>
            </a:endParaRPr>
          </a:p>
        </p:txBody>
      </p:sp>
      <p:sp>
        <p:nvSpPr>
          <p:cNvPr id="1049272" name="Text Box 7"/>
          <p:cNvSpPr txBox="1">
            <a:spLocks noChangeArrowheads="1"/>
          </p:cNvSpPr>
          <p:nvPr/>
        </p:nvSpPr>
        <p:spPr bwMode="auto">
          <a:xfrm>
            <a:off x="2057400" y="1676400"/>
            <a:ext cx="1735703" cy="396239"/>
          </a:xfrm>
          <a:prstGeom prst="rect">
            <a:avLst/>
          </a:prstGeom>
          <a:noFill/>
          <a:ln w="9525">
            <a:noFill/>
            <a:miter lim="800000"/>
          </a:ln>
        </p:spPr>
        <p:txBody>
          <a:bodyPr wrap="none">
            <a:spAutoFit/>
          </a:bodyPr>
          <a:lstStyle/>
          <a:p>
            <a:pPr fontAlgn="base">
              <a:spcBef>
                <a:spcPct val="0"/>
              </a:spcBef>
              <a:spcAft>
                <a:spcPct val="0"/>
              </a:spcAft>
            </a:pPr>
            <a:r>
              <a:rPr lang="en-US">
                <a:solidFill>
                  <a:prstClr val="black"/>
                </a:solidFill>
                <a:latin typeface="Tahoma" panose="020B0604030504040204" pitchFamily="34" charset="0"/>
                <a:cs typeface="Arial" panose="020B0604020202020204" pitchFamily="34" charset="0"/>
              </a:rPr>
              <a:t>from Data Link</a:t>
            </a:r>
          </a:p>
        </p:txBody>
      </p:sp>
      <p:sp>
        <p:nvSpPr>
          <p:cNvPr id="1049273" name="Rectangle 9"/>
          <p:cNvSpPr>
            <a:spLocks noChangeArrowheads="1"/>
          </p:cNvSpPr>
          <p:nvPr/>
        </p:nvSpPr>
        <p:spPr bwMode="auto">
          <a:xfrm>
            <a:off x="5181600" y="3335338"/>
            <a:ext cx="3048000" cy="1066800"/>
          </a:xfrm>
          <a:prstGeom prst="rect">
            <a:avLst/>
          </a:prstGeom>
          <a:solidFill>
            <a:schemeClr val="bg2"/>
          </a:solidFill>
          <a:ln w="9525">
            <a:solidFill>
              <a:schemeClr val="tx1"/>
            </a:solidFill>
            <a:miter lim="800000"/>
          </a:ln>
        </p:spPr>
        <p:txBody>
          <a:bodyPr wrap="none" anchor="ctr"/>
          <a:lstStyle/>
          <a:p>
            <a:pPr fontAlgn="base">
              <a:spcBef>
                <a:spcPct val="0"/>
              </a:spcBef>
              <a:spcAft>
                <a:spcPct val="0"/>
              </a:spcAft>
            </a:pPr>
            <a:endParaRPr lang="en-US">
              <a:solidFill>
                <a:prstClr val="black"/>
              </a:solidFill>
              <a:latin typeface="Tahoma" panose="020B0604030504040204" pitchFamily="34" charset="0"/>
              <a:cs typeface="Arial" panose="020B0604020202020204" pitchFamily="34" charset="0"/>
            </a:endParaRPr>
          </a:p>
        </p:txBody>
      </p:sp>
      <p:sp>
        <p:nvSpPr>
          <p:cNvPr id="1049274" name="AutoShape 11"/>
          <p:cNvSpPr>
            <a:spLocks noChangeArrowheads="1"/>
          </p:cNvSpPr>
          <p:nvPr/>
        </p:nvSpPr>
        <p:spPr bwMode="auto">
          <a:xfrm flipV="1">
            <a:off x="6400800" y="2133600"/>
            <a:ext cx="381000" cy="533400"/>
          </a:xfrm>
          <a:prstGeom prst="downArrow">
            <a:avLst>
              <a:gd name="adj1" fmla="val 50000"/>
              <a:gd name="adj2" fmla="val 35000"/>
            </a:avLst>
          </a:prstGeom>
          <a:solidFill>
            <a:schemeClr val="folHlink"/>
          </a:solidFill>
          <a:ln w="9525">
            <a:solidFill>
              <a:schemeClr val="tx1"/>
            </a:solidFill>
            <a:miter lim="800000"/>
          </a:ln>
        </p:spPr>
        <p:txBody>
          <a:bodyPr wrap="none" anchor="ctr"/>
          <a:lstStyle/>
          <a:p>
            <a:pPr fontAlgn="base">
              <a:spcBef>
                <a:spcPct val="0"/>
              </a:spcBef>
              <a:spcAft>
                <a:spcPct val="0"/>
              </a:spcAft>
            </a:pPr>
            <a:endParaRPr lang="en-US">
              <a:solidFill>
                <a:prstClr val="black"/>
              </a:solidFill>
              <a:latin typeface="Tahoma" panose="020B0604030504040204" pitchFamily="34" charset="0"/>
              <a:cs typeface="Arial" panose="020B0604020202020204" pitchFamily="34" charset="0"/>
            </a:endParaRPr>
          </a:p>
        </p:txBody>
      </p:sp>
      <p:sp>
        <p:nvSpPr>
          <p:cNvPr id="1049275" name="Text Box 12"/>
          <p:cNvSpPr txBox="1">
            <a:spLocks noChangeArrowheads="1"/>
          </p:cNvSpPr>
          <p:nvPr/>
        </p:nvSpPr>
        <p:spPr bwMode="auto">
          <a:xfrm>
            <a:off x="5638800" y="1676400"/>
            <a:ext cx="1459725" cy="396239"/>
          </a:xfrm>
          <a:prstGeom prst="rect">
            <a:avLst/>
          </a:prstGeom>
          <a:noFill/>
          <a:ln w="9525">
            <a:noFill/>
            <a:miter lim="800000"/>
          </a:ln>
        </p:spPr>
        <p:txBody>
          <a:bodyPr wrap="none">
            <a:spAutoFit/>
          </a:bodyPr>
          <a:lstStyle/>
          <a:p>
            <a:pPr fontAlgn="base">
              <a:spcBef>
                <a:spcPct val="0"/>
              </a:spcBef>
              <a:spcAft>
                <a:spcPct val="0"/>
              </a:spcAft>
            </a:pPr>
            <a:r>
              <a:rPr lang="en-US">
                <a:solidFill>
                  <a:prstClr val="black"/>
                </a:solidFill>
                <a:latin typeface="Tahoma" panose="020B0604030504040204" pitchFamily="34" charset="0"/>
                <a:cs typeface="Arial" panose="020B0604020202020204" pitchFamily="34" charset="0"/>
              </a:rPr>
              <a:t>to Data Link</a:t>
            </a:r>
          </a:p>
        </p:txBody>
      </p:sp>
      <p:sp>
        <p:nvSpPr>
          <p:cNvPr id="1049276" name="Line 19"/>
          <p:cNvSpPr>
            <a:spLocks noChangeShapeType="1"/>
          </p:cNvSpPr>
          <p:nvPr/>
        </p:nvSpPr>
        <p:spPr bwMode="auto">
          <a:xfrm>
            <a:off x="2133600" y="3048000"/>
            <a:ext cx="0" cy="457200"/>
          </a:xfrm>
          <a:prstGeom prst="line">
            <a:avLst/>
          </a:prstGeom>
          <a:noFill/>
          <a:ln w="9525">
            <a:solidFill>
              <a:schemeClr val="tx1"/>
            </a:solidFill>
            <a:prstDash val="dash"/>
            <a:round/>
          </a:ln>
        </p:spPr>
        <p:txBody>
          <a:bodyPr/>
          <a:lstStyle/>
          <a:p>
            <a:pPr fontAlgn="base">
              <a:spcBef>
                <a:spcPct val="0"/>
              </a:spcBef>
              <a:spcAft>
                <a:spcPct val="0"/>
              </a:spcAft>
            </a:pPr>
            <a:endParaRPr lang="en-US">
              <a:solidFill>
                <a:prstClr val="black"/>
              </a:solidFill>
              <a:latin typeface="Tahoma" panose="020B0604030504040204" pitchFamily="34" charset="0"/>
              <a:cs typeface="Arial" panose="020B0604020202020204" pitchFamily="34" charset="0"/>
            </a:endParaRPr>
          </a:p>
        </p:txBody>
      </p:sp>
      <p:sp>
        <p:nvSpPr>
          <p:cNvPr id="1049277" name="Line 20"/>
          <p:cNvSpPr>
            <a:spLocks noChangeShapeType="1"/>
          </p:cNvSpPr>
          <p:nvPr/>
        </p:nvSpPr>
        <p:spPr bwMode="auto">
          <a:xfrm>
            <a:off x="4038600" y="3048000"/>
            <a:ext cx="0" cy="457200"/>
          </a:xfrm>
          <a:prstGeom prst="line">
            <a:avLst/>
          </a:prstGeom>
          <a:noFill/>
          <a:ln w="9525">
            <a:solidFill>
              <a:schemeClr val="tx1"/>
            </a:solidFill>
            <a:prstDash val="dash"/>
            <a:round/>
          </a:ln>
        </p:spPr>
        <p:txBody>
          <a:bodyPr/>
          <a:lstStyle/>
          <a:p>
            <a:pPr fontAlgn="base">
              <a:spcBef>
                <a:spcPct val="0"/>
              </a:spcBef>
              <a:spcAft>
                <a:spcPct val="0"/>
              </a:spcAft>
            </a:pPr>
            <a:endParaRPr lang="en-US">
              <a:solidFill>
                <a:prstClr val="black"/>
              </a:solidFill>
              <a:latin typeface="Tahoma" panose="020B0604030504040204" pitchFamily="34" charset="0"/>
              <a:cs typeface="Arial" panose="020B0604020202020204" pitchFamily="34" charset="0"/>
            </a:endParaRPr>
          </a:p>
        </p:txBody>
      </p:sp>
      <p:sp>
        <p:nvSpPr>
          <p:cNvPr id="1049278" name="Rectangle 27"/>
          <p:cNvSpPr>
            <a:spLocks noChangeArrowheads="1"/>
          </p:cNvSpPr>
          <p:nvPr/>
        </p:nvSpPr>
        <p:spPr bwMode="auto">
          <a:xfrm>
            <a:off x="5715000" y="2743200"/>
            <a:ext cx="1905000" cy="304800"/>
          </a:xfrm>
          <a:prstGeom prst="rect">
            <a:avLst/>
          </a:prstGeom>
          <a:solidFill>
            <a:srgbClr val="080808"/>
          </a:solidFill>
          <a:ln w="9525">
            <a:solidFill>
              <a:schemeClr val="tx1"/>
            </a:solidFill>
            <a:miter lim="800000"/>
          </a:ln>
        </p:spPr>
        <p:txBody>
          <a:bodyPr wrap="none" anchor="ctr"/>
          <a:lstStyle/>
          <a:p>
            <a:pPr algn="ctr" fontAlgn="base">
              <a:spcBef>
                <a:spcPct val="0"/>
              </a:spcBef>
              <a:spcAft>
                <a:spcPct val="0"/>
              </a:spcAft>
            </a:pPr>
            <a:r>
              <a:rPr lang="en-US">
                <a:solidFill>
                  <a:prstClr val="white"/>
                </a:solidFill>
                <a:latin typeface="Tahoma" panose="020B0604030504040204" pitchFamily="34" charset="0"/>
                <a:cs typeface="Arial" panose="020B0604020202020204" pitchFamily="34" charset="0"/>
              </a:rPr>
              <a:t>Data</a:t>
            </a:r>
          </a:p>
        </p:txBody>
      </p:sp>
      <p:sp>
        <p:nvSpPr>
          <p:cNvPr id="1049279" name="Line 28"/>
          <p:cNvSpPr>
            <a:spLocks noChangeShapeType="1"/>
          </p:cNvSpPr>
          <p:nvPr/>
        </p:nvSpPr>
        <p:spPr bwMode="auto">
          <a:xfrm>
            <a:off x="5715000" y="3048000"/>
            <a:ext cx="0" cy="457200"/>
          </a:xfrm>
          <a:prstGeom prst="line">
            <a:avLst/>
          </a:prstGeom>
          <a:noFill/>
          <a:ln w="9525">
            <a:solidFill>
              <a:schemeClr val="tx1"/>
            </a:solidFill>
            <a:prstDash val="dash"/>
            <a:round/>
          </a:ln>
        </p:spPr>
        <p:txBody>
          <a:bodyPr/>
          <a:lstStyle/>
          <a:p>
            <a:pPr fontAlgn="base">
              <a:spcBef>
                <a:spcPct val="0"/>
              </a:spcBef>
              <a:spcAft>
                <a:spcPct val="0"/>
              </a:spcAft>
            </a:pPr>
            <a:endParaRPr lang="en-US">
              <a:solidFill>
                <a:prstClr val="black"/>
              </a:solidFill>
              <a:latin typeface="Tahoma" panose="020B0604030504040204" pitchFamily="34" charset="0"/>
              <a:cs typeface="Arial" panose="020B0604020202020204" pitchFamily="34" charset="0"/>
            </a:endParaRPr>
          </a:p>
        </p:txBody>
      </p:sp>
      <p:sp>
        <p:nvSpPr>
          <p:cNvPr id="1049280" name="Line 29"/>
          <p:cNvSpPr>
            <a:spLocks noChangeShapeType="1"/>
          </p:cNvSpPr>
          <p:nvPr/>
        </p:nvSpPr>
        <p:spPr bwMode="auto">
          <a:xfrm>
            <a:off x="7620000" y="3048000"/>
            <a:ext cx="0" cy="457200"/>
          </a:xfrm>
          <a:prstGeom prst="line">
            <a:avLst/>
          </a:prstGeom>
          <a:noFill/>
          <a:ln w="9525">
            <a:solidFill>
              <a:schemeClr val="tx1"/>
            </a:solidFill>
            <a:prstDash val="dash"/>
            <a:round/>
          </a:ln>
        </p:spPr>
        <p:txBody>
          <a:bodyPr/>
          <a:lstStyle/>
          <a:p>
            <a:pPr fontAlgn="base">
              <a:spcBef>
                <a:spcPct val="0"/>
              </a:spcBef>
              <a:spcAft>
                <a:spcPct val="0"/>
              </a:spcAft>
            </a:pPr>
            <a:endParaRPr lang="en-US">
              <a:solidFill>
                <a:prstClr val="black"/>
              </a:solidFill>
              <a:latin typeface="Tahoma" panose="020B0604030504040204" pitchFamily="34" charset="0"/>
              <a:cs typeface="Arial" panose="020B0604020202020204" pitchFamily="34" charset="0"/>
            </a:endParaRPr>
          </a:p>
        </p:txBody>
      </p:sp>
      <p:sp>
        <p:nvSpPr>
          <p:cNvPr id="1049281" name="Rectangle 30"/>
          <p:cNvSpPr>
            <a:spLocks noChangeArrowheads="1"/>
          </p:cNvSpPr>
          <p:nvPr/>
        </p:nvSpPr>
        <p:spPr bwMode="auto">
          <a:xfrm>
            <a:off x="2133600" y="3505200"/>
            <a:ext cx="1905000" cy="304800"/>
          </a:xfrm>
          <a:prstGeom prst="rect">
            <a:avLst/>
          </a:prstGeom>
          <a:solidFill>
            <a:srgbClr val="080808"/>
          </a:solidFill>
          <a:ln w="9525">
            <a:solidFill>
              <a:schemeClr val="tx1"/>
            </a:solidFill>
            <a:miter lim="800000"/>
          </a:ln>
        </p:spPr>
        <p:txBody>
          <a:bodyPr wrap="none" anchor="ctr"/>
          <a:lstStyle/>
          <a:p>
            <a:pPr algn="ctr" fontAlgn="base">
              <a:spcBef>
                <a:spcPct val="0"/>
              </a:spcBef>
              <a:spcAft>
                <a:spcPct val="0"/>
              </a:spcAft>
            </a:pPr>
            <a:r>
              <a:rPr lang="en-US">
                <a:solidFill>
                  <a:prstClr val="white"/>
                </a:solidFill>
                <a:latin typeface="Tahoma" panose="020B0604030504040204" pitchFamily="34" charset="0"/>
                <a:cs typeface="Arial" panose="020B0604020202020204" pitchFamily="34" charset="0"/>
              </a:rPr>
              <a:t>01001011</a:t>
            </a:r>
          </a:p>
        </p:txBody>
      </p:sp>
      <p:sp>
        <p:nvSpPr>
          <p:cNvPr id="1049282" name="Rectangle 31"/>
          <p:cNvSpPr>
            <a:spLocks noChangeArrowheads="1"/>
          </p:cNvSpPr>
          <p:nvPr/>
        </p:nvSpPr>
        <p:spPr bwMode="auto">
          <a:xfrm>
            <a:off x="5715000" y="3505200"/>
            <a:ext cx="1905000" cy="304800"/>
          </a:xfrm>
          <a:prstGeom prst="rect">
            <a:avLst/>
          </a:prstGeom>
          <a:solidFill>
            <a:srgbClr val="080808"/>
          </a:solidFill>
          <a:ln w="9525">
            <a:solidFill>
              <a:schemeClr val="tx1"/>
            </a:solidFill>
            <a:miter lim="800000"/>
          </a:ln>
        </p:spPr>
        <p:txBody>
          <a:bodyPr wrap="none" anchor="ctr"/>
          <a:lstStyle/>
          <a:p>
            <a:pPr algn="ctr" fontAlgn="base">
              <a:spcBef>
                <a:spcPct val="0"/>
              </a:spcBef>
              <a:spcAft>
                <a:spcPct val="0"/>
              </a:spcAft>
            </a:pPr>
            <a:r>
              <a:rPr lang="en-US">
                <a:solidFill>
                  <a:prstClr val="white"/>
                </a:solidFill>
                <a:latin typeface="Tahoma" panose="020B0604030504040204" pitchFamily="34" charset="0"/>
                <a:cs typeface="Arial" panose="020B0604020202020204" pitchFamily="34" charset="0"/>
              </a:rPr>
              <a:t>01001011</a:t>
            </a:r>
          </a:p>
        </p:txBody>
      </p:sp>
      <p:grpSp>
        <p:nvGrpSpPr>
          <p:cNvPr id="180" name="Group 32"/>
          <p:cNvGrpSpPr/>
          <p:nvPr/>
        </p:nvGrpSpPr>
        <p:grpSpPr bwMode="auto">
          <a:xfrm>
            <a:off x="3505200" y="4876800"/>
            <a:ext cx="2743200" cy="457200"/>
            <a:chOff x="1920" y="3456"/>
            <a:chExt cx="1968" cy="288"/>
          </a:xfrm>
        </p:grpSpPr>
        <p:sp>
          <p:nvSpPr>
            <p:cNvPr id="1049283" name="Oval 33"/>
            <p:cNvSpPr>
              <a:spLocks noChangeArrowheads="1"/>
            </p:cNvSpPr>
            <p:nvPr/>
          </p:nvSpPr>
          <p:spPr bwMode="auto">
            <a:xfrm>
              <a:off x="3792" y="3456"/>
              <a:ext cx="96" cy="288"/>
            </a:xfrm>
            <a:prstGeom prst="ellipse">
              <a:avLst/>
            </a:prstGeom>
            <a:gradFill rotWithShape="1">
              <a:gsLst>
                <a:gs pos="0">
                  <a:schemeClr val="folHlink">
                    <a:gamma/>
                    <a:shade val="46275"/>
                    <a:invGamma/>
                  </a:schemeClr>
                </a:gs>
                <a:gs pos="50000">
                  <a:schemeClr val="folHlink"/>
                </a:gs>
                <a:gs pos="100000">
                  <a:schemeClr val="folHlink">
                    <a:gamma/>
                    <a:shade val="46275"/>
                    <a:invGamma/>
                  </a:schemeClr>
                </a:gs>
              </a:gsLst>
              <a:lin ang="5400000" scaled="1"/>
            </a:gradFill>
            <a:ln w="9525">
              <a:noFill/>
              <a:round/>
            </a:ln>
            <a:effectLst/>
          </p:spPr>
          <p:txBody>
            <a:bodyPr wrap="none" anchor="ctr"/>
            <a:lstStyle/>
            <a:p>
              <a:pPr fontAlgn="base">
                <a:spcBef>
                  <a:spcPct val="0"/>
                </a:spcBef>
                <a:spcAft>
                  <a:spcPct val="0"/>
                </a:spcAft>
              </a:pPr>
              <a:endParaRPr lang="en-US">
                <a:solidFill>
                  <a:prstClr val="black"/>
                </a:solidFill>
                <a:latin typeface="Tahoma" panose="020B0604030504040204" pitchFamily="34" charset="0"/>
                <a:cs typeface="Arial" panose="020B0604020202020204" pitchFamily="34" charset="0"/>
              </a:endParaRPr>
            </a:p>
          </p:txBody>
        </p:sp>
        <p:sp>
          <p:nvSpPr>
            <p:cNvPr id="1049284" name="Rectangle 34"/>
            <p:cNvSpPr>
              <a:spLocks noChangeArrowheads="1"/>
            </p:cNvSpPr>
            <p:nvPr/>
          </p:nvSpPr>
          <p:spPr bwMode="auto">
            <a:xfrm>
              <a:off x="1968" y="3456"/>
              <a:ext cx="1872" cy="288"/>
            </a:xfrm>
            <a:prstGeom prst="rect">
              <a:avLst/>
            </a:prstGeom>
            <a:gradFill rotWithShape="1">
              <a:gsLst>
                <a:gs pos="0">
                  <a:schemeClr val="folHlink">
                    <a:gamma/>
                    <a:shade val="46275"/>
                    <a:invGamma/>
                  </a:schemeClr>
                </a:gs>
                <a:gs pos="50000">
                  <a:schemeClr val="folHlink"/>
                </a:gs>
                <a:gs pos="100000">
                  <a:schemeClr val="folHlink">
                    <a:gamma/>
                    <a:shade val="46275"/>
                    <a:invGamma/>
                  </a:schemeClr>
                </a:gs>
              </a:gsLst>
              <a:lin ang="5400000" scaled="1"/>
            </a:gradFill>
            <a:ln w="9525">
              <a:noFill/>
              <a:miter lim="800000"/>
            </a:ln>
            <a:effectLst/>
          </p:spPr>
          <p:txBody>
            <a:bodyPr wrap="none" anchor="ctr"/>
            <a:lstStyle/>
            <a:p>
              <a:pPr fontAlgn="base">
                <a:spcBef>
                  <a:spcPct val="0"/>
                </a:spcBef>
                <a:spcAft>
                  <a:spcPct val="0"/>
                </a:spcAft>
              </a:pPr>
              <a:endParaRPr lang="en-US">
                <a:solidFill>
                  <a:prstClr val="black"/>
                </a:solidFill>
                <a:latin typeface="Tahoma" panose="020B0604030504040204" pitchFamily="34" charset="0"/>
                <a:cs typeface="Arial" panose="020B0604020202020204" pitchFamily="34" charset="0"/>
              </a:endParaRPr>
            </a:p>
          </p:txBody>
        </p:sp>
        <p:sp>
          <p:nvSpPr>
            <p:cNvPr id="1049285" name="Oval 35"/>
            <p:cNvSpPr>
              <a:spLocks noChangeArrowheads="1"/>
            </p:cNvSpPr>
            <p:nvPr/>
          </p:nvSpPr>
          <p:spPr bwMode="auto">
            <a:xfrm>
              <a:off x="1920" y="3456"/>
              <a:ext cx="96" cy="288"/>
            </a:xfrm>
            <a:prstGeom prst="ellipse">
              <a:avLst/>
            </a:prstGeom>
            <a:solidFill>
              <a:schemeClr val="folHlink"/>
            </a:solidFill>
            <a:ln w="9525">
              <a:noFill/>
              <a:round/>
            </a:ln>
          </p:spPr>
          <p:txBody>
            <a:bodyPr wrap="none" anchor="ctr"/>
            <a:lstStyle/>
            <a:p>
              <a:pPr fontAlgn="base">
                <a:spcBef>
                  <a:spcPct val="0"/>
                </a:spcBef>
                <a:spcAft>
                  <a:spcPct val="0"/>
                </a:spcAft>
              </a:pPr>
              <a:endParaRPr lang="en-US">
                <a:solidFill>
                  <a:prstClr val="black"/>
                </a:solidFill>
                <a:latin typeface="Tahoma" panose="020B0604030504040204" pitchFamily="34" charset="0"/>
                <a:cs typeface="Arial" panose="020B0604020202020204" pitchFamily="34" charset="0"/>
              </a:endParaRPr>
            </a:p>
          </p:txBody>
        </p:sp>
      </p:grpSp>
      <p:sp>
        <p:nvSpPr>
          <p:cNvPr id="1049286" name="AutoShape 53"/>
          <p:cNvSpPr>
            <a:spLocks noChangeArrowheads="1"/>
          </p:cNvSpPr>
          <p:nvPr/>
        </p:nvSpPr>
        <p:spPr bwMode="auto">
          <a:xfrm rot="10800000" flipH="1">
            <a:off x="2514600" y="4495800"/>
            <a:ext cx="838200" cy="838200"/>
          </a:xfrm>
          <a:custGeom>
            <a:avLst/>
            <a:gdLst>
              <a:gd name="T0" fmla="*/ 22777815 w 21600"/>
              <a:gd name="T1" fmla="*/ 0 h 21600"/>
              <a:gd name="T2" fmla="*/ 22777815 w 21600"/>
              <a:gd name="T3" fmla="*/ 18308382 h 21600"/>
              <a:gd name="T4" fmla="*/ 4874521 w 21600"/>
              <a:gd name="T5" fmla="*/ 32526815 h 21600"/>
              <a:gd name="T6" fmla="*/ 32526815 w 21600"/>
              <a:gd name="T7" fmla="*/ 9154191 h 21600"/>
              <a:gd name="T8" fmla="*/ 17694720 60000 65536"/>
              <a:gd name="T9" fmla="*/ 5898240 60000 65536"/>
              <a:gd name="T10" fmla="*/ 5898240 60000 65536"/>
              <a:gd name="T11" fmla="*/ 0 60000 65536"/>
              <a:gd name="T12" fmla="*/ 12427 w 21600"/>
              <a:gd name="T13" fmla="*/ 2912 h 21600"/>
              <a:gd name="T14" fmla="*/ 18227 w 21600"/>
              <a:gd name="T15" fmla="*/ 9246 h 21600"/>
            </a:gdLst>
            <a:ahLst/>
            <a:cxnLst>
              <a:cxn ang="T8">
                <a:pos x="T0" y="T1"/>
              </a:cxn>
              <a:cxn ang="T9">
                <a:pos x="T2" y="T3"/>
              </a:cxn>
              <a:cxn ang="T10">
                <a:pos x="T4" y="T5"/>
              </a:cxn>
              <a:cxn ang="T11">
                <a:pos x="T6" y="T7"/>
              </a:cxn>
            </a:cxnLst>
            <a:rect l="T12" t="T13" r="T14" b="T15"/>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close/>
              </a:path>
            </a:pathLst>
          </a:custGeom>
          <a:solidFill>
            <a:schemeClr val="accent1"/>
          </a:solidFill>
          <a:ln w="9525">
            <a:solidFill>
              <a:schemeClr val="tx1"/>
            </a:solidFill>
            <a:miter lim="800000"/>
          </a:ln>
        </p:spPr>
        <p:txBody>
          <a:bodyPr wrap="none" anchor="ctr"/>
          <a:lstStyle/>
          <a:p>
            <a:pPr fontAlgn="base">
              <a:spcBef>
                <a:spcPct val="0"/>
              </a:spcBef>
              <a:spcAft>
                <a:spcPct val="0"/>
              </a:spcAft>
            </a:pPr>
            <a:endParaRPr lang="en-US">
              <a:solidFill>
                <a:prstClr val="black"/>
              </a:solidFill>
              <a:latin typeface="Tahoma" panose="020B0604030504040204" pitchFamily="34" charset="0"/>
              <a:cs typeface="Arial" panose="020B0604020202020204" pitchFamily="34" charset="0"/>
            </a:endParaRPr>
          </a:p>
        </p:txBody>
      </p:sp>
      <p:sp>
        <p:nvSpPr>
          <p:cNvPr id="1049287" name="AutoShape 54"/>
          <p:cNvSpPr>
            <a:spLocks noChangeArrowheads="1"/>
          </p:cNvSpPr>
          <p:nvPr/>
        </p:nvSpPr>
        <p:spPr bwMode="auto">
          <a:xfrm rot="5400000" flipH="1">
            <a:off x="6324600" y="4495800"/>
            <a:ext cx="762000" cy="762000"/>
          </a:xfrm>
          <a:custGeom>
            <a:avLst/>
            <a:gdLst>
              <a:gd name="T0" fmla="*/ 18824648 w 21600"/>
              <a:gd name="T1" fmla="*/ 0 h 21600"/>
              <a:gd name="T2" fmla="*/ 18824648 w 21600"/>
              <a:gd name="T3" fmla="*/ 15130885 h 21600"/>
              <a:gd name="T4" fmla="*/ 4028510 w 21600"/>
              <a:gd name="T5" fmla="*/ 26881666 h 21600"/>
              <a:gd name="T6" fmla="*/ 26881666 w 21600"/>
              <a:gd name="T7" fmla="*/ 7565460 h 21600"/>
              <a:gd name="T8" fmla="*/ 17694720 60000 65536"/>
              <a:gd name="T9" fmla="*/ 5898240 60000 65536"/>
              <a:gd name="T10" fmla="*/ 5898240 60000 65536"/>
              <a:gd name="T11" fmla="*/ 0 60000 65536"/>
              <a:gd name="T12" fmla="*/ 12427 w 21600"/>
              <a:gd name="T13" fmla="*/ 2912 h 21600"/>
              <a:gd name="T14" fmla="*/ 18227 w 21600"/>
              <a:gd name="T15" fmla="*/ 9246 h 21600"/>
            </a:gdLst>
            <a:ahLst/>
            <a:cxnLst>
              <a:cxn ang="T8">
                <a:pos x="T0" y="T1"/>
              </a:cxn>
              <a:cxn ang="T9">
                <a:pos x="T2" y="T3"/>
              </a:cxn>
              <a:cxn ang="T10">
                <a:pos x="T4" y="T5"/>
              </a:cxn>
              <a:cxn ang="T11">
                <a:pos x="T6" y="T7"/>
              </a:cxn>
            </a:cxnLst>
            <a:rect l="T12" t="T13" r="T14" b="T15"/>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close/>
              </a:path>
            </a:pathLst>
          </a:custGeom>
          <a:solidFill>
            <a:schemeClr val="accent1"/>
          </a:solidFill>
          <a:ln w="9525">
            <a:solidFill>
              <a:schemeClr val="tx1"/>
            </a:solidFill>
            <a:miter lim="800000"/>
          </a:ln>
        </p:spPr>
        <p:txBody>
          <a:bodyPr wrap="none" anchor="ctr"/>
          <a:lstStyle/>
          <a:p>
            <a:pPr fontAlgn="base">
              <a:spcBef>
                <a:spcPct val="0"/>
              </a:spcBef>
              <a:spcAft>
                <a:spcPct val="0"/>
              </a:spcAft>
            </a:pPr>
            <a:endParaRPr lang="en-US">
              <a:solidFill>
                <a:prstClr val="black"/>
              </a:solidFill>
              <a:latin typeface="Tahoma" panose="020B0604030504040204" pitchFamily="34" charset="0"/>
              <a:cs typeface="Arial" panose="020B0604020202020204" pitchFamily="34" charset="0"/>
            </a:endParaRPr>
          </a:p>
        </p:txBody>
      </p:sp>
      <p:sp>
        <p:nvSpPr>
          <p:cNvPr id="1049288" name="Text Box 55"/>
          <p:cNvSpPr txBox="1">
            <a:spLocks noChangeArrowheads="1"/>
          </p:cNvSpPr>
          <p:nvPr/>
        </p:nvSpPr>
        <p:spPr bwMode="auto">
          <a:xfrm>
            <a:off x="3657600" y="5257800"/>
            <a:ext cx="2447101" cy="396240"/>
          </a:xfrm>
          <a:prstGeom prst="rect">
            <a:avLst/>
          </a:prstGeom>
          <a:noFill/>
          <a:ln w="9525">
            <a:noFill/>
            <a:miter lim="800000"/>
          </a:ln>
        </p:spPr>
        <p:txBody>
          <a:bodyPr wrap="none">
            <a:spAutoFit/>
          </a:bodyPr>
          <a:lstStyle/>
          <a:p>
            <a:pPr fontAlgn="base">
              <a:spcBef>
                <a:spcPct val="0"/>
              </a:spcBef>
              <a:spcAft>
                <a:spcPct val="0"/>
              </a:spcAft>
            </a:pPr>
            <a:r>
              <a:rPr lang="en-US">
                <a:solidFill>
                  <a:prstClr val="black"/>
                </a:solidFill>
                <a:latin typeface="Tahoma" panose="020B0604030504040204" pitchFamily="34" charset="0"/>
                <a:cs typeface="Arial" panose="020B0604020202020204" pitchFamily="34" charset="0"/>
              </a:rPr>
              <a:t>Transmission medium</a:t>
            </a:r>
          </a:p>
        </p:txBody>
      </p:sp>
      <p:grpSp>
        <p:nvGrpSpPr>
          <p:cNvPr id="181" name="Group 58"/>
          <p:cNvGrpSpPr/>
          <p:nvPr/>
        </p:nvGrpSpPr>
        <p:grpSpPr bwMode="auto">
          <a:xfrm>
            <a:off x="3810000" y="4953000"/>
            <a:ext cx="2362200" cy="304800"/>
            <a:chOff x="2400" y="3120"/>
            <a:chExt cx="1488" cy="192"/>
          </a:xfrm>
        </p:grpSpPr>
        <p:sp>
          <p:nvSpPr>
            <p:cNvPr id="1049289" name="Line 36"/>
            <p:cNvSpPr>
              <a:spLocks noChangeShapeType="1"/>
            </p:cNvSpPr>
            <p:nvPr/>
          </p:nvSpPr>
          <p:spPr bwMode="auto">
            <a:xfrm>
              <a:off x="2400" y="3216"/>
              <a:ext cx="1488" cy="0"/>
            </a:xfrm>
            <a:prstGeom prst="line">
              <a:avLst/>
            </a:prstGeom>
            <a:noFill/>
            <a:ln w="9525">
              <a:solidFill>
                <a:schemeClr val="tx1"/>
              </a:solidFill>
              <a:round/>
            </a:ln>
          </p:spPr>
          <p:txBody>
            <a:bodyPr/>
            <a:lstStyle/>
            <a:p>
              <a:pPr fontAlgn="base">
                <a:spcBef>
                  <a:spcPct val="0"/>
                </a:spcBef>
                <a:spcAft>
                  <a:spcPct val="0"/>
                </a:spcAft>
              </a:pPr>
              <a:endParaRPr lang="en-US">
                <a:solidFill>
                  <a:prstClr val="black"/>
                </a:solidFill>
                <a:latin typeface="Tahoma" panose="020B0604030504040204" pitchFamily="34" charset="0"/>
                <a:cs typeface="Arial" panose="020B0604020202020204" pitchFamily="34" charset="0"/>
              </a:endParaRPr>
            </a:p>
          </p:txBody>
        </p:sp>
        <p:sp>
          <p:nvSpPr>
            <p:cNvPr id="1049290" name="Rectangle 45"/>
            <p:cNvSpPr>
              <a:spLocks noChangeArrowheads="1"/>
            </p:cNvSpPr>
            <p:nvPr/>
          </p:nvSpPr>
          <p:spPr bwMode="auto">
            <a:xfrm>
              <a:off x="2496" y="3216"/>
              <a:ext cx="96" cy="96"/>
            </a:xfrm>
            <a:prstGeom prst="rect">
              <a:avLst/>
            </a:prstGeom>
            <a:solidFill>
              <a:srgbClr val="FF0000"/>
            </a:solidFill>
            <a:ln w="9525">
              <a:solidFill>
                <a:schemeClr val="tx1"/>
              </a:solidFill>
              <a:miter lim="800000"/>
            </a:ln>
          </p:spPr>
          <p:txBody>
            <a:bodyPr wrap="none" anchor="ctr"/>
            <a:lstStyle/>
            <a:p>
              <a:pPr fontAlgn="base">
                <a:spcBef>
                  <a:spcPct val="0"/>
                </a:spcBef>
                <a:spcAft>
                  <a:spcPct val="0"/>
                </a:spcAft>
              </a:pPr>
              <a:endParaRPr lang="en-US">
                <a:solidFill>
                  <a:prstClr val="black"/>
                </a:solidFill>
                <a:latin typeface="Tahoma" panose="020B0604030504040204" pitchFamily="34" charset="0"/>
                <a:cs typeface="Arial" panose="020B0604020202020204" pitchFamily="34" charset="0"/>
              </a:endParaRPr>
            </a:p>
          </p:txBody>
        </p:sp>
        <p:sp>
          <p:nvSpPr>
            <p:cNvPr id="1049291" name="Rectangle 46"/>
            <p:cNvSpPr>
              <a:spLocks noChangeArrowheads="1"/>
            </p:cNvSpPr>
            <p:nvPr/>
          </p:nvSpPr>
          <p:spPr bwMode="auto">
            <a:xfrm>
              <a:off x="2592" y="3120"/>
              <a:ext cx="96" cy="96"/>
            </a:xfrm>
            <a:prstGeom prst="rect">
              <a:avLst/>
            </a:prstGeom>
            <a:solidFill>
              <a:srgbClr val="FF0000"/>
            </a:solidFill>
            <a:ln w="9525">
              <a:solidFill>
                <a:schemeClr val="tx1"/>
              </a:solidFill>
              <a:miter lim="800000"/>
            </a:ln>
          </p:spPr>
          <p:txBody>
            <a:bodyPr wrap="none" anchor="ctr"/>
            <a:lstStyle/>
            <a:p>
              <a:pPr fontAlgn="base">
                <a:spcBef>
                  <a:spcPct val="0"/>
                </a:spcBef>
                <a:spcAft>
                  <a:spcPct val="0"/>
                </a:spcAft>
              </a:pPr>
              <a:endParaRPr lang="en-US">
                <a:solidFill>
                  <a:prstClr val="black"/>
                </a:solidFill>
                <a:latin typeface="Tahoma" panose="020B0604030504040204" pitchFamily="34" charset="0"/>
                <a:cs typeface="Arial" panose="020B0604020202020204" pitchFamily="34" charset="0"/>
              </a:endParaRPr>
            </a:p>
          </p:txBody>
        </p:sp>
        <p:sp>
          <p:nvSpPr>
            <p:cNvPr id="1049292" name="Rectangle 47"/>
            <p:cNvSpPr>
              <a:spLocks noChangeArrowheads="1"/>
            </p:cNvSpPr>
            <p:nvPr/>
          </p:nvSpPr>
          <p:spPr bwMode="auto">
            <a:xfrm>
              <a:off x="2688" y="3216"/>
              <a:ext cx="96" cy="96"/>
            </a:xfrm>
            <a:prstGeom prst="rect">
              <a:avLst/>
            </a:prstGeom>
            <a:solidFill>
              <a:srgbClr val="FF0000"/>
            </a:solidFill>
            <a:ln w="9525">
              <a:solidFill>
                <a:schemeClr val="tx1"/>
              </a:solidFill>
              <a:miter lim="800000"/>
            </a:ln>
          </p:spPr>
          <p:txBody>
            <a:bodyPr wrap="none" anchor="ctr"/>
            <a:lstStyle/>
            <a:p>
              <a:pPr fontAlgn="base">
                <a:spcBef>
                  <a:spcPct val="0"/>
                </a:spcBef>
                <a:spcAft>
                  <a:spcPct val="0"/>
                </a:spcAft>
              </a:pPr>
              <a:endParaRPr lang="en-US">
                <a:solidFill>
                  <a:prstClr val="black"/>
                </a:solidFill>
                <a:latin typeface="Tahoma" panose="020B0604030504040204" pitchFamily="34" charset="0"/>
                <a:cs typeface="Arial" panose="020B0604020202020204" pitchFamily="34" charset="0"/>
              </a:endParaRPr>
            </a:p>
          </p:txBody>
        </p:sp>
        <p:sp>
          <p:nvSpPr>
            <p:cNvPr id="1049293" name="Rectangle 48"/>
            <p:cNvSpPr>
              <a:spLocks noChangeArrowheads="1"/>
            </p:cNvSpPr>
            <p:nvPr/>
          </p:nvSpPr>
          <p:spPr bwMode="auto">
            <a:xfrm>
              <a:off x="2784" y="3216"/>
              <a:ext cx="96" cy="96"/>
            </a:xfrm>
            <a:prstGeom prst="rect">
              <a:avLst/>
            </a:prstGeom>
            <a:solidFill>
              <a:srgbClr val="FF0000"/>
            </a:solidFill>
            <a:ln w="9525">
              <a:solidFill>
                <a:schemeClr val="tx1"/>
              </a:solidFill>
              <a:miter lim="800000"/>
            </a:ln>
          </p:spPr>
          <p:txBody>
            <a:bodyPr wrap="none" anchor="ctr"/>
            <a:lstStyle/>
            <a:p>
              <a:pPr fontAlgn="base">
                <a:spcBef>
                  <a:spcPct val="0"/>
                </a:spcBef>
                <a:spcAft>
                  <a:spcPct val="0"/>
                </a:spcAft>
              </a:pPr>
              <a:endParaRPr lang="en-US">
                <a:solidFill>
                  <a:prstClr val="black"/>
                </a:solidFill>
                <a:latin typeface="Tahoma" panose="020B0604030504040204" pitchFamily="34" charset="0"/>
                <a:cs typeface="Arial" panose="020B0604020202020204" pitchFamily="34" charset="0"/>
              </a:endParaRPr>
            </a:p>
          </p:txBody>
        </p:sp>
        <p:sp>
          <p:nvSpPr>
            <p:cNvPr id="1049294" name="Rectangle 49"/>
            <p:cNvSpPr>
              <a:spLocks noChangeArrowheads="1"/>
            </p:cNvSpPr>
            <p:nvPr/>
          </p:nvSpPr>
          <p:spPr bwMode="auto">
            <a:xfrm>
              <a:off x="2880" y="3120"/>
              <a:ext cx="96" cy="96"/>
            </a:xfrm>
            <a:prstGeom prst="rect">
              <a:avLst/>
            </a:prstGeom>
            <a:solidFill>
              <a:srgbClr val="FF0000"/>
            </a:solidFill>
            <a:ln w="9525">
              <a:solidFill>
                <a:schemeClr val="tx1"/>
              </a:solidFill>
              <a:miter lim="800000"/>
            </a:ln>
          </p:spPr>
          <p:txBody>
            <a:bodyPr wrap="none" anchor="ctr"/>
            <a:lstStyle/>
            <a:p>
              <a:pPr fontAlgn="base">
                <a:spcBef>
                  <a:spcPct val="0"/>
                </a:spcBef>
                <a:spcAft>
                  <a:spcPct val="0"/>
                </a:spcAft>
              </a:pPr>
              <a:endParaRPr lang="en-US">
                <a:solidFill>
                  <a:prstClr val="black"/>
                </a:solidFill>
                <a:latin typeface="Tahoma" panose="020B0604030504040204" pitchFamily="34" charset="0"/>
                <a:cs typeface="Arial" panose="020B0604020202020204" pitchFamily="34" charset="0"/>
              </a:endParaRPr>
            </a:p>
          </p:txBody>
        </p:sp>
        <p:sp>
          <p:nvSpPr>
            <p:cNvPr id="1049295" name="Rectangle 50"/>
            <p:cNvSpPr>
              <a:spLocks noChangeArrowheads="1"/>
            </p:cNvSpPr>
            <p:nvPr/>
          </p:nvSpPr>
          <p:spPr bwMode="auto">
            <a:xfrm>
              <a:off x="2976" y="3216"/>
              <a:ext cx="96" cy="96"/>
            </a:xfrm>
            <a:prstGeom prst="rect">
              <a:avLst/>
            </a:prstGeom>
            <a:solidFill>
              <a:srgbClr val="FF0000"/>
            </a:solidFill>
            <a:ln w="9525">
              <a:solidFill>
                <a:schemeClr val="tx1"/>
              </a:solidFill>
              <a:miter lim="800000"/>
            </a:ln>
          </p:spPr>
          <p:txBody>
            <a:bodyPr wrap="none" anchor="ctr"/>
            <a:lstStyle/>
            <a:p>
              <a:pPr fontAlgn="base">
                <a:spcBef>
                  <a:spcPct val="0"/>
                </a:spcBef>
                <a:spcAft>
                  <a:spcPct val="0"/>
                </a:spcAft>
              </a:pPr>
              <a:endParaRPr lang="en-US">
                <a:solidFill>
                  <a:prstClr val="black"/>
                </a:solidFill>
                <a:latin typeface="Tahoma" panose="020B0604030504040204" pitchFamily="34" charset="0"/>
                <a:cs typeface="Arial" panose="020B0604020202020204" pitchFamily="34" charset="0"/>
              </a:endParaRPr>
            </a:p>
          </p:txBody>
        </p:sp>
        <p:sp>
          <p:nvSpPr>
            <p:cNvPr id="1049296" name="Rectangle 51"/>
            <p:cNvSpPr>
              <a:spLocks noChangeArrowheads="1"/>
            </p:cNvSpPr>
            <p:nvPr/>
          </p:nvSpPr>
          <p:spPr bwMode="auto">
            <a:xfrm>
              <a:off x="3072" y="3120"/>
              <a:ext cx="96" cy="96"/>
            </a:xfrm>
            <a:prstGeom prst="rect">
              <a:avLst/>
            </a:prstGeom>
            <a:solidFill>
              <a:srgbClr val="FF0000"/>
            </a:solidFill>
            <a:ln w="9525">
              <a:solidFill>
                <a:schemeClr val="tx1"/>
              </a:solidFill>
              <a:miter lim="800000"/>
            </a:ln>
          </p:spPr>
          <p:txBody>
            <a:bodyPr wrap="none" anchor="ctr"/>
            <a:lstStyle/>
            <a:p>
              <a:pPr fontAlgn="base">
                <a:spcBef>
                  <a:spcPct val="0"/>
                </a:spcBef>
                <a:spcAft>
                  <a:spcPct val="0"/>
                </a:spcAft>
              </a:pPr>
              <a:endParaRPr lang="en-US">
                <a:solidFill>
                  <a:prstClr val="black"/>
                </a:solidFill>
                <a:latin typeface="Tahoma" panose="020B0604030504040204" pitchFamily="34" charset="0"/>
                <a:cs typeface="Arial" panose="020B0604020202020204" pitchFamily="34" charset="0"/>
              </a:endParaRPr>
            </a:p>
          </p:txBody>
        </p:sp>
        <p:sp>
          <p:nvSpPr>
            <p:cNvPr id="1049297" name="Rectangle 52"/>
            <p:cNvSpPr>
              <a:spLocks noChangeArrowheads="1"/>
            </p:cNvSpPr>
            <p:nvPr/>
          </p:nvSpPr>
          <p:spPr bwMode="auto">
            <a:xfrm>
              <a:off x="3168" y="3120"/>
              <a:ext cx="96" cy="96"/>
            </a:xfrm>
            <a:prstGeom prst="rect">
              <a:avLst/>
            </a:prstGeom>
            <a:solidFill>
              <a:srgbClr val="FF0000"/>
            </a:solidFill>
            <a:ln w="9525">
              <a:solidFill>
                <a:schemeClr val="tx1"/>
              </a:solidFill>
              <a:miter lim="800000"/>
            </a:ln>
          </p:spPr>
          <p:txBody>
            <a:bodyPr wrap="none" anchor="ctr"/>
            <a:lstStyle/>
            <a:p>
              <a:pPr fontAlgn="base">
                <a:spcBef>
                  <a:spcPct val="0"/>
                </a:spcBef>
                <a:spcAft>
                  <a:spcPct val="0"/>
                </a:spcAft>
              </a:pPr>
              <a:endParaRPr lang="en-US">
                <a:solidFill>
                  <a:prstClr val="black"/>
                </a:solidFill>
                <a:latin typeface="Tahoma" panose="020B0604030504040204" pitchFamily="34" charset="0"/>
                <a:cs typeface="Arial" panose="020B0604020202020204" pitchFamily="34" charset="0"/>
              </a:endParaRPr>
            </a:p>
          </p:txBody>
        </p:sp>
        <p:sp>
          <p:nvSpPr>
            <p:cNvPr id="1049298" name="Rectangle 56" descr="Wide upward diagonal"/>
            <p:cNvSpPr>
              <a:spLocks noChangeArrowheads="1"/>
            </p:cNvSpPr>
            <p:nvPr/>
          </p:nvSpPr>
          <p:spPr bwMode="auto">
            <a:xfrm>
              <a:off x="3264" y="3120"/>
              <a:ext cx="480" cy="96"/>
            </a:xfrm>
            <a:prstGeom prst="rect">
              <a:avLst/>
            </a:prstGeom>
            <a:pattFill prst="wdUpDiag">
              <a:fgClr>
                <a:schemeClr val="accent1"/>
              </a:fgClr>
              <a:bgClr>
                <a:schemeClr val="bg1"/>
              </a:bgClr>
            </a:pattFill>
            <a:ln w="9525">
              <a:solidFill>
                <a:schemeClr val="tx1"/>
              </a:solidFill>
              <a:miter lim="800000"/>
            </a:ln>
          </p:spPr>
          <p:txBody>
            <a:bodyPr wrap="none" anchor="ctr"/>
            <a:lstStyle/>
            <a:p>
              <a:pPr fontAlgn="base">
                <a:spcBef>
                  <a:spcPct val="0"/>
                </a:spcBef>
                <a:spcAft>
                  <a:spcPct val="0"/>
                </a:spcAft>
              </a:pPr>
              <a:endParaRPr lang="en-US">
                <a:solidFill>
                  <a:prstClr val="black"/>
                </a:solidFill>
                <a:latin typeface="Tahoma" panose="020B0604030504040204" pitchFamily="34" charset="0"/>
                <a:cs typeface="Arial" panose="020B0604020202020204" pitchFamily="34" charset="0"/>
              </a:endParaRPr>
            </a:p>
          </p:txBody>
        </p:sp>
      </p:grpSp>
      <p:sp>
        <p:nvSpPr>
          <p:cNvPr id="1049299" name="Text Box 57"/>
          <p:cNvSpPr txBox="1">
            <a:spLocks noChangeArrowheads="1"/>
          </p:cNvSpPr>
          <p:nvPr/>
        </p:nvSpPr>
        <p:spPr bwMode="auto">
          <a:xfrm>
            <a:off x="2667000" y="3810000"/>
            <a:ext cx="723175" cy="396240"/>
          </a:xfrm>
          <a:prstGeom prst="rect">
            <a:avLst/>
          </a:prstGeom>
          <a:noFill/>
          <a:ln w="9525">
            <a:noFill/>
            <a:miter lim="800000"/>
          </a:ln>
        </p:spPr>
        <p:txBody>
          <a:bodyPr wrap="none">
            <a:spAutoFit/>
          </a:bodyPr>
          <a:lstStyle/>
          <a:p>
            <a:pPr fontAlgn="base">
              <a:spcBef>
                <a:spcPct val="0"/>
              </a:spcBef>
              <a:spcAft>
                <a:spcPct val="0"/>
              </a:spcAft>
            </a:pPr>
            <a:r>
              <a:rPr lang="en-US" i="1">
                <a:solidFill>
                  <a:prstClr val="black"/>
                </a:solidFill>
                <a:latin typeface="Tahoma" panose="020B0604030504040204" pitchFamily="34" charset="0"/>
                <a:cs typeface="Arial" panose="020B0604020202020204" pitchFamily="34" charset="0"/>
              </a:rPr>
              <a:t>(bits)</a:t>
            </a:r>
          </a:p>
        </p:txBody>
      </p:sp>
    </p:spTree>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49272"/>
                                        </p:tgtEl>
                                        <p:attrNameLst>
                                          <p:attrName>style.visibility</p:attrName>
                                        </p:attrNameLst>
                                      </p:cBhvr>
                                      <p:to>
                                        <p:strVal val="visible"/>
                                      </p:to>
                                    </p:set>
                                  </p:childTnLst>
                                </p:cTn>
                              </p:par>
                            </p:childTnLst>
                          </p:cTn>
                        </p:par>
                        <p:par>
                          <p:cTn id="7" fill="hold">
                            <p:stCondLst>
                              <p:cond delay="0"/>
                            </p:stCondLst>
                            <p:childTnLst>
                              <p:par>
                                <p:cTn id="8" presetID="22" presetClass="entr" presetSubtype="1" fill="hold" grpId="0" nodeType="afterEffect">
                                  <p:stCondLst>
                                    <p:cond delay="0"/>
                                  </p:stCondLst>
                                  <p:childTnLst>
                                    <p:set>
                                      <p:cBhvr>
                                        <p:cTn id="9" dur="1" fill="hold">
                                          <p:stCondLst>
                                            <p:cond delay="0"/>
                                          </p:stCondLst>
                                        </p:cTn>
                                        <p:tgtEl>
                                          <p:spTgt spid="1049271"/>
                                        </p:tgtEl>
                                        <p:attrNameLst>
                                          <p:attrName>style.visibility</p:attrName>
                                        </p:attrNameLst>
                                      </p:cBhvr>
                                      <p:to>
                                        <p:strVal val="visible"/>
                                      </p:to>
                                    </p:set>
                                    <p:animEffect transition="in" filter="wipe(up)">
                                      <p:cBhvr>
                                        <p:cTn id="10" dur="500"/>
                                        <p:tgtEl>
                                          <p:spTgt spid="1049271"/>
                                        </p:tgtEl>
                                      </p:cBhvr>
                                    </p:animEffect>
                                  </p:childTnLst>
                                </p:cTn>
                              </p:par>
                            </p:childTnLst>
                          </p:cTn>
                        </p:par>
                        <p:par>
                          <p:cTn id="11" fill="hold">
                            <p:stCondLst>
                              <p:cond delay="500"/>
                            </p:stCondLst>
                            <p:childTnLst>
                              <p:par>
                                <p:cTn id="12" presetID="22" presetClass="entr" presetSubtype="1" fill="hold" grpId="0" nodeType="afterEffect">
                                  <p:stCondLst>
                                    <p:cond delay="0"/>
                                  </p:stCondLst>
                                  <p:childTnLst>
                                    <p:set>
                                      <p:cBhvr>
                                        <p:cTn id="13" dur="1" fill="hold">
                                          <p:stCondLst>
                                            <p:cond delay="0"/>
                                          </p:stCondLst>
                                        </p:cTn>
                                        <p:tgtEl>
                                          <p:spTgt spid="1049270"/>
                                        </p:tgtEl>
                                        <p:attrNameLst>
                                          <p:attrName>style.visibility</p:attrName>
                                        </p:attrNameLst>
                                      </p:cBhvr>
                                      <p:to>
                                        <p:strVal val="visible"/>
                                      </p:to>
                                    </p:set>
                                    <p:animEffect transition="in" filter="wipe(up)">
                                      <p:cBhvr>
                                        <p:cTn id="14" dur="500"/>
                                        <p:tgtEl>
                                          <p:spTgt spid="1049270"/>
                                        </p:tgtEl>
                                      </p:cBhvr>
                                    </p:animEffect>
                                  </p:childTnLst>
                                </p:cTn>
                              </p:par>
                            </p:childTnLst>
                          </p:cTn>
                        </p:par>
                      </p:childTnLst>
                    </p:cTn>
                  </p:par>
                  <p:par>
                    <p:cTn id="15" fill="hold">
                      <p:stCondLst>
                        <p:cond delay="indefinite"/>
                      </p:stCondLst>
                      <p:childTnLst>
                        <p:par>
                          <p:cTn id="16" fill="hold">
                            <p:stCondLst>
                              <p:cond delay="0"/>
                            </p:stCondLst>
                            <p:childTnLst>
                              <p:par>
                                <p:cTn id="17" presetID="22" presetClass="entr" presetSubtype="1" fill="hold" grpId="0" nodeType="clickEffect">
                                  <p:stCondLst>
                                    <p:cond delay="0"/>
                                  </p:stCondLst>
                                  <p:childTnLst>
                                    <p:set>
                                      <p:cBhvr>
                                        <p:cTn id="18" dur="1" fill="hold">
                                          <p:stCondLst>
                                            <p:cond delay="0"/>
                                          </p:stCondLst>
                                        </p:cTn>
                                        <p:tgtEl>
                                          <p:spTgt spid="1049276"/>
                                        </p:tgtEl>
                                        <p:attrNameLst>
                                          <p:attrName>style.visibility</p:attrName>
                                        </p:attrNameLst>
                                      </p:cBhvr>
                                      <p:to>
                                        <p:strVal val="visible"/>
                                      </p:to>
                                    </p:set>
                                    <p:animEffect transition="in" filter="wipe(up)">
                                      <p:cBhvr>
                                        <p:cTn id="19" dur="500"/>
                                        <p:tgtEl>
                                          <p:spTgt spid="1049276"/>
                                        </p:tgtEl>
                                      </p:cBhvr>
                                    </p:animEffect>
                                  </p:childTnLst>
                                </p:cTn>
                              </p:par>
                              <p:par>
                                <p:cTn id="20" presetID="22" presetClass="entr" presetSubtype="1" fill="hold" grpId="0" nodeType="withEffect">
                                  <p:stCondLst>
                                    <p:cond delay="0"/>
                                  </p:stCondLst>
                                  <p:childTnLst>
                                    <p:set>
                                      <p:cBhvr>
                                        <p:cTn id="21" dur="1" fill="hold">
                                          <p:stCondLst>
                                            <p:cond delay="0"/>
                                          </p:stCondLst>
                                        </p:cTn>
                                        <p:tgtEl>
                                          <p:spTgt spid="1049277"/>
                                        </p:tgtEl>
                                        <p:attrNameLst>
                                          <p:attrName>style.visibility</p:attrName>
                                        </p:attrNameLst>
                                      </p:cBhvr>
                                      <p:to>
                                        <p:strVal val="visible"/>
                                      </p:to>
                                    </p:set>
                                    <p:animEffect transition="in" filter="wipe(up)">
                                      <p:cBhvr>
                                        <p:cTn id="22" dur="500"/>
                                        <p:tgtEl>
                                          <p:spTgt spid="1049277"/>
                                        </p:tgtEl>
                                      </p:cBhvr>
                                    </p:animEffect>
                                  </p:childTnLst>
                                </p:cTn>
                              </p:par>
                            </p:childTnLst>
                          </p:cTn>
                        </p:par>
                        <p:par>
                          <p:cTn id="23" fill="hold">
                            <p:stCondLst>
                              <p:cond delay="500"/>
                            </p:stCondLst>
                            <p:childTnLst>
                              <p:par>
                                <p:cTn id="24" presetID="22" presetClass="entr" presetSubtype="1" fill="hold" grpId="0" nodeType="afterEffect">
                                  <p:stCondLst>
                                    <p:cond delay="0"/>
                                  </p:stCondLst>
                                  <p:childTnLst>
                                    <p:set>
                                      <p:cBhvr>
                                        <p:cTn id="25" dur="1" fill="hold">
                                          <p:stCondLst>
                                            <p:cond delay="0"/>
                                          </p:stCondLst>
                                        </p:cTn>
                                        <p:tgtEl>
                                          <p:spTgt spid="1049281"/>
                                        </p:tgtEl>
                                        <p:attrNameLst>
                                          <p:attrName>style.visibility</p:attrName>
                                        </p:attrNameLst>
                                      </p:cBhvr>
                                      <p:to>
                                        <p:strVal val="visible"/>
                                      </p:to>
                                    </p:set>
                                    <p:animEffect transition="in" filter="wipe(up)">
                                      <p:cBhvr>
                                        <p:cTn id="26" dur="500"/>
                                        <p:tgtEl>
                                          <p:spTgt spid="1049281"/>
                                        </p:tgtEl>
                                      </p:cBhvr>
                                    </p:animEffect>
                                  </p:childTnLst>
                                </p:cTn>
                              </p:par>
                            </p:childTnLst>
                          </p:cTn>
                        </p:par>
                        <p:par>
                          <p:cTn id="27" fill="hold">
                            <p:stCondLst>
                              <p:cond delay="1000"/>
                            </p:stCondLst>
                            <p:childTnLst>
                              <p:par>
                                <p:cTn id="28" presetID="9" presetClass="entr" presetSubtype="0" fill="hold" grpId="0" nodeType="afterEffect">
                                  <p:stCondLst>
                                    <p:cond delay="0"/>
                                  </p:stCondLst>
                                  <p:childTnLst>
                                    <p:set>
                                      <p:cBhvr>
                                        <p:cTn id="29" dur="1" fill="hold">
                                          <p:stCondLst>
                                            <p:cond delay="0"/>
                                          </p:stCondLst>
                                        </p:cTn>
                                        <p:tgtEl>
                                          <p:spTgt spid="1049299"/>
                                        </p:tgtEl>
                                        <p:attrNameLst>
                                          <p:attrName>style.visibility</p:attrName>
                                        </p:attrNameLst>
                                      </p:cBhvr>
                                      <p:to>
                                        <p:strVal val="visible"/>
                                      </p:to>
                                    </p:set>
                                    <p:animEffect transition="in" filter="dissolve">
                                      <p:cBhvr>
                                        <p:cTn id="30" dur="500"/>
                                        <p:tgtEl>
                                          <p:spTgt spid="1049299"/>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1" fill="hold" grpId="0" nodeType="clickEffect">
                                  <p:stCondLst>
                                    <p:cond delay="0"/>
                                  </p:stCondLst>
                                  <p:childTnLst>
                                    <p:set>
                                      <p:cBhvr>
                                        <p:cTn id="34" dur="1" fill="hold">
                                          <p:stCondLst>
                                            <p:cond delay="0"/>
                                          </p:stCondLst>
                                        </p:cTn>
                                        <p:tgtEl>
                                          <p:spTgt spid="1049286"/>
                                        </p:tgtEl>
                                        <p:attrNameLst>
                                          <p:attrName>style.visibility</p:attrName>
                                        </p:attrNameLst>
                                      </p:cBhvr>
                                      <p:to>
                                        <p:strVal val="visible"/>
                                      </p:to>
                                    </p:set>
                                    <p:animEffect transition="in" filter="wipe(up)">
                                      <p:cBhvr>
                                        <p:cTn id="35" dur="500"/>
                                        <p:tgtEl>
                                          <p:spTgt spid="1049286"/>
                                        </p:tgtEl>
                                      </p:cBhvr>
                                    </p:animEffect>
                                  </p:childTnLst>
                                </p:cTn>
                              </p:par>
                            </p:childTnLst>
                          </p:cTn>
                        </p:par>
                        <p:par>
                          <p:cTn id="36" fill="hold">
                            <p:stCondLst>
                              <p:cond delay="500"/>
                            </p:stCondLst>
                            <p:childTnLst>
                              <p:par>
                                <p:cTn id="37" presetID="9" presetClass="entr" presetSubtype="0" fill="hold" nodeType="afterEffect">
                                  <p:stCondLst>
                                    <p:cond delay="0"/>
                                  </p:stCondLst>
                                  <p:childTnLst>
                                    <p:set>
                                      <p:cBhvr>
                                        <p:cTn id="38" dur="1" fill="hold">
                                          <p:stCondLst>
                                            <p:cond delay="0"/>
                                          </p:stCondLst>
                                        </p:cTn>
                                        <p:tgtEl>
                                          <p:spTgt spid="180"/>
                                        </p:tgtEl>
                                        <p:attrNameLst>
                                          <p:attrName>style.visibility</p:attrName>
                                        </p:attrNameLst>
                                      </p:cBhvr>
                                      <p:to>
                                        <p:strVal val="visible"/>
                                      </p:to>
                                    </p:set>
                                    <p:animEffect transition="in" filter="dissolve">
                                      <p:cBhvr>
                                        <p:cTn id="39" dur="500"/>
                                        <p:tgtEl>
                                          <p:spTgt spid="180"/>
                                        </p:tgtEl>
                                      </p:cBhvr>
                                    </p:animEffect>
                                  </p:childTnLst>
                                </p:cTn>
                              </p:par>
                              <p:par>
                                <p:cTn id="40" presetID="9" presetClass="entr" presetSubtype="0" fill="hold" grpId="0" nodeType="withEffect">
                                  <p:stCondLst>
                                    <p:cond delay="0"/>
                                  </p:stCondLst>
                                  <p:childTnLst>
                                    <p:set>
                                      <p:cBhvr>
                                        <p:cTn id="41" dur="1" fill="hold">
                                          <p:stCondLst>
                                            <p:cond delay="0"/>
                                          </p:stCondLst>
                                        </p:cTn>
                                        <p:tgtEl>
                                          <p:spTgt spid="1049288"/>
                                        </p:tgtEl>
                                        <p:attrNameLst>
                                          <p:attrName>style.visibility</p:attrName>
                                        </p:attrNameLst>
                                      </p:cBhvr>
                                      <p:to>
                                        <p:strVal val="visible"/>
                                      </p:to>
                                    </p:set>
                                    <p:animEffect transition="in" filter="dissolve">
                                      <p:cBhvr>
                                        <p:cTn id="42" dur="500"/>
                                        <p:tgtEl>
                                          <p:spTgt spid="1049288"/>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2" fill="hold" nodeType="clickEffect">
                                  <p:stCondLst>
                                    <p:cond delay="0"/>
                                  </p:stCondLst>
                                  <p:childTnLst>
                                    <p:set>
                                      <p:cBhvr>
                                        <p:cTn id="46" dur="1" fill="hold">
                                          <p:stCondLst>
                                            <p:cond delay="0"/>
                                          </p:stCondLst>
                                        </p:cTn>
                                        <p:tgtEl>
                                          <p:spTgt spid="181"/>
                                        </p:tgtEl>
                                        <p:attrNameLst>
                                          <p:attrName>style.visibility</p:attrName>
                                        </p:attrNameLst>
                                      </p:cBhvr>
                                      <p:to>
                                        <p:strVal val="visible"/>
                                      </p:to>
                                    </p:set>
                                    <p:animEffect transition="in" filter="wipe(right)">
                                      <p:cBhvr>
                                        <p:cTn id="47" dur="500"/>
                                        <p:tgtEl>
                                          <p:spTgt spid="181"/>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4" fill="hold" grpId="0" nodeType="clickEffect">
                                  <p:stCondLst>
                                    <p:cond delay="0"/>
                                  </p:stCondLst>
                                  <p:childTnLst>
                                    <p:set>
                                      <p:cBhvr>
                                        <p:cTn id="51" dur="1" fill="hold">
                                          <p:stCondLst>
                                            <p:cond delay="0"/>
                                          </p:stCondLst>
                                        </p:cTn>
                                        <p:tgtEl>
                                          <p:spTgt spid="1049287"/>
                                        </p:tgtEl>
                                        <p:attrNameLst>
                                          <p:attrName>style.visibility</p:attrName>
                                        </p:attrNameLst>
                                      </p:cBhvr>
                                      <p:to>
                                        <p:strVal val="visible"/>
                                      </p:to>
                                    </p:set>
                                    <p:animEffect transition="in" filter="wipe(down)">
                                      <p:cBhvr>
                                        <p:cTn id="52" dur="500"/>
                                        <p:tgtEl>
                                          <p:spTgt spid="1049287"/>
                                        </p:tgtEl>
                                      </p:cBhvr>
                                    </p:animEffect>
                                  </p:childTnLst>
                                </p:cTn>
                              </p:par>
                            </p:childTnLst>
                          </p:cTn>
                        </p:par>
                        <p:par>
                          <p:cTn id="53" fill="hold">
                            <p:stCondLst>
                              <p:cond delay="500"/>
                            </p:stCondLst>
                            <p:childTnLst>
                              <p:par>
                                <p:cTn id="54" presetID="2" presetClass="entr" presetSubtype="2" fill="hold" grpId="0" nodeType="afterEffect">
                                  <p:stCondLst>
                                    <p:cond delay="0"/>
                                  </p:stCondLst>
                                  <p:childTnLst>
                                    <p:set>
                                      <p:cBhvr>
                                        <p:cTn id="55" dur="1" fill="hold">
                                          <p:stCondLst>
                                            <p:cond delay="0"/>
                                          </p:stCondLst>
                                        </p:cTn>
                                        <p:tgtEl>
                                          <p:spTgt spid="1049273"/>
                                        </p:tgtEl>
                                        <p:attrNameLst>
                                          <p:attrName>style.visibility</p:attrName>
                                        </p:attrNameLst>
                                      </p:cBhvr>
                                      <p:to>
                                        <p:strVal val="visible"/>
                                      </p:to>
                                    </p:set>
                                    <p:anim calcmode="lin" valueType="num">
                                      <p:cBhvr additive="base">
                                        <p:cTn id="56" dur="500" fill="hold"/>
                                        <p:tgtEl>
                                          <p:spTgt spid="1049273"/>
                                        </p:tgtEl>
                                        <p:attrNameLst>
                                          <p:attrName>ppt_x</p:attrName>
                                        </p:attrNameLst>
                                      </p:cBhvr>
                                      <p:tavLst>
                                        <p:tav tm="0">
                                          <p:val>
                                            <p:strVal val="1+#ppt_w/2"/>
                                          </p:val>
                                        </p:tav>
                                        <p:tav tm="100000">
                                          <p:val>
                                            <p:strVal val="#ppt_x"/>
                                          </p:val>
                                        </p:tav>
                                      </p:tavLst>
                                    </p:anim>
                                    <p:anim calcmode="lin" valueType="num">
                                      <p:cBhvr additive="base">
                                        <p:cTn id="57" dur="500" fill="hold"/>
                                        <p:tgtEl>
                                          <p:spTgt spid="1049273"/>
                                        </p:tgtEl>
                                        <p:attrNameLst>
                                          <p:attrName>ppt_y</p:attrName>
                                        </p:attrNameLst>
                                      </p:cBhvr>
                                      <p:tavLst>
                                        <p:tav tm="0">
                                          <p:val>
                                            <p:strVal val="#ppt_y"/>
                                          </p:val>
                                        </p:tav>
                                        <p:tav tm="100000">
                                          <p:val>
                                            <p:strVal val="#ppt_y"/>
                                          </p:val>
                                        </p:tav>
                                      </p:tavLst>
                                    </p:anim>
                                  </p:childTnLst>
                                </p:cTn>
                              </p:par>
                            </p:childTnLst>
                          </p:cTn>
                        </p:par>
                        <p:par>
                          <p:cTn id="58" fill="hold">
                            <p:stCondLst>
                              <p:cond delay="1000"/>
                            </p:stCondLst>
                            <p:childTnLst>
                              <p:par>
                                <p:cTn id="59" presetID="9" presetClass="entr" presetSubtype="0" fill="hold" grpId="0" nodeType="afterEffect">
                                  <p:stCondLst>
                                    <p:cond delay="0"/>
                                  </p:stCondLst>
                                  <p:childTnLst>
                                    <p:set>
                                      <p:cBhvr>
                                        <p:cTn id="60" dur="1" fill="hold">
                                          <p:stCondLst>
                                            <p:cond delay="0"/>
                                          </p:stCondLst>
                                        </p:cTn>
                                        <p:tgtEl>
                                          <p:spTgt spid="1049282"/>
                                        </p:tgtEl>
                                        <p:attrNameLst>
                                          <p:attrName>style.visibility</p:attrName>
                                        </p:attrNameLst>
                                      </p:cBhvr>
                                      <p:to>
                                        <p:strVal val="visible"/>
                                      </p:to>
                                    </p:set>
                                    <p:animEffect transition="in" filter="dissolve">
                                      <p:cBhvr>
                                        <p:cTn id="61" dur="500"/>
                                        <p:tgtEl>
                                          <p:spTgt spid="1049282"/>
                                        </p:tgtEl>
                                      </p:cBhvr>
                                    </p:animEffect>
                                  </p:childTnLst>
                                </p:cTn>
                              </p:par>
                            </p:childTnLst>
                          </p:cTn>
                        </p:par>
                      </p:childTnLst>
                    </p:cTn>
                  </p:par>
                  <p:par>
                    <p:cTn id="62" fill="hold">
                      <p:stCondLst>
                        <p:cond delay="indefinite"/>
                      </p:stCondLst>
                      <p:childTnLst>
                        <p:par>
                          <p:cTn id="63" fill="hold">
                            <p:stCondLst>
                              <p:cond delay="0"/>
                            </p:stCondLst>
                            <p:childTnLst>
                              <p:par>
                                <p:cTn id="64" presetID="22" presetClass="entr" presetSubtype="4" fill="hold" grpId="0" nodeType="clickEffect">
                                  <p:stCondLst>
                                    <p:cond delay="0"/>
                                  </p:stCondLst>
                                  <p:childTnLst>
                                    <p:set>
                                      <p:cBhvr>
                                        <p:cTn id="65" dur="1" fill="hold">
                                          <p:stCondLst>
                                            <p:cond delay="0"/>
                                          </p:stCondLst>
                                        </p:cTn>
                                        <p:tgtEl>
                                          <p:spTgt spid="1049279"/>
                                        </p:tgtEl>
                                        <p:attrNameLst>
                                          <p:attrName>style.visibility</p:attrName>
                                        </p:attrNameLst>
                                      </p:cBhvr>
                                      <p:to>
                                        <p:strVal val="visible"/>
                                      </p:to>
                                    </p:set>
                                    <p:animEffect transition="in" filter="wipe(down)">
                                      <p:cBhvr>
                                        <p:cTn id="66" dur="500"/>
                                        <p:tgtEl>
                                          <p:spTgt spid="1049279"/>
                                        </p:tgtEl>
                                      </p:cBhvr>
                                    </p:animEffect>
                                  </p:childTnLst>
                                </p:cTn>
                              </p:par>
                              <p:par>
                                <p:cTn id="67" presetID="22" presetClass="entr" presetSubtype="4" fill="hold" grpId="0" nodeType="withEffect">
                                  <p:stCondLst>
                                    <p:cond delay="0"/>
                                  </p:stCondLst>
                                  <p:childTnLst>
                                    <p:set>
                                      <p:cBhvr>
                                        <p:cTn id="68" dur="1" fill="hold">
                                          <p:stCondLst>
                                            <p:cond delay="0"/>
                                          </p:stCondLst>
                                        </p:cTn>
                                        <p:tgtEl>
                                          <p:spTgt spid="1049280"/>
                                        </p:tgtEl>
                                        <p:attrNameLst>
                                          <p:attrName>style.visibility</p:attrName>
                                        </p:attrNameLst>
                                      </p:cBhvr>
                                      <p:to>
                                        <p:strVal val="visible"/>
                                      </p:to>
                                    </p:set>
                                    <p:animEffect transition="in" filter="wipe(down)">
                                      <p:cBhvr>
                                        <p:cTn id="69" dur="500"/>
                                        <p:tgtEl>
                                          <p:spTgt spid="1049280"/>
                                        </p:tgtEl>
                                      </p:cBhvr>
                                    </p:animEffect>
                                  </p:childTnLst>
                                </p:cTn>
                              </p:par>
                            </p:childTnLst>
                          </p:cTn>
                        </p:par>
                        <p:par>
                          <p:cTn id="70" fill="hold">
                            <p:stCondLst>
                              <p:cond delay="500"/>
                            </p:stCondLst>
                            <p:childTnLst>
                              <p:par>
                                <p:cTn id="71" presetID="22" presetClass="entr" presetSubtype="4" fill="hold" grpId="0" nodeType="afterEffect">
                                  <p:stCondLst>
                                    <p:cond delay="0"/>
                                  </p:stCondLst>
                                  <p:childTnLst>
                                    <p:set>
                                      <p:cBhvr>
                                        <p:cTn id="72" dur="1" fill="hold">
                                          <p:stCondLst>
                                            <p:cond delay="0"/>
                                          </p:stCondLst>
                                        </p:cTn>
                                        <p:tgtEl>
                                          <p:spTgt spid="1049278"/>
                                        </p:tgtEl>
                                        <p:attrNameLst>
                                          <p:attrName>style.visibility</p:attrName>
                                        </p:attrNameLst>
                                      </p:cBhvr>
                                      <p:to>
                                        <p:strVal val="visible"/>
                                      </p:to>
                                    </p:set>
                                    <p:animEffect transition="in" filter="wipe(down)">
                                      <p:cBhvr>
                                        <p:cTn id="73" dur="500"/>
                                        <p:tgtEl>
                                          <p:spTgt spid="1049278"/>
                                        </p:tgtEl>
                                      </p:cBhvr>
                                    </p:animEffect>
                                  </p:childTnLst>
                                </p:cTn>
                              </p:par>
                            </p:childTnLst>
                          </p:cTn>
                        </p:par>
                        <p:par>
                          <p:cTn id="74" fill="hold">
                            <p:stCondLst>
                              <p:cond delay="1000"/>
                            </p:stCondLst>
                            <p:childTnLst>
                              <p:par>
                                <p:cTn id="75" presetID="22" presetClass="entr" presetSubtype="4" fill="hold" grpId="0" nodeType="afterEffect">
                                  <p:stCondLst>
                                    <p:cond delay="0"/>
                                  </p:stCondLst>
                                  <p:childTnLst>
                                    <p:set>
                                      <p:cBhvr>
                                        <p:cTn id="76" dur="1" fill="hold">
                                          <p:stCondLst>
                                            <p:cond delay="0"/>
                                          </p:stCondLst>
                                        </p:cTn>
                                        <p:tgtEl>
                                          <p:spTgt spid="1049274"/>
                                        </p:tgtEl>
                                        <p:attrNameLst>
                                          <p:attrName>style.visibility</p:attrName>
                                        </p:attrNameLst>
                                      </p:cBhvr>
                                      <p:to>
                                        <p:strVal val="visible"/>
                                      </p:to>
                                    </p:set>
                                    <p:animEffect transition="in" filter="wipe(down)">
                                      <p:cBhvr>
                                        <p:cTn id="77" dur="500"/>
                                        <p:tgtEl>
                                          <p:spTgt spid="1049274"/>
                                        </p:tgtEl>
                                      </p:cBhvr>
                                    </p:animEffect>
                                  </p:childTnLst>
                                </p:cTn>
                              </p:par>
                            </p:childTnLst>
                          </p:cTn>
                        </p:par>
                        <p:par>
                          <p:cTn id="78" fill="hold">
                            <p:stCondLst>
                              <p:cond delay="1500"/>
                            </p:stCondLst>
                            <p:childTnLst>
                              <p:par>
                                <p:cTn id="79" presetID="1" presetClass="entr" presetSubtype="0" fill="hold" grpId="0" nodeType="afterEffect">
                                  <p:stCondLst>
                                    <p:cond delay="0"/>
                                  </p:stCondLst>
                                  <p:childTnLst>
                                    <p:set>
                                      <p:cBhvr>
                                        <p:cTn id="80" dur="1" fill="hold">
                                          <p:stCondLst>
                                            <p:cond delay="0"/>
                                          </p:stCondLst>
                                        </p:cTn>
                                        <p:tgtEl>
                                          <p:spTgt spid="104927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9270" grpId="0" animBg="1"/>
      <p:bldP spid="1049271" grpId="0" animBg="1"/>
      <p:bldP spid="1049272" grpId="0"/>
      <p:bldP spid="1049273" grpId="0" animBg="1"/>
      <p:bldP spid="1049274" grpId="0" animBg="1"/>
      <p:bldP spid="1049275" grpId="0"/>
      <p:bldP spid="1049276" grpId="0" animBg="1"/>
      <p:bldP spid="1049277" grpId="0" animBg="1"/>
      <p:bldP spid="1049278" grpId="0" animBg="1"/>
      <p:bldP spid="1049279" grpId="0" animBg="1"/>
      <p:bldP spid="1049280" grpId="0" animBg="1"/>
      <p:bldP spid="1049281" grpId="0" animBg="1"/>
      <p:bldP spid="1049282" grpId="0" animBg="1"/>
      <p:bldP spid="1049286" grpId="0" animBg="1"/>
      <p:bldP spid="1049287" grpId="0" animBg="1"/>
      <p:bldP spid="1049288" grpId="0"/>
      <p:bldP spid="1049299" grpId="0"/>
    </p:bldLst>
  </p:timing>
</p:sld>
</file>

<file path=ppt/slides/slide6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49300" name="Rectangle 2"/>
          <p:cNvSpPr>
            <a:spLocks noGrp="1" noChangeArrowheads="1"/>
          </p:cNvSpPr>
          <p:nvPr>
            <p:ph type="title"/>
          </p:nvPr>
        </p:nvSpPr>
        <p:spPr>
          <a:xfrm>
            <a:off x="457200" y="457200"/>
            <a:ext cx="8229600" cy="482600"/>
          </a:xfrm>
        </p:spPr>
        <p:txBody>
          <a:bodyPr/>
          <a:lstStyle/>
          <a:p>
            <a:pPr eaLnBrk="1" hangingPunct="1"/>
            <a:r>
              <a:rPr lang="en-US" sz="2800" b="1">
                <a:latin typeface="Times New Roman" panose="02020603050405020304" pitchFamily="18" charset="0"/>
                <a:cs typeface="Times New Roman" panose="02020603050405020304" pitchFamily="18" charset="0"/>
              </a:rPr>
              <a:t>Physical Layer Functions</a:t>
            </a:r>
          </a:p>
        </p:txBody>
      </p:sp>
      <p:sp>
        <p:nvSpPr>
          <p:cNvPr id="1049301" name="Rectangle 3"/>
          <p:cNvSpPr>
            <a:spLocks noGrp="1" noChangeArrowheads="1"/>
          </p:cNvSpPr>
          <p:nvPr>
            <p:ph type="body" idx="1"/>
          </p:nvPr>
        </p:nvSpPr>
        <p:spPr>
          <a:xfrm>
            <a:off x="152400" y="1371600"/>
            <a:ext cx="8991600" cy="5486400"/>
          </a:xfrm>
        </p:spPr>
        <p:txBody>
          <a:bodyPr>
            <a:noAutofit/>
          </a:bodyPr>
          <a:lstStyle/>
          <a:p>
            <a:pPr marL="285750" indent="-285750">
              <a:buFont typeface="Arial" panose="020B0604020202020204" pitchFamily="34" charset="0"/>
              <a:buChar char="•"/>
            </a:pPr>
            <a:r>
              <a:rPr lang="en-US" sz="1800">
                <a:solidFill>
                  <a:srgbClr val="C00000"/>
                </a:solidFill>
                <a:latin typeface="Times New Roman" panose="02020603050405020304" pitchFamily="18" charset="0"/>
                <a:cs typeface="Times New Roman" panose="02020603050405020304" pitchFamily="18" charset="0"/>
              </a:rPr>
              <a:t>Physical characteristics of interfaces and medium</a:t>
            </a:r>
          </a:p>
          <a:p>
            <a:pPr marL="285750" indent="-285750">
              <a:buFont typeface="Arial" panose="020B0604020202020204" pitchFamily="34" charset="0"/>
              <a:buChar char="•"/>
            </a:pPr>
            <a:endParaRPr lang="en-US" sz="1800">
              <a:solidFill>
                <a:srgbClr val="C00000"/>
              </a:solidFill>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1800">
                <a:solidFill>
                  <a:srgbClr val="C00000"/>
                </a:solidFill>
                <a:latin typeface="Times New Roman" panose="02020603050405020304" pitchFamily="18" charset="0"/>
                <a:cs typeface="Times New Roman" panose="02020603050405020304" pitchFamily="18" charset="0"/>
              </a:rPr>
              <a:t>Representation of bits: </a:t>
            </a:r>
            <a:r>
              <a:rPr lang="en-US" sz="1800">
                <a:latin typeface="Times New Roman" panose="02020603050405020304" pitchFamily="18" charset="0"/>
                <a:cs typeface="Times New Roman" panose="02020603050405020304" pitchFamily="18" charset="0"/>
              </a:rPr>
              <a:t>Data consists of a stream of bits (sequence of 0s or 1s) with no interpretation.</a:t>
            </a:r>
          </a:p>
          <a:p>
            <a:pPr marL="285750" indent="-285750">
              <a:buFont typeface="Arial" panose="020B0604020202020204" pitchFamily="34" charset="0"/>
              <a:buChar char="•"/>
            </a:pPr>
            <a:endParaRPr lang="en-US" sz="180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1800">
                <a:solidFill>
                  <a:srgbClr val="C00000"/>
                </a:solidFill>
                <a:latin typeface="Times New Roman" panose="02020603050405020304" pitchFamily="18" charset="0"/>
                <a:cs typeface="Times New Roman" panose="02020603050405020304" pitchFamily="18" charset="0"/>
              </a:rPr>
              <a:t>Data rate:</a:t>
            </a:r>
            <a:r>
              <a:rPr lang="en-US" sz="1800">
                <a:latin typeface="Times New Roman" panose="02020603050405020304" pitchFamily="18" charset="0"/>
                <a:cs typeface="Times New Roman" panose="02020603050405020304" pitchFamily="18" charset="0"/>
              </a:rPr>
              <a:t> The number of bits sent per second.</a:t>
            </a:r>
          </a:p>
          <a:p>
            <a:pPr marL="285750" indent="-285750">
              <a:buFont typeface="Arial" panose="020B0604020202020204" pitchFamily="34" charset="0"/>
              <a:buChar char="•"/>
            </a:pPr>
            <a:endParaRPr lang="en-US" sz="180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1800">
                <a:solidFill>
                  <a:srgbClr val="C00000"/>
                </a:solidFill>
                <a:latin typeface="Times New Roman" panose="02020603050405020304" pitchFamily="18" charset="0"/>
                <a:cs typeface="Times New Roman" panose="02020603050405020304" pitchFamily="18" charset="0"/>
              </a:rPr>
              <a:t>Synchronization of bits: </a:t>
            </a:r>
            <a:r>
              <a:rPr lang="en-US" sz="1800">
                <a:latin typeface="Times New Roman" panose="02020603050405020304" pitchFamily="18" charset="0"/>
                <a:cs typeface="Times New Roman" panose="02020603050405020304" pitchFamily="18" charset="0"/>
              </a:rPr>
              <a:t>the sender and the receiver clocks must be synchronized.</a:t>
            </a:r>
          </a:p>
          <a:p>
            <a:pPr marL="285750" indent="-285750">
              <a:buFont typeface="Arial" panose="020B0604020202020204" pitchFamily="34" charset="0"/>
              <a:buChar char="•"/>
            </a:pPr>
            <a:endParaRPr lang="en-US" sz="180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1800">
                <a:solidFill>
                  <a:srgbClr val="C00000"/>
                </a:solidFill>
                <a:latin typeface="Times New Roman" panose="02020603050405020304" pitchFamily="18" charset="0"/>
                <a:cs typeface="Times New Roman" panose="02020603050405020304" pitchFamily="18" charset="0"/>
              </a:rPr>
              <a:t>Line configuration: </a:t>
            </a:r>
            <a:r>
              <a:rPr lang="en-US" sz="1800">
                <a:latin typeface="Times New Roman" panose="02020603050405020304" pitchFamily="18" charset="0"/>
                <a:cs typeface="Times New Roman" panose="02020603050405020304" pitchFamily="18" charset="0"/>
              </a:rPr>
              <a:t>Point to Point or Multipoint</a:t>
            </a:r>
          </a:p>
          <a:p>
            <a:pPr marL="285750" indent="-285750">
              <a:buFont typeface="Arial" panose="020B0604020202020204" pitchFamily="34" charset="0"/>
              <a:buChar char="•"/>
            </a:pPr>
            <a:endParaRPr lang="en-US" sz="180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1800">
                <a:solidFill>
                  <a:srgbClr val="C00000"/>
                </a:solidFill>
                <a:latin typeface="Times New Roman" panose="02020603050405020304" pitchFamily="18" charset="0"/>
                <a:cs typeface="Times New Roman" panose="02020603050405020304" pitchFamily="18" charset="0"/>
              </a:rPr>
              <a:t>Physical topology: </a:t>
            </a:r>
            <a:r>
              <a:rPr lang="en-US" sz="1800">
                <a:latin typeface="Times New Roman" panose="02020603050405020304" pitchFamily="18" charset="0"/>
                <a:cs typeface="Times New Roman" panose="02020603050405020304" pitchFamily="18" charset="0"/>
              </a:rPr>
              <a:t>Bus/ Star/Mesh…</a:t>
            </a:r>
          </a:p>
          <a:p>
            <a:pPr marL="285750" indent="-285750">
              <a:buFont typeface="Arial" panose="020B0604020202020204" pitchFamily="34" charset="0"/>
              <a:buChar char="•"/>
            </a:pPr>
            <a:endParaRPr lang="en-US" sz="180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1800">
                <a:solidFill>
                  <a:srgbClr val="C00000"/>
                </a:solidFill>
                <a:latin typeface="Times New Roman" panose="02020603050405020304" pitchFamily="18" charset="0"/>
                <a:cs typeface="Times New Roman" panose="02020603050405020304" pitchFamily="18" charset="0"/>
              </a:rPr>
              <a:t>Transmission mode: </a:t>
            </a:r>
            <a:r>
              <a:rPr lang="en-US" sz="1800">
                <a:latin typeface="Times New Roman" panose="02020603050405020304" pitchFamily="18" charset="0"/>
                <a:cs typeface="Times New Roman" panose="02020603050405020304" pitchFamily="18" charset="0"/>
              </a:rPr>
              <a:t>Simplex/Half/Full</a:t>
            </a:r>
          </a:p>
        </p:txBody>
      </p:sp>
      <p:sp>
        <p:nvSpPr>
          <p:cNvPr id="1049302" name="Slide Number Placeholder 5"/>
          <p:cNvSpPr>
            <a:spLocks noGrp="1"/>
          </p:cNvSpPr>
          <p:nvPr>
            <p:ph type="sldNum" sz="quarter" idx="7"/>
          </p:nvPr>
        </p:nvSpPr>
        <p:spPr/>
        <p:txBody>
          <a:bodyPr/>
          <a:lstStyle/>
          <a:p>
            <a:fld id="{26492C63-2380-4A0E-BDB9-0A8F3755A515}" type="slidenum">
              <a:rPr lang="en-US"/>
              <a:t>60</a:t>
            </a:fld>
            <a:endParaRPr lang="en-US"/>
          </a:p>
        </p:txBody>
      </p:sp>
    </p:spTree>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4930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49301">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49301">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49301">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049301">
                                            <p:txEl>
                                              <p:pRg st="8" end="8"/>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049301">
                                            <p:txEl>
                                              <p:pRg st="10" end="10"/>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049301">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9301" grpId="0" build="p"/>
    </p:bldLst>
  </p:timing>
</p:sld>
</file>

<file path=ppt/slides/slide6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84" name="Group 61"/>
          <p:cNvGrpSpPr/>
          <p:nvPr/>
        </p:nvGrpSpPr>
        <p:grpSpPr bwMode="auto">
          <a:xfrm>
            <a:off x="4876800" y="4343400"/>
            <a:ext cx="1676400" cy="1555750"/>
            <a:chOff x="2743200" y="4343400"/>
            <a:chExt cx="1676400" cy="1555750"/>
          </a:xfrm>
        </p:grpSpPr>
        <p:sp>
          <p:nvSpPr>
            <p:cNvPr id="1049303" name="Rectangle 62"/>
            <p:cNvSpPr/>
            <p:nvPr/>
          </p:nvSpPr>
          <p:spPr>
            <a:xfrm>
              <a:off x="2743200" y="4343400"/>
              <a:ext cx="1676400" cy="520700"/>
            </a:xfrm>
            <a:prstGeom prst="rect">
              <a:avLst/>
            </a:prstGeom>
            <a:solidFill>
              <a:schemeClr val="bg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base">
                <a:spcBef>
                  <a:spcPct val="0"/>
                </a:spcBef>
                <a:spcAft>
                  <a:spcPct val="0"/>
                </a:spcAft>
              </a:pPr>
              <a:r>
                <a:rPr lang="en-US" sz="2400">
                  <a:solidFill>
                    <a:prstClr val="white"/>
                  </a:solidFill>
                </a:rPr>
                <a:t>Network</a:t>
              </a:r>
              <a:endParaRPr lang="en-US">
                <a:solidFill>
                  <a:prstClr val="white"/>
                </a:solidFill>
              </a:endParaRPr>
            </a:p>
          </p:txBody>
        </p:sp>
        <p:sp>
          <p:nvSpPr>
            <p:cNvPr id="1049304" name="Rectangle 63"/>
            <p:cNvSpPr/>
            <p:nvPr/>
          </p:nvSpPr>
          <p:spPr>
            <a:xfrm>
              <a:off x="2743200" y="4864100"/>
              <a:ext cx="762000" cy="514350"/>
            </a:xfrm>
            <a:prstGeom prst="rect">
              <a:avLst/>
            </a:prstGeom>
            <a:solidFill>
              <a:schemeClr val="bg2"/>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base">
                <a:spcBef>
                  <a:spcPct val="0"/>
                </a:spcBef>
                <a:spcAft>
                  <a:spcPct val="0"/>
                </a:spcAft>
              </a:pPr>
              <a:r>
                <a:rPr lang="en-US" sz="2400">
                  <a:solidFill>
                    <a:prstClr val="white"/>
                  </a:solidFill>
                </a:rPr>
                <a:t>D.L.</a:t>
              </a:r>
              <a:endParaRPr lang="en-US">
                <a:solidFill>
                  <a:prstClr val="white"/>
                </a:solidFill>
              </a:endParaRPr>
            </a:p>
          </p:txBody>
        </p:sp>
        <p:sp>
          <p:nvSpPr>
            <p:cNvPr id="1049305" name="Rectangle 64"/>
            <p:cNvSpPr/>
            <p:nvPr/>
          </p:nvSpPr>
          <p:spPr>
            <a:xfrm>
              <a:off x="2743200" y="5365750"/>
              <a:ext cx="762000" cy="533400"/>
            </a:xfrm>
            <a:prstGeom prst="rect">
              <a:avLst/>
            </a:prstGeom>
            <a:solidFill>
              <a:srgbClr val="080808"/>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base">
                <a:spcBef>
                  <a:spcPct val="0"/>
                </a:spcBef>
                <a:spcAft>
                  <a:spcPct val="0"/>
                </a:spcAft>
              </a:pPr>
              <a:r>
                <a:rPr lang="en-US" sz="2400">
                  <a:solidFill>
                    <a:prstClr val="white"/>
                  </a:solidFill>
                </a:rPr>
                <a:t>P.L.</a:t>
              </a:r>
              <a:endParaRPr lang="en-US">
                <a:solidFill>
                  <a:prstClr val="white"/>
                </a:solidFill>
              </a:endParaRPr>
            </a:p>
          </p:txBody>
        </p:sp>
        <p:sp>
          <p:nvSpPr>
            <p:cNvPr id="1049306" name="Rectangle 65"/>
            <p:cNvSpPr/>
            <p:nvPr/>
          </p:nvSpPr>
          <p:spPr>
            <a:xfrm>
              <a:off x="3657600" y="4864100"/>
              <a:ext cx="762000" cy="514350"/>
            </a:xfrm>
            <a:prstGeom prst="rect">
              <a:avLst/>
            </a:prstGeom>
            <a:solidFill>
              <a:schemeClr val="bg2"/>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base">
                <a:spcBef>
                  <a:spcPct val="0"/>
                </a:spcBef>
                <a:spcAft>
                  <a:spcPct val="0"/>
                </a:spcAft>
              </a:pPr>
              <a:r>
                <a:rPr lang="en-US" sz="2400">
                  <a:solidFill>
                    <a:prstClr val="white"/>
                  </a:solidFill>
                </a:rPr>
                <a:t>D.L.</a:t>
              </a:r>
              <a:endParaRPr lang="en-US">
                <a:solidFill>
                  <a:prstClr val="white"/>
                </a:solidFill>
              </a:endParaRPr>
            </a:p>
          </p:txBody>
        </p:sp>
        <p:sp>
          <p:nvSpPr>
            <p:cNvPr id="1049307" name="Rectangle 66"/>
            <p:cNvSpPr/>
            <p:nvPr/>
          </p:nvSpPr>
          <p:spPr>
            <a:xfrm>
              <a:off x="3657600" y="5365750"/>
              <a:ext cx="762000" cy="533400"/>
            </a:xfrm>
            <a:prstGeom prst="rect">
              <a:avLst/>
            </a:prstGeom>
            <a:solidFill>
              <a:srgbClr val="080808"/>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base">
                <a:spcBef>
                  <a:spcPct val="0"/>
                </a:spcBef>
                <a:spcAft>
                  <a:spcPct val="0"/>
                </a:spcAft>
              </a:pPr>
              <a:r>
                <a:rPr lang="en-US" sz="2400">
                  <a:solidFill>
                    <a:prstClr val="white"/>
                  </a:solidFill>
                </a:rPr>
                <a:t>P.L.</a:t>
              </a:r>
              <a:endParaRPr lang="en-US">
                <a:solidFill>
                  <a:prstClr val="white"/>
                </a:solidFill>
              </a:endParaRPr>
            </a:p>
          </p:txBody>
        </p:sp>
      </p:grpSp>
      <p:grpSp>
        <p:nvGrpSpPr>
          <p:cNvPr id="185" name="Group 60"/>
          <p:cNvGrpSpPr/>
          <p:nvPr/>
        </p:nvGrpSpPr>
        <p:grpSpPr bwMode="auto">
          <a:xfrm>
            <a:off x="2743200" y="4343400"/>
            <a:ext cx="1676400" cy="1555750"/>
            <a:chOff x="2743200" y="4343400"/>
            <a:chExt cx="1676400" cy="1555750"/>
          </a:xfrm>
        </p:grpSpPr>
        <p:sp>
          <p:nvSpPr>
            <p:cNvPr id="1049308" name="Rectangle 47"/>
            <p:cNvSpPr/>
            <p:nvPr/>
          </p:nvSpPr>
          <p:spPr>
            <a:xfrm>
              <a:off x="2743200" y="4343400"/>
              <a:ext cx="1676400" cy="520700"/>
            </a:xfrm>
            <a:prstGeom prst="rect">
              <a:avLst/>
            </a:prstGeom>
            <a:solidFill>
              <a:schemeClr val="bg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base">
                <a:spcBef>
                  <a:spcPct val="0"/>
                </a:spcBef>
                <a:spcAft>
                  <a:spcPct val="0"/>
                </a:spcAft>
              </a:pPr>
              <a:r>
                <a:rPr lang="en-US" sz="2400">
                  <a:solidFill>
                    <a:prstClr val="white"/>
                  </a:solidFill>
                </a:rPr>
                <a:t>Network</a:t>
              </a:r>
              <a:endParaRPr lang="en-US">
                <a:solidFill>
                  <a:prstClr val="white"/>
                </a:solidFill>
              </a:endParaRPr>
            </a:p>
          </p:txBody>
        </p:sp>
        <p:sp>
          <p:nvSpPr>
            <p:cNvPr id="1049309" name="Rectangle 48"/>
            <p:cNvSpPr/>
            <p:nvPr/>
          </p:nvSpPr>
          <p:spPr>
            <a:xfrm>
              <a:off x="2743200" y="4864100"/>
              <a:ext cx="762000" cy="514350"/>
            </a:xfrm>
            <a:prstGeom prst="rect">
              <a:avLst/>
            </a:prstGeom>
            <a:solidFill>
              <a:schemeClr val="bg2"/>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base">
                <a:spcBef>
                  <a:spcPct val="0"/>
                </a:spcBef>
                <a:spcAft>
                  <a:spcPct val="0"/>
                </a:spcAft>
              </a:pPr>
              <a:r>
                <a:rPr lang="en-US" sz="2400">
                  <a:solidFill>
                    <a:prstClr val="white"/>
                  </a:solidFill>
                </a:rPr>
                <a:t>D.L.</a:t>
              </a:r>
              <a:endParaRPr lang="en-US">
                <a:solidFill>
                  <a:prstClr val="white"/>
                </a:solidFill>
              </a:endParaRPr>
            </a:p>
          </p:txBody>
        </p:sp>
        <p:sp>
          <p:nvSpPr>
            <p:cNvPr id="1049310" name="Rectangle 50"/>
            <p:cNvSpPr/>
            <p:nvPr/>
          </p:nvSpPr>
          <p:spPr>
            <a:xfrm>
              <a:off x="2743200" y="5365750"/>
              <a:ext cx="762000" cy="533400"/>
            </a:xfrm>
            <a:prstGeom prst="rect">
              <a:avLst/>
            </a:prstGeom>
            <a:solidFill>
              <a:srgbClr val="080808"/>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base">
                <a:spcBef>
                  <a:spcPct val="0"/>
                </a:spcBef>
                <a:spcAft>
                  <a:spcPct val="0"/>
                </a:spcAft>
              </a:pPr>
              <a:r>
                <a:rPr lang="en-US" sz="2400">
                  <a:solidFill>
                    <a:prstClr val="white"/>
                  </a:solidFill>
                </a:rPr>
                <a:t>P.L.</a:t>
              </a:r>
              <a:endParaRPr lang="en-US">
                <a:solidFill>
                  <a:prstClr val="white"/>
                </a:solidFill>
              </a:endParaRPr>
            </a:p>
          </p:txBody>
        </p:sp>
        <p:sp>
          <p:nvSpPr>
            <p:cNvPr id="1049311" name="Rectangle 55"/>
            <p:cNvSpPr/>
            <p:nvPr/>
          </p:nvSpPr>
          <p:spPr>
            <a:xfrm>
              <a:off x="3657600" y="4864100"/>
              <a:ext cx="762000" cy="514350"/>
            </a:xfrm>
            <a:prstGeom prst="rect">
              <a:avLst/>
            </a:prstGeom>
            <a:solidFill>
              <a:schemeClr val="bg2"/>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base">
                <a:spcBef>
                  <a:spcPct val="0"/>
                </a:spcBef>
                <a:spcAft>
                  <a:spcPct val="0"/>
                </a:spcAft>
              </a:pPr>
              <a:r>
                <a:rPr lang="en-US" sz="2400">
                  <a:solidFill>
                    <a:prstClr val="white"/>
                  </a:solidFill>
                </a:rPr>
                <a:t>D.L.</a:t>
              </a:r>
              <a:endParaRPr lang="en-US">
                <a:solidFill>
                  <a:prstClr val="white"/>
                </a:solidFill>
              </a:endParaRPr>
            </a:p>
          </p:txBody>
        </p:sp>
        <p:sp>
          <p:nvSpPr>
            <p:cNvPr id="1049312" name="Rectangle 56"/>
            <p:cNvSpPr/>
            <p:nvPr/>
          </p:nvSpPr>
          <p:spPr>
            <a:xfrm>
              <a:off x="3657600" y="5365750"/>
              <a:ext cx="762000" cy="533400"/>
            </a:xfrm>
            <a:prstGeom prst="rect">
              <a:avLst/>
            </a:prstGeom>
            <a:solidFill>
              <a:srgbClr val="080808"/>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base">
                <a:spcBef>
                  <a:spcPct val="0"/>
                </a:spcBef>
                <a:spcAft>
                  <a:spcPct val="0"/>
                </a:spcAft>
              </a:pPr>
              <a:r>
                <a:rPr lang="en-US" sz="2400">
                  <a:solidFill>
                    <a:prstClr val="white"/>
                  </a:solidFill>
                </a:rPr>
                <a:t>P.L.</a:t>
              </a:r>
              <a:endParaRPr lang="en-US">
                <a:solidFill>
                  <a:prstClr val="white"/>
                </a:solidFill>
              </a:endParaRPr>
            </a:p>
          </p:txBody>
        </p:sp>
      </p:grpSp>
      <p:sp>
        <p:nvSpPr>
          <p:cNvPr id="1049313" name="Rectangle 2"/>
          <p:cNvSpPr>
            <a:spLocks noGrp="1" noChangeArrowheads="1"/>
          </p:cNvSpPr>
          <p:nvPr>
            <p:ph type="title"/>
          </p:nvPr>
        </p:nvSpPr>
        <p:spPr>
          <a:xfrm>
            <a:off x="457200" y="457200"/>
            <a:ext cx="8229600" cy="482600"/>
          </a:xfrm>
        </p:spPr>
        <p:txBody>
          <a:bodyPr/>
          <a:lstStyle/>
          <a:p>
            <a:pPr eaLnBrk="1" hangingPunct="1"/>
            <a:r>
              <a:rPr lang="en-US" sz="2800" b="1">
                <a:latin typeface="Times New Roman" panose="02020603050405020304" pitchFamily="18" charset="0"/>
                <a:cs typeface="Times New Roman" panose="02020603050405020304" pitchFamily="18" charset="0"/>
              </a:rPr>
              <a:t>INTERNET MODEL</a:t>
            </a:r>
          </a:p>
        </p:txBody>
      </p:sp>
      <p:sp>
        <p:nvSpPr>
          <p:cNvPr id="1049314" name="Slide Number Placeholder 5"/>
          <p:cNvSpPr>
            <a:spLocks noGrp="1"/>
          </p:cNvSpPr>
          <p:nvPr>
            <p:ph type="sldNum" sz="quarter" idx="7"/>
          </p:nvPr>
        </p:nvSpPr>
        <p:spPr/>
        <p:txBody>
          <a:bodyPr/>
          <a:lstStyle/>
          <a:p>
            <a:fld id="{95121B49-0B95-459F-A682-51AA779EC5C5}" type="slidenum">
              <a:rPr lang="en-US"/>
              <a:t>61</a:t>
            </a:fld>
            <a:endParaRPr lang="en-US"/>
          </a:p>
        </p:txBody>
      </p:sp>
      <p:graphicFrame>
        <p:nvGraphicFramePr>
          <p:cNvPr id="4194305" name="Group 4"/>
          <p:cNvGraphicFramePr>
            <a:graphicFrameLocks noGrp="1"/>
          </p:cNvGraphicFramePr>
          <p:nvPr>
            <p:ph idx="4294967295"/>
          </p:nvPr>
        </p:nvGraphicFramePr>
        <p:xfrm>
          <a:off x="0" y="3305175"/>
          <a:ext cx="1676400" cy="2590801"/>
        </p:xfrm>
        <a:graphic>
          <a:graphicData uri="http://schemas.openxmlformats.org/drawingml/2006/table">
            <a:tbl>
              <a:tblPr/>
              <a:tblGrid>
                <a:gridCol w="1676400">
                  <a:extLst>
                    <a:ext uri="{9D8B030D-6E8A-4147-A177-3AD203B41FA5}">
                      <a16:colId xmlns:a16="http://schemas.microsoft.com/office/drawing/2014/main" val="20000"/>
                    </a:ext>
                  </a:extLst>
                </a:gridCol>
              </a:tblGrid>
              <a:tr h="519113">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65000"/>
                        <a:buFont typeface="Wingdings" panose="05000000000000000000" pitchFamily="2" charset="2"/>
                        <a:buNone/>
                      </a:pPr>
                      <a:r>
                        <a:rPr kumimoji="0" lang="en-US" sz="2400" b="0" i="0" u="none" strike="noStrike" cap="none" normalizeH="0" baseline="0">
                          <a:ln>
                            <a:noFill/>
                          </a:ln>
                          <a:solidFill>
                            <a:schemeClr val="tx1"/>
                          </a:solidFill>
                          <a:effectLst>
                            <a:outerShdw blurRad="38100" dist="38100" dir="2700000" algn="tl">
                              <a:srgbClr val="000000"/>
                            </a:outerShdw>
                          </a:effectLst>
                          <a:latin typeface="Tahoma" panose="020B0604030504040204" pitchFamily="34" charset="0"/>
                          <a:cs typeface="Arial" panose="020B0604020202020204" pitchFamily="34" charset="0"/>
                        </a:rPr>
                        <a:t>Application</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headEnd type="none" w="med" len="med"/>
                      <a:tailEnd type="none" w="med" len="med"/>
                    </a:lnTlToBr>
                    <a:lnBlToTr>
                      <a:noFill/>
                      <a:headEnd type="none" w="med" len="med"/>
                      <a:tailEnd type="none" w="med" len="med"/>
                    </a:lnBlToTr>
                    <a:solidFill>
                      <a:schemeClr val="accent1"/>
                    </a:solidFill>
                  </a:tcPr>
                </a:tc>
                <a:extLst>
                  <a:ext uri="{0D108BD9-81ED-4DB2-BD59-A6C34878D82A}">
                    <a16:rowId xmlns:a16="http://schemas.microsoft.com/office/drawing/2014/main" val="10000"/>
                  </a:ext>
                </a:extLst>
              </a:tr>
              <a:tr h="517525">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65000"/>
                        <a:buFont typeface="Wingdings" panose="05000000000000000000" pitchFamily="2" charset="2"/>
                        <a:buNone/>
                      </a:pPr>
                      <a:r>
                        <a:rPr kumimoji="0" lang="en-US" sz="2400" b="0" i="0" u="none" strike="noStrike" cap="none" normalizeH="0" baseline="0">
                          <a:ln>
                            <a:noFill/>
                          </a:ln>
                          <a:solidFill>
                            <a:schemeClr val="tx1"/>
                          </a:solidFill>
                          <a:effectLst>
                            <a:outerShdw blurRad="38100" dist="38100" dir="2700000" algn="tl">
                              <a:srgbClr val="000000"/>
                            </a:outerShdw>
                          </a:effectLst>
                          <a:latin typeface="Tahoma" panose="020B0604030504040204" pitchFamily="34" charset="0"/>
                          <a:cs typeface="Arial" panose="020B0604020202020204" pitchFamily="34" charset="0"/>
                        </a:rPr>
                        <a:t>Transport</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headEnd type="none" w="med" len="med"/>
                      <a:tailEnd type="none" w="med" len="med"/>
                    </a:lnTlToBr>
                    <a:lnBlToTr>
                      <a:noFill/>
                      <a:headEnd type="none" w="med" len="med"/>
                      <a:tailEnd type="none" w="med" len="med"/>
                    </a:lnBlToTr>
                    <a:solidFill>
                      <a:schemeClr val="accent2"/>
                    </a:solidFill>
                  </a:tcPr>
                </a:tc>
                <a:extLst>
                  <a:ext uri="{0D108BD9-81ED-4DB2-BD59-A6C34878D82A}">
                    <a16:rowId xmlns:a16="http://schemas.microsoft.com/office/drawing/2014/main" val="10001"/>
                  </a:ext>
                </a:extLst>
              </a:tr>
              <a:tr h="517525">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65000"/>
                        <a:buFont typeface="Wingdings" panose="05000000000000000000" pitchFamily="2" charset="2"/>
                        <a:buNone/>
                      </a:pPr>
                      <a:r>
                        <a:rPr kumimoji="0" lang="en-US" sz="2400" b="0" i="0" u="none" strike="noStrike" cap="none" normalizeH="0" baseline="0">
                          <a:ln>
                            <a:noFill/>
                          </a:ln>
                          <a:solidFill>
                            <a:schemeClr val="tx1"/>
                          </a:solidFill>
                          <a:effectLst>
                            <a:outerShdw blurRad="38100" dist="38100" dir="2700000" algn="tl">
                              <a:srgbClr val="000000"/>
                            </a:outerShdw>
                          </a:effectLst>
                          <a:latin typeface="Tahoma" panose="020B0604030504040204" pitchFamily="34" charset="0"/>
                          <a:cs typeface="Arial" panose="020B0604020202020204" pitchFamily="34" charset="0"/>
                        </a:rPr>
                        <a:t>Network</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headEnd type="none" w="med" len="med"/>
                      <a:tailEnd type="none" w="med" len="med"/>
                    </a:lnTlToBr>
                    <a:lnBlToTr>
                      <a:noFill/>
                      <a:headEnd type="none" w="med" len="med"/>
                      <a:tailEnd type="none" w="med" len="med"/>
                    </a:lnBlToTr>
                    <a:solidFill>
                      <a:schemeClr val="bg1"/>
                    </a:solidFill>
                  </a:tcPr>
                </a:tc>
                <a:extLst>
                  <a:ext uri="{0D108BD9-81ED-4DB2-BD59-A6C34878D82A}">
                    <a16:rowId xmlns:a16="http://schemas.microsoft.com/office/drawing/2014/main" val="10002"/>
                  </a:ext>
                </a:extLst>
              </a:tr>
              <a:tr h="517525">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65000"/>
                        <a:buFont typeface="Wingdings" panose="05000000000000000000" pitchFamily="2" charset="2"/>
                        <a:buNone/>
                      </a:pPr>
                      <a:r>
                        <a:rPr kumimoji="0" lang="en-US" sz="2400" b="0" i="0" u="none" strike="noStrike" cap="none" normalizeH="0" baseline="0">
                          <a:ln>
                            <a:noFill/>
                          </a:ln>
                          <a:solidFill>
                            <a:schemeClr val="tx1"/>
                          </a:solidFill>
                          <a:effectLst>
                            <a:outerShdw blurRad="38100" dist="38100" dir="2700000" algn="tl">
                              <a:srgbClr val="000000"/>
                            </a:outerShdw>
                          </a:effectLst>
                          <a:latin typeface="Tahoma" panose="020B0604030504040204" pitchFamily="34" charset="0"/>
                          <a:cs typeface="Arial" panose="020B0604020202020204" pitchFamily="34" charset="0"/>
                        </a:rPr>
                        <a:t>Data Link</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headEnd type="none" w="med" len="med"/>
                      <a:tailEnd type="none" w="med" len="med"/>
                    </a:lnTlToBr>
                    <a:lnBlToTr>
                      <a:noFill/>
                      <a:headEnd type="none" w="med" len="med"/>
                      <a:tailEnd type="none" w="med" len="med"/>
                    </a:lnBlToTr>
                    <a:solidFill>
                      <a:schemeClr val="bg2"/>
                    </a:solidFill>
                  </a:tcPr>
                </a:tc>
                <a:extLst>
                  <a:ext uri="{0D108BD9-81ED-4DB2-BD59-A6C34878D82A}">
                    <a16:rowId xmlns:a16="http://schemas.microsoft.com/office/drawing/2014/main" val="10003"/>
                  </a:ext>
                </a:extLst>
              </a:tr>
              <a:tr h="519113">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65000"/>
                        <a:buFont typeface="Wingdings" panose="05000000000000000000" pitchFamily="2" charset="2"/>
                        <a:buNone/>
                      </a:pPr>
                      <a:r>
                        <a:rPr kumimoji="0" lang="en-US" sz="2400" b="0" i="0" u="none" strike="noStrike" cap="none" normalizeH="0" baseline="0">
                          <a:ln>
                            <a:noFill/>
                          </a:ln>
                          <a:solidFill>
                            <a:schemeClr val="tx1"/>
                          </a:solidFill>
                          <a:effectLst>
                            <a:outerShdw blurRad="38100" dist="38100" dir="2700000" algn="tl">
                              <a:srgbClr val="003366"/>
                            </a:outerShdw>
                          </a:effectLst>
                          <a:latin typeface="Tahoma" panose="020B0604030504040204" pitchFamily="34" charset="0"/>
                          <a:cs typeface="Arial" panose="020B0604020202020204" pitchFamily="34" charset="0"/>
                        </a:rPr>
                        <a:t>Physical</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headEnd type="none" w="med" len="med"/>
                      <a:tailEnd type="none" w="med" len="med"/>
                    </a:lnTlToBr>
                    <a:lnBlToTr>
                      <a:noFill/>
                      <a:headEnd type="none" w="med" len="med"/>
                      <a:tailEnd type="none" w="med" len="med"/>
                    </a:lnBlToTr>
                    <a:solidFill>
                      <a:srgbClr val="080808"/>
                    </a:solidFill>
                  </a:tcPr>
                </a:tc>
                <a:extLst>
                  <a:ext uri="{0D108BD9-81ED-4DB2-BD59-A6C34878D82A}">
                    <a16:rowId xmlns:a16="http://schemas.microsoft.com/office/drawing/2014/main" val="10004"/>
                  </a:ext>
                </a:extLst>
              </a:tr>
            </a:tbl>
          </a:graphicData>
        </a:graphic>
      </p:graphicFrame>
      <p:sp>
        <p:nvSpPr>
          <p:cNvPr id="1049315" name="Cloud"/>
          <p:cNvSpPr>
            <a:spLocks noChangeAspect="1" noEditPoints="1" noChangeArrowheads="1"/>
          </p:cNvSpPr>
          <p:nvPr/>
        </p:nvSpPr>
        <p:spPr bwMode="auto">
          <a:xfrm>
            <a:off x="2362200" y="1295400"/>
            <a:ext cx="4876800" cy="1981200"/>
          </a:xfrm>
          <a:custGeom>
            <a:avLst/>
            <a:gdLst>
              <a:gd name="T0" fmla="*/ 67 w 21600"/>
              <a:gd name="T1" fmla="*/ 10800 h 21600"/>
              <a:gd name="T2" fmla="*/ 10800 w 21600"/>
              <a:gd name="T3" fmla="*/ 21577 h 21600"/>
              <a:gd name="T4" fmla="*/ 21582 w 21600"/>
              <a:gd name="T5" fmla="*/ 10800 h 21600"/>
              <a:gd name="T6" fmla="*/ 10800 w 21600"/>
              <a:gd name="T7" fmla="*/ 1235 h 21600"/>
              <a:gd name="T8" fmla="*/ 2977 w 21600"/>
              <a:gd name="T9" fmla="*/ 3262 h 21600"/>
              <a:gd name="T10" fmla="*/ 17087 w 21600"/>
              <a:gd name="T11" fmla="*/ 17337 h 21600"/>
            </a:gdLst>
            <a:ahLst/>
            <a:cxnLst>
              <a:cxn ang="0">
                <a:pos x="T0" y="T1"/>
              </a:cxn>
              <a:cxn ang="0">
                <a:pos x="T2" y="T3"/>
              </a:cxn>
              <a:cxn ang="0">
                <a:pos x="T4" y="T5"/>
              </a:cxn>
              <a:cxn ang="0">
                <a:pos x="T6" y="T7"/>
              </a:cxn>
            </a:cxnLst>
            <a:rect l="T8" t="T9" r="T10" b="T11"/>
            <a:pathLst>
              <a:path w="21600" h="21600" extrusionOk="0">
                <a:moveTo>
                  <a:pt x="1949" y="7180"/>
                </a:moveTo>
                <a:cubicBezTo>
                  <a:pt x="841" y="7336"/>
                  <a:pt x="0" y="8613"/>
                  <a:pt x="0" y="10137"/>
                </a:cubicBezTo>
                <a:cubicBezTo>
                  <a:pt x="-1" y="11192"/>
                  <a:pt x="409" y="12169"/>
                  <a:pt x="1074" y="12702"/>
                </a:cubicBezTo>
                <a:lnTo>
                  <a:pt x="1063" y="12668"/>
                </a:lnTo>
                <a:cubicBezTo>
                  <a:pt x="685" y="13217"/>
                  <a:pt x="475" y="13940"/>
                  <a:pt x="475" y="14690"/>
                </a:cubicBezTo>
                <a:cubicBezTo>
                  <a:pt x="475" y="16325"/>
                  <a:pt x="1451" y="17650"/>
                  <a:pt x="2655" y="17650"/>
                </a:cubicBezTo>
                <a:cubicBezTo>
                  <a:pt x="2739" y="17650"/>
                  <a:pt x="2824" y="17643"/>
                  <a:pt x="2909" y="17629"/>
                </a:cubicBezTo>
                <a:lnTo>
                  <a:pt x="2897" y="17649"/>
                </a:lnTo>
                <a:cubicBezTo>
                  <a:pt x="3585" y="19288"/>
                  <a:pt x="4863" y="20300"/>
                  <a:pt x="6247" y="20300"/>
                </a:cubicBezTo>
                <a:cubicBezTo>
                  <a:pt x="6947" y="20299"/>
                  <a:pt x="7635" y="20039"/>
                  <a:pt x="8235" y="19546"/>
                </a:cubicBezTo>
                <a:lnTo>
                  <a:pt x="8229" y="19550"/>
                </a:lnTo>
                <a:cubicBezTo>
                  <a:pt x="8855" y="20829"/>
                  <a:pt x="9908" y="21597"/>
                  <a:pt x="11036" y="21597"/>
                </a:cubicBezTo>
                <a:cubicBezTo>
                  <a:pt x="12523" y="21596"/>
                  <a:pt x="13836" y="20267"/>
                  <a:pt x="14267" y="18324"/>
                </a:cubicBezTo>
                <a:lnTo>
                  <a:pt x="14270" y="18350"/>
                </a:lnTo>
                <a:cubicBezTo>
                  <a:pt x="14730" y="18740"/>
                  <a:pt x="15260" y="18947"/>
                  <a:pt x="15802" y="18947"/>
                </a:cubicBezTo>
                <a:cubicBezTo>
                  <a:pt x="17390" y="18946"/>
                  <a:pt x="18682" y="17205"/>
                  <a:pt x="18694" y="15045"/>
                </a:cubicBezTo>
                <a:lnTo>
                  <a:pt x="18689" y="15035"/>
                </a:lnTo>
                <a:cubicBezTo>
                  <a:pt x="20357" y="14710"/>
                  <a:pt x="21597" y="12765"/>
                  <a:pt x="21597" y="10472"/>
                </a:cubicBezTo>
                <a:cubicBezTo>
                  <a:pt x="21597" y="9456"/>
                  <a:pt x="21350" y="8469"/>
                  <a:pt x="20896" y="7663"/>
                </a:cubicBezTo>
                <a:lnTo>
                  <a:pt x="20889" y="7661"/>
                </a:lnTo>
                <a:cubicBezTo>
                  <a:pt x="21031" y="7208"/>
                  <a:pt x="21105" y="6721"/>
                  <a:pt x="21105" y="6228"/>
                </a:cubicBezTo>
                <a:cubicBezTo>
                  <a:pt x="21105" y="4588"/>
                  <a:pt x="20299" y="3150"/>
                  <a:pt x="19139" y="2719"/>
                </a:cubicBezTo>
                <a:lnTo>
                  <a:pt x="19148" y="2712"/>
                </a:lnTo>
                <a:cubicBezTo>
                  <a:pt x="18940" y="1142"/>
                  <a:pt x="17933" y="0"/>
                  <a:pt x="16758" y="0"/>
                </a:cubicBezTo>
                <a:cubicBezTo>
                  <a:pt x="16044" y="-1"/>
                  <a:pt x="15367" y="426"/>
                  <a:pt x="14905" y="1165"/>
                </a:cubicBezTo>
                <a:lnTo>
                  <a:pt x="14909" y="1170"/>
                </a:lnTo>
                <a:cubicBezTo>
                  <a:pt x="14497" y="432"/>
                  <a:pt x="13855" y="0"/>
                  <a:pt x="13174" y="0"/>
                </a:cubicBezTo>
                <a:cubicBezTo>
                  <a:pt x="12347" y="-1"/>
                  <a:pt x="11590" y="637"/>
                  <a:pt x="11221" y="1645"/>
                </a:cubicBezTo>
                <a:lnTo>
                  <a:pt x="11229" y="1694"/>
                </a:lnTo>
                <a:cubicBezTo>
                  <a:pt x="10730" y="1024"/>
                  <a:pt x="10058" y="650"/>
                  <a:pt x="9358" y="650"/>
                </a:cubicBezTo>
                <a:cubicBezTo>
                  <a:pt x="8372" y="649"/>
                  <a:pt x="7466" y="1391"/>
                  <a:pt x="7003" y="2578"/>
                </a:cubicBezTo>
                <a:lnTo>
                  <a:pt x="6995" y="2602"/>
                </a:lnTo>
                <a:cubicBezTo>
                  <a:pt x="6477" y="2189"/>
                  <a:pt x="5888" y="1972"/>
                  <a:pt x="5288" y="1972"/>
                </a:cubicBezTo>
                <a:cubicBezTo>
                  <a:pt x="3423" y="1972"/>
                  <a:pt x="1912" y="4029"/>
                  <a:pt x="1912" y="6567"/>
                </a:cubicBezTo>
                <a:cubicBezTo>
                  <a:pt x="1911" y="6774"/>
                  <a:pt x="1922" y="6981"/>
                  <a:pt x="1942" y="7186"/>
                </a:cubicBezTo>
                <a:close/>
              </a:path>
              <a:path w="21600" h="21600" fill="none" extrusionOk="0">
                <a:moveTo>
                  <a:pt x="1074" y="12702"/>
                </a:moveTo>
                <a:cubicBezTo>
                  <a:pt x="1407" y="12969"/>
                  <a:pt x="1786" y="13110"/>
                  <a:pt x="2172" y="13110"/>
                </a:cubicBezTo>
                <a:cubicBezTo>
                  <a:pt x="2228" y="13109"/>
                  <a:pt x="2285" y="13107"/>
                  <a:pt x="2341" y="13101"/>
                </a:cubicBezTo>
              </a:path>
              <a:path w="21600" h="21600" fill="none" extrusionOk="0">
                <a:moveTo>
                  <a:pt x="2909" y="17629"/>
                </a:moveTo>
                <a:cubicBezTo>
                  <a:pt x="3099" y="17599"/>
                  <a:pt x="3285" y="17535"/>
                  <a:pt x="3463" y="17439"/>
                </a:cubicBezTo>
              </a:path>
              <a:path w="21600" h="21600" fill="none" extrusionOk="0">
                <a:moveTo>
                  <a:pt x="7895" y="18680"/>
                </a:moveTo>
                <a:cubicBezTo>
                  <a:pt x="7983" y="18985"/>
                  <a:pt x="8095" y="19277"/>
                  <a:pt x="8229" y="19550"/>
                </a:cubicBezTo>
              </a:path>
              <a:path w="21600" h="21600" fill="none" extrusionOk="0">
                <a:moveTo>
                  <a:pt x="14267" y="18324"/>
                </a:moveTo>
                <a:cubicBezTo>
                  <a:pt x="14336" y="18013"/>
                  <a:pt x="14380" y="17693"/>
                  <a:pt x="14400" y="17370"/>
                </a:cubicBezTo>
              </a:path>
              <a:path w="21600" h="21600" fill="none" extrusionOk="0">
                <a:moveTo>
                  <a:pt x="18694" y="15045"/>
                </a:moveTo>
                <a:cubicBezTo>
                  <a:pt x="18694" y="15034"/>
                  <a:pt x="18695" y="15024"/>
                  <a:pt x="18695" y="15013"/>
                </a:cubicBezTo>
                <a:cubicBezTo>
                  <a:pt x="18695" y="13508"/>
                  <a:pt x="18063" y="12136"/>
                  <a:pt x="17069" y="11477"/>
                </a:cubicBezTo>
              </a:path>
              <a:path w="21600" h="21600" fill="none" extrusionOk="0">
                <a:moveTo>
                  <a:pt x="20165" y="8999"/>
                </a:moveTo>
                <a:cubicBezTo>
                  <a:pt x="20479" y="8635"/>
                  <a:pt x="20726" y="8177"/>
                  <a:pt x="20889" y="7661"/>
                </a:cubicBezTo>
              </a:path>
              <a:path w="21600" h="21600" fill="none" extrusionOk="0">
                <a:moveTo>
                  <a:pt x="19186" y="3344"/>
                </a:moveTo>
                <a:cubicBezTo>
                  <a:pt x="19186" y="3328"/>
                  <a:pt x="19187" y="3313"/>
                  <a:pt x="19187" y="3297"/>
                </a:cubicBezTo>
                <a:cubicBezTo>
                  <a:pt x="19187" y="3101"/>
                  <a:pt x="19174" y="2905"/>
                  <a:pt x="19148" y="2712"/>
                </a:cubicBezTo>
              </a:path>
              <a:path w="21600" h="21600" fill="none" extrusionOk="0">
                <a:moveTo>
                  <a:pt x="14905" y="1165"/>
                </a:moveTo>
                <a:cubicBezTo>
                  <a:pt x="14754" y="1408"/>
                  <a:pt x="14629" y="1679"/>
                  <a:pt x="14535" y="1971"/>
                </a:cubicBezTo>
              </a:path>
              <a:path w="21600" h="21600" fill="none" extrusionOk="0">
                <a:moveTo>
                  <a:pt x="11221" y="1645"/>
                </a:moveTo>
                <a:cubicBezTo>
                  <a:pt x="11140" y="1866"/>
                  <a:pt x="11080" y="2099"/>
                  <a:pt x="11041" y="2340"/>
                </a:cubicBezTo>
              </a:path>
              <a:path w="21600" h="21600" fill="none" extrusionOk="0">
                <a:moveTo>
                  <a:pt x="7645" y="3276"/>
                </a:moveTo>
                <a:cubicBezTo>
                  <a:pt x="7449" y="3016"/>
                  <a:pt x="7231" y="2790"/>
                  <a:pt x="6995" y="2602"/>
                </a:cubicBezTo>
              </a:path>
              <a:path w="21600" h="21600" fill="none" extrusionOk="0">
                <a:moveTo>
                  <a:pt x="1942" y="7186"/>
                </a:moveTo>
                <a:cubicBezTo>
                  <a:pt x="1966" y="7426"/>
                  <a:pt x="2004" y="7663"/>
                  <a:pt x="2056" y="7895"/>
                </a:cubicBezTo>
              </a:path>
            </a:pathLst>
          </a:custGeom>
          <a:gradFill rotWithShape="1">
            <a:gsLst>
              <a:gs pos="0">
                <a:schemeClr val="tx1"/>
              </a:gs>
              <a:gs pos="50000">
                <a:schemeClr val="tx1">
                  <a:gamma/>
                  <a:shade val="46275"/>
                  <a:invGamma/>
                </a:schemeClr>
              </a:gs>
              <a:gs pos="100000">
                <a:schemeClr val="tx1"/>
              </a:gs>
            </a:gsLst>
            <a:lin ang="2700000" scaled="1"/>
          </a:gradFill>
          <a:ln w="38100">
            <a:solidFill>
              <a:schemeClr val="tx1"/>
            </a:solidFill>
            <a:miter lim="800000"/>
          </a:ln>
          <a:effectLst/>
        </p:spPr>
        <p:txBody>
          <a:bodyPr/>
          <a:lstStyle/>
          <a:p>
            <a:pPr fontAlgn="base">
              <a:spcBef>
                <a:spcPct val="0"/>
              </a:spcBef>
              <a:spcAft>
                <a:spcPct val="0"/>
              </a:spcAft>
            </a:pPr>
            <a:endParaRPr lang="en-US">
              <a:solidFill>
                <a:prstClr val="black"/>
              </a:solidFill>
              <a:latin typeface="Tahoma" panose="020B0604030504040204" pitchFamily="34" charset="0"/>
              <a:cs typeface="Arial" panose="020B0604020202020204" pitchFamily="34" charset="0"/>
            </a:endParaRPr>
          </a:p>
        </p:txBody>
      </p:sp>
      <p:sp>
        <p:nvSpPr>
          <p:cNvPr id="1049316" name="Line 129"/>
          <p:cNvSpPr>
            <a:spLocks noChangeShapeType="1"/>
          </p:cNvSpPr>
          <p:nvPr/>
        </p:nvSpPr>
        <p:spPr bwMode="auto">
          <a:xfrm flipV="1">
            <a:off x="1447800" y="1905000"/>
            <a:ext cx="2209800" cy="762000"/>
          </a:xfrm>
          <a:prstGeom prst="line">
            <a:avLst/>
          </a:prstGeom>
          <a:noFill/>
          <a:ln w="57150">
            <a:solidFill>
              <a:schemeClr val="folHlink"/>
            </a:solidFill>
            <a:round/>
          </a:ln>
        </p:spPr>
        <p:txBody>
          <a:bodyPr/>
          <a:lstStyle/>
          <a:p>
            <a:pPr fontAlgn="base">
              <a:spcBef>
                <a:spcPct val="0"/>
              </a:spcBef>
              <a:spcAft>
                <a:spcPct val="0"/>
              </a:spcAft>
            </a:pPr>
            <a:endParaRPr lang="en-US">
              <a:solidFill>
                <a:prstClr val="black"/>
              </a:solidFill>
              <a:latin typeface="Tahoma" panose="020B0604030504040204" pitchFamily="34" charset="0"/>
              <a:cs typeface="Arial" panose="020B0604020202020204" pitchFamily="34" charset="0"/>
            </a:endParaRPr>
          </a:p>
        </p:txBody>
      </p:sp>
      <p:sp>
        <p:nvSpPr>
          <p:cNvPr id="1049317" name="Line 130"/>
          <p:cNvSpPr>
            <a:spLocks noChangeShapeType="1"/>
          </p:cNvSpPr>
          <p:nvPr/>
        </p:nvSpPr>
        <p:spPr bwMode="auto">
          <a:xfrm>
            <a:off x="3657600" y="1905000"/>
            <a:ext cx="1905000" cy="533400"/>
          </a:xfrm>
          <a:prstGeom prst="line">
            <a:avLst/>
          </a:prstGeom>
          <a:noFill/>
          <a:ln w="57150">
            <a:solidFill>
              <a:schemeClr val="folHlink"/>
            </a:solidFill>
            <a:round/>
          </a:ln>
        </p:spPr>
        <p:txBody>
          <a:bodyPr/>
          <a:lstStyle/>
          <a:p>
            <a:pPr fontAlgn="base">
              <a:spcBef>
                <a:spcPct val="0"/>
              </a:spcBef>
              <a:spcAft>
                <a:spcPct val="0"/>
              </a:spcAft>
            </a:pPr>
            <a:endParaRPr lang="en-US">
              <a:solidFill>
                <a:prstClr val="black"/>
              </a:solidFill>
              <a:latin typeface="Tahoma" panose="020B0604030504040204" pitchFamily="34" charset="0"/>
              <a:cs typeface="Arial" panose="020B0604020202020204" pitchFamily="34" charset="0"/>
            </a:endParaRPr>
          </a:p>
        </p:txBody>
      </p:sp>
      <p:sp>
        <p:nvSpPr>
          <p:cNvPr id="1049318" name="Line 131"/>
          <p:cNvSpPr>
            <a:spLocks noChangeShapeType="1"/>
          </p:cNvSpPr>
          <p:nvPr/>
        </p:nvSpPr>
        <p:spPr bwMode="auto">
          <a:xfrm>
            <a:off x="5562600" y="2438400"/>
            <a:ext cx="2286000" cy="304800"/>
          </a:xfrm>
          <a:prstGeom prst="line">
            <a:avLst/>
          </a:prstGeom>
          <a:noFill/>
          <a:ln w="57150">
            <a:solidFill>
              <a:schemeClr val="folHlink"/>
            </a:solidFill>
            <a:round/>
          </a:ln>
        </p:spPr>
        <p:txBody>
          <a:bodyPr/>
          <a:lstStyle/>
          <a:p>
            <a:pPr fontAlgn="base">
              <a:spcBef>
                <a:spcPct val="0"/>
              </a:spcBef>
              <a:spcAft>
                <a:spcPct val="0"/>
              </a:spcAft>
            </a:pPr>
            <a:endParaRPr lang="en-US">
              <a:solidFill>
                <a:prstClr val="black"/>
              </a:solidFill>
              <a:latin typeface="Tahoma" panose="020B0604030504040204" pitchFamily="34" charset="0"/>
              <a:cs typeface="Arial" panose="020B0604020202020204" pitchFamily="34" charset="0"/>
            </a:endParaRPr>
          </a:p>
        </p:txBody>
      </p:sp>
      <p:graphicFrame>
        <p:nvGraphicFramePr>
          <p:cNvPr id="4194306" name="Group 78"/>
          <p:cNvGraphicFramePr>
            <a:graphicFrameLocks noGrp="1"/>
          </p:cNvGraphicFramePr>
          <p:nvPr/>
        </p:nvGraphicFramePr>
        <p:xfrm>
          <a:off x="7010400" y="3305175"/>
          <a:ext cx="1676400" cy="2590801"/>
        </p:xfrm>
        <a:graphic>
          <a:graphicData uri="http://schemas.openxmlformats.org/drawingml/2006/table">
            <a:tbl>
              <a:tblPr/>
              <a:tblGrid>
                <a:gridCol w="1676400">
                  <a:extLst>
                    <a:ext uri="{9D8B030D-6E8A-4147-A177-3AD203B41FA5}">
                      <a16:colId xmlns:a16="http://schemas.microsoft.com/office/drawing/2014/main" val="20000"/>
                    </a:ext>
                  </a:extLst>
                </a:gridCol>
              </a:tblGrid>
              <a:tr h="519113">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65000"/>
                        <a:buFont typeface="Wingdings" panose="05000000000000000000" pitchFamily="2" charset="2"/>
                        <a:buNone/>
                      </a:pPr>
                      <a:r>
                        <a:rPr kumimoji="0" lang="en-US" sz="2400" b="0" i="0" u="none" strike="noStrike" cap="none" normalizeH="0" baseline="0">
                          <a:ln>
                            <a:noFill/>
                          </a:ln>
                          <a:solidFill>
                            <a:schemeClr val="tx1"/>
                          </a:solidFill>
                          <a:effectLst>
                            <a:outerShdw blurRad="38100" dist="38100" dir="2700000" algn="tl">
                              <a:srgbClr val="000000"/>
                            </a:outerShdw>
                          </a:effectLst>
                          <a:latin typeface="Tahoma" panose="020B0604030504040204" pitchFamily="34" charset="0"/>
                          <a:cs typeface="Arial" panose="020B0604020202020204" pitchFamily="34" charset="0"/>
                        </a:rPr>
                        <a:t>Application</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headEnd type="none" w="med" len="med"/>
                      <a:tailEnd type="none" w="med" len="med"/>
                    </a:lnTlToBr>
                    <a:lnBlToTr>
                      <a:noFill/>
                      <a:headEnd type="none" w="med" len="med"/>
                      <a:tailEnd type="none" w="med" len="med"/>
                    </a:lnBlToTr>
                    <a:solidFill>
                      <a:schemeClr val="accent1"/>
                    </a:solidFill>
                  </a:tcPr>
                </a:tc>
                <a:extLst>
                  <a:ext uri="{0D108BD9-81ED-4DB2-BD59-A6C34878D82A}">
                    <a16:rowId xmlns:a16="http://schemas.microsoft.com/office/drawing/2014/main" val="10000"/>
                  </a:ext>
                </a:extLst>
              </a:tr>
              <a:tr h="517525">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65000"/>
                        <a:buFont typeface="Wingdings" panose="05000000000000000000" pitchFamily="2" charset="2"/>
                        <a:buNone/>
                      </a:pPr>
                      <a:r>
                        <a:rPr kumimoji="0" lang="en-US" sz="2400" b="0" i="0" u="none" strike="noStrike" cap="none" normalizeH="0" baseline="0">
                          <a:ln>
                            <a:noFill/>
                          </a:ln>
                          <a:solidFill>
                            <a:schemeClr val="tx1"/>
                          </a:solidFill>
                          <a:effectLst>
                            <a:outerShdw blurRad="38100" dist="38100" dir="2700000" algn="tl">
                              <a:srgbClr val="000000"/>
                            </a:outerShdw>
                          </a:effectLst>
                          <a:latin typeface="Tahoma" panose="020B0604030504040204" pitchFamily="34" charset="0"/>
                          <a:cs typeface="Arial" panose="020B0604020202020204" pitchFamily="34" charset="0"/>
                        </a:rPr>
                        <a:t>Transport</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headEnd type="none" w="med" len="med"/>
                      <a:tailEnd type="none" w="med" len="med"/>
                    </a:lnTlToBr>
                    <a:lnBlToTr>
                      <a:noFill/>
                      <a:headEnd type="none" w="med" len="med"/>
                      <a:tailEnd type="none" w="med" len="med"/>
                    </a:lnBlToTr>
                    <a:solidFill>
                      <a:schemeClr val="accent2"/>
                    </a:solidFill>
                  </a:tcPr>
                </a:tc>
                <a:extLst>
                  <a:ext uri="{0D108BD9-81ED-4DB2-BD59-A6C34878D82A}">
                    <a16:rowId xmlns:a16="http://schemas.microsoft.com/office/drawing/2014/main" val="10001"/>
                  </a:ext>
                </a:extLst>
              </a:tr>
              <a:tr h="517525">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65000"/>
                        <a:buFont typeface="Wingdings" panose="05000000000000000000" pitchFamily="2" charset="2"/>
                        <a:buNone/>
                      </a:pPr>
                      <a:r>
                        <a:rPr kumimoji="0" lang="en-US" sz="2400" b="0" i="0" u="none" strike="noStrike" cap="none" normalizeH="0" baseline="0">
                          <a:ln>
                            <a:noFill/>
                          </a:ln>
                          <a:solidFill>
                            <a:schemeClr val="tx1"/>
                          </a:solidFill>
                          <a:effectLst>
                            <a:outerShdw blurRad="38100" dist="38100" dir="2700000" algn="tl">
                              <a:srgbClr val="000000"/>
                            </a:outerShdw>
                          </a:effectLst>
                          <a:latin typeface="Tahoma" panose="020B0604030504040204" pitchFamily="34" charset="0"/>
                          <a:cs typeface="Arial" panose="020B0604020202020204" pitchFamily="34" charset="0"/>
                        </a:rPr>
                        <a:t>Network</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headEnd type="none" w="med" len="med"/>
                      <a:tailEnd type="none" w="med" len="med"/>
                    </a:lnTlToBr>
                    <a:lnBlToTr>
                      <a:noFill/>
                      <a:headEnd type="none" w="med" len="med"/>
                      <a:tailEnd type="none" w="med" len="med"/>
                    </a:lnBlToTr>
                    <a:solidFill>
                      <a:schemeClr val="bg1"/>
                    </a:solidFill>
                  </a:tcPr>
                </a:tc>
                <a:extLst>
                  <a:ext uri="{0D108BD9-81ED-4DB2-BD59-A6C34878D82A}">
                    <a16:rowId xmlns:a16="http://schemas.microsoft.com/office/drawing/2014/main" val="10002"/>
                  </a:ext>
                </a:extLst>
              </a:tr>
              <a:tr h="517525">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65000"/>
                        <a:buFont typeface="Wingdings" panose="05000000000000000000" pitchFamily="2" charset="2"/>
                        <a:buNone/>
                      </a:pPr>
                      <a:r>
                        <a:rPr kumimoji="0" lang="en-US" sz="2400" b="0" i="0" u="none" strike="noStrike" cap="none" normalizeH="0" baseline="0">
                          <a:ln>
                            <a:noFill/>
                          </a:ln>
                          <a:solidFill>
                            <a:schemeClr val="tx1"/>
                          </a:solidFill>
                          <a:effectLst>
                            <a:outerShdw blurRad="38100" dist="38100" dir="2700000" algn="tl">
                              <a:srgbClr val="000000"/>
                            </a:outerShdw>
                          </a:effectLst>
                          <a:latin typeface="Tahoma" panose="020B0604030504040204" pitchFamily="34" charset="0"/>
                          <a:cs typeface="Arial" panose="020B0604020202020204" pitchFamily="34" charset="0"/>
                        </a:rPr>
                        <a:t>Data Link</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headEnd type="none" w="med" len="med"/>
                      <a:tailEnd type="none" w="med" len="med"/>
                    </a:lnTlToBr>
                    <a:lnBlToTr>
                      <a:noFill/>
                      <a:headEnd type="none" w="med" len="med"/>
                      <a:tailEnd type="none" w="med" len="med"/>
                    </a:lnBlToTr>
                    <a:solidFill>
                      <a:schemeClr val="bg2"/>
                    </a:solidFill>
                  </a:tcPr>
                </a:tc>
                <a:extLst>
                  <a:ext uri="{0D108BD9-81ED-4DB2-BD59-A6C34878D82A}">
                    <a16:rowId xmlns:a16="http://schemas.microsoft.com/office/drawing/2014/main" val="10003"/>
                  </a:ext>
                </a:extLst>
              </a:tr>
              <a:tr h="519113">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65000"/>
                        <a:buFont typeface="Wingdings" panose="05000000000000000000" pitchFamily="2" charset="2"/>
                        <a:buNone/>
                      </a:pPr>
                      <a:r>
                        <a:rPr kumimoji="0" lang="en-US" sz="2400" b="0" i="0" u="none" strike="noStrike" cap="none" normalizeH="0" baseline="0">
                          <a:ln>
                            <a:noFill/>
                          </a:ln>
                          <a:solidFill>
                            <a:schemeClr val="tx1"/>
                          </a:solidFill>
                          <a:effectLst>
                            <a:outerShdw blurRad="38100" dist="38100" dir="2700000" algn="tl">
                              <a:srgbClr val="003366"/>
                            </a:outerShdw>
                          </a:effectLst>
                          <a:latin typeface="Tahoma" panose="020B0604030504040204" pitchFamily="34" charset="0"/>
                          <a:cs typeface="Arial" panose="020B0604020202020204" pitchFamily="34" charset="0"/>
                        </a:rPr>
                        <a:t>Physical</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headEnd type="none" w="med" len="med"/>
                      <a:tailEnd type="none" w="med" len="med"/>
                    </a:lnTlToBr>
                    <a:lnBlToTr>
                      <a:noFill/>
                      <a:headEnd type="none" w="med" len="med"/>
                      <a:tailEnd type="none" w="med" len="med"/>
                    </a:lnBlToTr>
                    <a:solidFill>
                      <a:srgbClr val="080808"/>
                    </a:solidFill>
                  </a:tcPr>
                </a:tc>
                <a:extLst>
                  <a:ext uri="{0D108BD9-81ED-4DB2-BD59-A6C34878D82A}">
                    <a16:rowId xmlns:a16="http://schemas.microsoft.com/office/drawing/2014/main" val="10004"/>
                  </a:ext>
                </a:extLst>
              </a:tr>
            </a:tbl>
          </a:graphicData>
        </a:graphic>
      </p:graphicFrame>
      <p:sp>
        <p:nvSpPr>
          <p:cNvPr id="1049319" name="Rectangle 94"/>
          <p:cNvSpPr>
            <a:spLocks noChangeArrowheads="1"/>
          </p:cNvSpPr>
          <p:nvPr/>
        </p:nvSpPr>
        <p:spPr bwMode="auto">
          <a:xfrm>
            <a:off x="1143000" y="6034088"/>
            <a:ext cx="2209800" cy="304800"/>
          </a:xfrm>
          <a:prstGeom prst="rect">
            <a:avLst/>
          </a:prstGeom>
          <a:gradFill rotWithShape="1">
            <a:gsLst>
              <a:gs pos="0">
                <a:schemeClr val="folHlink">
                  <a:gamma/>
                  <a:shade val="46275"/>
                  <a:invGamma/>
                </a:schemeClr>
              </a:gs>
              <a:gs pos="50000">
                <a:schemeClr val="folHlink"/>
              </a:gs>
              <a:gs pos="100000">
                <a:schemeClr val="folHlink">
                  <a:gamma/>
                  <a:shade val="46275"/>
                  <a:invGamma/>
                </a:schemeClr>
              </a:gs>
            </a:gsLst>
            <a:lin ang="5400000" scaled="1"/>
          </a:gradFill>
          <a:ln w="9525">
            <a:noFill/>
            <a:miter lim="800000"/>
          </a:ln>
          <a:effectLst/>
        </p:spPr>
        <p:txBody>
          <a:bodyPr wrap="none" anchor="ctr"/>
          <a:lstStyle/>
          <a:p>
            <a:pPr algn="ctr" fontAlgn="base">
              <a:spcBef>
                <a:spcPct val="0"/>
              </a:spcBef>
              <a:spcAft>
                <a:spcPct val="0"/>
              </a:spcAft>
            </a:pPr>
            <a:endParaRPr lang="en-US">
              <a:solidFill>
                <a:prstClr val="black"/>
              </a:solidFill>
              <a:latin typeface="Tahoma" panose="020B0604030504040204" pitchFamily="34" charset="0"/>
              <a:cs typeface="Tahoma" panose="020B0604030504040204" pitchFamily="34" charset="0"/>
            </a:endParaRPr>
          </a:p>
        </p:txBody>
      </p:sp>
      <p:sp>
        <p:nvSpPr>
          <p:cNvPr id="1049320" name="Rectangle 95"/>
          <p:cNvSpPr>
            <a:spLocks noChangeArrowheads="1"/>
          </p:cNvSpPr>
          <p:nvPr/>
        </p:nvSpPr>
        <p:spPr bwMode="auto">
          <a:xfrm>
            <a:off x="3733800" y="6034088"/>
            <a:ext cx="1828800" cy="304800"/>
          </a:xfrm>
          <a:prstGeom prst="rect">
            <a:avLst/>
          </a:prstGeom>
          <a:gradFill rotWithShape="1">
            <a:gsLst>
              <a:gs pos="0">
                <a:schemeClr val="folHlink">
                  <a:gamma/>
                  <a:shade val="46275"/>
                  <a:invGamma/>
                </a:schemeClr>
              </a:gs>
              <a:gs pos="50000">
                <a:schemeClr val="folHlink"/>
              </a:gs>
              <a:gs pos="100000">
                <a:schemeClr val="folHlink">
                  <a:gamma/>
                  <a:shade val="46275"/>
                  <a:invGamma/>
                </a:schemeClr>
              </a:gs>
            </a:gsLst>
            <a:lin ang="5400000" scaled="1"/>
          </a:gradFill>
          <a:ln w="9525">
            <a:noFill/>
            <a:miter lim="800000"/>
          </a:ln>
          <a:effectLst/>
        </p:spPr>
        <p:txBody>
          <a:bodyPr wrap="none" anchor="ctr"/>
          <a:lstStyle/>
          <a:p>
            <a:pPr fontAlgn="base">
              <a:spcBef>
                <a:spcPct val="0"/>
              </a:spcBef>
              <a:spcAft>
                <a:spcPct val="0"/>
              </a:spcAft>
            </a:pPr>
            <a:endParaRPr lang="en-US">
              <a:solidFill>
                <a:prstClr val="black"/>
              </a:solidFill>
              <a:latin typeface="Tahoma" panose="020B0604030504040204" pitchFamily="34" charset="0"/>
              <a:cs typeface="Arial" panose="020B0604020202020204" pitchFamily="34" charset="0"/>
            </a:endParaRPr>
          </a:p>
        </p:txBody>
      </p:sp>
      <p:sp>
        <p:nvSpPr>
          <p:cNvPr id="1049321" name="Rectangle 96"/>
          <p:cNvSpPr>
            <a:spLocks noChangeArrowheads="1"/>
          </p:cNvSpPr>
          <p:nvPr/>
        </p:nvSpPr>
        <p:spPr bwMode="auto">
          <a:xfrm>
            <a:off x="5867400" y="6034088"/>
            <a:ext cx="2362200" cy="304800"/>
          </a:xfrm>
          <a:prstGeom prst="rect">
            <a:avLst/>
          </a:prstGeom>
          <a:gradFill rotWithShape="1">
            <a:gsLst>
              <a:gs pos="0">
                <a:schemeClr val="folHlink">
                  <a:gamma/>
                  <a:shade val="46275"/>
                  <a:invGamma/>
                </a:schemeClr>
              </a:gs>
              <a:gs pos="50000">
                <a:schemeClr val="folHlink"/>
              </a:gs>
              <a:gs pos="100000">
                <a:schemeClr val="folHlink">
                  <a:gamma/>
                  <a:shade val="46275"/>
                  <a:invGamma/>
                </a:schemeClr>
              </a:gs>
            </a:gsLst>
            <a:lin ang="5400000" scaled="1"/>
          </a:gradFill>
          <a:ln w="9525">
            <a:noFill/>
            <a:miter lim="800000"/>
          </a:ln>
          <a:effectLst/>
        </p:spPr>
        <p:txBody>
          <a:bodyPr wrap="none" anchor="ctr"/>
          <a:lstStyle/>
          <a:p>
            <a:pPr fontAlgn="base">
              <a:spcBef>
                <a:spcPct val="0"/>
              </a:spcBef>
              <a:spcAft>
                <a:spcPct val="0"/>
              </a:spcAft>
            </a:pPr>
            <a:endParaRPr lang="en-US">
              <a:solidFill>
                <a:prstClr val="black"/>
              </a:solidFill>
              <a:latin typeface="Tahoma" panose="020B0604030504040204" pitchFamily="34" charset="0"/>
              <a:cs typeface="Arial" panose="020B0604020202020204" pitchFamily="34" charset="0"/>
            </a:endParaRPr>
          </a:p>
        </p:txBody>
      </p:sp>
      <p:sp>
        <p:nvSpPr>
          <p:cNvPr id="1049322" name="Line 98"/>
          <p:cNvSpPr>
            <a:spLocks noChangeShapeType="1"/>
          </p:cNvSpPr>
          <p:nvPr/>
        </p:nvSpPr>
        <p:spPr bwMode="auto">
          <a:xfrm>
            <a:off x="1447800" y="3152775"/>
            <a:ext cx="0" cy="3033713"/>
          </a:xfrm>
          <a:prstGeom prst="line">
            <a:avLst/>
          </a:prstGeom>
          <a:noFill/>
          <a:ln w="57150">
            <a:solidFill>
              <a:srgbClr val="00CCFF">
                <a:alpha val="59999"/>
              </a:srgbClr>
            </a:solidFill>
            <a:round/>
          </a:ln>
        </p:spPr>
        <p:txBody>
          <a:bodyPr/>
          <a:lstStyle/>
          <a:p>
            <a:pPr fontAlgn="base">
              <a:spcBef>
                <a:spcPct val="0"/>
              </a:spcBef>
              <a:spcAft>
                <a:spcPct val="0"/>
              </a:spcAft>
            </a:pPr>
            <a:endParaRPr lang="en-US">
              <a:solidFill>
                <a:prstClr val="black"/>
              </a:solidFill>
              <a:latin typeface="Tahoma" panose="020B0604030504040204" pitchFamily="34" charset="0"/>
              <a:cs typeface="Arial" panose="020B0604020202020204" pitchFamily="34" charset="0"/>
            </a:endParaRPr>
          </a:p>
        </p:txBody>
      </p:sp>
      <p:sp>
        <p:nvSpPr>
          <p:cNvPr id="1049323" name="Line 99"/>
          <p:cNvSpPr>
            <a:spLocks noChangeShapeType="1"/>
          </p:cNvSpPr>
          <p:nvPr/>
        </p:nvSpPr>
        <p:spPr bwMode="auto">
          <a:xfrm>
            <a:off x="1447800" y="6186488"/>
            <a:ext cx="1752600" cy="0"/>
          </a:xfrm>
          <a:prstGeom prst="line">
            <a:avLst/>
          </a:prstGeom>
          <a:noFill/>
          <a:ln w="57150">
            <a:solidFill>
              <a:srgbClr val="00CCFF">
                <a:alpha val="59999"/>
              </a:srgbClr>
            </a:solidFill>
            <a:round/>
          </a:ln>
        </p:spPr>
        <p:txBody>
          <a:bodyPr/>
          <a:lstStyle/>
          <a:p>
            <a:pPr fontAlgn="base">
              <a:spcBef>
                <a:spcPct val="0"/>
              </a:spcBef>
              <a:spcAft>
                <a:spcPct val="0"/>
              </a:spcAft>
            </a:pPr>
            <a:endParaRPr lang="en-US">
              <a:solidFill>
                <a:prstClr val="black"/>
              </a:solidFill>
              <a:latin typeface="Tahoma" panose="020B0604030504040204" pitchFamily="34" charset="0"/>
              <a:cs typeface="Arial" panose="020B0604020202020204" pitchFamily="34" charset="0"/>
            </a:endParaRPr>
          </a:p>
        </p:txBody>
      </p:sp>
      <p:sp>
        <p:nvSpPr>
          <p:cNvPr id="1049324" name="Line 100"/>
          <p:cNvSpPr>
            <a:spLocks noChangeShapeType="1"/>
          </p:cNvSpPr>
          <p:nvPr/>
        </p:nvSpPr>
        <p:spPr bwMode="auto">
          <a:xfrm flipV="1">
            <a:off x="3200400" y="4600575"/>
            <a:ext cx="0" cy="1585913"/>
          </a:xfrm>
          <a:prstGeom prst="line">
            <a:avLst/>
          </a:prstGeom>
          <a:noFill/>
          <a:ln w="57150">
            <a:solidFill>
              <a:srgbClr val="00CCFF">
                <a:alpha val="59999"/>
              </a:srgbClr>
            </a:solidFill>
            <a:round/>
          </a:ln>
        </p:spPr>
        <p:txBody>
          <a:bodyPr/>
          <a:lstStyle/>
          <a:p>
            <a:pPr fontAlgn="base">
              <a:spcBef>
                <a:spcPct val="0"/>
              </a:spcBef>
              <a:spcAft>
                <a:spcPct val="0"/>
              </a:spcAft>
            </a:pPr>
            <a:endParaRPr lang="en-US">
              <a:solidFill>
                <a:prstClr val="black"/>
              </a:solidFill>
              <a:latin typeface="Tahoma" panose="020B0604030504040204" pitchFamily="34" charset="0"/>
              <a:cs typeface="Arial" panose="020B0604020202020204" pitchFamily="34" charset="0"/>
            </a:endParaRPr>
          </a:p>
        </p:txBody>
      </p:sp>
      <p:sp>
        <p:nvSpPr>
          <p:cNvPr id="1049325" name="Line 101"/>
          <p:cNvSpPr>
            <a:spLocks noChangeShapeType="1"/>
          </p:cNvSpPr>
          <p:nvPr/>
        </p:nvSpPr>
        <p:spPr bwMode="auto">
          <a:xfrm>
            <a:off x="3200400" y="4600575"/>
            <a:ext cx="838200" cy="0"/>
          </a:xfrm>
          <a:prstGeom prst="line">
            <a:avLst/>
          </a:prstGeom>
          <a:noFill/>
          <a:ln w="57150">
            <a:solidFill>
              <a:srgbClr val="00CCFF">
                <a:alpha val="59999"/>
              </a:srgbClr>
            </a:solidFill>
            <a:round/>
          </a:ln>
        </p:spPr>
        <p:txBody>
          <a:bodyPr/>
          <a:lstStyle/>
          <a:p>
            <a:pPr fontAlgn="base">
              <a:spcBef>
                <a:spcPct val="0"/>
              </a:spcBef>
              <a:spcAft>
                <a:spcPct val="0"/>
              </a:spcAft>
            </a:pPr>
            <a:endParaRPr lang="en-US"/>
          </a:p>
        </p:txBody>
      </p:sp>
      <p:sp>
        <p:nvSpPr>
          <p:cNvPr id="1049326" name="Line 102"/>
          <p:cNvSpPr>
            <a:spLocks noChangeShapeType="1"/>
          </p:cNvSpPr>
          <p:nvPr/>
        </p:nvSpPr>
        <p:spPr bwMode="auto">
          <a:xfrm>
            <a:off x="4038600" y="4600575"/>
            <a:ext cx="0" cy="1585913"/>
          </a:xfrm>
          <a:prstGeom prst="line">
            <a:avLst/>
          </a:prstGeom>
          <a:noFill/>
          <a:ln w="57150">
            <a:solidFill>
              <a:srgbClr val="00CCFF">
                <a:alpha val="59999"/>
              </a:srgbClr>
            </a:solidFill>
            <a:round/>
          </a:ln>
        </p:spPr>
        <p:txBody>
          <a:bodyPr/>
          <a:lstStyle/>
          <a:p>
            <a:pPr fontAlgn="base">
              <a:spcBef>
                <a:spcPct val="0"/>
              </a:spcBef>
              <a:spcAft>
                <a:spcPct val="0"/>
              </a:spcAft>
            </a:pPr>
            <a:endParaRPr lang="en-US">
              <a:solidFill>
                <a:prstClr val="black"/>
              </a:solidFill>
              <a:latin typeface="Tahoma" panose="020B0604030504040204" pitchFamily="34" charset="0"/>
              <a:cs typeface="Arial" panose="020B0604020202020204" pitchFamily="34" charset="0"/>
            </a:endParaRPr>
          </a:p>
        </p:txBody>
      </p:sp>
      <p:sp>
        <p:nvSpPr>
          <p:cNvPr id="1049327" name="Line 103"/>
          <p:cNvSpPr>
            <a:spLocks noChangeShapeType="1"/>
          </p:cNvSpPr>
          <p:nvPr/>
        </p:nvSpPr>
        <p:spPr bwMode="auto">
          <a:xfrm>
            <a:off x="4038600" y="6186488"/>
            <a:ext cx="1295400" cy="0"/>
          </a:xfrm>
          <a:prstGeom prst="line">
            <a:avLst/>
          </a:prstGeom>
          <a:noFill/>
          <a:ln w="57150">
            <a:solidFill>
              <a:srgbClr val="00CCFF">
                <a:alpha val="59999"/>
              </a:srgbClr>
            </a:solidFill>
            <a:round/>
          </a:ln>
        </p:spPr>
        <p:txBody>
          <a:bodyPr/>
          <a:lstStyle/>
          <a:p>
            <a:pPr fontAlgn="base">
              <a:spcBef>
                <a:spcPct val="0"/>
              </a:spcBef>
              <a:spcAft>
                <a:spcPct val="0"/>
              </a:spcAft>
            </a:pPr>
            <a:endParaRPr lang="en-US">
              <a:solidFill>
                <a:prstClr val="black"/>
              </a:solidFill>
              <a:latin typeface="Tahoma" panose="020B0604030504040204" pitchFamily="34" charset="0"/>
              <a:cs typeface="Arial" panose="020B0604020202020204" pitchFamily="34" charset="0"/>
            </a:endParaRPr>
          </a:p>
        </p:txBody>
      </p:sp>
      <p:sp>
        <p:nvSpPr>
          <p:cNvPr id="1049328" name="Line 104"/>
          <p:cNvSpPr>
            <a:spLocks noChangeShapeType="1"/>
          </p:cNvSpPr>
          <p:nvPr/>
        </p:nvSpPr>
        <p:spPr bwMode="auto">
          <a:xfrm flipV="1">
            <a:off x="5334000" y="4600575"/>
            <a:ext cx="0" cy="1585913"/>
          </a:xfrm>
          <a:prstGeom prst="line">
            <a:avLst/>
          </a:prstGeom>
          <a:noFill/>
          <a:ln w="57150">
            <a:solidFill>
              <a:srgbClr val="00CCFF">
                <a:alpha val="59999"/>
              </a:srgbClr>
            </a:solidFill>
            <a:round/>
          </a:ln>
        </p:spPr>
        <p:txBody>
          <a:bodyPr/>
          <a:lstStyle/>
          <a:p>
            <a:pPr fontAlgn="base">
              <a:spcBef>
                <a:spcPct val="0"/>
              </a:spcBef>
              <a:spcAft>
                <a:spcPct val="0"/>
              </a:spcAft>
            </a:pPr>
            <a:endParaRPr lang="en-US">
              <a:solidFill>
                <a:prstClr val="black"/>
              </a:solidFill>
              <a:latin typeface="Tahoma" panose="020B0604030504040204" pitchFamily="34" charset="0"/>
              <a:cs typeface="Arial" panose="020B0604020202020204" pitchFamily="34" charset="0"/>
            </a:endParaRPr>
          </a:p>
        </p:txBody>
      </p:sp>
      <p:sp>
        <p:nvSpPr>
          <p:cNvPr id="1049329" name="Line 105"/>
          <p:cNvSpPr>
            <a:spLocks noChangeShapeType="1"/>
          </p:cNvSpPr>
          <p:nvPr/>
        </p:nvSpPr>
        <p:spPr bwMode="auto">
          <a:xfrm>
            <a:off x="5334000" y="4600575"/>
            <a:ext cx="914400" cy="0"/>
          </a:xfrm>
          <a:prstGeom prst="line">
            <a:avLst/>
          </a:prstGeom>
          <a:noFill/>
          <a:ln w="57150">
            <a:solidFill>
              <a:srgbClr val="00CCFF">
                <a:alpha val="59999"/>
              </a:srgbClr>
            </a:solidFill>
            <a:round/>
          </a:ln>
        </p:spPr>
        <p:txBody>
          <a:bodyPr/>
          <a:lstStyle/>
          <a:p>
            <a:pPr fontAlgn="base">
              <a:spcBef>
                <a:spcPct val="0"/>
              </a:spcBef>
              <a:spcAft>
                <a:spcPct val="0"/>
              </a:spcAft>
            </a:pPr>
            <a:endParaRPr lang="en-US">
              <a:solidFill>
                <a:prstClr val="black"/>
              </a:solidFill>
              <a:latin typeface="Tahoma" panose="020B0604030504040204" pitchFamily="34" charset="0"/>
              <a:cs typeface="Arial" panose="020B0604020202020204" pitchFamily="34" charset="0"/>
            </a:endParaRPr>
          </a:p>
        </p:txBody>
      </p:sp>
      <p:sp>
        <p:nvSpPr>
          <p:cNvPr id="1049330" name="Line 106"/>
          <p:cNvSpPr>
            <a:spLocks noChangeShapeType="1"/>
          </p:cNvSpPr>
          <p:nvPr/>
        </p:nvSpPr>
        <p:spPr bwMode="auto">
          <a:xfrm>
            <a:off x="6248400" y="4600575"/>
            <a:ext cx="0" cy="1585913"/>
          </a:xfrm>
          <a:prstGeom prst="line">
            <a:avLst/>
          </a:prstGeom>
          <a:noFill/>
          <a:ln w="57150">
            <a:solidFill>
              <a:srgbClr val="00CCFF">
                <a:alpha val="59999"/>
              </a:srgbClr>
            </a:solidFill>
            <a:round/>
          </a:ln>
        </p:spPr>
        <p:txBody>
          <a:bodyPr/>
          <a:lstStyle/>
          <a:p>
            <a:pPr fontAlgn="base">
              <a:spcBef>
                <a:spcPct val="0"/>
              </a:spcBef>
              <a:spcAft>
                <a:spcPct val="0"/>
              </a:spcAft>
            </a:pPr>
            <a:endParaRPr lang="en-US">
              <a:solidFill>
                <a:prstClr val="black"/>
              </a:solidFill>
              <a:latin typeface="Tahoma" panose="020B0604030504040204" pitchFamily="34" charset="0"/>
              <a:cs typeface="Arial" panose="020B0604020202020204" pitchFamily="34" charset="0"/>
            </a:endParaRPr>
          </a:p>
        </p:txBody>
      </p:sp>
      <p:sp>
        <p:nvSpPr>
          <p:cNvPr id="1049331" name="Line 107"/>
          <p:cNvSpPr>
            <a:spLocks noChangeShapeType="1"/>
          </p:cNvSpPr>
          <p:nvPr/>
        </p:nvSpPr>
        <p:spPr bwMode="auto">
          <a:xfrm>
            <a:off x="6248400" y="6186488"/>
            <a:ext cx="1600200" cy="0"/>
          </a:xfrm>
          <a:prstGeom prst="line">
            <a:avLst/>
          </a:prstGeom>
          <a:noFill/>
          <a:ln w="57150">
            <a:solidFill>
              <a:srgbClr val="00CCFF">
                <a:alpha val="59999"/>
              </a:srgbClr>
            </a:solidFill>
            <a:round/>
          </a:ln>
        </p:spPr>
        <p:txBody>
          <a:bodyPr/>
          <a:lstStyle/>
          <a:p>
            <a:pPr fontAlgn="base">
              <a:spcBef>
                <a:spcPct val="0"/>
              </a:spcBef>
              <a:spcAft>
                <a:spcPct val="0"/>
              </a:spcAft>
            </a:pPr>
            <a:endParaRPr lang="en-US">
              <a:solidFill>
                <a:prstClr val="black"/>
              </a:solidFill>
              <a:latin typeface="Tahoma" panose="020B0604030504040204" pitchFamily="34" charset="0"/>
              <a:cs typeface="Arial" panose="020B0604020202020204" pitchFamily="34" charset="0"/>
            </a:endParaRPr>
          </a:p>
        </p:txBody>
      </p:sp>
      <p:sp>
        <p:nvSpPr>
          <p:cNvPr id="1049332" name="Line 108"/>
          <p:cNvSpPr>
            <a:spLocks noChangeShapeType="1"/>
          </p:cNvSpPr>
          <p:nvPr/>
        </p:nvSpPr>
        <p:spPr bwMode="auto">
          <a:xfrm flipV="1">
            <a:off x="7848600" y="3152775"/>
            <a:ext cx="0" cy="3033713"/>
          </a:xfrm>
          <a:prstGeom prst="line">
            <a:avLst/>
          </a:prstGeom>
          <a:noFill/>
          <a:ln w="57150">
            <a:solidFill>
              <a:srgbClr val="00CCFF">
                <a:alpha val="59999"/>
              </a:srgbClr>
            </a:solidFill>
            <a:round/>
            <a:tailEnd type="triangle" w="med" len="med"/>
          </a:ln>
        </p:spPr>
        <p:txBody>
          <a:bodyPr/>
          <a:lstStyle/>
          <a:p>
            <a:pPr fontAlgn="base">
              <a:spcBef>
                <a:spcPct val="0"/>
              </a:spcBef>
              <a:spcAft>
                <a:spcPct val="0"/>
              </a:spcAft>
            </a:pPr>
            <a:endParaRPr lang="en-US">
              <a:solidFill>
                <a:prstClr val="black"/>
              </a:solidFill>
              <a:latin typeface="Tahoma" panose="020B0604030504040204" pitchFamily="34" charset="0"/>
              <a:cs typeface="Arial" panose="020B0604020202020204" pitchFamily="34" charset="0"/>
            </a:endParaRPr>
          </a:p>
        </p:txBody>
      </p:sp>
      <p:grpSp>
        <p:nvGrpSpPr>
          <p:cNvPr id="186" name="Group 137"/>
          <p:cNvGrpSpPr/>
          <p:nvPr/>
        </p:nvGrpSpPr>
        <p:grpSpPr bwMode="auto">
          <a:xfrm>
            <a:off x="2286000" y="3551238"/>
            <a:ext cx="4724400" cy="2076450"/>
            <a:chOff x="1440" y="2237"/>
            <a:chExt cx="2976" cy="1308"/>
          </a:xfrm>
        </p:grpSpPr>
        <p:sp>
          <p:nvSpPr>
            <p:cNvPr id="1049333" name="Line 109"/>
            <p:cNvSpPr>
              <a:spLocks noChangeShapeType="1"/>
            </p:cNvSpPr>
            <p:nvPr/>
          </p:nvSpPr>
          <p:spPr bwMode="auto">
            <a:xfrm>
              <a:off x="1440" y="2890"/>
              <a:ext cx="288" cy="0"/>
            </a:xfrm>
            <a:prstGeom prst="line">
              <a:avLst/>
            </a:prstGeom>
            <a:noFill/>
            <a:ln w="38100">
              <a:solidFill>
                <a:schemeClr val="tx1"/>
              </a:solidFill>
              <a:prstDash val="sysDot"/>
              <a:round/>
              <a:headEnd type="triangle" w="med" len="med"/>
              <a:tailEnd type="triangle" w="med" len="med"/>
            </a:ln>
          </p:spPr>
          <p:txBody>
            <a:bodyPr/>
            <a:lstStyle/>
            <a:p>
              <a:pPr fontAlgn="base">
                <a:spcBef>
                  <a:spcPct val="0"/>
                </a:spcBef>
                <a:spcAft>
                  <a:spcPct val="0"/>
                </a:spcAft>
              </a:pPr>
              <a:endParaRPr lang="en-US">
                <a:solidFill>
                  <a:prstClr val="black"/>
                </a:solidFill>
                <a:latin typeface="Tahoma" panose="020B0604030504040204" pitchFamily="34" charset="0"/>
                <a:cs typeface="Arial" panose="020B0604020202020204" pitchFamily="34" charset="0"/>
              </a:endParaRPr>
            </a:p>
          </p:txBody>
        </p:sp>
        <p:sp>
          <p:nvSpPr>
            <p:cNvPr id="1049334" name="Line 110"/>
            <p:cNvSpPr>
              <a:spLocks noChangeShapeType="1"/>
            </p:cNvSpPr>
            <p:nvPr/>
          </p:nvSpPr>
          <p:spPr bwMode="auto">
            <a:xfrm>
              <a:off x="1440" y="3210"/>
              <a:ext cx="288" cy="0"/>
            </a:xfrm>
            <a:prstGeom prst="line">
              <a:avLst/>
            </a:prstGeom>
            <a:noFill/>
            <a:ln w="38100">
              <a:solidFill>
                <a:schemeClr val="tx1"/>
              </a:solidFill>
              <a:prstDash val="sysDot"/>
              <a:round/>
              <a:headEnd type="triangle" w="med" len="med"/>
              <a:tailEnd type="triangle" w="med" len="med"/>
            </a:ln>
          </p:spPr>
          <p:txBody>
            <a:bodyPr/>
            <a:lstStyle/>
            <a:p>
              <a:pPr fontAlgn="base">
                <a:spcBef>
                  <a:spcPct val="0"/>
                </a:spcBef>
                <a:spcAft>
                  <a:spcPct val="0"/>
                </a:spcAft>
              </a:pPr>
              <a:endParaRPr lang="en-US">
                <a:solidFill>
                  <a:prstClr val="black"/>
                </a:solidFill>
                <a:latin typeface="Tahoma" panose="020B0604030504040204" pitchFamily="34" charset="0"/>
                <a:cs typeface="Arial" panose="020B0604020202020204" pitchFamily="34" charset="0"/>
              </a:endParaRPr>
            </a:p>
          </p:txBody>
        </p:sp>
        <p:sp>
          <p:nvSpPr>
            <p:cNvPr id="1049335" name="Line 111"/>
            <p:cNvSpPr>
              <a:spLocks noChangeShapeType="1"/>
            </p:cNvSpPr>
            <p:nvPr/>
          </p:nvSpPr>
          <p:spPr bwMode="auto">
            <a:xfrm>
              <a:off x="1440" y="3545"/>
              <a:ext cx="288" cy="0"/>
            </a:xfrm>
            <a:prstGeom prst="line">
              <a:avLst/>
            </a:prstGeom>
            <a:noFill/>
            <a:ln w="38100">
              <a:solidFill>
                <a:schemeClr val="tx1"/>
              </a:solidFill>
              <a:prstDash val="sysDot"/>
              <a:round/>
              <a:headEnd type="triangle" w="med" len="med"/>
              <a:tailEnd type="triangle" w="med" len="med"/>
            </a:ln>
          </p:spPr>
          <p:txBody>
            <a:bodyPr/>
            <a:lstStyle/>
            <a:p>
              <a:pPr fontAlgn="base">
                <a:spcBef>
                  <a:spcPct val="0"/>
                </a:spcBef>
                <a:spcAft>
                  <a:spcPct val="0"/>
                </a:spcAft>
              </a:pPr>
              <a:endParaRPr lang="en-US">
                <a:solidFill>
                  <a:prstClr val="black"/>
                </a:solidFill>
                <a:latin typeface="Tahoma" panose="020B0604030504040204" pitchFamily="34" charset="0"/>
                <a:cs typeface="Arial" panose="020B0604020202020204" pitchFamily="34" charset="0"/>
              </a:endParaRPr>
            </a:p>
          </p:txBody>
        </p:sp>
        <p:sp>
          <p:nvSpPr>
            <p:cNvPr id="1049336" name="Line 112"/>
            <p:cNvSpPr>
              <a:spLocks noChangeShapeType="1"/>
            </p:cNvSpPr>
            <p:nvPr/>
          </p:nvSpPr>
          <p:spPr bwMode="auto">
            <a:xfrm>
              <a:off x="2784" y="2890"/>
              <a:ext cx="288" cy="0"/>
            </a:xfrm>
            <a:prstGeom prst="line">
              <a:avLst/>
            </a:prstGeom>
            <a:noFill/>
            <a:ln w="38100">
              <a:solidFill>
                <a:schemeClr val="tx1"/>
              </a:solidFill>
              <a:prstDash val="sysDot"/>
              <a:round/>
              <a:headEnd type="triangle" w="med" len="med"/>
              <a:tailEnd type="triangle" w="med" len="med"/>
            </a:ln>
          </p:spPr>
          <p:txBody>
            <a:bodyPr/>
            <a:lstStyle/>
            <a:p>
              <a:pPr fontAlgn="base">
                <a:spcBef>
                  <a:spcPct val="0"/>
                </a:spcBef>
                <a:spcAft>
                  <a:spcPct val="0"/>
                </a:spcAft>
              </a:pPr>
              <a:endParaRPr lang="en-US">
                <a:solidFill>
                  <a:prstClr val="black"/>
                </a:solidFill>
                <a:latin typeface="Tahoma" panose="020B0604030504040204" pitchFamily="34" charset="0"/>
                <a:cs typeface="Arial" panose="020B0604020202020204" pitchFamily="34" charset="0"/>
              </a:endParaRPr>
            </a:p>
          </p:txBody>
        </p:sp>
        <p:sp>
          <p:nvSpPr>
            <p:cNvPr id="1049337" name="Line 113"/>
            <p:cNvSpPr>
              <a:spLocks noChangeShapeType="1"/>
            </p:cNvSpPr>
            <p:nvPr/>
          </p:nvSpPr>
          <p:spPr bwMode="auto">
            <a:xfrm>
              <a:off x="2784" y="3210"/>
              <a:ext cx="288" cy="0"/>
            </a:xfrm>
            <a:prstGeom prst="line">
              <a:avLst/>
            </a:prstGeom>
            <a:noFill/>
            <a:ln w="38100">
              <a:solidFill>
                <a:schemeClr val="tx1"/>
              </a:solidFill>
              <a:prstDash val="sysDot"/>
              <a:round/>
              <a:headEnd type="triangle" w="med" len="med"/>
              <a:tailEnd type="triangle" w="med" len="med"/>
            </a:ln>
          </p:spPr>
          <p:txBody>
            <a:bodyPr/>
            <a:lstStyle/>
            <a:p>
              <a:pPr fontAlgn="base">
                <a:spcBef>
                  <a:spcPct val="0"/>
                </a:spcBef>
                <a:spcAft>
                  <a:spcPct val="0"/>
                </a:spcAft>
              </a:pPr>
              <a:endParaRPr lang="en-US">
                <a:solidFill>
                  <a:prstClr val="black"/>
                </a:solidFill>
                <a:latin typeface="Tahoma" panose="020B0604030504040204" pitchFamily="34" charset="0"/>
                <a:cs typeface="Arial" panose="020B0604020202020204" pitchFamily="34" charset="0"/>
              </a:endParaRPr>
            </a:p>
          </p:txBody>
        </p:sp>
        <p:sp>
          <p:nvSpPr>
            <p:cNvPr id="1049338" name="Line 114"/>
            <p:cNvSpPr>
              <a:spLocks noChangeShapeType="1"/>
            </p:cNvSpPr>
            <p:nvPr/>
          </p:nvSpPr>
          <p:spPr bwMode="auto">
            <a:xfrm>
              <a:off x="2784" y="3545"/>
              <a:ext cx="288" cy="0"/>
            </a:xfrm>
            <a:prstGeom prst="line">
              <a:avLst/>
            </a:prstGeom>
            <a:noFill/>
            <a:ln w="38100">
              <a:solidFill>
                <a:schemeClr val="tx1"/>
              </a:solidFill>
              <a:prstDash val="sysDot"/>
              <a:round/>
              <a:headEnd type="triangle" w="med" len="med"/>
              <a:tailEnd type="triangle" w="med" len="med"/>
            </a:ln>
          </p:spPr>
          <p:txBody>
            <a:bodyPr/>
            <a:lstStyle/>
            <a:p>
              <a:pPr fontAlgn="base">
                <a:spcBef>
                  <a:spcPct val="0"/>
                </a:spcBef>
                <a:spcAft>
                  <a:spcPct val="0"/>
                </a:spcAft>
              </a:pPr>
              <a:endParaRPr lang="en-US">
                <a:solidFill>
                  <a:prstClr val="black"/>
                </a:solidFill>
                <a:latin typeface="Tahoma" panose="020B0604030504040204" pitchFamily="34" charset="0"/>
                <a:cs typeface="Arial" panose="020B0604020202020204" pitchFamily="34" charset="0"/>
              </a:endParaRPr>
            </a:p>
          </p:txBody>
        </p:sp>
        <p:sp>
          <p:nvSpPr>
            <p:cNvPr id="1049339" name="Line 115"/>
            <p:cNvSpPr>
              <a:spLocks noChangeShapeType="1"/>
            </p:cNvSpPr>
            <p:nvPr/>
          </p:nvSpPr>
          <p:spPr bwMode="auto">
            <a:xfrm>
              <a:off x="4128" y="2890"/>
              <a:ext cx="288" cy="0"/>
            </a:xfrm>
            <a:prstGeom prst="line">
              <a:avLst/>
            </a:prstGeom>
            <a:noFill/>
            <a:ln w="38100">
              <a:solidFill>
                <a:schemeClr val="tx1"/>
              </a:solidFill>
              <a:prstDash val="sysDot"/>
              <a:round/>
              <a:headEnd type="triangle" w="med" len="med"/>
              <a:tailEnd type="triangle" w="med" len="med"/>
            </a:ln>
          </p:spPr>
          <p:txBody>
            <a:bodyPr/>
            <a:lstStyle/>
            <a:p>
              <a:pPr fontAlgn="base">
                <a:spcBef>
                  <a:spcPct val="0"/>
                </a:spcBef>
                <a:spcAft>
                  <a:spcPct val="0"/>
                </a:spcAft>
              </a:pPr>
              <a:endParaRPr lang="en-US">
                <a:solidFill>
                  <a:prstClr val="black"/>
                </a:solidFill>
                <a:latin typeface="Tahoma" panose="020B0604030504040204" pitchFamily="34" charset="0"/>
                <a:cs typeface="Arial" panose="020B0604020202020204" pitchFamily="34" charset="0"/>
              </a:endParaRPr>
            </a:p>
          </p:txBody>
        </p:sp>
        <p:sp>
          <p:nvSpPr>
            <p:cNvPr id="1049340" name="Line 116"/>
            <p:cNvSpPr>
              <a:spLocks noChangeShapeType="1"/>
            </p:cNvSpPr>
            <p:nvPr/>
          </p:nvSpPr>
          <p:spPr bwMode="auto">
            <a:xfrm>
              <a:off x="4128" y="3210"/>
              <a:ext cx="288" cy="0"/>
            </a:xfrm>
            <a:prstGeom prst="line">
              <a:avLst/>
            </a:prstGeom>
            <a:noFill/>
            <a:ln w="38100">
              <a:solidFill>
                <a:schemeClr val="tx1"/>
              </a:solidFill>
              <a:prstDash val="sysDot"/>
              <a:round/>
              <a:headEnd type="triangle" w="med" len="med"/>
              <a:tailEnd type="triangle" w="med" len="med"/>
            </a:ln>
          </p:spPr>
          <p:txBody>
            <a:bodyPr/>
            <a:lstStyle/>
            <a:p>
              <a:pPr fontAlgn="base">
                <a:spcBef>
                  <a:spcPct val="0"/>
                </a:spcBef>
                <a:spcAft>
                  <a:spcPct val="0"/>
                </a:spcAft>
              </a:pPr>
              <a:endParaRPr lang="en-US">
                <a:solidFill>
                  <a:prstClr val="black"/>
                </a:solidFill>
                <a:latin typeface="Tahoma" panose="020B0604030504040204" pitchFamily="34" charset="0"/>
                <a:cs typeface="Arial" panose="020B0604020202020204" pitchFamily="34" charset="0"/>
              </a:endParaRPr>
            </a:p>
          </p:txBody>
        </p:sp>
        <p:sp>
          <p:nvSpPr>
            <p:cNvPr id="1049341" name="Line 117"/>
            <p:cNvSpPr>
              <a:spLocks noChangeShapeType="1"/>
            </p:cNvSpPr>
            <p:nvPr/>
          </p:nvSpPr>
          <p:spPr bwMode="auto">
            <a:xfrm>
              <a:off x="4128" y="3545"/>
              <a:ext cx="288" cy="0"/>
            </a:xfrm>
            <a:prstGeom prst="line">
              <a:avLst/>
            </a:prstGeom>
            <a:noFill/>
            <a:ln w="38100">
              <a:solidFill>
                <a:schemeClr val="tx1"/>
              </a:solidFill>
              <a:prstDash val="sysDot"/>
              <a:round/>
              <a:headEnd type="triangle" w="med" len="med"/>
              <a:tailEnd type="triangle" w="med" len="med"/>
            </a:ln>
          </p:spPr>
          <p:txBody>
            <a:bodyPr/>
            <a:lstStyle/>
            <a:p>
              <a:pPr fontAlgn="base">
                <a:spcBef>
                  <a:spcPct val="0"/>
                </a:spcBef>
                <a:spcAft>
                  <a:spcPct val="0"/>
                </a:spcAft>
              </a:pPr>
              <a:endParaRPr lang="en-US">
                <a:solidFill>
                  <a:prstClr val="black"/>
                </a:solidFill>
                <a:latin typeface="Tahoma" panose="020B0604030504040204" pitchFamily="34" charset="0"/>
                <a:cs typeface="Arial" panose="020B0604020202020204" pitchFamily="34" charset="0"/>
              </a:endParaRPr>
            </a:p>
          </p:txBody>
        </p:sp>
        <p:sp>
          <p:nvSpPr>
            <p:cNvPr id="1049342" name="Line 118"/>
            <p:cNvSpPr>
              <a:spLocks noChangeShapeType="1"/>
            </p:cNvSpPr>
            <p:nvPr/>
          </p:nvSpPr>
          <p:spPr bwMode="auto">
            <a:xfrm>
              <a:off x="1440" y="2579"/>
              <a:ext cx="2976" cy="0"/>
            </a:xfrm>
            <a:prstGeom prst="line">
              <a:avLst/>
            </a:prstGeom>
            <a:noFill/>
            <a:ln w="38100">
              <a:solidFill>
                <a:schemeClr val="tx1"/>
              </a:solidFill>
              <a:prstDash val="sysDot"/>
              <a:round/>
              <a:headEnd type="triangle" w="med" len="med"/>
              <a:tailEnd type="triangle" w="med" len="med"/>
            </a:ln>
          </p:spPr>
          <p:txBody>
            <a:bodyPr/>
            <a:lstStyle/>
            <a:p>
              <a:pPr fontAlgn="base">
                <a:spcBef>
                  <a:spcPct val="0"/>
                </a:spcBef>
                <a:spcAft>
                  <a:spcPct val="0"/>
                </a:spcAft>
              </a:pPr>
              <a:endParaRPr lang="en-US">
                <a:solidFill>
                  <a:prstClr val="black"/>
                </a:solidFill>
                <a:latin typeface="Tahoma" panose="020B0604030504040204" pitchFamily="34" charset="0"/>
                <a:cs typeface="Arial" panose="020B0604020202020204" pitchFamily="34" charset="0"/>
              </a:endParaRPr>
            </a:p>
          </p:txBody>
        </p:sp>
        <p:sp>
          <p:nvSpPr>
            <p:cNvPr id="1049343" name="Line 119"/>
            <p:cNvSpPr>
              <a:spLocks noChangeShapeType="1"/>
            </p:cNvSpPr>
            <p:nvPr/>
          </p:nvSpPr>
          <p:spPr bwMode="auto">
            <a:xfrm>
              <a:off x="1440" y="2237"/>
              <a:ext cx="2976" cy="0"/>
            </a:xfrm>
            <a:prstGeom prst="line">
              <a:avLst/>
            </a:prstGeom>
            <a:noFill/>
            <a:ln w="38100">
              <a:solidFill>
                <a:schemeClr val="tx1"/>
              </a:solidFill>
              <a:prstDash val="sysDot"/>
              <a:round/>
              <a:headEnd type="triangle" w="med" len="med"/>
              <a:tailEnd type="triangle" w="med" len="med"/>
            </a:ln>
          </p:spPr>
          <p:txBody>
            <a:bodyPr/>
            <a:lstStyle/>
            <a:p>
              <a:pPr fontAlgn="base">
                <a:spcBef>
                  <a:spcPct val="0"/>
                </a:spcBef>
                <a:spcAft>
                  <a:spcPct val="0"/>
                </a:spcAft>
              </a:pPr>
              <a:endParaRPr lang="en-US">
                <a:solidFill>
                  <a:prstClr val="black"/>
                </a:solidFill>
                <a:latin typeface="Tahoma" panose="020B0604030504040204" pitchFamily="34" charset="0"/>
                <a:cs typeface="Arial" panose="020B0604020202020204" pitchFamily="34" charset="0"/>
              </a:endParaRPr>
            </a:p>
          </p:txBody>
        </p:sp>
      </p:grpSp>
      <p:sp>
        <p:nvSpPr>
          <p:cNvPr id="1049344" name="Text Box 121"/>
          <p:cNvSpPr txBox="1">
            <a:spLocks noChangeArrowheads="1"/>
          </p:cNvSpPr>
          <p:nvPr/>
        </p:nvSpPr>
        <p:spPr bwMode="auto">
          <a:xfrm>
            <a:off x="1066800" y="6262688"/>
            <a:ext cx="2447101" cy="396239"/>
          </a:xfrm>
          <a:prstGeom prst="rect">
            <a:avLst/>
          </a:prstGeom>
          <a:noFill/>
          <a:ln w="9525">
            <a:noFill/>
            <a:miter lim="800000"/>
          </a:ln>
        </p:spPr>
        <p:txBody>
          <a:bodyPr wrap="none">
            <a:spAutoFit/>
          </a:bodyPr>
          <a:lstStyle/>
          <a:p>
            <a:pPr fontAlgn="base">
              <a:spcBef>
                <a:spcPct val="0"/>
              </a:spcBef>
              <a:spcAft>
                <a:spcPct val="0"/>
              </a:spcAft>
            </a:pPr>
            <a:r>
              <a:rPr lang="en-US">
                <a:solidFill>
                  <a:prstClr val="black"/>
                </a:solidFill>
                <a:latin typeface="Tahoma" panose="020B0604030504040204" pitchFamily="34" charset="0"/>
                <a:cs typeface="Tahoma" panose="020B0604030504040204" pitchFamily="34" charset="0"/>
              </a:rPr>
              <a:t>Transmission medium</a:t>
            </a:r>
          </a:p>
        </p:txBody>
      </p:sp>
      <p:sp>
        <p:nvSpPr>
          <p:cNvPr id="1049345" name="computr1"/>
          <p:cNvSpPr>
            <a:spLocks noEditPoints="1" noChangeArrowheads="1"/>
          </p:cNvSpPr>
          <p:nvPr/>
        </p:nvSpPr>
        <p:spPr bwMode="auto">
          <a:xfrm>
            <a:off x="1066800" y="2286000"/>
            <a:ext cx="762000" cy="838200"/>
          </a:xfrm>
          <a:custGeom>
            <a:avLst/>
            <a:gdLst>
              <a:gd name="T0" fmla="*/ 24311716 w 21600"/>
              <a:gd name="T1" fmla="*/ 0 h 21600"/>
              <a:gd name="T2" fmla="*/ 13440833 w 21600"/>
              <a:gd name="T3" fmla="*/ 0 h 21600"/>
              <a:gd name="T4" fmla="*/ 2569951 w 21600"/>
              <a:gd name="T5" fmla="*/ 0 h 21600"/>
              <a:gd name="T6" fmla="*/ 0 w 21600"/>
              <a:gd name="T7" fmla="*/ 23172351 h 21600"/>
              <a:gd name="T8" fmla="*/ 0 w 21600"/>
              <a:gd name="T9" fmla="*/ 32526815 h 21600"/>
              <a:gd name="T10" fmla="*/ 13440833 w 21600"/>
              <a:gd name="T11" fmla="*/ 32526815 h 21600"/>
              <a:gd name="T12" fmla="*/ 26881666 w 21600"/>
              <a:gd name="T13" fmla="*/ 32526815 h 21600"/>
              <a:gd name="T14" fmla="*/ 26881666 w 21600"/>
              <a:gd name="T15" fmla="*/ 23172351 h 21600"/>
              <a:gd name="T16" fmla="*/ 24311716 w 21600"/>
              <a:gd name="T17" fmla="*/ 20409086 h 21600"/>
              <a:gd name="T18" fmla="*/ 2569951 w 21600"/>
              <a:gd name="T19" fmla="*/ 20409086 h 21600"/>
              <a:gd name="T20" fmla="*/ 2569951 w 21600"/>
              <a:gd name="T21" fmla="*/ 10203767 h 21600"/>
              <a:gd name="T22" fmla="*/ 24311716 w 21600"/>
              <a:gd name="T23" fmla="*/ 10203767 h 21600"/>
              <a:gd name="T24" fmla="*/ 0 w 21600"/>
              <a:gd name="T25" fmla="*/ 27849583 h 21600"/>
              <a:gd name="T26" fmla="*/ 26881666 w 21600"/>
              <a:gd name="T27" fmla="*/ 27849583 h 21600"/>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4923 w 21600"/>
              <a:gd name="T43" fmla="*/ 2541 h 21600"/>
              <a:gd name="T44" fmla="*/ 16756 w 21600"/>
              <a:gd name="T45" fmla="*/ 11153 h 21600"/>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21600" h="21600" extrusionOk="0">
                <a:moveTo>
                  <a:pt x="16994" y="15388"/>
                </a:moveTo>
                <a:lnTo>
                  <a:pt x="16994" y="13553"/>
                </a:lnTo>
                <a:lnTo>
                  <a:pt x="19535" y="13553"/>
                </a:lnTo>
                <a:lnTo>
                  <a:pt x="19535" y="10729"/>
                </a:lnTo>
                <a:lnTo>
                  <a:pt x="19535" y="6776"/>
                </a:lnTo>
                <a:lnTo>
                  <a:pt x="19535" y="0"/>
                </a:lnTo>
                <a:lnTo>
                  <a:pt x="10800" y="0"/>
                </a:lnTo>
                <a:lnTo>
                  <a:pt x="2065" y="0"/>
                </a:lnTo>
                <a:lnTo>
                  <a:pt x="2065" y="6776"/>
                </a:lnTo>
                <a:lnTo>
                  <a:pt x="2065" y="10729"/>
                </a:lnTo>
                <a:lnTo>
                  <a:pt x="2065" y="13553"/>
                </a:lnTo>
                <a:lnTo>
                  <a:pt x="4606" y="13553"/>
                </a:lnTo>
                <a:lnTo>
                  <a:pt x="4606" y="15388"/>
                </a:lnTo>
                <a:lnTo>
                  <a:pt x="0" y="15388"/>
                </a:lnTo>
                <a:lnTo>
                  <a:pt x="0" y="21600"/>
                </a:lnTo>
                <a:lnTo>
                  <a:pt x="10800" y="21600"/>
                </a:lnTo>
                <a:lnTo>
                  <a:pt x="21600" y="21600"/>
                </a:lnTo>
                <a:lnTo>
                  <a:pt x="21600" y="15388"/>
                </a:lnTo>
                <a:lnTo>
                  <a:pt x="16994" y="15388"/>
                </a:lnTo>
                <a:close/>
              </a:path>
              <a:path w="21600" h="21600" extrusionOk="0">
                <a:moveTo>
                  <a:pt x="4606" y="15388"/>
                </a:moveTo>
                <a:lnTo>
                  <a:pt x="4606" y="13553"/>
                </a:lnTo>
                <a:lnTo>
                  <a:pt x="16994" y="13553"/>
                </a:lnTo>
                <a:lnTo>
                  <a:pt x="16994" y="15388"/>
                </a:lnTo>
                <a:lnTo>
                  <a:pt x="4606" y="15388"/>
                </a:lnTo>
              </a:path>
              <a:path w="21600" h="21600" extrusionOk="0">
                <a:moveTo>
                  <a:pt x="4606" y="11294"/>
                </a:moveTo>
                <a:lnTo>
                  <a:pt x="4606" y="2259"/>
                </a:lnTo>
                <a:lnTo>
                  <a:pt x="16994" y="2259"/>
                </a:lnTo>
                <a:lnTo>
                  <a:pt x="16994" y="11294"/>
                </a:lnTo>
                <a:lnTo>
                  <a:pt x="4606" y="11294"/>
                </a:lnTo>
                <a:moveTo>
                  <a:pt x="13976" y="17082"/>
                </a:moveTo>
                <a:lnTo>
                  <a:pt x="13976" y="16376"/>
                </a:lnTo>
                <a:lnTo>
                  <a:pt x="20171" y="16376"/>
                </a:lnTo>
                <a:lnTo>
                  <a:pt x="20171" y="17082"/>
                </a:lnTo>
                <a:lnTo>
                  <a:pt x="13976" y="17082"/>
                </a:lnTo>
              </a:path>
            </a:pathLst>
          </a:custGeom>
          <a:gradFill rotWithShape="1">
            <a:gsLst>
              <a:gs pos="0">
                <a:srgbClr val="FFFFCC"/>
              </a:gs>
              <a:gs pos="100000">
                <a:srgbClr val="76765E"/>
              </a:gs>
            </a:gsLst>
            <a:lin ang="2700000" scaled="1"/>
          </a:gradFill>
          <a:ln w="9525">
            <a:solidFill>
              <a:srgbClr val="000000"/>
            </a:solidFill>
            <a:miter lim="800000"/>
          </a:ln>
        </p:spPr>
        <p:txBody>
          <a:bodyPr/>
          <a:lstStyle/>
          <a:p>
            <a:pPr fontAlgn="base">
              <a:spcBef>
                <a:spcPct val="0"/>
              </a:spcBef>
              <a:spcAft>
                <a:spcPct val="0"/>
              </a:spcAft>
            </a:pPr>
            <a:endParaRPr lang="en-US">
              <a:solidFill>
                <a:prstClr val="black"/>
              </a:solidFill>
              <a:latin typeface="Tahoma" panose="020B0604030504040204" pitchFamily="34" charset="0"/>
              <a:cs typeface="Arial" panose="020B0604020202020204" pitchFamily="34" charset="0"/>
            </a:endParaRPr>
          </a:p>
        </p:txBody>
      </p:sp>
      <p:sp>
        <p:nvSpPr>
          <p:cNvPr id="1049346" name="laptop"/>
          <p:cNvSpPr>
            <a:spLocks noEditPoints="1" noChangeArrowheads="1"/>
          </p:cNvSpPr>
          <p:nvPr/>
        </p:nvSpPr>
        <p:spPr bwMode="auto">
          <a:xfrm>
            <a:off x="7315200" y="2438400"/>
            <a:ext cx="990600" cy="685800"/>
          </a:xfrm>
          <a:custGeom>
            <a:avLst/>
            <a:gdLst>
              <a:gd name="T0" fmla="*/ 7071096 w 21600"/>
              <a:gd name="T1" fmla="*/ 0 h 21600"/>
              <a:gd name="T2" fmla="*/ 7071096 w 21600"/>
              <a:gd name="T3" fmla="*/ 7230840 h 21600"/>
              <a:gd name="T4" fmla="*/ 38546124 w 21600"/>
              <a:gd name="T5" fmla="*/ 0 h 21600"/>
              <a:gd name="T6" fmla="*/ 38546124 w 21600"/>
              <a:gd name="T7" fmla="*/ 7230840 h 21600"/>
              <a:gd name="T8" fmla="*/ 22715006 w 21600"/>
              <a:gd name="T9" fmla="*/ 0 h 21600"/>
              <a:gd name="T10" fmla="*/ 22715006 w 21600"/>
              <a:gd name="T11" fmla="*/ 21774150 h 21600"/>
              <a:gd name="T12" fmla="*/ 0 w 21600"/>
              <a:gd name="T13" fmla="*/ 21774150 h 21600"/>
              <a:gd name="T14" fmla="*/ 45430012 w 21600"/>
              <a:gd name="T15" fmla="*/ 21774150 h 21600"/>
              <a:gd name="T16" fmla="*/ 0 60000 65536"/>
              <a:gd name="T17" fmla="*/ 0 60000 65536"/>
              <a:gd name="T18" fmla="*/ 0 60000 65536"/>
              <a:gd name="T19" fmla="*/ 0 60000 65536"/>
              <a:gd name="T20" fmla="*/ 0 60000 65536"/>
              <a:gd name="T21" fmla="*/ 0 60000 65536"/>
              <a:gd name="T22" fmla="*/ 0 60000 65536"/>
              <a:gd name="T23" fmla="*/ 0 60000 65536"/>
              <a:gd name="T24" fmla="*/ 4445 w 21600"/>
              <a:gd name="T25" fmla="*/ 1858 h 21600"/>
              <a:gd name="T26" fmla="*/ 17311 w 21600"/>
              <a:gd name="T27" fmla="*/ 12323 h 2160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600" h="21600" extrusionOk="0">
                <a:moveTo>
                  <a:pt x="3362" y="0"/>
                </a:moveTo>
                <a:lnTo>
                  <a:pt x="18327" y="0"/>
                </a:lnTo>
                <a:lnTo>
                  <a:pt x="18327" y="14347"/>
                </a:lnTo>
                <a:lnTo>
                  <a:pt x="3362" y="14347"/>
                </a:lnTo>
                <a:lnTo>
                  <a:pt x="3362" y="0"/>
                </a:lnTo>
                <a:close/>
              </a:path>
              <a:path w="21600" h="21600" extrusionOk="0">
                <a:moveTo>
                  <a:pt x="3340" y="15068"/>
                </a:moveTo>
                <a:lnTo>
                  <a:pt x="0" y="19877"/>
                </a:lnTo>
                <a:lnTo>
                  <a:pt x="21600" y="19877"/>
                </a:lnTo>
                <a:lnTo>
                  <a:pt x="18327" y="15068"/>
                </a:lnTo>
                <a:lnTo>
                  <a:pt x="3340" y="15068"/>
                </a:lnTo>
                <a:close/>
              </a:path>
              <a:path w="21600" h="21600" extrusionOk="0">
                <a:moveTo>
                  <a:pt x="0" y="19877"/>
                </a:moveTo>
                <a:lnTo>
                  <a:pt x="0" y="21600"/>
                </a:lnTo>
                <a:lnTo>
                  <a:pt x="21600" y="21600"/>
                </a:lnTo>
                <a:lnTo>
                  <a:pt x="21600" y="19877"/>
                </a:lnTo>
                <a:lnTo>
                  <a:pt x="0" y="19877"/>
                </a:lnTo>
                <a:close/>
              </a:path>
              <a:path w="21600" h="21600" extrusionOk="0">
                <a:moveTo>
                  <a:pt x="4186" y="1523"/>
                </a:moveTo>
                <a:lnTo>
                  <a:pt x="17547" y="1523"/>
                </a:lnTo>
                <a:lnTo>
                  <a:pt x="17547" y="12744"/>
                </a:lnTo>
                <a:lnTo>
                  <a:pt x="4186" y="12744"/>
                </a:lnTo>
                <a:lnTo>
                  <a:pt x="4186" y="1523"/>
                </a:lnTo>
                <a:close/>
              </a:path>
              <a:path w="21600" h="21600" extrusionOk="0">
                <a:moveTo>
                  <a:pt x="3318" y="15549"/>
                </a:moveTo>
                <a:lnTo>
                  <a:pt x="2917" y="16110"/>
                </a:lnTo>
                <a:lnTo>
                  <a:pt x="18727" y="16110"/>
                </a:lnTo>
                <a:lnTo>
                  <a:pt x="18327" y="15549"/>
                </a:lnTo>
                <a:lnTo>
                  <a:pt x="3318" y="15549"/>
                </a:lnTo>
                <a:close/>
              </a:path>
              <a:path w="21600" h="21600" extrusionOk="0">
                <a:moveTo>
                  <a:pt x="6213" y="18314"/>
                </a:moveTo>
                <a:lnTo>
                  <a:pt x="5946" y="18875"/>
                </a:lnTo>
                <a:lnTo>
                  <a:pt x="15766" y="18875"/>
                </a:lnTo>
                <a:lnTo>
                  <a:pt x="15499" y="18314"/>
                </a:lnTo>
                <a:lnTo>
                  <a:pt x="6213" y="18314"/>
                </a:lnTo>
                <a:close/>
              </a:path>
              <a:path w="21600" h="21600" extrusionOk="0">
                <a:moveTo>
                  <a:pt x="2828" y="16471"/>
                </a:moveTo>
                <a:lnTo>
                  <a:pt x="2405" y="17072"/>
                </a:lnTo>
                <a:lnTo>
                  <a:pt x="19284" y="17072"/>
                </a:lnTo>
                <a:lnTo>
                  <a:pt x="18839" y="16471"/>
                </a:lnTo>
                <a:lnTo>
                  <a:pt x="2828" y="16471"/>
                </a:lnTo>
                <a:close/>
              </a:path>
              <a:path w="21600" h="21600" extrusionOk="0">
                <a:moveTo>
                  <a:pt x="2316" y="17352"/>
                </a:moveTo>
                <a:lnTo>
                  <a:pt x="1871" y="17953"/>
                </a:lnTo>
                <a:lnTo>
                  <a:pt x="19863" y="17953"/>
                </a:lnTo>
                <a:lnTo>
                  <a:pt x="19395" y="17352"/>
                </a:lnTo>
                <a:lnTo>
                  <a:pt x="2316" y="17352"/>
                </a:lnTo>
                <a:close/>
              </a:path>
            </a:pathLst>
          </a:custGeom>
          <a:gradFill rotWithShape="1">
            <a:gsLst>
              <a:gs pos="0">
                <a:srgbClr val="C0C0C0"/>
              </a:gs>
              <a:gs pos="100000">
                <a:srgbClr val="595959"/>
              </a:gs>
            </a:gsLst>
            <a:lin ang="2700000" scaled="1"/>
          </a:gradFill>
          <a:ln w="9525">
            <a:solidFill>
              <a:srgbClr val="000000"/>
            </a:solidFill>
            <a:miter lim="800000"/>
          </a:ln>
        </p:spPr>
        <p:txBody>
          <a:bodyPr/>
          <a:lstStyle/>
          <a:p>
            <a:pPr fontAlgn="base">
              <a:spcBef>
                <a:spcPct val="0"/>
              </a:spcBef>
              <a:spcAft>
                <a:spcPct val="0"/>
              </a:spcAft>
            </a:pPr>
            <a:endParaRPr lang="en-US">
              <a:solidFill>
                <a:prstClr val="black"/>
              </a:solidFill>
              <a:latin typeface="Tahoma" panose="020B0604030504040204" pitchFamily="34" charset="0"/>
              <a:cs typeface="Arial" panose="020B0604020202020204" pitchFamily="34" charset="0"/>
            </a:endParaRPr>
          </a:p>
        </p:txBody>
      </p:sp>
      <p:sp>
        <p:nvSpPr>
          <p:cNvPr id="1049347" name="Text Box 132"/>
          <p:cNvSpPr txBox="1">
            <a:spLocks noChangeArrowheads="1"/>
          </p:cNvSpPr>
          <p:nvPr/>
        </p:nvSpPr>
        <p:spPr bwMode="auto">
          <a:xfrm>
            <a:off x="1066800" y="1981200"/>
            <a:ext cx="743416" cy="332740"/>
          </a:xfrm>
          <a:prstGeom prst="rect">
            <a:avLst/>
          </a:prstGeom>
          <a:noFill/>
          <a:ln w="9525">
            <a:noFill/>
            <a:miter lim="800000"/>
          </a:ln>
        </p:spPr>
        <p:txBody>
          <a:bodyPr wrap="none">
            <a:spAutoFit/>
          </a:bodyPr>
          <a:lstStyle/>
          <a:p>
            <a:pPr fontAlgn="base">
              <a:spcBef>
                <a:spcPct val="0"/>
              </a:spcBef>
              <a:spcAft>
                <a:spcPct val="0"/>
              </a:spcAft>
            </a:pPr>
            <a:r>
              <a:rPr lang="en-US" sz="1400">
                <a:solidFill>
                  <a:prstClr val="black"/>
                </a:solidFill>
                <a:latin typeface="Tahoma" panose="020B0604030504040204" pitchFamily="34" charset="0"/>
                <a:cs typeface="Arial" panose="020B0604020202020204" pitchFamily="34" charset="0"/>
              </a:rPr>
              <a:t>sender</a:t>
            </a:r>
          </a:p>
        </p:txBody>
      </p:sp>
      <p:sp>
        <p:nvSpPr>
          <p:cNvPr id="1049348" name="Text Box 133"/>
          <p:cNvSpPr txBox="1">
            <a:spLocks noChangeArrowheads="1"/>
          </p:cNvSpPr>
          <p:nvPr/>
        </p:nvSpPr>
        <p:spPr bwMode="auto">
          <a:xfrm>
            <a:off x="3324225" y="2133600"/>
            <a:ext cx="673715" cy="332740"/>
          </a:xfrm>
          <a:prstGeom prst="rect">
            <a:avLst/>
          </a:prstGeom>
          <a:noFill/>
          <a:ln w="9525">
            <a:noFill/>
            <a:miter lim="800000"/>
          </a:ln>
        </p:spPr>
        <p:txBody>
          <a:bodyPr wrap="none">
            <a:spAutoFit/>
          </a:bodyPr>
          <a:lstStyle/>
          <a:p>
            <a:pPr algn="ctr" fontAlgn="base">
              <a:spcBef>
                <a:spcPct val="0"/>
              </a:spcBef>
              <a:spcAft>
                <a:spcPct val="0"/>
              </a:spcAft>
            </a:pPr>
            <a:r>
              <a:rPr lang="en-US" sz="1400">
                <a:solidFill>
                  <a:srgbClr val="FFFF00"/>
                </a:solidFill>
                <a:latin typeface="Tahoma" panose="020B0604030504040204" pitchFamily="34" charset="0"/>
                <a:cs typeface="Arial" panose="020B0604020202020204" pitchFamily="34" charset="0"/>
              </a:rPr>
              <a:t>router</a:t>
            </a:r>
          </a:p>
        </p:txBody>
      </p:sp>
      <p:sp>
        <p:nvSpPr>
          <p:cNvPr id="1049349" name="Text Box 134"/>
          <p:cNvSpPr txBox="1">
            <a:spLocks noChangeArrowheads="1"/>
          </p:cNvSpPr>
          <p:nvPr/>
        </p:nvSpPr>
        <p:spPr bwMode="auto">
          <a:xfrm>
            <a:off x="5257800" y="1905000"/>
            <a:ext cx="673715" cy="332740"/>
          </a:xfrm>
          <a:prstGeom prst="rect">
            <a:avLst/>
          </a:prstGeom>
          <a:noFill/>
          <a:ln w="9525">
            <a:noFill/>
            <a:miter lim="800000"/>
          </a:ln>
        </p:spPr>
        <p:txBody>
          <a:bodyPr wrap="none">
            <a:spAutoFit/>
          </a:bodyPr>
          <a:lstStyle/>
          <a:p>
            <a:pPr algn="ctr" fontAlgn="base">
              <a:spcBef>
                <a:spcPct val="0"/>
              </a:spcBef>
              <a:spcAft>
                <a:spcPct val="0"/>
              </a:spcAft>
            </a:pPr>
            <a:r>
              <a:rPr lang="en-US" sz="1400">
                <a:solidFill>
                  <a:srgbClr val="FFFF00"/>
                </a:solidFill>
                <a:latin typeface="Tahoma" panose="020B0604030504040204" pitchFamily="34" charset="0"/>
                <a:cs typeface="Arial" panose="020B0604020202020204" pitchFamily="34" charset="0"/>
              </a:rPr>
              <a:t>router</a:t>
            </a:r>
          </a:p>
        </p:txBody>
      </p:sp>
      <p:sp>
        <p:nvSpPr>
          <p:cNvPr id="1049350" name="Text Box 135"/>
          <p:cNvSpPr txBox="1">
            <a:spLocks noChangeArrowheads="1"/>
          </p:cNvSpPr>
          <p:nvPr/>
        </p:nvSpPr>
        <p:spPr bwMode="auto">
          <a:xfrm>
            <a:off x="7391400" y="2133600"/>
            <a:ext cx="837921" cy="332740"/>
          </a:xfrm>
          <a:prstGeom prst="rect">
            <a:avLst/>
          </a:prstGeom>
          <a:noFill/>
          <a:ln w="9525">
            <a:noFill/>
            <a:miter lim="800000"/>
          </a:ln>
        </p:spPr>
        <p:txBody>
          <a:bodyPr wrap="none">
            <a:spAutoFit/>
          </a:bodyPr>
          <a:lstStyle/>
          <a:p>
            <a:pPr fontAlgn="base">
              <a:spcBef>
                <a:spcPct val="0"/>
              </a:spcBef>
              <a:spcAft>
                <a:spcPct val="0"/>
              </a:spcAft>
            </a:pPr>
            <a:r>
              <a:rPr lang="en-US" sz="1400">
                <a:solidFill>
                  <a:prstClr val="black"/>
                </a:solidFill>
                <a:latin typeface="Tahoma" panose="020B0604030504040204" pitchFamily="34" charset="0"/>
                <a:cs typeface="Arial" panose="020B0604020202020204" pitchFamily="34" charset="0"/>
              </a:rPr>
              <a:t>receiver</a:t>
            </a:r>
          </a:p>
        </p:txBody>
      </p:sp>
      <p:pic>
        <p:nvPicPr>
          <p:cNvPr id="2097181" name="Picture 142"/>
          <p:cNvPicPr>
            <a:picLocks noChangeAspect="1" noChangeArrowheads="1"/>
          </p:cNvPicPr>
          <p:nvPr/>
        </p:nvPicPr>
        <p:blipFill>
          <a:blip r:embed="rId3" cstate="print">
            <a:clrChange>
              <a:clrFrom>
                <a:srgbClr val="FFFF00"/>
              </a:clrFrom>
              <a:clrTo>
                <a:srgbClr val="FFFF00">
                  <a:alpha val="0"/>
                </a:srgbClr>
              </a:clrTo>
            </a:clrChange>
          </a:blip>
          <a:srcRect/>
          <a:stretch>
            <a:fillRect/>
          </a:stretch>
        </p:blipFill>
        <p:spPr bwMode="auto">
          <a:xfrm>
            <a:off x="3124200" y="1676400"/>
            <a:ext cx="942975" cy="409575"/>
          </a:xfrm>
          <a:prstGeom prst="rect">
            <a:avLst/>
          </a:prstGeom>
          <a:noFill/>
          <a:ln w="9525">
            <a:noFill/>
            <a:miter lim="800000"/>
            <a:headEnd/>
            <a:tailEnd/>
          </a:ln>
        </p:spPr>
      </p:pic>
      <p:pic>
        <p:nvPicPr>
          <p:cNvPr id="2097182" name="Picture 143"/>
          <p:cNvPicPr>
            <a:picLocks noChangeAspect="1" noChangeArrowheads="1"/>
          </p:cNvPicPr>
          <p:nvPr/>
        </p:nvPicPr>
        <p:blipFill>
          <a:blip r:embed="rId3" cstate="print">
            <a:clrChange>
              <a:clrFrom>
                <a:srgbClr val="FFFF00"/>
              </a:clrFrom>
              <a:clrTo>
                <a:srgbClr val="FFFF00">
                  <a:alpha val="0"/>
                </a:srgbClr>
              </a:clrTo>
            </a:clrChange>
          </a:blip>
          <a:srcRect/>
          <a:stretch>
            <a:fillRect/>
          </a:stretch>
        </p:blipFill>
        <p:spPr bwMode="auto">
          <a:xfrm>
            <a:off x="5105400" y="2209800"/>
            <a:ext cx="942975" cy="409575"/>
          </a:xfrm>
          <a:prstGeom prst="rect">
            <a:avLst/>
          </a:prstGeom>
          <a:noFill/>
          <a:ln w="9525">
            <a:noFill/>
            <a:miter lim="800000"/>
            <a:headEnd/>
            <a:tailEnd/>
          </a:ln>
        </p:spPr>
      </p:pic>
    </p:spTree>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049345"/>
                                        </p:tgtEl>
                                        <p:attrNameLst>
                                          <p:attrName>style.visibility</p:attrName>
                                        </p:attrNameLst>
                                      </p:cBhvr>
                                      <p:to>
                                        <p:strVal val="visible"/>
                                      </p:to>
                                    </p:set>
                                    <p:anim calcmode="lin" valueType="num">
                                      <p:cBhvr additive="base">
                                        <p:cTn id="7" dur="500" fill="hold"/>
                                        <p:tgtEl>
                                          <p:spTgt spid="1049345"/>
                                        </p:tgtEl>
                                        <p:attrNameLst>
                                          <p:attrName>ppt_x</p:attrName>
                                        </p:attrNameLst>
                                      </p:cBhvr>
                                      <p:tavLst>
                                        <p:tav tm="0">
                                          <p:val>
                                            <p:strVal val="0-#ppt_w/2"/>
                                          </p:val>
                                        </p:tav>
                                        <p:tav tm="100000">
                                          <p:val>
                                            <p:strVal val="#ppt_x"/>
                                          </p:val>
                                        </p:tav>
                                      </p:tavLst>
                                    </p:anim>
                                    <p:anim calcmode="lin" valueType="num">
                                      <p:cBhvr additive="base">
                                        <p:cTn id="8" dur="500" fill="hold"/>
                                        <p:tgtEl>
                                          <p:spTgt spid="1049345"/>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1049347"/>
                                        </p:tgtEl>
                                        <p:attrNameLst>
                                          <p:attrName>style.visibility</p:attrName>
                                        </p:attrNameLst>
                                      </p:cBhvr>
                                      <p:to>
                                        <p:strVal val="visible"/>
                                      </p:to>
                                    </p:set>
                                    <p:anim calcmode="lin" valueType="num">
                                      <p:cBhvr additive="base">
                                        <p:cTn id="11" dur="500" fill="hold"/>
                                        <p:tgtEl>
                                          <p:spTgt spid="1049347"/>
                                        </p:tgtEl>
                                        <p:attrNameLst>
                                          <p:attrName>ppt_x</p:attrName>
                                        </p:attrNameLst>
                                      </p:cBhvr>
                                      <p:tavLst>
                                        <p:tav tm="0">
                                          <p:val>
                                            <p:strVal val="0-#ppt_w/2"/>
                                          </p:val>
                                        </p:tav>
                                        <p:tav tm="100000">
                                          <p:val>
                                            <p:strVal val="#ppt_x"/>
                                          </p:val>
                                        </p:tav>
                                      </p:tavLst>
                                    </p:anim>
                                    <p:anim calcmode="lin" valueType="num">
                                      <p:cBhvr additive="base">
                                        <p:cTn id="12" dur="500" fill="hold"/>
                                        <p:tgtEl>
                                          <p:spTgt spid="1049347"/>
                                        </p:tgtEl>
                                        <p:attrNameLst>
                                          <p:attrName>ppt_y</p:attrName>
                                        </p:attrNameLst>
                                      </p:cBhvr>
                                      <p:tavLst>
                                        <p:tav tm="0">
                                          <p:val>
                                            <p:strVal val="#ppt_y"/>
                                          </p:val>
                                        </p:tav>
                                        <p:tav tm="100000">
                                          <p:val>
                                            <p:strVal val="#ppt_y"/>
                                          </p:val>
                                        </p:tav>
                                      </p:tavLst>
                                    </p:anim>
                                  </p:childTnLst>
                                </p:cTn>
                              </p:par>
                              <p:par>
                                <p:cTn id="13" presetID="2" presetClass="entr" presetSubtype="2" fill="hold" grpId="0" nodeType="withEffect">
                                  <p:stCondLst>
                                    <p:cond delay="0"/>
                                  </p:stCondLst>
                                  <p:childTnLst>
                                    <p:set>
                                      <p:cBhvr>
                                        <p:cTn id="14" dur="1" fill="hold">
                                          <p:stCondLst>
                                            <p:cond delay="0"/>
                                          </p:stCondLst>
                                        </p:cTn>
                                        <p:tgtEl>
                                          <p:spTgt spid="1049346"/>
                                        </p:tgtEl>
                                        <p:attrNameLst>
                                          <p:attrName>style.visibility</p:attrName>
                                        </p:attrNameLst>
                                      </p:cBhvr>
                                      <p:to>
                                        <p:strVal val="visible"/>
                                      </p:to>
                                    </p:set>
                                    <p:anim calcmode="lin" valueType="num">
                                      <p:cBhvr additive="base">
                                        <p:cTn id="15" dur="500" fill="hold"/>
                                        <p:tgtEl>
                                          <p:spTgt spid="1049346"/>
                                        </p:tgtEl>
                                        <p:attrNameLst>
                                          <p:attrName>ppt_x</p:attrName>
                                        </p:attrNameLst>
                                      </p:cBhvr>
                                      <p:tavLst>
                                        <p:tav tm="0">
                                          <p:val>
                                            <p:strVal val="1+#ppt_w/2"/>
                                          </p:val>
                                        </p:tav>
                                        <p:tav tm="100000">
                                          <p:val>
                                            <p:strVal val="#ppt_x"/>
                                          </p:val>
                                        </p:tav>
                                      </p:tavLst>
                                    </p:anim>
                                    <p:anim calcmode="lin" valueType="num">
                                      <p:cBhvr additive="base">
                                        <p:cTn id="16" dur="500" fill="hold"/>
                                        <p:tgtEl>
                                          <p:spTgt spid="1049346"/>
                                        </p:tgtEl>
                                        <p:attrNameLst>
                                          <p:attrName>ppt_y</p:attrName>
                                        </p:attrNameLst>
                                      </p:cBhvr>
                                      <p:tavLst>
                                        <p:tav tm="0">
                                          <p:val>
                                            <p:strVal val="#ppt_y"/>
                                          </p:val>
                                        </p:tav>
                                        <p:tav tm="100000">
                                          <p:val>
                                            <p:strVal val="#ppt_y"/>
                                          </p:val>
                                        </p:tav>
                                      </p:tavLst>
                                    </p:anim>
                                  </p:childTnLst>
                                </p:cTn>
                              </p:par>
                              <p:par>
                                <p:cTn id="17" presetID="2" presetClass="entr" presetSubtype="2" fill="hold" grpId="0" nodeType="withEffect">
                                  <p:stCondLst>
                                    <p:cond delay="0"/>
                                  </p:stCondLst>
                                  <p:childTnLst>
                                    <p:set>
                                      <p:cBhvr>
                                        <p:cTn id="18" dur="1" fill="hold">
                                          <p:stCondLst>
                                            <p:cond delay="0"/>
                                          </p:stCondLst>
                                        </p:cTn>
                                        <p:tgtEl>
                                          <p:spTgt spid="1049350"/>
                                        </p:tgtEl>
                                        <p:attrNameLst>
                                          <p:attrName>style.visibility</p:attrName>
                                        </p:attrNameLst>
                                      </p:cBhvr>
                                      <p:to>
                                        <p:strVal val="visible"/>
                                      </p:to>
                                    </p:set>
                                    <p:anim calcmode="lin" valueType="num">
                                      <p:cBhvr additive="base">
                                        <p:cTn id="19" dur="500" fill="hold"/>
                                        <p:tgtEl>
                                          <p:spTgt spid="1049350"/>
                                        </p:tgtEl>
                                        <p:attrNameLst>
                                          <p:attrName>ppt_x</p:attrName>
                                        </p:attrNameLst>
                                      </p:cBhvr>
                                      <p:tavLst>
                                        <p:tav tm="0">
                                          <p:val>
                                            <p:strVal val="1+#ppt_w/2"/>
                                          </p:val>
                                        </p:tav>
                                        <p:tav tm="100000">
                                          <p:val>
                                            <p:strVal val="#ppt_x"/>
                                          </p:val>
                                        </p:tav>
                                      </p:tavLst>
                                    </p:anim>
                                    <p:anim calcmode="lin" valueType="num">
                                      <p:cBhvr additive="base">
                                        <p:cTn id="20" dur="500" fill="hold"/>
                                        <p:tgtEl>
                                          <p:spTgt spid="1049350"/>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9" presetClass="entr" presetSubtype="0" fill="hold" nodeType="clickEffect">
                                  <p:stCondLst>
                                    <p:cond delay="0"/>
                                  </p:stCondLst>
                                  <p:childTnLst>
                                    <p:set>
                                      <p:cBhvr>
                                        <p:cTn id="24" dur="1" fill="hold">
                                          <p:stCondLst>
                                            <p:cond delay="0"/>
                                          </p:stCondLst>
                                        </p:cTn>
                                        <p:tgtEl>
                                          <p:spTgt spid="1049315"/>
                                        </p:tgtEl>
                                        <p:attrNameLst>
                                          <p:attrName>style.visibility</p:attrName>
                                        </p:attrNameLst>
                                      </p:cBhvr>
                                      <p:to>
                                        <p:strVal val="visible"/>
                                      </p:to>
                                    </p:set>
                                    <p:animEffect transition="in" filter="dissolve">
                                      <p:cBhvr>
                                        <p:cTn id="25" dur="500"/>
                                        <p:tgtEl>
                                          <p:spTgt spid="1049315"/>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1" fill="hold" nodeType="clickEffect">
                                  <p:stCondLst>
                                    <p:cond delay="0"/>
                                  </p:stCondLst>
                                  <p:childTnLst>
                                    <p:set>
                                      <p:cBhvr>
                                        <p:cTn id="29" dur="1" fill="hold">
                                          <p:stCondLst>
                                            <p:cond delay="0"/>
                                          </p:stCondLst>
                                        </p:cTn>
                                        <p:tgtEl>
                                          <p:spTgt spid="4194305"/>
                                        </p:tgtEl>
                                        <p:attrNameLst>
                                          <p:attrName>style.visibility</p:attrName>
                                        </p:attrNameLst>
                                      </p:cBhvr>
                                      <p:to>
                                        <p:strVal val="visible"/>
                                      </p:to>
                                    </p:set>
                                    <p:animEffect transition="in" filter="wipe(up)">
                                      <p:cBhvr>
                                        <p:cTn id="30" dur="500"/>
                                        <p:tgtEl>
                                          <p:spTgt spid="4194305"/>
                                        </p:tgtEl>
                                      </p:cBhvr>
                                    </p:animEffect>
                                  </p:childTnLst>
                                </p:cTn>
                              </p:par>
                            </p:childTnLst>
                          </p:cTn>
                        </p:par>
                        <p:par>
                          <p:cTn id="31" fill="hold">
                            <p:stCondLst>
                              <p:cond delay="500"/>
                            </p:stCondLst>
                            <p:childTnLst>
                              <p:par>
                                <p:cTn id="32" presetID="22" presetClass="entr" presetSubtype="1" fill="hold" grpId="0" nodeType="afterEffect">
                                  <p:stCondLst>
                                    <p:cond delay="0"/>
                                  </p:stCondLst>
                                  <p:childTnLst>
                                    <p:set>
                                      <p:cBhvr>
                                        <p:cTn id="33" dur="1" fill="hold">
                                          <p:stCondLst>
                                            <p:cond delay="0"/>
                                          </p:stCondLst>
                                        </p:cTn>
                                        <p:tgtEl>
                                          <p:spTgt spid="1049322"/>
                                        </p:tgtEl>
                                        <p:attrNameLst>
                                          <p:attrName>style.visibility</p:attrName>
                                        </p:attrNameLst>
                                      </p:cBhvr>
                                      <p:to>
                                        <p:strVal val="visible"/>
                                      </p:to>
                                    </p:set>
                                    <p:animEffect transition="in" filter="wipe(up)">
                                      <p:cBhvr>
                                        <p:cTn id="34" dur="500"/>
                                        <p:tgtEl>
                                          <p:spTgt spid="1049322"/>
                                        </p:tgtEl>
                                      </p:cBhvr>
                                    </p:animEffect>
                                  </p:childTnLst>
                                </p:cTn>
                              </p:par>
                            </p:childTnLst>
                          </p:cTn>
                        </p:par>
                        <p:par>
                          <p:cTn id="35" fill="hold">
                            <p:stCondLst>
                              <p:cond delay="1000"/>
                            </p:stCondLst>
                            <p:childTnLst>
                              <p:par>
                                <p:cTn id="36" presetID="9" presetClass="entr" presetSubtype="0" fill="hold" grpId="0" nodeType="afterEffect">
                                  <p:stCondLst>
                                    <p:cond delay="0"/>
                                  </p:stCondLst>
                                  <p:childTnLst>
                                    <p:set>
                                      <p:cBhvr>
                                        <p:cTn id="37" dur="1" fill="hold">
                                          <p:stCondLst>
                                            <p:cond delay="0"/>
                                          </p:stCondLst>
                                        </p:cTn>
                                        <p:tgtEl>
                                          <p:spTgt spid="1049344"/>
                                        </p:tgtEl>
                                        <p:attrNameLst>
                                          <p:attrName>style.visibility</p:attrName>
                                        </p:attrNameLst>
                                      </p:cBhvr>
                                      <p:to>
                                        <p:strVal val="visible"/>
                                      </p:to>
                                    </p:set>
                                    <p:animEffect transition="in" filter="dissolve">
                                      <p:cBhvr>
                                        <p:cTn id="38" dur="500"/>
                                        <p:tgtEl>
                                          <p:spTgt spid="1049344"/>
                                        </p:tgtEl>
                                      </p:cBhvr>
                                    </p:animEffect>
                                  </p:childTnLst>
                                </p:cTn>
                              </p:par>
                              <p:par>
                                <p:cTn id="39" presetID="9" presetClass="entr" presetSubtype="0" fill="hold" grpId="0" nodeType="withEffect">
                                  <p:stCondLst>
                                    <p:cond delay="0"/>
                                  </p:stCondLst>
                                  <p:childTnLst>
                                    <p:set>
                                      <p:cBhvr>
                                        <p:cTn id="40" dur="1" fill="hold">
                                          <p:stCondLst>
                                            <p:cond delay="0"/>
                                          </p:stCondLst>
                                        </p:cTn>
                                        <p:tgtEl>
                                          <p:spTgt spid="1049319"/>
                                        </p:tgtEl>
                                        <p:attrNameLst>
                                          <p:attrName>style.visibility</p:attrName>
                                        </p:attrNameLst>
                                      </p:cBhvr>
                                      <p:to>
                                        <p:strVal val="visible"/>
                                      </p:to>
                                    </p:set>
                                    <p:animEffect transition="in" filter="dissolve">
                                      <p:cBhvr>
                                        <p:cTn id="41" dur="500"/>
                                        <p:tgtEl>
                                          <p:spTgt spid="1049319"/>
                                        </p:tgtEl>
                                      </p:cBhvr>
                                    </p:animEffect>
                                  </p:childTnLst>
                                </p:cTn>
                              </p:par>
                              <p:par>
                                <p:cTn id="42" presetID="9" presetClass="entr" presetSubtype="0" fill="hold" grpId="0" nodeType="withEffect">
                                  <p:stCondLst>
                                    <p:cond delay="0"/>
                                  </p:stCondLst>
                                  <p:childTnLst>
                                    <p:set>
                                      <p:cBhvr>
                                        <p:cTn id="43" dur="1" fill="hold">
                                          <p:stCondLst>
                                            <p:cond delay="0"/>
                                          </p:stCondLst>
                                        </p:cTn>
                                        <p:tgtEl>
                                          <p:spTgt spid="1049316"/>
                                        </p:tgtEl>
                                        <p:attrNameLst>
                                          <p:attrName>style.visibility</p:attrName>
                                        </p:attrNameLst>
                                      </p:cBhvr>
                                      <p:to>
                                        <p:strVal val="visible"/>
                                      </p:to>
                                    </p:set>
                                    <p:animEffect transition="in" filter="dissolve">
                                      <p:cBhvr>
                                        <p:cTn id="44" dur="500"/>
                                        <p:tgtEl>
                                          <p:spTgt spid="1049316"/>
                                        </p:tgtEl>
                                      </p:cBhvr>
                                    </p:animEffect>
                                  </p:childTnLst>
                                </p:cTn>
                              </p:par>
                            </p:childTnLst>
                          </p:cTn>
                        </p:par>
                      </p:childTnLst>
                    </p:cTn>
                  </p:par>
                  <p:par>
                    <p:cTn id="45" fill="hold">
                      <p:stCondLst>
                        <p:cond delay="indefinite"/>
                      </p:stCondLst>
                      <p:childTnLst>
                        <p:par>
                          <p:cTn id="46" fill="hold">
                            <p:stCondLst>
                              <p:cond delay="0"/>
                            </p:stCondLst>
                            <p:childTnLst>
                              <p:par>
                                <p:cTn id="47" presetID="9" presetClass="entr" presetSubtype="0" fill="hold" nodeType="clickEffect">
                                  <p:stCondLst>
                                    <p:cond delay="0"/>
                                  </p:stCondLst>
                                  <p:childTnLst>
                                    <p:set>
                                      <p:cBhvr>
                                        <p:cTn id="48" dur="1" fill="hold">
                                          <p:stCondLst>
                                            <p:cond delay="0"/>
                                          </p:stCondLst>
                                        </p:cTn>
                                        <p:tgtEl>
                                          <p:spTgt spid="2097181"/>
                                        </p:tgtEl>
                                        <p:attrNameLst>
                                          <p:attrName>style.visibility</p:attrName>
                                        </p:attrNameLst>
                                      </p:cBhvr>
                                      <p:to>
                                        <p:strVal val="visible"/>
                                      </p:to>
                                    </p:set>
                                    <p:animEffect transition="in" filter="dissolve">
                                      <p:cBhvr>
                                        <p:cTn id="49" dur="500"/>
                                        <p:tgtEl>
                                          <p:spTgt spid="2097181"/>
                                        </p:tgtEl>
                                      </p:cBhvr>
                                    </p:animEffect>
                                  </p:childTnLst>
                                </p:cTn>
                              </p:par>
                              <p:par>
                                <p:cTn id="50" presetID="9" presetClass="entr" presetSubtype="0" fill="hold" grpId="0" nodeType="withEffect">
                                  <p:stCondLst>
                                    <p:cond delay="0"/>
                                  </p:stCondLst>
                                  <p:childTnLst>
                                    <p:set>
                                      <p:cBhvr>
                                        <p:cTn id="51" dur="1" fill="hold">
                                          <p:stCondLst>
                                            <p:cond delay="0"/>
                                          </p:stCondLst>
                                        </p:cTn>
                                        <p:tgtEl>
                                          <p:spTgt spid="1049348"/>
                                        </p:tgtEl>
                                        <p:attrNameLst>
                                          <p:attrName>style.visibility</p:attrName>
                                        </p:attrNameLst>
                                      </p:cBhvr>
                                      <p:to>
                                        <p:strVal val="visible"/>
                                      </p:to>
                                    </p:set>
                                    <p:animEffect transition="in" filter="dissolve">
                                      <p:cBhvr>
                                        <p:cTn id="52" dur="500"/>
                                        <p:tgtEl>
                                          <p:spTgt spid="1049348"/>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4" fill="hold" nodeType="clickEffect">
                                  <p:stCondLst>
                                    <p:cond delay="0"/>
                                  </p:stCondLst>
                                  <p:childTnLst>
                                    <p:set>
                                      <p:cBhvr>
                                        <p:cTn id="56" dur="1" fill="hold">
                                          <p:stCondLst>
                                            <p:cond delay="0"/>
                                          </p:stCondLst>
                                        </p:cTn>
                                        <p:tgtEl>
                                          <p:spTgt spid="185"/>
                                        </p:tgtEl>
                                        <p:attrNameLst>
                                          <p:attrName>style.visibility</p:attrName>
                                        </p:attrNameLst>
                                      </p:cBhvr>
                                      <p:to>
                                        <p:strVal val="visible"/>
                                      </p:to>
                                    </p:set>
                                    <p:animEffect transition="in" filter="wipe(down)">
                                      <p:cBhvr>
                                        <p:cTn id="57" dur="500"/>
                                        <p:tgtEl>
                                          <p:spTgt spid="185"/>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grpId="0" nodeType="clickEffect">
                                  <p:stCondLst>
                                    <p:cond delay="0"/>
                                  </p:stCondLst>
                                  <p:childTnLst>
                                    <p:set>
                                      <p:cBhvr>
                                        <p:cTn id="61" dur="1" fill="hold">
                                          <p:stCondLst>
                                            <p:cond delay="0"/>
                                          </p:stCondLst>
                                        </p:cTn>
                                        <p:tgtEl>
                                          <p:spTgt spid="1049323"/>
                                        </p:tgtEl>
                                        <p:attrNameLst>
                                          <p:attrName>style.visibility</p:attrName>
                                        </p:attrNameLst>
                                      </p:cBhvr>
                                      <p:to>
                                        <p:strVal val="visible"/>
                                      </p:to>
                                    </p:set>
                                    <p:animEffect transition="in" filter="wipe(left)">
                                      <p:cBhvr>
                                        <p:cTn id="62" dur="500"/>
                                        <p:tgtEl>
                                          <p:spTgt spid="1049323"/>
                                        </p:tgtEl>
                                      </p:cBhvr>
                                    </p:animEffect>
                                  </p:childTnLst>
                                </p:cTn>
                              </p:par>
                            </p:childTnLst>
                          </p:cTn>
                        </p:par>
                        <p:par>
                          <p:cTn id="63" fill="hold">
                            <p:stCondLst>
                              <p:cond delay="500"/>
                            </p:stCondLst>
                            <p:childTnLst>
                              <p:par>
                                <p:cTn id="64" presetID="22" presetClass="entr" presetSubtype="4" fill="hold" grpId="0" nodeType="afterEffect">
                                  <p:stCondLst>
                                    <p:cond delay="0"/>
                                  </p:stCondLst>
                                  <p:childTnLst>
                                    <p:set>
                                      <p:cBhvr>
                                        <p:cTn id="65" dur="1" fill="hold">
                                          <p:stCondLst>
                                            <p:cond delay="0"/>
                                          </p:stCondLst>
                                        </p:cTn>
                                        <p:tgtEl>
                                          <p:spTgt spid="1049324"/>
                                        </p:tgtEl>
                                        <p:attrNameLst>
                                          <p:attrName>style.visibility</p:attrName>
                                        </p:attrNameLst>
                                      </p:cBhvr>
                                      <p:to>
                                        <p:strVal val="visible"/>
                                      </p:to>
                                    </p:set>
                                    <p:animEffect transition="in" filter="wipe(down)">
                                      <p:cBhvr>
                                        <p:cTn id="66" dur="500"/>
                                        <p:tgtEl>
                                          <p:spTgt spid="1049324"/>
                                        </p:tgtEl>
                                      </p:cBhvr>
                                    </p:animEffect>
                                  </p:childTnLst>
                                </p:cTn>
                              </p:par>
                            </p:childTnLst>
                          </p:cTn>
                        </p:par>
                      </p:childTnLst>
                    </p:cTn>
                  </p:par>
                  <p:par>
                    <p:cTn id="67" fill="hold">
                      <p:stCondLst>
                        <p:cond delay="indefinite"/>
                      </p:stCondLst>
                      <p:childTnLst>
                        <p:par>
                          <p:cTn id="68" fill="hold">
                            <p:stCondLst>
                              <p:cond delay="0"/>
                            </p:stCondLst>
                            <p:childTnLst>
                              <p:par>
                                <p:cTn id="69" presetID="9" presetClass="entr" presetSubtype="0" fill="hold" nodeType="clickEffect">
                                  <p:stCondLst>
                                    <p:cond delay="0"/>
                                  </p:stCondLst>
                                  <p:childTnLst>
                                    <p:set>
                                      <p:cBhvr>
                                        <p:cTn id="70" dur="1" fill="hold">
                                          <p:stCondLst>
                                            <p:cond delay="0"/>
                                          </p:stCondLst>
                                        </p:cTn>
                                        <p:tgtEl>
                                          <p:spTgt spid="2097182"/>
                                        </p:tgtEl>
                                        <p:attrNameLst>
                                          <p:attrName>style.visibility</p:attrName>
                                        </p:attrNameLst>
                                      </p:cBhvr>
                                      <p:to>
                                        <p:strVal val="visible"/>
                                      </p:to>
                                    </p:set>
                                    <p:animEffect transition="in" filter="dissolve">
                                      <p:cBhvr>
                                        <p:cTn id="71" dur="500"/>
                                        <p:tgtEl>
                                          <p:spTgt spid="2097182"/>
                                        </p:tgtEl>
                                      </p:cBhvr>
                                    </p:animEffect>
                                  </p:childTnLst>
                                </p:cTn>
                              </p:par>
                              <p:par>
                                <p:cTn id="72" presetID="9" presetClass="entr" presetSubtype="0" fill="hold" grpId="0" nodeType="withEffect">
                                  <p:stCondLst>
                                    <p:cond delay="0"/>
                                  </p:stCondLst>
                                  <p:childTnLst>
                                    <p:set>
                                      <p:cBhvr>
                                        <p:cTn id="73" dur="1" fill="hold">
                                          <p:stCondLst>
                                            <p:cond delay="0"/>
                                          </p:stCondLst>
                                        </p:cTn>
                                        <p:tgtEl>
                                          <p:spTgt spid="1049349"/>
                                        </p:tgtEl>
                                        <p:attrNameLst>
                                          <p:attrName>style.visibility</p:attrName>
                                        </p:attrNameLst>
                                      </p:cBhvr>
                                      <p:to>
                                        <p:strVal val="visible"/>
                                      </p:to>
                                    </p:set>
                                    <p:animEffect transition="in" filter="dissolve">
                                      <p:cBhvr>
                                        <p:cTn id="74" dur="500"/>
                                        <p:tgtEl>
                                          <p:spTgt spid="1049349"/>
                                        </p:tgtEl>
                                      </p:cBhvr>
                                    </p:animEffect>
                                  </p:childTnLst>
                                </p:cTn>
                              </p:par>
                            </p:childTnLst>
                          </p:cTn>
                        </p:par>
                      </p:childTnLst>
                    </p:cTn>
                  </p:par>
                  <p:par>
                    <p:cTn id="75" fill="hold">
                      <p:stCondLst>
                        <p:cond delay="indefinite"/>
                      </p:stCondLst>
                      <p:childTnLst>
                        <p:par>
                          <p:cTn id="76" fill="hold">
                            <p:stCondLst>
                              <p:cond delay="0"/>
                            </p:stCondLst>
                            <p:childTnLst>
                              <p:par>
                                <p:cTn id="77" presetID="22" presetClass="entr" presetSubtype="8" fill="hold" grpId="0" nodeType="clickEffect">
                                  <p:stCondLst>
                                    <p:cond delay="0"/>
                                  </p:stCondLst>
                                  <p:childTnLst>
                                    <p:set>
                                      <p:cBhvr>
                                        <p:cTn id="78" dur="1" fill="hold">
                                          <p:stCondLst>
                                            <p:cond delay="0"/>
                                          </p:stCondLst>
                                        </p:cTn>
                                        <p:tgtEl>
                                          <p:spTgt spid="1049325"/>
                                        </p:tgtEl>
                                        <p:attrNameLst>
                                          <p:attrName>style.visibility</p:attrName>
                                        </p:attrNameLst>
                                      </p:cBhvr>
                                      <p:to>
                                        <p:strVal val="visible"/>
                                      </p:to>
                                    </p:set>
                                    <p:animEffect transition="in" filter="wipe(left)">
                                      <p:cBhvr>
                                        <p:cTn id="79" dur="500"/>
                                        <p:tgtEl>
                                          <p:spTgt spid="1049325"/>
                                        </p:tgtEl>
                                      </p:cBhvr>
                                    </p:animEffect>
                                  </p:childTnLst>
                                </p:cTn>
                              </p:par>
                            </p:childTnLst>
                          </p:cTn>
                        </p:par>
                        <p:par>
                          <p:cTn id="80" fill="hold">
                            <p:stCondLst>
                              <p:cond delay="500"/>
                            </p:stCondLst>
                            <p:childTnLst>
                              <p:par>
                                <p:cTn id="81" presetID="22" presetClass="entr" presetSubtype="1" fill="hold" grpId="0" nodeType="afterEffect">
                                  <p:stCondLst>
                                    <p:cond delay="0"/>
                                  </p:stCondLst>
                                  <p:childTnLst>
                                    <p:set>
                                      <p:cBhvr>
                                        <p:cTn id="82" dur="1" fill="hold">
                                          <p:stCondLst>
                                            <p:cond delay="0"/>
                                          </p:stCondLst>
                                        </p:cTn>
                                        <p:tgtEl>
                                          <p:spTgt spid="1049326"/>
                                        </p:tgtEl>
                                        <p:attrNameLst>
                                          <p:attrName>style.visibility</p:attrName>
                                        </p:attrNameLst>
                                      </p:cBhvr>
                                      <p:to>
                                        <p:strVal val="visible"/>
                                      </p:to>
                                    </p:set>
                                    <p:animEffect transition="in" filter="wipe(up)">
                                      <p:cBhvr>
                                        <p:cTn id="83" dur="500"/>
                                        <p:tgtEl>
                                          <p:spTgt spid="1049326"/>
                                        </p:tgtEl>
                                      </p:cBhvr>
                                    </p:animEffect>
                                  </p:childTnLst>
                                </p:cTn>
                              </p:par>
                            </p:childTnLst>
                          </p:cTn>
                        </p:par>
                        <p:par>
                          <p:cTn id="84" fill="hold">
                            <p:stCondLst>
                              <p:cond delay="1000"/>
                            </p:stCondLst>
                            <p:childTnLst>
                              <p:par>
                                <p:cTn id="85" presetID="22" presetClass="entr" presetSubtype="8" fill="hold" grpId="0" nodeType="afterEffect">
                                  <p:stCondLst>
                                    <p:cond delay="0"/>
                                  </p:stCondLst>
                                  <p:childTnLst>
                                    <p:set>
                                      <p:cBhvr>
                                        <p:cTn id="86" dur="1" fill="hold">
                                          <p:stCondLst>
                                            <p:cond delay="0"/>
                                          </p:stCondLst>
                                        </p:cTn>
                                        <p:tgtEl>
                                          <p:spTgt spid="1049320"/>
                                        </p:tgtEl>
                                        <p:attrNameLst>
                                          <p:attrName>style.visibility</p:attrName>
                                        </p:attrNameLst>
                                      </p:cBhvr>
                                      <p:to>
                                        <p:strVal val="visible"/>
                                      </p:to>
                                    </p:set>
                                    <p:animEffect transition="in" filter="wipe(left)">
                                      <p:cBhvr>
                                        <p:cTn id="87" dur="500"/>
                                        <p:tgtEl>
                                          <p:spTgt spid="1049320"/>
                                        </p:tgtEl>
                                      </p:cBhvr>
                                    </p:animEffect>
                                  </p:childTnLst>
                                </p:cTn>
                              </p:par>
                              <p:par>
                                <p:cTn id="88" presetID="22" presetClass="entr" presetSubtype="8" fill="hold" grpId="0" nodeType="withEffect">
                                  <p:stCondLst>
                                    <p:cond delay="0"/>
                                  </p:stCondLst>
                                  <p:childTnLst>
                                    <p:set>
                                      <p:cBhvr>
                                        <p:cTn id="89" dur="1" fill="hold">
                                          <p:stCondLst>
                                            <p:cond delay="0"/>
                                          </p:stCondLst>
                                        </p:cTn>
                                        <p:tgtEl>
                                          <p:spTgt spid="1049317"/>
                                        </p:tgtEl>
                                        <p:attrNameLst>
                                          <p:attrName>style.visibility</p:attrName>
                                        </p:attrNameLst>
                                      </p:cBhvr>
                                      <p:to>
                                        <p:strVal val="visible"/>
                                      </p:to>
                                    </p:set>
                                    <p:animEffect transition="in" filter="wipe(left)">
                                      <p:cBhvr>
                                        <p:cTn id="90" dur="500"/>
                                        <p:tgtEl>
                                          <p:spTgt spid="1049317"/>
                                        </p:tgtEl>
                                      </p:cBhvr>
                                    </p:animEffect>
                                  </p:childTnLst>
                                </p:cTn>
                              </p:par>
                            </p:childTnLst>
                          </p:cTn>
                        </p:par>
                      </p:childTnLst>
                    </p:cTn>
                  </p:par>
                  <p:par>
                    <p:cTn id="91" fill="hold">
                      <p:stCondLst>
                        <p:cond delay="indefinite"/>
                      </p:stCondLst>
                      <p:childTnLst>
                        <p:par>
                          <p:cTn id="92" fill="hold">
                            <p:stCondLst>
                              <p:cond delay="0"/>
                            </p:stCondLst>
                            <p:childTnLst>
                              <p:par>
                                <p:cTn id="93" presetID="22" presetClass="entr" presetSubtype="8" fill="hold" grpId="0" nodeType="clickEffect">
                                  <p:stCondLst>
                                    <p:cond delay="0"/>
                                  </p:stCondLst>
                                  <p:childTnLst>
                                    <p:set>
                                      <p:cBhvr>
                                        <p:cTn id="94" dur="1" fill="hold">
                                          <p:stCondLst>
                                            <p:cond delay="0"/>
                                          </p:stCondLst>
                                        </p:cTn>
                                        <p:tgtEl>
                                          <p:spTgt spid="1049327"/>
                                        </p:tgtEl>
                                        <p:attrNameLst>
                                          <p:attrName>style.visibility</p:attrName>
                                        </p:attrNameLst>
                                      </p:cBhvr>
                                      <p:to>
                                        <p:strVal val="visible"/>
                                      </p:to>
                                    </p:set>
                                    <p:animEffect transition="in" filter="wipe(left)">
                                      <p:cBhvr>
                                        <p:cTn id="95" dur="500"/>
                                        <p:tgtEl>
                                          <p:spTgt spid="1049327"/>
                                        </p:tgtEl>
                                      </p:cBhvr>
                                    </p:animEffect>
                                  </p:childTnLst>
                                </p:cTn>
                              </p:par>
                            </p:childTnLst>
                          </p:cTn>
                        </p:par>
                        <p:par>
                          <p:cTn id="96" fill="hold">
                            <p:stCondLst>
                              <p:cond delay="500"/>
                            </p:stCondLst>
                            <p:childTnLst>
                              <p:par>
                                <p:cTn id="97" presetID="22" presetClass="entr" presetSubtype="4" fill="hold" grpId="0" nodeType="afterEffect">
                                  <p:stCondLst>
                                    <p:cond delay="0"/>
                                  </p:stCondLst>
                                  <p:childTnLst>
                                    <p:set>
                                      <p:cBhvr>
                                        <p:cTn id="98" dur="1" fill="hold">
                                          <p:stCondLst>
                                            <p:cond delay="0"/>
                                          </p:stCondLst>
                                        </p:cTn>
                                        <p:tgtEl>
                                          <p:spTgt spid="1049328"/>
                                        </p:tgtEl>
                                        <p:attrNameLst>
                                          <p:attrName>style.visibility</p:attrName>
                                        </p:attrNameLst>
                                      </p:cBhvr>
                                      <p:to>
                                        <p:strVal val="visible"/>
                                      </p:to>
                                    </p:set>
                                    <p:animEffect transition="in" filter="wipe(down)">
                                      <p:cBhvr>
                                        <p:cTn id="99" dur="500"/>
                                        <p:tgtEl>
                                          <p:spTgt spid="1049328"/>
                                        </p:tgtEl>
                                      </p:cBhvr>
                                    </p:animEffect>
                                  </p:childTnLst>
                                </p:cTn>
                              </p:par>
                              <p:par>
                                <p:cTn id="100" presetID="22" presetClass="entr" presetSubtype="4" fill="hold" nodeType="withEffect">
                                  <p:stCondLst>
                                    <p:cond delay="0"/>
                                  </p:stCondLst>
                                  <p:childTnLst>
                                    <p:set>
                                      <p:cBhvr>
                                        <p:cTn id="101" dur="1" fill="hold">
                                          <p:stCondLst>
                                            <p:cond delay="0"/>
                                          </p:stCondLst>
                                        </p:cTn>
                                        <p:tgtEl>
                                          <p:spTgt spid="184"/>
                                        </p:tgtEl>
                                        <p:attrNameLst>
                                          <p:attrName>style.visibility</p:attrName>
                                        </p:attrNameLst>
                                      </p:cBhvr>
                                      <p:to>
                                        <p:strVal val="visible"/>
                                      </p:to>
                                    </p:set>
                                    <p:animEffect transition="in" filter="wipe(down)">
                                      <p:cBhvr>
                                        <p:cTn id="102" dur="500"/>
                                        <p:tgtEl>
                                          <p:spTgt spid="184"/>
                                        </p:tgtEl>
                                      </p:cBhvr>
                                    </p:animEffect>
                                  </p:childTnLst>
                                </p:cTn>
                              </p:par>
                            </p:childTnLst>
                          </p:cTn>
                        </p:par>
                      </p:childTnLst>
                    </p:cTn>
                  </p:par>
                  <p:par>
                    <p:cTn id="103" fill="hold">
                      <p:stCondLst>
                        <p:cond delay="indefinite"/>
                      </p:stCondLst>
                      <p:childTnLst>
                        <p:par>
                          <p:cTn id="104" fill="hold">
                            <p:stCondLst>
                              <p:cond delay="0"/>
                            </p:stCondLst>
                            <p:childTnLst>
                              <p:par>
                                <p:cTn id="105" presetID="22" presetClass="entr" presetSubtype="8" fill="hold" grpId="0" nodeType="clickEffect">
                                  <p:stCondLst>
                                    <p:cond delay="0"/>
                                  </p:stCondLst>
                                  <p:childTnLst>
                                    <p:set>
                                      <p:cBhvr>
                                        <p:cTn id="106" dur="1" fill="hold">
                                          <p:stCondLst>
                                            <p:cond delay="0"/>
                                          </p:stCondLst>
                                        </p:cTn>
                                        <p:tgtEl>
                                          <p:spTgt spid="1049329"/>
                                        </p:tgtEl>
                                        <p:attrNameLst>
                                          <p:attrName>style.visibility</p:attrName>
                                        </p:attrNameLst>
                                      </p:cBhvr>
                                      <p:to>
                                        <p:strVal val="visible"/>
                                      </p:to>
                                    </p:set>
                                    <p:animEffect transition="in" filter="wipe(left)">
                                      <p:cBhvr>
                                        <p:cTn id="107" dur="500"/>
                                        <p:tgtEl>
                                          <p:spTgt spid="1049329"/>
                                        </p:tgtEl>
                                      </p:cBhvr>
                                    </p:animEffect>
                                  </p:childTnLst>
                                </p:cTn>
                              </p:par>
                            </p:childTnLst>
                          </p:cTn>
                        </p:par>
                        <p:par>
                          <p:cTn id="108" fill="hold">
                            <p:stCondLst>
                              <p:cond delay="500"/>
                            </p:stCondLst>
                            <p:childTnLst>
                              <p:par>
                                <p:cTn id="109" presetID="22" presetClass="entr" presetSubtype="1" fill="hold" grpId="0" nodeType="afterEffect">
                                  <p:stCondLst>
                                    <p:cond delay="0"/>
                                  </p:stCondLst>
                                  <p:childTnLst>
                                    <p:set>
                                      <p:cBhvr>
                                        <p:cTn id="110" dur="1" fill="hold">
                                          <p:stCondLst>
                                            <p:cond delay="0"/>
                                          </p:stCondLst>
                                        </p:cTn>
                                        <p:tgtEl>
                                          <p:spTgt spid="1049330"/>
                                        </p:tgtEl>
                                        <p:attrNameLst>
                                          <p:attrName>style.visibility</p:attrName>
                                        </p:attrNameLst>
                                      </p:cBhvr>
                                      <p:to>
                                        <p:strVal val="visible"/>
                                      </p:to>
                                    </p:set>
                                    <p:animEffect transition="in" filter="wipe(up)">
                                      <p:cBhvr>
                                        <p:cTn id="111" dur="500"/>
                                        <p:tgtEl>
                                          <p:spTgt spid="1049330"/>
                                        </p:tgtEl>
                                      </p:cBhvr>
                                    </p:animEffect>
                                  </p:childTnLst>
                                </p:cTn>
                              </p:par>
                            </p:childTnLst>
                          </p:cTn>
                        </p:par>
                        <p:par>
                          <p:cTn id="112" fill="hold">
                            <p:stCondLst>
                              <p:cond delay="1000"/>
                            </p:stCondLst>
                            <p:childTnLst>
                              <p:par>
                                <p:cTn id="113" presetID="22" presetClass="entr" presetSubtype="8" fill="hold" grpId="0" nodeType="afterEffect">
                                  <p:stCondLst>
                                    <p:cond delay="0"/>
                                  </p:stCondLst>
                                  <p:childTnLst>
                                    <p:set>
                                      <p:cBhvr>
                                        <p:cTn id="114" dur="1" fill="hold">
                                          <p:stCondLst>
                                            <p:cond delay="0"/>
                                          </p:stCondLst>
                                        </p:cTn>
                                        <p:tgtEl>
                                          <p:spTgt spid="1049331"/>
                                        </p:tgtEl>
                                        <p:attrNameLst>
                                          <p:attrName>style.visibility</p:attrName>
                                        </p:attrNameLst>
                                      </p:cBhvr>
                                      <p:to>
                                        <p:strVal val="visible"/>
                                      </p:to>
                                    </p:set>
                                    <p:animEffect transition="in" filter="wipe(left)">
                                      <p:cBhvr>
                                        <p:cTn id="115" dur="500"/>
                                        <p:tgtEl>
                                          <p:spTgt spid="1049331"/>
                                        </p:tgtEl>
                                      </p:cBhvr>
                                    </p:animEffect>
                                  </p:childTnLst>
                                </p:cTn>
                              </p:par>
                              <p:par>
                                <p:cTn id="116" presetID="9" presetClass="entr" presetSubtype="0" fill="hold" grpId="0" nodeType="withEffect">
                                  <p:stCondLst>
                                    <p:cond delay="0"/>
                                  </p:stCondLst>
                                  <p:childTnLst>
                                    <p:set>
                                      <p:cBhvr>
                                        <p:cTn id="117" dur="1" fill="hold">
                                          <p:stCondLst>
                                            <p:cond delay="0"/>
                                          </p:stCondLst>
                                        </p:cTn>
                                        <p:tgtEl>
                                          <p:spTgt spid="1049321"/>
                                        </p:tgtEl>
                                        <p:attrNameLst>
                                          <p:attrName>style.visibility</p:attrName>
                                        </p:attrNameLst>
                                      </p:cBhvr>
                                      <p:to>
                                        <p:strVal val="visible"/>
                                      </p:to>
                                    </p:set>
                                    <p:animEffect transition="in" filter="dissolve">
                                      <p:cBhvr>
                                        <p:cTn id="118" dur="500"/>
                                        <p:tgtEl>
                                          <p:spTgt spid="1049321"/>
                                        </p:tgtEl>
                                      </p:cBhvr>
                                    </p:animEffect>
                                  </p:childTnLst>
                                </p:cTn>
                              </p:par>
                              <p:par>
                                <p:cTn id="119" presetID="22" presetClass="entr" presetSubtype="8" fill="hold" grpId="0" nodeType="withEffect">
                                  <p:stCondLst>
                                    <p:cond delay="0"/>
                                  </p:stCondLst>
                                  <p:childTnLst>
                                    <p:set>
                                      <p:cBhvr>
                                        <p:cTn id="120" dur="1" fill="hold">
                                          <p:stCondLst>
                                            <p:cond delay="0"/>
                                          </p:stCondLst>
                                        </p:cTn>
                                        <p:tgtEl>
                                          <p:spTgt spid="1049318"/>
                                        </p:tgtEl>
                                        <p:attrNameLst>
                                          <p:attrName>style.visibility</p:attrName>
                                        </p:attrNameLst>
                                      </p:cBhvr>
                                      <p:to>
                                        <p:strVal val="visible"/>
                                      </p:to>
                                    </p:set>
                                    <p:animEffect transition="in" filter="wipe(left)">
                                      <p:cBhvr>
                                        <p:cTn id="121" dur="500"/>
                                        <p:tgtEl>
                                          <p:spTgt spid="1049318"/>
                                        </p:tgtEl>
                                      </p:cBhvr>
                                    </p:animEffect>
                                  </p:childTnLst>
                                </p:cTn>
                              </p:par>
                            </p:childTnLst>
                          </p:cTn>
                        </p:par>
                        <p:par>
                          <p:cTn id="122" fill="hold">
                            <p:stCondLst>
                              <p:cond delay="1500"/>
                            </p:stCondLst>
                            <p:childTnLst>
                              <p:par>
                                <p:cTn id="123" presetID="22" presetClass="entr" presetSubtype="4" fill="hold" grpId="0" nodeType="afterEffect">
                                  <p:stCondLst>
                                    <p:cond delay="0"/>
                                  </p:stCondLst>
                                  <p:childTnLst>
                                    <p:set>
                                      <p:cBhvr>
                                        <p:cTn id="124" dur="1" fill="hold">
                                          <p:stCondLst>
                                            <p:cond delay="0"/>
                                          </p:stCondLst>
                                        </p:cTn>
                                        <p:tgtEl>
                                          <p:spTgt spid="1049332"/>
                                        </p:tgtEl>
                                        <p:attrNameLst>
                                          <p:attrName>style.visibility</p:attrName>
                                        </p:attrNameLst>
                                      </p:cBhvr>
                                      <p:to>
                                        <p:strVal val="visible"/>
                                      </p:to>
                                    </p:set>
                                    <p:animEffect transition="in" filter="wipe(down)">
                                      <p:cBhvr>
                                        <p:cTn id="125" dur="500"/>
                                        <p:tgtEl>
                                          <p:spTgt spid="1049332"/>
                                        </p:tgtEl>
                                      </p:cBhvr>
                                    </p:animEffect>
                                  </p:childTnLst>
                                </p:cTn>
                              </p:par>
                              <p:par>
                                <p:cTn id="126" presetID="22" presetClass="entr" presetSubtype="4" fill="hold" nodeType="withEffect">
                                  <p:stCondLst>
                                    <p:cond delay="0"/>
                                  </p:stCondLst>
                                  <p:childTnLst>
                                    <p:set>
                                      <p:cBhvr>
                                        <p:cTn id="127" dur="1" fill="hold">
                                          <p:stCondLst>
                                            <p:cond delay="0"/>
                                          </p:stCondLst>
                                        </p:cTn>
                                        <p:tgtEl>
                                          <p:spTgt spid="4194306"/>
                                        </p:tgtEl>
                                        <p:attrNameLst>
                                          <p:attrName>style.visibility</p:attrName>
                                        </p:attrNameLst>
                                      </p:cBhvr>
                                      <p:to>
                                        <p:strVal val="visible"/>
                                      </p:to>
                                    </p:set>
                                    <p:animEffect transition="in" filter="wipe(down)">
                                      <p:cBhvr>
                                        <p:cTn id="128" dur="500"/>
                                        <p:tgtEl>
                                          <p:spTgt spid="4194306"/>
                                        </p:tgtEl>
                                      </p:cBhvr>
                                    </p:animEffect>
                                  </p:childTnLst>
                                </p:cTn>
                              </p:par>
                            </p:childTnLst>
                          </p:cTn>
                        </p:par>
                      </p:childTnLst>
                    </p:cTn>
                  </p:par>
                  <p:par>
                    <p:cTn id="129" fill="hold">
                      <p:stCondLst>
                        <p:cond delay="indefinite"/>
                      </p:stCondLst>
                      <p:childTnLst>
                        <p:par>
                          <p:cTn id="130" fill="hold">
                            <p:stCondLst>
                              <p:cond delay="0"/>
                            </p:stCondLst>
                            <p:childTnLst>
                              <p:par>
                                <p:cTn id="131" presetID="22" presetClass="entr" presetSubtype="8" fill="hold" nodeType="clickEffect">
                                  <p:stCondLst>
                                    <p:cond delay="0"/>
                                  </p:stCondLst>
                                  <p:childTnLst>
                                    <p:set>
                                      <p:cBhvr>
                                        <p:cTn id="132" dur="1" fill="hold">
                                          <p:stCondLst>
                                            <p:cond delay="0"/>
                                          </p:stCondLst>
                                        </p:cTn>
                                        <p:tgtEl>
                                          <p:spTgt spid="186"/>
                                        </p:tgtEl>
                                        <p:attrNameLst>
                                          <p:attrName>style.visibility</p:attrName>
                                        </p:attrNameLst>
                                      </p:cBhvr>
                                      <p:to>
                                        <p:strVal val="visible"/>
                                      </p:to>
                                    </p:set>
                                    <p:animEffect transition="in" filter="wipe(left)">
                                      <p:cBhvr>
                                        <p:cTn id="133" dur="500"/>
                                        <p:tgtEl>
                                          <p:spTgt spid="18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9316" grpId="0" animBg="1"/>
      <p:bldP spid="1049317" grpId="0" animBg="1"/>
      <p:bldP spid="1049318" grpId="0" animBg="1"/>
      <p:bldP spid="1049319" grpId="0" animBg="1"/>
      <p:bldP spid="1049320" grpId="0" animBg="1"/>
      <p:bldP spid="1049321" grpId="0" animBg="1"/>
      <p:bldP spid="1049322" grpId="0" animBg="1"/>
      <p:bldP spid="1049323" grpId="0" animBg="1"/>
      <p:bldP spid="1049324" grpId="0" animBg="1"/>
      <p:bldP spid="1049325" grpId="0" animBg="1"/>
      <p:bldP spid="1049326" grpId="0" animBg="1"/>
      <p:bldP spid="1049327" grpId="0" animBg="1"/>
      <p:bldP spid="1049328" grpId="0" animBg="1"/>
      <p:bldP spid="1049329" grpId="0" animBg="1"/>
      <p:bldP spid="1049330" grpId="0" animBg="1"/>
      <p:bldP spid="1049331" grpId="0" animBg="1"/>
      <p:bldP spid="1049332" grpId="0" animBg="1"/>
      <p:bldP spid="1049344" grpId="0"/>
      <p:bldP spid="1049345" grpId="0" animBg="1"/>
      <p:bldP spid="1049346" grpId="0" animBg="1"/>
      <p:bldP spid="1049347" grpId="0"/>
      <p:bldP spid="1049348" grpId="0"/>
      <p:bldP spid="1049349" grpId="0"/>
      <p:bldP spid="1049350" grpId="0"/>
    </p:bldLst>
  </p:timing>
</p:sld>
</file>

<file path=ppt/slides/slide6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49351" name="Slide Number Placeholder 4"/>
          <p:cNvSpPr>
            <a:spLocks noGrp="1"/>
          </p:cNvSpPr>
          <p:nvPr>
            <p:ph type="sldNum" sz="quarter" idx="7"/>
          </p:nvPr>
        </p:nvSpPr>
        <p:spPr/>
        <p:txBody>
          <a:bodyPr/>
          <a:lstStyle/>
          <a:p>
            <a:fld id="{CBFB4A08-F02A-47ED-B6F4-4645E1606D84}" type="slidenum">
              <a:rPr lang="en-US"/>
              <a:t>62</a:t>
            </a:fld>
            <a:endParaRPr lang="en-US"/>
          </a:p>
        </p:txBody>
      </p:sp>
      <p:sp>
        <p:nvSpPr>
          <p:cNvPr id="1049352" name="Rectangle 5"/>
          <p:cNvSpPr>
            <a:spLocks noChangeArrowheads="1"/>
          </p:cNvSpPr>
          <p:nvPr/>
        </p:nvSpPr>
        <p:spPr bwMode="auto">
          <a:xfrm>
            <a:off x="317944" y="1143000"/>
            <a:ext cx="8763000" cy="3657600"/>
          </a:xfrm>
          <a:prstGeom prst="rect">
            <a:avLst/>
          </a:prstGeom>
          <a:solidFill>
            <a:schemeClr val="tx1"/>
          </a:solidFill>
          <a:ln w="9525">
            <a:solidFill>
              <a:schemeClr val="folHlink"/>
            </a:solidFill>
            <a:miter lim="800000"/>
          </a:ln>
          <a:effectLst>
            <a:outerShdw dist="107763" dir="2700000" algn="ctr" rotWithShape="0">
              <a:schemeClr val="bg2">
                <a:alpha val="50000"/>
              </a:schemeClr>
            </a:outerShdw>
          </a:effectLst>
        </p:spPr>
        <p:txBody>
          <a:bodyPr wrap="none" anchor="ctr"/>
          <a:lstStyle/>
          <a:p>
            <a:pPr fontAlgn="base">
              <a:spcBef>
                <a:spcPct val="0"/>
              </a:spcBef>
              <a:spcAft>
                <a:spcPct val="0"/>
              </a:spcAft>
            </a:pPr>
            <a:endParaRPr lang="en-US">
              <a:solidFill>
                <a:prstClr val="black"/>
              </a:solidFill>
              <a:latin typeface="Tahoma" panose="020B0604030504040204" pitchFamily="34" charset="0"/>
              <a:cs typeface="Arial" panose="020B0604020202020204" pitchFamily="34" charset="0"/>
            </a:endParaRPr>
          </a:p>
        </p:txBody>
      </p:sp>
      <p:pic>
        <p:nvPicPr>
          <p:cNvPr id="2097183" name="Picture 4"/>
          <p:cNvPicPr>
            <a:picLocks noChangeAspect="1" noChangeArrowheads="1"/>
          </p:cNvPicPr>
          <p:nvPr/>
        </p:nvPicPr>
        <p:blipFill>
          <a:blip r:embed="rId3" cstate="print"/>
          <a:srcRect/>
          <a:stretch>
            <a:fillRect/>
          </a:stretch>
        </p:blipFill>
        <p:spPr bwMode="auto">
          <a:xfrm>
            <a:off x="470344" y="1302543"/>
            <a:ext cx="8458200" cy="3338513"/>
          </a:xfrm>
          <a:prstGeom prst="rect">
            <a:avLst/>
          </a:prstGeom>
          <a:noFill/>
          <a:ln w="9525">
            <a:noFill/>
            <a:miter lim="800000"/>
            <a:headEnd/>
            <a:tailEnd/>
          </a:ln>
        </p:spPr>
      </p:pic>
      <p:sp>
        <p:nvSpPr>
          <p:cNvPr id="1049353" name="Rectangle 2"/>
          <p:cNvSpPr txBox="1">
            <a:spLocks noChangeArrowheads="1"/>
          </p:cNvSpPr>
          <p:nvPr/>
        </p:nvSpPr>
        <p:spPr>
          <a:xfrm>
            <a:off x="457200" y="457200"/>
            <a:ext cx="8229600" cy="482600"/>
          </a:xfrm>
          <a:prstGeom prst="rect">
            <a:avLst/>
          </a:prstGeom>
        </p:spPr>
        <p:txBody>
          <a:bodyPr wrap="square" lIns="0" tIns="0" rIns="0" bIns="0">
            <a:spAutoFit/>
          </a:bodyPr>
          <a:lstStyle>
            <a:lvl1pPr>
              <a:defRPr sz="2700" b="0" i="0">
                <a:solidFill>
                  <a:srgbClr val="4471C4"/>
                </a:solidFill>
                <a:latin typeface="Caladea"/>
                <a:ea typeface="+mj-ea"/>
                <a:cs typeface="Caladea"/>
              </a:defRPr>
            </a:lvl1pPr>
          </a:lstStyle>
          <a:p>
            <a:r>
              <a:rPr lang="en-US" sz="2800" b="1" kern="0">
                <a:latin typeface="Times New Roman" panose="02020603050405020304" pitchFamily="18" charset="0"/>
                <a:cs typeface="Times New Roman" panose="02020603050405020304" pitchFamily="18" charset="0"/>
              </a:rPr>
              <a:t>INTERNET MODEL</a:t>
            </a:r>
          </a:p>
        </p:txBody>
      </p:sp>
    </p:spTree>
  </p:cSld>
  <p:clrMapOvr>
    <a:overrideClrMapping bg1="lt1" tx1="dk1" bg2="lt2" tx2="dk2" accent1="accent1" accent2="accent2" accent3="accent3" accent4="accent4" accent5="accent5" accent6="accent6" hlink="hlink" folHlink="folHlink"/>
  </p:clrMapOvr>
</p:sld>
</file>

<file path=ppt/slides/slide6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49354" name="Rectangle 2"/>
          <p:cNvSpPr>
            <a:spLocks noGrp="1" noChangeArrowheads="1"/>
          </p:cNvSpPr>
          <p:nvPr>
            <p:ph type="title"/>
          </p:nvPr>
        </p:nvSpPr>
        <p:spPr>
          <a:xfrm>
            <a:off x="457200" y="609600"/>
            <a:ext cx="8229600" cy="469900"/>
          </a:xfrm>
        </p:spPr>
        <p:txBody>
          <a:bodyPr/>
          <a:lstStyle/>
          <a:p>
            <a:pPr eaLnBrk="1" hangingPunct="1"/>
            <a:r>
              <a:rPr lang="en-US" b="1"/>
              <a:t>INTERNET PROTOCOL SUITE</a:t>
            </a:r>
          </a:p>
        </p:txBody>
      </p:sp>
      <p:sp>
        <p:nvSpPr>
          <p:cNvPr id="1049355" name="Slide Number Placeholder 5"/>
          <p:cNvSpPr>
            <a:spLocks noGrp="1"/>
          </p:cNvSpPr>
          <p:nvPr>
            <p:ph type="sldNum" sz="quarter" idx="7"/>
          </p:nvPr>
        </p:nvSpPr>
        <p:spPr/>
        <p:txBody>
          <a:bodyPr/>
          <a:lstStyle/>
          <a:p>
            <a:fld id="{50B57BEE-39AD-483E-B810-FD8EA449A0C1}" type="slidenum">
              <a:rPr lang="en-US"/>
              <a:t>63</a:t>
            </a:fld>
            <a:endParaRPr lang="en-US"/>
          </a:p>
        </p:txBody>
      </p:sp>
      <p:graphicFrame>
        <p:nvGraphicFramePr>
          <p:cNvPr id="4194307" name="Group 3"/>
          <p:cNvGraphicFramePr>
            <a:graphicFrameLocks noGrp="1"/>
          </p:cNvGraphicFramePr>
          <p:nvPr/>
        </p:nvGraphicFramePr>
        <p:xfrm>
          <a:off x="608463" y="1447800"/>
          <a:ext cx="8077200" cy="3749676"/>
        </p:xfrm>
        <a:graphic>
          <a:graphicData uri="http://schemas.openxmlformats.org/drawingml/2006/table">
            <a:tbl>
              <a:tblPr/>
              <a:tblGrid>
                <a:gridCol w="2667000">
                  <a:extLst>
                    <a:ext uri="{9D8B030D-6E8A-4147-A177-3AD203B41FA5}">
                      <a16:colId xmlns:a16="http://schemas.microsoft.com/office/drawing/2014/main" val="20000"/>
                    </a:ext>
                  </a:extLst>
                </a:gridCol>
                <a:gridCol w="5410200">
                  <a:extLst>
                    <a:ext uri="{9D8B030D-6E8A-4147-A177-3AD203B41FA5}">
                      <a16:colId xmlns:a16="http://schemas.microsoft.com/office/drawing/2014/main" val="20001"/>
                    </a:ext>
                  </a:extLst>
                </a:gridCol>
              </a:tblGrid>
              <a:tr h="625475">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65000"/>
                        <a:buFont typeface="Wingdings" panose="05000000000000000000" pitchFamily="2" charset="2"/>
                        <a:buNone/>
                      </a:pPr>
                      <a:r>
                        <a:rPr kumimoji="0" lang="en-US" sz="2800" b="1" i="0" u="none" strike="noStrike" cap="none" normalizeH="0" baseline="0">
                          <a:ln>
                            <a:noFill/>
                          </a:ln>
                          <a:solidFill>
                            <a:schemeClr val="tx1"/>
                          </a:solidFill>
                          <a:effectLst>
                            <a:outerShdw blurRad="38100" dist="38100" dir="2700000" algn="tl">
                              <a:srgbClr val="000000"/>
                            </a:outerShdw>
                          </a:effectLst>
                          <a:latin typeface="Tahoma" panose="020B0604030504040204" pitchFamily="34" charset="0"/>
                          <a:cs typeface="Arial" panose="020B0604020202020204" pitchFamily="34" charset="0"/>
                        </a:rPr>
                        <a:t>Layer</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headEnd type="none" w="med" len="med"/>
                      <a:tailEnd type="none" w="med" len="med"/>
                    </a:lnTlToBr>
                    <a:lnBlToTr>
                      <a:noFill/>
                      <a:headEnd type="none" w="med" len="med"/>
                      <a:tailEnd type="none" w="med" len="med"/>
                    </a:lnBlToTr>
                    <a:solidFill>
                      <a:schemeClr val="accent1"/>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65000"/>
                        <a:buFont typeface="Wingdings" panose="05000000000000000000" pitchFamily="2" charset="2"/>
                        <a:buNone/>
                      </a:pPr>
                      <a:r>
                        <a:rPr kumimoji="0" lang="en-US" sz="2800" b="1" i="0" u="none" strike="noStrike" cap="none" normalizeH="0" baseline="0">
                          <a:ln>
                            <a:noFill/>
                          </a:ln>
                          <a:solidFill>
                            <a:schemeClr val="tx1"/>
                          </a:solidFill>
                          <a:effectLst>
                            <a:outerShdw blurRad="38100" dist="38100" dir="2700000" algn="tl">
                              <a:srgbClr val="000000"/>
                            </a:outerShdw>
                          </a:effectLst>
                          <a:latin typeface="Tahoma" panose="020B0604030504040204" pitchFamily="34" charset="0"/>
                          <a:cs typeface="Arial" panose="020B0604020202020204" pitchFamily="34" charset="0"/>
                        </a:rPr>
                        <a:t>Protocols</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headEnd type="none" w="med" len="med"/>
                      <a:tailEnd type="none" w="med" len="med"/>
                    </a:lnTlToBr>
                    <a:lnBlToTr>
                      <a:noFill/>
                      <a:headEnd type="none" w="med" len="med"/>
                      <a:tailEnd type="none" w="med" len="med"/>
                    </a:lnBlToTr>
                    <a:solidFill>
                      <a:schemeClr val="accent1"/>
                    </a:solidFill>
                  </a:tcPr>
                </a:tc>
                <a:extLst>
                  <a:ext uri="{0D108BD9-81ED-4DB2-BD59-A6C34878D82A}">
                    <a16:rowId xmlns:a16="http://schemas.microsoft.com/office/drawing/2014/main" val="10000"/>
                  </a:ext>
                </a:extLst>
              </a:tr>
              <a:tr h="625475">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65000"/>
                        <a:buFont typeface="Wingdings" panose="05000000000000000000" pitchFamily="2" charset="2"/>
                        <a:buNone/>
                      </a:pPr>
                      <a:r>
                        <a:rPr kumimoji="0" lang="en-US" sz="2800" b="0" i="0" u="none" strike="noStrike" cap="none" normalizeH="0" baseline="0">
                          <a:ln>
                            <a:noFill/>
                          </a:ln>
                          <a:solidFill>
                            <a:schemeClr val="tx1"/>
                          </a:solidFill>
                          <a:effectLst>
                            <a:outerShdw blurRad="38100" dist="38100" dir="2700000" algn="tl">
                              <a:srgbClr val="000000"/>
                            </a:outerShdw>
                          </a:effectLst>
                          <a:latin typeface="Tahoma" panose="020B0604030504040204" pitchFamily="34" charset="0"/>
                          <a:cs typeface="Arial" panose="020B0604020202020204" pitchFamily="34" charset="0"/>
                        </a:rPr>
                        <a:t>Application</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headEnd type="none" w="med" len="med"/>
                      <a:tailEnd type="none" w="med" len="med"/>
                    </a:lnTlToBr>
                    <a:lnBlToTr>
                      <a:noFill/>
                      <a:headEnd type="none" w="med" len="med"/>
                      <a:tailEnd type="none" w="med" len="med"/>
                    </a:lnBlToTr>
                    <a:solidFill>
                      <a:schemeClr val="bg2"/>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65000"/>
                        <a:buFont typeface="Wingdings" panose="05000000000000000000" pitchFamily="2" charset="2"/>
                        <a:buNone/>
                      </a:pPr>
                      <a:r>
                        <a:rPr kumimoji="0" lang="en-US" sz="2800" b="0" i="0" u="none" strike="noStrike" cap="none" normalizeH="0" baseline="0">
                          <a:ln>
                            <a:noFill/>
                          </a:ln>
                          <a:solidFill>
                            <a:schemeClr val="tx1"/>
                          </a:solidFill>
                          <a:effectLst>
                            <a:outerShdw blurRad="38100" dist="38100" dir="2700000" algn="tl">
                              <a:srgbClr val="000000"/>
                            </a:outerShdw>
                          </a:effectLst>
                          <a:latin typeface="Tahoma" panose="020B0604030504040204" pitchFamily="34" charset="0"/>
                          <a:cs typeface="Arial" panose="020B0604020202020204" pitchFamily="34" charset="0"/>
                        </a:rPr>
                        <a:t>HTTP, FTP, Telnet, SMTP, ...</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headEnd type="none" w="med" len="med"/>
                      <a:tailEnd type="none" w="med" len="med"/>
                    </a:lnTlToBr>
                    <a:lnBlToTr>
                      <a:noFill/>
                      <a:headEnd type="none" w="med" len="med"/>
                      <a:tailEnd type="none" w="med" len="med"/>
                    </a:lnBlToTr>
                    <a:solidFill>
                      <a:schemeClr val="accent2"/>
                    </a:solidFill>
                  </a:tcPr>
                </a:tc>
                <a:extLst>
                  <a:ext uri="{0D108BD9-81ED-4DB2-BD59-A6C34878D82A}">
                    <a16:rowId xmlns:a16="http://schemas.microsoft.com/office/drawing/2014/main" val="10001"/>
                  </a:ext>
                </a:extLst>
              </a:tr>
              <a:tr h="623888">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65000"/>
                        <a:buFont typeface="Wingdings" panose="05000000000000000000" pitchFamily="2" charset="2"/>
                        <a:buNone/>
                      </a:pPr>
                      <a:r>
                        <a:rPr kumimoji="0" lang="en-US" sz="2800" b="0" i="0" u="none" strike="noStrike" cap="none" normalizeH="0" baseline="0">
                          <a:ln>
                            <a:noFill/>
                          </a:ln>
                          <a:solidFill>
                            <a:schemeClr val="tx1"/>
                          </a:solidFill>
                          <a:effectLst>
                            <a:outerShdw blurRad="38100" dist="38100" dir="2700000" algn="tl">
                              <a:srgbClr val="000000"/>
                            </a:outerShdw>
                          </a:effectLst>
                          <a:latin typeface="Tahoma" panose="020B0604030504040204" pitchFamily="34" charset="0"/>
                          <a:cs typeface="Arial" panose="020B0604020202020204" pitchFamily="34" charset="0"/>
                        </a:rPr>
                        <a:t>Transport</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headEnd type="none" w="med" len="med"/>
                      <a:tailEnd type="none" w="med" len="med"/>
                    </a:lnTlToBr>
                    <a:lnBlToTr>
                      <a:noFill/>
                      <a:headEnd type="none" w="med" len="med"/>
                      <a:tailEnd type="none" w="med" len="med"/>
                    </a:lnBlToTr>
                    <a:solidFill>
                      <a:schemeClr val="bg2"/>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65000"/>
                        <a:buFont typeface="Wingdings" panose="05000000000000000000" pitchFamily="2" charset="2"/>
                        <a:buNone/>
                      </a:pPr>
                      <a:r>
                        <a:rPr kumimoji="0" lang="en-US" sz="2800" b="0" i="0" u="none" strike="noStrike" cap="none" normalizeH="0" baseline="0">
                          <a:ln>
                            <a:noFill/>
                          </a:ln>
                          <a:solidFill>
                            <a:schemeClr val="tx1"/>
                          </a:solidFill>
                          <a:effectLst>
                            <a:outerShdw blurRad="38100" dist="38100" dir="2700000" algn="tl">
                              <a:srgbClr val="000000"/>
                            </a:outerShdw>
                          </a:effectLst>
                          <a:latin typeface="Tahoma" panose="020B0604030504040204" pitchFamily="34" charset="0"/>
                          <a:cs typeface="Arial" panose="020B0604020202020204" pitchFamily="34" charset="0"/>
                        </a:rPr>
                        <a:t>TCP, UDP, SCTP, ...</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headEnd type="none" w="med" len="med"/>
                      <a:tailEnd type="none" w="med" len="med"/>
                    </a:lnTlToBr>
                    <a:lnBlToTr>
                      <a:noFill/>
                      <a:headEnd type="none" w="med" len="med"/>
                      <a:tailEnd type="none" w="med" len="med"/>
                    </a:lnBlToTr>
                    <a:solidFill>
                      <a:schemeClr val="accent2"/>
                    </a:solidFill>
                  </a:tcPr>
                </a:tc>
                <a:extLst>
                  <a:ext uri="{0D108BD9-81ED-4DB2-BD59-A6C34878D82A}">
                    <a16:rowId xmlns:a16="http://schemas.microsoft.com/office/drawing/2014/main" val="10002"/>
                  </a:ext>
                </a:extLst>
              </a:tr>
              <a:tr h="625475">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65000"/>
                        <a:buFont typeface="Wingdings" panose="05000000000000000000" pitchFamily="2" charset="2"/>
                        <a:buNone/>
                      </a:pPr>
                      <a:r>
                        <a:rPr kumimoji="0" lang="en-US" sz="2800" b="0" i="0" u="none" strike="noStrike" cap="none" normalizeH="0" baseline="0">
                          <a:ln>
                            <a:noFill/>
                          </a:ln>
                          <a:solidFill>
                            <a:schemeClr val="tx1"/>
                          </a:solidFill>
                          <a:effectLst>
                            <a:outerShdw blurRad="38100" dist="38100" dir="2700000" algn="tl">
                              <a:srgbClr val="000000"/>
                            </a:outerShdw>
                          </a:effectLst>
                          <a:latin typeface="Tahoma" panose="020B0604030504040204" pitchFamily="34" charset="0"/>
                          <a:cs typeface="Arial" panose="020B0604020202020204" pitchFamily="34" charset="0"/>
                        </a:rPr>
                        <a:t>Network</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headEnd type="none" w="med" len="med"/>
                      <a:tailEnd type="none" w="med" len="med"/>
                    </a:lnTlToBr>
                    <a:lnBlToTr>
                      <a:noFill/>
                      <a:headEnd type="none" w="med" len="med"/>
                      <a:tailEnd type="none" w="med" len="med"/>
                    </a:lnBlToTr>
                    <a:solidFill>
                      <a:schemeClr val="bg2"/>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65000"/>
                        <a:buFont typeface="Wingdings" panose="05000000000000000000" pitchFamily="2" charset="2"/>
                        <a:buNone/>
                      </a:pPr>
                      <a:r>
                        <a:rPr kumimoji="0" lang="en-US" sz="2800" b="0" i="0" u="none" strike="noStrike" cap="none" normalizeH="0" baseline="0">
                          <a:ln>
                            <a:noFill/>
                          </a:ln>
                          <a:solidFill>
                            <a:schemeClr val="tx1"/>
                          </a:solidFill>
                          <a:effectLst>
                            <a:outerShdw blurRad="38100" dist="38100" dir="2700000" algn="tl">
                              <a:srgbClr val="000000"/>
                            </a:outerShdw>
                          </a:effectLst>
                          <a:latin typeface="Tahoma" panose="020B0604030504040204" pitchFamily="34" charset="0"/>
                          <a:cs typeface="Arial" panose="020B0604020202020204" pitchFamily="34" charset="0"/>
                        </a:rPr>
                        <a:t>IP (IPv4), IPv6, ICMP, IGMP, ...</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headEnd type="none" w="med" len="med"/>
                      <a:tailEnd type="none" w="med" len="med"/>
                    </a:lnTlToBr>
                    <a:lnBlToTr>
                      <a:noFill/>
                      <a:headEnd type="none" w="med" len="med"/>
                      <a:tailEnd type="none" w="med" len="med"/>
                    </a:lnBlToTr>
                    <a:solidFill>
                      <a:schemeClr val="accent2"/>
                    </a:solidFill>
                  </a:tcPr>
                </a:tc>
                <a:extLst>
                  <a:ext uri="{0D108BD9-81ED-4DB2-BD59-A6C34878D82A}">
                    <a16:rowId xmlns:a16="http://schemas.microsoft.com/office/drawing/2014/main" val="10003"/>
                  </a:ext>
                </a:extLst>
              </a:tr>
              <a:tr h="623888">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65000"/>
                        <a:buFont typeface="Wingdings" panose="05000000000000000000" pitchFamily="2" charset="2"/>
                        <a:buNone/>
                      </a:pPr>
                      <a:r>
                        <a:rPr kumimoji="0" lang="en-US" sz="2800" b="0" i="0" u="none" strike="noStrike" cap="none" normalizeH="0" baseline="0">
                          <a:ln>
                            <a:noFill/>
                          </a:ln>
                          <a:solidFill>
                            <a:schemeClr val="tx1"/>
                          </a:solidFill>
                          <a:effectLst>
                            <a:outerShdw blurRad="38100" dist="38100" dir="2700000" algn="tl">
                              <a:srgbClr val="000000"/>
                            </a:outerShdw>
                          </a:effectLst>
                          <a:latin typeface="Tahoma" panose="020B0604030504040204" pitchFamily="34" charset="0"/>
                          <a:cs typeface="Arial" panose="020B0604020202020204" pitchFamily="34" charset="0"/>
                        </a:rPr>
                        <a:t>Data Link</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headEnd type="none" w="med" len="med"/>
                      <a:tailEnd type="none" w="med" len="med"/>
                    </a:lnTlToBr>
                    <a:lnBlToTr>
                      <a:noFill/>
                      <a:headEnd type="none" w="med" len="med"/>
                      <a:tailEnd type="none" w="med" len="med"/>
                    </a:lnBlToTr>
                    <a:solidFill>
                      <a:schemeClr val="bg2"/>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65000"/>
                        <a:buFont typeface="Wingdings" panose="05000000000000000000" pitchFamily="2" charset="2"/>
                        <a:buNone/>
                      </a:pPr>
                      <a:r>
                        <a:rPr kumimoji="0" lang="en-US" sz="2800" b="0" i="0" u="none" strike="noStrike" cap="none" normalizeH="0" baseline="0">
                          <a:ln>
                            <a:noFill/>
                          </a:ln>
                          <a:solidFill>
                            <a:schemeClr val="tx1"/>
                          </a:solidFill>
                          <a:effectLst>
                            <a:outerShdw blurRad="38100" dist="38100" dir="2700000" algn="tl">
                              <a:srgbClr val="000000"/>
                            </a:outerShdw>
                          </a:effectLst>
                          <a:latin typeface="Tahoma" panose="020B0604030504040204" pitchFamily="34" charset="0"/>
                          <a:cs typeface="Arial" panose="020B0604020202020204" pitchFamily="34" charset="0"/>
                        </a:rPr>
                        <a:t>Ethernet, Wi-Fi, PPP, ...</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headEnd type="none" w="med" len="med"/>
                      <a:tailEnd type="none" w="med" len="med"/>
                    </a:lnTlToBr>
                    <a:lnBlToTr>
                      <a:noFill/>
                      <a:headEnd type="none" w="med" len="med"/>
                      <a:tailEnd type="none" w="med" len="med"/>
                    </a:lnBlToTr>
                    <a:solidFill>
                      <a:schemeClr val="accent2"/>
                    </a:solidFill>
                  </a:tcPr>
                </a:tc>
                <a:extLst>
                  <a:ext uri="{0D108BD9-81ED-4DB2-BD59-A6C34878D82A}">
                    <a16:rowId xmlns:a16="http://schemas.microsoft.com/office/drawing/2014/main" val="10004"/>
                  </a:ext>
                </a:extLst>
              </a:tr>
              <a:tr h="625475">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65000"/>
                        <a:buFont typeface="Wingdings" panose="05000000000000000000" pitchFamily="2" charset="2"/>
                        <a:buNone/>
                      </a:pPr>
                      <a:r>
                        <a:rPr kumimoji="0" lang="en-US" sz="2800" b="0" i="0" u="none" strike="noStrike" cap="none" normalizeH="0" baseline="0">
                          <a:ln>
                            <a:noFill/>
                          </a:ln>
                          <a:solidFill>
                            <a:schemeClr val="tx1"/>
                          </a:solidFill>
                          <a:effectLst>
                            <a:outerShdw blurRad="38100" dist="38100" dir="2700000" algn="tl">
                              <a:srgbClr val="000000"/>
                            </a:outerShdw>
                          </a:effectLst>
                          <a:latin typeface="Tahoma" panose="020B0604030504040204" pitchFamily="34" charset="0"/>
                          <a:cs typeface="Arial" panose="020B0604020202020204" pitchFamily="34" charset="0"/>
                        </a:rPr>
                        <a:t>Physical</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headEnd type="none" w="med" len="med"/>
                      <a:tailEnd type="none" w="med" len="med"/>
                    </a:lnTlToBr>
                    <a:lnBlToTr>
                      <a:noFill/>
                      <a:headEnd type="none" w="med" len="med"/>
                      <a:tailEnd type="none" w="med" len="med"/>
                    </a:lnBlToTr>
                    <a:solidFill>
                      <a:schemeClr val="bg2"/>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65000"/>
                        <a:buFont typeface="Wingdings" panose="05000000000000000000" pitchFamily="2" charset="2"/>
                        <a:buNone/>
                      </a:pPr>
                      <a:r>
                        <a:rPr kumimoji="0" lang="en-US" sz="2800" b="0" i="0" u="none" strike="noStrike" cap="none" normalizeH="0" baseline="0">
                          <a:ln>
                            <a:noFill/>
                          </a:ln>
                          <a:solidFill>
                            <a:schemeClr val="tx1"/>
                          </a:solidFill>
                          <a:effectLst>
                            <a:outerShdw blurRad="38100" dist="38100" dir="2700000" algn="tl">
                              <a:srgbClr val="000000"/>
                            </a:outerShdw>
                          </a:effectLst>
                          <a:latin typeface="Tahoma" panose="020B0604030504040204" pitchFamily="34" charset="0"/>
                          <a:cs typeface="Arial" panose="020B0604020202020204" pitchFamily="34" charset="0"/>
                        </a:rPr>
                        <a:t>RS-232, DSL, 10Base-T, ...</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headEnd type="none" w="med" len="med"/>
                      <a:tailEnd type="none" w="med" len="med"/>
                    </a:lnTlToBr>
                    <a:lnBlToTr>
                      <a:noFill/>
                      <a:headEnd type="none" w="med" len="med"/>
                      <a:tailEnd type="none" w="med" len="med"/>
                    </a:lnBlToTr>
                    <a:solidFill>
                      <a:schemeClr val="accent2"/>
                    </a:solidFill>
                  </a:tcPr>
                </a:tc>
                <a:extLst>
                  <a:ext uri="{0D108BD9-81ED-4DB2-BD59-A6C34878D82A}">
                    <a16:rowId xmlns:a16="http://schemas.microsoft.com/office/drawing/2014/main" val="10005"/>
                  </a:ext>
                </a:extLst>
              </a:tr>
            </a:tbl>
          </a:graphicData>
        </a:graphic>
      </p:graphicFrame>
    </p:spTree>
  </p:cSld>
  <p:clrMapOvr>
    <a:overrideClrMapping bg1="lt1" tx1="dk1" bg2="lt2" tx2="dk2" accent1="accent1" accent2="accent2" accent3="accent3" accent4="accent4" accent5="accent5" accent6="accent6" hlink="hlink" folHlink="folHlink"/>
  </p:clrMapOvr>
</p:sld>
</file>

<file path=ppt/slides/slide6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49356" name="Title 1"/>
          <p:cNvSpPr>
            <a:spLocks noGrp="1"/>
          </p:cNvSpPr>
          <p:nvPr>
            <p:ph type="title"/>
          </p:nvPr>
        </p:nvSpPr>
        <p:spPr>
          <a:xfrm>
            <a:off x="457200" y="304800"/>
            <a:ext cx="8229600" cy="482599"/>
          </a:xfrm>
        </p:spPr>
        <p:txBody>
          <a:bodyPr/>
          <a:lstStyle/>
          <a:p>
            <a:r>
              <a:rPr lang="en-US" sz="2800" b="1"/>
              <a:t>OSI MODEL</a:t>
            </a:r>
          </a:p>
        </p:txBody>
      </p:sp>
      <p:sp>
        <p:nvSpPr>
          <p:cNvPr id="1049357" name="Content Placeholder 2"/>
          <p:cNvSpPr>
            <a:spLocks noGrp="1"/>
          </p:cNvSpPr>
          <p:nvPr>
            <p:ph type="body" idx="1"/>
          </p:nvPr>
        </p:nvSpPr>
        <p:spPr>
          <a:xfrm>
            <a:off x="129672" y="990600"/>
            <a:ext cx="8839200" cy="5279136"/>
          </a:xfrm>
        </p:spPr>
        <p:txBody>
          <a:bodyPr>
            <a:normAutofit/>
          </a:bodyPr>
          <a:lstStyle/>
          <a:p>
            <a:pPr marL="365760" marR="0" lvl="0" indent="-255905" algn="l" defTabSz="914400" rtl="0" eaLnBrk="1" fontAlgn="auto" latinLnBrk="0" hangingPunct="1">
              <a:lnSpc>
                <a:spcPct val="120000"/>
              </a:lnSpc>
              <a:spcBef>
                <a:spcPts val="300"/>
              </a:spcBef>
              <a:spcAft>
                <a:spcPts val="0"/>
              </a:spcAft>
              <a:buClr>
                <a:srgbClr val="A04DA3"/>
              </a:buClr>
              <a:buSzTx/>
              <a:buFont typeface="Georgia" panose="02040502050405020303"/>
              <a:buChar char="•"/>
            </a:pPr>
            <a:r>
              <a:rPr lang="en-US" sz="2400" kern="1200">
                <a:solidFill>
                  <a:prstClr val="black"/>
                </a:solidFill>
                <a:latin typeface="Times New Roman" panose="02020603050405020304" pitchFamily="18" charset="0"/>
                <a:cs typeface="Times New Roman" panose="02020603050405020304" pitchFamily="18" charset="0"/>
              </a:rPr>
              <a:t>OSI stands for </a:t>
            </a:r>
            <a:r>
              <a:rPr lang="en-US" sz="2400" kern="1200">
                <a:solidFill>
                  <a:srgbClr val="C00000"/>
                </a:solidFill>
                <a:latin typeface="Times New Roman" panose="02020603050405020304" pitchFamily="18" charset="0"/>
                <a:cs typeface="Times New Roman" panose="02020603050405020304" pitchFamily="18" charset="0"/>
              </a:rPr>
              <a:t>Open System Interconnection</a:t>
            </a:r>
            <a:r>
              <a:rPr lang="en-US" sz="2400" kern="1200">
                <a:solidFill>
                  <a:prstClr val="black"/>
                </a:solidFill>
                <a:latin typeface="Times New Roman" panose="02020603050405020304" pitchFamily="18" charset="0"/>
                <a:cs typeface="Times New Roman" panose="02020603050405020304" pitchFamily="18" charset="0"/>
              </a:rPr>
              <a:t>.</a:t>
            </a:r>
          </a:p>
          <a:p>
            <a:pPr marL="365760" marR="0" lvl="0" indent="-255905" algn="l" defTabSz="914400" rtl="0" eaLnBrk="1" fontAlgn="auto" latinLnBrk="0" hangingPunct="1">
              <a:lnSpc>
                <a:spcPct val="120000"/>
              </a:lnSpc>
              <a:spcBef>
                <a:spcPts val="300"/>
              </a:spcBef>
              <a:spcAft>
                <a:spcPts val="0"/>
              </a:spcAft>
              <a:buClr>
                <a:srgbClr val="A04DA3"/>
              </a:buClr>
              <a:buSzTx/>
              <a:buFont typeface="Georgia" panose="02040502050405020303"/>
              <a:buChar char="•"/>
            </a:pPr>
            <a:r>
              <a:rPr lang="en-US" sz="2400" kern="1200">
                <a:solidFill>
                  <a:prstClr val="black"/>
                </a:solidFill>
                <a:latin typeface="Times New Roman" panose="02020603050405020304" pitchFamily="18" charset="0"/>
                <a:cs typeface="Times New Roman" panose="02020603050405020304" pitchFamily="18" charset="0"/>
              </a:rPr>
              <a:t>Before networks came into existence, computers could only </a:t>
            </a:r>
            <a:r>
              <a:rPr lang="en-US" sz="2400" kern="1200">
                <a:solidFill>
                  <a:srgbClr val="C00000"/>
                </a:solidFill>
                <a:latin typeface="Times New Roman" panose="02020603050405020304" pitchFamily="18" charset="0"/>
                <a:cs typeface="Times New Roman" panose="02020603050405020304" pitchFamily="18" charset="0"/>
              </a:rPr>
              <a:t>communicate from the same manufacturers</a:t>
            </a:r>
            <a:r>
              <a:rPr lang="en-US" sz="2400" kern="1200">
                <a:solidFill>
                  <a:prstClr val="black"/>
                </a:solidFill>
                <a:latin typeface="Times New Roman" panose="02020603050405020304" pitchFamily="18" charset="0"/>
                <a:cs typeface="Times New Roman" panose="02020603050405020304" pitchFamily="18" charset="0"/>
              </a:rPr>
              <a:t>. </a:t>
            </a:r>
          </a:p>
          <a:p>
            <a:pPr marL="365760" marR="0" lvl="0" indent="-255905" algn="l" defTabSz="914400" rtl="0" eaLnBrk="1" fontAlgn="auto" latinLnBrk="0" hangingPunct="1">
              <a:lnSpc>
                <a:spcPct val="120000"/>
              </a:lnSpc>
              <a:spcBef>
                <a:spcPts val="300"/>
              </a:spcBef>
              <a:spcAft>
                <a:spcPts val="0"/>
              </a:spcAft>
              <a:buClr>
                <a:srgbClr val="A04DA3"/>
              </a:buClr>
              <a:buSzTx/>
              <a:buFont typeface="Georgia" panose="02040502050405020303"/>
              <a:buChar char="•"/>
            </a:pPr>
            <a:r>
              <a:rPr lang="en-US" sz="2400" kern="1200">
                <a:solidFill>
                  <a:prstClr val="black"/>
                </a:solidFill>
                <a:latin typeface="Times New Roman" panose="02020603050405020304" pitchFamily="18" charset="0"/>
                <a:cs typeface="Times New Roman" panose="02020603050405020304" pitchFamily="18" charset="0"/>
              </a:rPr>
              <a:t>OSI was designed by </a:t>
            </a:r>
            <a:r>
              <a:rPr lang="en-US" sz="2400" kern="1200">
                <a:solidFill>
                  <a:srgbClr val="C00000"/>
                </a:solidFill>
                <a:latin typeface="Times New Roman" panose="02020603050405020304" pitchFamily="18" charset="0"/>
                <a:cs typeface="Times New Roman" panose="02020603050405020304" pitchFamily="18" charset="0"/>
              </a:rPr>
              <a:t>ISO</a:t>
            </a:r>
            <a:r>
              <a:rPr lang="en-US" sz="2400" kern="1200">
                <a:solidFill>
                  <a:prstClr val="black"/>
                </a:solidFill>
                <a:latin typeface="Times New Roman" panose="02020603050405020304" pitchFamily="18" charset="0"/>
                <a:cs typeface="Times New Roman" panose="02020603050405020304" pitchFamily="18" charset="0"/>
              </a:rPr>
              <a:t> (International Organization for Standardization) in late </a:t>
            </a:r>
            <a:r>
              <a:rPr lang="en-US" sz="2400" kern="1200">
                <a:solidFill>
                  <a:srgbClr val="C00000"/>
                </a:solidFill>
                <a:latin typeface="Times New Roman" panose="02020603050405020304" pitchFamily="18" charset="0"/>
                <a:cs typeface="Times New Roman" panose="02020603050405020304" pitchFamily="18" charset="0"/>
              </a:rPr>
              <a:t>1970</a:t>
            </a:r>
            <a:r>
              <a:rPr lang="en-US" sz="2400" kern="1200">
                <a:solidFill>
                  <a:prstClr val="black"/>
                </a:solidFill>
                <a:latin typeface="Times New Roman" panose="02020603050405020304" pitchFamily="18" charset="0"/>
                <a:cs typeface="Times New Roman" panose="02020603050405020304" pitchFamily="18" charset="0"/>
              </a:rPr>
              <a:t>’s.</a:t>
            </a:r>
          </a:p>
          <a:p>
            <a:pPr marL="365760" marR="0" lvl="0" indent="-255905" algn="l" defTabSz="914400" rtl="0" eaLnBrk="1" fontAlgn="auto" latinLnBrk="0" hangingPunct="1">
              <a:lnSpc>
                <a:spcPct val="120000"/>
              </a:lnSpc>
              <a:spcBef>
                <a:spcPts val="300"/>
              </a:spcBef>
              <a:spcAft>
                <a:spcPts val="0"/>
              </a:spcAft>
              <a:buClr>
                <a:srgbClr val="A04DA3"/>
              </a:buClr>
              <a:buSzTx/>
              <a:buFont typeface="Georgia" panose="02040502050405020303"/>
              <a:buChar char="•"/>
            </a:pPr>
            <a:r>
              <a:rPr lang="en-US" sz="2400" kern="1200">
                <a:solidFill>
                  <a:prstClr val="black"/>
                </a:solidFill>
                <a:latin typeface="Times New Roman" panose="02020603050405020304" pitchFamily="18" charset="0"/>
                <a:cs typeface="Times New Roman" panose="02020603050405020304" pitchFamily="18" charset="0"/>
              </a:rPr>
              <a:t>To break this barrier so that Computers from different manufacturer </a:t>
            </a:r>
            <a:r>
              <a:rPr lang="en-US" sz="2400" kern="1200">
                <a:solidFill>
                  <a:srgbClr val="C00000"/>
                </a:solidFill>
                <a:latin typeface="Times New Roman" panose="02020603050405020304" pitchFamily="18" charset="0"/>
                <a:cs typeface="Times New Roman" panose="02020603050405020304" pitchFamily="18" charset="0"/>
              </a:rPr>
              <a:t>could communicate with each other</a:t>
            </a:r>
            <a:r>
              <a:rPr lang="en-US" sz="2400" kern="1200">
                <a:solidFill>
                  <a:prstClr val="black"/>
                </a:solidFill>
                <a:latin typeface="Times New Roman" panose="02020603050405020304" pitchFamily="18" charset="0"/>
                <a:cs typeface="Times New Roman" panose="02020603050405020304" pitchFamily="18" charset="0"/>
              </a:rPr>
              <a:t>.</a:t>
            </a:r>
          </a:p>
          <a:p>
            <a:pPr marL="365760" marR="0" lvl="0" indent="-255905" algn="l" defTabSz="914400" rtl="0" eaLnBrk="1" fontAlgn="auto" latinLnBrk="0" hangingPunct="1">
              <a:lnSpc>
                <a:spcPct val="120000"/>
              </a:lnSpc>
              <a:spcBef>
                <a:spcPts val="300"/>
              </a:spcBef>
              <a:spcAft>
                <a:spcPts val="0"/>
              </a:spcAft>
              <a:buClr>
                <a:srgbClr val="A04DA3"/>
              </a:buClr>
              <a:buSzTx/>
              <a:buFont typeface="Georgia" panose="02040502050405020303"/>
              <a:buChar char="•"/>
            </a:pPr>
            <a:r>
              <a:rPr lang="en-US" sz="2400" kern="1200">
                <a:solidFill>
                  <a:prstClr val="black"/>
                </a:solidFill>
                <a:latin typeface="Times New Roman" panose="02020603050405020304" pitchFamily="18" charset="0"/>
                <a:cs typeface="Times New Roman" panose="02020603050405020304" pitchFamily="18" charset="0"/>
              </a:rPr>
              <a:t>OSI is a “</a:t>
            </a:r>
            <a:r>
              <a:rPr lang="en-US" sz="2400" kern="1200">
                <a:solidFill>
                  <a:srgbClr val="C00000"/>
                </a:solidFill>
                <a:latin typeface="Times New Roman" panose="02020603050405020304" pitchFamily="18" charset="0"/>
                <a:cs typeface="Times New Roman" panose="02020603050405020304" pitchFamily="18" charset="0"/>
              </a:rPr>
              <a:t>Layered Approach</a:t>
            </a:r>
            <a:r>
              <a:rPr lang="en-US" sz="2400" kern="1200">
                <a:solidFill>
                  <a:prstClr val="black"/>
                </a:solidFill>
                <a:latin typeface="Times New Roman" panose="02020603050405020304" pitchFamily="18" charset="0"/>
                <a:cs typeface="Times New Roman" panose="02020603050405020304" pitchFamily="18" charset="0"/>
              </a:rPr>
              <a:t>”, which is a </a:t>
            </a:r>
            <a:r>
              <a:rPr lang="en-US" sz="2400" kern="1200">
                <a:solidFill>
                  <a:srgbClr val="C00000"/>
                </a:solidFill>
                <a:latin typeface="Times New Roman" panose="02020603050405020304" pitchFamily="18" charset="0"/>
                <a:cs typeface="Times New Roman" panose="02020603050405020304" pitchFamily="18" charset="0"/>
              </a:rPr>
              <a:t>logical</a:t>
            </a:r>
            <a:r>
              <a:rPr lang="en-US" sz="2400" kern="1200">
                <a:solidFill>
                  <a:prstClr val="black"/>
                </a:solidFill>
                <a:latin typeface="Times New Roman" panose="02020603050405020304" pitchFamily="18" charset="0"/>
                <a:cs typeface="Times New Roman" panose="02020603050405020304" pitchFamily="18" charset="0"/>
              </a:rPr>
              <a:t> representation of how Data Communication should occur.</a:t>
            </a:r>
          </a:p>
          <a:p>
            <a:endParaRPr lang="en-US"/>
          </a:p>
        </p:txBody>
      </p:sp>
      <p:sp>
        <p:nvSpPr>
          <p:cNvPr id="1049358" name="Slide Number Placeholder 3"/>
          <p:cNvSpPr>
            <a:spLocks noGrp="1"/>
          </p:cNvSpPr>
          <p:nvPr>
            <p:ph type="sldNum" sz="quarter" idx="7"/>
          </p:nvPr>
        </p:nvSpPr>
        <p:spPr/>
        <p:txBody>
          <a:bodyPr/>
          <a:lstStyle/>
          <a:p>
            <a:fld id="{BCC20C3A-8631-44B9-B2EA-782A539FC911}" type="slidenum">
              <a:rPr lang="en-US" smtClean="0"/>
              <a:t>64</a:t>
            </a:fld>
            <a:endParaRPr lang="en-US"/>
          </a:p>
        </p:txBody>
      </p:sp>
    </p:spTree>
  </p:cSld>
  <p:clrMapOvr>
    <a:overrideClrMapping bg1="lt1" tx1="dk1" bg2="lt2" tx2="dk2" accent1="accent1" accent2="accent2" accent3="accent3" accent4="accent4" accent5="accent5" accent6="accent6" hlink="hlink" folHlink="folHlink"/>
  </p:clrMapOvr>
</p:sld>
</file>

<file path=ppt/slides/slide6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49369" name="Rectangle 2"/>
          <p:cNvSpPr>
            <a:spLocks noGrp="1" noChangeArrowheads="1"/>
          </p:cNvSpPr>
          <p:nvPr>
            <p:ph type="title"/>
          </p:nvPr>
        </p:nvSpPr>
        <p:spPr>
          <a:xfrm>
            <a:off x="76200" y="0"/>
            <a:ext cx="8534400" cy="469900"/>
          </a:xfrm>
        </p:spPr>
        <p:txBody>
          <a:bodyPr/>
          <a:lstStyle/>
          <a:p>
            <a:pPr eaLnBrk="1" hangingPunct="1"/>
            <a:r>
              <a:rPr lang="en-US"/>
              <a:t>OSI Model</a:t>
            </a:r>
          </a:p>
        </p:txBody>
      </p:sp>
      <p:sp>
        <p:nvSpPr>
          <p:cNvPr id="1049371" name="Content Placeholder 1"/>
          <p:cNvSpPr>
            <a:spLocks noGrp="1"/>
          </p:cNvSpPr>
          <p:nvPr>
            <p:ph sz="half" idx="3"/>
          </p:nvPr>
        </p:nvSpPr>
        <p:spPr>
          <a:xfrm>
            <a:off x="4648200" y="1600200"/>
            <a:ext cx="4038600" cy="4686300"/>
          </a:xfrm>
        </p:spPr>
        <p:txBody>
          <a:bodyPr/>
          <a:lstStyle/>
          <a:p>
            <a:r>
              <a:rPr lang="en-US" sz="2400">
                <a:latin typeface="Times New Roman" panose="02020603050405020304" pitchFamily="18" charset="0"/>
                <a:cs typeface="Times New Roman" panose="02020603050405020304" pitchFamily="18" charset="0"/>
              </a:rPr>
              <a:t>OSI has 7 different layers</a:t>
            </a:r>
          </a:p>
          <a:p>
            <a:r>
              <a:rPr lang="en-IN" sz="2400">
                <a:latin typeface="Times New Roman" panose="02020603050405020304" pitchFamily="18" charset="0"/>
                <a:cs typeface="Times New Roman" panose="02020603050405020304" pitchFamily="18" charset="0"/>
              </a:rPr>
              <a:t>Two new layers is added</a:t>
            </a:r>
          </a:p>
          <a:p>
            <a:pPr lvl="1"/>
            <a:r>
              <a:rPr lang="en-IN" sz="2000">
                <a:latin typeface="Times New Roman" panose="02020603050405020304" pitchFamily="18" charset="0"/>
                <a:cs typeface="Times New Roman" panose="02020603050405020304" pitchFamily="18" charset="0"/>
              </a:rPr>
              <a:t>Presentation Layer</a:t>
            </a:r>
          </a:p>
          <a:p>
            <a:pPr lvl="1"/>
            <a:r>
              <a:rPr lang="en-IN" sz="2000">
                <a:latin typeface="Times New Roman" panose="02020603050405020304" pitchFamily="18" charset="0"/>
                <a:cs typeface="Times New Roman" panose="02020603050405020304" pitchFamily="18" charset="0"/>
              </a:rPr>
              <a:t>Session Layer</a:t>
            </a:r>
          </a:p>
          <a:p>
            <a:r>
              <a:rPr lang="en-US" sz="2400">
                <a:latin typeface="Times New Roman" panose="02020603050405020304" pitchFamily="18" charset="0"/>
                <a:cs typeface="Times New Roman" panose="02020603050405020304" pitchFamily="18" charset="0"/>
              </a:rPr>
              <a:t>It is divided into two groups, </a:t>
            </a:r>
          </a:p>
          <a:p>
            <a:pPr lvl="1"/>
            <a:r>
              <a:rPr lang="en-US" sz="2000">
                <a:latin typeface="Times New Roman" panose="02020603050405020304" pitchFamily="18" charset="0"/>
                <a:cs typeface="Times New Roman" panose="02020603050405020304" pitchFamily="18" charset="0"/>
              </a:rPr>
              <a:t>Top 3 layers defines how application within end stations will communicate with each other and with the user (</a:t>
            </a:r>
            <a:r>
              <a:rPr lang="en-US" sz="2000">
                <a:solidFill>
                  <a:srgbClr val="C00000"/>
                </a:solidFill>
                <a:latin typeface="Times New Roman" panose="02020603050405020304" pitchFamily="18" charset="0"/>
                <a:cs typeface="Times New Roman" panose="02020603050405020304" pitchFamily="18" charset="0"/>
              </a:rPr>
              <a:t>Software Layer</a:t>
            </a:r>
            <a:r>
              <a:rPr lang="en-US" sz="2000">
                <a:latin typeface="Times New Roman" panose="02020603050405020304" pitchFamily="18" charset="0"/>
                <a:cs typeface="Times New Roman" panose="02020603050405020304" pitchFamily="18" charset="0"/>
              </a:rPr>
              <a:t>). </a:t>
            </a:r>
          </a:p>
          <a:p>
            <a:pPr lvl="1"/>
            <a:r>
              <a:rPr lang="en-US" sz="2000">
                <a:latin typeface="Times New Roman" panose="02020603050405020304" pitchFamily="18" charset="0"/>
                <a:cs typeface="Times New Roman" panose="02020603050405020304" pitchFamily="18" charset="0"/>
              </a:rPr>
              <a:t>Bottom 4 layers defines how actually data is transferred (</a:t>
            </a:r>
            <a:r>
              <a:rPr lang="en-US" sz="2000">
                <a:solidFill>
                  <a:srgbClr val="C00000"/>
                </a:solidFill>
                <a:latin typeface="Times New Roman" panose="02020603050405020304" pitchFamily="18" charset="0"/>
                <a:cs typeface="Times New Roman" panose="02020603050405020304" pitchFamily="18" charset="0"/>
              </a:rPr>
              <a:t>Hardware Layer</a:t>
            </a:r>
            <a:r>
              <a:rPr lang="en-US" sz="2000">
                <a:latin typeface="Times New Roman" panose="02020603050405020304" pitchFamily="18" charset="0"/>
                <a:cs typeface="Times New Roman" panose="02020603050405020304" pitchFamily="18" charset="0"/>
              </a:rPr>
              <a:t>).</a:t>
            </a:r>
          </a:p>
        </p:txBody>
      </p:sp>
      <p:sp>
        <p:nvSpPr>
          <p:cNvPr id="1049372" name="Slide Number Placeholder 6"/>
          <p:cNvSpPr>
            <a:spLocks noGrp="1"/>
          </p:cNvSpPr>
          <p:nvPr>
            <p:ph type="sldNum" sz="quarter" idx="7"/>
          </p:nvPr>
        </p:nvSpPr>
        <p:spPr/>
        <p:txBody>
          <a:bodyPr/>
          <a:lstStyle/>
          <a:p>
            <a:fld id="{3CB3AD18-A2B3-422C-8B5B-310ED14E1104}" type="slidenum">
              <a:rPr lang="en-US"/>
              <a:t>65</a:t>
            </a:fld>
            <a:endParaRPr lang="en-US"/>
          </a:p>
        </p:txBody>
      </p:sp>
      <p:graphicFrame>
        <p:nvGraphicFramePr>
          <p:cNvPr id="4194308" name="Group 54"/>
          <p:cNvGraphicFramePr>
            <a:graphicFrameLocks noGrp="1"/>
          </p:cNvGraphicFramePr>
          <p:nvPr/>
        </p:nvGraphicFramePr>
        <p:xfrm>
          <a:off x="304800" y="1524000"/>
          <a:ext cx="3276600" cy="3429002"/>
        </p:xfrm>
        <a:graphic>
          <a:graphicData uri="http://schemas.openxmlformats.org/drawingml/2006/table">
            <a:tbl>
              <a:tblPr/>
              <a:tblGrid>
                <a:gridCol w="3276600">
                  <a:extLst>
                    <a:ext uri="{9D8B030D-6E8A-4147-A177-3AD203B41FA5}">
                      <a16:colId xmlns:a16="http://schemas.microsoft.com/office/drawing/2014/main" val="20000"/>
                    </a:ext>
                  </a:extLst>
                </a:gridCol>
              </a:tblGrid>
              <a:tr h="490538">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65000"/>
                        <a:buFont typeface="Wingdings" panose="05000000000000000000" pitchFamily="2" charset="2"/>
                        <a:buNone/>
                      </a:pPr>
                      <a:r>
                        <a:rPr kumimoji="0" lang="en-US" sz="2400" b="0" i="0" u="none" strike="noStrike" cap="none" normalizeH="0" baseline="0">
                          <a:ln>
                            <a:noFill/>
                          </a:ln>
                          <a:solidFill>
                            <a:schemeClr val="tx1"/>
                          </a:solidFill>
                          <a:effectLst>
                            <a:outerShdw blurRad="38100" dist="38100" dir="2700000" algn="tl">
                              <a:srgbClr val="000000"/>
                            </a:outerShdw>
                          </a:effectLst>
                          <a:latin typeface="Tahoma" panose="020B0604030504040204" pitchFamily="34" charset="0"/>
                          <a:cs typeface="Arial" panose="020B0604020202020204" pitchFamily="34" charset="0"/>
                        </a:rPr>
                        <a:t>7.Application Layer</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headEnd type="none" w="med" len="med"/>
                      <a:tailEnd type="none" w="med" len="med"/>
                    </a:lnTlToBr>
                    <a:lnBlToTr>
                      <a:noFill/>
                      <a:headEnd type="none" w="med" len="med"/>
                      <a:tailEnd type="none" w="med" len="med"/>
                    </a:lnBlToTr>
                    <a:solidFill>
                      <a:schemeClr val="accent1"/>
                    </a:solidFill>
                  </a:tcPr>
                </a:tc>
                <a:extLst>
                  <a:ext uri="{0D108BD9-81ED-4DB2-BD59-A6C34878D82A}">
                    <a16:rowId xmlns:a16="http://schemas.microsoft.com/office/drawing/2014/main" val="10000"/>
                  </a:ext>
                </a:extLst>
              </a:tr>
              <a:tr h="488950">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65000"/>
                        <a:buFont typeface="Wingdings" panose="05000000000000000000" pitchFamily="2" charset="2"/>
                        <a:buNone/>
                      </a:pPr>
                      <a:r>
                        <a:rPr kumimoji="0" lang="en-US" sz="2400" b="0" i="0" u="none" strike="noStrike" cap="none" normalizeH="0" baseline="0">
                          <a:ln>
                            <a:noFill/>
                          </a:ln>
                          <a:solidFill>
                            <a:srgbClr val="FF0000"/>
                          </a:solidFill>
                          <a:effectLst>
                            <a:outerShdw blurRad="38100" dist="38100" dir="2700000" algn="tl">
                              <a:srgbClr val="000000"/>
                            </a:outerShdw>
                          </a:effectLst>
                          <a:latin typeface="Tahoma" panose="020B0604030504040204" pitchFamily="34" charset="0"/>
                          <a:cs typeface="Arial" panose="020B0604020202020204" pitchFamily="34" charset="0"/>
                        </a:rPr>
                        <a:t>6.Presentation Layer</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headEnd type="none" w="med" len="med"/>
                      <a:tailEnd type="none" w="med" len="med"/>
                    </a:lnTlToBr>
                    <a:lnBlToTr>
                      <a:noFill/>
                      <a:headEnd type="none" w="med" len="med"/>
                      <a:tailEnd type="none" w="med" len="med"/>
                    </a:lnBlToTr>
                    <a:solidFill>
                      <a:schemeClr val="accent1"/>
                    </a:solidFill>
                  </a:tcPr>
                </a:tc>
                <a:extLst>
                  <a:ext uri="{0D108BD9-81ED-4DB2-BD59-A6C34878D82A}">
                    <a16:rowId xmlns:a16="http://schemas.microsoft.com/office/drawing/2014/main" val="10001"/>
                  </a:ext>
                </a:extLst>
              </a:tr>
              <a:tr h="488950">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65000"/>
                        <a:buFont typeface="Wingdings" panose="05000000000000000000" pitchFamily="2" charset="2"/>
                        <a:buNone/>
                      </a:pPr>
                      <a:r>
                        <a:rPr kumimoji="0" lang="en-US" sz="2400" b="0" i="0" u="none" strike="noStrike" cap="none" normalizeH="0" baseline="0">
                          <a:ln>
                            <a:noFill/>
                          </a:ln>
                          <a:solidFill>
                            <a:srgbClr val="FF0000"/>
                          </a:solidFill>
                          <a:effectLst>
                            <a:outerShdw blurRad="38100" dist="38100" dir="2700000" algn="tl">
                              <a:srgbClr val="000000"/>
                            </a:outerShdw>
                          </a:effectLst>
                          <a:latin typeface="Tahoma" panose="020B0604030504040204" pitchFamily="34" charset="0"/>
                          <a:cs typeface="Arial" panose="020B0604020202020204" pitchFamily="34" charset="0"/>
                        </a:rPr>
                        <a:t>5.Session Layer</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headEnd type="none" w="med" len="med"/>
                      <a:tailEnd type="none" w="med" len="med"/>
                    </a:lnTlToBr>
                    <a:lnBlToTr>
                      <a:noFill/>
                      <a:headEnd type="none" w="med" len="med"/>
                      <a:tailEnd type="none" w="med" len="med"/>
                    </a:lnBlToTr>
                    <a:solidFill>
                      <a:schemeClr val="accent2"/>
                    </a:solidFill>
                  </a:tcPr>
                </a:tc>
                <a:extLst>
                  <a:ext uri="{0D108BD9-81ED-4DB2-BD59-A6C34878D82A}">
                    <a16:rowId xmlns:a16="http://schemas.microsoft.com/office/drawing/2014/main" val="10002"/>
                  </a:ext>
                </a:extLst>
              </a:tr>
              <a:tr h="490538">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65000"/>
                        <a:buFont typeface="Wingdings" panose="05000000000000000000" pitchFamily="2" charset="2"/>
                        <a:buNone/>
                      </a:pPr>
                      <a:r>
                        <a:rPr kumimoji="0" lang="en-US" sz="2400" b="0" i="0" u="none" strike="noStrike" cap="none" normalizeH="0" baseline="0">
                          <a:ln>
                            <a:noFill/>
                          </a:ln>
                          <a:solidFill>
                            <a:schemeClr val="tx1"/>
                          </a:solidFill>
                          <a:effectLst>
                            <a:outerShdw blurRad="38100" dist="38100" dir="2700000" algn="tl">
                              <a:srgbClr val="000000"/>
                            </a:outerShdw>
                          </a:effectLst>
                          <a:latin typeface="Tahoma" panose="020B0604030504040204" pitchFamily="34" charset="0"/>
                          <a:cs typeface="Arial" panose="020B0604020202020204" pitchFamily="34" charset="0"/>
                        </a:rPr>
                        <a:t>4.Transport Layer</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headEnd type="none" w="med" len="med"/>
                      <a:tailEnd type="none" w="med" len="med"/>
                    </a:lnTlToBr>
                    <a:lnBlToTr>
                      <a:noFill/>
                      <a:headEnd type="none" w="med" len="med"/>
                      <a:tailEnd type="none" w="med" len="med"/>
                    </a:lnBlToTr>
                    <a:solidFill>
                      <a:schemeClr val="accent2"/>
                    </a:solidFill>
                  </a:tcPr>
                </a:tc>
                <a:extLst>
                  <a:ext uri="{0D108BD9-81ED-4DB2-BD59-A6C34878D82A}">
                    <a16:rowId xmlns:a16="http://schemas.microsoft.com/office/drawing/2014/main" val="10003"/>
                  </a:ext>
                </a:extLst>
              </a:tr>
              <a:tr h="490538">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65000"/>
                        <a:buFont typeface="Wingdings" panose="05000000000000000000" pitchFamily="2" charset="2"/>
                        <a:buNone/>
                      </a:pPr>
                      <a:r>
                        <a:rPr kumimoji="0" lang="en-US" sz="2400" b="0" i="0" u="none" strike="noStrike" cap="none" normalizeH="0" baseline="0">
                          <a:ln>
                            <a:noFill/>
                          </a:ln>
                          <a:solidFill>
                            <a:schemeClr val="tx1"/>
                          </a:solidFill>
                          <a:effectLst>
                            <a:outerShdw blurRad="38100" dist="38100" dir="2700000" algn="tl">
                              <a:srgbClr val="000000"/>
                            </a:outerShdw>
                          </a:effectLst>
                          <a:latin typeface="Tahoma" panose="020B0604030504040204" pitchFamily="34" charset="0"/>
                          <a:cs typeface="Arial" panose="020B0604020202020204" pitchFamily="34" charset="0"/>
                        </a:rPr>
                        <a:t>3.Network Layer</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headEnd type="none" w="med" len="med"/>
                      <a:tailEnd type="none" w="med" len="med"/>
                    </a:lnTlToBr>
                    <a:lnBlToTr>
                      <a:noFill/>
                      <a:headEnd type="none" w="med" len="med"/>
                      <a:tailEnd type="none" w="med" len="med"/>
                    </a:lnBlToTr>
                    <a:solidFill>
                      <a:schemeClr val="bg1"/>
                    </a:solidFill>
                  </a:tcPr>
                </a:tc>
                <a:extLst>
                  <a:ext uri="{0D108BD9-81ED-4DB2-BD59-A6C34878D82A}">
                    <a16:rowId xmlns:a16="http://schemas.microsoft.com/office/drawing/2014/main" val="10004"/>
                  </a:ext>
                </a:extLst>
              </a:tr>
              <a:tr h="488950">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65000"/>
                        <a:buFont typeface="Wingdings" panose="05000000000000000000" pitchFamily="2" charset="2"/>
                        <a:buNone/>
                      </a:pPr>
                      <a:r>
                        <a:rPr kumimoji="0" lang="en-US" sz="2400" b="0" i="0" u="none" strike="noStrike" cap="none" normalizeH="0" baseline="0">
                          <a:ln>
                            <a:noFill/>
                          </a:ln>
                          <a:solidFill>
                            <a:schemeClr val="tx1"/>
                          </a:solidFill>
                          <a:effectLst>
                            <a:outerShdw blurRad="38100" dist="38100" dir="2700000" algn="tl">
                              <a:srgbClr val="000000"/>
                            </a:outerShdw>
                          </a:effectLst>
                          <a:latin typeface="Tahoma" panose="020B0604030504040204" pitchFamily="34" charset="0"/>
                          <a:cs typeface="Arial" panose="020B0604020202020204" pitchFamily="34" charset="0"/>
                        </a:rPr>
                        <a:t>2.Data Link Layer</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headEnd type="none" w="med" len="med"/>
                      <a:tailEnd type="none" w="med" len="med"/>
                    </a:lnTlToBr>
                    <a:lnBlToTr>
                      <a:noFill/>
                      <a:headEnd type="none" w="med" len="med"/>
                      <a:tailEnd type="none" w="med" len="med"/>
                    </a:lnBlToTr>
                    <a:solidFill>
                      <a:schemeClr val="bg2"/>
                    </a:solidFill>
                  </a:tcPr>
                </a:tc>
                <a:extLst>
                  <a:ext uri="{0D108BD9-81ED-4DB2-BD59-A6C34878D82A}">
                    <a16:rowId xmlns:a16="http://schemas.microsoft.com/office/drawing/2014/main" val="10005"/>
                  </a:ext>
                </a:extLst>
              </a:tr>
              <a:tr h="490538">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65000"/>
                        <a:buFont typeface="Wingdings" panose="05000000000000000000" pitchFamily="2" charset="2"/>
                        <a:buNone/>
                      </a:pPr>
                      <a:r>
                        <a:rPr kumimoji="0" lang="en-US" sz="2400" b="0" i="0" u="none" strike="noStrike" cap="none" normalizeH="0" baseline="0">
                          <a:ln>
                            <a:noFill/>
                          </a:ln>
                          <a:solidFill>
                            <a:schemeClr val="bg1"/>
                          </a:solidFill>
                          <a:effectLst>
                            <a:outerShdw blurRad="38100" dist="38100" dir="2700000" algn="tl">
                              <a:srgbClr val="003366"/>
                            </a:outerShdw>
                          </a:effectLst>
                          <a:latin typeface="Tahoma" panose="020B0604030504040204" pitchFamily="34" charset="0"/>
                          <a:cs typeface="Arial" panose="020B0604020202020204" pitchFamily="34" charset="0"/>
                        </a:rPr>
                        <a:t>1.Physical Layer</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headEnd type="none" w="med" len="med"/>
                      <a:tailEnd type="none" w="med" len="med"/>
                    </a:lnTlToBr>
                    <a:lnBlToTr>
                      <a:noFill/>
                      <a:headEnd type="none" w="med" len="med"/>
                      <a:tailEnd type="none" w="med" len="med"/>
                    </a:lnBlToTr>
                    <a:solidFill>
                      <a:srgbClr val="080808"/>
                    </a:solidFill>
                  </a:tcPr>
                </a:tc>
                <a:extLst>
                  <a:ext uri="{0D108BD9-81ED-4DB2-BD59-A6C34878D82A}">
                    <a16:rowId xmlns:a16="http://schemas.microsoft.com/office/drawing/2014/main" val="10006"/>
                  </a:ext>
                </a:extLst>
              </a:tr>
            </a:tbl>
          </a:graphicData>
        </a:graphic>
      </p:graphicFrame>
      <p:sp>
        <p:nvSpPr>
          <p:cNvPr id="1049373" name="Oval 55"/>
          <p:cNvSpPr>
            <a:spLocks noChangeArrowheads="1"/>
          </p:cNvSpPr>
          <p:nvPr/>
        </p:nvSpPr>
        <p:spPr bwMode="auto">
          <a:xfrm>
            <a:off x="495300" y="745035"/>
            <a:ext cx="3200400" cy="609600"/>
          </a:xfrm>
          <a:prstGeom prst="ellipse">
            <a:avLst/>
          </a:prstGeom>
          <a:solidFill>
            <a:schemeClr val="tx1"/>
          </a:solidFill>
          <a:ln w="38100">
            <a:solidFill>
              <a:schemeClr val="folHlink"/>
            </a:solidFill>
            <a:round/>
          </a:ln>
        </p:spPr>
        <p:txBody>
          <a:bodyPr wrap="none" anchor="ctr"/>
          <a:lstStyle/>
          <a:p>
            <a:pPr algn="ctr" fontAlgn="base">
              <a:spcBef>
                <a:spcPct val="0"/>
              </a:spcBef>
              <a:spcAft>
                <a:spcPct val="0"/>
              </a:spcAft>
            </a:pPr>
            <a:r>
              <a:rPr lang="en-US" sz="3200">
                <a:solidFill>
                  <a:srgbClr val="DEDEDE"/>
                </a:solidFill>
                <a:latin typeface="Tahoma" panose="020B0604030504040204" pitchFamily="34" charset="0"/>
                <a:cs typeface="Arial" panose="020B0604020202020204" pitchFamily="34" charset="0"/>
              </a:rPr>
              <a:t>User</a:t>
            </a:r>
          </a:p>
        </p:txBody>
      </p:sp>
      <p:sp>
        <p:nvSpPr>
          <p:cNvPr id="1049374" name="Oval 56"/>
          <p:cNvSpPr>
            <a:spLocks noChangeArrowheads="1"/>
          </p:cNvSpPr>
          <p:nvPr/>
        </p:nvSpPr>
        <p:spPr bwMode="auto">
          <a:xfrm>
            <a:off x="533400" y="5105400"/>
            <a:ext cx="3124200" cy="609600"/>
          </a:xfrm>
          <a:prstGeom prst="ellipse">
            <a:avLst/>
          </a:prstGeom>
          <a:solidFill>
            <a:schemeClr val="tx1"/>
          </a:solidFill>
          <a:ln w="38100">
            <a:solidFill>
              <a:schemeClr val="folHlink"/>
            </a:solidFill>
            <a:round/>
          </a:ln>
        </p:spPr>
        <p:txBody>
          <a:bodyPr wrap="none" anchor="ctr"/>
          <a:lstStyle/>
          <a:p>
            <a:pPr algn="ctr" fontAlgn="base">
              <a:spcBef>
                <a:spcPct val="0"/>
              </a:spcBef>
              <a:spcAft>
                <a:spcPct val="0"/>
              </a:spcAft>
            </a:pPr>
            <a:r>
              <a:rPr lang="en-US">
                <a:solidFill>
                  <a:srgbClr val="DEDEDE"/>
                </a:solidFill>
                <a:latin typeface="Tahoma" panose="020B0604030504040204" pitchFamily="34" charset="0"/>
                <a:cs typeface="Arial" panose="020B0604020202020204" pitchFamily="34" charset="0"/>
              </a:rPr>
              <a:t>Transmission</a:t>
            </a:r>
            <a:br>
              <a:rPr lang="en-US">
                <a:solidFill>
                  <a:srgbClr val="DEDEDE"/>
                </a:solidFill>
                <a:latin typeface="Tahoma" panose="020B0604030504040204" pitchFamily="34" charset="0"/>
                <a:cs typeface="Arial" panose="020B0604020202020204" pitchFamily="34" charset="0"/>
              </a:rPr>
            </a:br>
            <a:r>
              <a:rPr lang="en-US">
                <a:solidFill>
                  <a:srgbClr val="DEDEDE"/>
                </a:solidFill>
                <a:latin typeface="Tahoma" panose="020B0604030504040204" pitchFamily="34" charset="0"/>
                <a:cs typeface="Arial" panose="020B0604020202020204" pitchFamily="34" charset="0"/>
              </a:rPr>
              <a:t>Medium</a:t>
            </a:r>
          </a:p>
        </p:txBody>
      </p:sp>
    </p:spTree>
  </p:cSld>
  <p:clrMapOvr>
    <a:overrideClrMapping bg1="lt1" tx1="dk1" bg2="lt2" tx2="dk2" accent1="accent1" accent2="accent2" accent3="accent3" accent4="accent4" accent5="accent5" accent6="accent6" hlink="hlink" folHlink="folHlink"/>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359" name="Slide Number Placeholder 1"/>
          <p:cNvSpPr txBox="1">
            <a:spLocks noGrp="1"/>
          </p:cNvSpPr>
          <p:nvPr>
            <p:ph type="sldNum" sz="quarter" idx="10"/>
          </p:nvPr>
        </p:nvSpPr>
        <p:spPr/>
        <p:txBody>
          <a:bodyPr anchor="b" anchorCtr="0"/>
          <a:lstStyle>
            <a:lvl1pPr marL="0" lvl="0" indent="0" algn="l" defTabSz="914400" rtl="0" eaLnBrk="0" fontAlgn="base" latinLnBrk="0" hangingPunct="0">
              <a:lnSpc>
                <a:spcPct val="100000"/>
              </a:lnSpc>
              <a:spcBef>
                <a:spcPct val="0"/>
              </a:spcBef>
              <a:spcAft>
                <a:spcPct val="0"/>
              </a:spcAft>
              <a:buNone/>
              <a:defRPr sz="1800" b="1" i="0" u="none" kern="1200" baseline="0">
                <a:solidFill>
                  <a:schemeClr val="tx1"/>
                </a:solidFill>
                <a:latin typeface="Times New Roman" panose="02020603050405020304" pitchFamily="18" charset="0"/>
              </a:defRPr>
            </a:lvl1pPr>
            <a:lvl2pPr marL="457200" lvl="1" indent="0" algn="l" defTabSz="914400" rtl="0" eaLnBrk="0" fontAlgn="base" latinLnBrk="0" hangingPunct="0">
              <a:lnSpc>
                <a:spcPct val="100000"/>
              </a:lnSpc>
              <a:spcBef>
                <a:spcPct val="0"/>
              </a:spcBef>
              <a:spcAft>
                <a:spcPct val="0"/>
              </a:spcAft>
              <a:buNone/>
              <a:defRPr b="1" i="0" u="none" kern="1200" baseline="0">
                <a:solidFill>
                  <a:schemeClr val="tx1"/>
                </a:solidFill>
                <a:latin typeface="Times New Roman" panose="02020603050405020304" pitchFamily="18" charset="0"/>
                <a:ea typeface="+mn-ea"/>
                <a:cs typeface="+mn-cs"/>
              </a:defRPr>
            </a:lvl2pPr>
            <a:lvl3pPr marL="914400" lvl="2" indent="0" algn="l" defTabSz="914400" rtl="0" eaLnBrk="0" fontAlgn="base" latinLnBrk="0" hangingPunct="0">
              <a:lnSpc>
                <a:spcPct val="100000"/>
              </a:lnSpc>
              <a:spcBef>
                <a:spcPct val="0"/>
              </a:spcBef>
              <a:spcAft>
                <a:spcPct val="0"/>
              </a:spcAft>
              <a:buNone/>
              <a:defRPr b="1" i="0" u="none" kern="1200" baseline="0">
                <a:solidFill>
                  <a:schemeClr val="tx1"/>
                </a:solidFill>
                <a:latin typeface="Times New Roman" panose="02020603050405020304" pitchFamily="18" charset="0"/>
                <a:ea typeface="+mn-ea"/>
                <a:cs typeface="+mn-cs"/>
              </a:defRPr>
            </a:lvl3pPr>
            <a:lvl4pPr marL="1371600" lvl="3" indent="0" algn="l" defTabSz="914400" rtl="0" eaLnBrk="0" fontAlgn="base" latinLnBrk="0" hangingPunct="0">
              <a:lnSpc>
                <a:spcPct val="100000"/>
              </a:lnSpc>
              <a:spcBef>
                <a:spcPct val="0"/>
              </a:spcBef>
              <a:spcAft>
                <a:spcPct val="0"/>
              </a:spcAft>
              <a:buNone/>
              <a:defRPr b="1" i="0" u="none" kern="1200" baseline="0">
                <a:solidFill>
                  <a:schemeClr val="tx1"/>
                </a:solidFill>
                <a:latin typeface="Times New Roman" panose="02020603050405020304" pitchFamily="18" charset="0"/>
                <a:ea typeface="+mn-ea"/>
                <a:cs typeface="+mn-cs"/>
              </a:defRPr>
            </a:lvl4pPr>
            <a:lvl5pPr marL="1828800" lvl="4" indent="0" algn="l" defTabSz="914400" rtl="0" eaLnBrk="0" fontAlgn="base" latinLnBrk="0" hangingPunct="0">
              <a:lnSpc>
                <a:spcPct val="100000"/>
              </a:lnSpc>
              <a:spcBef>
                <a:spcPct val="0"/>
              </a:spcBef>
              <a:spcAft>
                <a:spcPct val="0"/>
              </a:spcAft>
              <a:buNone/>
              <a:defRPr b="1" i="0" u="none" kern="1200" baseline="0">
                <a:solidFill>
                  <a:schemeClr val="tx1"/>
                </a:solidFill>
                <a:latin typeface="Times New Roman" panose="02020603050405020304" pitchFamily="18" charset="0"/>
                <a:ea typeface="+mn-ea"/>
                <a:cs typeface="+mn-cs"/>
              </a:defRPr>
            </a:lvl5pPr>
          </a:lstStyle>
          <a:p>
            <a:pPr lvl="0" eaLnBrk="1" hangingPunct="1"/>
            <a:endParaRPr lang="en-US" altLang="en-US" sz="2000">
              <a:latin typeface="Arial" panose="020B0604020202020204" pitchFamily="34" charset="0"/>
            </a:endParaRPr>
          </a:p>
        </p:txBody>
      </p:sp>
      <p:sp>
        <p:nvSpPr>
          <p:cNvPr id="1049360" name="Rectangle 2"/>
          <p:cNvSpPr>
            <a:spLocks noGrp="1"/>
          </p:cNvSpPr>
          <p:nvPr/>
        </p:nvSpPr>
        <p:spPr>
          <a:xfrm>
            <a:off x="457200" y="0"/>
            <a:ext cx="7772400" cy="762000"/>
          </a:xfrm>
          <a:prstGeom prst="rect">
            <a:avLst/>
          </a:prstGeom>
          <a:noFill/>
          <a:ln w="9525">
            <a:noFill/>
          </a:ln>
        </p:spPr>
        <p:txBody>
          <a:bodyPr anchor="b" anchorCtr="0"/>
          <a:lstStyle/>
          <a:p>
            <a:pPr eaLnBrk="1" hangingPunct="1"/>
            <a:r>
              <a:rPr lang="en-US" altLang="en-US" sz="4400">
                <a:solidFill>
                  <a:schemeClr val="tx2"/>
                </a:solidFill>
                <a:latin typeface="Tahoma" panose="020B0604030504040204" pitchFamily="34" charset="0"/>
              </a:rPr>
              <a:t>The OSI Reference Model</a:t>
            </a:r>
          </a:p>
        </p:txBody>
      </p:sp>
      <p:pic>
        <p:nvPicPr>
          <p:cNvPr id="2097184" name="Picture 4"/>
          <p:cNvPicPr>
            <a:picLocks noChangeAspect="1"/>
          </p:cNvPicPr>
          <p:nvPr/>
        </p:nvPicPr>
        <p:blipFill>
          <a:blip r:embed="rId2"/>
          <a:stretch>
            <a:fillRect/>
          </a:stretch>
        </p:blipFill>
        <p:spPr>
          <a:xfrm>
            <a:off x="838200" y="762000"/>
            <a:ext cx="7772400" cy="5715000"/>
          </a:xfrm>
          <a:prstGeom prst="rect">
            <a:avLst/>
          </a:prstGeom>
          <a:noFill/>
          <a:ln w="9525">
            <a:noFill/>
          </a:ln>
        </p:spPr>
      </p:pic>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361" name="Slide Number Placeholder 1"/>
          <p:cNvSpPr txBox="1">
            <a:spLocks noGrp="1"/>
          </p:cNvSpPr>
          <p:nvPr>
            <p:ph type="sldNum" sz="quarter" idx="10"/>
          </p:nvPr>
        </p:nvSpPr>
        <p:spPr/>
        <p:txBody>
          <a:bodyPr anchor="b" anchorCtr="0"/>
          <a:lstStyle>
            <a:lvl1pPr marL="0" lvl="0" indent="0" algn="l" defTabSz="914400" rtl="0" eaLnBrk="0" fontAlgn="base" latinLnBrk="0" hangingPunct="0">
              <a:lnSpc>
                <a:spcPct val="100000"/>
              </a:lnSpc>
              <a:spcBef>
                <a:spcPct val="0"/>
              </a:spcBef>
              <a:spcAft>
                <a:spcPct val="0"/>
              </a:spcAft>
              <a:buNone/>
              <a:defRPr sz="1800" b="1" i="0" u="none" kern="1200" baseline="0">
                <a:solidFill>
                  <a:schemeClr val="tx1"/>
                </a:solidFill>
                <a:latin typeface="Times New Roman" panose="02020603050405020304" pitchFamily="18" charset="0"/>
              </a:defRPr>
            </a:lvl1pPr>
            <a:lvl2pPr marL="457200" lvl="1" indent="0" algn="l" defTabSz="914400" rtl="0" eaLnBrk="0" fontAlgn="base" latinLnBrk="0" hangingPunct="0">
              <a:lnSpc>
                <a:spcPct val="100000"/>
              </a:lnSpc>
              <a:spcBef>
                <a:spcPct val="0"/>
              </a:spcBef>
              <a:spcAft>
                <a:spcPct val="0"/>
              </a:spcAft>
              <a:buNone/>
              <a:defRPr b="1" i="0" u="none" kern="1200" baseline="0">
                <a:solidFill>
                  <a:schemeClr val="tx1"/>
                </a:solidFill>
                <a:latin typeface="Times New Roman" panose="02020603050405020304" pitchFamily="18" charset="0"/>
                <a:ea typeface="+mn-ea"/>
                <a:cs typeface="+mn-cs"/>
              </a:defRPr>
            </a:lvl2pPr>
            <a:lvl3pPr marL="914400" lvl="2" indent="0" algn="l" defTabSz="914400" rtl="0" eaLnBrk="0" fontAlgn="base" latinLnBrk="0" hangingPunct="0">
              <a:lnSpc>
                <a:spcPct val="100000"/>
              </a:lnSpc>
              <a:spcBef>
                <a:spcPct val="0"/>
              </a:spcBef>
              <a:spcAft>
                <a:spcPct val="0"/>
              </a:spcAft>
              <a:buNone/>
              <a:defRPr b="1" i="0" u="none" kern="1200" baseline="0">
                <a:solidFill>
                  <a:schemeClr val="tx1"/>
                </a:solidFill>
                <a:latin typeface="Times New Roman" panose="02020603050405020304" pitchFamily="18" charset="0"/>
                <a:ea typeface="+mn-ea"/>
                <a:cs typeface="+mn-cs"/>
              </a:defRPr>
            </a:lvl3pPr>
            <a:lvl4pPr marL="1371600" lvl="3" indent="0" algn="l" defTabSz="914400" rtl="0" eaLnBrk="0" fontAlgn="base" latinLnBrk="0" hangingPunct="0">
              <a:lnSpc>
                <a:spcPct val="100000"/>
              </a:lnSpc>
              <a:spcBef>
                <a:spcPct val="0"/>
              </a:spcBef>
              <a:spcAft>
                <a:spcPct val="0"/>
              </a:spcAft>
              <a:buNone/>
              <a:defRPr b="1" i="0" u="none" kern="1200" baseline="0">
                <a:solidFill>
                  <a:schemeClr val="tx1"/>
                </a:solidFill>
                <a:latin typeface="Times New Roman" panose="02020603050405020304" pitchFamily="18" charset="0"/>
                <a:ea typeface="+mn-ea"/>
                <a:cs typeface="+mn-cs"/>
              </a:defRPr>
            </a:lvl4pPr>
            <a:lvl5pPr marL="1828800" lvl="4" indent="0" algn="l" defTabSz="914400" rtl="0" eaLnBrk="0" fontAlgn="base" latinLnBrk="0" hangingPunct="0">
              <a:lnSpc>
                <a:spcPct val="100000"/>
              </a:lnSpc>
              <a:spcBef>
                <a:spcPct val="0"/>
              </a:spcBef>
              <a:spcAft>
                <a:spcPct val="0"/>
              </a:spcAft>
              <a:buNone/>
              <a:defRPr b="1" i="0" u="none" kern="1200" baseline="0">
                <a:solidFill>
                  <a:schemeClr val="tx1"/>
                </a:solidFill>
                <a:latin typeface="Times New Roman" panose="02020603050405020304" pitchFamily="18" charset="0"/>
                <a:ea typeface="+mn-ea"/>
                <a:cs typeface="+mn-cs"/>
              </a:defRPr>
            </a:lvl5pPr>
          </a:lstStyle>
          <a:p>
            <a:pPr lvl="0" eaLnBrk="1" hangingPunct="1"/>
            <a:endParaRPr lang="en-US" altLang="en-US" sz="2000">
              <a:latin typeface="Arial" panose="020B0604020202020204" pitchFamily="34" charset="0"/>
            </a:endParaRPr>
          </a:p>
        </p:txBody>
      </p:sp>
      <p:sp>
        <p:nvSpPr>
          <p:cNvPr id="1049362" name="Line 2"/>
          <p:cNvSpPr/>
          <p:nvPr/>
        </p:nvSpPr>
        <p:spPr>
          <a:xfrm>
            <a:off x="152400" y="152400"/>
            <a:ext cx="8763000" cy="0"/>
          </a:xfrm>
          <a:prstGeom prst="line">
            <a:avLst/>
          </a:prstGeom>
          <a:ln w="76200" cap="flat" cmpd="sng">
            <a:solidFill>
              <a:schemeClr val="hlink"/>
            </a:solidFill>
            <a:prstDash val="solid"/>
            <a:headEnd type="none" w="med" len="med"/>
            <a:tailEnd type="none" w="med" len="med"/>
          </a:ln>
        </p:spPr>
        <p:txBody>
          <a:bodyPr/>
          <a:lstStyle/>
          <a:p>
            <a:endParaRPr lang="en-IN"/>
          </a:p>
        </p:txBody>
      </p:sp>
      <p:sp>
        <p:nvSpPr>
          <p:cNvPr id="1049363" name="Line 3"/>
          <p:cNvSpPr/>
          <p:nvPr/>
        </p:nvSpPr>
        <p:spPr>
          <a:xfrm>
            <a:off x="152400" y="990600"/>
            <a:ext cx="8763000" cy="0"/>
          </a:xfrm>
          <a:prstGeom prst="line">
            <a:avLst/>
          </a:prstGeom>
          <a:ln w="19050" cap="flat" cmpd="sng">
            <a:solidFill>
              <a:schemeClr val="hlink"/>
            </a:solidFill>
            <a:prstDash val="solid"/>
            <a:headEnd type="none" w="med" len="med"/>
            <a:tailEnd type="none" w="med" len="med"/>
          </a:ln>
        </p:spPr>
        <p:txBody>
          <a:bodyPr/>
          <a:lstStyle/>
          <a:p>
            <a:endParaRPr lang="en-IN"/>
          </a:p>
        </p:txBody>
      </p:sp>
      <p:sp>
        <p:nvSpPr>
          <p:cNvPr id="1049364" name="Text Box 4"/>
          <p:cNvSpPr txBox="1"/>
          <p:nvPr/>
        </p:nvSpPr>
        <p:spPr>
          <a:xfrm>
            <a:off x="304800" y="381000"/>
            <a:ext cx="5914648" cy="510540"/>
          </a:xfrm>
          <a:prstGeom prst="rect">
            <a:avLst/>
          </a:prstGeom>
          <a:noFill/>
          <a:ln w="9525">
            <a:noFill/>
          </a:ln>
        </p:spPr>
        <p:txBody>
          <a:bodyPr wrap="none">
            <a:spAutoFit/>
          </a:bodyPr>
          <a:lstStyle/>
          <a:p>
            <a:r>
              <a:rPr lang="en-US" altLang="en-US" sz="2400">
                <a:solidFill>
                  <a:schemeClr val="folHlink"/>
                </a:solidFill>
                <a:latin typeface="Times New Roman" panose="02020603050405020304" pitchFamily="18" charset="0"/>
              </a:rPr>
              <a:t> </a:t>
            </a:r>
            <a:r>
              <a:rPr lang="en-US" altLang="en-US" sz="2000" i="1">
                <a:latin typeface="Times New Roman" panose="02020603050405020304" pitchFamily="18" charset="0"/>
              </a:rPr>
              <a:t>The interaction between layers in the OSI model</a:t>
            </a:r>
          </a:p>
        </p:txBody>
      </p:sp>
      <p:sp>
        <p:nvSpPr>
          <p:cNvPr id="1049365" name="Line 5"/>
          <p:cNvSpPr/>
          <p:nvPr/>
        </p:nvSpPr>
        <p:spPr>
          <a:xfrm>
            <a:off x="152400" y="6324600"/>
            <a:ext cx="8763000" cy="0"/>
          </a:xfrm>
          <a:prstGeom prst="line">
            <a:avLst/>
          </a:prstGeom>
          <a:ln w="76200" cap="flat" cmpd="sng">
            <a:solidFill>
              <a:schemeClr val="hlink"/>
            </a:solidFill>
            <a:prstDash val="solid"/>
            <a:headEnd type="none" w="med" len="med"/>
            <a:tailEnd type="none" w="med" len="med"/>
          </a:ln>
        </p:spPr>
        <p:txBody>
          <a:bodyPr/>
          <a:lstStyle/>
          <a:p>
            <a:endParaRPr lang="en-IN"/>
          </a:p>
        </p:txBody>
      </p:sp>
      <p:pic>
        <p:nvPicPr>
          <p:cNvPr id="2097185" name="Picture 6"/>
          <p:cNvPicPr>
            <a:picLocks noChangeAspect="1"/>
          </p:cNvPicPr>
          <p:nvPr/>
        </p:nvPicPr>
        <p:blipFill>
          <a:blip r:embed="rId3"/>
          <a:stretch>
            <a:fillRect/>
          </a:stretch>
        </p:blipFill>
        <p:spPr>
          <a:xfrm>
            <a:off x="882650" y="1066800"/>
            <a:ext cx="6965950" cy="5160963"/>
          </a:xfrm>
          <a:prstGeom prst="rect">
            <a:avLst/>
          </a:prstGeom>
          <a:noFill/>
          <a:ln w="9525">
            <a:noFill/>
          </a:ln>
        </p:spPr>
      </p:pic>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49375" name="Rectangle 2"/>
          <p:cNvSpPr>
            <a:spLocks noGrp="1" noChangeArrowheads="1"/>
          </p:cNvSpPr>
          <p:nvPr>
            <p:ph type="title"/>
          </p:nvPr>
        </p:nvSpPr>
        <p:spPr>
          <a:xfrm>
            <a:off x="457200" y="609600"/>
            <a:ext cx="8229600" cy="469900"/>
          </a:xfrm>
        </p:spPr>
        <p:txBody>
          <a:bodyPr/>
          <a:lstStyle/>
          <a:p>
            <a:pPr eaLnBrk="1" hangingPunct="1"/>
            <a:r>
              <a:rPr lang="en-US" b="1"/>
              <a:t>SESSION LAYER</a:t>
            </a:r>
          </a:p>
        </p:txBody>
      </p:sp>
      <p:sp>
        <p:nvSpPr>
          <p:cNvPr id="1049376" name="Rectangle 3"/>
          <p:cNvSpPr>
            <a:spLocks noGrp="1" noChangeArrowheads="1"/>
          </p:cNvSpPr>
          <p:nvPr>
            <p:ph type="body" idx="1"/>
          </p:nvPr>
        </p:nvSpPr>
        <p:spPr>
          <a:xfrm>
            <a:off x="304800" y="1143000"/>
            <a:ext cx="8229600" cy="4419600"/>
          </a:xfrm>
        </p:spPr>
        <p:txBody>
          <a:bodyPr>
            <a:normAutofit fontScale="92778" lnSpcReduction="10000"/>
          </a:bodyPr>
          <a:lstStyle/>
          <a:p>
            <a:pPr marL="365760" marR="0" lvl="0" indent="-255905" algn="l" defTabSz="914400" rtl="0" eaLnBrk="1" fontAlgn="auto" latinLnBrk="0" hangingPunct="1">
              <a:lnSpc>
                <a:spcPct val="100000"/>
              </a:lnSpc>
              <a:spcBef>
                <a:spcPts val="300"/>
              </a:spcBef>
              <a:spcAft>
                <a:spcPts val="0"/>
              </a:spcAft>
              <a:buClr>
                <a:srgbClr val="A04DA3"/>
              </a:buClr>
              <a:buSzTx/>
              <a:buFont typeface="Georgia" panose="02040502050405020303"/>
              <a:buChar char="•"/>
            </a:pPr>
            <a:r>
              <a:rPr lang="en-US" sz="2600" kern="1200">
                <a:solidFill>
                  <a:prstClr val="black"/>
                </a:solidFill>
                <a:latin typeface="Georgia" panose="02040502050405020303"/>
              </a:rPr>
              <a:t>This layer is responsible for establishment of connection, maintenance of sessions, authentication and also ensures security.</a:t>
            </a:r>
          </a:p>
          <a:p>
            <a:pPr marL="365760" marR="0" lvl="0" indent="-255905" algn="l" defTabSz="914400" rtl="0" eaLnBrk="1" fontAlgn="auto" latinLnBrk="0" hangingPunct="1">
              <a:lnSpc>
                <a:spcPct val="100000"/>
              </a:lnSpc>
              <a:spcBef>
                <a:spcPts val="300"/>
              </a:spcBef>
              <a:spcAft>
                <a:spcPts val="0"/>
              </a:spcAft>
              <a:buClr>
                <a:srgbClr val="A04DA3"/>
              </a:buClr>
              <a:buSzTx/>
              <a:buFont typeface="Georgia" panose="02040502050405020303"/>
              <a:buChar char="•"/>
            </a:pPr>
            <a:endParaRPr lang="en-US" sz="2600" kern="1200">
              <a:solidFill>
                <a:prstClr val="black"/>
              </a:solidFill>
              <a:latin typeface="Georgia" panose="02040502050405020303"/>
            </a:endParaRPr>
          </a:p>
          <a:p>
            <a:pPr marL="365760" marR="0" lvl="0" indent="-255905" algn="l" defTabSz="914400" rtl="0" eaLnBrk="1" fontAlgn="auto" latinLnBrk="0" hangingPunct="1">
              <a:lnSpc>
                <a:spcPct val="100000"/>
              </a:lnSpc>
              <a:spcBef>
                <a:spcPts val="300"/>
              </a:spcBef>
              <a:spcAft>
                <a:spcPts val="0"/>
              </a:spcAft>
              <a:buClr>
                <a:srgbClr val="A04DA3"/>
              </a:buClr>
              <a:buSzTx/>
              <a:buFont typeface="Georgia" panose="02040502050405020303"/>
              <a:buChar char="•"/>
            </a:pPr>
            <a:r>
              <a:rPr lang="en-US" sz="2600" kern="1200">
                <a:solidFill>
                  <a:prstClr val="black"/>
                </a:solidFill>
                <a:latin typeface="Georgia" panose="02040502050405020303"/>
              </a:rPr>
              <a:t>Duties/services</a:t>
            </a:r>
          </a:p>
          <a:p>
            <a:pPr marL="658495" marR="0" lvl="1" indent="-247015" algn="l" defTabSz="914400" rtl="0" eaLnBrk="1" fontAlgn="auto" latinLnBrk="0" hangingPunct="1">
              <a:lnSpc>
                <a:spcPct val="100000"/>
              </a:lnSpc>
              <a:spcBef>
                <a:spcPts val="300"/>
              </a:spcBef>
              <a:spcAft>
                <a:spcPts val="0"/>
              </a:spcAft>
              <a:buClr>
                <a:srgbClr val="438086"/>
              </a:buClr>
              <a:buSzTx/>
              <a:buFont typeface="Georgia" panose="02040502050405020303"/>
              <a:buChar char="▫"/>
            </a:pPr>
            <a:r>
              <a:rPr lang="en-US" sz="2400" b="1" kern="1200">
                <a:solidFill>
                  <a:srgbClr val="438086"/>
                </a:solidFill>
                <a:latin typeface="Georgia" panose="02040502050405020303"/>
              </a:rPr>
              <a:t>Dialog Controller </a:t>
            </a:r>
            <a:r>
              <a:rPr lang="en-US" sz="2400" kern="1200">
                <a:solidFill>
                  <a:srgbClr val="438086"/>
                </a:solidFill>
                <a:latin typeface="Georgia" panose="02040502050405020303"/>
              </a:rPr>
              <a:t>: </a:t>
            </a:r>
          </a:p>
          <a:p>
            <a:pPr marL="923290" marR="0" lvl="2" indent="-219710" algn="l" defTabSz="914400" rtl="0" eaLnBrk="1" fontAlgn="auto" latinLnBrk="0" hangingPunct="1">
              <a:lnSpc>
                <a:spcPct val="100000"/>
              </a:lnSpc>
              <a:spcBef>
                <a:spcPts val="300"/>
              </a:spcBef>
              <a:spcAft>
                <a:spcPts val="0"/>
              </a:spcAft>
              <a:buClr>
                <a:srgbClr val="53548A"/>
              </a:buClr>
              <a:buSzTx/>
              <a:buFont typeface="Wingdings 2" panose="05020102010507070707"/>
              <a:buChar char=""/>
            </a:pPr>
            <a:r>
              <a:rPr lang="en-US" sz="2200" kern="1200">
                <a:solidFill>
                  <a:srgbClr val="53548A"/>
                </a:solidFill>
                <a:latin typeface="Georgia" panose="02040502050405020303"/>
              </a:rPr>
              <a:t>Allows the two processes to establish, use and terminate a connection.</a:t>
            </a:r>
          </a:p>
          <a:p>
            <a:pPr marL="923290" marR="0" lvl="2" indent="-219710" algn="l" defTabSz="914400" rtl="0" eaLnBrk="1" fontAlgn="auto" latinLnBrk="0" hangingPunct="1">
              <a:lnSpc>
                <a:spcPct val="100000"/>
              </a:lnSpc>
              <a:spcBef>
                <a:spcPts val="300"/>
              </a:spcBef>
              <a:spcAft>
                <a:spcPts val="0"/>
              </a:spcAft>
              <a:buClr>
                <a:srgbClr val="53548A"/>
              </a:buClr>
              <a:buSzTx/>
              <a:buFont typeface="Wingdings 2" panose="05020102010507070707"/>
              <a:buChar char=""/>
            </a:pPr>
            <a:r>
              <a:rPr lang="en-US" sz="2200" kern="1200">
                <a:solidFill>
                  <a:srgbClr val="53548A"/>
                </a:solidFill>
                <a:latin typeface="Georgia" panose="02040502050405020303"/>
              </a:rPr>
              <a:t>Communication in half-duplex or full-duplex.</a:t>
            </a:r>
            <a:r>
              <a:rPr lang="en-US" sz="2200" kern="1200">
                <a:solidFill>
                  <a:srgbClr val="53548A"/>
                </a:solidFill>
                <a:latin typeface="Georgia" panose="02040502050405020303"/>
                <a:sym typeface="Wingdings" panose="05000000000000000000" pitchFamily="2" charset="2"/>
              </a:rPr>
              <a:t> </a:t>
            </a:r>
          </a:p>
          <a:p>
            <a:pPr marL="658495" marR="0" lvl="1" indent="-247015" algn="l" defTabSz="914400" rtl="0" eaLnBrk="1" fontAlgn="auto" latinLnBrk="0" hangingPunct="1">
              <a:lnSpc>
                <a:spcPct val="100000"/>
              </a:lnSpc>
              <a:spcBef>
                <a:spcPts val="300"/>
              </a:spcBef>
              <a:spcAft>
                <a:spcPts val="0"/>
              </a:spcAft>
              <a:buClr>
                <a:srgbClr val="438086"/>
              </a:buClr>
              <a:buSzTx/>
              <a:buFont typeface="Georgia" panose="02040502050405020303"/>
              <a:buChar char="▫"/>
            </a:pPr>
            <a:r>
              <a:rPr lang="en-US" sz="2400" b="1" kern="1200">
                <a:solidFill>
                  <a:srgbClr val="438086"/>
                </a:solidFill>
                <a:latin typeface="Georgia" panose="02040502050405020303"/>
              </a:rPr>
              <a:t>Synchronization : </a:t>
            </a:r>
          </a:p>
          <a:p>
            <a:pPr marL="923290" marR="0" lvl="2" indent="-219710" algn="l" defTabSz="914400" rtl="0" eaLnBrk="1" fontAlgn="auto" latinLnBrk="0" hangingPunct="1">
              <a:lnSpc>
                <a:spcPct val="100000"/>
              </a:lnSpc>
              <a:spcBef>
                <a:spcPts val="300"/>
              </a:spcBef>
              <a:spcAft>
                <a:spcPts val="0"/>
              </a:spcAft>
              <a:buClr>
                <a:srgbClr val="53548A"/>
              </a:buClr>
              <a:buSzTx/>
              <a:buFont typeface="Wingdings 2" panose="05020102010507070707"/>
              <a:buChar char=""/>
            </a:pPr>
            <a:r>
              <a:rPr lang="en-US" sz="2200" kern="1200">
                <a:solidFill>
                  <a:srgbClr val="53548A"/>
                </a:solidFill>
                <a:latin typeface="Georgia" panose="02040502050405020303"/>
              </a:rPr>
              <a:t>allows a process to add checkpoints</a:t>
            </a:r>
          </a:p>
          <a:p>
            <a:pPr marL="923290" marR="0" lvl="2" indent="-219710" algn="l" defTabSz="914400" rtl="0" eaLnBrk="1" fontAlgn="auto" latinLnBrk="0" hangingPunct="1">
              <a:lnSpc>
                <a:spcPct val="100000"/>
              </a:lnSpc>
              <a:spcBef>
                <a:spcPts val="300"/>
              </a:spcBef>
              <a:spcAft>
                <a:spcPts val="0"/>
              </a:spcAft>
              <a:buClr>
                <a:srgbClr val="53548A"/>
              </a:buClr>
              <a:buSzTx/>
              <a:buFont typeface="Wingdings 2" panose="05020102010507070707"/>
              <a:buChar char=""/>
            </a:pPr>
            <a:r>
              <a:rPr lang="en-US" sz="2200" kern="1200">
                <a:solidFill>
                  <a:srgbClr val="53548A"/>
                </a:solidFill>
                <a:latin typeface="Georgia" panose="02040502050405020303"/>
              </a:rPr>
              <a:t>data is re-synchronized </a:t>
            </a:r>
          </a:p>
          <a:p>
            <a:pPr marL="923290" marR="0" lvl="2" indent="-219710" algn="l" defTabSz="914400" rtl="0" eaLnBrk="1" fontAlgn="auto" latinLnBrk="0" hangingPunct="1">
              <a:lnSpc>
                <a:spcPct val="100000"/>
              </a:lnSpc>
              <a:spcBef>
                <a:spcPts val="300"/>
              </a:spcBef>
              <a:spcAft>
                <a:spcPts val="0"/>
              </a:spcAft>
              <a:buClr>
                <a:srgbClr val="53548A"/>
              </a:buClr>
              <a:buSzTx/>
              <a:buFont typeface="Wingdings 2" panose="05020102010507070707"/>
              <a:buChar char=""/>
            </a:pPr>
            <a:r>
              <a:rPr lang="en-US" sz="2200" kern="1200">
                <a:solidFill>
                  <a:srgbClr val="53548A"/>
                </a:solidFill>
                <a:latin typeface="Georgia" panose="02040502050405020303"/>
              </a:rPr>
              <a:t>Session recovery</a:t>
            </a:r>
          </a:p>
          <a:p>
            <a:pPr lvl="2"/>
            <a:endParaRPr lang="en-US"/>
          </a:p>
        </p:txBody>
      </p:sp>
      <p:sp>
        <p:nvSpPr>
          <p:cNvPr id="1049377" name="Slide Number Placeholder 5"/>
          <p:cNvSpPr>
            <a:spLocks noGrp="1"/>
          </p:cNvSpPr>
          <p:nvPr>
            <p:ph type="sldNum" sz="quarter" idx="7"/>
          </p:nvPr>
        </p:nvSpPr>
        <p:spPr/>
        <p:txBody>
          <a:bodyPr/>
          <a:lstStyle/>
          <a:p>
            <a:fld id="{30F4FDEC-4681-4ECB-9406-7FC6789F6CA2}" type="slidenum">
              <a:rPr lang="en-US"/>
              <a:t>68</a:t>
            </a:fld>
            <a:endParaRPr lang="en-US"/>
          </a:p>
        </p:txBody>
      </p:sp>
    </p:spTree>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4937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49376">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049376">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049376">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049376">
                                            <p:txEl>
                                              <p:pRg st="5" end="5"/>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049376">
                                            <p:txEl>
                                              <p:pRg st="6" end="6"/>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049376">
                                            <p:txEl>
                                              <p:pRg st="7" end="7"/>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049376">
                                            <p:txEl>
                                              <p:pRg st="8" end="8"/>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049376">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9376" grpId="0" build="p"/>
    </p:bldLst>
  </p:timing>
</p:sld>
</file>

<file path=ppt/slides/slide6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49378" name="Title 1"/>
          <p:cNvSpPr>
            <a:spLocks noGrp="1"/>
          </p:cNvSpPr>
          <p:nvPr>
            <p:ph type="title"/>
          </p:nvPr>
        </p:nvSpPr>
        <p:spPr>
          <a:xfrm>
            <a:off x="457200" y="533400"/>
            <a:ext cx="8229600" cy="469900"/>
          </a:xfrm>
        </p:spPr>
        <p:txBody>
          <a:bodyPr/>
          <a:lstStyle/>
          <a:p>
            <a:r>
              <a:rPr lang="en-US" b="1"/>
              <a:t>PRESENTATION LAYER</a:t>
            </a:r>
          </a:p>
        </p:txBody>
      </p:sp>
      <p:sp>
        <p:nvSpPr>
          <p:cNvPr id="1049379" name="Content Placeholder 2"/>
          <p:cNvSpPr>
            <a:spLocks noGrp="1"/>
          </p:cNvSpPr>
          <p:nvPr>
            <p:ph type="body" idx="1"/>
          </p:nvPr>
        </p:nvSpPr>
        <p:spPr>
          <a:xfrm>
            <a:off x="299113" y="1219200"/>
            <a:ext cx="8382000" cy="4974336"/>
          </a:xfrm>
        </p:spPr>
        <p:txBody>
          <a:bodyPr>
            <a:normAutofit/>
          </a:bodyPr>
          <a:lstStyle/>
          <a:p>
            <a:pPr marL="365760" marR="0" lvl="0" indent="-255905" algn="l" defTabSz="914400" rtl="0" eaLnBrk="1" fontAlgn="auto" latinLnBrk="0" hangingPunct="1">
              <a:lnSpc>
                <a:spcPct val="100000"/>
              </a:lnSpc>
              <a:spcBef>
                <a:spcPts val="300"/>
              </a:spcBef>
              <a:spcAft>
                <a:spcPts val="0"/>
              </a:spcAft>
              <a:buClr>
                <a:srgbClr val="A04DA3"/>
              </a:buClr>
              <a:buSzTx/>
              <a:buFont typeface="Georgia" panose="02040502050405020303"/>
              <a:buChar char="•"/>
            </a:pPr>
            <a:r>
              <a:rPr lang="en-US" sz="2600" kern="1200">
                <a:solidFill>
                  <a:prstClr val="black"/>
                </a:solidFill>
                <a:latin typeface="Georgia" panose="02040502050405020303"/>
              </a:rPr>
              <a:t>A Presentation layer is mainly concerned with the </a:t>
            </a:r>
            <a:r>
              <a:rPr lang="en-US" sz="2600" kern="1200">
                <a:solidFill>
                  <a:srgbClr val="C00000"/>
                </a:solidFill>
                <a:latin typeface="Georgia" panose="02040502050405020303"/>
              </a:rPr>
              <a:t>syntax and semantics of the information exchanged between the two systems</a:t>
            </a:r>
            <a:r>
              <a:rPr lang="en-US" sz="2600" kern="1200">
                <a:solidFill>
                  <a:prstClr val="black"/>
                </a:solidFill>
                <a:latin typeface="Georgia" panose="02040502050405020303"/>
              </a:rPr>
              <a:t>.</a:t>
            </a:r>
          </a:p>
          <a:p>
            <a:pPr marL="365760" marR="0" lvl="0" indent="-255905" algn="l" defTabSz="914400" rtl="0" eaLnBrk="1" fontAlgn="auto" latinLnBrk="0" hangingPunct="1">
              <a:lnSpc>
                <a:spcPct val="100000"/>
              </a:lnSpc>
              <a:spcBef>
                <a:spcPts val="300"/>
              </a:spcBef>
              <a:spcAft>
                <a:spcPts val="0"/>
              </a:spcAft>
              <a:buClr>
                <a:srgbClr val="A04DA3"/>
              </a:buClr>
              <a:buSzTx/>
              <a:buFont typeface="Georgia" panose="02040502050405020303"/>
              <a:buChar char="•"/>
            </a:pPr>
            <a:r>
              <a:rPr lang="en-US" sz="2600" kern="1200">
                <a:solidFill>
                  <a:prstClr val="black"/>
                </a:solidFill>
                <a:latin typeface="Georgia" panose="02040502050405020303"/>
              </a:rPr>
              <a:t>It acts as a </a:t>
            </a:r>
            <a:r>
              <a:rPr lang="en-US" sz="2600" kern="1200">
                <a:solidFill>
                  <a:srgbClr val="C00000"/>
                </a:solidFill>
                <a:latin typeface="Georgia" panose="02040502050405020303"/>
              </a:rPr>
              <a:t>data translator </a:t>
            </a:r>
            <a:r>
              <a:rPr lang="en-US" sz="2600" kern="1200">
                <a:solidFill>
                  <a:prstClr val="black"/>
                </a:solidFill>
                <a:latin typeface="Georgia" panose="02040502050405020303"/>
              </a:rPr>
              <a:t>for a network.</a:t>
            </a:r>
          </a:p>
          <a:p>
            <a:pPr marL="365760" marR="0" lvl="0" indent="-255905" algn="l" defTabSz="914400" rtl="0" eaLnBrk="1" fontAlgn="auto" latinLnBrk="0" hangingPunct="1">
              <a:lnSpc>
                <a:spcPct val="100000"/>
              </a:lnSpc>
              <a:spcBef>
                <a:spcPts val="300"/>
              </a:spcBef>
              <a:spcAft>
                <a:spcPts val="0"/>
              </a:spcAft>
              <a:buClr>
                <a:srgbClr val="A04DA3"/>
              </a:buClr>
              <a:buSzTx/>
              <a:buFont typeface="Georgia" panose="02040502050405020303"/>
              <a:buChar char="•"/>
            </a:pPr>
            <a:r>
              <a:rPr lang="en-US" sz="2600" kern="1200">
                <a:solidFill>
                  <a:prstClr val="black"/>
                </a:solidFill>
                <a:latin typeface="Georgia" panose="02040502050405020303"/>
              </a:rPr>
              <a:t>This layer is a part of the operating system that </a:t>
            </a:r>
            <a:r>
              <a:rPr lang="en-US" sz="2600" kern="1200">
                <a:solidFill>
                  <a:srgbClr val="C00000"/>
                </a:solidFill>
                <a:latin typeface="Georgia" panose="02040502050405020303"/>
              </a:rPr>
              <a:t>converts the data from one presentation format to another format</a:t>
            </a:r>
            <a:r>
              <a:rPr lang="en-US" sz="2600" kern="1200">
                <a:solidFill>
                  <a:prstClr val="black"/>
                </a:solidFill>
                <a:latin typeface="Georgia" panose="02040502050405020303"/>
              </a:rPr>
              <a:t>.</a:t>
            </a:r>
          </a:p>
          <a:p>
            <a:pPr marL="365760" marR="0" lvl="0" indent="-255905" algn="l" defTabSz="914400" rtl="0" eaLnBrk="1" fontAlgn="auto" latinLnBrk="0" hangingPunct="1">
              <a:lnSpc>
                <a:spcPct val="100000"/>
              </a:lnSpc>
              <a:spcBef>
                <a:spcPts val="300"/>
              </a:spcBef>
              <a:spcAft>
                <a:spcPts val="0"/>
              </a:spcAft>
              <a:buClr>
                <a:srgbClr val="A04DA3"/>
              </a:buClr>
              <a:buSzTx/>
              <a:buFont typeface="Georgia" panose="02040502050405020303"/>
              <a:buChar char="•"/>
            </a:pPr>
            <a:r>
              <a:rPr lang="en-US" sz="2600" kern="1200">
                <a:solidFill>
                  <a:prstClr val="black"/>
                </a:solidFill>
                <a:latin typeface="Georgia" panose="02040502050405020303"/>
              </a:rPr>
              <a:t>The Presentation layer is also known as the </a:t>
            </a:r>
            <a:r>
              <a:rPr lang="en-US" sz="2600" kern="1200">
                <a:solidFill>
                  <a:srgbClr val="C00000"/>
                </a:solidFill>
                <a:latin typeface="Georgia" panose="02040502050405020303"/>
              </a:rPr>
              <a:t>syntax layer.</a:t>
            </a:r>
          </a:p>
          <a:p>
            <a:endParaRPr lang="en-US">
              <a:solidFill>
                <a:srgbClr val="C00000"/>
              </a:solidFill>
            </a:endParaRPr>
          </a:p>
        </p:txBody>
      </p:sp>
      <p:sp>
        <p:nvSpPr>
          <p:cNvPr id="1049380" name="Slide Number Placeholder 3"/>
          <p:cNvSpPr>
            <a:spLocks noGrp="1"/>
          </p:cNvSpPr>
          <p:nvPr>
            <p:ph type="sldNum" sz="quarter" idx="7"/>
          </p:nvPr>
        </p:nvSpPr>
        <p:spPr/>
        <p:txBody>
          <a:bodyPr/>
          <a:lstStyle/>
          <a:p>
            <a:fld id="{BCC20C3A-8631-44B9-B2EA-782A539FC911}" type="slidenum">
              <a:rPr lang="en-US" smtClean="0"/>
              <a:t>69</a:t>
            </a:fld>
            <a:endParaRPr lang="en-US"/>
          </a:p>
        </p:txBody>
      </p:sp>
    </p:spTree>
  </p:cSld>
  <p:clrMapOvr>
    <a:overrideClrMapping bg1="lt1" tx1="dk1" bg2="lt2" tx2="dk2" accent1="accent1" accent2="accent2" accent3="accent3" accent4="accent4" accent5="accent5" accent6="accent6" hlink="hlink" folHlink="folHlink"/>
  </p:clrMapOvr>
</p:sld>
</file>

<file path=ppt/slides/slide7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49381" name="Rectangle 2"/>
          <p:cNvSpPr>
            <a:spLocks noGrp="1" noChangeArrowheads="1"/>
          </p:cNvSpPr>
          <p:nvPr>
            <p:ph type="title"/>
          </p:nvPr>
        </p:nvSpPr>
        <p:spPr>
          <a:xfrm>
            <a:off x="685800" y="457200"/>
            <a:ext cx="6096000" cy="469900"/>
          </a:xfrm>
        </p:spPr>
        <p:txBody>
          <a:bodyPr/>
          <a:lstStyle/>
          <a:p>
            <a:pPr eaLnBrk="1" hangingPunct="1"/>
            <a:r>
              <a:rPr lang="en-US" b="1"/>
              <a:t>PRESENTATION LAYER FUNCTIONS</a:t>
            </a:r>
          </a:p>
        </p:txBody>
      </p:sp>
      <p:sp>
        <p:nvSpPr>
          <p:cNvPr id="1049382" name="Rectangle 3"/>
          <p:cNvSpPr>
            <a:spLocks noGrp="1" noChangeArrowheads="1"/>
          </p:cNvSpPr>
          <p:nvPr>
            <p:ph type="body" idx="1"/>
          </p:nvPr>
        </p:nvSpPr>
        <p:spPr>
          <a:xfrm>
            <a:off x="457200" y="1524000"/>
            <a:ext cx="8229600" cy="3759200"/>
          </a:xfrm>
        </p:spPr>
        <p:txBody>
          <a:bodyPr/>
          <a:lstStyle/>
          <a:p>
            <a:pPr marL="365760" marR="0" lvl="0" indent="-255905" algn="l" defTabSz="914400" rtl="0" eaLnBrk="1" fontAlgn="auto" latinLnBrk="0" hangingPunct="1">
              <a:lnSpc>
                <a:spcPct val="100000"/>
              </a:lnSpc>
              <a:spcBef>
                <a:spcPts val="300"/>
              </a:spcBef>
              <a:spcAft>
                <a:spcPts val="0"/>
              </a:spcAft>
              <a:buClr>
                <a:srgbClr val="A04DA3"/>
              </a:buClr>
              <a:buSzTx/>
              <a:buFont typeface="Georgia" panose="02040502050405020303"/>
              <a:buChar char="•"/>
            </a:pPr>
            <a:r>
              <a:rPr lang="en-US" sz="2800" kern="1200">
                <a:solidFill>
                  <a:prstClr val="black"/>
                </a:solidFill>
                <a:latin typeface="Georgia" panose="02040502050405020303"/>
              </a:rPr>
              <a:t>Duties/services</a:t>
            </a:r>
          </a:p>
          <a:p>
            <a:pPr marL="658495" marR="0" lvl="1" indent="-247015" algn="l" defTabSz="914400" rtl="0" eaLnBrk="1" fontAlgn="auto" latinLnBrk="0" hangingPunct="1">
              <a:lnSpc>
                <a:spcPct val="100000"/>
              </a:lnSpc>
              <a:spcBef>
                <a:spcPts val="300"/>
              </a:spcBef>
              <a:spcAft>
                <a:spcPts val="0"/>
              </a:spcAft>
              <a:buClr>
                <a:srgbClr val="438086"/>
              </a:buClr>
              <a:buSzTx/>
              <a:buFont typeface="Georgia" panose="02040502050405020303"/>
              <a:buChar char="▫"/>
            </a:pPr>
            <a:r>
              <a:rPr lang="en-US" sz="2600" kern="1200">
                <a:solidFill>
                  <a:srgbClr val="C00000"/>
                </a:solidFill>
                <a:latin typeface="Georgia" panose="02040502050405020303"/>
              </a:rPr>
              <a:t>Data translation: </a:t>
            </a:r>
            <a:r>
              <a:rPr lang="en-US" sz="2600" kern="1200">
                <a:solidFill>
                  <a:srgbClr val="438086"/>
                </a:solidFill>
                <a:latin typeface="Georgia" panose="02040502050405020303"/>
              </a:rPr>
              <a:t> For example, ASCII to EBCDIC.</a:t>
            </a:r>
          </a:p>
          <a:p>
            <a:pPr marL="658495" marR="0" lvl="1" indent="-247015" algn="l" defTabSz="914400" rtl="0" eaLnBrk="1" fontAlgn="auto" latinLnBrk="0" hangingPunct="1">
              <a:lnSpc>
                <a:spcPct val="100000"/>
              </a:lnSpc>
              <a:spcBef>
                <a:spcPts val="300"/>
              </a:spcBef>
              <a:spcAft>
                <a:spcPts val="0"/>
              </a:spcAft>
              <a:buClr>
                <a:srgbClr val="438086"/>
              </a:buClr>
              <a:buSzTx/>
              <a:buFont typeface="Georgia" panose="02040502050405020303"/>
              <a:buChar char="▫"/>
            </a:pPr>
            <a:endParaRPr lang="en-US" sz="2600" kern="1200">
              <a:solidFill>
                <a:srgbClr val="438086"/>
              </a:solidFill>
              <a:latin typeface="Georgia" panose="02040502050405020303"/>
            </a:endParaRPr>
          </a:p>
          <a:p>
            <a:pPr marL="658495" marR="0" lvl="1" indent="-247015" algn="l" defTabSz="914400" rtl="0" eaLnBrk="1" fontAlgn="auto" latinLnBrk="0" hangingPunct="1">
              <a:lnSpc>
                <a:spcPct val="100000"/>
              </a:lnSpc>
              <a:spcBef>
                <a:spcPts val="300"/>
              </a:spcBef>
              <a:spcAft>
                <a:spcPts val="0"/>
              </a:spcAft>
              <a:buClr>
                <a:srgbClr val="438086"/>
              </a:buClr>
              <a:buSzTx/>
              <a:buFont typeface="Georgia" panose="02040502050405020303"/>
              <a:buChar char="▫"/>
            </a:pPr>
            <a:r>
              <a:rPr lang="en-US" sz="2600" kern="1200">
                <a:solidFill>
                  <a:srgbClr val="C00000"/>
                </a:solidFill>
                <a:latin typeface="Georgia" panose="02040502050405020303"/>
              </a:rPr>
              <a:t>Encryption/Decryption</a:t>
            </a:r>
          </a:p>
          <a:p>
            <a:pPr marL="658495" marR="0" lvl="1" indent="-247015" algn="l" defTabSz="914400" rtl="0" eaLnBrk="1" fontAlgn="auto" latinLnBrk="0" hangingPunct="1">
              <a:lnSpc>
                <a:spcPct val="100000"/>
              </a:lnSpc>
              <a:spcBef>
                <a:spcPts val="300"/>
              </a:spcBef>
              <a:spcAft>
                <a:spcPts val="0"/>
              </a:spcAft>
              <a:buClr>
                <a:srgbClr val="438086"/>
              </a:buClr>
              <a:buSzTx/>
              <a:buFont typeface="Georgia" panose="02040502050405020303"/>
              <a:buChar char="▫"/>
            </a:pPr>
            <a:endParaRPr lang="en-US" sz="2600" kern="1200">
              <a:solidFill>
                <a:srgbClr val="C00000"/>
              </a:solidFill>
              <a:latin typeface="Georgia" panose="02040502050405020303"/>
            </a:endParaRPr>
          </a:p>
          <a:p>
            <a:pPr marL="658495" marR="0" lvl="1" indent="-247015" algn="l" defTabSz="914400" rtl="0" eaLnBrk="1" fontAlgn="auto" latinLnBrk="0" hangingPunct="1">
              <a:lnSpc>
                <a:spcPct val="100000"/>
              </a:lnSpc>
              <a:spcBef>
                <a:spcPts val="300"/>
              </a:spcBef>
              <a:spcAft>
                <a:spcPts val="0"/>
              </a:spcAft>
              <a:buClr>
                <a:srgbClr val="438086"/>
              </a:buClr>
              <a:buSzTx/>
              <a:buFont typeface="Georgia" panose="02040502050405020303"/>
              <a:buChar char="▫"/>
            </a:pPr>
            <a:r>
              <a:rPr lang="en-US" sz="2600" kern="1200">
                <a:solidFill>
                  <a:srgbClr val="C00000"/>
                </a:solidFill>
                <a:latin typeface="Georgia" panose="02040502050405020303"/>
              </a:rPr>
              <a:t>Compression:</a:t>
            </a:r>
            <a:r>
              <a:rPr lang="en-US" sz="2600" kern="1200">
                <a:solidFill>
                  <a:srgbClr val="438086"/>
                </a:solidFill>
                <a:latin typeface="Georgia" panose="02040502050405020303"/>
              </a:rPr>
              <a:t> Reduces the number of bits that need to be transmitted on the network.</a:t>
            </a:r>
          </a:p>
          <a:p>
            <a:pPr eaLnBrk="1" hangingPunct="1"/>
            <a:endParaRPr lang="en-US"/>
          </a:p>
        </p:txBody>
      </p:sp>
      <p:sp>
        <p:nvSpPr>
          <p:cNvPr id="1049383" name="Slide Number Placeholder 5"/>
          <p:cNvSpPr>
            <a:spLocks noGrp="1"/>
          </p:cNvSpPr>
          <p:nvPr>
            <p:ph type="sldNum" sz="quarter" idx="7"/>
          </p:nvPr>
        </p:nvSpPr>
        <p:spPr/>
        <p:txBody>
          <a:bodyPr/>
          <a:lstStyle/>
          <a:p>
            <a:fld id="{AC272082-4CB3-4BBE-9523-A3FB5F0E8DE1}" type="slidenum">
              <a:rPr lang="en-US"/>
              <a:t>70</a:t>
            </a:fld>
            <a:endParaRPr lang="en-US"/>
          </a:p>
        </p:txBody>
      </p:sp>
    </p:spTree>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49382">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49382">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049382">
                                            <p:txEl>
                                              <p:pRg st="3" end="3"/>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049382">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9382" grpId="0" build="p"/>
    </p:bldLst>
  </p:timing>
</p:sld>
</file>

<file path=ppt/slides/slide7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49384" name="Rectangle 2"/>
          <p:cNvSpPr>
            <a:spLocks noGrp="1" noChangeArrowheads="1"/>
          </p:cNvSpPr>
          <p:nvPr>
            <p:ph type="title"/>
          </p:nvPr>
        </p:nvSpPr>
        <p:spPr>
          <a:xfrm>
            <a:off x="457200" y="0"/>
            <a:ext cx="8229600" cy="1066800"/>
          </a:xfrm>
        </p:spPr>
        <p:txBody>
          <a:bodyPr>
            <a:normAutofit/>
          </a:bodyPr>
          <a:lstStyle/>
          <a:p>
            <a:pPr eaLnBrk="1" hangingPunct="1"/>
            <a:r>
              <a:rPr lang="en-US" sz="2800" b="1">
                <a:latin typeface="Times New Roman" panose="02020603050405020304" pitchFamily="18" charset="0"/>
                <a:cs typeface="Times New Roman" panose="02020603050405020304" pitchFamily="18" charset="0"/>
              </a:rPr>
              <a:t>OSI LAYERS IN REAL WORLD</a:t>
            </a:r>
          </a:p>
        </p:txBody>
      </p:sp>
      <p:sp>
        <p:nvSpPr>
          <p:cNvPr id="1049385" name="Slide Number Placeholder 5"/>
          <p:cNvSpPr>
            <a:spLocks noGrp="1"/>
          </p:cNvSpPr>
          <p:nvPr>
            <p:ph type="sldNum" sz="quarter" idx="7"/>
          </p:nvPr>
        </p:nvSpPr>
        <p:spPr/>
        <p:txBody>
          <a:bodyPr/>
          <a:lstStyle/>
          <a:p>
            <a:fld id="{DE5EDB33-A4D7-4C3C-AC27-06477D8D395B}" type="slidenum">
              <a:rPr lang="en-US"/>
              <a:t>71</a:t>
            </a:fld>
            <a:endParaRPr lang="en-US"/>
          </a:p>
        </p:txBody>
      </p:sp>
      <p:pic>
        <p:nvPicPr>
          <p:cNvPr id="2097186" name="Picture 14"/>
          <p:cNvPicPr>
            <a:picLocks noChangeAspect="1" noChangeArrowheads="1"/>
          </p:cNvPicPr>
          <p:nvPr/>
        </p:nvPicPr>
        <p:blipFill>
          <a:blip r:embed="rId3" cstate="print">
            <a:clrChange>
              <a:clrFrom>
                <a:srgbClr val="FFFFFF"/>
              </a:clrFrom>
              <a:clrTo>
                <a:srgbClr val="FFFFFF">
                  <a:alpha val="0"/>
                </a:srgbClr>
              </a:clrTo>
            </a:clrChange>
          </a:blip>
          <a:srcRect/>
          <a:stretch>
            <a:fillRect/>
          </a:stretch>
        </p:blipFill>
        <p:spPr bwMode="auto">
          <a:xfrm>
            <a:off x="4038600" y="5486400"/>
            <a:ext cx="1000125" cy="457200"/>
          </a:xfrm>
          <a:prstGeom prst="rect">
            <a:avLst/>
          </a:prstGeom>
          <a:noFill/>
          <a:ln w="9525">
            <a:noFill/>
            <a:miter lim="800000"/>
            <a:headEnd/>
            <a:tailEnd/>
          </a:ln>
        </p:spPr>
      </p:pic>
      <p:grpSp>
        <p:nvGrpSpPr>
          <p:cNvPr id="199" name="Group 52"/>
          <p:cNvGrpSpPr/>
          <p:nvPr/>
        </p:nvGrpSpPr>
        <p:grpSpPr bwMode="auto">
          <a:xfrm>
            <a:off x="3352800" y="6019800"/>
            <a:ext cx="2389188" cy="549275"/>
            <a:chOff x="2112" y="3792"/>
            <a:chExt cx="1505" cy="346"/>
          </a:xfrm>
        </p:grpSpPr>
        <p:sp>
          <p:nvSpPr>
            <p:cNvPr id="1049386" name="Line 29"/>
            <p:cNvSpPr>
              <a:spLocks noChangeShapeType="1"/>
            </p:cNvSpPr>
            <p:nvPr/>
          </p:nvSpPr>
          <p:spPr bwMode="auto">
            <a:xfrm>
              <a:off x="2352" y="3792"/>
              <a:ext cx="960" cy="0"/>
            </a:xfrm>
            <a:prstGeom prst="line">
              <a:avLst/>
            </a:prstGeom>
            <a:noFill/>
            <a:ln w="57150">
              <a:solidFill>
                <a:schemeClr val="folHlink"/>
              </a:solidFill>
              <a:round/>
              <a:tailEnd type="triangle" w="med" len="med"/>
            </a:ln>
          </p:spPr>
          <p:txBody>
            <a:bodyPr/>
            <a:lstStyle/>
            <a:p>
              <a:pPr fontAlgn="base">
                <a:spcBef>
                  <a:spcPct val="0"/>
                </a:spcBef>
                <a:spcAft>
                  <a:spcPct val="0"/>
                </a:spcAft>
              </a:pPr>
              <a:endParaRPr lang="en-US">
                <a:solidFill>
                  <a:prstClr val="black"/>
                </a:solidFill>
                <a:latin typeface="Tahoma" panose="020B0604030504040204" pitchFamily="34" charset="0"/>
                <a:cs typeface="Arial" panose="020B0604020202020204" pitchFamily="34" charset="0"/>
              </a:endParaRPr>
            </a:p>
          </p:txBody>
        </p:sp>
        <p:sp>
          <p:nvSpPr>
            <p:cNvPr id="1049387" name="Text Box 30"/>
            <p:cNvSpPr txBox="1">
              <a:spLocks noChangeArrowheads="1"/>
            </p:cNvSpPr>
            <p:nvPr/>
          </p:nvSpPr>
          <p:spPr bwMode="auto">
            <a:xfrm>
              <a:off x="2112" y="3888"/>
              <a:ext cx="1505" cy="250"/>
            </a:xfrm>
            <a:prstGeom prst="rect">
              <a:avLst/>
            </a:prstGeom>
            <a:noFill/>
            <a:ln w="9525">
              <a:noFill/>
              <a:miter lim="800000"/>
            </a:ln>
          </p:spPr>
          <p:txBody>
            <a:bodyPr wrap="none">
              <a:spAutoFit/>
            </a:bodyPr>
            <a:lstStyle/>
            <a:p>
              <a:pPr fontAlgn="base">
                <a:spcBef>
                  <a:spcPct val="0"/>
                </a:spcBef>
                <a:spcAft>
                  <a:spcPct val="0"/>
                </a:spcAft>
              </a:pPr>
              <a:r>
                <a:rPr lang="en-US">
                  <a:solidFill>
                    <a:prstClr val="black"/>
                  </a:solidFill>
                  <a:latin typeface="Tahoma" panose="020B0604030504040204" pitchFamily="34" charset="0"/>
                  <a:cs typeface="Arial" panose="020B0604020202020204" pitchFamily="34" charset="0"/>
                </a:rPr>
                <a:t>transmission medium</a:t>
              </a:r>
            </a:p>
          </p:txBody>
        </p:sp>
      </p:grpSp>
      <p:grpSp>
        <p:nvGrpSpPr>
          <p:cNvPr id="200" name="Group 59"/>
          <p:cNvGrpSpPr/>
          <p:nvPr/>
        </p:nvGrpSpPr>
        <p:grpSpPr bwMode="auto">
          <a:xfrm>
            <a:off x="5486400" y="1219200"/>
            <a:ext cx="1912938" cy="769937"/>
            <a:chOff x="3456" y="768"/>
            <a:chExt cx="1205" cy="485"/>
          </a:xfrm>
        </p:grpSpPr>
        <p:pic>
          <p:nvPicPr>
            <p:cNvPr id="2097187" name="Picture 15"/>
            <p:cNvPicPr>
              <a:picLocks noChangeAspect="1" noChangeArrowheads="1"/>
            </p:cNvPicPr>
            <p:nvPr/>
          </p:nvPicPr>
          <p:blipFill>
            <a:blip r:embed="rId4" cstate="print">
              <a:clrChange>
                <a:clrFrom>
                  <a:srgbClr val="FFFFFF"/>
                </a:clrFrom>
                <a:clrTo>
                  <a:srgbClr val="FFFFFF">
                    <a:alpha val="0"/>
                  </a:srgbClr>
                </a:clrTo>
              </a:clrChange>
            </a:blip>
            <a:srcRect/>
            <a:stretch>
              <a:fillRect/>
            </a:stretch>
          </p:blipFill>
          <p:spPr bwMode="auto">
            <a:xfrm>
              <a:off x="4157" y="768"/>
              <a:ext cx="504" cy="360"/>
            </a:xfrm>
            <a:prstGeom prst="rect">
              <a:avLst/>
            </a:prstGeom>
            <a:noFill/>
            <a:ln w="9525">
              <a:noFill/>
              <a:miter lim="800000"/>
              <a:headEnd/>
              <a:tailEnd/>
            </a:ln>
          </p:spPr>
        </p:pic>
        <p:sp>
          <p:nvSpPr>
            <p:cNvPr id="1049388" name="AutoShape 31"/>
            <p:cNvSpPr>
              <a:spLocks noChangeArrowheads="1"/>
            </p:cNvSpPr>
            <p:nvPr/>
          </p:nvSpPr>
          <p:spPr bwMode="auto">
            <a:xfrm>
              <a:off x="3456" y="799"/>
              <a:ext cx="758" cy="454"/>
            </a:xfrm>
            <a:prstGeom prst="roundRect">
              <a:avLst>
                <a:gd name="adj" fmla="val 16667"/>
              </a:avLst>
            </a:prstGeom>
            <a:noFill/>
            <a:ln w="9525">
              <a:solidFill>
                <a:schemeClr val="tx1"/>
              </a:solidFill>
              <a:round/>
            </a:ln>
          </p:spPr>
          <p:txBody>
            <a:bodyPr wrap="none">
              <a:spAutoFit/>
            </a:bodyPr>
            <a:lstStyle/>
            <a:p>
              <a:pPr algn="r" fontAlgn="base">
                <a:spcBef>
                  <a:spcPct val="0"/>
                </a:spcBef>
                <a:spcAft>
                  <a:spcPct val="0"/>
                </a:spcAft>
              </a:pPr>
              <a:r>
                <a:rPr lang="en-US" sz="1600">
                  <a:solidFill>
                    <a:prstClr val="black"/>
                  </a:solidFill>
                  <a:latin typeface="Times New Roman" panose="02020603050405020304" pitchFamily="18" charset="0"/>
                  <a:cs typeface="Arial" panose="020B0604020202020204" pitchFamily="34" charset="0"/>
                </a:rPr>
                <a:t>Reads the</a:t>
              </a:r>
              <a:br>
                <a:rPr lang="en-US" sz="1600">
                  <a:solidFill>
                    <a:prstClr val="black"/>
                  </a:solidFill>
                  <a:latin typeface="Times New Roman" panose="02020603050405020304" pitchFamily="18" charset="0"/>
                  <a:cs typeface="Arial" panose="020B0604020202020204" pitchFamily="34" charset="0"/>
                </a:rPr>
              </a:br>
              <a:r>
                <a:rPr lang="en-US" sz="1600">
                  <a:solidFill>
                    <a:prstClr val="black"/>
                  </a:solidFill>
                  <a:latin typeface="Times New Roman" panose="02020603050405020304" pitchFamily="18" charset="0"/>
                  <a:cs typeface="Arial" panose="020B0604020202020204" pitchFamily="34" charset="0"/>
                </a:rPr>
                <a:t>message</a:t>
              </a:r>
            </a:p>
          </p:txBody>
        </p:sp>
      </p:grpSp>
      <p:grpSp>
        <p:nvGrpSpPr>
          <p:cNvPr id="201" name="Group 58"/>
          <p:cNvGrpSpPr/>
          <p:nvPr/>
        </p:nvGrpSpPr>
        <p:grpSpPr bwMode="auto">
          <a:xfrm>
            <a:off x="5227638" y="1922463"/>
            <a:ext cx="1928812" cy="752474"/>
            <a:chOff x="3293" y="1211"/>
            <a:chExt cx="1215" cy="474"/>
          </a:xfrm>
        </p:grpSpPr>
        <p:pic>
          <p:nvPicPr>
            <p:cNvPr id="2097188" name="Picture 16"/>
            <p:cNvPicPr>
              <a:picLocks noChangeAspect="1" noChangeArrowheads="1"/>
            </p:cNvPicPr>
            <p:nvPr/>
          </p:nvPicPr>
          <p:blipFill>
            <a:blip r:embed="rId5" cstate="print">
              <a:clrChange>
                <a:clrFrom>
                  <a:srgbClr val="FFFFFF"/>
                </a:clrFrom>
                <a:clrTo>
                  <a:srgbClr val="FFFFFF">
                    <a:alpha val="0"/>
                  </a:srgbClr>
                </a:clrTo>
              </a:clrChange>
            </a:blip>
            <a:srcRect/>
            <a:stretch>
              <a:fillRect/>
            </a:stretch>
          </p:blipFill>
          <p:spPr bwMode="auto">
            <a:xfrm>
              <a:off x="4310" y="1211"/>
              <a:ext cx="198" cy="390"/>
            </a:xfrm>
            <a:prstGeom prst="rect">
              <a:avLst/>
            </a:prstGeom>
            <a:noFill/>
            <a:ln w="9525">
              <a:noFill/>
              <a:miter lim="800000"/>
              <a:headEnd/>
              <a:tailEnd/>
            </a:ln>
          </p:spPr>
        </p:pic>
        <p:sp>
          <p:nvSpPr>
            <p:cNvPr id="1049389" name="AutoShape 32"/>
            <p:cNvSpPr>
              <a:spLocks noChangeArrowheads="1"/>
            </p:cNvSpPr>
            <p:nvPr/>
          </p:nvSpPr>
          <p:spPr bwMode="auto">
            <a:xfrm>
              <a:off x="3293" y="1231"/>
              <a:ext cx="1053" cy="454"/>
            </a:xfrm>
            <a:prstGeom prst="roundRect">
              <a:avLst>
                <a:gd name="adj" fmla="val 16667"/>
              </a:avLst>
            </a:prstGeom>
            <a:noFill/>
            <a:ln w="9525">
              <a:solidFill>
                <a:schemeClr val="tx1"/>
              </a:solidFill>
              <a:round/>
            </a:ln>
          </p:spPr>
          <p:txBody>
            <a:bodyPr wrap="none">
              <a:spAutoFit/>
            </a:bodyPr>
            <a:lstStyle/>
            <a:p>
              <a:pPr algn="r" fontAlgn="base">
                <a:spcBef>
                  <a:spcPct val="0"/>
                </a:spcBef>
                <a:spcAft>
                  <a:spcPct val="0"/>
                </a:spcAft>
              </a:pPr>
              <a:r>
                <a:rPr lang="en-US" sz="1600">
                  <a:solidFill>
                    <a:prstClr val="black"/>
                  </a:solidFill>
                  <a:latin typeface="Times New Roman" panose="02020603050405020304" pitchFamily="18" charset="0"/>
                  <a:cs typeface="Arial" panose="020B0604020202020204" pitchFamily="34" charset="0"/>
                </a:rPr>
                <a:t>Summarizes or</a:t>
              </a:r>
              <a:br>
                <a:rPr lang="en-US" sz="1600">
                  <a:solidFill>
                    <a:prstClr val="black"/>
                  </a:solidFill>
                  <a:latin typeface="Times New Roman" panose="02020603050405020304" pitchFamily="18" charset="0"/>
                  <a:cs typeface="Arial" panose="020B0604020202020204" pitchFamily="34" charset="0"/>
                </a:rPr>
              </a:br>
              <a:r>
                <a:rPr lang="en-US" sz="1600">
                  <a:solidFill>
                    <a:prstClr val="black"/>
                  </a:solidFill>
                  <a:latin typeface="Times New Roman" panose="02020603050405020304" pitchFamily="18" charset="0"/>
                  <a:cs typeface="Arial" panose="020B0604020202020204" pitchFamily="34" charset="0"/>
                </a:rPr>
                <a:t>translates letter</a:t>
              </a:r>
            </a:p>
          </p:txBody>
        </p:sp>
      </p:grpSp>
      <p:grpSp>
        <p:nvGrpSpPr>
          <p:cNvPr id="202" name="Group 57"/>
          <p:cNvGrpSpPr/>
          <p:nvPr/>
        </p:nvGrpSpPr>
        <p:grpSpPr bwMode="auto">
          <a:xfrm>
            <a:off x="5257800" y="2652713"/>
            <a:ext cx="2011363" cy="620712"/>
            <a:chOff x="3364" y="1671"/>
            <a:chExt cx="1267" cy="391"/>
          </a:xfrm>
        </p:grpSpPr>
        <p:pic>
          <p:nvPicPr>
            <p:cNvPr id="2097189" name="Picture 17"/>
            <p:cNvPicPr>
              <a:picLocks noChangeAspect="1" noChangeArrowheads="1"/>
            </p:cNvPicPr>
            <p:nvPr/>
          </p:nvPicPr>
          <p:blipFill>
            <a:blip r:embed="rId6" cstate="print">
              <a:clrChange>
                <a:clrFrom>
                  <a:srgbClr val="FFFFFF"/>
                </a:clrFrom>
                <a:clrTo>
                  <a:srgbClr val="FFFFFF">
                    <a:alpha val="0"/>
                  </a:srgbClr>
                </a:clrTo>
              </a:clrChange>
            </a:blip>
            <a:srcRect/>
            <a:stretch>
              <a:fillRect/>
            </a:stretch>
          </p:blipFill>
          <p:spPr bwMode="auto">
            <a:xfrm>
              <a:off x="4187" y="1684"/>
              <a:ext cx="444" cy="378"/>
            </a:xfrm>
            <a:prstGeom prst="rect">
              <a:avLst/>
            </a:prstGeom>
            <a:noFill/>
            <a:ln w="9525">
              <a:noFill/>
              <a:miter lim="800000"/>
              <a:headEnd/>
              <a:tailEnd/>
            </a:ln>
          </p:spPr>
        </p:pic>
        <p:sp>
          <p:nvSpPr>
            <p:cNvPr id="1049390" name="AutoShape 33"/>
            <p:cNvSpPr>
              <a:spLocks noChangeArrowheads="1"/>
            </p:cNvSpPr>
            <p:nvPr/>
          </p:nvSpPr>
          <p:spPr bwMode="auto">
            <a:xfrm>
              <a:off x="3364" y="1671"/>
              <a:ext cx="881" cy="259"/>
            </a:xfrm>
            <a:prstGeom prst="roundRect">
              <a:avLst>
                <a:gd name="adj" fmla="val 16667"/>
              </a:avLst>
            </a:prstGeom>
            <a:noFill/>
            <a:ln w="9525">
              <a:solidFill>
                <a:schemeClr val="tx1"/>
              </a:solidFill>
              <a:round/>
            </a:ln>
          </p:spPr>
          <p:txBody>
            <a:bodyPr wrap="none">
              <a:spAutoFit/>
            </a:bodyPr>
            <a:lstStyle/>
            <a:p>
              <a:pPr algn="r" fontAlgn="base">
                <a:spcBef>
                  <a:spcPct val="0"/>
                </a:spcBef>
                <a:spcAft>
                  <a:spcPct val="0"/>
                </a:spcAft>
              </a:pPr>
              <a:r>
                <a:rPr lang="en-US" sz="1600">
                  <a:solidFill>
                    <a:prstClr val="black"/>
                  </a:solidFill>
                  <a:latin typeface="Times New Roman" panose="02020603050405020304" pitchFamily="18" charset="0"/>
                  <a:cs typeface="Arial" panose="020B0604020202020204" pitchFamily="34" charset="0"/>
                </a:rPr>
                <a:t>Opens letter</a:t>
              </a:r>
            </a:p>
          </p:txBody>
        </p:sp>
      </p:grpSp>
      <p:grpSp>
        <p:nvGrpSpPr>
          <p:cNvPr id="203" name="Group 56"/>
          <p:cNvGrpSpPr/>
          <p:nvPr/>
        </p:nvGrpSpPr>
        <p:grpSpPr bwMode="auto">
          <a:xfrm>
            <a:off x="4876800" y="3402013"/>
            <a:ext cx="2608263" cy="720724"/>
            <a:chOff x="3072" y="2143"/>
            <a:chExt cx="1643" cy="454"/>
          </a:xfrm>
        </p:grpSpPr>
        <p:pic>
          <p:nvPicPr>
            <p:cNvPr id="2097190" name="Picture 18"/>
            <p:cNvPicPr>
              <a:picLocks noChangeAspect="1" noChangeArrowheads="1"/>
            </p:cNvPicPr>
            <p:nvPr/>
          </p:nvPicPr>
          <p:blipFill>
            <a:blip r:embed="rId7" cstate="print">
              <a:clrChange>
                <a:clrFrom>
                  <a:srgbClr val="FFFFFF"/>
                </a:clrFrom>
                <a:clrTo>
                  <a:srgbClr val="FFFFFF">
                    <a:alpha val="0"/>
                  </a:srgbClr>
                </a:clrTo>
              </a:clrChange>
            </a:blip>
            <a:srcRect/>
            <a:stretch>
              <a:fillRect/>
            </a:stretch>
          </p:blipFill>
          <p:spPr bwMode="auto">
            <a:xfrm>
              <a:off x="4103" y="2145"/>
              <a:ext cx="612" cy="378"/>
            </a:xfrm>
            <a:prstGeom prst="rect">
              <a:avLst/>
            </a:prstGeom>
            <a:noFill/>
            <a:ln w="9525">
              <a:noFill/>
              <a:miter lim="800000"/>
              <a:headEnd/>
              <a:tailEnd/>
            </a:ln>
          </p:spPr>
        </p:pic>
        <p:sp>
          <p:nvSpPr>
            <p:cNvPr id="1049391" name="AutoShape 34"/>
            <p:cNvSpPr>
              <a:spLocks noChangeArrowheads="1"/>
            </p:cNvSpPr>
            <p:nvPr/>
          </p:nvSpPr>
          <p:spPr bwMode="auto">
            <a:xfrm>
              <a:off x="3072" y="2143"/>
              <a:ext cx="1144" cy="454"/>
            </a:xfrm>
            <a:prstGeom prst="roundRect">
              <a:avLst>
                <a:gd name="adj" fmla="val 16667"/>
              </a:avLst>
            </a:prstGeom>
            <a:noFill/>
            <a:ln w="9525">
              <a:solidFill>
                <a:schemeClr val="tx1"/>
              </a:solidFill>
              <a:round/>
            </a:ln>
          </p:spPr>
          <p:txBody>
            <a:bodyPr wrap="none">
              <a:spAutoFit/>
            </a:bodyPr>
            <a:lstStyle/>
            <a:p>
              <a:pPr algn="r" fontAlgn="base">
                <a:spcBef>
                  <a:spcPct val="0"/>
                </a:spcBef>
                <a:spcAft>
                  <a:spcPct val="0"/>
                </a:spcAft>
              </a:pPr>
              <a:r>
                <a:rPr lang="en-US" sz="1600">
                  <a:solidFill>
                    <a:prstClr val="black"/>
                  </a:solidFill>
                  <a:latin typeface="Times New Roman" panose="02020603050405020304" pitchFamily="18" charset="0"/>
                  <a:cs typeface="Arial" panose="020B0604020202020204" pitchFamily="34" charset="0"/>
                </a:rPr>
                <a:t>Withdraws letter</a:t>
              </a:r>
              <a:br>
                <a:rPr lang="en-US" sz="1600">
                  <a:solidFill>
                    <a:prstClr val="black"/>
                  </a:solidFill>
                  <a:latin typeface="Times New Roman" panose="02020603050405020304" pitchFamily="18" charset="0"/>
                  <a:cs typeface="Arial" panose="020B0604020202020204" pitchFamily="34" charset="0"/>
                </a:rPr>
              </a:br>
              <a:r>
                <a:rPr lang="en-US" sz="1600">
                  <a:solidFill>
                    <a:prstClr val="black"/>
                  </a:solidFill>
                  <a:latin typeface="Times New Roman" panose="02020603050405020304" pitchFamily="18" charset="0"/>
                  <a:cs typeface="Arial" panose="020B0604020202020204" pitchFamily="34" charset="0"/>
                </a:rPr>
                <a:t>from mailbox</a:t>
              </a:r>
            </a:p>
          </p:txBody>
        </p:sp>
      </p:grpSp>
      <p:grpSp>
        <p:nvGrpSpPr>
          <p:cNvPr id="204" name="Group 55"/>
          <p:cNvGrpSpPr/>
          <p:nvPr/>
        </p:nvGrpSpPr>
        <p:grpSpPr bwMode="auto">
          <a:xfrm>
            <a:off x="5029200" y="4137025"/>
            <a:ext cx="2360613" cy="747712"/>
            <a:chOff x="3168" y="2606"/>
            <a:chExt cx="1487" cy="471"/>
          </a:xfrm>
        </p:grpSpPr>
        <p:pic>
          <p:nvPicPr>
            <p:cNvPr id="2097191" name="Picture 19"/>
            <p:cNvPicPr>
              <a:picLocks noChangeAspect="1" noChangeArrowheads="1"/>
            </p:cNvPicPr>
            <p:nvPr/>
          </p:nvPicPr>
          <p:blipFill>
            <a:blip r:embed="rId8" cstate="print">
              <a:clrChange>
                <a:clrFrom>
                  <a:srgbClr val="FFFFFF"/>
                </a:clrFrom>
                <a:clrTo>
                  <a:srgbClr val="FFFFFF">
                    <a:alpha val="0"/>
                  </a:srgbClr>
                </a:clrTo>
              </a:clrChange>
            </a:blip>
            <a:srcRect/>
            <a:stretch>
              <a:fillRect/>
            </a:stretch>
          </p:blipFill>
          <p:spPr bwMode="auto">
            <a:xfrm>
              <a:off x="4163" y="2606"/>
              <a:ext cx="492" cy="396"/>
            </a:xfrm>
            <a:prstGeom prst="rect">
              <a:avLst/>
            </a:prstGeom>
            <a:noFill/>
            <a:ln w="9525">
              <a:noFill/>
              <a:miter lim="800000"/>
              <a:headEnd/>
              <a:tailEnd/>
            </a:ln>
          </p:spPr>
        </p:pic>
        <p:sp>
          <p:nvSpPr>
            <p:cNvPr id="1049392" name="AutoShape 35"/>
            <p:cNvSpPr>
              <a:spLocks noChangeArrowheads="1"/>
            </p:cNvSpPr>
            <p:nvPr/>
          </p:nvSpPr>
          <p:spPr bwMode="auto">
            <a:xfrm>
              <a:off x="3168" y="2623"/>
              <a:ext cx="1116" cy="454"/>
            </a:xfrm>
            <a:prstGeom prst="roundRect">
              <a:avLst>
                <a:gd name="adj" fmla="val 16667"/>
              </a:avLst>
            </a:prstGeom>
            <a:noFill/>
            <a:ln w="9525">
              <a:solidFill>
                <a:schemeClr val="tx1"/>
              </a:solidFill>
              <a:round/>
            </a:ln>
          </p:spPr>
          <p:txBody>
            <a:bodyPr wrap="none">
              <a:spAutoFit/>
            </a:bodyPr>
            <a:lstStyle/>
            <a:p>
              <a:pPr algn="r" fontAlgn="base">
                <a:spcBef>
                  <a:spcPct val="0"/>
                </a:spcBef>
                <a:spcAft>
                  <a:spcPct val="0"/>
                </a:spcAft>
              </a:pPr>
              <a:r>
                <a:rPr lang="en-US" sz="1600">
                  <a:solidFill>
                    <a:prstClr val="black"/>
                  </a:solidFill>
                  <a:latin typeface="Times New Roman" panose="02020603050405020304" pitchFamily="18" charset="0"/>
                  <a:cs typeface="Arial" panose="020B0604020202020204" pitchFamily="34" charset="0"/>
                </a:rPr>
                <a:t>Checks address</a:t>
              </a:r>
              <a:br>
                <a:rPr lang="en-US" sz="1600">
                  <a:solidFill>
                    <a:prstClr val="black"/>
                  </a:solidFill>
                  <a:latin typeface="Times New Roman" panose="02020603050405020304" pitchFamily="18" charset="0"/>
                  <a:cs typeface="Arial" panose="020B0604020202020204" pitchFamily="34" charset="0"/>
                </a:rPr>
              </a:br>
              <a:r>
                <a:rPr lang="en-US" sz="1600">
                  <a:solidFill>
                    <a:prstClr val="black"/>
                  </a:solidFill>
                  <a:latin typeface="Times New Roman" panose="02020603050405020304" pitchFamily="18" charset="0"/>
                  <a:cs typeface="Arial" panose="020B0604020202020204" pitchFamily="34" charset="0"/>
                </a:rPr>
                <a:t>and sorts letter</a:t>
              </a:r>
            </a:p>
          </p:txBody>
        </p:sp>
      </p:grpSp>
      <p:grpSp>
        <p:nvGrpSpPr>
          <p:cNvPr id="205" name="Group 54"/>
          <p:cNvGrpSpPr/>
          <p:nvPr/>
        </p:nvGrpSpPr>
        <p:grpSpPr bwMode="auto">
          <a:xfrm>
            <a:off x="5562600" y="4849813"/>
            <a:ext cx="1822450" cy="720725"/>
            <a:chOff x="3504" y="3055"/>
            <a:chExt cx="1148" cy="454"/>
          </a:xfrm>
        </p:grpSpPr>
        <p:pic>
          <p:nvPicPr>
            <p:cNvPr id="2097192" name="Picture 20"/>
            <p:cNvPicPr>
              <a:picLocks noChangeAspect="1" noChangeArrowheads="1"/>
            </p:cNvPicPr>
            <p:nvPr/>
          </p:nvPicPr>
          <p:blipFill>
            <a:blip r:embed="rId9" cstate="print">
              <a:clrChange>
                <a:clrFrom>
                  <a:srgbClr val="FFFFFF"/>
                </a:clrFrom>
                <a:clrTo>
                  <a:srgbClr val="FFFFFF">
                    <a:alpha val="0"/>
                  </a:srgbClr>
                </a:clrTo>
              </a:clrChange>
            </a:blip>
            <a:srcRect/>
            <a:stretch>
              <a:fillRect/>
            </a:stretch>
          </p:blipFill>
          <p:spPr bwMode="auto">
            <a:xfrm>
              <a:off x="4166" y="3085"/>
              <a:ext cx="486" cy="384"/>
            </a:xfrm>
            <a:prstGeom prst="rect">
              <a:avLst/>
            </a:prstGeom>
            <a:noFill/>
            <a:ln w="9525">
              <a:noFill/>
              <a:miter lim="800000"/>
              <a:headEnd/>
              <a:tailEnd/>
            </a:ln>
          </p:spPr>
        </p:pic>
        <p:sp>
          <p:nvSpPr>
            <p:cNvPr id="1049393" name="AutoShape 36"/>
            <p:cNvSpPr>
              <a:spLocks noChangeArrowheads="1"/>
            </p:cNvSpPr>
            <p:nvPr/>
          </p:nvSpPr>
          <p:spPr bwMode="auto">
            <a:xfrm>
              <a:off x="3504" y="3055"/>
              <a:ext cx="678" cy="454"/>
            </a:xfrm>
            <a:prstGeom prst="roundRect">
              <a:avLst>
                <a:gd name="adj" fmla="val 16667"/>
              </a:avLst>
            </a:prstGeom>
            <a:noFill/>
            <a:ln w="9525">
              <a:solidFill>
                <a:schemeClr val="tx1"/>
              </a:solidFill>
              <a:round/>
            </a:ln>
          </p:spPr>
          <p:txBody>
            <a:bodyPr wrap="none">
              <a:spAutoFit/>
            </a:bodyPr>
            <a:lstStyle/>
            <a:p>
              <a:pPr algn="r" fontAlgn="base">
                <a:spcBef>
                  <a:spcPct val="0"/>
                </a:spcBef>
                <a:spcAft>
                  <a:spcPct val="0"/>
                </a:spcAft>
              </a:pPr>
              <a:r>
                <a:rPr lang="en-US" sz="1600">
                  <a:solidFill>
                    <a:prstClr val="black"/>
                  </a:solidFill>
                  <a:latin typeface="Times New Roman" panose="02020603050405020304" pitchFamily="18" charset="0"/>
                  <a:cs typeface="Arial" panose="020B0604020202020204" pitchFamily="34" charset="0"/>
                </a:rPr>
                <a:t>Unpacks</a:t>
              </a:r>
              <a:br>
                <a:rPr lang="en-US" sz="1600">
                  <a:solidFill>
                    <a:prstClr val="black"/>
                  </a:solidFill>
                  <a:latin typeface="Times New Roman" panose="02020603050405020304" pitchFamily="18" charset="0"/>
                  <a:cs typeface="Arial" panose="020B0604020202020204" pitchFamily="34" charset="0"/>
                </a:rPr>
              </a:br>
              <a:r>
                <a:rPr lang="en-US" sz="1600">
                  <a:solidFill>
                    <a:prstClr val="black"/>
                  </a:solidFill>
                  <a:latin typeface="Times New Roman" panose="02020603050405020304" pitchFamily="18" charset="0"/>
                  <a:cs typeface="Arial" panose="020B0604020202020204" pitchFamily="34" charset="0"/>
                </a:rPr>
                <a:t>packages</a:t>
              </a:r>
            </a:p>
          </p:txBody>
        </p:sp>
      </p:grpSp>
      <p:grpSp>
        <p:nvGrpSpPr>
          <p:cNvPr id="206" name="Group 53"/>
          <p:cNvGrpSpPr/>
          <p:nvPr/>
        </p:nvGrpSpPr>
        <p:grpSpPr bwMode="auto">
          <a:xfrm>
            <a:off x="5616575" y="5638800"/>
            <a:ext cx="1658938" cy="720725"/>
            <a:chOff x="3538" y="3552"/>
            <a:chExt cx="1045" cy="454"/>
          </a:xfrm>
        </p:grpSpPr>
        <p:pic>
          <p:nvPicPr>
            <p:cNvPr id="2097193" name="Picture 21"/>
            <p:cNvPicPr>
              <a:picLocks noChangeAspect="1" noChangeArrowheads="1"/>
            </p:cNvPicPr>
            <p:nvPr/>
          </p:nvPicPr>
          <p:blipFill>
            <a:blip r:embed="rId10" cstate="print">
              <a:clrChange>
                <a:clrFrom>
                  <a:srgbClr val="FFFFFF"/>
                </a:clrFrom>
                <a:clrTo>
                  <a:srgbClr val="FFFFFF">
                    <a:alpha val="0"/>
                  </a:srgbClr>
                </a:clrTo>
              </a:clrChange>
            </a:blip>
            <a:srcRect/>
            <a:stretch>
              <a:fillRect/>
            </a:stretch>
          </p:blipFill>
          <p:spPr bwMode="auto">
            <a:xfrm>
              <a:off x="4235" y="3552"/>
              <a:ext cx="348" cy="450"/>
            </a:xfrm>
            <a:prstGeom prst="rect">
              <a:avLst/>
            </a:prstGeom>
            <a:noFill/>
            <a:ln w="9525">
              <a:noFill/>
              <a:miter lim="800000"/>
              <a:headEnd/>
              <a:tailEnd/>
            </a:ln>
          </p:spPr>
        </p:pic>
        <p:sp>
          <p:nvSpPr>
            <p:cNvPr id="1049394" name="AutoShape 37"/>
            <p:cNvSpPr>
              <a:spLocks noChangeArrowheads="1"/>
            </p:cNvSpPr>
            <p:nvPr/>
          </p:nvSpPr>
          <p:spPr bwMode="auto">
            <a:xfrm>
              <a:off x="3538" y="3552"/>
              <a:ext cx="648" cy="454"/>
            </a:xfrm>
            <a:prstGeom prst="roundRect">
              <a:avLst>
                <a:gd name="adj" fmla="val 16667"/>
              </a:avLst>
            </a:prstGeom>
            <a:noFill/>
            <a:ln w="9525">
              <a:solidFill>
                <a:schemeClr val="tx1"/>
              </a:solidFill>
              <a:round/>
            </a:ln>
          </p:spPr>
          <p:txBody>
            <a:bodyPr wrap="none">
              <a:spAutoFit/>
            </a:bodyPr>
            <a:lstStyle/>
            <a:p>
              <a:pPr algn="r" fontAlgn="base">
                <a:spcBef>
                  <a:spcPct val="0"/>
                </a:spcBef>
                <a:spcAft>
                  <a:spcPct val="0"/>
                </a:spcAft>
              </a:pPr>
              <a:r>
                <a:rPr lang="en-US" sz="1600">
                  <a:solidFill>
                    <a:prstClr val="black"/>
                  </a:solidFill>
                  <a:latin typeface="Times New Roman" panose="02020603050405020304" pitchFamily="18" charset="0"/>
                  <a:cs typeface="Arial" panose="020B0604020202020204" pitchFamily="34" charset="0"/>
                </a:rPr>
                <a:t>Unloads</a:t>
              </a:r>
              <a:br>
                <a:rPr lang="en-US" sz="1600">
                  <a:solidFill>
                    <a:prstClr val="black"/>
                  </a:solidFill>
                  <a:latin typeface="Times New Roman" panose="02020603050405020304" pitchFamily="18" charset="0"/>
                  <a:cs typeface="Arial" panose="020B0604020202020204" pitchFamily="34" charset="0"/>
                </a:rPr>
              </a:br>
              <a:r>
                <a:rPr lang="en-US" sz="1600">
                  <a:solidFill>
                    <a:prstClr val="black"/>
                  </a:solidFill>
                  <a:latin typeface="Times New Roman" panose="02020603050405020304" pitchFamily="18" charset="0"/>
                  <a:cs typeface="Arial" panose="020B0604020202020204" pitchFamily="34" charset="0"/>
                </a:rPr>
                <a:t>from truck</a:t>
              </a:r>
            </a:p>
          </p:txBody>
        </p:sp>
      </p:grpSp>
      <p:grpSp>
        <p:nvGrpSpPr>
          <p:cNvPr id="207" name="Group 45"/>
          <p:cNvGrpSpPr/>
          <p:nvPr/>
        </p:nvGrpSpPr>
        <p:grpSpPr bwMode="auto">
          <a:xfrm>
            <a:off x="365125" y="1219200"/>
            <a:ext cx="3300413" cy="769937"/>
            <a:chOff x="230" y="768"/>
            <a:chExt cx="2079" cy="485"/>
          </a:xfrm>
        </p:grpSpPr>
        <p:pic>
          <p:nvPicPr>
            <p:cNvPr id="2097194" name="Picture 7"/>
            <p:cNvPicPr>
              <a:picLocks noChangeAspect="1" noChangeArrowheads="1"/>
            </p:cNvPicPr>
            <p:nvPr/>
          </p:nvPicPr>
          <p:blipFill>
            <a:blip r:embed="rId11" cstate="print">
              <a:clrChange>
                <a:clrFrom>
                  <a:srgbClr val="FFFFFF"/>
                </a:clrFrom>
                <a:clrTo>
                  <a:srgbClr val="FFFFFF">
                    <a:alpha val="0"/>
                  </a:srgbClr>
                </a:clrTo>
              </a:clrChange>
            </a:blip>
            <a:srcRect/>
            <a:stretch>
              <a:fillRect/>
            </a:stretch>
          </p:blipFill>
          <p:spPr bwMode="auto">
            <a:xfrm>
              <a:off x="918" y="768"/>
              <a:ext cx="504" cy="360"/>
            </a:xfrm>
            <a:prstGeom prst="rect">
              <a:avLst/>
            </a:prstGeom>
            <a:noFill/>
            <a:ln w="9525">
              <a:noFill/>
              <a:miter lim="800000"/>
              <a:headEnd/>
              <a:tailEnd/>
            </a:ln>
          </p:spPr>
        </p:pic>
        <p:sp>
          <p:nvSpPr>
            <p:cNvPr id="1049395" name="AutoShape 22"/>
            <p:cNvSpPr>
              <a:spLocks noChangeArrowheads="1"/>
            </p:cNvSpPr>
            <p:nvPr/>
          </p:nvSpPr>
          <p:spPr bwMode="auto">
            <a:xfrm>
              <a:off x="1462" y="799"/>
              <a:ext cx="847" cy="454"/>
            </a:xfrm>
            <a:prstGeom prst="roundRect">
              <a:avLst>
                <a:gd name="adj" fmla="val 16667"/>
              </a:avLst>
            </a:prstGeom>
            <a:noFill/>
            <a:ln w="9525">
              <a:solidFill>
                <a:schemeClr val="tx1"/>
              </a:solidFill>
              <a:round/>
            </a:ln>
          </p:spPr>
          <p:txBody>
            <a:bodyPr wrap="none">
              <a:spAutoFit/>
            </a:bodyPr>
            <a:lstStyle/>
            <a:p>
              <a:pPr fontAlgn="base">
                <a:spcBef>
                  <a:spcPct val="0"/>
                </a:spcBef>
                <a:spcAft>
                  <a:spcPct val="0"/>
                </a:spcAft>
              </a:pPr>
              <a:r>
                <a:rPr lang="en-US" sz="1600">
                  <a:solidFill>
                    <a:prstClr val="black"/>
                  </a:solidFill>
                  <a:latin typeface="Times New Roman" panose="02020603050405020304" pitchFamily="18" charset="0"/>
                  <a:cs typeface="Arial" panose="020B0604020202020204" pitchFamily="34" charset="0"/>
                </a:rPr>
                <a:t>Handwrites</a:t>
              </a:r>
              <a:br>
                <a:rPr lang="en-US" sz="1600">
                  <a:solidFill>
                    <a:prstClr val="black"/>
                  </a:solidFill>
                  <a:latin typeface="Times New Roman" panose="02020603050405020304" pitchFamily="18" charset="0"/>
                  <a:cs typeface="Arial" panose="020B0604020202020204" pitchFamily="34" charset="0"/>
                </a:rPr>
              </a:br>
              <a:r>
                <a:rPr lang="en-US" sz="1600">
                  <a:solidFill>
                    <a:prstClr val="black"/>
                  </a:solidFill>
                  <a:latin typeface="Times New Roman" panose="02020603050405020304" pitchFamily="18" charset="0"/>
                  <a:cs typeface="Arial" panose="020B0604020202020204" pitchFamily="34" charset="0"/>
                </a:rPr>
                <a:t>a message</a:t>
              </a:r>
            </a:p>
          </p:txBody>
        </p:sp>
        <p:sp>
          <p:nvSpPr>
            <p:cNvPr id="1049396" name="Text Box 38"/>
            <p:cNvSpPr txBox="1">
              <a:spLocks noChangeArrowheads="1"/>
            </p:cNvSpPr>
            <p:nvPr/>
          </p:nvSpPr>
          <p:spPr bwMode="auto">
            <a:xfrm>
              <a:off x="230" y="868"/>
              <a:ext cx="653" cy="210"/>
            </a:xfrm>
            <a:prstGeom prst="rect">
              <a:avLst/>
            </a:prstGeom>
            <a:noFill/>
            <a:ln w="9525">
              <a:noFill/>
              <a:miter lim="800000"/>
            </a:ln>
          </p:spPr>
          <p:txBody>
            <a:bodyPr wrap="none">
              <a:spAutoFit/>
            </a:bodyPr>
            <a:lstStyle/>
            <a:p>
              <a:pPr fontAlgn="base">
                <a:spcBef>
                  <a:spcPct val="0"/>
                </a:spcBef>
                <a:spcAft>
                  <a:spcPct val="0"/>
                </a:spcAft>
              </a:pPr>
              <a:r>
                <a:rPr lang="en-US" sz="1400">
                  <a:solidFill>
                    <a:srgbClr val="67AFBD"/>
                  </a:solidFill>
                  <a:latin typeface="Tahoma" panose="020B0604030504040204" pitchFamily="34" charset="0"/>
                  <a:cs typeface="Arial" panose="020B0604020202020204" pitchFamily="34" charset="0"/>
                </a:rPr>
                <a:t>7.Manager</a:t>
              </a:r>
            </a:p>
          </p:txBody>
        </p:sp>
      </p:grpSp>
      <p:grpSp>
        <p:nvGrpSpPr>
          <p:cNvPr id="208" name="Group 46"/>
          <p:cNvGrpSpPr/>
          <p:nvPr/>
        </p:nvGrpSpPr>
        <p:grpSpPr bwMode="auto">
          <a:xfrm>
            <a:off x="365125" y="1922463"/>
            <a:ext cx="3041650" cy="752474"/>
            <a:chOff x="230" y="1211"/>
            <a:chExt cx="1916" cy="474"/>
          </a:xfrm>
        </p:grpSpPr>
        <p:pic>
          <p:nvPicPr>
            <p:cNvPr id="2097195" name="Picture 8"/>
            <p:cNvPicPr>
              <a:picLocks noChangeAspect="1" noChangeArrowheads="1"/>
            </p:cNvPicPr>
            <p:nvPr/>
          </p:nvPicPr>
          <p:blipFill>
            <a:blip r:embed="rId12" cstate="print">
              <a:clrChange>
                <a:clrFrom>
                  <a:srgbClr val="FFFFFF"/>
                </a:clrFrom>
                <a:clrTo>
                  <a:srgbClr val="FFFFFF">
                    <a:alpha val="0"/>
                  </a:srgbClr>
                </a:clrTo>
              </a:clrChange>
            </a:blip>
            <a:srcRect/>
            <a:stretch>
              <a:fillRect/>
            </a:stretch>
          </p:blipFill>
          <p:spPr bwMode="auto">
            <a:xfrm>
              <a:off x="1071" y="1211"/>
              <a:ext cx="198" cy="390"/>
            </a:xfrm>
            <a:prstGeom prst="rect">
              <a:avLst/>
            </a:prstGeom>
            <a:noFill/>
            <a:ln w="9525">
              <a:noFill/>
              <a:miter lim="800000"/>
              <a:headEnd/>
              <a:tailEnd/>
            </a:ln>
          </p:spPr>
        </p:pic>
        <p:sp>
          <p:nvSpPr>
            <p:cNvPr id="1049397" name="AutoShape 23"/>
            <p:cNvSpPr>
              <a:spLocks noChangeArrowheads="1"/>
            </p:cNvSpPr>
            <p:nvPr/>
          </p:nvSpPr>
          <p:spPr bwMode="auto">
            <a:xfrm>
              <a:off x="1455" y="1231"/>
              <a:ext cx="691" cy="454"/>
            </a:xfrm>
            <a:prstGeom prst="roundRect">
              <a:avLst>
                <a:gd name="adj" fmla="val 16667"/>
              </a:avLst>
            </a:prstGeom>
            <a:noFill/>
            <a:ln w="9525">
              <a:solidFill>
                <a:schemeClr val="tx1"/>
              </a:solidFill>
              <a:round/>
            </a:ln>
          </p:spPr>
          <p:txBody>
            <a:bodyPr wrap="none">
              <a:spAutoFit/>
            </a:bodyPr>
            <a:lstStyle/>
            <a:p>
              <a:pPr fontAlgn="base">
                <a:spcBef>
                  <a:spcPct val="0"/>
                </a:spcBef>
                <a:spcAft>
                  <a:spcPct val="0"/>
                </a:spcAft>
              </a:pPr>
              <a:r>
                <a:rPr lang="en-US" sz="1600">
                  <a:solidFill>
                    <a:prstClr val="black"/>
                  </a:solidFill>
                  <a:latin typeface="Times New Roman" panose="02020603050405020304" pitchFamily="18" charset="0"/>
                  <a:cs typeface="Arial" panose="020B0604020202020204" pitchFamily="34" charset="0"/>
                </a:rPr>
                <a:t>Prepares</a:t>
              </a:r>
              <a:br>
                <a:rPr lang="en-US" sz="1600">
                  <a:solidFill>
                    <a:prstClr val="black"/>
                  </a:solidFill>
                  <a:latin typeface="Times New Roman" panose="02020603050405020304" pitchFamily="18" charset="0"/>
                  <a:cs typeface="Arial" panose="020B0604020202020204" pitchFamily="34" charset="0"/>
                </a:rPr>
              </a:br>
              <a:r>
                <a:rPr lang="en-US" sz="1600">
                  <a:solidFill>
                    <a:prstClr val="black"/>
                  </a:solidFill>
                  <a:latin typeface="Times New Roman" panose="02020603050405020304" pitchFamily="18" charset="0"/>
                  <a:cs typeface="Arial" panose="020B0604020202020204" pitchFamily="34" charset="0"/>
                </a:rPr>
                <a:t>final version</a:t>
              </a:r>
            </a:p>
          </p:txBody>
        </p:sp>
        <p:sp>
          <p:nvSpPr>
            <p:cNvPr id="1049398" name="Text Box 39"/>
            <p:cNvSpPr txBox="1">
              <a:spLocks noChangeArrowheads="1"/>
            </p:cNvSpPr>
            <p:nvPr/>
          </p:nvSpPr>
          <p:spPr bwMode="auto">
            <a:xfrm>
              <a:off x="230" y="1339"/>
              <a:ext cx="689" cy="210"/>
            </a:xfrm>
            <a:prstGeom prst="rect">
              <a:avLst/>
            </a:prstGeom>
            <a:noFill/>
            <a:ln w="9525">
              <a:noFill/>
              <a:miter lim="800000"/>
            </a:ln>
          </p:spPr>
          <p:txBody>
            <a:bodyPr wrap="none">
              <a:spAutoFit/>
            </a:bodyPr>
            <a:lstStyle/>
            <a:p>
              <a:pPr fontAlgn="base">
                <a:spcBef>
                  <a:spcPct val="0"/>
                </a:spcBef>
                <a:spcAft>
                  <a:spcPct val="0"/>
                </a:spcAft>
              </a:pPr>
              <a:r>
                <a:rPr lang="en-US" sz="1400">
                  <a:solidFill>
                    <a:srgbClr val="67AFBD"/>
                  </a:solidFill>
                  <a:latin typeface="Tahoma" panose="020B0604030504040204" pitchFamily="34" charset="0"/>
                  <a:cs typeface="Arial" panose="020B0604020202020204" pitchFamily="34" charset="0"/>
                </a:rPr>
                <a:t>6.Assistant</a:t>
              </a:r>
            </a:p>
          </p:txBody>
        </p:sp>
      </p:grpSp>
      <p:grpSp>
        <p:nvGrpSpPr>
          <p:cNvPr id="209" name="Group 47"/>
          <p:cNvGrpSpPr/>
          <p:nvPr/>
        </p:nvGrpSpPr>
        <p:grpSpPr bwMode="auto">
          <a:xfrm>
            <a:off x="365125" y="2640013"/>
            <a:ext cx="3859212" cy="720724"/>
            <a:chOff x="230" y="1663"/>
            <a:chExt cx="2431" cy="454"/>
          </a:xfrm>
        </p:grpSpPr>
        <p:pic>
          <p:nvPicPr>
            <p:cNvPr id="2097196" name="Picture 9"/>
            <p:cNvPicPr>
              <a:picLocks noChangeAspect="1" noChangeArrowheads="1"/>
            </p:cNvPicPr>
            <p:nvPr/>
          </p:nvPicPr>
          <p:blipFill>
            <a:blip r:embed="rId13" cstate="print">
              <a:clrChange>
                <a:clrFrom>
                  <a:srgbClr val="FFFFFF"/>
                </a:clrFrom>
                <a:clrTo>
                  <a:srgbClr val="FFFFFF">
                    <a:alpha val="0"/>
                  </a:srgbClr>
                </a:clrTo>
              </a:clrChange>
            </a:blip>
            <a:srcRect/>
            <a:stretch>
              <a:fillRect/>
            </a:stretch>
          </p:blipFill>
          <p:spPr bwMode="auto">
            <a:xfrm>
              <a:off x="948" y="1684"/>
              <a:ext cx="444" cy="378"/>
            </a:xfrm>
            <a:prstGeom prst="rect">
              <a:avLst/>
            </a:prstGeom>
            <a:noFill/>
            <a:ln w="9525">
              <a:noFill/>
              <a:miter lim="800000"/>
              <a:headEnd/>
              <a:tailEnd/>
            </a:ln>
          </p:spPr>
        </p:pic>
        <p:sp>
          <p:nvSpPr>
            <p:cNvPr id="1049399" name="AutoShape 24"/>
            <p:cNvSpPr>
              <a:spLocks noChangeArrowheads="1"/>
            </p:cNvSpPr>
            <p:nvPr/>
          </p:nvSpPr>
          <p:spPr bwMode="auto">
            <a:xfrm>
              <a:off x="1475" y="1663"/>
              <a:ext cx="1186" cy="454"/>
            </a:xfrm>
            <a:prstGeom prst="roundRect">
              <a:avLst>
                <a:gd name="adj" fmla="val 16667"/>
              </a:avLst>
            </a:prstGeom>
            <a:noFill/>
            <a:ln w="9525">
              <a:solidFill>
                <a:schemeClr val="tx1"/>
              </a:solidFill>
              <a:round/>
            </a:ln>
          </p:spPr>
          <p:txBody>
            <a:bodyPr wrap="none">
              <a:spAutoFit/>
            </a:bodyPr>
            <a:lstStyle/>
            <a:p>
              <a:pPr fontAlgn="base">
                <a:spcBef>
                  <a:spcPct val="0"/>
                </a:spcBef>
                <a:spcAft>
                  <a:spcPct val="0"/>
                </a:spcAft>
              </a:pPr>
              <a:r>
                <a:rPr lang="en-US" sz="1600">
                  <a:solidFill>
                    <a:prstClr val="black"/>
                  </a:solidFill>
                  <a:latin typeface="Times New Roman" panose="02020603050405020304" pitchFamily="18" charset="0"/>
                  <a:cs typeface="Arial" panose="020B0604020202020204" pitchFamily="34" charset="0"/>
                </a:rPr>
                <a:t>Provides address</a:t>
              </a:r>
              <a:br>
                <a:rPr lang="en-US" sz="1600">
                  <a:solidFill>
                    <a:prstClr val="black"/>
                  </a:solidFill>
                  <a:latin typeface="Times New Roman" panose="02020603050405020304" pitchFamily="18" charset="0"/>
                  <a:cs typeface="Arial" panose="020B0604020202020204" pitchFamily="34" charset="0"/>
                </a:rPr>
              </a:br>
              <a:r>
                <a:rPr lang="en-US" sz="1600">
                  <a:solidFill>
                    <a:prstClr val="black"/>
                  </a:solidFill>
                  <a:latin typeface="Times New Roman" panose="02020603050405020304" pitchFamily="18" charset="0"/>
                  <a:cs typeface="Arial" panose="020B0604020202020204" pitchFamily="34" charset="0"/>
                </a:rPr>
                <a:t>and packs letter</a:t>
              </a:r>
            </a:p>
          </p:txBody>
        </p:sp>
        <p:sp>
          <p:nvSpPr>
            <p:cNvPr id="1049400" name="Text Box 40"/>
            <p:cNvSpPr txBox="1">
              <a:spLocks noChangeArrowheads="1"/>
            </p:cNvSpPr>
            <p:nvPr/>
          </p:nvSpPr>
          <p:spPr bwMode="auto">
            <a:xfrm>
              <a:off x="230" y="1810"/>
              <a:ext cx="711" cy="210"/>
            </a:xfrm>
            <a:prstGeom prst="rect">
              <a:avLst/>
            </a:prstGeom>
            <a:noFill/>
            <a:ln w="9525">
              <a:noFill/>
              <a:miter lim="800000"/>
            </a:ln>
          </p:spPr>
          <p:txBody>
            <a:bodyPr wrap="none">
              <a:spAutoFit/>
            </a:bodyPr>
            <a:lstStyle/>
            <a:p>
              <a:pPr fontAlgn="base">
                <a:spcBef>
                  <a:spcPct val="0"/>
                </a:spcBef>
                <a:spcAft>
                  <a:spcPct val="0"/>
                </a:spcAft>
              </a:pPr>
              <a:r>
                <a:rPr lang="en-US" sz="1400">
                  <a:solidFill>
                    <a:srgbClr val="67AFBD"/>
                  </a:solidFill>
                  <a:latin typeface="Tahoma" panose="020B0604030504040204" pitchFamily="34" charset="0"/>
                  <a:cs typeface="Arial" panose="020B0604020202020204" pitchFamily="34" charset="0"/>
                </a:rPr>
                <a:t>5.Secretary</a:t>
              </a:r>
            </a:p>
          </p:txBody>
        </p:sp>
      </p:grpSp>
      <p:grpSp>
        <p:nvGrpSpPr>
          <p:cNvPr id="210" name="Group 48"/>
          <p:cNvGrpSpPr/>
          <p:nvPr/>
        </p:nvGrpSpPr>
        <p:grpSpPr bwMode="auto">
          <a:xfrm>
            <a:off x="365125" y="3402013"/>
            <a:ext cx="3603625" cy="720724"/>
            <a:chOff x="230" y="2143"/>
            <a:chExt cx="2270" cy="454"/>
          </a:xfrm>
        </p:grpSpPr>
        <p:pic>
          <p:nvPicPr>
            <p:cNvPr id="2097197" name="Picture 10"/>
            <p:cNvPicPr>
              <a:picLocks noChangeAspect="1" noChangeArrowheads="1"/>
            </p:cNvPicPr>
            <p:nvPr/>
          </p:nvPicPr>
          <p:blipFill>
            <a:blip r:embed="rId14" cstate="print">
              <a:clrChange>
                <a:clrFrom>
                  <a:srgbClr val="FFFFFF"/>
                </a:clrFrom>
                <a:clrTo>
                  <a:srgbClr val="FFFFFF">
                    <a:alpha val="0"/>
                  </a:srgbClr>
                </a:clrTo>
              </a:clrChange>
            </a:blip>
            <a:srcRect/>
            <a:stretch>
              <a:fillRect/>
            </a:stretch>
          </p:blipFill>
          <p:spPr bwMode="auto">
            <a:xfrm>
              <a:off x="864" y="2145"/>
              <a:ext cx="612" cy="378"/>
            </a:xfrm>
            <a:prstGeom prst="rect">
              <a:avLst/>
            </a:prstGeom>
            <a:noFill/>
            <a:ln w="9525">
              <a:noFill/>
              <a:miter lim="800000"/>
              <a:headEnd/>
              <a:tailEnd/>
            </a:ln>
          </p:spPr>
        </p:pic>
        <p:sp>
          <p:nvSpPr>
            <p:cNvPr id="1049401" name="AutoShape 25"/>
            <p:cNvSpPr>
              <a:spLocks noChangeArrowheads="1"/>
            </p:cNvSpPr>
            <p:nvPr/>
          </p:nvSpPr>
          <p:spPr bwMode="auto">
            <a:xfrm>
              <a:off x="1513" y="2143"/>
              <a:ext cx="987" cy="454"/>
            </a:xfrm>
            <a:prstGeom prst="roundRect">
              <a:avLst>
                <a:gd name="adj" fmla="val 16667"/>
              </a:avLst>
            </a:prstGeom>
            <a:noFill/>
            <a:ln w="9525">
              <a:solidFill>
                <a:schemeClr val="tx1"/>
              </a:solidFill>
              <a:round/>
            </a:ln>
          </p:spPr>
          <p:txBody>
            <a:bodyPr wrap="none">
              <a:spAutoFit/>
            </a:bodyPr>
            <a:lstStyle/>
            <a:p>
              <a:pPr fontAlgn="base">
                <a:spcBef>
                  <a:spcPct val="0"/>
                </a:spcBef>
                <a:spcAft>
                  <a:spcPct val="0"/>
                </a:spcAft>
              </a:pPr>
              <a:r>
                <a:rPr lang="en-US" sz="1600">
                  <a:solidFill>
                    <a:prstClr val="black"/>
                  </a:solidFill>
                  <a:latin typeface="Times New Roman" panose="02020603050405020304" pitchFamily="18" charset="0"/>
                  <a:cs typeface="Arial" panose="020B0604020202020204" pitchFamily="34" charset="0"/>
                </a:rPr>
                <a:t>Delivers letter</a:t>
              </a:r>
              <a:br>
                <a:rPr lang="en-US" sz="1600">
                  <a:solidFill>
                    <a:prstClr val="black"/>
                  </a:solidFill>
                  <a:latin typeface="Times New Roman" panose="02020603050405020304" pitchFamily="18" charset="0"/>
                  <a:cs typeface="Arial" panose="020B0604020202020204" pitchFamily="34" charset="0"/>
                </a:rPr>
              </a:br>
              <a:r>
                <a:rPr lang="en-US" sz="1600">
                  <a:solidFill>
                    <a:prstClr val="black"/>
                  </a:solidFill>
                  <a:latin typeface="Times New Roman" panose="02020603050405020304" pitchFamily="18" charset="0"/>
                  <a:cs typeface="Arial" panose="020B0604020202020204" pitchFamily="34" charset="0"/>
                </a:rPr>
                <a:t>to post office</a:t>
              </a:r>
            </a:p>
          </p:txBody>
        </p:sp>
        <p:sp>
          <p:nvSpPr>
            <p:cNvPr id="1049402" name="Text Box 41"/>
            <p:cNvSpPr txBox="1">
              <a:spLocks noChangeArrowheads="1"/>
            </p:cNvSpPr>
            <p:nvPr/>
          </p:nvSpPr>
          <p:spPr bwMode="auto">
            <a:xfrm>
              <a:off x="230" y="2282"/>
              <a:ext cx="515" cy="210"/>
            </a:xfrm>
            <a:prstGeom prst="rect">
              <a:avLst/>
            </a:prstGeom>
            <a:noFill/>
            <a:ln w="9525">
              <a:noFill/>
              <a:miter lim="800000"/>
            </a:ln>
          </p:spPr>
          <p:txBody>
            <a:bodyPr wrap="none">
              <a:spAutoFit/>
            </a:bodyPr>
            <a:lstStyle/>
            <a:p>
              <a:pPr fontAlgn="base">
                <a:spcBef>
                  <a:spcPct val="0"/>
                </a:spcBef>
                <a:spcAft>
                  <a:spcPct val="0"/>
                </a:spcAft>
              </a:pPr>
              <a:r>
                <a:rPr lang="en-US" sz="1400">
                  <a:solidFill>
                    <a:srgbClr val="67AFBD"/>
                  </a:solidFill>
                  <a:latin typeface="Tahoma" panose="020B0604030504040204" pitchFamily="34" charset="0"/>
                  <a:cs typeface="Arial" panose="020B0604020202020204" pitchFamily="34" charset="0"/>
                </a:rPr>
                <a:t>4.Driver</a:t>
              </a:r>
            </a:p>
          </p:txBody>
        </p:sp>
      </p:grpSp>
      <p:grpSp>
        <p:nvGrpSpPr>
          <p:cNvPr id="211" name="Group 49"/>
          <p:cNvGrpSpPr/>
          <p:nvPr/>
        </p:nvGrpSpPr>
        <p:grpSpPr bwMode="auto">
          <a:xfrm>
            <a:off x="381000" y="4137025"/>
            <a:ext cx="3805452" cy="747712"/>
            <a:chOff x="230" y="2606"/>
            <a:chExt cx="2225" cy="471"/>
          </a:xfrm>
        </p:grpSpPr>
        <p:pic>
          <p:nvPicPr>
            <p:cNvPr id="2097198" name="Picture 11"/>
            <p:cNvPicPr>
              <a:picLocks noChangeAspect="1" noChangeArrowheads="1"/>
            </p:cNvPicPr>
            <p:nvPr/>
          </p:nvPicPr>
          <p:blipFill>
            <a:blip r:embed="rId15" cstate="print">
              <a:clrChange>
                <a:clrFrom>
                  <a:srgbClr val="FFFFFF"/>
                </a:clrFrom>
                <a:clrTo>
                  <a:srgbClr val="FFFFFF">
                    <a:alpha val="0"/>
                  </a:srgbClr>
                </a:clrTo>
              </a:clrChange>
            </a:blip>
            <a:srcRect/>
            <a:stretch>
              <a:fillRect/>
            </a:stretch>
          </p:blipFill>
          <p:spPr bwMode="auto">
            <a:xfrm>
              <a:off x="924" y="2606"/>
              <a:ext cx="492" cy="396"/>
            </a:xfrm>
            <a:prstGeom prst="rect">
              <a:avLst/>
            </a:prstGeom>
            <a:noFill/>
            <a:ln w="9525">
              <a:noFill/>
              <a:miter lim="800000"/>
              <a:headEnd/>
              <a:tailEnd/>
            </a:ln>
          </p:spPr>
        </p:pic>
        <p:sp>
          <p:nvSpPr>
            <p:cNvPr id="1049403" name="AutoShape 26"/>
            <p:cNvSpPr>
              <a:spLocks noChangeArrowheads="1"/>
            </p:cNvSpPr>
            <p:nvPr/>
          </p:nvSpPr>
          <p:spPr bwMode="auto">
            <a:xfrm>
              <a:off x="1420" y="2623"/>
              <a:ext cx="1035" cy="454"/>
            </a:xfrm>
            <a:prstGeom prst="roundRect">
              <a:avLst>
                <a:gd name="adj" fmla="val 16667"/>
              </a:avLst>
            </a:prstGeom>
            <a:noFill/>
            <a:ln w="9525">
              <a:solidFill>
                <a:schemeClr val="tx1"/>
              </a:solidFill>
              <a:round/>
            </a:ln>
          </p:spPr>
          <p:txBody>
            <a:bodyPr wrap="none">
              <a:spAutoFit/>
            </a:bodyPr>
            <a:lstStyle/>
            <a:p>
              <a:pPr fontAlgn="base">
                <a:spcBef>
                  <a:spcPct val="0"/>
                </a:spcBef>
                <a:spcAft>
                  <a:spcPct val="0"/>
                </a:spcAft>
              </a:pPr>
              <a:r>
                <a:rPr lang="en-US" sz="1600">
                  <a:solidFill>
                    <a:prstClr val="black"/>
                  </a:solidFill>
                  <a:latin typeface="Times New Roman" panose="02020603050405020304" pitchFamily="18" charset="0"/>
                  <a:cs typeface="Arial" panose="020B0604020202020204" pitchFamily="34" charset="0"/>
                </a:rPr>
                <a:t>Checks address</a:t>
              </a:r>
              <a:br>
                <a:rPr lang="en-US" sz="1600">
                  <a:solidFill>
                    <a:prstClr val="black"/>
                  </a:solidFill>
                  <a:latin typeface="Times New Roman" panose="02020603050405020304" pitchFamily="18" charset="0"/>
                  <a:cs typeface="Arial" panose="020B0604020202020204" pitchFamily="34" charset="0"/>
                </a:rPr>
              </a:br>
              <a:r>
                <a:rPr lang="en-US" sz="1600">
                  <a:solidFill>
                    <a:prstClr val="black"/>
                  </a:solidFill>
                  <a:latin typeface="Times New Roman" panose="02020603050405020304" pitchFamily="18" charset="0"/>
                  <a:cs typeface="Arial" panose="020B0604020202020204" pitchFamily="34" charset="0"/>
                </a:rPr>
                <a:t>and sorts letter</a:t>
              </a:r>
            </a:p>
          </p:txBody>
        </p:sp>
        <p:sp>
          <p:nvSpPr>
            <p:cNvPr id="1049404" name="Text Box 42"/>
            <p:cNvSpPr txBox="1">
              <a:spLocks noChangeArrowheads="1"/>
            </p:cNvSpPr>
            <p:nvPr/>
          </p:nvSpPr>
          <p:spPr bwMode="auto">
            <a:xfrm>
              <a:off x="230" y="2753"/>
              <a:ext cx="735" cy="210"/>
            </a:xfrm>
            <a:prstGeom prst="rect">
              <a:avLst/>
            </a:prstGeom>
            <a:noFill/>
            <a:ln w="9525">
              <a:noFill/>
              <a:miter lim="800000"/>
            </a:ln>
          </p:spPr>
          <p:txBody>
            <a:bodyPr wrap="none">
              <a:spAutoFit/>
            </a:bodyPr>
            <a:lstStyle/>
            <a:p>
              <a:pPr fontAlgn="base">
                <a:spcBef>
                  <a:spcPct val="0"/>
                </a:spcBef>
                <a:spcAft>
                  <a:spcPct val="0"/>
                </a:spcAft>
              </a:pPr>
              <a:r>
                <a:rPr lang="en-US" sz="1400">
                  <a:solidFill>
                    <a:srgbClr val="67AFBD"/>
                  </a:solidFill>
                  <a:latin typeface="Tahoma" panose="020B0604030504040204" pitchFamily="34" charset="0"/>
                  <a:cs typeface="Arial" panose="020B0604020202020204" pitchFamily="34" charset="0"/>
                </a:rPr>
                <a:t>3.Postal staff</a:t>
              </a:r>
            </a:p>
          </p:txBody>
        </p:sp>
      </p:grpSp>
      <p:grpSp>
        <p:nvGrpSpPr>
          <p:cNvPr id="212" name="Group 50"/>
          <p:cNvGrpSpPr/>
          <p:nvPr/>
        </p:nvGrpSpPr>
        <p:grpSpPr bwMode="auto">
          <a:xfrm>
            <a:off x="365125" y="4849813"/>
            <a:ext cx="3581400" cy="720725"/>
            <a:chOff x="230" y="3055"/>
            <a:chExt cx="2256" cy="454"/>
          </a:xfrm>
        </p:grpSpPr>
        <p:pic>
          <p:nvPicPr>
            <p:cNvPr id="2097199" name="Picture 12"/>
            <p:cNvPicPr>
              <a:picLocks noChangeAspect="1" noChangeArrowheads="1"/>
            </p:cNvPicPr>
            <p:nvPr/>
          </p:nvPicPr>
          <p:blipFill>
            <a:blip r:embed="rId16" cstate="print">
              <a:clrChange>
                <a:clrFrom>
                  <a:srgbClr val="FFFFFF"/>
                </a:clrFrom>
                <a:clrTo>
                  <a:srgbClr val="FFFFFF">
                    <a:alpha val="0"/>
                  </a:srgbClr>
                </a:clrTo>
              </a:clrChange>
            </a:blip>
            <a:srcRect/>
            <a:stretch>
              <a:fillRect/>
            </a:stretch>
          </p:blipFill>
          <p:spPr bwMode="auto">
            <a:xfrm>
              <a:off x="927" y="3085"/>
              <a:ext cx="486" cy="384"/>
            </a:xfrm>
            <a:prstGeom prst="rect">
              <a:avLst/>
            </a:prstGeom>
            <a:noFill/>
            <a:ln w="9525">
              <a:noFill/>
              <a:miter lim="800000"/>
              <a:headEnd/>
              <a:tailEnd/>
            </a:ln>
          </p:spPr>
        </p:pic>
        <p:sp>
          <p:nvSpPr>
            <p:cNvPr id="1049405" name="AutoShape 27"/>
            <p:cNvSpPr>
              <a:spLocks noChangeArrowheads="1"/>
            </p:cNvSpPr>
            <p:nvPr/>
          </p:nvSpPr>
          <p:spPr bwMode="auto">
            <a:xfrm>
              <a:off x="1558" y="3055"/>
              <a:ext cx="928" cy="454"/>
            </a:xfrm>
            <a:prstGeom prst="roundRect">
              <a:avLst>
                <a:gd name="adj" fmla="val 16667"/>
              </a:avLst>
            </a:prstGeom>
            <a:noFill/>
            <a:ln w="9525">
              <a:solidFill>
                <a:schemeClr val="tx1"/>
              </a:solidFill>
              <a:round/>
            </a:ln>
          </p:spPr>
          <p:txBody>
            <a:bodyPr wrap="none">
              <a:spAutoFit/>
            </a:bodyPr>
            <a:lstStyle/>
            <a:p>
              <a:pPr fontAlgn="base">
                <a:spcBef>
                  <a:spcPct val="0"/>
                </a:spcBef>
                <a:spcAft>
                  <a:spcPct val="0"/>
                </a:spcAft>
              </a:pPr>
              <a:r>
                <a:rPr lang="en-US" sz="1600">
                  <a:solidFill>
                    <a:prstClr val="black"/>
                  </a:solidFill>
                  <a:latin typeface="Times New Roman" panose="02020603050405020304" pitchFamily="18" charset="0"/>
                  <a:cs typeface="Arial" panose="020B0604020202020204" pitchFamily="34" charset="0"/>
                </a:rPr>
                <a:t>Packs letters</a:t>
              </a:r>
              <a:br>
                <a:rPr lang="en-US" sz="1600">
                  <a:solidFill>
                    <a:prstClr val="black"/>
                  </a:solidFill>
                  <a:latin typeface="Times New Roman" panose="02020603050405020304" pitchFamily="18" charset="0"/>
                  <a:cs typeface="Arial" panose="020B0604020202020204" pitchFamily="34" charset="0"/>
                </a:rPr>
              </a:br>
              <a:r>
                <a:rPr lang="en-US" sz="1600">
                  <a:solidFill>
                    <a:prstClr val="black"/>
                  </a:solidFill>
                  <a:latin typeface="Times New Roman" panose="02020603050405020304" pitchFamily="18" charset="0"/>
                  <a:cs typeface="Arial" panose="020B0604020202020204" pitchFamily="34" charset="0"/>
                </a:rPr>
                <a:t>for certain directions</a:t>
              </a:r>
            </a:p>
          </p:txBody>
        </p:sp>
        <p:sp>
          <p:nvSpPr>
            <p:cNvPr id="1049406" name="Text Box 43"/>
            <p:cNvSpPr txBox="1">
              <a:spLocks noChangeArrowheads="1"/>
            </p:cNvSpPr>
            <p:nvPr/>
          </p:nvSpPr>
          <p:spPr bwMode="auto">
            <a:xfrm>
              <a:off x="230" y="3224"/>
              <a:ext cx="792" cy="210"/>
            </a:xfrm>
            <a:prstGeom prst="rect">
              <a:avLst/>
            </a:prstGeom>
            <a:noFill/>
            <a:ln w="9525">
              <a:noFill/>
              <a:miter lim="800000"/>
            </a:ln>
          </p:spPr>
          <p:txBody>
            <a:bodyPr wrap="none">
              <a:spAutoFit/>
            </a:bodyPr>
            <a:lstStyle/>
            <a:p>
              <a:pPr fontAlgn="base">
                <a:spcBef>
                  <a:spcPct val="0"/>
                </a:spcBef>
                <a:spcAft>
                  <a:spcPct val="0"/>
                </a:spcAft>
              </a:pPr>
              <a:r>
                <a:rPr lang="en-US" sz="1400">
                  <a:solidFill>
                    <a:srgbClr val="67AFBD"/>
                  </a:solidFill>
                  <a:latin typeface="Tahoma" panose="020B0604030504040204" pitchFamily="34" charset="0"/>
                  <a:cs typeface="Arial" panose="020B0604020202020204" pitchFamily="34" charset="0"/>
                </a:rPr>
                <a:t>2.Postal staff</a:t>
              </a:r>
            </a:p>
          </p:txBody>
        </p:sp>
      </p:grpSp>
      <p:grpSp>
        <p:nvGrpSpPr>
          <p:cNvPr id="213" name="Group 51"/>
          <p:cNvGrpSpPr/>
          <p:nvPr/>
        </p:nvGrpSpPr>
        <p:grpSpPr bwMode="auto">
          <a:xfrm>
            <a:off x="365125" y="5638800"/>
            <a:ext cx="3484563" cy="714375"/>
            <a:chOff x="230" y="3552"/>
            <a:chExt cx="2195" cy="450"/>
          </a:xfrm>
        </p:grpSpPr>
        <p:pic>
          <p:nvPicPr>
            <p:cNvPr id="2097200" name="Picture 13"/>
            <p:cNvPicPr>
              <a:picLocks noChangeAspect="1" noChangeArrowheads="1"/>
            </p:cNvPicPr>
            <p:nvPr/>
          </p:nvPicPr>
          <p:blipFill>
            <a:blip r:embed="rId10" cstate="print">
              <a:clrChange>
                <a:clrFrom>
                  <a:srgbClr val="FFFFFF"/>
                </a:clrFrom>
                <a:clrTo>
                  <a:srgbClr val="FFFFFF">
                    <a:alpha val="0"/>
                  </a:srgbClr>
                </a:clrTo>
              </a:clrChange>
            </a:blip>
            <a:srcRect/>
            <a:stretch>
              <a:fillRect/>
            </a:stretch>
          </p:blipFill>
          <p:spPr bwMode="auto">
            <a:xfrm>
              <a:off x="996" y="3552"/>
              <a:ext cx="348" cy="450"/>
            </a:xfrm>
            <a:prstGeom prst="rect">
              <a:avLst/>
            </a:prstGeom>
            <a:noFill/>
            <a:ln w="9525">
              <a:noFill/>
              <a:miter lim="800000"/>
              <a:headEnd/>
              <a:tailEnd/>
            </a:ln>
          </p:spPr>
        </p:pic>
        <p:sp>
          <p:nvSpPr>
            <p:cNvPr id="1049407" name="AutoShape 28"/>
            <p:cNvSpPr>
              <a:spLocks noChangeArrowheads="1"/>
            </p:cNvSpPr>
            <p:nvPr/>
          </p:nvSpPr>
          <p:spPr bwMode="auto">
            <a:xfrm>
              <a:off x="1383" y="3560"/>
              <a:ext cx="1042" cy="259"/>
            </a:xfrm>
            <a:prstGeom prst="roundRect">
              <a:avLst>
                <a:gd name="adj" fmla="val 16667"/>
              </a:avLst>
            </a:prstGeom>
            <a:noFill/>
            <a:ln w="9525">
              <a:solidFill>
                <a:schemeClr val="tx1"/>
              </a:solidFill>
              <a:round/>
            </a:ln>
          </p:spPr>
          <p:txBody>
            <a:bodyPr wrap="none">
              <a:spAutoFit/>
            </a:bodyPr>
            <a:lstStyle/>
            <a:p>
              <a:pPr fontAlgn="base">
                <a:spcBef>
                  <a:spcPct val="0"/>
                </a:spcBef>
                <a:spcAft>
                  <a:spcPct val="0"/>
                </a:spcAft>
              </a:pPr>
              <a:r>
                <a:rPr lang="en-US" sz="1600">
                  <a:solidFill>
                    <a:prstClr val="black"/>
                  </a:solidFill>
                  <a:latin typeface="Times New Roman" panose="02020603050405020304" pitchFamily="18" charset="0"/>
                  <a:cs typeface="Arial" panose="020B0604020202020204" pitchFamily="34" charset="0"/>
                </a:rPr>
                <a:t>Loads on truck</a:t>
              </a:r>
            </a:p>
          </p:txBody>
        </p:sp>
        <p:sp>
          <p:nvSpPr>
            <p:cNvPr id="1049408" name="Text Box 44"/>
            <p:cNvSpPr txBox="1">
              <a:spLocks noChangeArrowheads="1"/>
            </p:cNvSpPr>
            <p:nvPr/>
          </p:nvSpPr>
          <p:spPr bwMode="auto">
            <a:xfrm>
              <a:off x="230" y="3696"/>
              <a:ext cx="768" cy="210"/>
            </a:xfrm>
            <a:prstGeom prst="rect">
              <a:avLst/>
            </a:prstGeom>
            <a:noFill/>
            <a:ln w="9525">
              <a:noFill/>
              <a:miter lim="800000"/>
            </a:ln>
          </p:spPr>
          <p:txBody>
            <a:bodyPr wrap="none">
              <a:spAutoFit/>
            </a:bodyPr>
            <a:lstStyle/>
            <a:p>
              <a:pPr fontAlgn="base">
                <a:spcBef>
                  <a:spcPct val="0"/>
                </a:spcBef>
                <a:spcAft>
                  <a:spcPct val="0"/>
                </a:spcAft>
              </a:pPr>
              <a:r>
                <a:rPr lang="en-US" sz="1400">
                  <a:solidFill>
                    <a:srgbClr val="67AFBD"/>
                  </a:solidFill>
                  <a:latin typeface="Tahoma" panose="020B0604030504040204" pitchFamily="34" charset="0"/>
                  <a:cs typeface="Arial" panose="020B0604020202020204" pitchFamily="34" charset="0"/>
                </a:rPr>
                <a:t>1.Postal staff</a:t>
              </a:r>
            </a:p>
          </p:txBody>
        </p:sp>
      </p:grpSp>
      <p:sp>
        <p:nvSpPr>
          <p:cNvPr id="1049409" name="Text Box 60"/>
          <p:cNvSpPr txBox="1">
            <a:spLocks noChangeArrowheads="1"/>
          </p:cNvSpPr>
          <p:nvPr/>
        </p:nvSpPr>
        <p:spPr bwMode="auto">
          <a:xfrm>
            <a:off x="6977063" y="6432550"/>
            <a:ext cx="1865680" cy="307339"/>
          </a:xfrm>
          <a:prstGeom prst="rect">
            <a:avLst/>
          </a:prstGeom>
          <a:noFill/>
          <a:ln w="9525">
            <a:noFill/>
            <a:miter lim="800000"/>
          </a:ln>
        </p:spPr>
        <p:txBody>
          <a:bodyPr wrap="none">
            <a:spAutoFit/>
          </a:bodyPr>
          <a:lstStyle/>
          <a:p>
            <a:pPr fontAlgn="base">
              <a:spcBef>
                <a:spcPct val="0"/>
              </a:spcBef>
              <a:spcAft>
                <a:spcPct val="0"/>
              </a:spcAft>
            </a:pPr>
            <a:r>
              <a:rPr lang="en-US" sz="1200" b="1">
                <a:solidFill>
                  <a:srgbClr val="67AFBD"/>
                </a:solidFill>
                <a:latin typeface="Tahoma" panose="020B0604030504040204" pitchFamily="34" charset="0"/>
                <a:cs typeface="Arial" panose="020B0604020202020204" pitchFamily="34" charset="0"/>
              </a:rPr>
              <a:t>Pictures from </a:t>
            </a:r>
            <a:r>
              <a:rPr lang="en-US" sz="1200" b="1" i="1">
                <a:solidFill>
                  <a:srgbClr val="67AFBD"/>
                </a:solidFill>
                <a:latin typeface="Tahoma" panose="020B0604030504040204" pitchFamily="34" charset="0"/>
                <a:cs typeface="Arial" panose="020B0604020202020204" pitchFamily="34" charset="0"/>
              </a:rPr>
              <a:t>Wikipedia</a:t>
            </a:r>
          </a:p>
        </p:txBody>
      </p:sp>
    </p:spTree>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207"/>
                                        </p:tgtEl>
                                        <p:attrNameLst>
                                          <p:attrName>style.visibility</p:attrName>
                                        </p:attrNameLst>
                                      </p:cBhvr>
                                      <p:to>
                                        <p:strVal val="visible"/>
                                      </p:to>
                                    </p:set>
                                    <p:animEffect transition="in" filter="wipe(up)">
                                      <p:cBhvr>
                                        <p:cTn id="7" dur="500"/>
                                        <p:tgtEl>
                                          <p:spTgt spid="20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208"/>
                                        </p:tgtEl>
                                        <p:attrNameLst>
                                          <p:attrName>style.visibility</p:attrName>
                                        </p:attrNameLst>
                                      </p:cBhvr>
                                      <p:to>
                                        <p:strVal val="visible"/>
                                      </p:to>
                                    </p:set>
                                    <p:animEffect transition="in" filter="wipe(up)">
                                      <p:cBhvr>
                                        <p:cTn id="12" dur="500"/>
                                        <p:tgtEl>
                                          <p:spTgt spid="208"/>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209"/>
                                        </p:tgtEl>
                                        <p:attrNameLst>
                                          <p:attrName>style.visibility</p:attrName>
                                        </p:attrNameLst>
                                      </p:cBhvr>
                                      <p:to>
                                        <p:strVal val="visible"/>
                                      </p:to>
                                    </p:set>
                                    <p:animEffect transition="in" filter="wipe(up)">
                                      <p:cBhvr>
                                        <p:cTn id="17" dur="500"/>
                                        <p:tgtEl>
                                          <p:spTgt spid="209"/>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nodeType="clickEffect">
                                  <p:stCondLst>
                                    <p:cond delay="0"/>
                                  </p:stCondLst>
                                  <p:childTnLst>
                                    <p:set>
                                      <p:cBhvr>
                                        <p:cTn id="21" dur="1" fill="hold">
                                          <p:stCondLst>
                                            <p:cond delay="0"/>
                                          </p:stCondLst>
                                        </p:cTn>
                                        <p:tgtEl>
                                          <p:spTgt spid="210"/>
                                        </p:tgtEl>
                                        <p:attrNameLst>
                                          <p:attrName>style.visibility</p:attrName>
                                        </p:attrNameLst>
                                      </p:cBhvr>
                                      <p:to>
                                        <p:strVal val="visible"/>
                                      </p:to>
                                    </p:set>
                                    <p:animEffect transition="in" filter="wipe(up)">
                                      <p:cBhvr>
                                        <p:cTn id="22" dur="500"/>
                                        <p:tgtEl>
                                          <p:spTgt spid="210"/>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nodeType="clickEffect">
                                  <p:stCondLst>
                                    <p:cond delay="0"/>
                                  </p:stCondLst>
                                  <p:childTnLst>
                                    <p:set>
                                      <p:cBhvr>
                                        <p:cTn id="26" dur="1" fill="hold">
                                          <p:stCondLst>
                                            <p:cond delay="0"/>
                                          </p:stCondLst>
                                        </p:cTn>
                                        <p:tgtEl>
                                          <p:spTgt spid="211"/>
                                        </p:tgtEl>
                                        <p:attrNameLst>
                                          <p:attrName>style.visibility</p:attrName>
                                        </p:attrNameLst>
                                      </p:cBhvr>
                                      <p:to>
                                        <p:strVal val="visible"/>
                                      </p:to>
                                    </p:set>
                                    <p:animEffect transition="in" filter="wipe(up)">
                                      <p:cBhvr>
                                        <p:cTn id="27" dur="500"/>
                                        <p:tgtEl>
                                          <p:spTgt spid="211"/>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1" fill="hold" nodeType="clickEffect">
                                  <p:stCondLst>
                                    <p:cond delay="0"/>
                                  </p:stCondLst>
                                  <p:childTnLst>
                                    <p:set>
                                      <p:cBhvr>
                                        <p:cTn id="31" dur="1" fill="hold">
                                          <p:stCondLst>
                                            <p:cond delay="0"/>
                                          </p:stCondLst>
                                        </p:cTn>
                                        <p:tgtEl>
                                          <p:spTgt spid="212"/>
                                        </p:tgtEl>
                                        <p:attrNameLst>
                                          <p:attrName>style.visibility</p:attrName>
                                        </p:attrNameLst>
                                      </p:cBhvr>
                                      <p:to>
                                        <p:strVal val="visible"/>
                                      </p:to>
                                    </p:set>
                                    <p:animEffect transition="in" filter="wipe(up)">
                                      <p:cBhvr>
                                        <p:cTn id="32" dur="500"/>
                                        <p:tgtEl>
                                          <p:spTgt spid="212"/>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1" fill="hold" nodeType="clickEffect">
                                  <p:stCondLst>
                                    <p:cond delay="0"/>
                                  </p:stCondLst>
                                  <p:childTnLst>
                                    <p:set>
                                      <p:cBhvr>
                                        <p:cTn id="36" dur="1" fill="hold">
                                          <p:stCondLst>
                                            <p:cond delay="0"/>
                                          </p:stCondLst>
                                        </p:cTn>
                                        <p:tgtEl>
                                          <p:spTgt spid="213"/>
                                        </p:tgtEl>
                                        <p:attrNameLst>
                                          <p:attrName>style.visibility</p:attrName>
                                        </p:attrNameLst>
                                      </p:cBhvr>
                                      <p:to>
                                        <p:strVal val="visible"/>
                                      </p:to>
                                    </p:set>
                                    <p:animEffect transition="in" filter="wipe(up)">
                                      <p:cBhvr>
                                        <p:cTn id="37" dur="500"/>
                                        <p:tgtEl>
                                          <p:spTgt spid="213"/>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2097186"/>
                                        </p:tgtEl>
                                        <p:attrNameLst>
                                          <p:attrName>style.visibility</p:attrName>
                                        </p:attrNameLst>
                                      </p:cBhvr>
                                      <p:to>
                                        <p:strVal val="visible"/>
                                      </p:to>
                                    </p:set>
                                    <p:animEffect transition="in" filter="wipe(left)">
                                      <p:cBhvr>
                                        <p:cTn id="42" dur="500"/>
                                        <p:tgtEl>
                                          <p:spTgt spid="2097186"/>
                                        </p:tgtEl>
                                      </p:cBhvr>
                                    </p:animEffect>
                                  </p:childTnLst>
                                </p:cTn>
                              </p:par>
                              <p:par>
                                <p:cTn id="43" presetID="22" presetClass="entr" presetSubtype="8" fill="hold" nodeType="withEffect">
                                  <p:stCondLst>
                                    <p:cond delay="0"/>
                                  </p:stCondLst>
                                  <p:childTnLst>
                                    <p:set>
                                      <p:cBhvr>
                                        <p:cTn id="44" dur="1" fill="hold">
                                          <p:stCondLst>
                                            <p:cond delay="0"/>
                                          </p:stCondLst>
                                        </p:cTn>
                                        <p:tgtEl>
                                          <p:spTgt spid="199"/>
                                        </p:tgtEl>
                                        <p:attrNameLst>
                                          <p:attrName>style.visibility</p:attrName>
                                        </p:attrNameLst>
                                      </p:cBhvr>
                                      <p:to>
                                        <p:strVal val="visible"/>
                                      </p:to>
                                    </p:set>
                                    <p:animEffect transition="in" filter="wipe(left)">
                                      <p:cBhvr>
                                        <p:cTn id="45" dur="500"/>
                                        <p:tgtEl>
                                          <p:spTgt spid="199"/>
                                        </p:tgtEl>
                                      </p:cBhvr>
                                    </p:animEffect>
                                  </p:childTnLst>
                                </p:cTn>
                              </p:par>
                            </p:childTnLst>
                          </p:cTn>
                        </p:par>
                      </p:childTnLst>
                    </p:cTn>
                  </p:par>
                  <p:par>
                    <p:cTn id="46" fill="hold">
                      <p:stCondLst>
                        <p:cond delay="indefinite"/>
                      </p:stCondLst>
                      <p:childTnLst>
                        <p:par>
                          <p:cTn id="47" fill="hold">
                            <p:stCondLst>
                              <p:cond delay="0"/>
                            </p:stCondLst>
                            <p:childTnLst>
                              <p:par>
                                <p:cTn id="48" presetID="22" presetClass="entr" presetSubtype="4" fill="hold" nodeType="clickEffect">
                                  <p:stCondLst>
                                    <p:cond delay="0"/>
                                  </p:stCondLst>
                                  <p:childTnLst>
                                    <p:set>
                                      <p:cBhvr>
                                        <p:cTn id="49" dur="1" fill="hold">
                                          <p:stCondLst>
                                            <p:cond delay="0"/>
                                          </p:stCondLst>
                                        </p:cTn>
                                        <p:tgtEl>
                                          <p:spTgt spid="206"/>
                                        </p:tgtEl>
                                        <p:attrNameLst>
                                          <p:attrName>style.visibility</p:attrName>
                                        </p:attrNameLst>
                                      </p:cBhvr>
                                      <p:to>
                                        <p:strVal val="visible"/>
                                      </p:to>
                                    </p:set>
                                    <p:animEffect transition="in" filter="wipe(down)">
                                      <p:cBhvr>
                                        <p:cTn id="50" dur="500"/>
                                        <p:tgtEl>
                                          <p:spTgt spid="206"/>
                                        </p:tgtEl>
                                      </p:cBhvr>
                                    </p:animEffect>
                                  </p:childTnLst>
                                </p:cTn>
                              </p:par>
                            </p:childTnLst>
                          </p:cTn>
                        </p:par>
                      </p:childTnLst>
                    </p:cTn>
                  </p:par>
                  <p:par>
                    <p:cTn id="51" fill="hold">
                      <p:stCondLst>
                        <p:cond delay="indefinite"/>
                      </p:stCondLst>
                      <p:childTnLst>
                        <p:par>
                          <p:cTn id="52" fill="hold">
                            <p:stCondLst>
                              <p:cond delay="0"/>
                            </p:stCondLst>
                            <p:childTnLst>
                              <p:par>
                                <p:cTn id="53" presetID="22" presetClass="entr" presetSubtype="4" fill="hold" nodeType="clickEffect">
                                  <p:stCondLst>
                                    <p:cond delay="0"/>
                                  </p:stCondLst>
                                  <p:childTnLst>
                                    <p:set>
                                      <p:cBhvr>
                                        <p:cTn id="54" dur="1" fill="hold">
                                          <p:stCondLst>
                                            <p:cond delay="0"/>
                                          </p:stCondLst>
                                        </p:cTn>
                                        <p:tgtEl>
                                          <p:spTgt spid="205"/>
                                        </p:tgtEl>
                                        <p:attrNameLst>
                                          <p:attrName>style.visibility</p:attrName>
                                        </p:attrNameLst>
                                      </p:cBhvr>
                                      <p:to>
                                        <p:strVal val="visible"/>
                                      </p:to>
                                    </p:set>
                                    <p:animEffect transition="in" filter="wipe(down)">
                                      <p:cBhvr>
                                        <p:cTn id="55" dur="500"/>
                                        <p:tgtEl>
                                          <p:spTgt spid="205"/>
                                        </p:tgtEl>
                                      </p:cBhvr>
                                    </p:animEffect>
                                  </p:childTnLst>
                                </p:cTn>
                              </p:par>
                            </p:childTnLst>
                          </p:cTn>
                        </p:par>
                      </p:childTnLst>
                    </p:cTn>
                  </p:par>
                  <p:par>
                    <p:cTn id="56" fill="hold">
                      <p:stCondLst>
                        <p:cond delay="indefinite"/>
                      </p:stCondLst>
                      <p:childTnLst>
                        <p:par>
                          <p:cTn id="57" fill="hold">
                            <p:stCondLst>
                              <p:cond delay="0"/>
                            </p:stCondLst>
                            <p:childTnLst>
                              <p:par>
                                <p:cTn id="58" presetID="22" presetClass="entr" presetSubtype="4" fill="hold" nodeType="clickEffect">
                                  <p:stCondLst>
                                    <p:cond delay="0"/>
                                  </p:stCondLst>
                                  <p:childTnLst>
                                    <p:set>
                                      <p:cBhvr>
                                        <p:cTn id="59" dur="1" fill="hold">
                                          <p:stCondLst>
                                            <p:cond delay="0"/>
                                          </p:stCondLst>
                                        </p:cTn>
                                        <p:tgtEl>
                                          <p:spTgt spid="204"/>
                                        </p:tgtEl>
                                        <p:attrNameLst>
                                          <p:attrName>style.visibility</p:attrName>
                                        </p:attrNameLst>
                                      </p:cBhvr>
                                      <p:to>
                                        <p:strVal val="visible"/>
                                      </p:to>
                                    </p:set>
                                    <p:animEffect transition="in" filter="wipe(down)">
                                      <p:cBhvr>
                                        <p:cTn id="60" dur="500"/>
                                        <p:tgtEl>
                                          <p:spTgt spid="204"/>
                                        </p:tgtEl>
                                      </p:cBhvr>
                                    </p:animEffect>
                                  </p:childTnLst>
                                </p:cTn>
                              </p:par>
                            </p:childTnLst>
                          </p:cTn>
                        </p:par>
                      </p:childTnLst>
                    </p:cTn>
                  </p:par>
                  <p:par>
                    <p:cTn id="61" fill="hold">
                      <p:stCondLst>
                        <p:cond delay="indefinite"/>
                      </p:stCondLst>
                      <p:childTnLst>
                        <p:par>
                          <p:cTn id="62" fill="hold">
                            <p:stCondLst>
                              <p:cond delay="0"/>
                            </p:stCondLst>
                            <p:childTnLst>
                              <p:par>
                                <p:cTn id="63" presetID="22" presetClass="entr" presetSubtype="4" fill="hold" nodeType="clickEffect">
                                  <p:stCondLst>
                                    <p:cond delay="0"/>
                                  </p:stCondLst>
                                  <p:childTnLst>
                                    <p:set>
                                      <p:cBhvr>
                                        <p:cTn id="64" dur="1" fill="hold">
                                          <p:stCondLst>
                                            <p:cond delay="0"/>
                                          </p:stCondLst>
                                        </p:cTn>
                                        <p:tgtEl>
                                          <p:spTgt spid="203"/>
                                        </p:tgtEl>
                                        <p:attrNameLst>
                                          <p:attrName>style.visibility</p:attrName>
                                        </p:attrNameLst>
                                      </p:cBhvr>
                                      <p:to>
                                        <p:strVal val="visible"/>
                                      </p:to>
                                    </p:set>
                                    <p:animEffect transition="in" filter="wipe(down)">
                                      <p:cBhvr>
                                        <p:cTn id="65" dur="500"/>
                                        <p:tgtEl>
                                          <p:spTgt spid="203"/>
                                        </p:tgtEl>
                                      </p:cBhvr>
                                    </p:animEffect>
                                  </p:childTnLst>
                                </p:cTn>
                              </p:par>
                            </p:childTnLst>
                          </p:cTn>
                        </p:par>
                      </p:childTnLst>
                    </p:cTn>
                  </p:par>
                  <p:par>
                    <p:cTn id="66" fill="hold">
                      <p:stCondLst>
                        <p:cond delay="indefinite"/>
                      </p:stCondLst>
                      <p:childTnLst>
                        <p:par>
                          <p:cTn id="67" fill="hold">
                            <p:stCondLst>
                              <p:cond delay="0"/>
                            </p:stCondLst>
                            <p:childTnLst>
                              <p:par>
                                <p:cTn id="68" presetID="22" presetClass="entr" presetSubtype="4" fill="hold" nodeType="clickEffect">
                                  <p:stCondLst>
                                    <p:cond delay="0"/>
                                  </p:stCondLst>
                                  <p:childTnLst>
                                    <p:set>
                                      <p:cBhvr>
                                        <p:cTn id="69" dur="1" fill="hold">
                                          <p:stCondLst>
                                            <p:cond delay="0"/>
                                          </p:stCondLst>
                                        </p:cTn>
                                        <p:tgtEl>
                                          <p:spTgt spid="202"/>
                                        </p:tgtEl>
                                        <p:attrNameLst>
                                          <p:attrName>style.visibility</p:attrName>
                                        </p:attrNameLst>
                                      </p:cBhvr>
                                      <p:to>
                                        <p:strVal val="visible"/>
                                      </p:to>
                                    </p:set>
                                    <p:animEffect transition="in" filter="wipe(down)">
                                      <p:cBhvr>
                                        <p:cTn id="70" dur="500"/>
                                        <p:tgtEl>
                                          <p:spTgt spid="202"/>
                                        </p:tgtEl>
                                      </p:cBhvr>
                                    </p:animEffect>
                                  </p:childTnLst>
                                </p:cTn>
                              </p:par>
                            </p:childTnLst>
                          </p:cTn>
                        </p:par>
                      </p:childTnLst>
                    </p:cTn>
                  </p:par>
                  <p:par>
                    <p:cTn id="71" fill="hold">
                      <p:stCondLst>
                        <p:cond delay="indefinite"/>
                      </p:stCondLst>
                      <p:childTnLst>
                        <p:par>
                          <p:cTn id="72" fill="hold">
                            <p:stCondLst>
                              <p:cond delay="0"/>
                            </p:stCondLst>
                            <p:childTnLst>
                              <p:par>
                                <p:cTn id="73" presetID="22" presetClass="entr" presetSubtype="4" fill="hold" nodeType="clickEffect">
                                  <p:stCondLst>
                                    <p:cond delay="0"/>
                                  </p:stCondLst>
                                  <p:childTnLst>
                                    <p:set>
                                      <p:cBhvr>
                                        <p:cTn id="74" dur="1" fill="hold">
                                          <p:stCondLst>
                                            <p:cond delay="0"/>
                                          </p:stCondLst>
                                        </p:cTn>
                                        <p:tgtEl>
                                          <p:spTgt spid="201"/>
                                        </p:tgtEl>
                                        <p:attrNameLst>
                                          <p:attrName>style.visibility</p:attrName>
                                        </p:attrNameLst>
                                      </p:cBhvr>
                                      <p:to>
                                        <p:strVal val="visible"/>
                                      </p:to>
                                    </p:set>
                                    <p:animEffect transition="in" filter="wipe(down)">
                                      <p:cBhvr>
                                        <p:cTn id="75" dur="500"/>
                                        <p:tgtEl>
                                          <p:spTgt spid="201"/>
                                        </p:tgtEl>
                                      </p:cBhvr>
                                    </p:animEffect>
                                  </p:childTnLst>
                                </p:cTn>
                              </p:par>
                            </p:childTnLst>
                          </p:cTn>
                        </p:par>
                      </p:childTnLst>
                    </p:cTn>
                  </p:par>
                  <p:par>
                    <p:cTn id="76" fill="hold">
                      <p:stCondLst>
                        <p:cond delay="indefinite"/>
                      </p:stCondLst>
                      <p:childTnLst>
                        <p:par>
                          <p:cTn id="77" fill="hold">
                            <p:stCondLst>
                              <p:cond delay="0"/>
                            </p:stCondLst>
                            <p:childTnLst>
                              <p:par>
                                <p:cTn id="78" presetID="22" presetClass="entr" presetSubtype="4" fill="hold" nodeType="clickEffect">
                                  <p:stCondLst>
                                    <p:cond delay="0"/>
                                  </p:stCondLst>
                                  <p:childTnLst>
                                    <p:set>
                                      <p:cBhvr>
                                        <p:cTn id="79" dur="1" fill="hold">
                                          <p:stCondLst>
                                            <p:cond delay="0"/>
                                          </p:stCondLst>
                                        </p:cTn>
                                        <p:tgtEl>
                                          <p:spTgt spid="200"/>
                                        </p:tgtEl>
                                        <p:attrNameLst>
                                          <p:attrName>style.visibility</p:attrName>
                                        </p:attrNameLst>
                                      </p:cBhvr>
                                      <p:to>
                                        <p:strVal val="visible"/>
                                      </p:to>
                                    </p:set>
                                    <p:animEffect transition="in" filter="wipe(down)">
                                      <p:cBhvr>
                                        <p:cTn id="80" dur="500"/>
                                        <p:tgtEl>
                                          <p:spTgt spid="20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097201" name="Content Placeholder 4"/>
          <p:cNvPicPr>
            <a:picLocks noGrp="1" noChangeAspect="1"/>
          </p:cNvPicPr>
          <p:nvPr>
            <p:ph sz="half" idx="2"/>
          </p:nvPr>
        </p:nvPicPr>
        <p:blipFill>
          <a:blip r:embed="rId3"/>
          <a:stretch>
            <a:fillRect/>
          </a:stretch>
        </p:blipFill>
        <p:spPr>
          <a:xfrm>
            <a:off x="1600200" y="745109"/>
            <a:ext cx="5867400" cy="1159891"/>
          </a:xfrm>
        </p:spPr>
      </p:pic>
      <p:graphicFrame>
        <p:nvGraphicFramePr>
          <p:cNvPr id="4194309" name="Content Placeholder 10"/>
          <p:cNvGraphicFramePr>
            <a:graphicFrameLocks noGrp="1"/>
          </p:cNvGraphicFramePr>
          <p:nvPr>
            <p:ph sz="half" idx="3"/>
            <p:extLst>
              <p:ext uri="{D42A27DB-BD31-4B8C-83A1-F6EECF244321}">
                <p14:modId xmlns:p14="http://schemas.microsoft.com/office/powerpoint/2010/main" val="2006882294"/>
              </p:ext>
            </p:extLst>
          </p:nvPr>
        </p:nvGraphicFramePr>
        <p:xfrm>
          <a:off x="76200" y="2157438"/>
          <a:ext cx="8991600" cy="3481820"/>
        </p:xfrm>
        <a:graphic>
          <a:graphicData uri="http://schemas.openxmlformats.org/drawingml/2006/table">
            <a:tbl>
              <a:tblPr firstRow="1" bandRow="1">
                <a:tableStyleId>{0E3FDE45-AF77-4B5C-9715-49D594BDF05E}</a:tableStyleId>
              </a:tblPr>
              <a:tblGrid>
                <a:gridCol w="4267200">
                  <a:extLst>
                    <a:ext uri="{9D8B030D-6E8A-4147-A177-3AD203B41FA5}">
                      <a16:colId xmlns:a16="http://schemas.microsoft.com/office/drawing/2014/main" val="20000"/>
                    </a:ext>
                  </a:extLst>
                </a:gridCol>
                <a:gridCol w="4724400">
                  <a:extLst>
                    <a:ext uri="{9D8B030D-6E8A-4147-A177-3AD203B41FA5}">
                      <a16:colId xmlns:a16="http://schemas.microsoft.com/office/drawing/2014/main" val="20001"/>
                    </a:ext>
                  </a:extLst>
                </a:gridCol>
              </a:tblGrid>
              <a:tr h="509562">
                <a:tc>
                  <a:txBody>
                    <a:bodyPr/>
                    <a:lstStyle/>
                    <a:p>
                      <a:pPr algn="ctr"/>
                      <a:r>
                        <a:rPr lang="en-IN" sz="2400"/>
                        <a:t>OSI</a:t>
                      </a:r>
                      <a:endParaRPr lang="en-US" sz="2400"/>
                    </a:p>
                  </a:txBody>
                  <a:tcPr/>
                </a:tc>
                <a:tc>
                  <a:txBody>
                    <a:bodyPr/>
                    <a:lstStyle/>
                    <a:p>
                      <a:pPr algn="ctr"/>
                      <a:r>
                        <a:rPr lang="en-IN" sz="2400"/>
                        <a:t>TCP/IP</a:t>
                      </a:r>
                      <a:endParaRPr lang="en-US" sz="2400"/>
                    </a:p>
                  </a:txBody>
                  <a:tcPr/>
                </a:tc>
                <a:extLst>
                  <a:ext uri="{0D108BD9-81ED-4DB2-BD59-A6C34878D82A}">
                    <a16:rowId xmlns:a16="http://schemas.microsoft.com/office/drawing/2014/main" val="10000"/>
                  </a:ext>
                </a:extLst>
              </a:tr>
              <a:tr h="608438">
                <a:tc>
                  <a:txBody>
                    <a:bodyPr/>
                    <a:lstStyle/>
                    <a:p>
                      <a:r>
                        <a:rPr kumimoji="0" lang="en-US" kern="1200">
                          <a:effectLst/>
                        </a:rPr>
                        <a:t>It is developed by ISO (International Standard Organization)</a:t>
                      </a:r>
                      <a:endParaRPr lang="en-US"/>
                    </a:p>
                  </a:txBody>
                  <a:tcPr/>
                </a:tc>
                <a:tc>
                  <a:txBody>
                    <a:bodyPr/>
                    <a:lstStyle/>
                    <a:p>
                      <a:r>
                        <a:rPr kumimoji="0" lang="en-US" kern="1200">
                          <a:effectLst/>
                        </a:rPr>
                        <a:t>It is developed by ARPANET (Advanced Research Project Agency Network).</a:t>
                      </a:r>
                      <a:endParaRPr lang="en-US"/>
                    </a:p>
                  </a:txBody>
                  <a:tcPr/>
                </a:tc>
                <a:extLst>
                  <a:ext uri="{0D108BD9-81ED-4DB2-BD59-A6C34878D82A}">
                    <a16:rowId xmlns:a16="http://schemas.microsoft.com/office/drawing/2014/main" val="10001"/>
                  </a:ext>
                </a:extLst>
              </a:tr>
              <a:tr h="666385">
                <a:tc>
                  <a:txBody>
                    <a:bodyPr/>
                    <a:lstStyle/>
                    <a:p>
                      <a:pPr algn="l" fontAlgn="t"/>
                      <a:r>
                        <a:rPr lang="en-US">
                          <a:effectLst/>
                        </a:rPr>
                        <a:t>OSI refers to Open Systems Interconnection.</a:t>
                      </a:r>
                    </a:p>
                  </a:txBody>
                  <a:tcPr marL="76200" marR="76200" marT="76200" marB="76200"/>
                </a:tc>
                <a:tc>
                  <a:txBody>
                    <a:bodyPr/>
                    <a:lstStyle/>
                    <a:p>
                      <a:pPr algn="l" fontAlgn="t"/>
                      <a:r>
                        <a:rPr lang="en-US">
                          <a:effectLst/>
                        </a:rPr>
                        <a:t>TCP refers to Transmission Control Protocol.</a:t>
                      </a:r>
                    </a:p>
                  </a:txBody>
                  <a:tcPr marL="76200" marR="76200" marT="76200" marB="76200"/>
                </a:tc>
                <a:extLst>
                  <a:ext uri="{0D108BD9-81ED-4DB2-BD59-A6C34878D82A}">
                    <a16:rowId xmlns:a16="http://schemas.microsoft.com/office/drawing/2014/main" val="10002"/>
                  </a:ext>
                </a:extLst>
              </a:tr>
              <a:tr h="815569">
                <a:tc>
                  <a:txBody>
                    <a:bodyPr/>
                    <a:lstStyle/>
                    <a:p>
                      <a:pPr algn="l" fontAlgn="t"/>
                      <a:r>
                        <a:rPr lang="en-US">
                          <a:effectLst/>
                        </a:rPr>
                        <a:t>Session and presentation layers are a part of the OSI model.</a:t>
                      </a:r>
                    </a:p>
                  </a:txBody>
                  <a:tcPr marL="76200" marR="76200" marT="76200" marB="76200"/>
                </a:tc>
                <a:tc>
                  <a:txBody>
                    <a:bodyPr/>
                    <a:lstStyle/>
                    <a:p>
                      <a:pPr algn="l" fontAlgn="t"/>
                      <a:r>
                        <a:rPr lang="en-US">
                          <a:effectLst/>
                        </a:rPr>
                        <a:t>There is no session and presentation layer in the TCP model.</a:t>
                      </a:r>
                    </a:p>
                  </a:txBody>
                  <a:tcPr marL="76200" marR="76200" marT="76200" marB="76200"/>
                </a:tc>
                <a:extLst>
                  <a:ext uri="{0D108BD9-81ED-4DB2-BD59-A6C34878D82A}">
                    <a16:rowId xmlns:a16="http://schemas.microsoft.com/office/drawing/2014/main" val="10003"/>
                  </a:ext>
                </a:extLst>
              </a:tr>
              <a:tr h="815569">
                <a:tc>
                  <a:txBody>
                    <a:bodyPr/>
                    <a:lstStyle/>
                    <a:p>
                      <a:pPr algn="l" fontAlgn="base"/>
                      <a:r>
                        <a:rPr lang="en-US" b="0">
                          <a:effectLst/>
                        </a:rPr>
                        <a:t>OSI is less reliable</a:t>
                      </a:r>
                    </a:p>
                  </a:txBody>
                  <a:tcPr marL="133350" marR="133350" marT="66675" marB="66675" anchor="ctr"/>
                </a:tc>
                <a:tc>
                  <a:txBody>
                    <a:bodyPr/>
                    <a:lstStyle/>
                    <a:p>
                      <a:pPr marL="0" marR="0" indent="0" algn="l" defTabSz="914400" eaLnBrk="1" fontAlgn="base" latinLnBrk="0" hangingPunct="1">
                        <a:lnSpc>
                          <a:spcPct val="100000"/>
                        </a:lnSpc>
                        <a:spcBef>
                          <a:spcPts val="0"/>
                        </a:spcBef>
                        <a:spcAft>
                          <a:spcPts val="0"/>
                        </a:spcAft>
                        <a:buClrTx/>
                        <a:buSzTx/>
                        <a:buFontTx/>
                        <a:buNone/>
                        <a:tabLst/>
                        <a:defRPr/>
                      </a:pPr>
                      <a:r>
                        <a:rPr lang="en-US" b="0">
                          <a:effectLst/>
                        </a:rPr>
                        <a:t>TCP/IP is more reliable</a:t>
                      </a:r>
                    </a:p>
                    <a:p>
                      <a:pPr algn="l" fontAlgn="base"/>
                      <a:endParaRPr lang="en-US" b="0">
                        <a:effectLst/>
                      </a:endParaRPr>
                    </a:p>
                  </a:txBody>
                  <a:tcPr marL="133350" marR="133350" marT="66675" marB="66675" anchor="ctr"/>
                </a:tc>
                <a:extLst>
                  <a:ext uri="{0D108BD9-81ED-4DB2-BD59-A6C34878D82A}">
                    <a16:rowId xmlns:a16="http://schemas.microsoft.com/office/drawing/2014/main" val="10004"/>
                  </a:ext>
                </a:extLst>
              </a:tr>
            </a:tbl>
          </a:graphicData>
        </a:graphic>
      </p:graphicFrame>
      <p:sp>
        <p:nvSpPr>
          <p:cNvPr id="1049410" name="Slide Number Placeholder 3"/>
          <p:cNvSpPr>
            <a:spLocks noGrp="1"/>
          </p:cNvSpPr>
          <p:nvPr>
            <p:ph type="sldNum" sz="quarter" idx="7"/>
          </p:nvPr>
        </p:nvSpPr>
        <p:spPr/>
        <p:txBody>
          <a:bodyPr/>
          <a:lstStyle/>
          <a:p>
            <a:fld id="{BCC20C3A-8631-44B9-B2EA-782A539FC911}" type="slidenum">
              <a:rPr lang="en-US" smtClean="0"/>
              <a:t>72</a:t>
            </a:fld>
            <a:endParaRPr lang="en-US"/>
          </a:p>
        </p:txBody>
      </p:sp>
    </p:spTree>
  </p:cSld>
  <p:clrMapOvr>
    <a:overrideClrMapping bg1="lt1" tx1="dk1" bg2="lt2" tx2="dk2" accent1="accent1" accent2="accent2" accent3="accent3" accent4="accent4" accent5="accent5" accent6="accent6" hlink="hlink" folHlink="folHlink"/>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411" name="Title 1"/>
          <p:cNvSpPr>
            <a:spLocks noGrp="1"/>
          </p:cNvSpPr>
          <p:nvPr>
            <p:ph type="title"/>
          </p:nvPr>
        </p:nvSpPr>
        <p:spPr>
          <a:xfrm>
            <a:off x="2895600" y="3048000"/>
            <a:ext cx="3522821" cy="469900"/>
          </a:xfrm>
        </p:spPr>
        <p:txBody>
          <a:bodyPr/>
          <a:lstStyle/>
          <a:p>
            <a:r>
              <a:rPr lang="en-US" b="1"/>
              <a:t>END OF MODULE 1.1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Override1.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2.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3.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4.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5.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6.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7.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8.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9.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10.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11.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12.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13.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14.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15.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16.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17.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18.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19.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20.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21.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22.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23.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24.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25.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26.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27.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28.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29.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30.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31.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32.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33.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34.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35.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36.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37.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38.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39.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40.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41.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42.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43.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44.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45.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46.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47.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48.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49.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50.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51.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52.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53.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54.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55.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56.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57.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58.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59.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60.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61.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62.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63.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64.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65.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66.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docProps/app.xml><?xml version="1.0" encoding="utf-8"?>
<Properties xmlns="http://schemas.openxmlformats.org/officeDocument/2006/extended-properties" xmlns:vt="http://schemas.openxmlformats.org/officeDocument/2006/docPropsVTypes">
  <Application>Microsoft Office PowerPoint</Application>
  <PresentationFormat>On-screen Show (4:3)</PresentationFormat>
  <Slides>73</Slides>
  <Notes>9</Notes>
  <HiddenSlides>0</HiddenSlides>
  <ScaleCrop>false</ScaleCrop>
  <HeadingPairs>
    <vt:vector size="4" baseType="variant">
      <vt:variant>
        <vt:lpstr>Theme</vt:lpstr>
      </vt:variant>
      <vt:variant>
        <vt:i4>1</vt:i4>
      </vt:variant>
      <vt:variant>
        <vt:lpstr>Slide Titles</vt:lpstr>
      </vt:variant>
      <vt:variant>
        <vt:i4>73</vt:i4>
      </vt:variant>
    </vt:vector>
  </HeadingPairs>
  <TitlesOfParts>
    <vt:vector size="74" baseType="lpstr">
      <vt:lpstr>Office Theme</vt:lpstr>
      <vt:lpstr>CSE 2251 </vt:lpstr>
      <vt:lpstr>Module-1.1</vt:lpstr>
      <vt:lpstr>DATA COMMUNICATION </vt:lpstr>
      <vt:lpstr>CHARACTERISTICS OF DC   </vt:lpstr>
      <vt:lpstr>CHARACTERISTICS OF DC </vt:lpstr>
      <vt:lpstr>COMPONENTS OF DC</vt:lpstr>
      <vt:lpstr>COMPONENTS OF DC</vt:lpstr>
      <vt:lpstr>DATA REPRESENTATION </vt:lpstr>
      <vt:lpstr>PowerPoint Presentation</vt:lpstr>
      <vt:lpstr>DATA FLOW(CNTD)</vt:lpstr>
      <vt:lpstr>DATA FLOW(CNTD)</vt:lpstr>
      <vt:lpstr>PowerPoint Presentation</vt:lpstr>
      <vt:lpstr>PowerPoint Presentation</vt:lpstr>
      <vt:lpstr>PowerPoint Presentation</vt:lpstr>
      <vt:lpstr>PowerPoint Presentation</vt:lpstr>
      <vt:lpstr>NETWORK  TOPOLOGY</vt:lpstr>
      <vt:lpstr>TYPES OF NETWORK TOPOLOGIES</vt:lpstr>
      <vt:lpstr>BUS TOPOLOGY</vt:lpstr>
      <vt:lpstr>Bus Topology</vt:lpstr>
      <vt:lpstr>PowerPoint Presentation</vt:lpstr>
      <vt:lpstr>PowerPoint Presentation</vt:lpstr>
      <vt:lpstr>PowerPoint Presentation</vt:lpstr>
      <vt:lpstr>PowerPoint Presentation</vt:lpstr>
      <vt:lpstr>PowerPoint Presentation</vt:lpstr>
      <vt:lpstr>Star Topology</vt:lpstr>
      <vt:lpstr>PowerPoint Presentation</vt:lpstr>
      <vt:lpstr>PowerPoint Presentation</vt:lpstr>
      <vt:lpstr>Mesh Topology</vt:lpstr>
      <vt:lpstr>PowerPoint Presentation</vt:lpstr>
      <vt:lpstr>PowerPoint Presentation</vt:lpstr>
      <vt:lpstr>Tree Topology</vt:lpstr>
      <vt:lpstr>PowerPoint Presentation</vt:lpstr>
      <vt:lpstr>PowerPoint Presentation</vt:lpstr>
      <vt:lpstr>Hybrid Topology</vt:lpstr>
      <vt:lpstr>PowerPoint Presentation</vt:lpstr>
      <vt:lpstr>PowerPoint Presentation</vt:lpstr>
      <vt:lpstr>PowerPoint Presentation</vt:lpstr>
      <vt:lpstr>NETWORK MODEL</vt:lpstr>
      <vt:lpstr>LAYERED TASKS</vt:lpstr>
      <vt:lpstr>REAL WORLD EXAMPLE</vt:lpstr>
      <vt:lpstr>LOGICAL CONNECTION</vt:lpstr>
      <vt:lpstr>LAYER MODEL</vt:lpstr>
      <vt:lpstr>NETWORK MODEL</vt:lpstr>
      <vt:lpstr>TCP/IP MODEL</vt:lpstr>
      <vt:lpstr>TCP/IP OR INTERNET LAYER MODEL</vt:lpstr>
      <vt:lpstr>TCP/IP Model: the Internet model</vt:lpstr>
      <vt:lpstr>PowerPoint Presentation</vt:lpstr>
      <vt:lpstr>APPLICATION LAYER</vt:lpstr>
      <vt:lpstr>APPLICATION LAYER</vt:lpstr>
      <vt:lpstr>TRANSPORT LAYER</vt:lpstr>
      <vt:lpstr>TRANSPORT LAYER</vt:lpstr>
      <vt:lpstr>Transport Layer Services</vt:lpstr>
      <vt:lpstr>Transport Layer</vt:lpstr>
      <vt:lpstr>NETWORK LAYER</vt:lpstr>
      <vt:lpstr>NETWORK LAYER</vt:lpstr>
      <vt:lpstr>DATA LINK LAYER</vt:lpstr>
      <vt:lpstr>DATA LINK LAYER</vt:lpstr>
      <vt:lpstr>PHYSICAL LAYER</vt:lpstr>
      <vt:lpstr>PHYSICAL LAYER</vt:lpstr>
      <vt:lpstr>Physical Layer Functions</vt:lpstr>
      <vt:lpstr>INTERNET MODEL</vt:lpstr>
      <vt:lpstr>PowerPoint Presentation</vt:lpstr>
      <vt:lpstr>INTERNET PROTOCOL SUITE</vt:lpstr>
      <vt:lpstr>OSI MODEL</vt:lpstr>
      <vt:lpstr>OSI Model</vt:lpstr>
      <vt:lpstr>PowerPoint Presentation</vt:lpstr>
      <vt:lpstr>PowerPoint Presentation</vt:lpstr>
      <vt:lpstr>SESSION LAYER</vt:lpstr>
      <vt:lpstr>PRESENTATION LAYER</vt:lpstr>
      <vt:lpstr>PRESENTATION LAYER FUNCTIONS</vt:lpstr>
      <vt:lpstr>OSI LAYERS IN REAL WORLD</vt:lpstr>
      <vt:lpstr>PowerPoint Presentation</vt:lpstr>
      <vt:lpstr>END OF MODULE 1.1</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Threads</dc:title>
  <dc:creator>Windows User</dc:creator>
  <cp:revision>3</cp:revision>
  <dcterms:created xsi:type="dcterms:W3CDTF">2021-08-17T19:33:00Z</dcterms:created>
  <dcterms:modified xsi:type="dcterms:W3CDTF">2025-09-01T13:25:04Z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2020-06-03T05:30:00Z</vt:filetime>
  </property>
  <property fmtid="{D5CDD505-2E9C-101B-9397-08002B2CF9AE}" pid="3" name="Creator">
    <vt:lpwstr>Microsoft® PowerPoint® 2013</vt:lpwstr>
  </property>
  <property fmtid="{D5CDD505-2E9C-101B-9397-08002B2CF9AE}" pid="4" name="LastSaved">
    <vt:filetime>2021-08-18T05:30:00Z</vt:filetime>
  </property>
  <property fmtid="{D5CDD505-2E9C-101B-9397-08002B2CF9AE}" pid="5" name="ICV">
    <vt:lpwstr>80b7acda91aa40b5b39a225bc4046758</vt:lpwstr>
  </property>
  <property fmtid="{D5CDD505-2E9C-101B-9397-08002B2CF9AE}" pid="6" name="KSOProductBuildVer">
    <vt:lpwstr>1033-12.2.0.17562</vt:lpwstr>
  </property>
</Properties>
</file>