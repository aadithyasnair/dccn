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7" r:id="rId2"/>
    <p:sldId id="331" r:id="rId3"/>
    <p:sldId id="335" r:id="rId4"/>
    <p:sldId id="334" r:id="rId5"/>
    <p:sldId id="337" r:id="rId6"/>
    <p:sldId id="336" r:id="rId7"/>
    <p:sldId id="338" r:id="rId8"/>
    <p:sldId id="339" r:id="rId9"/>
    <p:sldId id="342" r:id="rId10"/>
    <p:sldId id="343" r:id="rId11"/>
    <p:sldId id="344" r:id="rId12"/>
    <p:sldId id="345" r:id="rId13"/>
    <p:sldId id="352" r:id="rId14"/>
    <p:sldId id="349" r:id="rId15"/>
    <p:sldId id="351" r:id="rId16"/>
    <p:sldId id="356" r:id="rId17"/>
    <p:sldId id="357" r:id="rId18"/>
    <p:sldId id="368" r:id="rId19"/>
    <p:sldId id="367" r:id="rId20"/>
    <p:sldId id="361" r:id="rId21"/>
    <p:sldId id="362" r:id="rId22"/>
    <p:sldId id="363" r:id="rId23"/>
    <p:sldId id="366" r:id="rId24"/>
    <p:sldId id="364" r:id="rId25"/>
    <p:sldId id="371" r:id="rId26"/>
    <p:sldId id="372" r:id="rId27"/>
    <p:sldId id="373" r:id="rId28"/>
    <p:sldId id="374" r:id="rId29"/>
    <p:sldId id="399" r:id="rId30"/>
    <p:sldId id="400" r:id="rId31"/>
    <p:sldId id="401" r:id="rId32"/>
    <p:sldId id="402" r:id="rId33"/>
    <p:sldId id="375" r:id="rId34"/>
    <p:sldId id="376" r:id="rId35"/>
    <p:sldId id="378" r:id="rId36"/>
    <p:sldId id="381" r:id="rId37"/>
    <p:sldId id="379" r:id="rId38"/>
    <p:sldId id="380" r:id="rId39"/>
    <p:sldId id="382" r:id="rId40"/>
    <p:sldId id="383" r:id="rId41"/>
    <p:sldId id="384" r:id="rId42"/>
    <p:sldId id="385" r:id="rId43"/>
    <p:sldId id="386" r:id="rId44"/>
    <p:sldId id="387" r:id="rId45"/>
    <p:sldId id="388" r:id="rId46"/>
    <p:sldId id="398" r:id="rId47"/>
    <p:sldId id="391" r:id="rId48"/>
    <p:sldId id="393" r:id="rId49"/>
    <p:sldId id="394" r:id="rId50"/>
    <p:sldId id="396" r:id="rId51"/>
    <p:sldId id="397" r:id="rId52"/>
    <p:sldId id="403" r:id="rId53"/>
    <p:sldId id="404" r:id="rId54"/>
    <p:sldId id="405" r:id="rId55"/>
    <p:sldId id="406" r:id="rId56"/>
    <p:sldId id="407" r:id="rId57"/>
    <p:sldId id="411" r:id="rId58"/>
    <p:sldId id="413" r:id="rId59"/>
    <p:sldId id="414" r:id="rId60"/>
    <p:sldId id="415" r:id="rId61"/>
    <p:sldId id="418" r:id="rId62"/>
    <p:sldId id="417" r:id="rId63"/>
    <p:sldId id="420" r:id="rId64"/>
    <p:sldId id="419" r:id="rId65"/>
    <p:sldId id="421" r:id="rId66"/>
    <p:sldId id="422" r:id="rId67"/>
    <p:sldId id="423" r:id="rId68"/>
    <p:sldId id="427" r:id="rId69"/>
    <p:sldId id="329" r:id="rId70"/>
  </p:sldIdLst>
  <p:sldSz cx="9144000" cy="6858000" type="screen4x3"/>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C5B226-05BA-C890-AEBE-DAEDD7E37252}" v="7" dt="2025-09-01T17:00:53.43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162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birami A - Asso. Prof. - SCSE" userId="S::abirami.a@presidencyuniversity.in::0df4b673-ce94-45c0-914d-352915ceeb28" providerId="AD" clId="Web-{D10EDA3A-F500-9EFB-0DCD-C4B2E6D183E7}"/>
    <pc:docChg chg="modSld">
      <pc:chgData name="Dr. Abirami A - Asso. Prof. - SCSE" userId="S::abirami.a@presidencyuniversity.in::0df4b673-ce94-45c0-914d-352915ceeb28" providerId="AD" clId="Web-{D10EDA3A-F500-9EFB-0DCD-C4B2E6D183E7}" dt="2025-08-25T08:59:04.467" v="1" actId="1076"/>
      <pc:docMkLst>
        <pc:docMk/>
      </pc:docMkLst>
      <pc:sldChg chg="modSp">
        <pc:chgData name="Dr. Abirami A - Asso. Prof. - SCSE" userId="S::abirami.a@presidencyuniversity.in::0df4b673-ce94-45c0-914d-352915ceeb28" providerId="AD" clId="Web-{D10EDA3A-F500-9EFB-0DCD-C4B2E6D183E7}" dt="2025-08-25T08:59:04.467" v="1" actId="1076"/>
        <pc:sldMkLst>
          <pc:docMk/>
          <pc:sldMk cId="217309004" sldId="382"/>
        </pc:sldMkLst>
        <pc:picChg chg="mod">
          <ac:chgData name="Dr. Abirami A - Asso. Prof. - SCSE" userId="S::abirami.a@presidencyuniversity.in::0df4b673-ce94-45c0-914d-352915ceeb28" providerId="AD" clId="Web-{D10EDA3A-F500-9EFB-0DCD-C4B2E6D183E7}" dt="2025-08-25T08:59:04.467" v="1" actId="1076"/>
          <ac:picMkLst>
            <pc:docMk/>
            <pc:sldMk cId="217309004" sldId="382"/>
            <ac:picMk id="65541" creationId="{486143EE-4400-C995-51BF-EA418F76FE21}"/>
          </ac:picMkLst>
        </pc:picChg>
      </pc:sldChg>
    </pc:docChg>
  </pc:docChgLst>
  <pc:docChgLst>
    <pc:chgData name="Guest User" userId="S::urn:spo:tenantanon#bf93bb5e-ecf0-4e3d-be0e-79b5cc527a48::" providerId="AD" clId="Web-{28C5B226-05BA-C890-AEBE-DAEDD7E37252}"/>
    <pc:docChg chg="modSld sldOrd">
      <pc:chgData name="Guest User" userId="S::urn:spo:tenantanon#bf93bb5e-ecf0-4e3d-be0e-79b5cc527a48::" providerId="AD" clId="Web-{28C5B226-05BA-C890-AEBE-DAEDD7E37252}" dt="2025-09-01T17:00:53.436" v="6" actId="1076"/>
      <pc:docMkLst>
        <pc:docMk/>
      </pc:docMkLst>
      <pc:sldChg chg="ord">
        <pc:chgData name="Guest User" userId="S::urn:spo:tenantanon#bf93bb5e-ecf0-4e3d-be0e-79b5cc527a48::" providerId="AD" clId="Web-{28C5B226-05BA-C890-AEBE-DAEDD7E37252}" dt="2025-09-01T16:50:32.551" v="0"/>
        <pc:sldMkLst>
          <pc:docMk/>
          <pc:sldMk cId="1987832152" sldId="417"/>
        </pc:sldMkLst>
      </pc:sldChg>
      <pc:sldChg chg="modSp">
        <pc:chgData name="Guest User" userId="S::urn:spo:tenantanon#bf93bb5e-ecf0-4e3d-be0e-79b5cc527a48::" providerId="AD" clId="Web-{28C5B226-05BA-C890-AEBE-DAEDD7E37252}" dt="2025-09-01T16:59:22.013" v="5" actId="1076"/>
        <pc:sldMkLst>
          <pc:docMk/>
          <pc:sldMk cId="1831498811" sldId="423"/>
        </pc:sldMkLst>
        <pc:picChg chg="mod">
          <ac:chgData name="Guest User" userId="S::urn:spo:tenantanon#bf93bb5e-ecf0-4e3d-be0e-79b5cc527a48::" providerId="AD" clId="Web-{28C5B226-05BA-C890-AEBE-DAEDD7E37252}" dt="2025-09-01T16:59:22.013" v="5" actId="1076"/>
          <ac:picMkLst>
            <pc:docMk/>
            <pc:sldMk cId="1831498811" sldId="423"/>
            <ac:picMk id="826374" creationId="{00000000-0000-0000-0000-000000000000}"/>
          </ac:picMkLst>
        </pc:picChg>
      </pc:sldChg>
      <pc:sldChg chg="modSp">
        <pc:chgData name="Guest User" userId="S::urn:spo:tenantanon#bf93bb5e-ecf0-4e3d-be0e-79b5cc527a48::" providerId="AD" clId="Web-{28C5B226-05BA-C890-AEBE-DAEDD7E37252}" dt="2025-09-01T17:00:53.436" v="6" actId="1076"/>
        <pc:sldMkLst>
          <pc:docMk/>
          <pc:sldMk cId="2734009790" sldId="427"/>
        </pc:sldMkLst>
        <pc:picChg chg="mod">
          <ac:chgData name="Guest User" userId="S::urn:spo:tenantanon#bf93bb5e-ecf0-4e3d-be0e-79b5cc527a48::" providerId="AD" clId="Web-{28C5B226-05BA-C890-AEBE-DAEDD7E37252}" dt="2025-09-01T17:00:53.436" v="6" actId="1076"/>
          <ac:picMkLst>
            <pc:docMk/>
            <pc:sldMk cId="2734009790" sldId="427"/>
            <ac:picMk id="830470" creationId="{00000000-0000-0000-0000-000000000000}"/>
          </ac:picMkLst>
        </pc:picChg>
      </pc:sldChg>
    </pc:docChg>
  </pc:docChgLst>
  <pc:docChgLst>
    <pc:chgData name="Dr. Abirami A - Asso. Prof. - SCSE" userId="S::abirami.a@presidencyuniversity.in::0df4b673-ce94-45c0-914d-352915ceeb28" providerId="AD" clId="Web-{D8FAA0E4-39FA-0AAE-29E7-302D00EEA559}"/>
    <pc:docChg chg="modSld">
      <pc:chgData name="Dr. Abirami A - Asso. Prof. - SCSE" userId="S::abirami.a@presidencyuniversity.in::0df4b673-ce94-45c0-914d-352915ceeb28" providerId="AD" clId="Web-{D8FAA0E4-39FA-0AAE-29E7-302D00EEA559}" dt="2025-08-27T18:15:00.255" v="4" actId="1076"/>
      <pc:docMkLst>
        <pc:docMk/>
      </pc:docMkLst>
      <pc:sldChg chg="modSp">
        <pc:chgData name="Dr. Abirami A - Asso. Prof. - SCSE" userId="S::abirami.a@presidencyuniversity.in::0df4b673-ce94-45c0-914d-352915ceeb28" providerId="AD" clId="Web-{D8FAA0E4-39FA-0AAE-29E7-302D00EEA559}" dt="2025-08-27T18:15:00.255" v="4" actId="1076"/>
        <pc:sldMkLst>
          <pc:docMk/>
          <pc:sldMk cId="1456115162" sldId="393"/>
        </pc:sldMkLst>
        <pc:spChg chg="mod">
          <ac:chgData name="Dr. Abirami A - Asso. Prof. - SCSE" userId="S::abirami.a@presidencyuniversity.in::0df4b673-ce94-45c0-914d-352915ceeb28" providerId="AD" clId="Web-{D8FAA0E4-39FA-0AAE-29E7-302D00EEA559}" dt="2025-08-27T18:15:00.255" v="4" actId="1076"/>
          <ac:spMkLst>
            <pc:docMk/>
            <pc:sldMk cId="1456115162" sldId="393"/>
            <ac:spMk id="839695" creationId="{00000000-0000-0000-0000-000000000000}"/>
          </ac:spMkLst>
        </pc:spChg>
      </pc:sldChg>
      <pc:sldChg chg="modSp">
        <pc:chgData name="Dr. Abirami A - Asso. Prof. - SCSE" userId="S::abirami.a@presidencyuniversity.in::0df4b673-ce94-45c0-914d-352915ceeb28" providerId="AD" clId="Web-{D8FAA0E4-39FA-0AAE-29E7-302D00EEA559}" dt="2025-08-27T18:14:25.270" v="3" actId="20577"/>
        <pc:sldMkLst>
          <pc:docMk/>
          <pc:sldMk cId="1555192117" sldId="398"/>
        </pc:sldMkLst>
        <pc:spChg chg="mod">
          <ac:chgData name="Dr. Abirami A - Asso. Prof. - SCSE" userId="S::abirami.a@presidencyuniversity.in::0df4b673-ce94-45c0-914d-352915ceeb28" providerId="AD" clId="Web-{D8FAA0E4-39FA-0AAE-29E7-302D00EEA559}" dt="2025-08-27T18:14:25.270" v="3" actId="20577"/>
          <ac:spMkLst>
            <pc:docMk/>
            <pc:sldMk cId="1555192117" sldId="398"/>
            <ac:spMk id="1008642" creationId="{00000000-0000-0000-0000-000000000000}"/>
          </ac:spMkLst>
        </pc:spChg>
        <pc:spChg chg="mod">
          <ac:chgData name="Dr. Abirami A - Asso. Prof. - SCSE" userId="S::abirami.a@presidencyuniversity.in::0df4b673-ce94-45c0-914d-352915ceeb28" providerId="AD" clId="Web-{D8FAA0E4-39FA-0AAE-29E7-302D00EEA559}" dt="2025-08-27T18:13:55.754" v="2" actId="1076"/>
          <ac:spMkLst>
            <pc:docMk/>
            <pc:sldMk cId="1555192117" sldId="398"/>
            <ac:spMk id="100864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41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104941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85028DE-5C91-4C6E-BA47-E2FEC5A0A5AE}" type="datetimeFigureOut">
              <a:rPr lang="en-IN" smtClean="0"/>
              <a:t>01-09-2025</a:t>
            </a:fld>
            <a:endParaRPr lang="en-IN"/>
          </a:p>
        </p:txBody>
      </p:sp>
      <p:sp>
        <p:nvSpPr>
          <p:cNvPr id="1049414" name="Slide Image Placeholder 3"/>
          <p:cNvSpPr>
            <a:spLocks noGrp="1" noRot="1" noChangeAspect="1"/>
          </p:cNvSpPr>
          <p:nvPr>
            <p:ph type="sldImg" idx="2"/>
          </p:nvPr>
        </p:nvSpPr>
        <p:spPr>
          <a:xfrm>
            <a:off x="4552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104941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941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104941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4D1F6DC-BC37-408D-812E-51F75D8D11DC}" type="slidenum">
              <a:rPr lang="en-IN" smtClean="0"/>
              <a:t>‹#›</a:t>
            </a:fld>
            <a:endParaRPr lang="en-IN"/>
          </a:p>
        </p:txBody>
      </p:sp>
    </p:spTree>
    <p:extLst>
      <p:ext uri="{BB962C8B-B14F-4D97-AF65-F5344CB8AC3E}">
        <p14:creationId xmlns:p14="http://schemas.microsoft.com/office/powerpoint/2010/main" val="2409997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FF816A8-4AA6-4C19-A8F3-875C6A240B40}" type="slidenum">
              <a:rPr lang="en-US">
                <a:latin typeface="Arial" panose="020B0604020202020204" pitchFamily="34" charset="0"/>
              </a:rPr>
              <a:pPr/>
              <a:t>3</a:t>
            </a:fld>
            <a:endParaRPr lang="en-US">
              <a:latin typeface="Arial" panose="020B0604020202020204" pitchFamily="34"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707569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7A4CFC7-B4DD-4883-95D5-3746AF22B8E7}" type="slidenum">
              <a:rPr lang="en-US">
                <a:latin typeface="Arial" panose="020B0604020202020204" pitchFamily="34" charset="0"/>
              </a:rPr>
              <a:pPr/>
              <a:t>6</a:t>
            </a:fld>
            <a:endParaRPr lang="en-US">
              <a:latin typeface="Arial" panose="020B0604020202020204" pitchFamily="3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3693752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34E0B99-F05B-439A-8361-767047471F90}" type="slidenum">
              <a:rPr lang="en-US">
                <a:latin typeface="Arial" panose="020B0604020202020204" pitchFamily="34" charset="0"/>
              </a:rPr>
              <a:pPr/>
              <a:t>7</a:t>
            </a:fld>
            <a:endParaRPr lang="en-US">
              <a:latin typeface="Arial" panose="020B0604020202020204" pitchFamily="34"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677758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E4DBF435-5FFC-4DE7-82A7-9E62167C43AD}" type="slidenum">
              <a:rPr lang="en-US">
                <a:latin typeface="Arial" panose="020B0604020202020204" pitchFamily="34" charset="0"/>
              </a:rPr>
              <a:pPr/>
              <a:t>9</a:t>
            </a:fld>
            <a:endParaRPr lang="en-US">
              <a:latin typeface="Arial" panose="020B0604020202020204" pitchFamily="3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4270284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2EAD879C-382E-4929-87BA-765FC1826A28}" type="slidenum">
              <a:rPr lang="en-US">
                <a:latin typeface="Arial" panose="020B0604020202020204" pitchFamily="34" charset="0"/>
              </a:rPr>
              <a:pPr/>
              <a:t>14</a:t>
            </a:fld>
            <a:endParaRPr lang="en-US">
              <a:latin typeface="Arial" panose="020B0604020202020204" pitchFamily="34"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488645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CA8BA19-E4D1-402D-BAD8-5D5DC72FD1AB}" type="slidenum">
              <a:rPr lang="en-US">
                <a:latin typeface="Arial" panose="020B0604020202020204" pitchFamily="34" charset="0"/>
              </a:rPr>
              <a:pPr/>
              <a:t>15</a:t>
            </a:fld>
            <a:endParaRPr lang="en-US">
              <a:latin typeface="Arial" panose="020B0604020202020204" pitchFamily="34"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Times" panose="02020603050405020304" pitchFamily="18" charset="0"/>
              </a:rPr>
              <a:t>Coaxial cable, like twisted pair, consists of two conductors, but is constructed differently to permit it to operate over a wider range of frequencies. It consists of a hollow outer cylindrical conductor that surrounds a single inner wire conductor (</a:t>
            </a:r>
            <a:r>
              <a:rPr lang="en-US">
                <a:latin typeface="Arial" panose="020B0604020202020204" pitchFamily="34" charset="0"/>
              </a:rPr>
              <a:t>Stallings DCC8e </a:t>
            </a:r>
            <a:r>
              <a:rPr lang="en-US">
                <a:latin typeface="Times" panose="02020603050405020304" pitchFamily="18" charset="0"/>
              </a:rPr>
              <a:t>Figure 4.2b). The inner conductor is held in place by either regularly spaced insulating rings or a solid dielectric material. The outer conductor is covered with a jacket or shield. A single coaxial cable has a diameter of from 1 to 2.5 cm. Coaxial cable can be used over longer distances and support more stations on a shared line than twisted pair.</a:t>
            </a:r>
          </a:p>
          <a:p>
            <a:pPr eaLnBrk="1" hangingPunct="1"/>
            <a:r>
              <a:rPr lang="en-US">
                <a:latin typeface="Times" panose="02020603050405020304" pitchFamily="18" charset="0"/>
              </a:rPr>
              <a:t>	Coaxial cable is a versatile transmission medium, used in a wide variety of applications, including:</a:t>
            </a:r>
          </a:p>
          <a:p>
            <a:pPr eaLnBrk="1" hangingPunct="1"/>
            <a:r>
              <a:rPr lang="en-US">
                <a:latin typeface="Times" panose="02020603050405020304" pitchFamily="18" charset="0"/>
                <a:cs typeface="Times New Roman" panose="02020603050405020304" pitchFamily="18" charset="0"/>
              </a:rPr>
              <a:t>•	</a:t>
            </a:r>
            <a:r>
              <a:rPr lang="en-US">
                <a:latin typeface="Times" panose="02020603050405020304" pitchFamily="18" charset="0"/>
              </a:rPr>
              <a:t>Television distribution - aerial to TV &amp; CATV systems</a:t>
            </a:r>
          </a:p>
          <a:p>
            <a:pPr eaLnBrk="1" hangingPunct="1"/>
            <a:r>
              <a:rPr lang="en-US">
                <a:latin typeface="Times" panose="02020603050405020304" pitchFamily="18" charset="0"/>
                <a:cs typeface="Times New Roman" panose="02020603050405020304" pitchFamily="18" charset="0"/>
              </a:rPr>
              <a:t>•	</a:t>
            </a:r>
            <a:r>
              <a:rPr lang="en-US">
                <a:latin typeface="Times" panose="02020603050405020304" pitchFamily="18" charset="0"/>
              </a:rPr>
              <a:t>Long-distance telephone transmission - traditionally used for inter-exchange links, now being replaced by optical fiber/microwave/satellite</a:t>
            </a:r>
          </a:p>
          <a:p>
            <a:pPr eaLnBrk="1" hangingPunct="1"/>
            <a:r>
              <a:rPr lang="en-US">
                <a:latin typeface="Times" panose="02020603050405020304" pitchFamily="18" charset="0"/>
                <a:cs typeface="Times New Roman" panose="02020603050405020304" pitchFamily="18" charset="0"/>
              </a:rPr>
              <a:t>•	</a:t>
            </a:r>
            <a:r>
              <a:rPr lang="en-US">
                <a:latin typeface="Times" panose="02020603050405020304" pitchFamily="18" charset="0"/>
              </a:rPr>
              <a:t>Short-run computer system links</a:t>
            </a:r>
          </a:p>
          <a:p>
            <a:pPr eaLnBrk="1" hangingPunct="1"/>
            <a:r>
              <a:rPr lang="en-US">
                <a:latin typeface="Times" panose="02020603050405020304" pitchFamily="18" charset="0"/>
                <a:cs typeface="Times New Roman" panose="02020603050405020304" pitchFamily="18" charset="0"/>
              </a:rPr>
              <a:t>•	</a:t>
            </a:r>
            <a:r>
              <a:rPr lang="en-US">
                <a:latin typeface="Times" panose="02020603050405020304" pitchFamily="18" charset="0"/>
              </a:rPr>
              <a:t>Local area networks</a:t>
            </a:r>
          </a:p>
          <a:p>
            <a:pPr lvl="2" eaLnBrk="1" hangingPunct="1"/>
            <a:endParaRPr lang="en-US">
              <a:latin typeface="Times" panose="02020603050405020304" pitchFamily="18" charset="0"/>
            </a:endParaRPr>
          </a:p>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3431134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2EEB34B-5926-4510-8269-8EAFDB6107F6}" type="slidenum">
              <a:rPr lang="en-US">
                <a:latin typeface="Arial" panose="020B0604020202020204" pitchFamily="34" charset="0"/>
              </a:rPr>
              <a:pPr/>
              <a:t>16</a:t>
            </a:fld>
            <a:endParaRPr lang="en-US">
              <a:latin typeface="Arial" panose="020B0604020202020204" pitchFamily="3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3597219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4CECB71-D09A-44A2-B54F-B3AA64F2F7BB}" type="slidenum">
              <a:rPr lang="en-US" smtClean="0"/>
              <a:pPr/>
              <a:t>18</a:t>
            </a:fld>
            <a:endParaRPr lang="en-US"/>
          </a:p>
        </p:txBody>
      </p:sp>
      <p:sp>
        <p:nvSpPr>
          <p:cNvPr id="48131" name="Rectangle 2"/>
          <p:cNvSpPr>
            <a:spLocks noGrp="1" noRot="1" noChangeAspect="1" noChangeArrowheads="1" noTextEdit="1"/>
          </p:cNvSpPr>
          <p:nvPr>
            <p:ph type="sldImg"/>
          </p:nvPr>
        </p:nvSpPr>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284941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6EDD140-65F9-4A72-BFDF-68C5B86BFB50}" type="slidenum">
              <a:rPr lang="en-US">
                <a:latin typeface="Arial" panose="020B0604020202020204" pitchFamily="34" charset="0"/>
              </a:rPr>
              <a:pPr/>
              <a:t>20</a:t>
            </a:fld>
            <a:endParaRPr lang="en-US">
              <a:latin typeface="Arial" panose="020B0604020202020204"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4300056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997588E2-86F9-46F4-B618-748FDFCBE3C4}" type="slidenum">
              <a:rPr lang="en-US">
                <a:latin typeface="Arial" panose="020B0604020202020204" pitchFamily="34" charset="0"/>
              </a:rPr>
              <a:pPr/>
              <a:t>21</a:t>
            </a:fld>
            <a:endParaRPr lang="en-US">
              <a:latin typeface="Arial" panose="020B0604020202020204" pitchFamily="34"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3379467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2605A29-1280-4F42-B873-25469E149073}" type="slidenum">
              <a:rPr lang="en-US">
                <a:latin typeface="Arial" panose="020B0604020202020204" pitchFamily="34" charset="0"/>
              </a:rPr>
              <a:pPr/>
              <a:t>22</a:t>
            </a:fld>
            <a:endParaRPr lang="en-US">
              <a:latin typeface="Arial" panose="020B0604020202020204" pitchFamily="3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a:latin typeface="Times" panose="02020603050405020304" pitchFamily="18" charset="0"/>
              </a:rPr>
              <a:t>Radio</a:t>
            </a:r>
            <a:r>
              <a:rPr lang="en-US">
                <a:latin typeface="Times" panose="02020603050405020304" pitchFamily="18" charset="0"/>
              </a:rPr>
              <a:t> is a general term used to encompass frequencies in the range of 3 kHz to 300 GHz. We are using the informal term </a:t>
            </a:r>
            <a:r>
              <a:rPr lang="en-US" b="1">
                <a:latin typeface="Times" panose="02020603050405020304" pitchFamily="18" charset="0"/>
              </a:rPr>
              <a:t>broadcast radio</a:t>
            </a:r>
            <a:r>
              <a:rPr lang="en-US">
                <a:latin typeface="Times" panose="02020603050405020304" pitchFamily="18" charset="0"/>
              </a:rPr>
              <a:t> to cover the VHF and part of the UHF band: 30 MHz to 1 GHz. This range covers FM radio and UHF and VHF television. This range is also used for a number of data networking applications. The principal difference between broadcast radio and microwave is that the former is omnidirectional and the latter is directional. Thus broadcast radio does not require dish-shaped antennas, and the antennas need not be rigidly mounted to a precise alignment.</a:t>
            </a:r>
          </a:p>
          <a:p>
            <a:pPr eaLnBrk="1" hangingPunct="1"/>
            <a:r>
              <a:rPr lang="en-US">
                <a:latin typeface="Times" panose="02020603050405020304" pitchFamily="18" charset="0"/>
              </a:rPr>
              <a:t>	The range 30 MHz to 1 GHz is an effective one for broadcast communications. Unlike the case for lower-frequency electromagnetic waves, the ionosphere is transparent to radio waves above 30 MHz. Thus transmission is limited  to the line of sight, and distant transmitters will not interfere with each other due to reflection from the atmosphere. Unlike the higher frequencies of the microwave region, broadcast radio waves are less sensitive to attenuation from rainfall. A prime source of impairment for broadcast radio waves is multipath interference. Reflection from land, water, and natural or human-made objects can create multiple paths between antennas, eg ghosting on TV pictures.</a:t>
            </a:r>
          </a:p>
        </p:txBody>
      </p:sp>
    </p:spTree>
    <p:extLst>
      <p:ext uri="{BB962C8B-B14F-4D97-AF65-F5344CB8AC3E}">
        <p14:creationId xmlns:p14="http://schemas.microsoft.com/office/powerpoint/2010/main" val="28912603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323DCDC-E143-425C-9B57-9DDF5744E930}" type="slidenum">
              <a:rPr lang="en-US">
                <a:latin typeface="Arial" panose="020B0604020202020204" pitchFamily="34" charset="0"/>
              </a:rPr>
              <a:pPr/>
              <a:t>24</a:t>
            </a:fld>
            <a:endParaRPr lang="en-US">
              <a:latin typeface="Arial" panose="020B0604020202020204" pitchFamily="34"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8436694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DCA749-545F-4DE7-961B-A3DA1A8FBF96}" type="slidenum">
              <a:rPr lang="en-US"/>
              <a:pPr/>
              <a:t>31</a:t>
            </a:fld>
            <a:endParaRPr lang="en-US"/>
          </a:p>
        </p:txBody>
      </p:sp>
      <p:sp>
        <p:nvSpPr>
          <p:cNvPr id="904194" name="Rectangle 2"/>
          <p:cNvSpPr>
            <a:spLocks noGrp="1" noRot="1" noChangeAspect="1" noChangeArrowheads="1" noTextEdit="1"/>
          </p:cNvSpPr>
          <p:nvPr>
            <p:ph type="sldImg"/>
          </p:nvPr>
        </p:nvSpPr>
        <p:spPr>
          <a:ln/>
        </p:spPr>
      </p:sp>
      <p:sp>
        <p:nvSpPr>
          <p:cNvPr id="9041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798092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B75E98-1360-4AC6-8390-B44676F1E554}" type="slidenum">
              <a:rPr lang="en-US"/>
              <a:pPr/>
              <a:t>32</a:t>
            </a:fld>
            <a:endParaRPr lang="en-US"/>
          </a:p>
        </p:txBody>
      </p:sp>
      <p:sp>
        <p:nvSpPr>
          <p:cNvPr id="907266" name="Rectangle 2"/>
          <p:cNvSpPr>
            <a:spLocks noGrp="1" noRot="1" noChangeAspect="1" noChangeArrowheads="1" noTextEdit="1"/>
          </p:cNvSpPr>
          <p:nvPr>
            <p:ph type="sldImg"/>
          </p:nvPr>
        </p:nvSpPr>
        <p:spPr>
          <a:ln/>
        </p:spPr>
      </p:sp>
      <p:sp>
        <p:nvSpPr>
          <p:cNvPr id="9072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12191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EF4EEA-9098-433C-BA5E-B68B0E29022C}" type="slidenum">
              <a:rPr lang="en-US"/>
              <a:pPr/>
              <a:t>33</a:t>
            </a:fld>
            <a:endParaRPr lang="en-US"/>
          </a:p>
        </p:txBody>
      </p:sp>
      <p:sp>
        <p:nvSpPr>
          <p:cNvPr id="929794" name="Rectangle 2"/>
          <p:cNvSpPr>
            <a:spLocks noGrp="1" noRot="1" noChangeAspect="1" noChangeArrowheads="1" noTextEdit="1"/>
          </p:cNvSpPr>
          <p:nvPr>
            <p:ph type="sldImg"/>
          </p:nvPr>
        </p:nvSpPr>
        <p:spPr>
          <a:ln/>
        </p:spPr>
      </p:sp>
      <p:sp>
        <p:nvSpPr>
          <p:cNvPr id="9297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531912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7A906D-D856-418B-A875-318DE7E7D961}" type="slidenum">
              <a:rPr lang="en-US"/>
              <a:pPr/>
              <a:t>34</a:t>
            </a:fld>
            <a:endParaRPr lang="en-US"/>
          </a:p>
        </p:txBody>
      </p:sp>
      <p:sp>
        <p:nvSpPr>
          <p:cNvPr id="930818" name="Rectangle 2"/>
          <p:cNvSpPr>
            <a:spLocks noGrp="1" noRot="1" noChangeAspect="1" noChangeArrowheads="1" noTextEdit="1"/>
          </p:cNvSpPr>
          <p:nvPr>
            <p:ph type="sldImg"/>
          </p:nvPr>
        </p:nvSpPr>
        <p:spPr>
          <a:ln/>
        </p:spPr>
      </p:sp>
      <p:sp>
        <p:nvSpPr>
          <p:cNvPr id="9308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74579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Image Placeholder 1">
            <a:extLst>
              <a:ext uri="{FF2B5EF4-FFF2-40B4-BE49-F238E27FC236}">
                <a16:creationId xmlns:a16="http://schemas.microsoft.com/office/drawing/2014/main" id="{1B2F324F-F140-F1DA-333B-258087B8C240}"/>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6371" name="Notes Placeholder 2">
            <a:extLst>
              <a:ext uri="{FF2B5EF4-FFF2-40B4-BE49-F238E27FC236}">
                <a16:creationId xmlns:a16="http://schemas.microsoft.com/office/drawing/2014/main" id="{BD5AC256-24AC-6CB5-8BB8-1133AE21BB0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186372" name="Slide Number Placeholder 3">
            <a:extLst>
              <a:ext uri="{FF2B5EF4-FFF2-40B4-BE49-F238E27FC236}">
                <a16:creationId xmlns:a16="http://schemas.microsoft.com/office/drawing/2014/main" id="{AFA03C8F-AE7F-9B15-2903-DC7EFD5C245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F9E8E2C-999B-4760-B3B3-21102DEAFD20}" type="slidenum">
              <a:rPr lang="en-IN" altLang="en-US">
                <a:solidFill>
                  <a:prstClr val="black"/>
                </a:solidFill>
                <a:latin typeface="Calibri" panose="020F0502020204030204" pitchFamily="34" charset="0"/>
              </a:rPr>
              <a:pPr/>
              <a:t>35</a:t>
            </a:fld>
            <a:endParaRPr lang="en-IN" altLang="en-US">
              <a:solidFill>
                <a:prstClr val="black"/>
              </a:solidFill>
              <a:latin typeface="Calibri" panose="020F0502020204030204" pitchFamily="34" charset="0"/>
            </a:endParaRPr>
          </a:p>
        </p:txBody>
      </p:sp>
      <p:sp>
        <p:nvSpPr>
          <p:cNvPr id="126981" name="Date Placeholder 4">
            <a:extLst>
              <a:ext uri="{FF2B5EF4-FFF2-40B4-BE49-F238E27FC236}">
                <a16:creationId xmlns:a16="http://schemas.microsoft.com/office/drawing/2014/main" id="{839C1167-052E-369F-BAB9-7F3A076FF1A0}"/>
              </a:ext>
            </a:extLst>
          </p:cNvPr>
          <p:cNvSpPr>
            <a:spLocks noGrp="1"/>
          </p:cNvSpPr>
          <p:nvPr>
            <p:ph type="dt" sz="quarter" idx="1"/>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fld id="{FC7A2FA3-B03A-41C4-80FB-ADD266031F4E}" type="datetime1">
              <a:rPr lang="en-IN" smtClean="0">
                <a:solidFill>
                  <a:prstClr val="black"/>
                </a:solidFill>
              </a:rPr>
              <a:pPr fontAlgn="base">
                <a:spcBef>
                  <a:spcPct val="0"/>
                </a:spcBef>
                <a:spcAft>
                  <a:spcPct val="0"/>
                </a:spcAft>
                <a:defRPr/>
              </a:pPr>
              <a:t>01-09-2025</a:t>
            </a:fld>
            <a:endParaRPr lang="en-IN">
              <a:solidFill>
                <a:prstClr val="black"/>
              </a:solidFill>
            </a:endParaRPr>
          </a:p>
        </p:txBody>
      </p:sp>
    </p:spTree>
    <p:extLst>
      <p:ext uri="{BB962C8B-B14F-4D97-AF65-F5344CB8AC3E}">
        <p14:creationId xmlns:p14="http://schemas.microsoft.com/office/powerpoint/2010/main" val="3166772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a:extLst>
              <a:ext uri="{FF2B5EF4-FFF2-40B4-BE49-F238E27FC236}">
                <a16:creationId xmlns:a16="http://schemas.microsoft.com/office/drawing/2014/main" id="{B4B34BC1-8BCB-4674-2EB4-CBEAB3629431}"/>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7395" name="Notes Placeholder 2">
            <a:extLst>
              <a:ext uri="{FF2B5EF4-FFF2-40B4-BE49-F238E27FC236}">
                <a16:creationId xmlns:a16="http://schemas.microsoft.com/office/drawing/2014/main" id="{D3C65886-6B9D-3F9D-8B99-1304338E9F2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187396" name="Slide Number Placeholder 3">
            <a:extLst>
              <a:ext uri="{FF2B5EF4-FFF2-40B4-BE49-F238E27FC236}">
                <a16:creationId xmlns:a16="http://schemas.microsoft.com/office/drawing/2014/main" id="{481BE603-27AD-9036-2BA7-AE701272E11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4B32A0C-2CDE-459D-B0D9-2CC92A2B1636}" type="slidenum">
              <a:rPr lang="en-IN" altLang="en-US">
                <a:solidFill>
                  <a:prstClr val="black"/>
                </a:solidFill>
                <a:latin typeface="Calibri" panose="020F0502020204030204" pitchFamily="34" charset="0"/>
              </a:rPr>
              <a:pPr/>
              <a:t>36</a:t>
            </a:fld>
            <a:endParaRPr lang="en-IN" altLang="en-US">
              <a:solidFill>
                <a:prstClr val="black"/>
              </a:solidFill>
              <a:latin typeface="Calibri" panose="020F0502020204030204" pitchFamily="34" charset="0"/>
            </a:endParaRPr>
          </a:p>
        </p:txBody>
      </p:sp>
      <p:sp>
        <p:nvSpPr>
          <p:cNvPr id="128005" name="Date Placeholder 4">
            <a:extLst>
              <a:ext uri="{FF2B5EF4-FFF2-40B4-BE49-F238E27FC236}">
                <a16:creationId xmlns:a16="http://schemas.microsoft.com/office/drawing/2014/main" id="{C66E1EC5-D5A8-BEFB-2C88-B2D74C40FACB}"/>
              </a:ext>
            </a:extLst>
          </p:cNvPr>
          <p:cNvSpPr>
            <a:spLocks noGrp="1"/>
          </p:cNvSpPr>
          <p:nvPr>
            <p:ph type="dt" sz="quarter" idx="1"/>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fld id="{743BE190-4E04-4389-A52F-7169776F3179}" type="datetime1">
              <a:rPr lang="en-IN" smtClean="0">
                <a:solidFill>
                  <a:prstClr val="black"/>
                </a:solidFill>
              </a:rPr>
              <a:pPr fontAlgn="base">
                <a:spcBef>
                  <a:spcPct val="0"/>
                </a:spcBef>
                <a:spcAft>
                  <a:spcPct val="0"/>
                </a:spcAft>
                <a:defRPr/>
              </a:pPr>
              <a:t>01-09-2025</a:t>
            </a:fld>
            <a:endParaRPr lang="en-IN">
              <a:solidFill>
                <a:prstClr val="black"/>
              </a:solidFill>
            </a:endParaRPr>
          </a:p>
        </p:txBody>
      </p:sp>
    </p:spTree>
    <p:extLst>
      <p:ext uri="{BB962C8B-B14F-4D97-AF65-F5344CB8AC3E}">
        <p14:creationId xmlns:p14="http://schemas.microsoft.com/office/powerpoint/2010/main" val="41336094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08A296-1D91-42E0-921C-43F9D0038298}" type="slidenum">
              <a:rPr lang="en-US"/>
              <a:pPr/>
              <a:t>37</a:t>
            </a:fld>
            <a:endParaRPr lang="en-US"/>
          </a:p>
        </p:txBody>
      </p:sp>
      <p:sp>
        <p:nvSpPr>
          <p:cNvPr id="932866" name="Rectangle 2"/>
          <p:cNvSpPr>
            <a:spLocks noGrp="1" noRot="1" noChangeAspect="1" noChangeArrowheads="1" noTextEdit="1"/>
          </p:cNvSpPr>
          <p:nvPr>
            <p:ph type="sldImg"/>
          </p:nvPr>
        </p:nvSpPr>
        <p:spPr>
          <a:ln/>
        </p:spPr>
      </p:sp>
      <p:sp>
        <p:nvSpPr>
          <p:cNvPr id="9328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308286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04D2C7-63EE-42A2-A2DD-F4233FF9B96F}" type="slidenum">
              <a:rPr lang="en-US"/>
              <a:pPr/>
              <a:t>38</a:t>
            </a:fld>
            <a:endParaRPr lang="en-US"/>
          </a:p>
        </p:txBody>
      </p:sp>
      <p:sp>
        <p:nvSpPr>
          <p:cNvPr id="933890" name="Rectangle 2"/>
          <p:cNvSpPr>
            <a:spLocks noGrp="1" noRot="1" noChangeAspect="1" noChangeArrowheads="1" noTextEdit="1"/>
          </p:cNvSpPr>
          <p:nvPr>
            <p:ph type="sldImg"/>
          </p:nvPr>
        </p:nvSpPr>
        <p:spPr>
          <a:ln/>
        </p:spPr>
      </p:sp>
      <p:sp>
        <p:nvSpPr>
          <p:cNvPr id="9338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346973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Slide Image Placeholder 1">
            <a:extLst>
              <a:ext uri="{FF2B5EF4-FFF2-40B4-BE49-F238E27FC236}">
                <a16:creationId xmlns:a16="http://schemas.microsoft.com/office/drawing/2014/main" id="{C1F669F6-5577-B356-E03E-3DC9950771B8}"/>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3539" name="Notes Placeholder 2">
            <a:extLst>
              <a:ext uri="{FF2B5EF4-FFF2-40B4-BE49-F238E27FC236}">
                <a16:creationId xmlns:a16="http://schemas.microsoft.com/office/drawing/2014/main" id="{96202D3D-02C2-B58C-9B76-BAF67C1243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193540" name="Slide Number Placeholder 3">
            <a:extLst>
              <a:ext uri="{FF2B5EF4-FFF2-40B4-BE49-F238E27FC236}">
                <a16:creationId xmlns:a16="http://schemas.microsoft.com/office/drawing/2014/main" id="{C94548FB-1C72-7EE8-30C7-97D4FDD235F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C7017DB-51D0-478B-AFC8-1EA9BC4BCD3B}" type="slidenum">
              <a:rPr lang="en-IN" altLang="en-US">
                <a:solidFill>
                  <a:prstClr val="black"/>
                </a:solidFill>
                <a:latin typeface="Calibri" panose="020F0502020204030204" pitchFamily="34" charset="0"/>
              </a:rPr>
              <a:pPr/>
              <a:t>39</a:t>
            </a:fld>
            <a:endParaRPr lang="en-IN" altLang="en-US">
              <a:solidFill>
                <a:prstClr val="black"/>
              </a:solidFill>
              <a:latin typeface="Calibri" panose="020F0502020204030204" pitchFamily="34" charset="0"/>
            </a:endParaRPr>
          </a:p>
        </p:txBody>
      </p:sp>
      <p:sp>
        <p:nvSpPr>
          <p:cNvPr id="134149" name="Date Placeholder 4">
            <a:extLst>
              <a:ext uri="{FF2B5EF4-FFF2-40B4-BE49-F238E27FC236}">
                <a16:creationId xmlns:a16="http://schemas.microsoft.com/office/drawing/2014/main" id="{76A9992A-33E6-F056-387B-FB919319E192}"/>
              </a:ext>
            </a:extLst>
          </p:cNvPr>
          <p:cNvSpPr>
            <a:spLocks noGrp="1"/>
          </p:cNvSpPr>
          <p:nvPr>
            <p:ph type="dt" sz="quarter" idx="1"/>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fld id="{65347BC6-AA87-47E3-8122-71A67C5D5528}" type="datetime1">
              <a:rPr lang="en-IN" smtClean="0">
                <a:solidFill>
                  <a:prstClr val="black"/>
                </a:solidFill>
              </a:rPr>
              <a:pPr fontAlgn="base">
                <a:spcBef>
                  <a:spcPct val="0"/>
                </a:spcBef>
                <a:spcAft>
                  <a:spcPct val="0"/>
                </a:spcAft>
                <a:defRPr/>
              </a:pPr>
              <a:t>01-09-2025</a:t>
            </a:fld>
            <a:endParaRPr lang="en-IN">
              <a:solidFill>
                <a:prstClr val="black"/>
              </a:solidFill>
            </a:endParaRPr>
          </a:p>
        </p:txBody>
      </p:sp>
    </p:spTree>
    <p:extLst>
      <p:ext uri="{BB962C8B-B14F-4D97-AF65-F5344CB8AC3E}">
        <p14:creationId xmlns:p14="http://schemas.microsoft.com/office/powerpoint/2010/main" val="37733953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Slide Image Placeholder 1">
            <a:extLst>
              <a:ext uri="{FF2B5EF4-FFF2-40B4-BE49-F238E27FC236}">
                <a16:creationId xmlns:a16="http://schemas.microsoft.com/office/drawing/2014/main" id="{94D27AD6-004E-642C-EEB3-4A0B0AA35153}"/>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63" name="Notes Placeholder 2">
            <a:extLst>
              <a:ext uri="{FF2B5EF4-FFF2-40B4-BE49-F238E27FC236}">
                <a16:creationId xmlns:a16="http://schemas.microsoft.com/office/drawing/2014/main" id="{0C5E7481-6652-C010-F2F9-6495C87EDE0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194564" name="Slide Number Placeholder 3">
            <a:extLst>
              <a:ext uri="{FF2B5EF4-FFF2-40B4-BE49-F238E27FC236}">
                <a16:creationId xmlns:a16="http://schemas.microsoft.com/office/drawing/2014/main" id="{BA0ABEE7-1255-C576-797F-6E79562B69E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4ACD761-2098-41E9-BCD2-91DCAC324F83}" type="slidenum">
              <a:rPr lang="en-IN" altLang="en-US">
                <a:solidFill>
                  <a:prstClr val="black"/>
                </a:solidFill>
                <a:latin typeface="Calibri" panose="020F0502020204030204" pitchFamily="34" charset="0"/>
              </a:rPr>
              <a:pPr/>
              <a:t>40</a:t>
            </a:fld>
            <a:endParaRPr lang="en-IN" altLang="en-US">
              <a:solidFill>
                <a:prstClr val="black"/>
              </a:solidFill>
              <a:latin typeface="Calibri" panose="020F0502020204030204" pitchFamily="34" charset="0"/>
            </a:endParaRPr>
          </a:p>
        </p:txBody>
      </p:sp>
      <p:sp>
        <p:nvSpPr>
          <p:cNvPr id="135173" name="Date Placeholder 4">
            <a:extLst>
              <a:ext uri="{FF2B5EF4-FFF2-40B4-BE49-F238E27FC236}">
                <a16:creationId xmlns:a16="http://schemas.microsoft.com/office/drawing/2014/main" id="{063FB17B-EFAF-0B8C-284D-3B1B3DD77EF0}"/>
              </a:ext>
            </a:extLst>
          </p:cNvPr>
          <p:cNvSpPr>
            <a:spLocks noGrp="1"/>
          </p:cNvSpPr>
          <p:nvPr>
            <p:ph type="dt" sz="quarter" idx="1"/>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fld id="{D097B0D1-3157-498D-B3C2-3A1067856D32}" type="datetime1">
              <a:rPr lang="en-IN" smtClean="0">
                <a:solidFill>
                  <a:prstClr val="black"/>
                </a:solidFill>
              </a:rPr>
              <a:pPr fontAlgn="base">
                <a:spcBef>
                  <a:spcPct val="0"/>
                </a:spcBef>
                <a:spcAft>
                  <a:spcPct val="0"/>
                </a:spcAft>
                <a:defRPr/>
              </a:pPr>
              <a:t>01-09-2025</a:t>
            </a:fld>
            <a:endParaRPr lang="en-IN">
              <a:solidFill>
                <a:prstClr val="black"/>
              </a:solidFill>
            </a:endParaRPr>
          </a:p>
        </p:txBody>
      </p:sp>
    </p:spTree>
    <p:extLst>
      <p:ext uri="{BB962C8B-B14F-4D97-AF65-F5344CB8AC3E}">
        <p14:creationId xmlns:p14="http://schemas.microsoft.com/office/powerpoint/2010/main" val="31661976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Slide Image Placeholder 1">
            <a:extLst>
              <a:ext uri="{FF2B5EF4-FFF2-40B4-BE49-F238E27FC236}">
                <a16:creationId xmlns:a16="http://schemas.microsoft.com/office/drawing/2014/main" id="{AD0E24FF-A84D-7E4D-87E7-845C4A6462C4}"/>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5587" name="Notes Placeholder 2">
            <a:extLst>
              <a:ext uri="{FF2B5EF4-FFF2-40B4-BE49-F238E27FC236}">
                <a16:creationId xmlns:a16="http://schemas.microsoft.com/office/drawing/2014/main" id="{55C98C75-A607-AD7C-2738-90B9211EA2D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195588" name="Slide Number Placeholder 3">
            <a:extLst>
              <a:ext uri="{FF2B5EF4-FFF2-40B4-BE49-F238E27FC236}">
                <a16:creationId xmlns:a16="http://schemas.microsoft.com/office/drawing/2014/main" id="{9E37283A-82EA-2EC4-7175-776768316FA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EBE6E00-0A46-4110-912D-08E24814BE4C}" type="slidenum">
              <a:rPr lang="en-IN" altLang="en-US">
                <a:solidFill>
                  <a:prstClr val="black"/>
                </a:solidFill>
                <a:latin typeface="Calibri" panose="020F0502020204030204" pitchFamily="34" charset="0"/>
              </a:rPr>
              <a:pPr/>
              <a:t>41</a:t>
            </a:fld>
            <a:endParaRPr lang="en-IN" altLang="en-US">
              <a:solidFill>
                <a:prstClr val="black"/>
              </a:solidFill>
              <a:latin typeface="Calibri" panose="020F0502020204030204" pitchFamily="34" charset="0"/>
            </a:endParaRPr>
          </a:p>
        </p:txBody>
      </p:sp>
      <p:sp>
        <p:nvSpPr>
          <p:cNvPr id="136197" name="Date Placeholder 4">
            <a:extLst>
              <a:ext uri="{FF2B5EF4-FFF2-40B4-BE49-F238E27FC236}">
                <a16:creationId xmlns:a16="http://schemas.microsoft.com/office/drawing/2014/main" id="{B2CC190D-7AC8-B143-D6A2-3E9982BDBAAB}"/>
              </a:ext>
            </a:extLst>
          </p:cNvPr>
          <p:cNvSpPr>
            <a:spLocks noGrp="1"/>
          </p:cNvSpPr>
          <p:nvPr>
            <p:ph type="dt" sz="quarter" idx="1"/>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fld id="{D1F8531D-65C7-4D0A-9820-12A59640474E}" type="datetime1">
              <a:rPr lang="en-IN" smtClean="0">
                <a:solidFill>
                  <a:prstClr val="black"/>
                </a:solidFill>
              </a:rPr>
              <a:pPr fontAlgn="base">
                <a:spcBef>
                  <a:spcPct val="0"/>
                </a:spcBef>
                <a:spcAft>
                  <a:spcPct val="0"/>
                </a:spcAft>
                <a:defRPr/>
              </a:pPr>
              <a:t>01-09-2025</a:t>
            </a:fld>
            <a:endParaRPr lang="en-IN">
              <a:solidFill>
                <a:prstClr val="black"/>
              </a:solidFill>
            </a:endParaRPr>
          </a:p>
        </p:txBody>
      </p:sp>
    </p:spTree>
    <p:extLst>
      <p:ext uri="{BB962C8B-B14F-4D97-AF65-F5344CB8AC3E}">
        <p14:creationId xmlns:p14="http://schemas.microsoft.com/office/powerpoint/2010/main" val="18316286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B4CBF7-E381-4BAE-AE2D-E88E41885FD6}" type="slidenum">
              <a:rPr lang="en-US"/>
              <a:pPr/>
              <a:t>42</a:t>
            </a:fld>
            <a:endParaRPr lang="en-US"/>
          </a:p>
        </p:txBody>
      </p:sp>
      <p:sp>
        <p:nvSpPr>
          <p:cNvPr id="941058" name="Rectangle 2"/>
          <p:cNvSpPr>
            <a:spLocks noGrp="1" noRot="1" noChangeAspect="1" noChangeArrowheads="1" noTextEdit="1"/>
          </p:cNvSpPr>
          <p:nvPr>
            <p:ph type="sldImg"/>
          </p:nvPr>
        </p:nvSpPr>
        <p:spPr>
          <a:ln/>
        </p:spPr>
      </p:sp>
      <p:sp>
        <p:nvSpPr>
          <p:cNvPr id="9410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326398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378A49-750D-4D70-901A-CA8000DFB4DA}" type="slidenum">
              <a:rPr lang="en-US"/>
              <a:pPr/>
              <a:t>43</a:t>
            </a:fld>
            <a:endParaRPr lang="en-US"/>
          </a:p>
        </p:txBody>
      </p:sp>
      <p:sp>
        <p:nvSpPr>
          <p:cNvPr id="942082" name="Rectangle 2"/>
          <p:cNvSpPr>
            <a:spLocks noGrp="1" noRot="1" noChangeAspect="1" noChangeArrowheads="1" noTextEdit="1"/>
          </p:cNvSpPr>
          <p:nvPr>
            <p:ph type="sldImg"/>
          </p:nvPr>
        </p:nvSpPr>
        <p:spPr>
          <a:ln/>
        </p:spPr>
      </p:sp>
      <p:sp>
        <p:nvSpPr>
          <p:cNvPr id="9420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611495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A0D51-391B-4173-8E80-744B069665FF}" type="slidenum">
              <a:rPr lang="en-US"/>
              <a:pPr/>
              <a:t>44</a:t>
            </a:fld>
            <a:endParaRPr lang="en-US"/>
          </a:p>
        </p:txBody>
      </p:sp>
      <p:sp>
        <p:nvSpPr>
          <p:cNvPr id="943106" name="Rectangle 2"/>
          <p:cNvSpPr>
            <a:spLocks noGrp="1" noRot="1" noChangeAspect="1" noChangeArrowheads="1" noTextEdit="1"/>
          </p:cNvSpPr>
          <p:nvPr>
            <p:ph type="sldImg"/>
          </p:nvPr>
        </p:nvSpPr>
        <p:spPr>
          <a:ln/>
        </p:spPr>
      </p:sp>
      <p:sp>
        <p:nvSpPr>
          <p:cNvPr id="9431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755897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9EC345-1340-48D0-B1EE-5F5EB25DA780}" type="slidenum">
              <a:rPr lang="en-US"/>
              <a:pPr/>
              <a:t>45</a:t>
            </a:fld>
            <a:endParaRPr lang="en-US"/>
          </a:p>
        </p:txBody>
      </p:sp>
      <p:sp>
        <p:nvSpPr>
          <p:cNvPr id="944130" name="Rectangle 2"/>
          <p:cNvSpPr>
            <a:spLocks noGrp="1" noRot="1" noChangeAspect="1" noChangeArrowheads="1" noTextEdit="1"/>
          </p:cNvSpPr>
          <p:nvPr>
            <p:ph type="sldImg"/>
          </p:nvPr>
        </p:nvSpPr>
        <p:spPr>
          <a:ln/>
        </p:spPr>
      </p:sp>
      <p:sp>
        <p:nvSpPr>
          <p:cNvPr id="9441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50197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E37929-4BDD-4E7A-A59C-4A1CD1DB7BD0}" type="slidenum">
              <a:rPr lang="en-US"/>
              <a:pPr/>
              <a:t>47</a:t>
            </a:fld>
            <a:endParaRPr lang="en-US"/>
          </a:p>
        </p:txBody>
      </p:sp>
      <p:sp>
        <p:nvSpPr>
          <p:cNvPr id="947202" name="Rectangle 2"/>
          <p:cNvSpPr>
            <a:spLocks noGrp="1" noRot="1" noChangeAspect="1" noChangeArrowheads="1" noTextEdit="1"/>
          </p:cNvSpPr>
          <p:nvPr>
            <p:ph type="sldImg"/>
          </p:nvPr>
        </p:nvSpPr>
        <p:spPr>
          <a:ln/>
        </p:spPr>
      </p:sp>
      <p:sp>
        <p:nvSpPr>
          <p:cNvPr id="9472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713818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E31A11F-5967-467B-8001-F9F195622790}" type="slidenum">
              <a:rPr lang="en-US"/>
              <a:pPr/>
              <a:t>48</a:t>
            </a:fld>
            <a:endParaRPr lang="en-US"/>
          </a:p>
        </p:txBody>
      </p:sp>
      <p:sp>
        <p:nvSpPr>
          <p:cNvPr id="949250" name="Rectangle 2"/>
          <p:cNvSpPr>
            <a:spLocks noGrp="1" noRot="1" noChangeAspect="1" noChangeArrowheads="1" noTextEdit="1"/>
          </p:cNvSpPr>
          <p:nvPr>
            <p:ph type="sldImg"/>
          </p:nvPr>
        </p:nvSpPr>
        <p:spPr>
          <a:ln/>
        </p:spPr>
      </p:sp>
      <p:sp>
        <p:nvSpPr>
          <p:cNvPr id="9492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685494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804C22-2310-4412-B93E-B034B4DBFBC5}" type="slidenum">
              <a:rPr lang="en-US"/>
              <a:pPr/>
              <a:t>49</a:t>
            </a:fld>
            <a:endParaRPr lang="en-US"/>
          </a:p>
        </p:txBody>
      </p:sp>
      <p:sp>
        <p:nvSpPr>
          <p:cNvPr id="950274" name="Rectangle 2"/>
          <p:cNvSpPr>
            <a:spLocks noGrp="1" noRot="1" noChangeAspect="1" noChangeArrowheads="1" noTextEdit="1"/>
          </p:cNvSpPr>
          <p:nvPr>
            <p:ph type="sldImg"/>
          </p:nvPr>
        </p:nvSpPr>
        <p:spPr>
          <a:ln/>
        </p:spPr>
      </p:sp>
      <p:sp>
        <p:nvSpPr>
          <p:cNvPr id="9502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946832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1BCC7F-4170-4905-8531-65A33F46B5CB}" type="slidenum">
              <a:rPr lang="en-US"/>
              <a:pPr/>
              <a:t>50</a:t>
            </a:fld>
            <a:endParaRPr lang="en-US"/>
          </a:p>
        </p:txBody>
      </p:sp>
      <p:sp>
        <p:nvSpPr>
          <p:cNvPr id="954370" name="Rectangle 2"/>
          <p:cNvSpPr>
            <a:spLocks noGrp="1" noRot="1" noChangeAspect="1" noChangeArrowheads="1" noTextEdit="1"/>
          </p:cNvSpPr>
          <p:nvPr>
            <p:ph type="sldImg"/>
          </p:nvPr>
        </p:nvSpPr>
        <p:spPr>
          <a:ln/>
        </p:spPr>
      </p:sp>
      <p:sp>
        <p:nvSpPr>
          <p:cNvPr id="9543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298028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2AE34F-906D-4CFD-86DF-EECC715D57A9}" type="slidenum">
              <a:rPr lang="en-US"/>
              <a:pPr/>
              <a:t>51</a:t>
            </a:fld>
            <a:endParaRPr lang="en-US"/>
          </a:p>
        </p:txBody>
      </p:sp>
      <p:sp>
        <p:nvSpPr>
          <p:cNvPr id="955394" name="Rectangle 2"/>
          <p:cNvSpPr>
            <a:spLocks noGrp="1" noRot="1" noChangeAspect="1" noChangeArrowheads="1" noTextEdit="1"/>
          </p:cNvSpPr>
          <p:nvPr>
            <p:ph type="sldImg"/>
          </p:nvPr>
        </p:nvSpPr>
        <p:spPr>
          <a:ln/>
        </p:spPr>
      </p:sp>
      <p:sp>
        <p:nvSpPr>
          <p:cNvPr id="9553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522914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Slide Image Placeholder 1">
            <a:extLst>
              <a:ext uri="{FF2B5EF4-FFF2-40B4-BE49-F238E27FC236}">
                <a16:creationId xmlns:a16="http://schemas.microsoft.com/office/drawing/2014/main" id="{B7C3FB38-BB4E-766D-A12B-0D96686AECE8}"/>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1731" name="Notes Placeholder 2">
            <a:extLst>
              <a:ext uri="{FF2B5EF4-FFF2-40B4-BE49-F238E27FC236}">
                <a16:creationId xmlns:a16="http://schemas.microsoft.com/office/drawing/2014/main" id="{30E8594D-8F34-539D-7EC3-90DB3E88568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201732" name="Slide Number Placeholder 3">
            <a:extLst>
              <a:ext uri="{FF2B5EF4-FFF2-40B4-BE49-F238E27FC236}">
                <a16:creationId xmlns:a16="http://schemas.microsoft.com/office/drawing/2014/main" id="{B0F0917C-4886-FB57-A4F1-5550B50F9CB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69EC847-1DFF-4CA1-B068-B8165CDF9412}" type="slidenum">
              <a:rPr lang="en-IN" altLang="en-US">
                <a:solidFill>
                  <a:prstClr val="black"/>
                </a:solidFill>
                <a:latin typeface="Calibri" panose="020F0502020204030204" pitchFamily="34" charset="0"/>
              </a:rPr>
              <a:pPr/>
              <a:t>52</a:t>
            </a:fld>
            <a:endParaRPr lang="en-IN" altLang="en-US">
              <a:solidFill>
                <a:prstClr val="black"/>
              </a:solidFill>
              <a:latin typeface="Calibri" panose="020F0502020204030204" pitchFamily="34" charset="0"/>
            </a:endParaRPr>
          </a:p>
        </p:txBody>
      </p:sp>
      <p:sp>
        <p:nvSpPr>
          <p:cNvPr id="165893" name="Date Placeholder 4">
            <a:extLst>
              <a:ext uri="{FF2B5EF4-FFF2-40B4-BE49-F238E27FC236}">
                <a16:creationId xmlns:a16="http://schemas.microsoft.com/office/drawing/2014/main" id="{117EA075-65C4-412F-906C-22910D62C0DE}"/>
              </a:ext>
            </a:extLst>
          </p:cNvPr>
          <p:cNvSpPr>
            <a:spLocks noGrp="1"/>
          </p:cNvSpPr>
          <p:nvPr>
            <p:ph type="dt" sz="quarter" idx="1"/>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fld id="{CD242EA0-1BC6-4E97-8D20-1ED237DF5034}" type="datetime1">
              <a:rPr lang="en-IN" smtClean="0">
                <a:solidFill>
                  <a:prstClr val="black"/>
                </a:solidFill>
              </a:rPr>
              <a:pPr fontAlgn="base">
                <a:spcBef>
                  <a:spcPct val="0"/>
                </a:spcBef>
                <a:spcAft>
                  <a:spcPct val="0"/>
                </a:spcAft>
                <a:defRPr/>
              </a:pPr>
              <a:t>01-09-2025</a:t>
            </a:fld>
            <a:endParaRPr lang="en-IN">
              <a:solidFill>
                <a:prstClr val="black"/>
              </a:solidFill>
            </a:endParaRPr>
          </a:p>
        </p:txBody>
      </p:sp>
    </p:spTree>
    <p:extLst>
      <p:ext uri="{BB962C8B-B14F-4D97-AF65-F5344CB8AC3E}">
        <p14:creationId xmlns:p14="http://schemas.microsoft.com/office/powerpoint/2010/main" val="17046675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7F940D1-8E9C-3F55-6D00-53FD9891B6F6}"/>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3C0D897F-81A9-6767-485E-FEC10D574C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202756" name="Slide Number Placeholder 3">
            <a:extLst>
              <a:ext uri="{FF2B5EF4-FFF2-40B4-BE49-F238E27FC236}">
                <a16:creationId xmlns:a16="http://schemas.microsoft.com/office/drawing/2014/main" id="{87F695FC-051C-5E17-29ED-9E92CD6F6F7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BB0B0A3-C1EE-465C-9117-3FE2EDF9D006}" type="slidenum">
              <a:rPr lang="en-IN" altLang="en-US">
                <a:solidFill>
                  <a:prstClr val="black"/>
                </a:solidFill>
                <a:latin typeface="Calibri" panose="020F0502020204030204" pitchFamily="34" charset="0"/>
              </a:rPr>
              <a:pPr/>
              <a:t>53</a:t>
            </a:fld>
            <a:endParaRPr lang="en-IN" altLang="en-US">
              <a:solidFill>
                <a:prstClr val="black"/>
              </a:solidFill>
              <a:latin typeface="Calibri" panose="020F0502020204030204" pitchFamily="34" charset="0"/>
            </a:endParaRPr>
          </a:p>
        </p:txBody>
      </p:sp>
      <p:sp>
        <p:nvSpPr>
          <p:cNvPr id="166917" name="Date Placeholder 4">
            <a:extLst>
              <a:ext uri="{FF2B5EF4-FFF2-40B4-BE49-F238E27FC236}">
                <a16:creationId xmlns:a16="http://schemas.microsoft.com/office/drawing/2014/main" id="{9B5D1840-424D-1069-05A8-0B17B3415F67}"/>
              </a:ext>
            </a:extLst>
          </p:cNvPr>
          <p:cNvSpPr>
            <a:spLocks noGrp="1"/>
          </p:cNvSpPr>
          <p:nvPr>
            <p:ph type="dt" sz="quarter" idx="1"/>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fld id="{A19CFCB6-DFCB-4FD1-AFBA-A3C5AEAC176B}" type="datetime1">
              <a:rPr lang="en-IN" smtClean="0">
                <a:solidFill>
                  <a:prstClr val="black"/>
                </a:solidFill>
              </a:rPr>
              <a:pPr fontAlgn="base">
                <a:spcBef>
                  <a:spcPct val="0"/>
                </a:spcBef>
                <a:spcAft>
                  <a:spcPct val="0"/>
                </a:spcAft>
                <a:defRPr/>
              </a:pPr>
              <a:t>01-09-2025</a:t>
            </a:fld>
            <a:endParaRPr lang="en-IN">
              <a:solidFill>
                <a:prstClr val="black"/>
              </a:solidFill>
            </a:endParaRPr>
          </a:p>
        </p:txBody>
      </p:sp>
    </p:spTree>
    <p:extLst>
      <p:ext uri="{BB962C8B-B14F-4D97-AF65-F5344CB8AC3E}">
        <p14:creationId xmlns:p14="http://schemas.microsoft.com/office/powerpoint/2010/main" val="37518786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Slide Image Placeholder 1">
            <a:extLst>
              <a:ext uri="{FF2B5EF4-FFF2-40B4-BE49-F238E27FC236}">
                <a16:creationId xmlns:a16="http://schemas.microsoft.com/office/drawing/2014/main" id="{AAC5870A-15F4-1E01-0157-911C2A5FBA45}"/>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3779" name="Notes Placeholder 2">
            <a:extLst>
              <a:ext uri="{FF2B5EF4-FFF2-40B4-BE49-F238E27FC236}">
                <a16:creationId xmlns:a16="http://schemas.microsoft.com/office/drawing/2014/main" id="{77068A74-D12E-51BC-D542-1DD89B914A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203780" name="Slide Number Placeholder 3">
            <a:extLst>
              <a:ext uri="{FF2B5EF4-FFF2-40B4-BE49-F238E27FC236}">
                <a16:creationId xmlns:a16="http://schemas.microsoft.com/office/drawing/2014/main" id="{0A6C9505-F53E-22AF-382C-ABA8A859C70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2838576-FE8B-4ADE-8602-511D3D51A3FA}" type="slidenum">
              <a:rPr lang="en-IN" altLang="en-US">
                <a:solidFill>
                  <a:prstClr val="black"/>
                </a:solidFill>
                <a:latin typeface="Calibri" panose="020F0502020204030204" pitchFamily="34" charset="0"/>
              </a:rPr>
              <a:pPr/>
              <a:t>54</a:t>
            </a:fld>
            <a:endParaRPr lang="en-IN" altLang="en-US">
              <a:solidFill>
                <a:prstClr val="black"/>
              </a:solidFill>
              <a:latin typeface="Calibri" panose="020F0502020204030204" pitchFamily="34" charset="0"/>
            </a:endParaRPr>
          </a:p>
        </p:txBody>
      </p:sp>
      <p:sp>
        <p:nvSpPr>
          <p:cNvPr id="167941" name="Date Placeholder 4">
            <a:extLst>
              <a:ext uri="{FF2B5EF4-FFF2-40B4-BE49-F238E27FC236}">
                <a16:creationId xmlns:a16="http://schemas.microsoft.com/office/drawing/2014/main" id="{2A010D41-3439-410B-63AA-19C1FB58D7F6}"/>
              </a:ext>
            </a:extLst>
          </p:cNvPr>
          <p:cNvSpPr>
            <a:spLocks noGrp="1"/>
          </p:cNvSpPr>
          <p:nvPr>
            <p:ph type="dt" sz="quarter" idx="1"/>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fld id="{B2C41FF9-F9B5-4C5E-ABD1-6EF0BD69AFE4}" type="datetime1">
              <a:rPr lang="en-IN" smtClean="0">
                <a:solidFill>
                  <a:prstClr val="black"/>
                </a:solidFill>
              </a:rPr>
              <a:pPr fontAlgn="base">
                <a:spcBef>
                  <a:spcPct val="0"/>
                </a:spcBef>
                <a:spcAft>
                  <a:spcPct val="0"/>
                </a:spcAft>
                <a:defRPr/>
              </a:pPr>
              <a:t>01-09-2025</a:t>
            </a:fld>
            <a:endParaRPr lang="en-IN">
              <a:solidFill>
                <a:prstClr val="black"/>
              </a:solidFill>
            </a:endParaRPr>
          </a:p>
        </p:txBody>
      </p:sp>
    </p:spTree>
    <p:extLst>
      <p:ext uri="{BB962C8B-B14F-4D97-AF65-F5344CB8AC3E}">
        <p14:creationId xmlns:p14="http://schemas.microsoft.com/office/powerpoint/2010/main" val="42839413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Slide Image Placeholder 1">
            <a:extLst>
              <a:ext uri="{FF2B5EF4-FFF2-40B4-BE49-F238E27FC236}">
                <a16:creationId xmlns:a16="http://schemas.microsoft.com/office/drawing/2014/main" id="{8C45B474-1773-D5BF-72ED-BB030D62DB2B}"/>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03" name="Notes Placeholder 2">
            <a:extLst>
              <a:ext uri="{FF2B5EF4-FFF2-40B4-BE49-F238E27FC236}">
                <a16:creationId xmlns:a16="http://schemas.microsoft.com/office/drawing/2014/main" id="{45E30B2A-B158-295F-E12C-59D1DDCED4D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204804" name="Slide Number Placeholder 3">
            <a:extLst>
              <a:ext uri="{FF2B5EF4-FFF2-40B4-BE49-F238E27FC236}">
                <a16:creationId xmlns:a16="http://schemas.microsoft.com/office/drawing/2014/main" id="{32CD93EE-A054-8623-E02C-FB94B7D6A39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C7AFBF7-879D-4FE0-B299-B5354A91B48E}" type="slidenum">
              <a:rPr lang="en-IN" altLang="en-US">
                <a:solidFill>
                  <a:prstClr val="black"/>
                </a:solidFill>
                <a:latin typeface="Calibri" panose="020F0502020204030204" pitchFamily="34" charset="0"/>
              </a:rPr>
              <a:pPr/>
              <a:t>55</a:t>
            </a:fld>
            <a:endParaRPr lang="en-IN" altLang="en-US">
              <a:solidFill>
                <a:prstClr val="black"/>
              </a:solidFill>
              <a:latin typeface="Calibri" panose="020F0502020204030204" pitchFamily="34" charset="0"/>
            </a:endParaRPr>
          </a:p>
        </p:txBody>
      </p:sp>
      <p:sp>
        <p:nvSpPr>
          <p:cNvPr id="168965" name="Date Placeholder 4">
            <a:extLst>
              <a:ext uri="{FF2B5EF4-FFF2-40B4-BE49-F238E27FC236}">
                <a16:creationId xmlns:a16="http://schemas.microsoft.com/office/drawing/2014/main" id="{7A78EBCE-2BD7-9AD0-776C-A1D876FD5919}"/>
              </a:ext>
            </a:extLst>
          </p:cNvPr>
          <p:cNvSpPr>
            <a:spLocks noGrp="1"/>
          </p:cNvSpPr>
          <p:nvPr>
            <p:ph type="dt" sz="quarter" idx="1"/>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fld id="{2D598920-3549-4AA1-AB4A-3E5E1AD14F9B}" type="datetime1">
              <a:rPr lang="en-IN" smtClean="0">
                <a:solidFill>
                  <a:prstClr val="black"/>
                </a:solidFill>
              </a:rPr>
              <a:pPr fontAlgn="base">
                <a:spcBef>
                  <a:spcPct val="0"/>
                </a:spcBef>
                <a:spcAft>
                  <a:spcPct val="0"/>
                </a:spcAft>
                <a:defRPr/>
              </a:pPr>
              <a:t>01-09-2025</a:t>
            </a:fld>
            <a:endParaRPr lang="en-IN">
              <a:solidFill>
                <a:prstClr val="black"/>
              </a:solidFill>
            </a:endParaRPr>
          </a:p>
        </p:txBody>
      </p:sp>
    </p:spTree>
    <p:extLst>
      <p:ext uri="{BB962C8B-B14F-4D97-AF65-F5344CB8AC3E}">
        <p14:creationId xmlns:p14="http://schemas.microsoft.com/office/powerpoint/2010/main" val="2580185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Slide Image Placeholder 1">
            <a:extLst>
              <a:ext uri="{FF2B5EF4-FFF2-40B4-BE49-F238E27FC236}">
                <a16:creationId xmlns:a16="http://schemas.microsoft.com/office/drawing/2014/main" id="{5FC43020-5677-178E-59F5-774F25F49E9E}"/>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6851" name="Notes Placeholder 2">
            <a:extLst>
              <a:ext uri="{FF2B5EF4-FFF2-40B4-BE49-F238E27FC236}">
                <a16:creationId xmlns:a16="http://schemas.microsoft.com/office/drawing/2014/main" id="{E055807B-4359-201F-5959-FA1B7AEC33A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206852" name="Slide Number Placeholder 3">
            <a:extLst>
              <a:ext uri="{FF2B5EF4-FFF2-40B4-BE49-F238E27FC236}">
                <a16:creationId xmlns:a16="http://schemas.microsoft.com/office/drawing/2014/main" id="{B70F100F-656B-005F-FF82-1DC687B3CFB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CE68095-9EDC-415D-85AC-EFC86982B063}" type="slidenum">
              <a:rPr lang="en-IN" altLang="en-US">
                <a:solidFill>
                  <a:prstClr val="black"/>
                </a:solidFill>
                <a:latin typeface="Calibri" panose="020F0502020204030204" pitchFamily="34" charset="0"/>
              </a:rPr>
              <a:pPr/>
              <a:t>56</a:t>
            </a:fld>
            <a:endParaRPr lang="en-IN" altLang="en-US">
              <a:solidFill>
                <a:prstClr val="black"/>
              </a:solidFill>
              <a:latin typeface="Calibri" panose="020F0502020204030204" pitchFamily="34" charset="0"/>
            </a:endParaRPr>
          </a:p>
        </p:txBody>
      </p:sp>
      <p:sp>
        <p:nvSpPr>
          <p:cNvPr id="171013" name="Date Placeholder 4">
            <a:extLst>
              <a:ext uri="{FF2B5EF4-FFF2-40B4-BE49-F238E27FC236}">
                <a16:creationId xmlns:a16="http://schemas.microsoft.com/office/drawing/2014/main" id="{5CC0C883-14F1-8E3D-E2F0-406876DFA527}"/>
              </a:ext>
            </a:extLst>
          </p:cNvPr>
          <p:cNvSpPr>
            <a:spLocks noGrp="1"/>
          </p:cNvSpPr>
          <p:nvPr>
            <p:ph type="dt" sz="quarter" idx="1"/>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fld id="{E2EADF12-864D-421F-A1E9-499F717B90E0}" type="datetime1">
              <a:rPr lang="en-IN" smtClean="0">
                <a:solidFill>
                  <a:prstClr val="black"/>
                </a:solidFill>
              </a:rPr>
              <a:pPr fontAlgn="base">
                <a:spcBef>
                  <a:spcPct val="0"/>
                </a:spcBef>
                <a:spcAft>
                  <a:spcPct val="0"/>
                </a:spcAft>
                <a:defRPr/>
              </a:pPr>
              <a:t>01-09-2025</a:t>
            </a:fld>
            <a:endParaRPr lang="en-IN">
              <a:solidFill>
                <a:prstClr val="black"/>
              </a:solidFill>
            </a:endParaRPr>
          </a:p>
        </p:txBody>
      </p:sp>
    </p:spTree>
    <p:extLst>
      <p:ext uri="{BB962C8B-B14F-4D97-AF65-F5344CB8AC3E}">
        <p14:creationId xmlns:p14="http://schemas.microsoft.com/office/powerpoint/2010/main" val="13248402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Slide Image Placeholder 1">
            <a:extLst>
              <a:ext uri="{FF2B5EF4-FFF2-40B4-BE49-F238E27FC236}">
                <a16:creationId xmlns:a16="http://schemas.microsoft.com/office/drawing/2014/main" id="{4ED6706D-02C6-1802-500A-268B503F98B9}"/>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4019" name="Notes Placeholder 2">
            <a:extLst>
              <a:ext uri="{FF2B5EF4-FFF2-40B4-BE49-F238E27FC236}">
                <a16:creationId xmlns:a16="http://schemas.microsoft.com/office/drawing/2014/main" id="{F9E9498F-73CD-6957-2C71-FFCCA1393A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214020" name="Slide Number Placeholder 3">
            <a:extLst>
              <a:ext uri="{FF2B5EF4-FFF2-40B4-BE49-F238E27FC236}">
                <a16:creationId xmlns:a16="http://schemas.microsoft.com/office/drawing/2014/main" id="{6EB589CF-52D2-656C-BE47-035B703EAA6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93AA458-62F9-4A82-A7FB-03DBFBFA29EA}" type="slidenum">
              <a:rPr lang="en-IN" altLang="en-US">
                <a:solidFill>
                  <a:prstClr val="black"/>
                </a:solidFill>
                <a:latin typeface="Calibri" panose="020F0502020204030204" pitchFamily="34" charset="0"/>
              </a:rPr>
              <a:pPr/>
              <a:t>57</a:t>
            </a:fld>
            <a:endParaRPr lang="en-IN" altLang="en-US">
              <a:solidFill>
                <a:prstClr val="black"/>
              </a:solidFill>
              <a:latin typeface="Calibri" panose="020F0502020204030204" pitchFamily="34" charset="0"/>
            </a:endParaRPr>
          </a:p>
        </p:txBody>
      </p:sp>
      <p:sp>
        <p:nvSpPr>
          <p:cNvPr id="180229" name="Date Placeholder 4">
            <a:extLst>
              <a:ext uri="{FF2B5EF4-FFF2-40B4-BE49-F238E27FC236}">
                <a16:creationId xmlns:a16="http://schemas.microsoft.com/office/drawing/2014/main" id="{C2F3A33B-4D5E-3668-FE31-5AD57EA758AE}"/>
              </a:ext>
            </a:extLst>
          </p:cNvPr>
          <p:cNvSpPr>
            <a:spLocks noGrp="1"/>
          </p:cNvSpPr>
          <p:nvPr>
            <p:ph type="dt" sz="quarter" idx="1"/>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fld id="{F5B28967-D98D-4D0A-A8D7-56A0B3FA1C94}" type="datetime1">
              <a:rPr lang="en-IN" smtClean="0">
                <a:solidFill>
                  <a:prstClr val="black"/>
                </a:solidFill>
              </a:rPr>
              <a:pPr fontAlgn="base">
                <a:spcBef>
                  <a:spcPct val="0"/>
                </a:spcBef>
                <a:spcAft>
                  <a:spcPct val="0"/>
                </a:spcAft>
                <a:defRPr/>
              </a:pPr>
              <a:t>01-09-2025</a:t>
            </a:fld>
            <a:endParaRPr lang="en-IN">
              <a:solidFill>
                <a:prstClr val="black"/>
              </a:solidFill>
            </a:endParaRPr>
          </a:p>
        </p:txBody>
      </p:sp>
    </p:spTree>
    <p:extLst>
      <p:ext uri="{BB962C8B-B14F-4D97-AF65-F5344CB8AC3E}">
        <p14:creationId xmlns:p14="http://schemas.microsoft.com/office/powerpoint/2010/main" val="9206913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Rectangle 2"/>
          <p:cNvSpPr>
            <a:spLocks noGrp="1" noRot="1" noChangeAspect="1" noChangeArrowheads="1" noTextEdit="1"/>
          </p:cNvSpPr>
          <p:nvPr>
            <p:ph type="sldImg"/>
          </p:nvPr>
        </p:nvSpPr>
        <p:spPr>
          <a:ln/>
        </p:spPr>
      </p:sp>
      <p:sp>
        <p:nvSpPr>
          <p:cNvPr id="9256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683295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Rectangle 2"/>
          <p:cNvSpPr>
            <a:spLocks noGrp="1" noRot="1" noChangeAspect="1" noChangeArrowheads="1" noTextEdit="1"/>
          </p:cNvSpPr>
          <p:nvPr>
            <p:ph type="sldImg"/>
          </p:nvPr>
        </p:nvSpPr>
        <p:spPr>
          <a:ln/>
        </p:spPr>
      </p:sp>
      <p:sp>
        <p:nvSpPr>
          <p:cNvPr id="8611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220128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Grp="1" noRot="1" noChangeAspect="1" noChangeArrowheads="1" noTextEdit="1"/>
          </p:cNvSpPr>
          <p:nvPr>
            <p:ph type="sldImg"/>
          </p:nvPr>
        </p:nvSpPr>
        <p:spPr>
          <a:ln/>
        </p:spPr>
      </p:sp>
      <p:sp>
        <p:nvSpPr>
          <p:cNvPr id="8622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705389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Grp="1" noRot="1" noChangeAspect="1" noChangeArrowheads="1" noTextEdit="1"/>
          </p:cNvSpPr>
          <p:nvPr>
            <p:ph type="sldImg"/>
          </p:nvPr>
        </p:nvSpPr>
        <p:spPr>
          <a:ln/>
        </p:spPr>
      </p:sp>
      <p:sp>
        <p:nvSpPr>
          <p:cNvPr id="8622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117069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0" name="Rectangle 2"/>
          <p:cNvSpPr>
            <a:spLocks noGrp="1" noRot="1" noChangeAspect="1" noChangeArrowheads="1" noTextEdit="1"/>
          </p:cNvSpPr>
          <p:nvPr>
            <p:ph type="sldImg"/>
          </p:nvPr>
        </p:nvSpPr>
        <p:spPr>
          <a:ln/>
        </p:spPr>
      </p:sp>
      <p:sp>
        <p:nvSpPr>
          <p:cNvPr id="8775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766256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Rectangle 2"/>
          <p:cNvSpPr>
            <a:spLocks noGrp="1" noRot="1" noChangeAspect="1" noChangeArrowheads="1" noTextEdit="1"/>
          </p:cNvSpPr>
          <p:nvPr>
            <p:ph type="sldImg"/>
          </p:nvPr>
        </p:nvSpPr>
        <p:spPr>
          <a:ln/>
        </p:spPr>
      </p:sp>
      <p:sp>
        <p:nvSpPr>
          <p:cNvPr id="9041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659389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Rectangle 2"/>
          <p:cNvSpPr>
            <a:spLocks noGrp="1" noRot="1" noChangeAspect="1" noChangeArrowheads="1" noTextEdit="1"/>
          </p:cNvSpPr>
          <p:nvPr>
            <p:ph type="sldImg"/>
          </p:nvPr>
        </p:nvSpPr>
        <p:spPr>
          <a:ln/>
        </p:spPr>
      </p:sp>
      <p:sp>
        <p:nvSpPr>
          <p:cNvPr id="9052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348631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Rectangle 2"/>
          <p:cNvSpPr>
            <a:spLocks noGrp="1" noRot="1" noChangeAspect="1" noChangeArrowheads="1" noTextEdit="1"/>
          </p:cNvSpPr>
          <p:nvPr>
            <p:ph type="sldImg"/>
          </p:nvPr>
        </p:nvSpPr>
        <p:spPr>
          <a:ln/>
        </p:spPr>
      </p:sp>
      <p:sp>
        <p:nvSpPr>
          <p:cNvPr id="9062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46623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57601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1048582" name="Holder 2"/>
          <p:cNvSpPr>
            <a:spLocks noGrp="1"/>
          </p:cNvSpPr>
          <p:nvPr>
            <p:ph type="ctrTitle"/>
          </p:nvPr>
        </p:nvSpPr>
        <p:spPr>
          <a:xfrm>
            <a:off x="3423095" y="2490928"/>
            <a:ext cx="2297810" cy="692497"/>
          </a:xfrm>
          <a:prstGeom prst="rect">
            <a:avLst/>
          </a:prstGeom>
        </p:spPr>
        <p:txBody>
          <a:bodyPr wrap="square" lIns="0" tIns="0" rIns="0" bIns="0">
            <a:spAutoFit/>
          </a:bodyPr>
          <a:lstStyle>
            <a:lvl1pPr>
              <a:defRPr sz="4500" b="0" i="0">
                <a:solidFill>
                  <a:srgbClr val="1F3863"/>
                </a:solidFill>
                <a:latin typeface="Caladea"/>
                <a:cs typeface="Caladea"/>
              </a:defRPr>
            </a:lvl1pPr>
          </a:lstStyle>
          <a:p>
            <a:endParaRPr/>
          </a:p>
        </p:txBody>
      </p:sp>
      <p:sp>
        <p:nvSpPr>
          <p:cNvPr id="1048583" name="Holder 3"/>
          <p:cNvSpPr>
            <a:spLocks noGrp="1"/>
          </p:cNvSpPr>
          <p:nvPr>
            <p:ph type="subTitle" idx="4"/>
          </p:nvPr>
        </p:nvSpPr>
        <p:spPr>
          <a:xfrm>
            <a:off x="1371600" y="3840480"/>
            <a:ext cx="6400800" cy="307777"/>
          </a:xfrm>
          <a:prstGeom prst="rect">
            <a:avLst/>
          </a:prstGeom>
        </p:spPr>
        <p:txBody>
          <a:bodyPr wrap="square" lIns="0" tIns="0" rIns="0" bIns="0">
            <a:spAutoFit/>
          </a:bodyPr>
          <a:lstStyle/>
          <a:p>
            <a:endParaRPr/>
          </a:p>
        </p:txBody>
      </p:sp>
      <p:sp>
        <p:nvSpPr>
          <p:cNvPr id="104858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58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586" name="Holder 6"/>
          <p:cNvSpPr>
            <a:spLocks noGrp="1"/>
          </p:cNvSpPr>
          <p:nvPr>
            <p:ph type="sldNum" sz="quarter" idx="7"/>
          </p:nvPr>
        </p:nvSpPr>
        <p:spPr/>
        <p:txBody>
          <a:bodyPr lIns="0" tIns="0" rIns="0" bIns="0"/>
          <a:lstStyle>
            <a:lvl1pPr>
              <a:defRPr sz="1050" b="1" i="0">
                <a:solidFill>
                  <a:schemeClr val="tx1"/>
                </a:solidFill>
                <a:latin typeface="Carlito"/>
                <a:cs typeface="Carlito"/>
              </a:defRPr>
            </a:lvl1pPr>
          </a:lstStyle>
          <a:p>
            <a:pPr marL="14605">
              <a:lnSpc>
                <a:spcPts val="1230"/>
              </a:lnSpc>
            </a:pPr>
            <a:fld id="{81D60167-4931-47E6-BA6A-407CBD079E47}" type="slidenum">
              <a:rPr lang="en-IN" spc="-4" smtClean="0">
                <a:latin typeface="Arial" panose="020B0604020202020204"/>
                <a:cs typeface="Arial" panose="020B0604020202020204"/>
              </a:rPr>
              <a:t>‹#›</a:t>
            </a:fld>
            <a:endParaRPr lang="en-IN" spc="-4">
              <a:latin typeface="Arial" panose="020B0604020202020204"/>
              <a:cs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1" name="Holder 2"/>
          <p:cNvSpPr>
            <a:spLocks noGrp="1"/>
          </p:cNvSpPr>
          <p:nvPr>
            <p:ph type="title"/>
          </p:nvPr>
        </p:nvSpPr>
        <p:spPr>
          <a:xfrm>
            <a:off x="1148811" y="31192"/>
            <a:ext cx="3522821" cy="415498"/>
          </a:xfrm>
        </p:spPr>
        <p:txBody>
          <a:bodyPr lIns="0" tIns="0" rIns="0" bIns="0"/>
          <a:lstStyle>
            <a:lvl1pPr>
              <a:defRPr sz="2700" b="0" i="0">
                <a:solidFill>
                  <a:srgbClr val="4471C4"/>
                </a:solidFill>
                <a:latin typeface="Caladea"/>
                <a:cs typeface="Caladea"/>
              </a:defRPr>
            </a:lvl1pPr>
          </a:lstStyle>
          <a:p>
            <a:endParaRPr/>
          </a:p>
        </p:txBody>
      </p:sp>
      <p:sp>
        <p:nvSpPr>
          <p:cNvPr id="1048592" name="Holder 3"/>
          <p:cNvSpPr>
            <a:spLocks noGrp="1"/>
          </p:cNvSpPr>
          <p:nvPr>
            <p:ph type="body" idx="1"/>
          </p:nvPr>
        </p:nvSpPr>
        <p:spPr>
          <a:xfrm>
            <a:off x="1831182" y="3108451"/>
            <a:ext cx="4995386" cy="230832"/>
          </a:xfrm>
        </p:spPr>
        <p:txBody>
          <a:bodyPr lIns="0" tIns="0" rIns="0" bIns="0"/>
          <a:lstStyle>
            <a:lvl1pPr>
              <a:defRPr sz="1500" b="0" i="0">
                <a:solidFill>
                  <a:srgbClr val="44536A"/>
                </a:solidFill>
                <a:latin typeface="Caladea"/>
                <a:cs typeface="Caladea"/>
              </a:defRPr>
            </a:lvl1pPr>
          </a:lstStyle>
          <a:p>
            <a:endParaRPr/>
          </a:p>
        </p:txBody>
      </p:sp>
      <p:sp>
        <p:nvSpPr>
          <p:cNvPr id="1048593"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594"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595" name="Holder 6"/>
          <p:cNvSpPr>
            <a:spLocks noGrp="1"/>
          </p:cNvSpPr>
          <p:nvPr>
            <p:ph type="sldNum" sz="quarter" idx="7"/>
          </p:nvPr>
        </p:nvSpPr>
        <p:spPr/>
        <p:txBody>
          <a:bodyPr lIns="0" tIns="0" rIns="0" bIns="0"/>
          <a:lstStyle>
            <a:lvl1pPr>
              <a:defRPr sz="1050" b="1" i="0">
                <a:solidFill>
                  <a:schemeClr val="tx1"/>
                </a:solidFill>
                <a:latin typeface="Carlito"/>
                <a:cs typeface="Carlito"/>
              </a:defRPr>
            </a:lvl1pPr>
          </a:lstStyle>
          <a:p>
            <a:pPr marL="14605">
              <a:lnSpc>
                <a:spcPts val="1230"/>
              </a:lnSpc>
            </a:pPr>
            <a:fld id="{81D60167-4931-47E6-BA6A-407CBD079E47}" type="slidenum">
              <a:rPr lang="en-IN" spc="-4" smtClean="0">
                <a:latin typeface="Arial" panose="020B0604020202020204"/>
                <a:cs typeface="Arial" panose="020B0604020202020204"/>
              </a:rPr>
              <a:t>‹#›</a:t>
            </a:fld>
            <a:endParaRPr lang="en-IN" spc="-4">
              <a:latin typeface="Arial" panose="020B0604020202020204"/>
              <a:cs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1048662" name="Holder 2"/>
          <p:cNvSpPr>
            <a:spLocks noGrp="1"/>
          </p:cNvSpPr>
          <p:nvPr>
            <p:ph type="title"/>
          </p:nvPr>
        </p:nvSpPr>
        <p:spPr>
          <a:xfrm>
            <a:off x="1148811" y="31192"/>
            <a:ext cx="3522821" cy="415498"/>
          </a:xfrm>
        </p:spPr>
        <p:txBody>
          <a:bodyPr lIns="0" tIns="0" rIns="0" bIns="0"/>
          <a:lstStyle>
            <a:lvl1pPr>
              <a:defRPr sz="2700" b="0" i="0">
                <a:solidFill>
                  <a:srgbClr val="4471C4"/>
                </a:solidFill>
                <a:latin typeface="Caladea"/>
                <a:cs typeface="Caladea"/>
              </a:defRPr>
            </a:lvl1pPr>
          </a:lstStyle>
          <a:p>
            <a:endParaRPr/>
          </a:p>
        </p:txBody>
      </p:sp>
      <p:sp>
        <p:nvSpPr>
          <p:cNvPr id="1048663" name="Holder 3"/>
          <p:cNvSpPr>
            <a:spLocks noGrp="1"/>
          </p:cNvSpPr>
          <p:nvPr>
            <p:ph sz="half" idx="2"/>
          </p:nvPr>
        </p:nvSpPr>
        <p:spPr>
          <a:xfrm>
            <a:off x="457200" y="1577340"/>
            <a:ext cx="3977640" cy="307777"/>
          </a:xfrm>
          <a:prstGeom prst="rect">
            <a:avLst/>
          </a:prstGeom>
        </p:spPr>
        <p:txBody>
          <a:bodyPr wrap="square" lIns="0" tIns="0" rIns="0" bIns="0">
            <a:spAutoFit/>
          </a:bodyPr>
          <a:lstStyle/>
          <a:p>
            <a:endParaRPr/>
          </a:p>
        </p:txBody>
      </p:sp>
      <p:sp>
        <p:nvSpPr>
          <p:cNvPr id="1048664" name="Holder 4"/>
          <p:cNvSpPr>
            <a:spLocks noGrp="1"/>
          </p:cNvSpPr>
          <p:nvPr>
            <p:ph sz="half" idx="3"/>
          </p:nvPr>
        </p:nvSpPr>
        <p:spPr>
          <a:xfrm>
            <a:off x="4709160" y="1577340"/>
            <a:ext cx="3977640" cy="307777"/>
          </a:xfrm>
          <a:prstGeom prst="rect">
            <a:avLst/>
          </a:prstGeom>
        </p:spPr>
        <p:txBody>
          <a:bodyPr wrap="square" lIns="0" tIns="0" rIns="0" bIns="0">
            <a:spAutoFit/>
          </a:bodyPr>
          <a:lstStyle/>
          <a:p>
            <a:endParaRPr/>
          </a:p>
        </p:txBody>
      </p:sp>
      <p:sp>
        <p:nvSpPr>
          <p:cNvPr id="104866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6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667" name="Holder 7"/>
          <p:cNvSpPr>
            <a:spLocks noGrp="1"/>
          </p:cNvSpPr>
          <p:nvPr>
            <p:ph type="sldNum" sz="quarter" idx="7"/>
          </p:nvPr>
        </p:nvSpPr>
        <p:spPr/>
        <p:txBody>
          <a:bodyPr lIns="0" tIns="0" rIns="0" bIns="0"/>
          <a:lstStyle>
            <a:lvl1pPr>
              <a:defRPr sz="1050" b="1" i="0">
                <a:solidFill>
                  <a:schemeClr val="tx1"/>
                </a:solidFill>
                <a:latin typeface="Carlito"/>
                <a:cs typeface="Carlito"/>
              </a:defRPr>
            </a:lvl1pPr>
          </a:lstStyle>
          <a:p>
            <a:pPr marL="14605">
              <a:lnSpc>
                <a:spcPts val="1230"/>
              </a:lnSpc>
            </a:pPr>
            <a:fld id="{81D60167-4931-47E6-BA6A-407CBD079E47}" type="slidenum">
              <a:rPr lang="en-IN" spc="-4" smtClean="0">
                <a:latin typeface="Arial" panose="020B0604020202020204"/>
                <a:cs typeface="Arial" panose="020B0604020202020204"/>
              </a:rPr>
              <a:t>‹#›</a:t>
            </a:fld>
            <a:endParaRPr lang="en-IN" spc="-4">
              <a:latin typeface="Arial" panose="020B0604020202020204"/>
              <a:cs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1048657" name="Holder 2"/>
          <p:cNvSpPr>
            <a:spLocks noGrp="1"/>
          </p:cNvSpPr>
          <p:nvPr>
            <p:ph type="title"/>
          </p:nvPr>
        </p:nvSpPr>
        <p:spPr>
          <a:xfrm>
            <a:off x="1148811" y="31192"/>
            <a:ext cx="3522821" cy="415498"/>
          </a:xfrm>
        </p:spPr>
        <p:txBody>
          <a:bodyPr lIns="0" tIns="0" rIns="0" bIns="0"/>
          <a:lstStyle>
            <a:lvl1pPr>
              <a:defRPr sz="2700" b="0" i="0">
                <a:solidFill>
                  <a:srgbClr val="4471C4"/>
                </a:solidFill>
                <a:latin typeface="Caladea"/>
                <a:cs typeface="Caladea"/>
              </a:defRPr>
            </a:lvl1pPr>
          </a:lstStyle>
          <a:p>
            <a:endParaRPr/>
          </a:p>
        </p:txBody>
      </p:sp>
      <p:sp>
        <p:nvSpPr>
          <p:cNvPr id="1048658"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59"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660" name="Holder 5"/>
          <p:cNvSpPr>
            <a:spLocks noGrp="1"/>
          </p:cNvSpPr>
          <p:nvPr>
            <p:ph type="sldNum" sz="quarter" idx="7"/>
          </p:nvPr>
        </p:nvSpPr>
        <p:spPr/>
        <p:txBody>
          <a:bodyPr lIns="0" tIns="0" rIns="0" bIns="0"/>
          <a:lstStyle>
            <a:lvl1pPr>
              <a:defRPr sz="1050" b="1" i="0">
                <a:solidFill>
                  <a:schemeClr val="tx1"/>
                </a:solidFill>
                <a:latin typeface="Carlito"/>
                <a:cs typeface="Carlito"/>
              </a:defRPr>
            </a:lvl1pPr>
          </a:lstStyle>
          <a:p>
            <a:pPr marL="14605">
              <a:lnSpc>
                <a:spcPts val="1230"/>
              </a:lnSpc>
            </a:pPr>
            <a:fld id="{81D60167-4931-47E6-BA6A-407CBD079E47}" type="slidenum">
              <a:rPr lang="en-IN" spc="-4" smtClean="0">
                <a:latin typeface="Arial" panose="020B0604020202020204"/>
                <a:cs typeface="Arial" panose="020B0604020202020204"/>
              </a:rPr>
              <a:t>‹#›</a:t>
            </a:fld>
            <a:endParaRPr lang="en-IN" spc="-4">
              <a:latin typeface="Arial" panose="020B0604020202020204"/>
              <a:cs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1048611"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12"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613" name="Holder 4"/>
          <p:cNvSpPr>
            <a:spLocks noGrp="1"/>
          </p:cNvSpPr>
          <p:nvPr>
            <p:ph type="sldNum" sz="quarter" idx="7"/>
          </p:nvPr>
        </p:nvSpPr>
        <p:spPr/>
        <p:txBody>
          <a:bodyPr lIns="0" tIns="0" rIns="0" bIns="0"/>
          <a:lstStyle>
            <a:lvl1pPr>
              <a:defRPr sz="1050" b="1" i="0">
                <a:solidFill>
                  <a:schemeClr val="tx1"/>
                </a:solidFill>
                <a:latin typeface="Carlito"/>
                <a:cs typeface="Carlito"/>
              </a:defRPr>
            </a:lvl1pPr>
          </a:lstStyle>
          <a:p>
            <a:pPr marL="14605">
              <a:lnSpc>
                <a:spcPts val="1230"/>
              </a:lnSpc>
            </a:pPr>
            <a:fld id="{81D60167-4931-47E6-BA6A-407CBD079E47}" type="slidenum">
              <a:rPr lang="en-IN" spc="-4" smtClean="0">
                <a:latin typeface="Arial" panose="020B0604020202020204"/>
                <a:cs typeface="Arial" panose="020B0604020202020204"/>
              </a:rPr>
              <a:t>‹#›</a:t>
            </a:fld>
            <a:endParaRPr lang="en-IN" spc="-4">
              <a:latin typeface="Arial" panose="020B0604020202020204"/>
              <a:cs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fld id="{9D35DEAC-B766-47B9-BE60-5DBC1E6F60FE}" type="slidenum">
              <a:rPr lang="en-US"/>
              <a:pPr/>
              <a:t>‹#›</a:t>
            </a:fld>
            <a:endParaRPr lang="en-US"/>
          </a:p>
        </p:txBody>
      </p:sp>
    </p:spTree>
    <p:extLst>
      <p:ext uri="{BB962C8B-B14F-4D97-AF65-F5344CB8AC3E}">
        <p14:creationId xmlns:p14="http://schemas.microsoft.com/office/powerpoint/2010/main" val="2228737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76" name="bg object 16"/>
          <p:cNvSpPr/>
          <p:nvPr/>
        </p:nvSpPr>
        <p:spPr>
          <a:xfrm>
            <a:off x="0" y="5173205"/>
            <a:ext cx="9144000" cy="1684793"/>
          </a:xfrm>
          <a:prstGeom prst="rect">
            <a:avLst/>
          </a:prstGeom>
          <a:blipFill>
            <a:blip r:embed="rId8" cstate="print"/>
            <a:stretch>
              <a:fillRect/>
            </a:stretch>
          </a:blipFill>
        </p:spPr>
        <p:txBody>
          <a:bodyPr wrap="square" lIns="0" tIns="0" rIns="0" bIns="0" rtlCol="0"/>
          <a:lstStyle/>
          <a:p>
            <a:endParaRPr sz="1350"/>
          </a:p>
        </p:txBody>
      </p:sp>
      <p:sp>
        <p:nvSpPr>
          <p:cNvPr id="1048577" name="Holder 2"/>
          <p:cNvSpPr>
            <a:spLocks noGrp="1"/>
          </p:cNvSpPr>
          <p:nvPr>
            <p:ph type="title"/>
          </p:nvPr>
        </p:nvSpPr>
        <p:spPr>
          <a:xfrm>
            <a:off x="1148811" y="31192"/>
            <a:ext cx="3522821" cy="574675"/>
          </a:xfrm>
          <a:prstGeom prst="rect">
            <a:avLst/>
          </a:prstGeom>
        </p:spPr>
        <p:txBody>
          <a:bodyPr wrap="square" lIns="0" tIns="0" rIns="0" bIns="0">
            <a:spAutoFit/>
          </a:bodyPr>
          <a:lstStyle>
            <a:lvl1pPr>
              <a:defRPr sz="3600" b="0" i="0">
                <a:solidFill>
                  <a:srgbClr val="4471C4"/>
                </a:solidFill>
                <a:latin typeface="Caladea"/>
                <a:cs typeface="Caladea"/>
              </a:defRPr>
            </a:lvl1pPr>
          </a:lstStyle>
          <a:p>
            <a:endParaRPr/>
          </a:p>
        </p:txBody>
      </p:sp>
      <p:sp>
        <p:nvSpPr>
          <p:cNvPr id="1048578" name="Holder 3"/>
          <p:cNvSpPr>
            <a:spLocks noGrp="1"/>
          </p:cNvSpPr>
          <p:nvPr>
            <p:ph type="body" idx="1"/>
          </p:nvPr>
        </p:nvSpPr>
        <p:spPr>
          <a:xfrm>
            <a:off x="1831182" y="3108451"/>
            <a:ext cx="4995386" cy="307777"/>
          </a:xfrm>
          <a:prstGeom prst="rect">
            <a:avLst/>
          </a:prstGeom>
        </p:spPr>
        <p:txBody>
          <a:bodyPr wrap="square" lIns="0" tIns="0" rIns="0" bIns="0">
            <a:spAutoFit/>
          </a:bodyPr>
          <a:lstStyle>
            <a:lvl1pPr>
              <a:defRPr sz="2000" b="0" i="0">
                <a:solidFill>
                  <a:srgbClr val="44536A"/>
                </a:solidFill>
                <a:latin typeface="Caladea"/>
                <a:cs typeface="Caladea"/>
              </a:defRPr>
            </a:lvl1pPr>
          </a:lstStyle>
          <a:p>
            <a:endParaRPr/>
          </a:p>
        </p:txBody>
      </p:sp>
      <p:sp>
        <p:nvSpPr>
          <p:cNvPr id="1048579" name="Holder 4"/>
          <p:cNvSpPr>
            <a:spLocks noGrp="1"/>
          </p:cNvSpPr>
          <p:nvPr>
            <p:ph type="ftr" sz="quarter" idx="5"/>
          </p:nvPr>
        </p:nvSpPr>
        <p:spPr>
          <a:xfrm>
            <a:off x="3108960" y="6377940"/>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1048580" name="Holder 5"/>
          <p:cNvSpPr>
            <a:spLocks noGrp="1"/>
          </p:cNvSpPr>
          <p:nvPr>
            <p:ph type="dt" sz="half" idx="6"/>
          </p:nvPr>
        </p:nvSpPr>
        <p:spPr>
          <a:xfrm>
            <a:off x="457200" y="6377940"/>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581" name="Holder 6"/>
          <p:cNvSpPr>
            <a:spLocks noGrp="1"/>
          </p:cNvSpPr>
          <p:nvPr>
            <p:ph type="sldNum" sz="quarter" idx="7"/>
          </p:nvPr>
        </p:nvSpPr>
        <p:spPr>
          <a:xfrm>
            <a:off x="8890920" y="6530213"/>
            <a:ext cx="190024" cy="153888"/>
          </a:xfrm>
          <a:prstGeom prst="rect">
            <a:avLst/>
          </a:prstGeom>
        </p:spPr>
        <p:txBody>
          <a:bodyPr wrap="square" lIns="0" tIns="0" rIns="0" bIns="0">
            <a:spAutoFit/>
          </a:bodyPr>
          <a:lstStyle>
            <a:lvl1pPr>
              <a:defRPr sz="1050" b="1" i="0">
                <a:solidFill>
                  <a:schemeClr val="tx1"/>
                </a:solidFill>
                <a:latin typeface="Carlito"/>
                <a:cs typeface="Carlito"/>
              </a:defRPr>
            </a:lvl1pPr>
          </a:lstStyle>
          <a:p>
            <a:pPr marL="14605">
              <a:lnSpc>
                <a:spcPts val="1230"/>
              </a:lnSpc>
            </a:pPr>
            <a:fld id="{81D60167-4931-47E6-BA6A-407CBD079E47}" type="slidenum">
              <a:rPr lang="en-IN" spc="-4" smtClean="0">
                <a:latin typeface="Arial" panose="020B0604020202020204"/>
                <a:cs typeface="Arial" panose="020B0604020202020204"/>
              </a:rPr>
              <a:t>‹#›</a:t>
            </a:fld>
            <a:endParaRPr lang="en-IN" spc="-4">
              <a:latin typeface="Arial" panose="020B0604020202020204"/>
              <a:cs typeface="Arial" panose="020B06040202020202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9.wmf"/></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41.gif"/></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5.xml"/><Relationship Id="rId5" Type="http://schemas.openxmlformats.org/officeDocument/2006/relationships/image" Target="../media/image39.png"/><Relationship Id="rId4" Type="http://schemas.openxmlformats.org/officeDocument/2006/relationships/image" Target="../media/image4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87" name="object 2"/>
          <p:cNvSpPr txBox="1">
            <a:spLocks noGrp="1"/>
          </p:cNvSpPr>
          <p:nvPr>
            <p:ph type="ctrTitle"/>
          </p:nvPr>
        </p:nvSpPr>
        <p:spPr>
          <a:xfrm>
            <a:off x="1371600" y="2057401"/>
            <a:ext cx="5943600" cy="702115"/>
          </a:xfrm>
          <a:prstGeom prst="rect">
            <a:avLst/>
          </a:prstGeom>
        </p:spPr>
        <p:txBody>
          <a:bodyPr vert="horz" wrap="square" lIns="0" tIns="9525" rIns="0" bIns="0" rtlCol="0">
            <a:spAutoFit/>
          </a:bodyPr>
          <a:lstStyle/>
          <a:p>
            <a:pPr marL="11430" algn="ctr">
              <a:spcBef>
                <a:spcPts val="75"/>
              </a:spcBef>
            </a:pPr>
            <a:r>
              <a:rPr spc="-8"/>
              <a:t>Module</a:t>
            </a:r>
            <a:r>
              <a:rPr lang="en-GB" spc="-56"/>
              <a:t>-1.2</a:t>
            </a:r>
            <a:endParaRPr spc="-4"/>
          </a:p>
        </p:txBody>
      </p:sp>
      <p:sp>
        <p:nvSpPr>
          <p:cNvPr id="1048588" name="object 3"/>
          <p:cNvSpPr txBox="1"/>
          <p:nvPr/>
        </p:nvSpPr>
        <p:spPr>
          <a:xfrm>
            <a:off x="8974932" y="5677129"/>
            <a:ext cx="110014" cy="225901"/>
          </a:xfrm>
          <a:prstGeom prst="rect">
            <a:avLst/>
          </a:prstGeom>
        </p:spPr>
        <p:txBody>
          <a:bodyPr vert="horz" wrap="square" lIns="0" tIns="10001" rIns="0" bIns="0" rtlCol="0">
            <a:spAutoFit/>
          </a:bodyPr>
          <a:lstStyle/>
          <a:p>
            <a:pPr marL="9525">
              <a:spcBef>
                <a:spcPts val="80"/>
              </a:spcBef>
            </a:pPr>
            <a:r>
              <a:rPr sz="1200" b="1" spc="4">
                <a:solidFill>
                  <a:srgbClr val="FFFFFF"/>
                </a:solidFill>
                <a:latin typeface="Caladea"/>
                <a:cs typeface="Caladea"/>
              </a:rPr>
              <a:t>1</a:t>
            </a:r>
            <a:endParaRPr sz="1200">
              <a:latin typeface="Caladea"/>
              <a:cs typeface="Caladea"/>
            </a:endParaRPr>
          </a:p>
        </p:txBody>
      </p:sp>
      <p:sp>
        <p:nvSpPr>
          <p:cNvPr id="1048589" name="object 4"/>
          <p:cNvSpPr txBox="1"/>
          <p:nvPr/>
        </p:nvSpPr>
        <p:spPr>
          <a:xfrm>
            <a:off x="1238250" y="2971800"/>
            <a:ext cx="6515100" cy="771846"/>
          </a:xfrm>
          <a:prstGeom prst="rect">
            <a:avLst/>
          </a:prstGeom>
        </p:spPr>
        <p:txBody>
          <a:bodyPr vert="horz" wrap="square" lIns="0" tIns="10001" rIns="0" bIns="0" rtlCol="0">
            <a:spAutoFit/>
          </a:bodyPr>
          <a:lstStyle/>
          <a:p>
            <a:pPr marL="9525" algn="ctr">
              <a:spcBef>
                <a:spcPts val="80"/>
              </a:spcBef>
            </a:pPr>
            <a:r>
              <a:rPr lang="en-US" sz="4950" b="1" spc="-4">
                <a:solidFill>
                  <a:srgbClr val="EC7C30"/>
                </a:solidFill>
                <a:latin typeface="Times New Roman" panose="02020603050405020304" pitchFamily="18" charset="0"/>
                <a:cs typeface="Times New Roman" panose="02020603050405020304" pitchFamily="18" charset="0"/>
              </a:rPr>
              <a:t>Physical Layer</a:t>
            </a:r>
          </a:p>
        </p:txBody>
      </p:sp>
      <p:sp>
        <p:nvSpPr>
          <p:cNvPr id="1048590" name="TextBox 7"/>
          <p:cNvSpPr txBox="1"/>
          <p:nvPr/>
        </p:nvSpPr>
        <p:spPr>
          <a:xfrm>
            <a:off x="838200" y="576709"/>
            <a:ext cx="7315200" cy="1183640"/>
          </a:xfrm>
          <a:prstGeom prst="rect">
            <a:avLst/>
          </a:prstGeom>
          <a:noFill/>
          <a:ln>
            <a:solidFill>
              <a:schemeClr val="bg2">
                <a:lumMod val="90000"/>
              </a:schemeClr>
            </a:solidFill>
          </a:ln>
        </p:spPr>
        <p:txBody>
          <a:bodyPr wrap="square">
            <a:spAutoFit/>
          </a:bodyPr>
          <a:lstStyle/>
          <a:p>
            <a:pPr algn="ctr"/>
            <a:r>
              <a:rPr lang="en-US" sz="3200" b="1" spc="-8"/>
              <a:t>CSE3155  DATA COMMUNICATION AND COMPUTER NETWORKS</a:t>
            </a:r>
            <a:endParaRPr lang="en-US" sz="3200" b="1"/>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E07D1-E197-BB99-33C0-9C28A6AF4E40}"/>
              </a:ext>
            </a:extLst>
          </p:cNvPr>
          <p:cNvSpPr>
            <a:spLocks noGrp="1"/>
          </p:cNvSpPr>
          <p:nvPr>
            <p:ph type="title"/>
          </p:nvPr>
        </p:nvSpPr>
        <p:spPr>
          <a:xfrm>
            <a:off x="628650" y="228600"/>
            <a:ext cx="7886700" cy="558006"/>
          </a:xfrm>
        </p:spPr>
        <p:txBody>
          <a:bodyPr>
            <a:normAutofit/>
          </a:bodyPr>
          <a:lstStyle/>
          <a:p>
            <a:r>
              <a:rPr lang="en-IN" sz="3200" b="1">
                <a:solidFill>
                  <a:srgbClr val="0F9FEF"/>
                </a:solidFill>
                <a:latin typeface="+mn-lt"/>
              </a:rPr>
              <a:t>Functions of Physical Layer</a:t>
            </a:r>
          </a:p>
        </p:txBody>
      </p:sp>
      <p:sp>
        <p:nvSpPr>
          <p:cNvPr id="3" name="Content Placeholder 2">
            <a:extLst>
              <a:ext uri="{FF2B5EF4-FFF2-40B4-BE49-F238E27FC236}">
                <a16:creationId xmlns:a16="http://schemas.microsoft.com/office/drawing/2014/main" id="{15C356E5-93A5-BA9E-1B3C-940FF352D16C}"/>
              </a:ext>
            </a:extLst>
          </p:cNvPr>
          <p:cNvSpPr>
            <a:spLocks noGrp="1"/>
          </p:cNvSpPr>
          <p:nvPr>
            <p:ph idx="1"/>
          </p:nvPr>
        </p:nvSpPr>
        <p:spPr>
          <a:xfrm>
            <a:off x="694235" y="1066800"/>
            <a:ext cx="7835900" cy="3750072"/>
          </a:xfrm>
        </p:spPr>
        <p:txBody>
          <a:bodyPr>
            <a:noAutofit/>
          </a:bodyPr>
          <a:lstStyle/>
          <a:p>
            <a:pPr marL="342900" indent="-342900">
              <a:spcAft>
                <a:spcPts val="450"/>
              </a:spcAft>
              <a:buFont typeface="Arial" panose="020B0604020202020204" pitchFamily="34" charset="0"/>
              <a:buChar char="•"/>
            </a:pPr>
            <a:r>
              <a:rPr lang="en-US" sz="2000" b="1">
                <a:latin typeface="Times New Roman" panose="02020603050405020304" pitchFamily="18" charset="0"/>
                <a:cs typeface="Times New Roman" panose="02020603050405020304" pitchFamily="18" charset="0"/>
              </a:rPr>
              <a:t>Physical characteristics of interfaces and medium: </a:t>
            </a:r>
            <a:r>
              <a:rPr lang="en-US" sz="2000">
                <a:latin typeface="Times New Roman" panose="02020603050405020304" pitchFamily="18" charset="0"/>
                <a:cs typeface="Times New Roman" panose="02020603050405020304" pitchFamily="18" charset="0"/>
              </a:rPr>
              <a:t>characteristics of Interface between devices and types of transmission media.</a:t>
            </a:r>
          </a:p>
          <a:p>
            <a:pPr marL="342900" indent="-342900">
              <a:spcAft>
                <a:spcPts val="450"/>
              </a:spcAft>
              <a:buFont typeface="Arial" panose="020B0604020202020204" pitchFamily="34" charset="0"/>
              <a:buChar char="•"/>
            </a:pPr>
            <a:r>
              <a:rPr lang="en-US" sz="2000" b="1">
                <a:latin typeface="Times New Roman" panose="02020603050405020304" pitchFamily="18" charset="0"/>
                <a:cs typeface="Times New Roman" panose="02020603050405020304" pitchFamily="18" charset="0"/>
              </a:rPr>
              <a:t>Representation of bits</a:t>
            </a:r>
            <a:r>
              <a:rPr lang="en-US" sz="2000">
                <a:latin typeface="Times New Roman" panose="02020603050405020304" pitchFamily="18" charset="0"/>
                <a:cs typeface="Times New Roman" panose="02020603050405020304" pitchFamily="18" charset="0"/>
              </a:rPr>
              <a:t>: It encodes the bit stream into electrical or optical signal.</a:t>
            </a:r>
          </a:p>
          <a:p>
            <a:pPr marL="342900" indent="-342900">
              <a:spcAft>
                <a:spcPts val="450"/>
              </a:spcAft>
              <a:buFont typeface="Arial" panose="020B0604020202020204" pitchFamily="34" charset="0"/>
              <a:buChar char="•"/>
            </a:pPr>
            <a:r>
              <a:rPr lang="en-US" sz="2000" b="1">
                <a:latin typeface="Times New Roman" panose="02020603050405020304" pitchFamily="18" charset="0"/>
                <a:cs typeface="Times New Roman" panose="02020603050405020304" pitchFamily="18" charset="0"/>
              </a:rPr>
              <a:t>Data rate</a:t>
            </a:r>
            <a:r>
              <a:rPr lang="en-US" sz="2000">
                <a:latin typeface="Times New Roman" panose="02020603050405020304" pitchFamily="18" charset="0"/>
                <a:cs typeface="Times New Roman" panose="02020603050405020304" pitchFamily="18" charset="0"/>
              </a:rPr>
              <a:t>: Transmission rate, number of bits sent each second. </a:t>
            </a:r>
          </a:p>
          <a:p>
            <a:pPr marL="342900" indent="-342900">
              <a:spcAft>
                <a:spcPts val="450"/>
              </a:spcAft>
              <a:buFont typeface="Arial" panose="020B0604020202020204" pitchFamily="34" charset="0"/>
              <a:buChar char="•"/>
            </a:pPr>
            <a:r>
              <a:rPr lang="en-US" sz="2000" b="1">
                <a:latin typeface="Times New Roman" panose="02020603050405020304" pitchFamily="18" charset="0"/>
                <a:cs typeface="Times New Roman" panose="02020603050405020304" pitchFamily="18" charset="0"/>
              </a:rPr>
              <a:t>Synchronization of bits</a:t>
            </a:r>
            <a:r>
              <a:rPr lang="en-US" sz="2000">
                <a:latin typeface="Times New Roman" panose="02020603050405020304" pitchFamily="18" charset="0"/>
                <a:cs typeface="Times New Roman" panose="02020603050405020304" pitchFamily="18" charset="0"/>
              </a:rPr>
              <a:t>: Sender and the receiver clocks must be synchronized. </a:t>
            </a:r>
          </a:p>
          <a:p>
            <a:pPr marL="342900" indent="-342900">
              <a:spcAft>
                <a:spcPts val="450"/>
              </a:spcAft>
              <a:buFont typeface="Arial" panose="020B0604020202020204" pitchFamily="34" charset="0"/>
              <a:buChar char="•"/>
            </a:pPr>
            <a:r>
              <a:rPr lang="en-US" sz="2000" b="1">
                <a:latin typeface="Times New Roman" panose="02020603050405020304" pitchFamily="18" charset="0"/>
                <a:cs typeface="Times New Roman" panose="02020603050405020304" pitchFamily="18" charset="0"/>
              </a:rPr>
              <a:t>Line configuration</a:t>
            </a:r>
            <a:r>
              <a:rPr lang="en-US" sz="2000">
                <a:latin typeface="Times New Roman" panose="02020603050405020304" pitchFamily="18" charset="0"/>
                <a:cs typeface="Times New Roman" panose="02020603050405020304" pitchFamily="18" charset="0"/>
              </a:rPr>
              <a:t>: Connection of devices to the media. </a:t>
            </a:r>
            <a:r>
              <a:rPr lang="en-US" sz="2000" b="1">
                <a:solidFill>
                  <a:srgbClr val="C00000"/>
                </a:solidFill>
                <a:latin typeface="Times New Roman" panose="02020603050405020304" pitchFamily="18" charset="0"/>
                <a:cs typeface="Times New Roman" panose="02020603050405020304" pitchFamily="18" charset="0"/>
              </a:rPr>
              <a:t>Point-to-point or multipoint connection. </a:t>
            </a:r>
          </a:p>
          <a:p>
            <a:pPr marL="342900" indent="-342900">
              <a:spcAft>
                <a:spcPts val="450"/>
              </a:spcAft>
              <a:buFont typeface="Arial" panose="020B0604020202020204" pitchFamily="34" charset="0"/>
              <a:buChar char="•"/>
            </a:pPr>
            <a:r>
              <a:rPr lang="en-US" sz="2000" b="1">
                <a:latin typeface="Times New Roman" panose="02020603050405020304" pitchFamily="18" charset="0"/>
                <a:cs typeface="Times New Roman" panose="02020603050405020304" pitchFamily="18" charset="0"/>
              </a:rPr>
              <a:t>Physical topology</a:t>
            </a:r>
            <a:r>
              <a:rPr lang="en-US" sz="2000">
                <a:latin typeface="Times New Roman" panose="02020603050405020304" pitchFamily="18" charset="0"/>
                <a:cs typeface="Times New Roman" panose="02020603050405020304" pitchFamily="18" charset="0"/>
              </a:rPr>
              <a:t>: How devices are connected to make a network? </a:t>
            </a:r>
          </a:p>
          <a:p>
            <a:pPr marL="342900" indent="-342900">
              <a:spcAft>
                <a:spcPts val="450"/>
              </a:spcAft>
              <a:buFont typeface="Arial" panose="020B0604020202020204" pitchFamily="34" charset="0"/>
              <a:buChar char="•"/>
            </a:pPr>
            <a:r>
              <a:rPr lang="en-US" sz="2000" b="1">
                <a:latin typeface="Times New Roman" panose="02020603050405020304" pitchFamily="18" charset="0"/>
                <a:cs typeface="Times New Roman" panose="02020603050405020304" pitchFamily="18" charset="0"/>
              </a:rPr>
              <a:t>Transmission mode</a:t>
            </a:r>
            <a:r>
              <a:rPr lang="en-US" sz="2000">
                <a:latin typeface="Times New Roman" panose="02020603050405020304" pitchFamily="18" charset="0"/>
                <a:cs typeface="Times New Roman" panose="02020603050405020304" pitchFamily="18" charset="0"/>
              </a:rPr>
              <a:t>: It defines direction of the transmission between two devices. Ex. </a:t>
            </a:r>
            <a:r>
              <a:rPr lang="en-US" sz="2000" b="1">
                <a:solidFill>
                  <a:srgbClr val="C00000"/>
                </a:solidFill>
                <a:latin typeface="Times New Roman" panose="02020603050405020304" pitchFamily="18" charset="0"/>
                <a:cs typeface="Times New Roman" panose="02020603050405020304" pitchFamily="18" charset="0"/>
              </a:rPr>
              <a:t>Simplex , half-duplex or full duplex mode</a:t>
            </a:r>
            <a:r>
              <a:rPr lang="en-US" sz="2000">
                <a:latin typeface="Times New Roman" panose="02020603050405020304" pitchFamily="18" charset="0"/>
                <a:cs typeface="Times New Roman" panose="02020603050405020304" pitchFamily="18" charset="0"/>
              </a:rPr>
              <a:t>).</a:t>
            </a:r>
            <a:endParaRPr lang="en-IN"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1193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277813"/>
            <a:ext cx="8229600" cy="553998"/>
          </a:xfrm>
        </p:spPr>
        <p:txBody>
          <a:bodyPr/>
          <a:lstStyle/>
          <a:p>
            <a:pPr eaLnBrk="1" fontAlgn="auto" hangingPunct="1">
              <a:spcAft>
                <a:spcPts val="0"/>
              </a:spcAft>
              <a:defRPr/>
            </a:pPr>
            <a:r>
              <a:rPr lang="en-US"/>
              <a:t>Transmission Media</a:t>
            </a:r>
          </a:p>
        </p:txBody>
      </p:sp>
      <p:sp>
        <p:nvSpPr>
          <p:cNvPr id="12291" name="Rectangle 3"/>
          <p:cNvSpPr>
            <a:spLocks noGrp="1" noChangeArrowheads="1"/>
          </p:cNvSpPr>
          <p:nvPr>
            <p:ph type="body" sz="half" idx="1"/>
          </p:nvPr>
        </p:nvSpPr>
        <p:spPr>
          <a:xfrm>
            <a:off x="1143000" y="1295400"/>
            <a:ext cx="7772400" cy="344710"/>
          </a:xfrm>
        </p:spPr>
        <p:txBody>
          <a:bodyPr/>
          <a:lstStyle/>
          <a:p>
            <a:pPr marL="533400" indent="-533400" eaLnBrk="1" hangingPunct="1">
              <a:lnSpc>
                <a:spcPct val="80000"/>
              </a:lnSpc>
              <a:buFont typeface="Wingdings" panose="05000000000000000000" pitchFamily="2" charset="2"/>
              <a:buNone/>
            </a:pPr>
            <a:r>
              <a:rPr lang="en-US" sz="2800" b="1">
                <a:latin typeface="Arial" panose="020B0604020202020204" pitchFamily="34" charset="0"/>
              </a:rPr>
              <a:t>Transmission Media and Physical Layer</a:t>
            </a:r>
          </a:p>
        </p:txBody>
      </p:sp>
      <p:pic>
        <p:nvPicPr>
          <p:cNvPr id="122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8" y="2584450"/>
            <a:ext cx="8729662"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Rectangle 5"/>
          <p:cNvSpPr>
            <a:spLocks noChangeArrowheads="1"/>
          </p:cNvSpPr>
          <p:nvPr/>
        </p:nvSpPr>
        <p:spPr bwMode="auto">
          <a:xfrm>
            <a:off x="685800" y="5410200"/>
            <a:ext cx="815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atin typeface="Times New Roman" panose="02020603050405020304" pitchFamily="18" charset="0"/>
            </a:endParaRPr>
          </a:p>
        </p:txBody>
      </p:sp>
    </p:spTree>
    <p:extLst>
      <p:ext uri="{BB962C8B-B14F-4D97-AF65-F5344CB8AC3E}">
        <p14:creationId xmlns:p14="http://schemas.microsoft.com/office/powerpoint/2010/main" val="103095487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77813"/>
            <a:ext cx="8229600" cy="553998"/>
          </a:xfrm>
        </p:spPr>
        <p:txBody>
          <a:bodyPr/>
          <a:lstStyle/>
          <a:p>
            <a:pPr eaLnBrk="1" fontAlgn="auto" hangingPunct="1">
              <a:spcAft>
                <a:spcPts val="0"/>
              </a:spcAft>
              <a:defRPr/>
            </a:pPr>
            <a:r>
              <a:rPr lang="en-US"/>
              <a:t>Transmission Media</a:t>
            </a:r>
          </a:p>
        </p:txBody>
      </p:sp>
      <p:sp>
        <p:nvSpPr>
          <p:cNvPr id="11267" name="Rectangle 3"/>
          <p:cNvSpPr>
            <a:spLocks noGrp="1" noChangeArrowheads="1"/>
          </p:cNvSpPr>
          <p:nvPr>
            <p:ph type="body" sz="half" idx="1"/>
          </p:nvPr>
        </p:nvSpPr>
        <p:spPr>
          <a:xfrm>
            <a:off x="762000" y="1066800"/>
            <a:ext cx="7391400" cy="4438138"/>
          </a:xfrm>
        </p:spPr>
        <p:txBody>
          <a:bodyPr/>
          <a:lstStyle/>
          <a:p>
            <a:pPr marL="457200" indent="-457200" algn="just" eaLnBrk="1" hangingPunct="1">
              <a:lnSpc>
                <a:spcPct val="90000"/>
              </a:lnSpc>
              <a:buFont typeface="Arial" panose="020B0604020202020204" pitchFamily="34" charset="0"/>
              <a:buChar char="•"/>
            </a:pPr>
            <a:r>
              <a:rPr lang="en-US" sz="2800"/>
              <a:t>Transmission media are located below the physical layer.</a:t>
            </a:r>
          </a:p>
          <a:p>
            <a:pPr marL="457200" indent="-457200" algn="just" eaLnBrk="1" hangingPunct="1">
              <a:lnSpc>
                <a:spcPct val="90000"/>
              </a:lnSpc>
              <a:buFont typeface="Arial" panose="020B0604020202020204" pitchFamily="34" charset="0"/>
              <a:buChar char="•"/>
            </a:pPr>
            <a:endParaRPr lang="en-US" sz="2800"/>
          </a:p>
          <a:p>
            <a:pPr marL="457200" indent="-457200" algn="just">
              <a:buFont typeface="Arial" panose="020B0604020202020204" pitchFamily="34" charset="0"/>
              <a:buChar char="•"/>
            </a:pPr>
            <a:r>
              <a:rPr lang="en-US" sz="2800">
                <a:latin typeface="STIXMathJax_Main-Regular"/>
              </a:rPr>
              <a:t>A transmission medium can be broadly defined as anything that can carry  information from a source to a destination.</a:t>
            </a:r>
          </a:p>
          <a:p>
            <a:pPr algn="just"/>
            <a:endParaRPr lang="en-US" sz="2800"/>
          </a:p>
          <a:p>
            <a:pPr marL="457200" indent="-457200" algn="just" eaLnBrk="1" hangingPunct="1">
              <a:lnSpc>
                <a:spcPct val="90000"/>
              </a:lnSpc>
              <a:buFont typeface="Arial" panose="020B0604020202020204" pitchFamily="34" charset="0"/>
              <a:buChar char="•"/>
            </a:pPr>
            <a:r>
              <a:rPr lang="en-US" sz="2800"/>
              <a:t>Computers use signals to represent data.</a:t>
            </a:r>
          </a:p>
          <a:p>
            <a:pPr algn="just" eaLnBrk="1" hangingPunct="1">
              <a:lnSpc>
                <a:spcPct val="90000"/>
              </a:lnSpc>
            </a:pPr>
            <a:endParaRPr lang="en-US" sz="2800"/>
          </a:p>
          <a:p>
            <a:pPr marL="457200" indent="-457200" algn="just" eaLnBrk="1" hangingPunct="1">
              <a:lnSpc>
                <a:spcPct val="90000"/>
              </a:lnSpc>
              <a:buFont typeface="Arial" panose="020B0604020202020204" pitchFamily="34" charset="0"/>
              <a:buChar char="•"/>
            </a:pPr>
            <a:r>
              <a:rPr lang="en-US" sz="2800"/>
              <a:t>Signals are transmitted in form of electromagnetic energy.</a:t>
            </a:r>
          </a:p>
        </p:txBody>
      </p:sp>
    </p:spTree>
    <p:extLst>
      <p:ext uri="{BB962C8B-B14F-4D97-AF65-F5344CB8AC3E}">
        <p14:creationId xmlns:p14="http://schemas.microsoft.com/office/powerpoint/2010/main" val="2127371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8624" y="500063"/>
            <a:ext cx="8486775" cy="1139825"/>
          </a:xfrm>
        </p:spPr>
        <p:txBody>
          <a:bodyPr rtlCol="0">
            <a:normAutofit fontScale="90000"/>
          </a:bodyPr>
          <a:lstStyle/>
          <a:p>
            <a:pPr eaLnBrk="1" fontAlgn="auto" hangingPunct="1">
              <a:spcAft>
                <a:spcPts val="0"/>
              </a:spcAft>
              <a:defRPr/>
            </a:pPr>
            <a:r>
              <a:rPr lang="en-US" sz="3400" b="1">
                <a:latin typeface="Times New Roman" pitchFamily="18" charset="0"/>
                <a:cs typeface="Times New Roman" pitchFamily="18" charset="0"/>
              </a:rPr>
              <a:t>Factors to be considered while choosing Transmission Medium</a:t>
            </a:r>
            <a:br>
              <a:rPr lang="en-US" sz="3400" b="1">
                <a:latin typeface="Times New Roman" pitchFamily="18" charset="0"/>
                <a:cs typeface="Times New Roman" pitchFamily="18" charset="0"/>
              </a:rPr>
            </a:br>
            <a:endParaRPr lang="en-US" sz="3400">
              <a:latin typeface="Times New Roman" pitchFamily="18" charset="0"/>
              <a:cs typeface="Times New Roman" pitchFamily="18" charset="0"/>
            </a:endParaRPr>
          </a:p>
        </p:txBody>
      </p:sp>
      <p:sp>
        <p:nvSpPr>
          <p:cNvPr id="14339" name="Content Placeholder 6"/>
          <p:cNvSpPr>
            <a:spLocks noGrp="1"/>
          </p:cNvSpPr>
          <p:nvPr>
            <p:ph sz="quarter" idx="1"/>
          </p:nvPr>
        </p:nvSpPr>
        <p:spPr>
          <a:xfrm>
            <a:off x="452508" y="1639888"/>
            <a:ext cx="7467600" cy="3084512"/>
          </a:xfrm>
        </p:spPr>
        <p:txBody>
          <a:bodyPr/>
          <a:lstStyle/>
          <a:p>
            <a:pPr marL="285750" indent="-285750" eaLnBrk="1" hangingPunct="1">
              <a:lnSpc>
                <a:spcPct val="200000"/>
              </a:lnSpc>
              <a:buFont typeface="Arial" panose="020B0604020202020204" pitchFamily="34" charset="0"/>
              <a:buChar char="•"/>
            </a:pPr>
            <a:r>
              <a:rPr lang="en-US" sz="1800" b="1"/>
              <a:t>Transmission Rate</a:t>
            </a:r>
          </a:p>
          <a:p>
            <a:pPr marL="285750" indent="-285750" eaLnBrk="1" hangingPunct="1">
              <a:lnSpc>
                <a:spcPct val="200000"/>
              </a:lnSpc>
              <a:buFont typeface="Arial" panose="020B0604020202020204" pitchFamily="34" charset="0"/>
              <a:buChar char="•"/>
            </a:pPr>
            <a:r>
              <a:rPr lang="en-US" sz="1800" b="1"/>
              <a:t>Cost and Ease of Installation</a:t>
            </a:r>
          </a:p>
          <a:p>
            <a:pPr marL="285750" indent="-285750" eaLnBrk="1" hangingPunct="1">
              <a:lnSpc>
                <a:spcPct val="200000"/>
              </a:lnSpc>
              <a:buFont typeface="Arial" panose="020B0604020202020204" pitchFamily="34" charset="0"/>
              <a:buChar char="•"/>
            </a:pPr>
            <a:r>
              <a:rPr lang="en-US" sz="1800" b="1"/>
              <a:t>Resistance to Environmental Conditions</a:t>
            </a:r>
          </a:p>
          <a:p>
            <a:pPr marL="285750" indent="-285750" eaLnBrk="1" hangingPunct="1">
              <a:lnSpc>
                <a:spcPct val="200000"/>
              </a:lnSpc>
              <a:buFont typeface="Arial" panose="020B0604020202020204" pitchFamily="34" charset="0"/>
              <a:buChar char="•"/>
            </a:pPr>
            <a:r>
              <a:rPr lang="en-US" sz="1800" b="1"/>
              <a:t>Distances</a:t>
            </a:r>
          </a:p>
          <a:p>
            <a:pPr eaLnBrk="1" hangingPunct="1">
              <a:lnSpc>
                <a:spcPct val="200000"/>
              </a:lnSpc>
            </a:pPr>
            <a:endParaRPr lang="en-US"/>
          </a:p>
        </p:txBody>
      </p:sp>
    </p:spTree>
    <p:extLst>
      <p:ext uri="{BB962C8B-B14F-4D97-AF65-F5344CB8AC3E}">
        <p14:creationId xmlns:p14="http://schemas.microsoft.com/office/powerpoint/2010/main" val="480825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981200"/>
            <a:ext cx="7715250" cy="315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Rectangle 4"/>
          <p:cNvSpPr>
            <a:spLocks noGrp="1" noChangeArrowheads="1"/>
          </p:cNvSpPr>
          <p:nvPr>
            <p:ph type="body" sz="half" idx="1"/>
          </p:nvPr>
        </p:nvSpPr>
        <p:spPr>
          <a:xfrm>
            <a:off x="304800" y="381000"/>
            <a:ext cx="6781800" cy="344710"/>
          </a:xfrm>
        </p:spPr>
        <p:txBody>
          <a:bodyPr/>
          <a:lstStyle/>
          <a:p>
            <a:pPr marL="533400" indent="-533400" algn="ctr" eaLnBrk="1" hangingPunct="1">
              <a:lnSpc>
                <a:spcPct val="80000"/>
              </a:lnSpc>
              <a:buFont typeface="Wingdings" panose="05000000000000000000" pitchFamily="2" charset="2"/>
              <a:buNone/>
            </a:pPr>
            <a:r>
              <a:rPr lang="en-US" sz="2800" b="1"/>
              <a:t>Categories of transmission media</a:t>
            </a:r>
          </a:p>
        </p:txBody>
      </p:sp>
    </p:spTree>
    <p:extLst>
      <p:ext uri="{BB962C8B-B14F-4D97-AF65-F5344CB8AC3E}">
        <p14:creationId xmlns:p14="http://schemas.microsoft.com/office/powerpoint/2010/main" val="155667313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442" name="Rectangle 2"/>
          <p:cNvSpPr>
            <a:spLocks noChangeArrowheads="1"/>
          </p:cNvSpPr>
          <p:nvPr/>
        </p:nvSpPr>
        <p:spPr bwMode="auto">
          <a:xfrm>
            <a:off x="0" y="0"/>
            <a:ext cx="9144000" cy="1371600"/>
          </a:xfrm>
          <a:prstGeom prst="rect">
            <a:avLst/>
          </a:prstGeom>
          <a:solidFill>
            <a:schemeClr val="bg2"/>
          </a:solidFill>
          <a:ln w="9525">
            <a:solidFill>
              <a:schemeClr val="bg1"/>
            </a:solidFill>
            <a:miter lim="800000"/>
            <a:headEnd/>
            <a:tailEnd/>
          </a:ln>
          <a:effectLst/>
        </p:spPr>
        <p:txBody>
          <a:bodyPr wrap="none" anchor="ctr"/>
          <a:lstStyle/>
          <a:p>
            <a:pPr algn="ctr">
              <a:defRPr/>
            </a:pPr>
            <a:endParaRPr lang="en-US" sz="320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endParaRPr>
          </a:p>
        </p:txBody>
      </p:sp>
      <p:sp>
        <p:nvSpPr>
          <p:cNvPr id="189443" name="Text Box 3"/>
          <p:cNvSpPr txBox="1">
            <a:spLocks noChangeArrowheads="1"/>
          </p:cNvSpPr>
          <p:nvPr/>
        </p:nvSpPr>
        <p:spPr bwMode="auto">
          <a:xfrm>
            <a:off x="228600" y="406400"/>
            <a:ext cx="6057900" cy="579438"/>
          </a:xfrm>
          <a:prstGeom prst="rect">
            <a:avLst/>
          </a:prstGeom>
          <a:noFill/>
          <a:ln w="9525">
            <a:noFill/>
            <a:miter lim="800000"/>
            <a:headEnd/>
            <a:tailEnd/>
          </a:ln>
          <a:effectLst/>
        </p:spPr>
        <p:txBody>
          <a:bodyPr wrap="none">
            <a:spAutoFit/>
          </a:bodyPr>
          <a:lstStyle/>
          <a:p>
            <a:pPr>
              <a:defRPr/>
            </a:pPr>
            <a:r>
              <a:rPr lang="en-US" sz="3200" b="1">
                <a:effectLst>
                  <a:outerShdw blurRad="38100" dist="38100" dir="2700000" algn="tl">
                    <a:srgbClr val="000000"/>
                  </a:outerShdw>
                </a:effectLst>
                <a:latin typeface="Times" charset="0"/>
              </a:rPr>
              <a:t> 			GUIDED MEDIA</a:t>
            </a:r>
          </a:p>
        </p:txBody>
      </p:sp>
      <p:sp>
        <p:nvSpPr>
          <p:cNvPr id="15364"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US" b="1">
              <a:latin typeface="Times New Roman" panose="02020603050405020304" pitchFamily="18" charset="0"/>
            </a:endParaRPr>
          </a:p>
        </p:txBody>
      </p:sp>
      <p:sp>
        <p:nvSpPr>
          <p:cNvPr id="15365" name="Rectangle 5"/>
          <p:cNvSpPr>
            <a:spLocks noChangeArrowheads="1"/>
          </p:cNvSpPr>
          <p:nvPr/>
        </p:nvSpPr>
        <p:spPr bwMode="auto">
          <a:xfrm>
            <a:off x="357188" y="2286000"/>
            <a:ext cx="82296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eaLnBrk="1" hangingPunct="1"/>
            <a:r>
              <a:rPr lang="en-US" sz="3200" i="1">
                <a:latin typeface="Times New Roman" panose="02020603050405020304" pitchFamily="18" charset="0"/>
              </a:rPr>
              <a:t>Guided media, which are those that provide a conduit from one device to another, include twisted-pair cable, coaxial cable, and fiber-optic cable.</a:t>
            </a:r>
          </a:p>
        </p:txBody>
      </p:sp>
    </p:spTree>
    <p:extLst>
      <p:ext uri="{BB962C8B-B14F-4D97-AF65-F5344CB8AC3E}">
        <p14:creationId xmlns:p14="http://schemas.microsoft.com/office/powerpoint/2010/main" val="2074621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4690" y="609600"/>
            <a:ext cx="8229600" cy="1143000"/>
          </a:xfrm>
        </p:spPr>
        <p:txBody>
          <a:bodyPr rtlCol="0">
            <a:normAutofit fontScale="90000"/>
          </a:bodyPr>
          <a:lstStyle/>
          <a:p>
            <a:pPr eaLnBrk="1" fontAlgn="auto" hangingPunct="1">
              <a:spcAft>
                <a:spcPts val="0"/>
              </a:spcAft>
              <a:defRPr/>
            </a:pPr>
            <a:r>
              <a:rPr lang="en-US" b="1"/>
              <a:t>Twisted Pair Cable</a:t>
            </a:r>
            <a:br>
              <a:rPr lang="en-US" b="1"/>
            </a:br>
            <a:br>
              <a:rPr lang="en-US"/>
            </a:br>
            <a:endParaRPr lang="en-US"/>
          </a:p>
        </p:txBody>
      </p:sp>
      <p:sp>
        <p:nvSpPr>
          <p:cNvPr id="16387" name="Content Placeholder 6"/>
          <p:cNvSpPr>
            <a:spLocks noGrp="1"/>
          </p:cNvSpPr>
          <p:nvPr>
            <p:ph sz="quarter" idx="1"/>
          </p:nvPr>
        </p:nvSpPr>
        <p:spPr>
          <a:xfrm>
            <a:off x="444690" y="1211807"/>
            <a:ext cx="7467600" cy="4555093"/>
          </a:xfrm>
        </p:spPr>
        <p:txBody>
          <a:bodyPr/>
          <a:lstStyle/>
          <a:p>
            <a:pPr algn="just" eaLnBrk="1" hangingPunct="1"/>
            <a:r>
              <a:rPr lang="en-US" sz="2800">
                <a:latin typeface="Times New Roman" panose="02020603050405020304" pitchFamily="18" charset="0"/>
                <a:cs typeface="Times New Roman" panose="02020603050405020304" pitchFamily="18" charset="0"/>
              </a:rPr>
              <a:t>This cable is the most commonly used and is cheaper than others. It is lightweight, cheap, can be installed easily, and they support many different types of network.</a:t>
            </a:r>
          </a:p>
          <a:p>
            <a:pPr algn="just"/>
            <a:r>
              <a:rPr lang="en-US" sz="2800">
                <a:latin typeface="Times New Roman" panose="02020603050405020304" pitchFamily="18" charset="0"/>
                <a:cs typeface="Times New Roman" panose="02020603050405020304" pitchFamily="18" charset="0"/>
              </a:rPr>
              <a:t>Twisted-pair cables are used in telephone lines to provide voice and data channels,LANs,DSLs.</a:t>
            </a:r>
          </a:p>
          <a:p>
            <a:pPr algn="just"/>
            <a:endParaRPr lang="en-US" sz="280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sz="2800">
                <a:latin typeface="Times New Roman" panose="02020603050405020304" pitchFamily="18" charset="0"/>
                <a:cs typeface="Times New Roman" panose="02020603050405020304" pitchFamily="18" charset="0"/>
              </a:rPr>
              <a:t>Twisted Pair is of two types :</a:t>
            </a:r>
          </a:p>
          <a:p>
            <a:pPr marL="457200" indent="-457200" eaLnBrk="1" hangingPunct="1">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Unshielded Twisted Pair (UTP)</a:t>
            </a:r>
            <a:endParaRPr lang="en-US" sz="2400">
              <a:latin typeface="Times New Roman" panose="02020603050405020304" pitchFamily="18" charset="0"/>
              <a:cs typeface="Times New Roman" panose="02020603050405020304" pitchFamily="18" charset="0"/>
            </a:endParaRPr>
          </a:p>
          <a:p>
            <a:pPr marL="457200" indent="-457200" eaLnBrk="1" hangingPunct="1">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Shielded Twisted Pair (STP)</a:t>
            </a:r>
            <a:endParaRPr lang="en-US" sz="2400">
              <a:latin typeface="Times New Roman" panose="02020603050405020304" pitchFamily="18" charset="0"/>
              <a:cs typeface="Times New Roman" panose="02020603050405020304" pitchFamily="18" charset="0"/>
            </a:endParaRPr>
          </a:p>
          <a:p>
            <a:pPr marL="457200" indent="-457200" eaLnBrk="1" hangingPunct="1">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p:txBody>
      </p:sp>
      <p:pic>
        <p:nvPicPr>
          <p:cNvPr id="4" name="Picture 6" descr="utp-cat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324600" y="3810000"/>
            <a:ext cx="2590800" cy="2133600"/>
          </a:xfrm>
          <a:prstGeom prst="rect">
            <a:avLst/>
          </a:prstGeom>
          <a:noFill/>
        </p:spPr>
      </p:pic>
    </p:spTree>
    <p:extLst>
      <p:ext uri="{BB962C8B-B14F-4D97-AF65-F5344CB8AC3E}">
        <p14:creationId xmlns:p14="http://schemas.microsoft.com/office/powerpoint/2010/main" val="3940668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0" y="304800"/>
            <a:ext cx="9144000" cy="1139825"/>
          </a:xfrm>
        </p:spPr>
        <p:txBody>
          <a:bodyPr/>
          <a:lstStyle/>
          <a:p>
            <a:pPr eaLnBrk="1" fontAlgn="auto" hangingPunct="1">
              <a:spcAft>
                <a:spcPts val="0"/>
              </a:spcAft>
              <a:defRPr/>
            </a:pPr>
            <a:r>
              <a:rPr lang="en-US" sz="2900"/>
              <a:t>Unshielded Versus Shielded Twisted-Pair Cable</a:t>
            </a:r>
          </a:p>
        </p:txBody>
      </p:sp>
      <p:sp>
        <p:nvSpPr>
          <p:cNvPr id="19459" name="Rectangle 4"/>
          <p:cNvSpPr>
            <a:spLocks noGrp="1" noChangeArrowheads="1"/>
          </p:cNvSpPr>
          <p:nvPr>
            <p:ph type="body" sz="half" idx="1"/>
          </p:nvPr>
        </p:nvSpPr>
        <p:spPr>
          <a:xfrm>
            <a:off x="2362200" y="1524000"/>
            <a:ext cx="4724400" cy="609600"/>
          </a:xfrm>
        </p:spPr>
        <p:txBody>
          <a:bodyPr/>
          <a:lstStyle/>
          <a:p>
            <a:pPr marL="533400" indent="-533400" eaLnBrk="1" hangingPunct="1">
              <a:lnSpc>
                <a:spcPct val="80000"/>
              </a:lnSpc>
              <a:buFont typeface="Wingdings" panose="05000000000000000000" pitchFamily="2" charset="2"/>
              <a:buNone/>
            </a:pPr>
            <a:r>
              <a:rPr lang="en-US" sz="2800"/>
              <a:t>UTP and STP cables</a:t>
            </a:r>
          </a:p>
        </p:txBody>
      </p:sp>
      <p:pic>
        <p:nvPicPr>
          <p:cNvPr id="1946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8501063" cy="337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846201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fontAlgn="auto" hangingPunct="1">
              <a:spcAft>
                <a:spcPts val="0"/>
              </a:spcAft>
              <a:defRPr/>
            </a:pPr>
            <a:r>
              <a:rPr lang="en-US"/>
              <a:t>Unshielded Twisted Pair (UTP)</a:t>
            </a:r>
          </a:p>
        </p:txBody>
      </p:sp>
      <p:sp>
        <p:nvSpPr>
          <p:cNvPr id="19459" name="Rectangle 3"/>
          <p:cNvSpPr>
            <a:spLocks noGrp="1" noChangeArrowheads="1"/>
          </p:cNvSpPr>
          <p:nvPr>
            <p:ph type="body" sz="half" idx="1"/>
          </p:nvPr>
        </p:nvSpPr>
        <p:spPr/>
        <p:txBody>
          <a:bodyPr rtlCol="0">
            <a:normAutofit fontScale="47500" lnSpcReduction="20000"/>
          </a:bodyPr>
          <a:lstStyle/>
          <a:p>
            <a:pPr marL="274320" indent="-274320" eaLnBrk="1" fontAlgn="auto" hangingPunct="1">
              <a:spcAft>
                <a:spcPts val="0"/>
              </a:spcAft>
              <a:buFont typeface="Arial" pitchFamily="34" charset="0"/>
              <a:buNone/>
              <a:defRPr/>
            </a:pPr>
            <a:r>
              <a:rPr lang="en-US" sz="5100">
                <a:latin typeface="Times New Roman" pitchFamily="18" charset="0"/>
                <a:cs typeface="Times New Roman" pitchFamily="18" charset="0"/>
              </a:rPr>
              <a:t>Adv:</a:t>
            </a:r>
          </a:p>
          <a:p>
            <a:pPr marL="274320" indent="-274320" eaLnBrk="1" fontAlgn="auto" hangingPunct="1">
              <a:spcAft>
                <a:spcPts val="0"/>
              </a:spcAft>
              <a:buFont typeface="Arial" pitchFamily="34" charset="0"/>
              <a:buChar char="•"/>
              <a:defRPr/>
            </a:pPr>
            <a:r>
              <a:rPr lang="en-US" sz="5100">
                <a:latin typeface="Times New Roman" pitchFamily="18" charset="0"/>
                <a:cs typeface="Times New Roman" pitchFamily="18" charset="0"/>
              </a:rPr>
              <a:t>Ordinary telephone wire</a:t>
            </a:r>
          </a:p>
          <a:p>
            <a:pPr marL="274320" indent="-274320" eaLnBrk="1" fontAlgn="auto" hangingPunct="1">
              <a:spcAft>
                <a:spcPts val="0"/>
              </a:spcAft>
              <a:buFont typeface="Arial" pitchFamily="34" charset="0"/>
              <a:buChar char="•"/>
              <a:defRPr/>
            </a:pPr>
            <a:r>
              <a:rPr lang="en-US" sz="5100">
                <a:latin typeface="Times New Roman" pitchFamily="18" charset="0"/>
                <a:cs typeface="Times New Roman" pitchFamily="18" charset="0"/>
              </a:rPr>
              <a:t>Cheapest</a:t>
            </a:r>
          </a:p>
          <a:p>
            <a:pPr marL="274320" indent="-274320" eaLnBrk="1" fontAlgn="auto" hangingPunct="1">
              <a:spcAft>
                <a:spcPts val="0"/>
              </a:spcAft>
              <a:buFont typeface="Arial" pitchFamily="34" charset="0"/>
              <a:buChar char="•"/>
              <a:defRPr/>
            </a:pPr>
            <a:r>
              <a:rPr lang="en-US" sz="5100">
                <a:latin typeface="Times New Roman" pitchFamily="18" charset="0"/>
                <a:cs typeface="Times New Roman" pitchFamily="18" charset="0"/>
              </a:rPr>
              <a:t>Easiest to install</a:t>
            </a:r>
          </a:p>
          <a:p>
            <a:pPr marL="274320" indent="-274320" eaLnBrk="1" fontAlgn="auto" hangingPunct="1">
              <a:spcAft>
                <a:spcPts val="0"/>
              </a:spcAft>
              <a:buFont typeface="Arial" pitchFamily="34" charset="0"/>
              <a:buChar char="•"/>
              <a:defRPr/>
            </a:pPr>
            <a:r>
              <a:rPr lang="en-US" sz="5100">
                <a:latin typeface="Times New Roman" pitchFamily="18" charset="0"/>
                <a:cs typeface="Times New Roman" pitchFamily="18" charset="0"/>
              </a:rPr>
              <a:t>It has high speed capacity</a:t>
            </a:r>
          </a:p>
          <a:p>
            <a:pPr marL="274320" indent="-274320" eaLnBrk="1" fontAlgn="auto" hangingPunct="1">
              <a:spcAft>
                <a:spcPts val="0"/>
              </a:spcAft>
              <a:buFont typeface="Arial" pitchFamily="34" charset="0"/>
              <a:buChar char="•"/>
              <a:defRPr/>
            </a:pPr>
            <a:r>
              <a:rPr lang="en-US" sz="5100">
                <a:latin typeface="Times New Roman" pitchFamily="18" charset="0"/>
                <a:cs typeface="Times New Roman" pitchFamily="18" charset="0"/>
              </a:rPr>
              <a:t>100 meter limit</a:t>
            </a:r>
          </a:p>
          <a:p>
            <a:pPr marL="274320" indent="-274320" eaLnBrk="1" fontAlgn="auto" hangingPunct="1">
              <a:spcAft>
                <a:spcPts val="0"/>
              </a:spcAft>
              <a:buFont typeface="Arial" pitchFamily="34" charset="0"/>
              <a:buNone/>
              <a:defRPr/>
            </a:pPr>
            <a:endParaRPr lang="en-US" sz="5100">
              <a:latin typeface="Times New Roman" pitchFamily="18" charset="0"/>
              <a:cs typeface="Times New Roman" pitchFamily="18" charset="0"/>
            </a:endParaRPr>
          </a:p>
          <a:p>
            <a:pPr marL="274320" indent="-274320" eaLnBrk="1" fontAlgn="auto" hangingPunct="1">
              <a:spcAft>
                <a:spcPts val="0"/>
              </a:spcAft>
              <a:buFont typeface="Arial" pitchFamily="34" charset="0"/>
              <a:buNone/>
              <a:defRPr/>
            </a:pPr>
            <a:r>
              <a:rPr lang="en-US" sz="5100">
                <a:latin typeface="Times New Roman" pitchFamily="18" charset="0"/>
                <a:cs typeface="Times New Roman" pitchFamily="18" charset="0"/>
              </a:rPr>
              <a:t>Dis adv:</a:t>
            </a:r>
          </a:p>
          <a:p>
            <a:pPr marL="274320" indent="-274320" eaLnBrk="1" fontAlgn="auto" hangingPunct="1">
              <a:spcAft>
                <a:spcPts val="0"/>
              </a:spcAft>
              <a:buFont typeface="Arial" pitchFamily="34" charset="0"/>
              <a:buChar char="•"/>
              <a:defRPr/>
            </a:pPr>
            <a:r>
              <a:rPr lang="en-US" sz="5100">
                <a:latin typeface="Times New Roman" pitchFamily="18" charset="0"/>
                <a:cs typeface="Times New Roman" pitchFamily="18" charset="0"/>
              </a:rPr>
              <a:t>Bandwidth is low when compared with Coaxial Cable</a:t>
            </a:r>
          </a:p>
          <a:p>
            <a:pPr marL="274320" indent="-274320" eaLnBrk="1" fontAlgn="auto" hangingPunct="1">
              <a:spcAft>
                <a:spcPts val="0"/>
              </a:spcAft>
              <a:buFont typeface="Arial" pitchFamily="34" charset="0"/>
              <a:buChar char="•"/>
              <a:defRPr/>
            </a:pPr>
            <a:r>
              <a:rPr lang="en-US" sz="5100">
                <a:latin typeface="Times New Roman" pitchFamily="18" charset="0"/>
                <a:cs typeface="Times New Roman" pitchFamily="18" charset="0"/>
              </a:rPr>
              <a:t>Provides less protection from interference</a:t>
            </a:r>
            <a:r>
              <a:rPr lang="en-US"/>
              <a:t>.</a:t>
            </a:r>
          </a:p>
          <a:p>
            <a:pPr marL="274320" indent="-274320" eaLnBrk="1" fontAlgn="auto" hangingPunct="1">
              <a:spcAft>
                <a:spcPts val="0"/>
              </a:spcAft>
              <a:buFont typeface="Wingdings"/>
              <a:buNone/>
              <a:defRPr/>
            </a:pPr>
            <a:br>
              <a:rPr lang="en-US"/>
            </a:br>
            <a:br>
              <a:rPr lang="en-US" sz="2800"/>
            </a:br>
            <a:endParaRPr lang="en-US" sz="2800"/>
          </a:p>
          <a:p>
            <a:pPr marL="274320" indent="-274320" eaLnBrk="1" fontAlgn="auto" hangingPunct="1">
              <a:spcAft>
                <a:spcPts val="0"/>
              </a:spcAft>
              <a:buFont typeface="Arial" pitchFamily="34" charset="0"/>
              <a:buNone/>
              <a:defRPr/>
            </a:pPr>
            <a:br>
              <a:rPr lang="en-US" sz="2800"/>
            </a:br>
            <a:endParaRPr lang="en-US" sz="2800"/>
          </a:p>
        </p:txBody>
      </p:sp>
      <p:pic>
        <p:nvPicPr>
          <p:cNvPr id="20484"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743048" y="1600200"/>
            <a:ext cx="3960812" cy="3527425"/>
          </a:xfrm>
          <a:noFill/>
        </p:spPr>
      </p:pic>
    </p:spTree>
    <p:extLst>
      <p:ext uri="{BB962C8B-B14F-4D97-AF65-F5344CB8AC3E}">
        <p14:creationId xmlns:p14="http://schemas.microsoft.com/office/powerpoint/2010/main" val="2756198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C:\Users\ALL IS WELL\Desktop\Capture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8" y="1643063"/>
            <a:ext cx="5905500" cy="392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3294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fontAlgn="auto" hangingPunct="1">
              <a:spcAft>
                <a:spcPts val="0"/>
              </a:spcAft>
              <a:defRPr/>
            </a:pPr>
            <a:r>
              <a:rPr lang="en-US"/>
              <a:t>Shielded Twisted Pair (STP)</a:t>
            </a:r>
          </a:p>
        </p:txBody>
      </p:sp>
      <p:sp>
        <p:nvSpPr>
          <p:cNvPr id="20483" name="Rectangle 3"/>
          <p:cNvSpPr>
            <a:spLocks noGrp="1" noChangeArrowheads="1"/>
          </p:cNvSpPr>
          <p:nvPr>
            <p:ph type="body" sz="half" idx="1"/>
          </p:nvPr>
        </p:nvSpPr>
        <p:spPr>
          <a:xfrm>
            <a:off x="381000" y="990600"/>
            <a:ext cx="4038600" cy="4530725"/>
          </a:xfrm>
        </p:spPr>
        <p:txBody>
          <a:bodyPr rtlCol="0">
            <a:normAutofit fontScale="85000" lnSpcReduction="20000"/>
          </a:bodyPr>
          <a:lstStyle/>
          <a:p>
            <a:pPr marL="274320" indent="-274320" eaLnBrk="1" fontAlgn="auto" hangingPunct="1">
              <a:spcAft>
                <a:spcPts val="0"/>
              </a:spcAft>
              <a:buFont typeface="Arial" pitchFamily="34" charset="0"/>
              <a:buNone/>
              <a:defRPr/>
            </a:pPr>
            <a:r>
              <a:rPr lang="en-US" sz="2800"/>
              <a:t>Adv:</a:t>
            </a:r>
          </a:p>
          <a:p>
            <a:pPr marL="274320" indent="-274320" eaLnBrk="1" fontAlgn="auto" hangingPunct="1">
              <a:spcAft>
                <a:spcPts val="0"/>
              </a:spcAft>
              <a:buFont typeface="Arial" pitchFamily="34" charset="0"/>
              <a:buChar char="•"/>
              <a:defRPr/>
            </a:pPr>
            <a:r>
              <a:rPr lang="en-US" sz="2800"/>
              <a:t>Metal braid or sheathing that reduces interference</a:t>
            </a:r>
          </a:p>
          <a:p>
            <a:pPr marL="274320" indent="-274320" eaLnBrk="1" fontAlgn="auto" hangingPunct="1">
              <a:spcAft>
                <a:spcPts val="0"/>
              </a:spcAft>
              <a:buFont typeface="Arial" pitchFamily="34" charset="0"/>
              <a:buChar char="•"/>
              <a:defRPr/>
            </a:pPr>
            <a:r>
              <a:rPr lang="en-US" sz="2800"/>
              <a:t>Easy to install</a:t>
            </a:r>
          </a:p>
          <a:p>
            <a:pPr marL="274320" indent="-274320" eaLnBrk="1" fontAlgn="auto" hangingPunct="1">
              <a:spcAft>
                <a:spcPts val="0"/>
              </a:spcAft>
              <a:buFont typeface="Arial" pitchFamily="34" charset="0"/>
              <a:buChar char="•"/>
              <a:defRPr/>
            </a:pPr>
            <a:r>
              <a:rPr lang="en-US" sz="2800"/>
              <a:t>Eliminates crosstalk</a:t>
            </a:r>
          </a:p>
          <a:p>
            <a:pPr marL="274320" indent="-274320" eaLnBrk="1" fontAlgn="auto" hangingPunct="1">
              <a:spcAft>
                <a:spcPts val="0"/>
              </a:spcAft>
              <a:buFont typeface="Arial" pitchFamily="34" charset="0"/>
              <a:buChar char="•"/>
              <a:defRPr/>
            </a:pPr>
            <a:r>
              <a:rPr lang="en-US" sz="2800"/>
              <a:t>Higher capacity than unshielded twisted pair</a:t>
            </a:r>
          </a:p>
          <a:p>
            <a:pPr marL="274320" indent="-274320" eaLnBrk="1" fontAlgn="auto" hangingPunct="1">
              <a:spcAft>
                <a:spcPts val="0"/>
              </a:spcAft>
              <a:buFont typeface="Arial" pitchFamily="34" charset="0"/>
              <a:buChar char="•"/>
              <a:defRPr/>
            </a:pPr>
            <a:r>
              <a:rPr lang="en-US" sz="2900"/>
              <a:t>Increases the signaling rate</a:t>
            </a:r>
          </a:p>
          <a:p>
            <a:pPr marL="274320" indent="-274320" eaLnBrk="1" fontAlgn="auto" hangingPunct="1">
              <a:spcAft>
                <a:spcPts val="0"/>
              </a:spcAft>
              <a:buFont typeface="Arial" pitchFamily="34" charset="0"/>
              <a:buNone/>
              <a:defRPr/>
            </a:pPr>
            <a:endParaRPr lang="en-US" sz="2800"/>
          </a:p>
          <a:p>
            <a:pPr marL="274320" indent="-274320" eaLnBrk="1" fontAlgn="auto" hangingPunct="1">
              <a:spcAft>
                <a:spcPts val="0"/>
              </a:spcAft>
              <a:buFont typeface="Arial" pitchFamily="34" charset="0"/>
              <a:buNone/>
              <a:defRPr/>
            </a:pPr>
            <a:r>
              <a:rPr lang="en-US" sz="2800"/>
              <a:t>Disadv:</a:t>
            </a:r>
          </a:p>
          <a:p>
            <a:pPr marL="274320" indent="-274320" eaLnBrk="1" fontAlgn="auto" hangingPunct="1">
              <a:spcAft>
                <a:spcPts val="0"/>
              </a:spcAft>
              <a:buFont typeface="Arial" pitchFamily="34" charset="0"/>
              <a:buChar char="•"/>
              <a:defRPr/>
            </a:pPr>
            <a:r>
              <a:rPr lang="en-US" sz="2800"/>
              <a:t>More expensive</a:t>
            </a:r>
          </a:p>
          <a:p>
            <a:pPr marL="274320" indent="-274320" eaLnBrk="1" fontAlgn="auto" hangingPunct="1">
              <a:spcAft>
                <a:spcPts val="0"/>
              </a:spcAft>
              <a:buFont typeface="Arial" pitchFamily="34" charset="0"/>
              <a:buChar char="•"/>
              <a:defRPr/>
            </a:pPr>
            <a:r>
              <a:rPr lang="en-US" sz="2800"/>
              <a:t>Harder to handle </a:t>
            </a:r>
          </a:p>
          <a:p>
            <a:pPr marL="274320" indent="-274320" eaLnBrk="1" fontAlgn="auto" hangingPunct="1">
              <a:spcAft>
                <a:spcPts val="0"/>
              </a:spcAft>
              <a:buFont typeface="Arial" pitchFamily="34" charset="0"/>
              <a:buNone/>
              <a:defRPr/>
            </a:pPr>
            <a:r>
              <a:rPr lang="en-US" sz="2800"/>
              <a:t>        (thick, heavy)</a:t>
            </a:r>
          </a:p>
          <a:p>
            <a:pPr marL="274320" indent="-274320" eaLnBrk="1" fontAlgn="auto" hangingPunct="1">
              <a:spcAft>
                <a:spcPts val="0"/>
              </a:spcAft>
              <a:buFont typeface="Arial" pitchFamily="34" charset="0"/>
              <a:buChar char="•"/>
              <a:defRPr/>
            </a:pPr>
            <a:r>
              <a:rPr lang="en-US" sz="2900"/>
              <a:t>Difficult to manufacture</a:t>
            </a:r>
          </a:p>
        </p:txBody>
      </p:sp>
      <p:pic>
        <p:nvPicPr>
          <p:cNvPr id="22532"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141337" y="990600"/>
            <a:ext cx="4826000" cy="3744913"/>
          </a:xfrm>
          <a:noFill/>
        </p:spPr>
      </p:pic>
    </p:spTree>
    <p:extLst>
      <p:ext uri="{BB962C8B-B14F-4D97-AF65-F5344CB8AC3E}">
        <p14:creationId xmlns:p14="http://schemas.microsoft.com/office/powerpoint/2010/main" val="3815025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fontAlgn="auto" hangingPunct="1">
              <a:spcAft>
                <a:spcPts val="0"/>
              </a:spcAft>
              <a:defRPr/>
            </a:pPr>
            <a:r>
              <a:rPr lang="en-US"/>
              <a:t>Coaxial cable</a:t>
            </a:r>
          </a:p>
        </p:txBody>
      </p:sp>
      <p:sp>
        <p:nvSpPr>
          <p:cNvPr id="29699" name="Rectangle 3"/>
          <p:cNvSpPr>
            <a:spLocks noGrp="1" noChangeArrowheads="1"/>
          </p:cNvSpPr>
          <p:nvPr>
            <p:ph type="body" sz="half" idx="1"/>
          </p:nvPr>
        </p:nvSpPr>
        <p:spPr>
          <a:xfrm>
            <a:off x="479946" y="1143000"/>
            <a:ext cx="7825854" cy="4001095"/>
          </a:xfrm>
        </p:spPr>
        <p:txBody>
          <a:bodyPr/>
          <a:lstStyle/>
          <a:p>
            <a:pPr marL="342900" indent="-342900" algn="just">
              <a:buFont typeface="Arial" panose="020B0604020202020204" pitchFamily="34" charset="0"/>
              <a:buChar char="•"/>
            </a:pPr>
            <a:r>
              <a:rPr lang="en-US">
                <a:latin typeface="STIXMathJax_Main-Regular"/>
              </a:rPr>
              <a:t>Coaxial cable (or </a:t>
            </a:r>
            <a:r>
              <a:rPr lang="en-US" i="1">
                <a:latin typeface="STIXMathJax_Main-Italic"/>
              </a:rPr>
              <a:t>coax</a:t>
            </a:r>
            <a:r>
              <a:rPr lang="en-US">
                <a:latin typeface="STIXMathJax_Main-Regular"/>
              </a:rPr>
              <a:t>) carries signals of higher frequency ranges than those in twisted-pair cable, in part because the two media are constructed quite differently.</a:t>
            </a:r>
            <a:endParaRPr lang="en-US"/>
          </a:p>
          <a:p>
            <a:pPr marL="342900" indent="-342900" algn="just" eaLnBrk="1" hangingPunct="1">
              <a:buFont typeface="Arial" panose="020B0604020202020204" pitchFamily="34" charset="0"/>
              <a:buChar char="•"/>
            </a:pPr>
            <a:r>
              <a:rPr lang="en-US"/>
              <a:t>Inner conductor is a solid wire outer conductor serves both as a shield against noise and a second conductor.</a:t>
            </a:r>
          </a:p>
          <a:p>
            <a:pPr marL="342900" indent="-342900" algn="just">
              <a:buFont typeface="Arial" panose="020B0604020202020204" pitchFamily="34" charset="0"/>
              <a:buChar char="•"/>
            </a:pPr>
            <a:r>
              <a:rPr lang="en-US">
                <a:latin typeface="STIXMathJax_Main-Regular"/>
              </a:rPr>
              <a:t>Coaxial cable was widely used in analog telephone networks where a single coaxial network could carry 10,000 voice signals. Later it was used in digital telephone networks where a single coaxial cable could carry digital data up to 600 Mbps. </a:t>
            </a:r>
          </a:p>
          <a:p>
            <a:pPr marL="342900" indent="-342900" algn="just">
              <a:buFont typeface="Arial" panose="020B0604020202020204" pitchFamily="34" charset="0"/>
              <a:buChar char="•"/>
            </a:pPr>
            <a:r>
              <a:rPr lang="en-US">
                <a:latin typeface="STIXMathJax_Main-Regular"/>
              </a:rPr>
              <a:t>However, coaxial cable in telephone networks has largely been replaced today with fiber-optic cable</a:t>
            </a:r>
            <a:r>
              <a:rPr lang="en-US" sz="1800">
                <a:latin typeface="STIXMathJax_Main-Regular"/>
              </a:rPr>
              <a:t>.</a:t>
            </a:r>
            <a:endParaRPr lang="en-US" sz="1800"/>
          </a:p>
          <a:p>
            <a:pPr eaLnBrk="1" hangingPunct="1"/>
            <a:endParaRPr lang="en-US" sz="1800"/>
          </a:p>
        </p:txBody>
      </p:sp>
    </p:spTree>
    <p:extLst>
      <p:ext uri="{BB962C8B-B14F-4D97-AF65-F5344CB8AC3E}">
        <p14:creationId xmlns:p14="http://schemas.microsoft.com/office/powerpoint/2010/main" val="1827729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0" y="2286000"/>
            <a:ext cx="800100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3"/>
          <p:cNvSpPr>
            <a:spLocks noChangeArrowheads="1"/>
          </p:cNvSpPr>
          <p:nvPr/>
        </p:nvSpPr>
        <p:spPr bwMode="auto">
          <a:xfrm>
            <a:off x="685800" y="5638800"/>
            <a:ext cx="815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atin typeface="Times New Roman" panose="02020603050405020304" pitchFamily="18" charset="0"/>
            </a:endParaRPr>
          </a:p>
        </p:txBody>
      </p:sp>
      <p:sp>
        <p:nvSpPr>
          <p:cNvPr id="21508" name="Rectangle 5"/>
          <p:cNvSpPr>
            <a:spLocks noGrp="1" noChangeArrowheads="1"/>
          </p:cNvSpPr>
          <p:nvPr>
            <p:ph type="title"/>
          </p:nvPr>
        </p:nvSpPr>
        <p:spPr>
          <a:xfrm>
            <a:off x="381000" y="228600"/>
            <a:ext cx="8229600" cy="1139825"/>
          </a:xfrm>
        </p:spPr>
        <p:txBody>
          <a:bodyPr/>
          <a:lstStyle/>
          <a:p>
            <a:pPr eaLnBrk="1" fontAlgn="auto" hangingPunct="1">
              <a:spcAft>
                <a:spcPts val="0"/>
              </a:spcAft>
              <a:defRPr/>
            </a:pPr>
            <a:r>
              <a:rPr lang="en-US" sz="3800"/>
              <a:t>Guided Media – Coaxial Cable</a:t>
            </a:r>
          </a:p>
        </p:txBody>
      </p:sp>
      <p:sp>
        <p:nvSpPr>
          <p:cNvPr id="26629" name="Rectangle 4"/>
          <p:cNvSpPr>
            <a:spLocks noGrp="1" noChangeArrowheads="1"/>
          </p:cNvSpPr>
          <p:nvPr>
            <p:ph type="body" sz="half" idx="1"/>
          </p:nvPr>
        </p:nvSpPr>
        <p:spPr>
          <a:xfrm>
            <a:off x="2857500" y="1428750"/>
            <a:ext cx="3657600" cy="609600"/>
          </a:xfrm>
        </p:spPr>
        <p:txBody>
          <a:bodyPr/>
          <a:lstStyle/>
          <a:p>
            <a:pPr marL="533400" indent="-533400" eaLnBrk="1" hangingPunct="1">
              <a:lnSpc>
                <a:spcPct val="80000"/>
              </a:lnSpc>
              <a:buFont typeface="Wingdings" panose="05000000000000000000" pitchFamily="2" charset="2"/>
              <a:buNone/>
            </a:pPr>
            <a:r>
              <a:rPr lang="en-US" sz="2800"/>
              <a:t>Coaxial Cable</a:t>
            </a:r>
          </a:p>
        </p:txBody>
      </p:sp>
    </p:spTree>
    <p:extLst>
      <p:ext uri="{BB962C8B-B14F-4D97-AF65-F5344CB8AC3E}">
        <p14:creationId xmlns:p14="http://schemas.microsoft.com/office/powerpoint/2010/main" val="367798044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fontAlgn="auto" hangingPunct="1">
              <a:spcAft>
                <a:spcPts val="0"/>
              </a:spcAft>
              <a:defRPr/>
            </a:pPr>
            <a:r>
              <a:rPr kumimoji="1" lang="en-US"/>
              <a:t>Coaxial Cable</a:t>
            </a:r>
          </a:p>
        </p:txBody>
      </p:sp>
      <p:pic>
        <p:nvPicPr>
          <p:cNvPr id="28675" name="Picture 3"/>
          <p:cNvPicPr>
            <a:picLocks noChangeAspect="1" noChangeArrowheads="1"/>
          </p:cNvPicPr>
          <p:nvPr/>
        </p:nvPicPr>
        <p:blipFill>
          <a:blip r:embed="rId3">
            <a:extLst>
              <a:ext uri="{28A0092B-C50C-407E-A947-70E740481C1C}">
                <a14:useLocalDpi xmlns:a14="http://schemas.microsoft.com/office/drawing/2010/main" val="0"/>
              </a:ext>
            </a:extLst>
          </a:blip>
          <a:srcRect t="20795" b="42955"/>
          <a:stretch>
            <a:fillRect/>
          </a:stretch>
        </p:blipFill>
        <p:spPr bwMode="auto">
          <a:xfrm>
            <a:off x="609600" y="533400"/>
            <a:ext cx="7772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4" descr="coaxia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1563" y="3591911"/>
            <a:ext cx="7572375" cy="2046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43622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fontAlgn="auto" hangingPunct="1">
              <a:spcAft>
                <a:spcPts val="0"/>
              </a:spcAft>
              <a:defRPr/>
            </a:pPr>
            <a:r>
              <a:rPr lang="en-US" sz="3800"/>
              <a:t>Guided Media – Coaxial Cable</a:t>
            </a:r>
          </a:p>
        </p:txBody>
      </p:sp>
      <p:sp>
        <p:nvSpPr>
          <p:cNvPr id="33795" name="Rectangle 3"/>
          <p:cNvSpPr>
            <a:spLocks noGrp="1" noChangeArrowheads="1"/>
          </p:cNvSpPr>
          <p:nvPr>
            <p:ph type="body" sz="half" idx="1"/>
          </p:nvPr>
        </p:nvSpPr>
        <p:spPr>
          <a:xfrm>
            <a:off x="685800" y="1600200"/>
            <a:ext cx="6858000" cy="4114800"/>
          </a:xfrm>
        </p:spPr>
        <p:txBody>
          <a:bodyPr/>
          <a:lstStyle/>
          <a:p>
            <a:pPr marL="533400" indent="-533400" eaLnBrk="1" hangingPunct="1">
              <a:lnSpc>
                <a:spcPct val="200000"/>
              </a:lnSpc>
              <a:buFont typeface="Wingdings" panose="05000000000000000000" pitchFamily="2" charset="2"/>
              <a:buChar char="q"/>
            </a:pPr>
            <a:r>
              <a:rPr lang="en-US" sz="2800">
                <a:latin typeface="Arial" panose="020B0604020202020204" pitchFamily="34" charset="0"/>
              </a:rPr>
              <a:t>Applications:</a:t>
            </a:r>
          </a:p>
          <a:p>
            <a:pPr marL="914400" lvl="1" indent="-457200" eaLnBrk="1" hangingPunct="1">
              <a:lnSpc>
                <a:spcPct val="200000"/>
              </a:lnSpc>
              <a:buFont typeface="Wingdings" panose="05000000000000000000" pitchFamily="2" charset="2"/>
              <a:buChar char="q"/>
            </a:pPr>
            <a:r>
              <a:rPr lang="en-US">
                <a:latin typeface="Arial" panose="020B0604020202020204" pitchFamily="34" charset="0"/>
              </a:rPr>
              <a:t>Analog telephone networks</a:t>
            </a:r>
          </a:p>
          <a:p>
            <a:pPr marL="914400" lvl="1" indent="-457200" eaLnBrk="1" hangingPunct="1">
              <a:lnSpc>
                <a:spcPct val="200000"/>
              </a:lnSpc>
              <a:buFont typeface="Wingdings" panose="05000000000000000000" pitchFamily="2" charset="2"/>
              <a:buChar char="q"/>
            </a:pPr>
            <a:r>
              <a:rPr lang="en-US">
                <a:latin typeface="Arial" panose="020B0604020202020204" pitchFamily="34" charset="0"/>
              </a:rPr>
              <a:t>Cable TV networks</a:t>
            </a:r>
          </a:p>
          <a:p>
            <a:pPr marL="914400" lvl="1" indent="-457200" eaLnBrk="1" hangingPunct="1">
              <a:lnSpc>
                <a:spcPct val="200000"/>
              </a:lnSpc>
              <a:buFont typeface="Wingdings" panose="05000000000000000000" pitchFamily="2" charset="2"/>
              <a:buChar char="q"/>
            </a:pPr>
            <a:r>
              <a:rPr lang="en-US">
                <a:latin typeface="Arial" panose="020B0604020202020204" pitchFamily="34" charset="0"/>
              </a:rPr>
              <a:t>Traditional Ethernet LAN – 10Base2, 10Base5</a:t>
            </a:r>
          </a:p>
        </p:txBody>
      </p:sp>
    </p:spTree>
    <p:extLst>
      <p:ext uri="{BB962C8B-B14F-4D97-AF65-F5344CB8AC3E}">
        <p14:creationId xmlns:p14="http://schemas.microsoft.com/office/powerpoint/2010/main" val="178456406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4"/>
          <p:cNvSpPr>
            <a:spLocks noGrp="1"/>
          </p:cNvSpPr>
          <p:nvPr>
            <p:ph type="title"/>
          </p:nvPr>
        </p:nvSpPr>
        <p:spPr>
          <a:xfrm>
            <a:off x="1049179" y="685800"/>
            <a:ext cx="3522821" cy="430887"/>
          </a:xfrm>
        </p:spPr>
        <p:txBody>
          <a:bodyPr/>
          <a:lstStyle/>
          <a:p>
            <a:pPr eaLnBrk="1" fontAlgn="auto" hangingPunct="1">
              <a:spcAft>
                <a:spcPts val="0"/>
              </a:spcAft>
              <a:defRPr/>
            </a:pPr>
            <a:r>
              <a:rPr lang="en-US" sz="2800" b="1">
                <a:latin typeface="Times New Roman" panose="02020603050405020304" pitchFamily="18" charset="0"/>
                <a:cs typeface="Times New Roman" panose="02020603050405020304" pitchFamily="18" charset="0"/>
              </a:rPr>
              <a:t>Optical  Fiber Cable</a:t>
            </a:r>
          </a:p>
        </p:txBody>
      </p:sp>
      <p:sp>
        <p:nvSpPr>
          <p:cNvPr id="7" name="Rectangle 3"/>
          <p:cNvSpPr txBox="1">
            <a:spLocks noChangeArrowheads="1"/>
          </p:cNvSpPr>
          <p:nvPr/>
        </p:nvSpPr>
        <p:spPr>
          <a:xfrm>
            <a:off x="685800" y="1676400"/>
            <a:ext cx="7772400" cy="4495800"/>
          </a:xfrm>
          <a:prstGeom prst="rect">
            <a:avLst/>
          </a:prstGeom>
        </p:spPr>
        <p:txBody>
          <a:bodyPr>
            <a:normAutofit/>
          </a:bodyPr>
          <a:lstStyle/>
          <a:p>
            <a:pPr marL="342900" indent="-342900" eaLnBrk="1" fontAlgn="auto" hangingPunct="1">
              <a:spcBef>
                <a:spcPct val="20000"/>
              </a:spcBef>
              <a:spcAft>
                <a:spcPts val="0"/>
              </a:spcAft>
              <a:buFont typeface="Arial" pitchFamily="34" charset="0"/>
              <a:buChar char="•"/>
              <a:defRPr/>
            </a:pPr>
            <a:r>
              <a:rPr lang="en-US" sz="2400">
                <a:latin typeface="+mn-lt"/>
              </a:rPr>
              <a:t>Higher bandwidth</a:t>
            </a:r>
          </a:p>
          <a:p>
            <a:pPr marL="342900" indent="-342900" eaLnBrk="1" fontAlgn="auto" hangingPunct="1">
              <a:spcBef>
                <a:spcPct val="20000"/>
              </a:spcBef>
              <a:spcAft>
                <a:spcPts val="0"/>
              </a:spcAft>
              <a:buFont typeface="Arial" pitchFamily="34" charset="0"/>
              <a:buChar char="•"/>
              <a:defRPr/>
            </a:pPr>
            <a:r>
              <a:rPr lang="en-US" sz="2400">
                <a:latin typeface="+mn-lt"/>
              </a:rPr>
              <a:t>Less expensive</a:t>
            </a:r>
          </a:p>
          <a:p>
            <a:pPr marL="342900" indent="-342900" eaLnBrk="1" fontAlgn="auto" hangingPunct="1">
              <a:spcBef>
                <a:spcPct val="20000"/>
              </a:spcBef>
              <a:spcAft>
                <a:spcPts val="0"/>
              </a:spcAft>
              <a:buFont typeface="Arial" pitchFamily="34" charset="0"/>
              <a:buChar char="•"/>
              <a:defRPr/>
            </a:pPr>
            <a:r>
              <a:rPr lang="en-US" sz="2400">
                <a:latin typeface="+mn-lt"/>
              </a:rPr>
              <a:t>Immune to electrical noise</a:t>
            </a:r>
          </a:p>
          <a:p>
            <a:pPr marL="342900" indent="-342900" eaLnBrk="1" fontAlgn="auto" hangingPunct="1">
              <a:spcBef>
                <a:spcPct val="20000"/>
              </a:spcBef>
              <a:spcAft>
                <a:spcPts val="0"/>
              </a:spcAft>
              <a:buFont typeface="Arial" pitchFamily="34" charset="0"/>
              <a:buChar char="•"/>
              <a:defRPr/>
            </a:pPr>
            <a:r>
              <a:rPr lang="en-US" sz="2400">
                <a:latin typeface="+mn-lt"/>
              </a:rPr>
              <a:t>More secure – easy to notice an attempt to intercept signal</a:t>
            </a:r>
          </a:p>
          <a:p>
            <a:pPr marL="342900" indent="-342900" eaLnBrk="1" fontAlgn="auto" hangingPunct="1">
              <a:spcBef>
                <a:spcPct val="20000"/>
              </a:spcBef>
              <a:spcAft>
                <a:spcPts val="0"/>
              </a:spcAft>
              <a:buFont typeface="Arial" pitchFamily="34" charset="0"/>
              <a:buChar char="•"/>
              <a:defRPr/>
            </a:pPr>
            <a:r>
              <a:rPr lang="en-US" sz="2400">
                <a:latin typeface="+mn-lt"/>
              </a:rPr>
              <a:t>Physical characterizes</a:t>
            </a:r>
          </a:p>
          <a:p>
            <a:pPr marL="742950" lvl="1" indent="-285750" eaLnBrk="1" fontAlgn="auto" hangingPunct="1">
              <a:spcBef>
                <a:spcPct val="20000"/>
              </a:spcBef>
              <a:spcAft>
                <a:spcPts val="0"/>
              </a:spcAft>
              <a:buFont typeface="Arial" pitchFamily="34" charset="0"/>
              <a:buChar char="–"/>
              <a:defRPr/>
            </a:pPr>
            <a:r>
              <a:rPr lang="en-US" sz="2000">
                <a:latin typeface="+mn-lt"/>
              </a:rPr>
              <a:t>Glass or plastic fibers</a:t>
            </a:r>
          </a:p>
          <a:p>
            <a:pPr marL="742950" lvl="1" indent="-285750" eaLnBrk="1" fontAlgn="auto" hangingPunct="1">
              <a:spcBef>
                <a:spcPct val="20000"/>
              </a:spcBef>
              <a:spcAft>
                <a:spcPts val="0"/>
              </a:spcAft>
              <a:buFont typeface="Arial" pitchFamily="34" charset="0"/>
              <a:buChar char="–"/>
              <a:defRPr/>
            </a:pPr>
            <a:r>
              <a:rPr lang="en-US" sz="2000">
                <a:latin typeface="+mn-lt"/>
              </a:rPr>
              <a:t>Very thin (thinner than human hair)</a:t>
            </a:r>
          </a:p>
          <a:p>
            <a:pPr marL="742950" lvl="1" indent="-285750" eaLnBrk="1" fontAlgn="auto" hangingPunct="1">
              <a:spcBef>
                <a:spcPct val="20000"/>
              </a:spcBef>
              <a:spcAft>
                <a:spcPts val="0"/>
              </a:spcAft>
              <a:buFont typeface="Arial" pitchFamily="34" charset="0"/>
              <a:buChar char="–"/>
              <a:defRPr/>
            </a:pPr>
            <a:r>
              <a:rPr lang="en-US" sz="2000">
                <a:latin typeface="+mn-lt"/>
              </a:rPr>
              <a:t>Material is light</a:t>
            </a:r>
          </a:p>
        </p:txBody>
      </p:sp>
      <p:pic>
        <p:nvPicPr>
          <p:cNvPr id="8" name="Picture 4" descr="C:\Aharon\Pren Hall\ch07\7713d07_07.jpeg"/>
          <p:cNvPicPr>
            <a:picLocks noChangeAspect="1" noChangeArrowheads="1"/>
          </p:cNvPicPr>
          <p:nvPr/>
        </p:nvPicPr>
        <p:blipFill>
          <a:blip r:embed="rId2">
            <a:extLst>
              <a:ext uri="{28A0092B-C50C-407E-A947-70E740481C1C}">
                <a14:useLocalDpi xmlns:a14="http://schemas.microsoft.com/office/drawing/2010/main" val="0"/>
              </a:ext>
            </a:extLst>
          </a:blip>
          <a:srcRect t="65454"/>
          <a:stretch>
            <a:fillRect/>
          </a:stretch>
        </p:blipFill>
        <p:spPr bwMode="auto">
          <a:xfrm>
            <a:off x="5410200" y="1219200"/>
            <a:ext cx="2949575"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descr="fib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4987" y="3733800"/>
            <a:ext cx="2147887" cy="252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54857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28737" y="1125141"/>
            <a:ext cx="6215063" cy="461665"/>
          </a:xfrm>
          <a:prstGeom prst="rect">
            <a:avLst/>
          </a:prstGeom>
          <a:noFill/>
        </p:spPr>
        <p:txBody>
          <a:bodyPr>
            <a:spAutoFit/>
          </a:bodyPr>
          <a:lstStyle/>
          <a:p>
            <a:pPr algn="ctr">
              <a:defRPr/>
            </a:pPr>
            <a:r>
              <a:rPr lang="en-US" sz="2400">
                <a:latin typeface="+mj-lt"/>
              </a:rPr>
              <a:t>Fiber Construction</a:t>
            </a:r>
          </a:p>
        </p:txBody>
      </p:sp>
      <p:sp>
        <p:nvSpPr>
          <p:cNvPr id="2" name="Slide Number Placeholder 1"/>
          <p:cNvSpPr>
            <a:spLocks noGrp="1"/>
          </p:cNvSpPr>
          <p:nvPr>
            <p:ph type="sldNum" sz="quarter" idx="4294967295"/>
          </p:nvPr>
        </p:nvSpPr>
        <p:spPr>
          <a:xfrm>
            <a:off x="6457950" y="5624513"/>
            <a:ext cx="2057400" cy="273844"/>
          </a:xfrm>
          <a:prstGeom prst="rect">
            <a:avLst/>
          </a:prstGeom>
        </p:spPr>
        <p:txBody>
          <a:bodyPr/>
          <a:lstStyle/>
          <a:p>
            <a:fld id="{0BC197E7-8DE8-453A-948E-6D7973026876}" type="slidenum">
              <a:rPr lang="en-US" sz="1050"/>
              <a:pPr/>
              <a:t>18</a:t>
            </a:fld>
            <a:endParaRPr lang="en-US" sz="1050"/>
          </a:p>
        </p:txBody>
      </p:sp>
      <p:pic>
        <p:nvPicPr>
          <p:cNvPr id="1026" name="Picture 2" descr="Introduction to Fiber Optics">
            <a:extLst>
              <a:ext uri="{FF2B5EF4-FFF2-40B4-BE49-F238E27FC236}">
                <a16:creationId xmlns:a16="http://schemas.microsoft.com/office/drawing/2014/main" id="{588F627A-C068-5E23-FE6E-20F9FD68C9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860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1888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a:xfrm>
            <a:off x="775989" y="311010"/>
            <a:ext cx="6172200" cy="553998"/>
          </a:xfrm>
        </p:spPr>
        <p:txBody>
          <a:bodyPr/>
          <a:lstStyle/>
          <a:p>
            <a:r>
              <a:rPr lang="en-US">
                <a:effectLst/>
              </a:rPr>
              <a:t>Optical fiber</a:t>
            </a:r>
          </a:p>
        </p:txBody>
      </p:sp>
      <p:sp>
        <p:nvSpPr>
          <p:cNvPr id="253955" name="Rectangle 3"/>
          <p:cNvSpPr>
            <a:spLocks noGrp="1" noChangeArrowheads="1"/>
          </p:cNvSpPr>
          <p:nvPr>
            <p:ph type="body" sz="half" idx="1"/>
          </p:nvPr>
        </p:nvSpPr>
        <p:spPr>
          <a:xfrm>
            <a:off x="304800" y="1657351"/>
            <a:ext cx="3924300" cy="3340894"/>
          </a:xfrm>
        </p:spPr>
        <p:txBody>
          <a:bodyPr>
            <a:normAutofit/>
          </a:bodyPr>
          <a:lstStyle/>
          <a:p>
            <a:pPr marL="342900" indent="-342900">
              <a:buFont typeface="Arial" panose="020B0604020202020204" pitchFamily="34" charset="0"/>
              <a:buChar char="•"/>
            </a:pPr>
            <a:r>
              <a:rPr lang="en-US">
                <a:effectLst/>
              </a:rPr>
              <a:t>Uses reflection to guide light through a channel</a:t>
            </a:r>
            <a:br>
              <a:rPr lang="en-US">
                <a:effectLst/>
              </a:rPr>
            </a:br>
            <a:endParaRPr lang="en-US">
              <a:effectLst/>
            </a:endParaRPr>
          </a:p>
          <a:p>
            <a:pPr marL="342900" indent="-342900">
              <a:buFont typeface="Arial" panose="020B0604020202020204" pitchFamily="34" charset="0"/>
              <a:buChar char="•"/>
            </a:pPr>
            <a:r>
              <a:rPr lang="en-US">
                <a:effectLst/>
              </a:rPr>
              <a:t>Core is of glass or plastic surrounded by Cladding</a:t>
            </a:r>
            <a:br>
              <a:rPr lang="en-US">
                <a:effectLst/>
              </a:rPr>
            </a:br>
            <a:endParaRPr lang="en-US">
              <a:effectLst/>
            </a:endParaRPr>
          </a:p>
          <a:p>
            <a:pPr marL="342900" indent="-342900">
              <a:buFont typeface="Arial" panose="020B0604020202020204" pitchFamily="34" charset="0"/>
              <a:buChar char="•"/>
            </a:pPr>
            <a:r>
              <a:rPr lang="en-US">
                <a:effectLst/>
              </a:rPr>
              <a:t>Cladding is of less dense glass or plastic</a:t>
            </a:r>
          </a:p>
        </p:txBody>
      </p:sp>
      <p:sp>
        <p:nvSpPr>
          <p:cNvPr id="7" name="Rectangle 6"/>
          <p:cNvSpPr/>
          <p:nvPr/>
        </p:nvSpPr>
        <p:spPr>
          <a:xfrm>
            <a:off x="1485900" y="4629151"/>
            <a:ext cx="6667500" cy="715581"/>
          </a:xfrm>
          <a:prstGeom prst="rect">
            <a:avLst/>
          </a:prstGeom>
        </p:spPr>
        <p:txBody>
          <a:bodyPr wrap="square">
            <a:spAutoFit/>
          </a:bodyPr>
          <a:lstStyle/>
          <a:p>
            <a:r>
              <a:rPr lang="en-US" sz="1350">
                <a:latin typeface="Arial Black" pitchFamily="34" charset="0"/>
              </a:rPr>
              <a:t>An optical fiber cable has a cylindrical shape and consists of three concentric sections: the core, the cladding, and the jacket(outer part of the cable). </a:t>
            </a:r>
          </a:p>
        </p:txBody>
      </p:sp>
      <p:pic>
        <p:nvPicPr>
          <p:cNvPr id="9" name="Picture 6"/>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4114800" y="2628900"/>
            <a:ext cx="37719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172200" y="2180451"/>
            <a:ext cx="754380" cy="300082"/>
          </a:xfrm>
          <a:prstGeom prst="rect">
            <a:avLst/>
          </a:prstGeom>
          <a:noFill/>
        </p:spPr>
        <p:txBody>
          <a:bodyPr wrap="square" rtlCol="0">
            <a:spAutoFit/>
          </a:bodyPr>
          <a:lstStyle/>
          <a:p>
            <a:r>
              <a:rPr lang="en-US" sz="1350"/>
              <a:t>Jacket</a:t>
            </a:r>
          </a:p>
        </p:txBody>
      </p:sp>
      <p:sp>
        <p:nvSpPr>
          <p:cNvPr id="4" name="Slide Number Placeholder 3"/>
          <p:cNvSpPr>
            <a:spLocks noGrp="1"/>
          </p:cNvSpPr>
          <p:nvPr>
            <p:ph type="sldNum" sz="quarter" idx="12"/>
          </p:nvPr>
        </p:nvSpPr>
        <p:spPr>
          <a:xfrm>
            <a:off x="7236620" y="5624514"/>
            <a:ext cx="421481" cy="161583"/>
          </a:xfrm>
        </p:spPr>
        <p:txBody>
          <a:bodyPr/>
          <a:lstStyle/>
          <a:p>
            <a:pPr>
              <a:defRPr/>
            </a:pPr>
            <a:fld id="{43E5314F-10AD-433B-AB87-74B9C5E969C4}" type="slidenum">
              <a:rPr lang="en-US" altLang="en-US"/>
              <a:pPr>
                <a:defRPr/>
              </a:pPr>
              <a:t>19</a:t>
            </a:fld>
            <a:endParaRPr lang="en-US" altLang="en-US"/>
          </a:p>
        </p:txBody>
      </p:sp>
    </p:spTree>
    <p:extLst>
      <p:ext uri="{BB962C8B-B14F-4D97-AF65-F5344CB8AC3E}">
        <p14:creationId xmlns:p14="http://schemas.microsoft.com/office/powerpoint/2010/main" val="472571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normAutofit/>
          </a:bodyPr>
          <a:lstStyle/>
          <a:p>
            <a:pPr eaLnBrk="1" fontAlgn="auto" hangingPunct="1">
              <a:spcAft>
                <a:spcPts val="0"/>
              </a:spcAft>
              <a:defRPr/>
            </a:pPr>
            <a:r>
              <a:rPr lang="en-US" sz="3800"/>
              <a:t>  Guided Media –Optical Fiber Cable</a:t>
            </a:r>
          </a:p>
        </p:txBody>
      </p:sp>
      <p:sp>
        <p:nvSpPr>
          <p:cNvPr id="38915" name="Rectangle 3"/>
          <p:cNvSpPr>
            <a:spLocks noGrp="1" noChangeArrowheads="1"/>
          </p:cNvSpPr>
          <p:nvPr>
            <p:ph type="body" sz="half" idx="1"/>
          </p:nvPr>
        </p:nvSpPr>
        <p:spPr>
          <a:xfrm>
            <a:off x="685800" y="1600200"/>
            <a:ext cx="6858000" cy="4114800"/>
          </a:xfrm>
        </p:spPr>
        <p:txBody>
          <a:bodyPr/>
          <a:lstStyle/>
          <a:p>
            <a:pPr marL="533400" indent="-533400" eaLnBrk="1" hangingPunct="1">
              <a:lnSpc>
                <a:spcPct val="150000"/>
              </a:lnSpc>
              <a:buFont typeface="Wingdings" panose="05000000000000000000" pitchFamily="2" charset="2"/>
              <a:buChar char="q"/>
            </a:pPr>
            <a:r>
              <a:rPr lang="en-US" sz="2800">
                <a:latin typeface="Arial" panose="020B0604020202020204" pitchFamily="34" charset="0"/>
              </a:rPr>
              <a:t>Applications:</a:t>
            </a:r>
          </a:p>
          <a:p>
            <a:pPr marL="914400" lvl="1" indent="-457200" eaLnBrk="1" hangingPunct="1">
              <a:lnSpc>
                <a:spcPct val="150000"/>
              </a:lnSpc>
              <a:buFont typeface="Wingdings" panose="05000000000000000000" pitchFamily="2" charset="2"/>
              <a:buChar char="q"/>
            </a:pPr>
            <a:r>
              <a:rPr lang="en-US">
                <a:latin typeface="Arial" panose="020B0604020202020204" pitchFamily="34" charset="0"/>
              </a:rPr>
              <a:t>Backbone networks – SONET</a:t>
            </a:r>
          </a:p>
          <a:p>
            <a:pPr marL="914400" lvl="1" indent="-457200" eaLnBrk="1" hangingPunct="1">
              <a:lnSpc>
                <a:spcPct val="150000"/>
              </a:lnSpc>
              <a:buFont typeface="Wingdings" panose="05000000000000000000" pitchFamily="2" charset="2"/>
              <a:buChar char="q"/>
            </a:pPr>
            <a:r>
              <a:rPr lang="en-US">
                <a:latin typeface="Arial" panose="020B0604020202020204" pitchFamily="34" charset="0"/>
              </a:rPr>
              <a:t>Cable TV – backbone</a:t>
            </a:r>
          </a:p>
          <a:p>
            <a:pPr marL="914400" lvl="1" indent="-457200" eaLnBrk="1" hangingPunct="1">
              <a:lnSpc>
                <a:spcPct val="150000"/>
              </a:lnSpc>
              <a:buFont typeface="Wingdings" panose="05000000000000000000" pitchFamily="2" charset="2"/>
              <a:buChar char="q"/>
            </a:pPr>
            <a:r>
              <a:rPr lang="en-US">
                <a:latin typeface="Arial" panose="020B0604020202020204" pitchFamily="34" charset="0"/>
              </a:rPr>
              <a:t>LAN  </a:t>
            </a:r>
          </a:p>
          <a:p>
            <a:pPr marL="1295400" lvl="2" indent="-381000" eaLnBrk="1" hangingPunct="1">
              <a:lnSpc>
                <a:spcPct val="150000"/>
              </a:lnSpc>
              <a:buFont typeface="Wingdings" panose="05000000000000000000" pitchFamily="2" charset="2"/>
              <a:buChar char="q"/>
            </a:pPr>
            <a:r>
              <a:rPr lang="en-US" sz="1800">
                <a:latin typeface="Arial" panose="020B0604020202020204" pitchFamily="34" charset="0"/>
              </a:rPr>
              <a:t>100Base-FX network (Fast Ethernet) </a:t>
            </a:r>
          </a:p>
          <a:p>
            <a:pPr marL="1295400" lvl="2" indent="-381000" eaLnBrk="1" hangingPunct="1">
              <a:lnSpc>
                <a:spcPct val="150000"/>
              </a:lnSpc>
              <a:buFont typeface="Wingdings" panose="05000000000000000000" pitchFamily="2" charset="2"/>
              <a:buChar char="q"/>
            </a:pPr>
            <a:r>
              <a:rPr lang="en-US" sz="1800">
                <a:latin typeface="Arial" panose="020B0604020202020204" pitchFamily="34" charset="0"/>
              </a:rPr>
              <a:t>100Base-X</a:t>
            </a:r>
          </a:p>
        </p:txBody>
      </p:sp>
    </p:spTree>
    <p:extLst>
      <p:ext uri="{BB962C8B-B14F-4D97-AF65-F5344CB8AC3E}">
        <p14:creationId xmlns:p14="http://schemas.microsoft.com/office/powerpoint/2010/main" val="378791560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990600" y="5715000"/>
            <a:ext cx="815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atin typeface="Times New Roman" panose="02020603050405020304" pitchFamily="18" charset="0"/>
            </a:endParaRPr>
          </a:p>
        </p:txBody>
      </p:sp>
      <p:sp>
        <p:nvSpPr>
          <p:cNvPr id="38915" name="Rectangle 5"/>
          <p:cNvSpPr>
            <a:spLocks noGrp="1" noChangeArrowheads="1"/>
          </p:cNvSpPr>
          <p:nvPr>
            <p:ph type="title"/>
          </p:nvPr>
        </p:nvSpPr>
        <p:spPr/>
        <p:txBody>
          <a:bodyPr/>
          <a:lstStyle/>
          <a:p>
            <a:pPr eaLnBrk="1" fontAlgn="auto" hangingPunct="1">
              <a:spcAft>
                <a:spcPts val="0"/>
              </a:spcAft>
              <a:defRPr/>
            </a:pPr>
            <a:r>
              <a:rPr lang="en-US" sz="3800"/>
              <a:t>Unguided Media</a:t>
            </a:r>
          </a:p>
        </p:txBody>
      </p:sp>
      <p:sp>
        <p:nvSpPr>
          <p:cNvPr id="38916" name="Rectangle 3"/>
          <p:cNvSpPr>
            <a:spLocks noGrp="1" noChangeArrowheads="1"/>
          </p:cNvSpPr>
          <p:nvPr>
            <p:ph type="body" sz="half" idx="1"/>
          </p:nvPr>
        </p:nvSpPr>
        <p:spPr>
          <a:xfrm>
            <a:off x="1143000" y="1600200"/>
            <a:ext cx="6019800" cy="685800"/>
          </a:xfrm>
        </p:spPr>
        <p:txBody>
          <a:bodyPr>
            <a:normAutofit/>
          </a:bodyPr>
          <a:lstStyle/>
          <a:p>
            <a:pPr marL="533400" indent="-533400" algn="ctr" eaLnBrk="1" fontAlgn="auto" hangingPunct="1">
              <a:lnSpc>
                <a:spcPct val="80000"/>
              </a:lnSpc>
              <a:spcAft>
                <a:spcPts val="0"/>
              </a:spcAft>
              <a:buFont typeface="Wingdings" panose="05000000000000000000" pitchFamily="2" charset="2"/>
              <a:buNone/>
              <a:defRPr/>
            </a:pPr>
            <a:r>
              <a:rPr lang="en-US" sz="2800"/>
              <a:t>            Wireless transmission waves</a:t>
            </a:r>
          </a:p>
          <a:p>
            <a:pPr marL="533400" indent="-533400" algn="ctr" eaLnBrk="1" fontAlgn="auto" hangingPunct="1">
              <a:lnSpc>
                <a:spcPct val="80000"/>
              </a:lnSpc>
              <a:spcAft>
                <a:spcPts val="0"/>
              </a:spcAft>
              <a:buFont typeface="Wingdings" panose="05000000000000000000" pitchFamily="2" charset="2"/>
              <a:buNone/>
              <a:defRPr/>
            </a:pPr>
            <a:endParaRPr lang="en-US" sz="2800"/>
          </a:p>
        </p:txBody>
      </p:sp>
      <p:pic>
        <p:nvPicPr>
          <p:cNvPr id="3994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438400"/>
            <a:ext cx="8239125"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45735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609600" y="381000"/>
            <a:ext cx="3522821" cy="492443"/>
          </a:xfrm>
        </p:spPr>
        <p:txBody>
          <a:bodyPr/>
          <a:lstStyle/>
          <a:p>
            <a:pPr eaLnBrk="1" fontAlgn="auto" hangingPunct="1">
              <a:spcAft>
                <a:spcPts val="0"/>
              </a:spcAft>
              <a:defRPr/>
            </a:pPr>
            <a:r>
              <a:rPr kumimoji="1" lang="en-US" sz="3200" b="1"/>
              <a:t>Radio Waves</a:t>
            </a:r>
          </a:p>
        </p:txBody>
      </p:sp>
      <p:sp>
        <p:nvSpPr>
          <p:cNvPr id="40963" name="Rectangle 3"/>
          <p:cNvSpPr>
            <a:spLocks noGrp="1" noChangeArrowheads="1"/>
          </p:cNvSpPr>
          <p:nvPr>
            <p:ph sz="quarter" idx="1"/>
          </p:nvPr>
        </p:nvSpPr>
        <p:spPr>
          <a:xfrm>
            <a:off x="457200" y="1219200"/>
            <a:ext cx="7696200" cy="4216539"/>
          </a:xfrm>
        </p:spPr>
        <p:txBody>
          <a:bodyPr/>
          <a:lstStyle/>
          <a:p>
            <a:pPr marL="342900" indent="-342900" algn="l">
              <a:buFont typeface="Wingdings" panose="05000000000000000000" pitchFamily="2" charset="2"/>
              <a:buChar char="Ø"/>
            </a:pPr>
            <a:r>
              <a:rPr lang="en-US" sz="2400" kern="1200">
                <a:solidFill>
                  <a:schemeClr val="tx1"/>
                </a:solidFill>
                <a:latin typeface="Times New Roman" panose="02020603050405020304" pitchFamily="18" charset="0"/>
                <a:cs typeface="Times New Roman" panose="02020603050405020304" pitchFamily="18" charset="0"/>
              </a:rPr>
              <a:t> </a:t>
            </a:r>
            <a:r>
              <a:rPr lang="en-US" sz="2400">
                <a:solidFill>
                  <a:schemeClr val="tx1"/>
                </a:solidFill>
                <a:latin typeface="Times New Roman" panose="02020603050405020304" pitchFamily="18" charset="0"/>
                <a:cs typeface="Times New Roman" panose="02020603050405020304" pitchFamily="18" charset="0"/>
              </a:rPr>
              <a:t>Radio waves, particularly those waves that propagate in the sky mode, can travel long distances.</a:t>
            </a:r>
          </a:p>
          <a:p>
            <a:pPr marL="342900" indent="-342900">
              <a:buFont typeface="Wingdings" panose="05000000000000000000" pitchFamily="2" charset="2"/>
              <a:buChar char="Ø"/>
            </a:pPr>
            <a:r>
              <a:rPr lang="en-US" sz="2400">
                <a:solidFill>
                  <a:schemeClr val="tx1"/>
                </a:solidFill>
                <a:latin typeface="Times New Roman" panose="02020603050405020304" pitchFamily="18" charset="0"/>
                <a:cs typeface="Times New Roman" panose="02020603050405020304" pitchFamily="18" charset="0"/>
              </a:rPr>
              <a:t>Radio waves, for the most part, are omnidirectional. When an antenna transmits radio waves, they are propagated in all directions. This means that</a:t>
            </a:r>
          </a:p>
          <a:p>
            <a:pPr marL="342900" indent="-342900">
              <a:buFont typeface="Wingdings" panose="05000000000000000000" pitchFamily="2" charset="2"/>
              <a:buChar char="Ø"/>
            </a:pPr>
            <a:r>
              <a:rPr lang="en-US" sz="2400">
                <a:solidFill>
                  <a:schemeClr val="tx1"/>
                </a:solidFill>
                <a:latin typeface="Times New Roman" panose="02020603050405020304" pitchFamily="18" charset="0"/>
                <a:cs typeface="Times New Roman" panose="02020603050405020304" pitchFamily="18" charset="0"/>
              </a:rPr>
              <a:t>the sending and receiving antennas do not have to be aligned.</a:t>
            </a:r>
          </a:p>
          <a:p>
            <a:pPr marL="342900" indent="-342900">
              <a:buFont typeface="Wingdings" panose="05000000000000000000" pitchFamily="2" charset="2"/>
              <a:buChar char="Ø"/>
            </a:pPr>
            <a:r>
              <a:rPr lang="en-US" sz="2400">
                <a:solidFill>
                  <a:schemeClr val="tx1"/>
                </a:solidFill>
                <a:latin typeface="Times New Roman" panose="02020603050405020304" pitchFamily="18" charset="0"/>
                <a:cs typeface="Times New Roman" panose="02020603050405020304" pitchFamily="18" charset="0"/>
              </a:rPr>
              <a:t>Radio waves, particularly those of low and medium frequencies, can penetrate walls.</a:t>
            </a:r>
            <a:endParaRPr lang="en-US" sz="2400" kern="1200">
              <a:solidFill>
                <a:schemeClr val="tx1"/>
              </a:solidFill>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
                <a:srgbClr val="FE8637"/>
              </a:buClr>
              <a:buSzPct val="70000"/>
              <a:buFont typeface="Wingdings" panose="05000000000000000000" pitchFamily="2" charset="2"/>
              <a:buChar char="Ø"/>
              <a:tabLst/>
              <a:defRPr/>
            </a:pPr>
            <a:r>
              <a:rPr lang="en-US" sz="2400" kern="1200">
                <a:solidFill>
                  <a:schemeClr val="tx1"/>
                </a:solidFill>
                <a:latin typeface="Times New Roman" panose="02020603050405020304" pitchFamily="18" charset="0"/>
                <a:cs typeface="Times New Roman" panose="02020603050405020304" pitchFamily="18" charset="0"/>
              </a:rPr>
              <a:t>Its frequency is between 3 kHz to 1GHz.</a:t>
            </a:r>
          </a:p>
          <a:p>
            <a:pPr marL="342900" marR="0" lvl="0" indent="-342900" algn="l" defTabSz="914400" rtl="0" eaLnBrk="1" fontAlgn="base" latinLnBrk="0" hangingPunct="1">
              <a:lnSpc>
                <a:spcPct val="100000"/>
              </a:lnSpc>
              <a:spcBef>
                <a:spcPts val="600"/>
              </a:spcBef>
              <a:spcAft>
                <a:spcPct val="0"/>
              </a:spcAft>
              <a:buClr>
                <a:srgbClr val="FE8637"/>
              </a:buClr>
              <a:buSzPct val="70000"/>
              <a:buFont typeface="Wingdings" panose="05000000000000000000" pitchFamily="2" charset="2"/>
              <a:buChar char="Ø"/>
              <a:tabLst/>
              <a:defRPr/>
            </a:pPr>
            <a:r>
              <a:rPr lang="en-US" sz="2400" kern="1200">
                <a:solidFill>
                  <a:schemeClr val="tx1"/>
                </a:solidFill>
                <a:latin typeface="Times New Roman" panose="02020603050405020304" pitchFamily="18" charset="0"/>
                <a:cs typeface="Times New Roman" panose="02020603050405020304" pitchFamily="18" charset="0"/>
              </a:rPr>
              <a:t> It is simple to install and has high attenuation. </a:t>
            </a:r>
          </a:p>
        </p:txBody>
      </p:sp>
    </p:spTree>
    <p:extLst>
      <p:ext uri="{BB962C8B-B14F-4D97-AF65-F5344CB8AC3E}">
        <p14:creationId xmlns:p14="http://schemas.microsoft.com/office/powerpoint/2010/main" val="351216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571500" y="533400"/>
            <a:ext cx="3522821" cy="430887"/>
          </a:xfrm>
        </p:spPr>
        <p:txBody>
          <a:bodyPr/>
          <a:lstStyle/>
          <a:p>
            <a:pPr eaLnBrk="1" fontAlgn="auto" hangingPunct="1">
              <a:spcAft>
                <a:spcPts val="0"/>
              </a:spcAft>
              <a:defRPr/>
            </a:pPr>
            <a:r>
              <a:rPr lang="en-US" sz="2800" b="1"/>
              <a:t>Microwave</a:t>
            </a:r>
          </a:p>
        </p:txBody>
      </p:sp>
      <p:sp>
        <p:nvSpPr>
          <p:cNvPr id="44035" name="Rectangle 3"/>
          <p:cNvSpPr>
            <a:spLocks noGrp="1" noChangeArrowheads="1"/>
          </p:cNvSpPr>
          <p:nvPr>
            <p:ph sz="quarter" idx="1"/>
          </p:nvPr>
        </p:nvSpPr>
        <p:spPr>
          <a:xfrm>
            <a:off x="779621" y="1295400"/>
            <a:ext cx="6629400" cy="3793603"/>
          </a:xfrm>
        </p:spPr>
        <p:txBody>
          <a:bodyPr/>
          <a:lstStyle/>
          <a:p>
            <a:pPr marL="285750" indent="-285750">
              <a:buFont typeface="Arial" panose="020B0604020202020204" pitchFamily="34" charset="0"/>
              <a:buChar char="•"/>
            </a:pPr>
            <a:r>
              <a:rPr lang="en-US" sz="1800">
                <a:solidFill>
                  <a:schemeClr val="tx1"/>
                </a:solidFill>
                <a:latin typeface="Times New Roman" panose="02020603050405020304" pitchFamily="18" charset="0"/>
                <a:cs typeface="Times New Roman" panose="02020603050405020304" pitchFamily="18" charset="0"/>
              </a:rPr>
              <a:t>Electromagnetic waves having frequencies between 1 and 300 GHz are called microwaves.</a:t>
            </a:r>
          </a:p>
          <a:p>
            <a:endParaRPr lang="en-US" sz="180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a:solidFill>
                  <a:schemeClr val="tx1"/>
                </a:solidFill>
                <a:latin typeface="Times New Roman" panose="02020603050405020304" pitchFamily="18" charset="0"/>
                <a:cs typeface="Times New Roman" panose="02020603050405020304" pitchFamily="18" charset="0"/>
              </a:rPr>
              <a:t>Microwaves are unidirectional.</a:t>
            </a:r>
          </a:p>
          <a:p>
            <a:pPr marL="285750" indent="-285750" eaLnBrk="1" hangingPunct="1">
              <a:lnSpc>
                <a:spcPct val="200000"/>
              </a:lnSpc>
              <a:buFont typeface="Arial" panose="020B0604020202020204" pitchFamily="34" charset="0"/>
              <a:buChar char="•"/>
            </a:pPr>
            <a:r>
              <a:rPr lang="en-US" sz="1800">
                <a:solidFill>
                  <a:schemeClr val="tx1"/>
                </a:solidFill>
                <a:latin typeface="Times New Roman" panose="02020603050405020304" pitchFamily="18" charset="0"/>
                <a:cs typeface="Times New Roman" panose="02020603050405020304" pitchFamily="18" charset="0"/>
              </a:rPr>
              <a:t>Line-of-site</a:t>
            </a:r>
          </a:p>
          <a:p>
            <a:pPr marL="285750" indent="-285750" eaLnBrk="1" hangingPunct="1">
              <a:lnSpc>
                <a:spcPct val="200000"/>
              </a:lnSpc>
              <a:buFont typeface="Arial" panose="020B0604020202020204" pitchFamily="34" charset="0"/>
              <a:buChar char="•"/>
            </a:pPr>
            <a:r>
              <a:rPr lang="en-US" sz="1800">
                <a:solidFill>
                  <a:schemeClr val="tx1"/>
                </a:solidFill>
                <a:latin typeface="Times New Roman" panose="02020603050405020304" pitchFamily="18" charset="0"/>
                <a:cs typeface="Times New Roman" panose="02020603050405020304" pitchFamily="18" charset="0"/>
              </a:rPr>
              <a:t>High speed/High Frequency</a:t>
            </a:r>
          </a:p>
          <a:p>
            <a:pPr marL="285750" indent="-285750" eaLnBrk="1" hangingPunct="1">
              <a:lnSpc>
                <a:spcPct val="200000"/>
              </a:lnSpc>
              <a:buFont typeface="Arial" panose="020B0604020202020204" pitchFamily="34" charset="0"/>
              <a:buChar char="•"/>
            </a:pPr>
            <a:r>
              <a:rPr lang="en-US" sz="1800">
                <a:solidFill>
                  <a:schemeClr val="tx1"/>
                </a:solidFill>
                <a:latin typeface="Times New Roman" panose="02020603050405020304" pitchFamily="18" charset="0"/>
                <a:cs typeface="Times New Roman" panose="02020603050405020304" pitchFamily="18" charset="0"/>
              </a:rPr>
              <a:t>Cost effective</a:t>
            </a:r>
          </a:p>
          <a:p>
            <a:pPr marL="285750" indent="-285750" eaLnBrk="1" hangingPunct="1">
              <a:lnSpc>
                <a:spcPct val="200000"/>
              </a:lnSpc>
              <a:buFont typeface="Arial" panose="020B0604020202020204" pitchFamily="34" charset="0"/>
              <a:buChar char="•"/>
            </a:pPr>
            <a:r>
              <a:rPr lang="en-US" sz="1800">
                <a:solidFill>
                  <a:schemeClr val="tx1"/>
                </a:solidFill>
                <a:latin typeface="Times New Roman" panose="02020603050405020304" pitchFamily="18" charset="0"/>
                <a:cs typeface="Times New Roman" panose="02020603050405020304" pitchFamily="18" charset="0"/>
              </a:rPr>
              <a:t>Easy to implement</a:t>
            </a:r>
          </a:p>
          <a:p>
            <a:pPr marL="285750" indent="-285750" eaLnBrk="1" hangingPunct="1">
              <a:lnSpc>
                <a:spcPct val="200000"/>
              </a:lnSpc>
              <a:buFont typeface="Arial" panose="020B0604020202020204" pitchFamily="34" charset="0"/>
              <a:buChar char="•"/>
            </a:pPr>
            <a:r>
              <a:rPr lang="en-US" sz="1800">
                <a:solidFill>
                  <a:schemeClr val="tx1"/>
                </a:solidFill>
                <a:latin typeface="Times New Roman" panose="02020603050405020304" pitchFamily="18" charset="0"/>
                <a:cs typeface="Times New Roman" panose="02020603050405020304" pitchFamily="18" charset="0"/>
              </a:rPr>
              <a:t>Weather can cause interference</a:t>
            </a:r>
          </a:p>
        </p:txBody>
      </p:sp>
    </p:spTree>
    <p:extLst>
      <p:ext uri="{BB962C8B-B14F-4D97-AF65-F5344CB8AC3E}">
        <p14:creationId xmlns:p14="http://schemas.microsoft.com/office/powerpoint/2010/main" val="236376601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228600"/>
            <a:ext cx="8229600" cy="523220"/>
          </a:xfrm>
        </p:spPr>
        <p:txBody>
          <a:bodyPr/>
          <a:lstStyle/>
          <a:p>
            <a:pPr eaLnBrk="1" fontAlgn="auto" hangingPunct="1">
              <a:spcAft>
                <a:spcPts val="0"/>
              </a:spcAft>
              <a:defRPr/>
            </a:pPr>
            <a:r>
              <a:rPr lang="en-US" sz="3400"/>
              <a:t>Infrared Waves</a:t>
            </a:r>
          </a:p>
        </p:txBody>
      </p:sp>
      <p:sp>
        <p:nvSpPr>
          <p:cNvPr id="41987" name="Text Box 3"/>
          <p:cNvSpPr txBox="1">
            <a:spLocks noChangeArrowheads="1"/>
          </p:cNvSpPr>
          <p:nvPr/>
        </p:nvSpPr>
        <p:spPr bwMode="auto">
          <a:xfrm>
            <a:off x="838200" y="1676400"/>
            <a:ext cx="6934200"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buFont typeface="Wingdings" panose="05000000000000000000" pitchFamily="2" charset="2"/>
              <a:buChar char="§"/>
            </a:pPr>
            <a:r>
              <a:rPr lang="en-US" sz="2800">
                <a:latin typeface="Times New Roman" panose="02020603050405020304" pitchFamily="18" charset="0"/>
              </a:rPr>
              <a:t>  Frequencies between 300 GHz to 400 THz. </a:t>
            </a:r>
          </a:p>
          <a:p>
            <a:pPr>
              <a:spcBef>
                <a:spcPct val="50000"/>
              </a:spcBef>
              <a:buFont typeface="Wingdings" panose="05000000000000000000" pitchFamily="2" charset="2"/>
              <a:buChar char="§"/>
            </a:pPr>
            <a:r>
              <a:rPr lang="en-US" sz="2800">
                <a:latin typeface="Times New Roman" panose="02020603050405020304" pitchFamily="18" charset="0"/>
              </a:rPr>
              <a:t>  Can not penetrate walls.  </a:t>
            </a:r>
          </a:p>
          <a:p>
            <a:pPr>
              <a:spcBef>
                <a:spcPct val="50000"/>
              </a:spcBef>
              <a:buFont typeface="Wingdings" panose="05000000000000000000" pitchFamily="2" charset="2"/>
              <a:buChar char="§"/>
            </a:pPr>
            <a:r>
              <a:rPr lang="en-US" sz="2800">
                <a:latin typeface="Times New Roman" panose="02020603050405020304" pitchFamily="18" charset="0"/>
              </a:rPr>
              <a:t>Used for short-range communication in a closed area using line-of-sight propagation.</a:t>
            </a:r>
          </a:p>
        </p:txBody>
      </p:sp>
    </p:spTree>
    <p:extLst>
      <p:ext uri="{BB962C8B-B14F-4D97-AF65-F5344CB8AC3E}">
        <p14:creationId xmlns:p14="http://schemas.microsoft.com/office/powerpoint/2010/main" val="360400048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0689" y="381000"/>
            <a:ext cx="7886700" cy="415498"/>
          </a:xfrm>
        </p:spPr>
        <p:txBody>
          <a:bodyPr/>
          <a:lstStyle/>
          <a:p>
            <a:r>
              <a:rPr lang="en-US" b="1"/>
              <a:t>Data and Signals</a:t>
            </a:r>
          </a:p>
        </p:txBody>
      </p:sp>
      <p:sp>
        <p:nvSpPr>
          <p:cNvPr id="3" name="Content Placeholder 2"/>
          <p:cNvSpPr>
            <a:spLocks noGrp="1"/>
          </p:cNvSpPr>
          <p:nvPr>
            <p:ph idx="1"/>
          </p:nvPr>
        </p:nvSpPr>
        <p:spPr>
          <a:xfrm>
            <a:off x="630925" y="1295400"/>
            <a:ext cx="7886700" cy="3524891"/>
          </a:xfrm>
        </p:spPr>
        <p:txBody>
          <a:bodyPr>
            <a:noAutofit/>
          </a:bodyPr>
          <a:lstStyle/>
          <a:p>
            <a:pPr algn="just">
              <a:lnSpc>
                <a:spcPct val="150000"/>
              </a:lnSpc>
              <a:buBlip>
                <a:blip r:embed="rId2"/>
              </a:buBlip>
              <a:defRPr/>
            </a:pPr>
            <a:r>
              <a:rPr lang="en-IN" sz="2000">
                <a:latin typeface="Times New Roman" pitchFamily="18" charset="0"/>
                <a:cs typeface="Times New Roman" pitchFamily="18" charset="0"/>
              </a:rPr>
              <a:t>One of the major functions of the </a:t>
            </a:r>
            <a:r>
              <a:rPr lang="en-IN" sz="2000" b="1">
                <a:solidFill>
                  <a:srgbClr val="FF0000"/>
                </a:solidFill>
                <a:latin typeface="Times New Roman" pitchFamily="18" charset="0"/>
                <a:cs typeface="Times New Roman" pitchFamily="18" charset="0"/>
              </a:rPr>
              <a:t>physical layer</a:t>
            </a:r>
            <a:r>
              <a:rPr lang="en-IN" sz="2000" b="1">
                <a:latin typeface="Times New Roman" pitchFamily="18" charset="0"/>
                <a:cs typeface="Times New Roman" pitchFamily="18" charset="0"/>
              </a:rPr>
              <a:t> </a:t>
            </a:r>
            <a:r>
              <a:rPr lang="en-IN" sz="2000">
                <a:latin typeface="Times New Roman" pitchFamily="18" charset="0"/>
                <a:cs typeface="Times New Roman" pitchFamily="18" charset="0"/>
              </a:rPr>
              <a:t>is to move data in the form of electromagnetic </a:t>
            </a:r>
            <a:r>
              <a:rPr lang="en-IN" sz="2000" b="1">
                <a:solidFill>
                  <a:srgbClr val="0070C0"/>
                </a:solidFill>
                <a:latin typeface="Times New Roman" pitchFamily="18" charset="0"/>
                <a:cs typeface="Times New Roman" pitchFamily="18" charset="0"/>
              </a:rPr>
              <a:t>signals</a:t>
            </a:r>
            <a:r>
              <a:rPr lang="en-IN" sz="2000">
                <a:solidFill>
                  <a:srgbClr val="FF0000"/>
                </a:solidFill>
                <a:latin typeface="Times New Roman" pitchFamily="18" charset="0"/>
                <a:cs typeface="Times New Roman" pitchFamily="18" charset="0"/>
              </a:rPr>
              <a:t> </a:t>
            </a:r>
            <a:r>
              <a:rPr lang="en-IN" sz="2000">
                <a:latin typeface="Times New Roman" pitchFamily="18" charset="0"/>
                <a:cs typeface="Times New Roman" pitchFamily="18" charset="0"/>
              </a:rPr>
              <a:t>across a transmission medium.</a:t>
            </a:r>
          </a:p>
          <a:p>
            <a:pPr algn="just">
              <a:lnSpc>
                <a:spcPct val="150000"/>
              </a:lnSpc>
              <a:buBlip>
                <a:blip r:embed="rId2"/>
              </a:buBlip>
              <a:defRPr/>
            </a:pPr>
            <a:r>
              <a:rPr lang="en-US" sz="2000">
                <a:latin typeface="Times New Roman" pitchFamily="18" charset="0"/>
                <a:cs typeface="Times New Roman" pitchFamily="18" charset="0"/>
              </a:rPr>
              <a:t> </a:t>
            </a:r>
            <a:r>
              <a:rPr lang="en-IN" sz="2000">
                <a:latin typeface="Times New Roman" pitchFamily="18" charset="0"/>
                <a:cs typeface="Times New Roman" pitchFamily="18" charset="0"/>
              </a:rPr>
              <a:t>Whether you are collecting </a:t>
            </a:r>
            <a:r>
              <a:rPr lang="en-IN" sz="2000">
                <a:solidFill>
                  <a:schemeClr val="accent1"/>
                </a:solidFill>
                <a:latin typeface="Times New Roman" pitchFamily="18" charset="0"/>
                <a:cs typeface="Times New Roman" pitchFamily="18" charset="0"/>
              </a:rPr>
              <a:t>numerical statistics </a:t>
            </a:r>
            <a:r>
              <a:rPr lang="en-IN" sz="2000">
                <a:latin typeface="Times New Roman" pitchFamily="18" charset="0"/>
                <a:cs typeface="Times New Roman" pitchFamily="18" charset="0"/>
              </a:rPr>
              <a:t>from another computer, sending </a:t>
            </a:r>
            <a:r>
              <a:rPr lang="en-IN" sz="2000">
                <a:solidFill>
                  <a:srgbClr val="00B050"/>
                </a:solidFill>
                <a:latin typeface="Times New Roman" pitchFamily="18" charset="0"/>
                <a:cs typeface="Times New Roman" pitchFamily="18" charset="0"/>
              </a:rPr>
              <a:t>animated pictures </a:t>
            </a:r>
            <a:r>
              <a:rPr lang="en-IN" sz="2000">
                <a:latin typeface="Times New Roman" pitchFamily="18" charset="0"/>
                <a:cs typeface="Times New Roman" pitchFamily="18" charset="0"/>
              </a:rPr>
              <a:t>from a design workstation, etc.. you are working with the transmission of </a:t>
            </a:r>
            <a:r>
              <a:rPr lang="en-IN" sz="2000" b="1">
                <a:solidFill>
                  <a:srgbClr val="7030A0"/>
                </a:solidFill>
                <a:latin typeface="Times New Roman" pitchFamily="18" charset="0"/>
                <a:cs typeface="Times New Roman" pitchFamily="18" charset="0"/>
              </a:rPr>
              <a:t>data across network</a:t>
            </a:r>
            <a:r>
              <a:rPr lang="en-IN" sz="2000" b="1">
                <a:solidFill>
                  <a:srgbClr val="FF0000"/>
                </a:solidFill>
                <a:latin typeface="Times New Roman" pitchFamily="18" charset="0"/>
                <a:cs typeface="Times New Roman" pitchFamily="18" charset="0"/>
              </a:rPr>
              <a:t> </a:t>
            </a:r>
            <a:r>
              <a:rPr lang="en-IN" sz="2000" b="1">
                <a:latin typeface="Times New Roman" pitchFamily="18" charset="0"/>
                <a:cs typeface="Times New Roman" pitchFamily="18" charset="0"/>
              </a:rPr>
              <a:t>connections.</a:t>
            </a:r>
          </a:p>
          <a:p>
            <a:pPr algn="just">
              <a:lnSpc>
                <a:spcPct val="150000"/>
              </a:lnSpc>
              <a:buBlip>
                <a:blip r:embed="rId2"/>
              </a:buBlip>
              <a:defRPr/>
            </a:pPr>
            <a:r>
              <a:rPr lang="en-US" sz="2000" b="1">
                <a:solidFill>
                  <a:srgbClr val="FF0000"/>
                </a:solidFill>
                <a:latin typeface="Times New Roman" pitchFamily="18" charset="0"/>
                <a:cs typeface="Times New Roman" pitchFamily="18" charset="0"/>
              </a:rPr>
              <a:t> </a:t>
            </a:r>
            <a:r>
              <a:rPr lang="en-IN" sz="2000">
                <a:latin typeface="Times New Roman" pitchFamily="18" charset="0"/>
                <a:cs typeface="Times New Roman" pitchFamily="18" charset="0"/>
              </a:rPr>
              <a:t>Generally, the data usable to a person or application are not in a form that can be transmitted over a network.</a:t>
            </a:r>
          </a:p>
          <a:p>
            <a:pPr lvl="1" algn="just">
              <a:lnSpc>
                <a:spcPct val="150000"/>
              </a:lnSpc>
              <a:buBlip>
                <a:blip r:embed="rId3"/>
              </a:buBlip>
              <a:defRPr/>
            </a:pPr>
            <a:r>
              <a:rPr lang="en-US" sz="2000">
                <a:latin typeface="Times New Roman" pitchFamily="18" charset="0"/>
                <a:cs typeface="Times New Roman" pitchFamily="18" charset="0"/>
              </a:rPr>
              <a:t> </a:t>
            </a:r>
            <a:r>
              <a:rPr lang="en-IN" sz="2000">
                <a:latin typeface="Times New Roman" pitchFamily="18" charset="0"/>
                <a:cs typeface="Times New Roman" pitchFamily="18" charset="0"/>
              </a:rPr>
              <a:t>For example, a </a:t>
            </a:r>
            <a:r>
              <a:rPr lang="en-IN" sz="2000" b="1">
                <a:solidFill>
                  <a:schemeClr val="accent4"/>
                </a:solidFill>
                <a:latin typeface="Times New Roman" pitchFamily="18" charset="0"/>
                <a:cs typeface="Times New Roman" pitchFamily="18" charset="0"/>
              </a:rPr>
              <a:t>photograph</a:t>
            </a:r>
            <a:r>
              <a:rPr lang="en-IN" sz="2000">
                <a:latin typeface="Times New Roman" pitchFamily="18" charset="0"/>
                <a:cs typeface="Times New Roman" pitchFamily="18" charset="0"/>
              </a:rPr>
              <a:t> must first be changed to a form that transmission media can accept.</a:t>
            </a:r>
          </a:p>
        </p:txBody>
      </p:sp>
    </p:spTree>
    <p:extLst>
      <p:ext uri="{BB962C8B-B14F-4D97-AF65-F5344CB8AC3E}">
        <p14:creationId xmlns:p14="http://schemas.microsoft.com/office/powerpoint/2010/main" val="28511325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1109" y="381000"/>
            <a:ext cx="3522821" cy="415498"/>
          </a:xfrm>
        </p:spPr>
        <p:txBody>
          <a:bodyPr/>
          <a:lstStyle/>
          <a:p>
            <a:r>
              <a:rPr lang="en-US" b="1"/>
              <a:t>Analog and Digital</a:t>
            </a:r>
          </a:p>
        </p:txBody>
      </p:sp>
      <p:sp>
        <p:nvSpPr>
          <p:cNvPr id="3" name="Content Placeholder 2"/>
          <p:cNvSpPr>
            <a:spLocks noGrp="1"/>
          </p:cNvSpPr>
          <p:nvPr>
            <p:ph idx="1"/>
          </p:nvPr>
        </p:nvSpPr>
        <p:spPr>
          <a:xfrm>
            <a:off x="824757" y="1905000"/>
            <a:ext cx="7886700" cy="2385268"/>
          </a:xfrm>
        </p:spPr>
        <p:txBody>
          <a:bodyPr/>
          <a:lstStyle/>
          <a:p>
            <a:pPr algn="just"/>
            <a:r>
              <a:rPr lang="en-US" sz="2800">
                <a:effectLst>
                  <a:outerShdw blurRad="38100" dist="38100" dir="2700000" algn="tl">
                    <a:srgbClr val="000000">
                      <a:alpha val="43137"/>
                    </a:srgbClr>
                  </a:outerShdw>
                </a:effectLst>
                <a:latin typeface="Times New Roman" pitchFamily="18" charset="0"/>
                <a:cs typeface="Times New Roman" pitchFamily="18" charset="0"/>
              </a:rPr>
              <a:t>Data can be </a:t>
            </a:r>
            <a:r>
              <a:rPr lang="en-US" sz="280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analog</a:t>
            </a:r>
            <a:r>
              <a:rPr lang="en-US" sz="2800">
                <a:effectLst>
                  <a:outerShdw blurRad="38100" dist="38100" dir="2700000" algn="tl">
                    <a:srgbClr val="000000">
                      <a:alpha val="43137"/>
                    </a:srgbClr>
                  </a:outerShdw>
                </a:effectLst>
                <a:latin typeface="Times New Roman" pitchFamily="18" charset="0"/>
                <a:cs typeface="Times New Roman" pitchFamily="18" charset="0"/>
              </a:rPr>
              <a:t> or </a:t>
            </a:r>
            <a:r>
              <a:rPr lang="en-US" sz="280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digital. </a:t>
            </a:r>
            <a:r>
              <a:rPr lang="en-US" sz="2800">
                <a:effectLst>
                  <a:outerShdw blurRad="38100" dist="38100" dir="2700000" algn="tl">
                    <a:srgbClr val="000000">
                      <a:alpha val="43137"/>
                    </a:srgbClr>
                  </a:outerShdw>
                </a:effectLst>
                <a:latin typeface="Times New Roman" pitchFamily="18" charset="0"/>
                <a:cs typeface="Times New Roman" pitchFamily="18" charset="0"/>
              </a:rPr>
              <a:t>The term </a:t>
            </a:r>
            <a:r>
              <a:rPr lang="en-US" sz="280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analog data </a:t>
            </a:r>
            <a:r>
              <a:rPr lang="en-US" sz="2800">
                <a:effectLst>
                  <a:outerShdw blurRad="38100" dist="38100" dir="2700000" algn="tl">
                    <a:srgbClr val="000000">
                      <a:alpha val="43137"/>
                    </a:srgbClr>
                  </a:outerShdw>
                </a:effectLst>
                <a:latin typeface="Times New Roman" pitchFamily="18" charset="0"/>
                <a:cs typeface="Times New Roman" pitchFamily="18" charset="0"/>
              </a:rPr>
              <a:t>refers to information that is continuous; </a:t>
            </a:r>
            <a:r>
              <a:rPr lang="en-US" sz="280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digital data </a:t>
            </a:r>
            <a:r>
              <a:rPr lang="en-US" sz="2800">
                <a:effectLst>
                  <a:outerShdw blurRad="38100" dist="38100" dir="2700000" algn="tl">
                    <a:srgbClr val="000000">
                      <a:alpha val="43137"/>
                    </a:srgbClr>
                  </a:outerShdw>
                </a:effectLst>
                <a:latin typeface="Times New Roman" pitchFamily="18" charset="0"/>
                <a:cs typeface="Times New Roman" pitchFamily="18" charset="0"/>
              </a:rPr>
              <a:t>refers to information that has discrete states. Analog data take on </a:t>
            </a:r>
            <a:r>
              <a:rPr lang="en-US" sz="280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continuous</a:t>
            </a:r>
            <a:r>
              <a:rPr lang="en-US" sz="2800">
                <a:effectLst>
                  <a:outerShdw blurRad="38100" dist="38100" dir="2700000" algn="tl">
                    <a:srgbClr val="000000">
                      <a:alpha val="43137"/>
                    </a:srgbClr>
                  </a:outerShdw>
                </a:effectLst>
                <a:latin typeface="Times New Roman" pitchFamily="18" charset="0"/>
                <a:cs typeface="Times New Roman" pitchFamily="18" charset="0"/>
              </a:rPr>
              <a:t> values. Digital data take on </a:t>
            </a:r>
            <a:r>
              <a:rPr lang="en-US" sz="280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discrete</a:t>
            </a:r>
            <a:r>
              <a:rPr lang="en-US" sz="2800">
                <a:effectLst>
                  <a:outerShdw blurRad="38100" dist="38100" dir="2700000" algn="tl">
                    <a:srgbClr val="000000">
                      <a:alpha val="43137"/>
                    </a:srgbClr>
                  </a:outerShdw>
                </a:effectLst>
                <a:latin typeface="Times New Roman" pitchFamily="18" charset="0"/>
                <a:cs typeface="Times New Roman" pitchFamily="18" charset="0"/>
              </a:rPr>
              <a:t> values.</a:t>
            </a:r>
          </a:p>
          <a:p>
            <a:endParaRPr lang="en-US"/>
          </a:p>
        </p:txBody>
      </p:sp>
    </p:spTree>
    <p:extLst>
      <p:ext uri="{BB962C8B-B14F-4D97-AF65-F5344CB8AC3E}">
        <p14:creationId xmlns:p14="http://schemas.microsoft.com/office/powerpoint/2010/main" val="1796925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9475" y="-1137"/>
            <a:ext cx="7886700" cy="496363"/>
          </a:xfrm>
        </p:spPr>
        <p:txBody>
          <a:bodyPr>
            <a:normAutofit/>
          </a:bodyPr>
          <a:lstStyle/>
          <a:p>
            <a:r>
              <a:rPr lang="en-US" b="1"/>
              <a:t>Analog and Digital Data</a:t>
            </a:r>
          </a:p>
        </p:txBody>
      </p:sp>
      <p:sp>
        <p:nvSpPr>
          <p:cNvPr id="4" name="Rectangle 3"/>
          <p:cNvSpPr/>
          <p:nvPr/>
        </p:nvSpPr>
        <p:spPr>
          <a:xfrm>
            <a:off x="2819400" y="497501"/>
            <a:ext cx="3879588" cy="461665"/>
          </a:xfrm>
          <a:prstGeom prst="rect">
            <a:avLst/>
          </a:prstGeom>
        </p:spPr>
        <p:txBody>
          <a:bodyPr wrap="none">
            <a:spAutoFit/>
          </a:bodyPr>
          <a:lstStyle/>
          <a:p>
            <a:pPr>
              <a:defRPr/>
            </a:pPr>
            <a:r>
              <a:rPr lang="en-US" sz="2400">
                <a:effectLst>
                  <a:outerShdw blurRad="38100" dist="38100" dir="2700000" algn="tl">
                    <a:srgbClr val="000000">
                      <a:alpha val="43137"/>
                    </a:srgbClr>
                  </a:outerShdw>
                </a:effectLst>
                <a:latin typeface="Times New Roman" pitchFamily="18" charset="0"/>
                <a:cs typeface="Times New Roman" pitchFamily="18" charset="0"/>
              </a:rPr>
              <a:t>Data can be </a:t>
            </a:r>
            <a:r>
              <a:rPr lang="en-US" sz="240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analog</a:t>
            </a:r>
            <a:r>
              <a:rPr lang="en-US" sz="2400">
                <a:effectLst>
                  <a:outerShdw blurRad="38100" dist="38100" dir="2700000" algn="tl">
                    <a:srgbClr val="000000">
                      <a:alpha val="43137"/>
                    </a:srgbClr>
                  </a:outerShdw>
                </a:effectLst>
                <a:latin typeface="Times New Roman" pitchFamily="18" charset="0"/>
                <a:cs typeface="Times New Roman" pitchFamily="18" charset="0"/>
              </a:rPr>
              <a:t> or </a:t>
            </a:r>
            <a:r>
              <a:rPr lang="en-US" sz="240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digital. </a:t>
            </a:r>
            <a:endParaRPr lang="en-IN" sz="2400"/>
          </a:p>
        </p:txBody>
      </p:sp>
      <p:sp>
        <p:nvSpPr>
          <p:cNvPr id="6" name="Content Placeholder 2"/>
          <p:cNvSpPr txBox="1">
            <a:spLocks/>
          </p:cNvSpPr>
          <p:nvPr/>
        </p:nvSpPr>
        <p:spPr>
          <a:xfrm>
            <a:off x="764275" y="1219200"/>
            <a:ext cx="7581900" cy="4351338"/>
          </a:xfrm>
          <a:prstGeom prst="rect">
            <a:avLst/>
          </a:prstGeom>
        </p:spPr>
        <p:txBody>
          <a:bodyPr wrap="square" lIns="0" tIns="0" rIns="0" bIns="0">
            <a:noAutofit/>
          </a:bodyPr>
          <a:lstStyle>
            <a:lvl1pPr marL="0">
              <a:defRPr sz="1500" b="0" i="0">
                <a:solidFill>
                  <a:srgbClr val="44536A"/>
                </a:solidFill>
                <a:latin typeface="Caladea"/>
                <a:ea typeface="+mn-ea"/>
                <a:cs typeface="Caladea"/>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a:lstStyle>
          <a:p>
            <a:pPr algn="just">
              <a:lnSpc>
                <a:spcPct val="150000"/>
              </a:lnSpc>
              <a:buFontTx/>
              <a:buBlip>
                <a:blip r:embed="rId2"/>
              </a:buBlip>
            </a:pPr>
            <a:r>
              <a:rPr lang="en-IN" altLang="en-US" sz="2000" kern="0">
                <a:latin typeface="Times New Roman" panose="02020603050405020304" pitchFamily="18" charset="0"/>
                <a:cs typeface="Times New Roman" panose="02020603050405020304" pitchFamily="18" charset="0"/>
              </a:rPr>
              <a:t>For example, an </a:t>
            </a:r>
            <a:r>
              <a:rPr lang="en-IN" altLang="en-US" sz="2000" kern="0" err="1">
                <a:solidFill>
                  <a:srgbClr val="FF0000"/>
                </a:solidFill>
                <a:latin typeface="Times New Roman" panose="02020603050405020304" pitchFamily="18" charset="0"/>
                <a:cs typeface="Times New Roman" panose="02020603050405020304" pitchFamily="18" charset="0"/>
              </a:rPr>
              <a:t>analog</a:t>
            </a:r>
            <a:r>
              <a:rPr lang="en-IN" altLang="en-US" sz="2000" kern="0">
                <a:solidFill>
                  <a:srgbClr val="FF0000"/>
                </a:solidFill>
                <a:latin typeface="Times New Roman" panose="02020603050405020304" pitchFamily="18" charset="0"/>
                <a:cs typeface="Times New Roman" panose="02020603050405020304" pitchFamily="18" charset="0"/>
              </a:rPr>
              <a:t> clock </a:t>
            </a:r>
            <a:r>
              <a:rPr lang="en-IN" altLang="en-US" sz="2000" kern="0">
                <a:latin typeface="Times New Roman" panose="02020603050405020304" pitchFamily="18" charset="0"/>
                <a:cs typeface="Times New Roman" panose="02020603050405020304" pitchFamily="18" charset="0"/>
              </a:rPr>
              <a:t>that has hour, minute, and second hands gives information in a </a:t>
            </a:r>
            <a:r>
              <a:rPr lang="en-IN" altLang="en-US" sz="2000" kern="0">
                <a:solidFill>
                  <a:srgbClr val="FF0000"/>
                </a:solidFill>
                <a:latin typeface="Times New Roman" panose="02020603050405020304" pitchFamily="18" charset="0"/>
                <a:cs typeface="Times New Roman" panose="02020603050405020304" pitchFamily="18" charset="0"/>
              </a:rPr>
              <a:t>continuous form</a:t>
            </a:r>
            <a:r>
              <a:rPr lang="en-IN" altLang="en-US" sz="2000" kern="0">
                <a:latin typeface="Times New Roman" panose="02020603050405020304" pitchFamily="18" charset="0"/>
                <a:cs typeface="Times New Roman" panose="02020603050405020304" pitchFamily="18" charset="0"/>
              </a:rPr>
              <a:t>; the movements of the hands are continuous. On the other hand, a </a:t>
            </a:r>
            <a:r>
              <a:rPr lang="en-IN" altLang="en-US" sz="2000" kern="0">
                <a:solidFill>
                  <a:srgbClr val="FF0000"/>
                </a:solidFill>
                <a:latin typeface="Times New Roman" panose="02020603050405020304" pitchFamily="18" charset="0"/>
                <a:cs typeface="Times New Roman" panose="02020603050405020304" pitchFamily="18" charset="0"/>
              </a:rPr>
              <a:t>digital clock</a:t>
            </a:r>
            <a:r>
              <a:rPr lang="en-IN" altLang="en-US" sz="2000" kern="0">
                <a:latin typeface="Times New Roman" panose="02020603050405020304" pitchFamily="18" charset="0"/>
                <a:cs typeface="Times New Roman" panose="02020603050405020304" pitchFamily="18" charset="0"/>
              </a:rPr>
              <a:t> that reports the hours and the minutes will change suddenly from </a:t>
            </a:r>
            <a:r>
              <a:rPr lang="en-IN" altLang="en-US" sz="2000" kern="0">
                <a:solidFill>
                  <a:srgbClr val="FF0000"/>
                </a:solidFill>
                <a:latin typeface="Times New Roman" panose="02020603050405020304" pitchFamily="18" charset="0"/>
                <a:cs typeface="Times New Roman" panose="02020603050405020304" pitchFamily="18" charset="0"/>
              </a:rPr>
              <a:t>10:05 to 10:06</a:t>
            </a:r>
            <a:r>
              <a:rPr lang="en-IN" altLang="en-US" sz="2000" kern="0">
                <a:latin typeface="Times New Roman" panose="02020603050405020304" pitchFamily="18" charset="0"/>
                <a:cs typeface="Times New Roman" panose="02020603050405020304" pitchFamily="18" charset="0"/>
              </a:rPr>
              <a:t>.</a:t>
            </a:r>
          </a:p>
          <a:p>
            <a:pPr algn="just">
              <a:lnSpc>
                <a:spcPct val="150000"/>
              </a:lnSpc>
              <a:buFontTx/>
              <a:buBlip>
                <a:blip r:embed="rId2"/>
              </a:buBlip>
            </a:pPr>
            <a:r>
              <a:rPr lang="en-US" altLang="en-US" sz="2000" kern="0">
                <a:latin typeface="Times New Roman" panose="02020603050405020304" pitchFamily="18" charset="0"/>
                <a:cs typeface="Times New Roman" panose="02020603050405020304" pitchFamily="18" charset="0"/>
              </a:rPr>
              <a:t> </a:t>
            </a:r>
            <a:r>
              <a:rPr lang="en-IN" altLang="en-US" sz="2000" kern="0" err="1">
                <a:latin typeface="Times New Roman" panose="02020603050405020304" pitchFamily="18" charset="0"/>
                <a:cs typeface="Times New Roman" panose="02020603050405020304" pitchFamily="18" charset="0"/>
              </a:rPr>
              <a:t>Analog</a:t>
            </a:r>
            <a:r>
              <a:rPr lang="en-IN" altLang="en-US" sz="2000" kern="0">
                <a:latin typeface="Times New Roman" panose="02020603050405020304" pitchFamily="18" charset="0"/>
                <a:cs typeface="Times New Roman" panose="02020603050405020304" pitchFamily="18" charset="0"/>
              </a:rPr>
              <a:t> data, such as the sounds made by a human voice, take on </a:t>
            </a:r>
            <a:r>
              <a:rPr lang="en-IN" altLang="en-US" sz="2000" kern="0">
                <a:solidFill>
                  <a:srgbClr val="FF0000"/>
                </a:solidFill>
                <a:latin typeface="Times New Roman" panose="02020603050405020304" pitchFamily="18" charset="0"/>
                <a:cs typeface="Times New Roman" panose="02020603050405020304" pitchFamily="18" charset="0"/>
              </a:rPr>
              <a:t>continuous values</a:t>
            </a:r>
            <a:r>
              <a:rPr lang="en-IN" altLang="en-US" sz="2000" kern="0">
                <a:latin typeface="Times New Roman" panose="02020603050405020304" pitchFamily="18" charset="0"/>
                <a:cs typeface="Times New Roman" panose="02020603050405020304" pitchFamily="18" charset="0"/>
              </a:rPr>
              <a:t>. When someone speaks, an </a:t>
            </a:r>
            <a:r>
              <a:rPr lang="en-IN" altLang="en-US" sz="2000" kern="0" err="1">
                <a:latin typeface="Times New Roman" panose="02020603050405020304" pitchFamily="18" charset="0"/>
                <a:cs typeface="Times New Roman" panose="02020603050405020304" pitchFamily="18" charset="0"/>
              </a:rPr>
              <a:t>analog</a:t>
            </a:r>
            <a:r>
              <a:rPr lang="en-IN" altLang="en-US" sz="2000" kern="0">
                <a:latin typeface="Times New Roman" panose="02020603050405020304" pitchFamily="18" charset="0"/>
                <a:cs typeface="Times New Roman" panose="02020603050405020304" pitchFamily="18" charset="0"/>
              </a:rPr>
              <a:t> wave is created in the air. This can be captured by a microphone </a:t>
            </a:r>
            <a:r>
              <a:rPr lang="en-IN" altLang="en-US" sz="2000" kern="0">
                <a:solidFill>
                  <a:srgbClr val="FF0000"/>
                </a:solidFill>
                <a:latin typeface="Times New Roman" panose="02020603050405020304" pitchFamily="18" charset="0"/>
                <a:cs typeface="Times New Roman" panose="02020603050405020304" pitchFamily="18" charset="0"/>
              </a:rPr>
              <a:t>sampled </a:t>
            </a:r>
            <a:r>
              <a:rPr lang="en-IN" altLang="en-US" sz="2000" kern="0">
                <a:latin typeface="Times New Roman" panose="02020603050405020304" pitchFamily="18" charset="0"/>
                <a:cs typeface="Times New Roman" panose="02020603050405020304" pitchFamily="18" charset="0"/>
              </a:rPr>
              <a:t>and</a:t>
            </a:r>
            <a:r>
              <a:rPr lang="en-IN" altLang="en-US" sz="2000" kern="0">
                <a:solidFill>
                  <a:srgbClr val="FF0000"/>
                </a:solidFill>
                <a:latin typeface="Times New Roman" panose="02020603050405020304" pitchFamily="18" charset="0"/>
                <a:cs typeface="Times New Roman" panose="02020603050405020304" pitchFamily="18" charset="0"/>
              </a:rPr>
              <a:t> converted </a:t>
            </a:r>
            <a:r>
              <a:rPr lang="en-IN" altLang="en-US" sz="2000" kern="0">
                <a:latin typeface="Times New Roman" panose="02020603050405020304" pitchFamily="18" charset="0"/>
                <a:cs typeface="Times New Roman" panose="02020603050405020304" pitchFamily="18" charset="0"/>
              </a:rPr>
              <a:t>to a digital signal.</a:t>
            </a:r>
          </a:p>
          <a:p>
            <a:pPr algn="just">
              <a:lnSpc>
                <a:spcPct val="150000"/>
              </a:lnSpc>
              <a:buFontTx/>
              <a:buBlip>
                <a:blip r:embed="rId2"/>
              </a:buBlip>
            </a:pPr>
            <a:r>
              <a:rPr lang="en-US" altLang="en-US" sz="2000" kern="0">
                <a:latin typeface="Times New Roman" panose="02020603050405020304" pitchFamily="18" charset="0"/>
                <a:cs typeface="Times New Roman" panose="02020603050405020304" pitchFamily="18" charset="0"/>
              </a:rPr>
              <a:t> </a:t>
            </a:r>
            <a:r>
              <a:rPr lang="en-IN" altLang="en-US" sz="2000" kern="0">
                <a:latin typeface="Times New Roman" panose="02020603050405020304" pitchFamily="18" charset="0"/>
                <a:cs typeface="Times New Roman" panose="02020603050405020304" pitchFamily="18" charset="0"/>
              </a:rPr>
              <a:t>Digital data take on </a:t>
            </a:r>
            <a:r>
              <a:rPr lang="en-IN" altLang="en-US" sz="2000" kern="0">
                <a:solidFill>
                  <a:srgbClr val="FF0000"/>
                </a:solidFill>
                <a:latin typeface="Times New Roman" panose="02020603050405020304" pitchFamily="18" charset="0"/>
                <a:cs typeface="Times New Roman" panose="02020603050405020304" pitchFamily="18" charset="0"/>
              </a:rPr>
              <a:t>discrete values</a:t>
            </a:r>
            <a:r>
              <a:rPr lang="en-IN" altLang="en-US" sz="2000" kern="0">
                <a:latin typeface="Times New Roman" panose="02020603050405020304" pitchFamily="18" charset="0"/>
                <a:cs typeface="Times New Roman" panose="02020603050405020304" pitchFamily="18" charset="0"/>
              </a:rPr>
              <a:t>. For example, data are stored in computer memory in the form of </a:t>
            </a:r>
            <a:r>
              <a:rPr lang="en-IN" altLang="en-US" sz="2000" kern="0">
                <a:solidFill>
                  <a:srgbClr val="FF0000"/>
                </a:solidFill>
                <a:latin typeface="Times New Roman" panose="02020603050405020304" pitchFamily="18" charset="0"/>
                <a:cs typeface="Times New Roman" panose="02020603050405020304" pitchFamily="18" charset="0"/>
              </a:rPr>
              <a:t>0s</a:t>
            </a:r>
            <a:r>
              <a:rPr lang="en-IN" altLang="en-US" sz="2000" kern="0">
                <a:latin typeface="Times New Roman" panose="02020603050405020304" pitchFamily="18" charset="0"/>
                <a:cs typeface="Times New Roman" panose="02020603050405020304" pitchFamily="18" charset="0"/>
              </a:rPr>
              <a:t> and </a:t>
            </a:r>
            <a:r>
              <a:rPr lang="en-IN" altLang="en-US" sz="2000" kern="0">
                <a:solidFill>
                  <a:srgbClr val="FF0000"/>
                </a:solidFill>
                <a:latin typeface="Times New Roman" panose="02020603050405020304" pitchFamily="18" charset="0"/>
                <a:cs typeface="Times New Roman" panose="02020603050405020304" pitchFamily="18" charset="0"/>
              </a:rPr>
              <a:t>1s</a:t>
            </a:r>
            <a:r>
              <a:rPr lang="en-IN" altLang="en-US" sz="2000" kern="0">
                <a:latin typeface="Times New Roman" panose="02020603050405020304" pitchFamily="18" charset="0"/>
                <a:cs typeface="Times New Roman" panose="02020603050405020304" pitchFamily="18" charset="0"/>
              </a:rPr>
              <a:t>. They can be converted to a digital signal  for transmission across a medium</a:t>
            </a:r>
            <a:endParaRPr lang="en-US" sz="2000" kern="0"/>
          </a:p>
        </p:txBody>
      </p:sp>
    </p:spTree>
    <p:extLst>
      <p:ext uri="{BB962C8B-B14F-4D97-AF65-F5344CB8AC3E}">
        <p14:creationId xmlns:p14="http://schemas.microsoft.com/office/powerpoint/2010/main" val="41809223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886" y="340142"/>
            <a:ext cx="4870989" cy="578408"/>
          </a:xfrm>
        </p:spPr>
        <p:txBody>
          <a:bodyPr/>
          <a:lstStyle/>
          <a:p>
            <a:r>
              <a:rPr lang="en-US" altLang="en-US" b="1">
                <a:solidFill>
                  <a:srgbClr val="002060"/>
                </a:solidFill>
                <a:latin typeface="Times New Roman" panose="02020603050405020304" pitchFamily="18" charset="0"/>
                <a:cs typeface="Times New Roman" panose="02020603050405020304" pitchFamily="18" charset="0"/>
              </a:rPr>
              <a:t>Analog and Digital Signals</a:t>
            </a:r>
            <a:br>
              <a:rPr lang="en-US" altLang="en-US" b="1">
                <a:solidFill>
                  <a:srgbClr val="002060"/>
                </a:solidFill>
                <a:latin typeface="Times New Roman" panose="02020603050405020304" pitchFamily="18" charset="0"/>
                <a:cs typeface="Times New Roman" panose="02020603050405020304" pitchFamily="18" charset="0"/>
              </a:rPr>
            </a:br>
            <a:endParaRPr lang="en-US"/>
          </a:p>
        </p:txBody>
      </p:sp>
      <p:sp>
        <p:nvSpPr>
          <p:cNvPr id="3" name="Content Placeholder 2"/>
          <p:cNvSpPr>
            <a:spLocks noGrp="1"/>
          </p:cNvSpPr>
          <p:nvPr>
            <p:ph idx="1"/>
          </p:nvPr>
        </p:nvSpPr>
        <p:spPr>
          <a:xfrm>
            <a:off x="663280" y="1368150"/>
            <a:ext cx="7886700" cy="1892826"/>
          </a:xfrm>
        </p:spPr>
        <p:txBody>
          <a:bodyPr/>
          <a:lstStyle/>
          <a:p>
            <a:pPr algn="just"/>
            <a:r>
              <a:rPr lang="en-IN" altLang="en-US" sz="1800">
                <a:latin typeface="Times New Roman" panose="02020603050405020304" pitchFamily="18" charset="0"/>
                <a:cs typeface="Times New Roman" panose="02020603050405020304" pitchFamily="18" charset="0"/>
              </a:rPr>
              <a:t>Like the data they represent, </a:t>
            </a:r>
            <a:r>
              <a:rPr lang="en-IN" altLang="en-US" sz="1800">
                <a:solidFill>
                  <a:srgbClr val="FF0000"/>
                </a:solidFill>
                <a:latin typeface="Times New Roman" panose="02020603050405020304" pitchFamily="18" charset="0"/>
                <a:cs typeface="Times New Roman" panose="02020603050405020304" pitchFamily="18" charset="0"/>
              </a:rPr>
              <a:t>signals</a:t>
            </a:r>
            <a:r>
              <a:rPr lang="en-IN" altLang="en-US" sz="1800">
                <a:latin typeface="Times New Roman" panose="02020603050405020304" pitchFamily="18" charset="0"/>
                <a:cs typeface="Times New Roman" panose="02020603050405020304" pitchFamily="18" charset="0"/>
              </a:rPr>
              <a:t> can be either </a:t>
            </a:r>
            <a:r>
              <a:rPr lang="en-IN" altLang="en-US" sz="1800" err="1">
                <a:solidFill>
                  <a:srgbClr val="FF0000"/>
                </a:solidFill>
                <a:latin typeface="Times New Roman" panose="02020603050405020304" pitchFamily="18" charset="0"/>
                <a:cs typeface="Times New Roman" panose="02020603050405020304" pitchFamily="18" charset="0"/>
              </a:rPr>
              <a:t>analog</a:t>
            </a:r>
            <a:r>
              <a:rPr lang="en-IN" altLang="en-US" sz="1800">
                <a:solidFill>
                  <a:srgbClr val="FF0000"/>
                </a:solidFill>
                <a:latin typeface="Times New Roman" panose="02020603050405020304" pitchFamily="18" charset="0"/>
                <a:cs typeface="Times New Roman" panose="02020603050405020304" pitchFamily="18" charset="0"/>
              </a:rPr>
              <a:t> or digital</a:t>
            </a:r>
            <a:r>
              <a:rPr lang="en-IN" altLang="en-US" sz="1800">
                <a:latin typeface="Times New Roman" panose="02020603050405020304" pitchFamily="18" charset="0"/>
                <a:cs typeface="Times New Roman" panose="02020603050405020304" pitchFamily="18" charset="0"/>
              </a:rPr>
              <a:t>. An </a:t>
            </a:r>
            <a:r>
              <a:rPr lang="en-IN" altLang="en-US" sz="1800" err="1">
                <a:solidFill>
                  <a:srgbClr val="FF0000"/>
                </a:solidFill>
                <a:latin typeface="Times New Roman" panose="02020603050405020304" pitchFamily="18" charset="0"/>
                <a:cs typeface="Times New Roman" panose="02020603050405020304" pitchFamily="18" charset="0"/>
              </a:rPr>
              <a:t>analog</a:t>
            </a:r>
            <a:r>
              <a:rPr lang="en-IN" altLang="en-US" sz="1800">
                <a:solidFill>
                  <a:srgbClr val="FF0000"/>
                </a:solidFill>
                <a:latin typeface="Times New Roman" panose="02020603050405020304" pitchFamily="18" charset="0"/>
                <a:cs typeface="Times New Roman" panose="02020603050405020304" pitchFamily="18" charset="0"/>
              </a:rPr>
              <a:t> signal </a:t>
            </a:r>
            <a:r>
              <a:rPr lang="en-IN" altLang="en-US" sz="1800">
                <a:latin typeface="Times New Roman" panose="02020603050405020304" pitchFamily="18" charset="0"/>
                <a:cs typeface="Times New Roman" panose="02020603050405020304" pitchFamily="18" charset="0"/>
              </a:rPr>
              <a:t>has </a:t>
            </a:r>
            <a:r>
              <a:rPr lang="en-IN" altLang="en-US" sz="1800">
                <a:solidFill>
                  <a:srgbClr val="FF0000"/>
                </a:solidFill>
                <a:latin typeface="Times New Roman" panose="02020603050405020304" pitchFamily="18" charset="0"/>
                <a:cs typeface="Times New Roman" panose="02020603050405020304" pitchFamily="18" charset="0"/>
              </a:rPr>
              <a:t>infinitely many levels </a:t>
            </a:r>
            <a:r>
              <a:rPr lang="en-IN" altLang="en-US" sz="1800">
                <a:latin typeface="Times New Roman" panose="02020603050405020304" pitchFamily="18" charset="0"/>
                <a:cs typeface="Times New Roman" panose="02020603050405020304" pitchFamily="18" charset="0"/>
              </a:rPr>
              <a:t>of intensity over a period of time. As the wave moves from value A to value B, it passes through and includes an infinite number of values along its</a:t>
            </a:r>
            <a:r>
              <a:rPr lang="en-IN" altLang="en-US" sz="1800" i="1">
                <a:latin typeface="Times New Roman" panose="02020603050405020304" pitchFamily="18" charset="0"/>
                <a:cs typeface="Times New Roman" panose="02020603050405020304" pitchFamily="18" charset="0"/>
              </a:rPr>
              <a:t> </a:t>
            </a:r>
            <a:r>
              <a:rPr lang="en-IN" altLang="en-US" sz="1800">
                <a:latin typeface="Times New Roman" panose="02020603050405020304" pitchFamily="18" charset="0"/>
                <a:cs typeface="Times New Roman" panose="02020603050405020304" pitchFamily="18" charset="0"/>
              </a:rPr>
              <a:t>path. A </a:t>
            </a:r>
            <a:r>
              <a:rPr lang="en-IN" altLang="en-US" sz="1800">
                <a:solidFill>
                  <a:srgbClr val="FF0000"/>
                </a:solidFill>
                <a:latin typeface="Times New Roman" panose="02020603050405020304" pitchFamily="18" charset="0"/>
                <a:cs typeface="Times New Roman" panose="02020603050405020304" pitchFamily="18" charset="0"/>
              </a:rPr>
              <a:t>digital signal</a:t>
            </a:r>
            <a:r>
              <a:rPr lang="en-IN" altLang="en-US" sz="1800">
                <a:latin typeface="Times New Roman" panose="02020603050405020304" pitchFamily="18" charset="0"/>
                <a:cs typeface="Times New Roman" panose="02020603050405020304" pitchFamily="18" charset="0"/>
              </a:rPr>
              <a:t>, on the other hand, can have only a </a:t>
            </a:r>
            <a:r>
              <a:rPr lang="en-IN" altLang="en-US" sz="1800">
                <a:solidFill>
                  <a:srgbClr val="FF0000"/>
                </a:solidFill>
                <a:latin typeface="Times New Roman" panose="02020603050405020304" pitchFamily="18" charset="0"/>
                <a:cs typeface="Times New Roman" panose="02020603050405020304" pitchFamily="18" charset="0"/>
              </a:rPr>
              <a:t>limited number </a:t>
            </a:r>
            <a:r>
              <a:rPr lang="en-IN" altLang="en-US" sz="1800">
                <a:latin typeface="Times New Roman" panose="02020603050405020304" pitchFamily="18" charset="0"/>
                <a:cs typeface="Times New Roman" panose="02020603050405020304" pitchFamily="18" charset="0"/>
              </a:rPr>
              <a:t>of defined values. Although each value can be any number, it is often as simple as </a:t>
            </a:r>
            <a:r>
              <a:rPr lang="en-IN" altLang="en-US" sz="1800">
                <a:solidFill>
                  <a:srgbClr val="FF0000"/>
                </a:solidFill>
                <a:latin typeface="Times New Roman" panose="02020603050405020304" pitchFamily="18" charset="0"/>
                <a:cs typeface="Times New Roman" panose="02020603050405020304" pitchFamily="18" charset="0"/>
              </a:rPr>
              <a:t>1 and 0</a:t>
            </a:r>
            <a:r>
              <a:rPr lang="en-IN" altLang="en-US" sz="1800">
                <a:latin typeface="Times New Roman" panose="02020603050405020304" pitchFamily="18" charset="0"/>
                <a:cs typeface="Times New Roman" panose="02020603050405020304" pitchFamily="18" charset="0"/>
              </a:rPr>
              <a:t>.</a:t>
            </a:r>
          </a:p>
          <a:p>
            <a:endParaRPr lang="en-US"/>
          </a:p>
        </p:txBody>
      </p:sp>
      <p:pic>
        <p:nvPicPr>
          <p:cNvPr id="4" name="Picture 6">
            <a:extLst>
              <a:ext uri="{FF2B5EF4-FFF2-40B4-BE49-F238E27FC236}">
                <a16:creationId xmlns:a16="http://schemas.microsoft.com/office/drawing/2014/main" id="{CD5A59D5-D01A-15B8-19AC-958A804EDCE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8611" y="2971800"/>
            <a:ext cx="6396038" cy="1651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9">
            <a:extLst>
              <a:ext uri="{FF2B5EF4-FFF2-40B4-BE49-F238E27FC236}">
                <a16:creationId xmlns:a16="http://schemas.microsoft.com/office/drawing/2014/main" id="{4A65CBB3-6106-3545-6250-CB8651FC2B22}"/>
              </a:ext>
            </a:extLst>
          </p:cNvPr>
          <p:cNvSpPr>
            <a:spLocks noChangeArrowheads="1"/>
          </p:cNvSpPr>
          <p:nvPr/>
        </p:nvSpPr>
        <p:spPr bwMode="auto">
          <a:xfrm>
            <a:off x="2850997" y="5450163"/>
            <a:ext cx="264687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b="1">
                <a:solidFill>
                  <a:srgbClr val="FF0000"/>
                </a:solidFill>
                <a:latin typeface="Times New Roman" panose="02020603050405020304" pitchFamily="18" charset="0"/>
                <a:cs typeface="Times New Roman" panose="02020603050405020304" pitchFamily="18" charset="0"/>
              </a:rPr>
              <a:t>Figure :</a:t>
            </a:r>
            <a:r>
              <a:rPr lang="en-US" altLang="en-US" sz="900" b="1">
                <a:solidFill>
                  <a:schemeClr val="folHlink"/>
                </a:solidFill>
                <a:latin typeface="Times New Roman" panose="02020603050405020304" pitchFamily="18" charset="0"/>
                <a:cs typeface="Times New Roman" panose="02020603050405020304" pitchFamily="18" charset="0"/>
              </a:rPr>
              <a:t>  </a:t>
            </a:r>
            <a:r>
              <a:rPr lang="en-US" altLang="en-US" sz="900" b="1">
                <a:latin typeface="Times New Roman" panose="02020603050405020304" pitchFamily="18" charset="0"/>
                <a:cs typeface="Times New Roman" panose="02020603050405020304" pitchFamily="18" charset="0"/>
              </a:rPr>
              <a:t>Comparison of analog and digital signals</a:t>
            </a:r>
          </a:p>
        </p:txBody>
      </p:sp>
    </p:spTree>
    <p:extLst>
      <p:ext uri="{BB962C8B-B14F-4D97-AF65-F5344CB8AC3E}">
        <p14:creationId xmlns:p14="http://schemas.microsoft.com/office/powerpoint/2010/main" val="18314937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80536"/>
            <a:ext cx="3522821" cy="492443"/>
          </a:xfrm>
        </p:spPr>
        <p:txBody>
          <a:bodyPr/>
          <a:lstStyle/>
          <a:p>
            <a:r>
              <a:rPr lang="en-US" sz="3200" b="1"/>
              <a:t>Analog Signals</a:t>
            </a:r>
          </a:p>
        </p:txBody>
      </p:sp>
      <p:sp>
        <p:nvSpPr>
          <p:cNvPr id="5" name="Rectangle 5"/>
          <p:cNvSpPr>
            <a:spLocks noChangeArrowheads="1"/>
          </p:cNvSpPr>
          <p:nvPr/>
        </p:nvSpPr>
        <p:spPr bwMode="auto">
          <a:xfrm>
            <a:off x="213239" y="1371600"/>
            <a:ext cx="8610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fontAlgn="base">
              <a:spcBef>
                <a:spcPct val="0"/>
              </a:spcBef>
              <a:spcAft>
                <a:spcPct val="0"/>
              </a:spcAft>
            </a:pPr>
            <a:r>
              <a:rPr lang="en-US" sz="2800" b="1" i="1">
                <a:solidFill>
                  <a:srgbClr val="000000"/>
                </a:solidFill>
                <a:effectLst>
                  <a:outerShdw blurRad="38100" dist="38100" dir="2700000" algn="tl">
                    <a:srgbClr val="C0C0C0"/>
                  </a:outerShdw>
                </a:effectLst>
                <a:latin typeface="Times New Roman" panose="02020603050405020304" pitchFamily="18" charset="0"/>
              </a:rPr>
              <a:t>Periodic analog signals can be classified as </a:t>
            </a:r>
            <a:r>
              <a:rPr lang="en-US" sz="2800" b="1" i="1">
                <a:solidFill>
                  <a:srgbClr val="FF0000"/>
                </a:solidFill>
                <a:effectLst>
                  <a:outerShdw blurRad="38100" dist="38100" dir="2700000" algn="tl">
                    <a:srgbClr val="C0C0C0"/>
                  </a:outerShdw>
                </a:effectLst>
                <a:latin typeface="Times New Roman" panose="02020603050405020304" pitchFamily="18" charset="0"/>
              </a:rPr>
              <a:t>simple</a:t>
            </a:r>
            <a:r>
              <a:rPr lang="en-US" sz="2800" b="1" i="1">
                <a:solidFill>
                  <a:srgbClr val="000000"/>
                </a:solidFill>
                <a:effectLst>
                  <a:outerShdw blurRad="38100" dist="38100" dir="2700000" algn="tl">
                    <a:srgbClr val="C0C0C0"/>
                  </a:outerShdw>
                </a:effectLst>
                <a:latin typeface="Times New Roman" panose="02020603050405020304" pitchFamily="18" charset="0"/>
              </a:rPr>
              <a:t> or </a:t>
            </a:r>
            <a:r>
              <a:rPr lang="en-US" sz="2800" b="1" i="1">
                <a:solidFill>
                  <a:srgbClr val="FF0000"/>
                </a:solidFill>
                <a:effectLst>
                  <a:outerShdw blurRad="38100" dist="38100" dir="2700000" algn="tl">
                    <a:srgbClr val="C0C0C0"/>
                  </a:outerShdw>
                </a:effectLst>
                <a:latin typeface="Times New Roman" panose="02020603050405020304" pitchFamily="18" charset="0"/>
              </a:rPr>
              <a:t>composite</a:t>
            </a:r>
            <a:r>
              <a:rPr lang="en-US" sz="2800" b="1" i="1">
                <a:solidFill>
                  <a:srgbClr val="000000"/>
                </a:solidFill>
                <a:effectLst>
                  <a:outerShdw blurRad="38100" dist="38100" dir="2700000" algn="tl">
                    <a:srgbClr val="C0C0C0"/>
                  </a:outerShdw>
                </a:effectLst>
                <a:latin typeface="Times New Roman" panose="02020603050405020304" pitchFamily="18" charset="0"/>
              </a:rPr>
              <a:t>. A simple periodic analog signal, a </a:t>
            </a:r>
            <a:r>
              <a:rPr lang="en-US" sz="2800" b="1" i="1">
                <a:solidFill>
                  <a:srgbClr val="FF0000"/>
                </a:solidFill>
                <a:effectLst>
                  <a:outerShdw blurRad="38100" dist="38100" dir="2700000" algn="tl">
                    <a:srgbClr val="C0C0C0"/>
                  </a:outerShdw>
                </a:effectLst>
                <a:latin typeface="Times New Roman" panose="02020603050405020304" pitchFamily="18" charset="0"/>
              </a:rPr>
              <a:t>sine wave</a:t>
            </a:r>
            <a:r>
              <a:rPr lang="en-US" sz="2800" b="1" i="1">
                <a:solidFill>
                  <a:srgbClr val="000000"/>
                </a:solidFill>
                <a:effectLst>
                  <a:outerShdw blurRad="38100" dist="38100" dir="2700000" algn="tl">
                    <a:srgbClr val="C0C0C0"/>
                  </a:outerShdw>
                </a:effectLst>
                <a:latin typeface="Times New Roman" panose="02020603050405020304" pitchFamily="18" charset="0"/>
              </a:rPr>
              <a:t>, cannot be decomposed into simpler signals. A composite</a:t>
            </a:r>
          </a:p>
          <a:p>
            <a:pPr algn="just" fontAlgn="base">
              <a:spcBef>
                <a:spcPct val="0"/>
              </a:spcBef>
              <a:spcAft>
                <a:spcPct val="0"/>
              </a:spcAft>
            </a:pPr>
            <a:r>
              <a:rPr lang="en-US" sz="2800" b="1" i="1">
                <a:solidFill>
                  <a:srgbClr val="000000"/>
                </a:solidFill>
                <a:effectLst>
                  <a:outerShdw blurRad="38100" dist="38100" dir="2700000" algn="tl">
                    <a:srgbClr val="C0C0C0"/>
                  </a:outerShdw>
                </a:effectLst>
                <a:latin typeface="Times New Roman" panose="02020603050405020304" pitchFamily="18" charset="0"/>
              </a:rPr>
              <a:t>periodic analog signal is composed of multiple sine waves.</a:t>
            </a:r>
          </a:p>
        </p:txBody>
      </p:sp>
      <p:sp>
        <p:nvSpPr>
          <p:cNvPr id="6" name="Rectangle 5"/>
          <p:cNvSpPr/>
          <p:nvPr/>
        </p:nvSpPr>
        <p:spPr>
          <a:xfrm>
            <a:off x="685800" y="3733800"/>
            <a:ext cx="4572000" cy="1631216"/>
          </a:xfrm>
          <a:prstGeom prst="rect">
            <a:avLst/>
          </a:prstGeom>
        </p:spPr>
        <p:txBody>
          <a:bodyPr>
            <a:spAutoFit/>
          </a:bodyPr>
          <a:lstStyle/>
          <a:p>
            <a:pPr marL="342900" indent="-342900">
              <a:buClr>
                <a:schemeClr val="tx1"/>
              </a:buClr>
              <a:buSzPct val="117000"/>
              <a:buFont typeface="Arial" panose="020B0604020202020204" pitchFamily="34" charset="0"/>
              <a:buChar char="•"/>
            </a:pPr>
            <a:r>
              <a:rPr lang="en-US" sz="2000" b="1">
                <a:solidFill>
                  <a:srgbClr val="0033CC"/>
                </a:solidFill>
              </a:rPr>
              <a:t>Sine Wave</a:t>
            </a:r>
            <a:endParaRPr lang="fr-FR" sz="2000" b="1">
              <a:solidFill>
                <a:srgbClr val="0033CC"/>
              </a:solidFill>
            </a:endParaRPr>
          </a:p>
          <a:p>
            <a:pPr marL="342900" indent="-342900">
              <a:buClr>
                <a:schemeClr val="tx1"/>
              </a:buClr>
              <a:buSzPct val="117000"/>
              <a:buFont typeface="Arial" panose="020B0604020202020204" pitchFamily="34" charset="0"/>
              <a:buChar char="•"/>
            </a:pPr>
            <a:r>
              <a:rPr lang="fr-FR" sz="2000" b="1" err="1">
                <a:solidFill>
                  <a:srgbClr val="0033CC"/>
                </a:solidFill>
              </a:rPr>
              <a:t>Wavelength</a:t>
            </a:r>
            <a:endParaRPr lang="fr-FR" sz="2000" b="1">
              <a:solidFill>
                <a:srgbClr val="0033CC"/>
              </a:solidFill>
            </a:endParaRPr>
          </a:p>
          <a:p>
            <a:pPr marL="342900" indent="-342900">
              <a:buClr>
                <a:schemeClr val="tx1"/>
              </a:buClr>
              <a:buSzPct val="117000"/>
              <a:buFont typeface="Arial" panose="020B0604020202020204" pitchFamily="34" charset="0"/>
              <a:buChar char="•"/>
            </a:pPr>
            <a:r>
              <a:rPr lang="fr-FR" sz="2000" b="1">
                <a:solidFill>
                  <a:srgbClr val="0033CC"/>
                </a:solidFill>
              </a:rPr>
              <a:t>Time and </a:t>
            </a:r>
            <a:r>
              <a:rPr lang="fr-FR" sz="2000" b="1" err="1">
                <a:solidFill>
                  <a:srgbClr val="0033CC"/>
                </a:solidFill>
              </a:rPr>
              <a:t>Frequency</a:t>
            </a:r>
            <a:r>
              <a:rPr lang="fr-FR" sz="2000" b="1">
                <a:solidFill>
                  <a:srgbClr val="0033CC"/>
                </a:solidFill>
              </a:rPr>
              <a:t> Domain</a:t>
            </a:r>
          </a:p>
          <a:p>
            <a:pPr marL="342900" indent="-342900">
              <a:buClr>
                <a:schemeClr val="tx1"/>
              </a:buClr>
              <a:buSzPct val="117000"/>
              <a:buFont typeface="Arial" panose="020B0604020202020204" pitchFamily="34" charset="0"/>
              <a:buChar char="•"/>
            </a:pPr>
            <a:r>
              <a:rPr lang="en-US" sz="2000" b="1">
                <a:solidFill>
                  <a:srgbClr val="0033CC"/>
                </a:solidFill>
              </a:rPr>
              <a:t>Composite Signals</a:t>
            </a:r>
          </a:p>
          <a:p>
            <a:pPr marL="342900" indent="-342900">
              <a:buClr>
                <a:schemeClr val="tx1"/>
              </a:buClr>
              <a:buSzPct val="117000"/>
              <a:buFont typeface="Arial" panose="020B0604020202020204" pitchFamily="34" charset="0"/>
              <a:buChar char="•"/>
            </a:pPr>
            <a:r>
              <a:rPr lang="en-US" sz="2000" b="1">
                <a:solidFill>
                  <a:srgbClr val="0033CC"/>
                </a:solidFill>
              </a:rPr>
              <a:t>Bandwidth</a:t>
            </a:r>
          </a:p>
        </p:txBody>
      </p:sp>
    </p:spTree>
    <p:extLst>
      <p:ext uri="{BB962C8B-B14F-4D97-AF65-F5344CB8AC3E}">
        <p14:creationId xmlns:p14="http://schemas.microsoft.com/office/powerpoint/2010/main" val="20764205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3522821" cy="430887"/>
          </a:xfrm>
        </p:spPr>
        <p:txBody>
          <a:bodyPr/>
          <a:lstStyle/>
          <a:p>
            <a:r>
              <a:rPr lang="en-US" sz="2800" b="1"/>
              <a:t>Digital Signals</a:t>
            </a:r>
          </a:p>
        </p:txBody>
      </p:sp>
      <p:sp>
        <p:nvSpPr>
          <p:cNvPr id="3" name="Text Placeholder 2"/>
          <p:cNvSpPr>
            <a:spLocks noGrp="1"/>
          </p:cNvSpPr>
          <p:nvPr>
            <p:ph type="body" idx="1"/>
          </p:nvPr>
        </p:nvSpPr>
        <p:spPr>
          <a:xfrm>
            <a:off x="457200" y="1219200"/>
            <a:ext cx="8305800" cy="2215991"/>
          </a:xfrm>
        </p:spPr>
        <p:txBody>
          <a:bodyPr/>
          <a:lstStyle/>
          <a:p>
            <a:pPr algn="just"/>
            <a:r>
              <a:rPr lang="en-US" sz="2400">
                <a:effectLst>
                  <a:outerShdw blurRad="38100" dist="38100" dir="2700000" algn="tl">
                    <a:srgbClr val="C0C0C0"/>
                  </a:outerShdw>
                </a:effectLst>
                <a:latin typeface="Times New Roman" panose="02020603050405020304" pitchFamily="18" charset="0"/>
                <a:cs typeface="Times New Roman" panose="02020603050405020304" pitchFamily="18" charset="0"/>
              </a:rPr>
              <a:t>In addition to being represented by an analog signal, information can also be represented by a </a:t>
            </a:r>
            <a:r>
              <a:rPr lang="en-US" sz="2400">
                <a:solidFill>
                  <a:schemeClr va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digital signal</a:t>
            </a:r>
            <a:r>
              <a:rPr lang="en-US" sz="2400">
                <a:effectLst>
                  <a:outerShdw blurRad="38100" dist="38100" dir="2700000" algn="tl">
                    <a:srgbClr val="C0C0C0"/>
                  </a:outerShdw>
                </a:effectLst>
                <a:latin typeface="Times New Roman" panose="02020603050405020304" pitchFamily="18" charset="0"/>
                <a:cs typeface="Times New Roman" panose="02020603050405020304" pitchFamily="18" charset="0"/>
              </a:rPr>
              <a:t>. For example, a 1 can be encoded as a positive voltage and a 0 as zero voltage. A digital signal can have more than two levels. In this case, we can send more than 1 bit for each level.</a:t>
            </a:r>
          </a:p>
          <a:p>
            <a:pPr algn="just"/>
            <a:endParaRPr lang="en-US" sz="2400">
              <a:latin typeface="Times New Roman" panose="02020603050405020304" pitchFamily="18" charset="0"/>
              <a:cs typeface="Times New Roman" panose="02020603050405020304" pitchFamily="18" charset="0"/>
            </a:endParaRPr>
          </a:p>
        </p:txBody>
      </p:sp>
      <p:sp>
        <p:nvSpPr>
          <p:cNvPr id="4" name="Rectangle 3"/>
          <p:cNvSpPr/>
          <p:nvPr/>
        </p:nvSpPr>
        <p:spPr>
          <a:xfrm>
            <a:off x="1066800" y="3828407"/>
            <a:ext cx="4572000" cy="1107996"/>
          </a:xfrm>
          <a:prstGeom prst="rect">
            <a:avLst/>
          </a:prstGeom>
        </p:spPr>
        <p:txBody>
          <a:bodyPr>
            <a:spAutoFit/>
          </a:bodyPr>
          <a:lstStyle/>
          <a:p>
            <a:pPr marL="342900" indent="-342900">
              <a:buFont typeface="Arial" panose="020B0604020202020204" pitchFamily="34" charset="0"/>
              <a:buChar char="•"/>
            </a:pPr>
            <a:r>
              <a:rPr lang="en-US" sz="2400">
                <a:solidFill>
                  <a:srgbClr val="0033CC"/>
                </a:solidFill>
              </a:rPr>
              <a:t>Bit Rate</a:t>
            </a:r>
            <a:endParaRPr lang="fr-FR" sz="2400">
              <a:solidFill>
                <a:srgbClr val="0033CC"/>
              </a:solidFill>
            </a:endParaRPr>
          </a:p>
          <a:p>
            <a:pPr marL="342900" indent="-342900">
              <a:buFont typeface="Arial" panose="020B0604020202020204" pitchFamily="34" charset="0"/>
              <a:buChar char="•"/>
            </a:pPr>
            <a:r>
              <a:rPr lang="fr-FR" sz="2400">
                <a:solidFill>
                  <a:srgbClr val="0033CC"/>
                </a:solidFill>
              </a:rPr>
              <a:t>Bit </a:t>
            </a:r>
            <a:r>
              <a:rPr lang="fr-FR" sz="2400" err="1">
                <a:solidFill>
                  <a:srgbClr val="0033CC"/>
                </a:solidFill>
              </a:rPr>
              <a:t>Length</a:t>
            </a:r>
            <a:br>
              <a:rPr lang="fr-FR">
                <a:solidFill>
                  <a:srgbClr val="0033CC"/>
                </a:solidFill>
              </a:rPr>
            </a:br>
            <a:endParaRPr lang="en-US"/>
          </a:p>
        </p:txBody>
      </p:sp>
    </p:spTree>
    <p:extLst>
      <p:ext uri="{BB962C8B-B14F-4D97-AF65-F5344CB8AC3E}">
        <p14:creationId xmlns:p14="http://schemas.microsoft.com/office/powerpoint/2010/main" val="37818021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3251"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3252" name="Text Box 4"/>
          <p:cNvSpPr txBox="1">
            <a:spLocks noChangeArrowheads="1"/>
          </p:cNvSpPr>
          <p:nvPr/>
        </p:nvSpPr>
        <p:spPr bwMode="auto">
          <a:xfrm>
            <a:off x="304800" y="228600"/>
            <a:ext cx="87435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i="0" baseline="0">
                <a:solidFill>
                  <a:schemeClr val="folHlink"/>
                </a:solidFill>
              </a:rPr>
              <a:t> </a:t>
            </a:r>
            <a:r>
              <a:rPr lang="en-US" sz="2000" baseline="0"/>
              <a:t>Two digital signals: one with two signal levels and the other</a:t>
            </a:r>
            <a:r>
              <a:rPr lang="en-US" sz="2000"/>
              <a:t> </a:t>
            </a:r>
            <a:r>
              <a:rPr lang="en-US" sz="2000" baseline="0"/>
              <a:t> with four signal levels</a:t>
            </a:r>
          </a:p>
        </p:txBody>
      </p:sp>
      <p:pic>
        <p:nvPicPr>
          <p:cNvPr id="693255"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0200" y="1184275"/>
            <a:ext cx="5703888" cy="384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22911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34" name="Rectangle 10"/>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235" name="Rectangle 11"/>
          <p:cNvSpPr>
            <a:spLocks noChangeArrowheads="1"/>
          </p:cNvSpPr>
          <p:nvPr/>
        </p:nvSpPr>
        <p:spPr bwMode="auto">
          <a:xfrm>
            <a:off x="228600" y="1447800"/>
            <a:ext cx="8534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000" baseline="0"/>
              <a:t>A digital signal has eight levels. How many bits are needed per level? We calculate the number of bits from the formula</a:t>
            </a:r>
          </a:p>
        </p:txBody>
      </p:sp>
      <p:pic>
        <p:nvPicPr>
          <p:cNvPr id="82023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2512" y="2439988"/>
            <a:ext cx="4346575" cy="431800"/>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0239" name="Rectangle 15"/>
          <p:cNvSpPr>
            <a:spLocks noChangeArrowheads="1"/>
          </p:cNvSpPr>
          <p:nvPr/>
        </p:nvSpPr>
        <p:spPr bwMode="auto">
          <a:xfrm>
            <a:off x="304800" y="3459661"/>
            <a:ext cx="8534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400" baseline="0"/>
              <a:t>Each signal level is represented by 3 bits.</a:t>
            </a:r>
          </a:p>
        </p:txBody>
      </p:sp>
      <p:sp>
        <p:nvSpPr>
          <p:cNvPr id="2" name="TextBox 1"/>
          <p:cNvSpPr txBox="1"/>
          <p:nvPr/>
        </p:nvSpPr>
        <p:spPr>
          <a:xfrm>
            <a:off x="533400" y="609600"/>
            <a:ext cx="1450205" cy="523220"/>
          </a:xfrm>
          <a:prstGeom prst="rect">
            <a:avLst/>
          </a:prstGeom>
          <a:noFill/>
        </p:spPr>
        <p:txBody>
          <a:bodyPr wrap="none" rtlCol="0">
            <a:spAutoFit/>
          </a:bodyPr>
          <a:lstStyle/>
          <a:p>
            <a:r>
              <a:rPr lang="en-US" sz="2800" b="1"/>
              <a:t>Example</a:t>
            </a:r>
          </a:p>
        </p:txBody>
      </p:sp>
    </p:spTree>
    <p:extLst>
      <p:ext uri="{BB962C8B-B14F-4D97-AF65-F5344CB8AC3E}">
        <p14:creationId xmlns:p14="http://schemas.microsoft.com/office/powerpoint/2010/main" val="3626020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7"/>
          <p:cNvSpPr>
            <a:spLocks noGrp="1"/>
          </p:cNvSpPr>
          <p:nvPr>
            <p:ph type="sldNum" sz="quarter" idx="4294967295"/>
          </p:nvPr>
        </p:nvSpPr>
        <p:spPr>
          <a:xfrm>
            <a:off x="8458200" y="6400800"/>
            <a:ext cx="609600" cy="457200"/>
          </a:xfrm>
          <a:prstGeom prst="rect">
            <a:avLst/>
          </a:prstGeom>
        </p:spPr>
        <p:txBody>
          <a:bodyPr/>
          <a:lstStyle/>
          <a:p>
            <a:fld id="{BD9DCAF4-22DD-4BC1-A392-E1D36E89B6BE}" type="slidenum">
              <a:rPr lang="en-US"/>
              <a:pPr/>
              <a:t>33</a:t>
            </a:fld>
            <a:endParaRPr lang="en-US"/>
          </a:p>
        </p:txBody>
      </p:sp>
      <p:sp>
        <p:nvSpPr>
          <p:cNvPr id="801795" name="Text Box 3"/>
          <p:cNvSpPr txBox="1">
            <a:spLocks noChangeArrowheads="1"/>
          </p:cNvSpPr>
          <p:nvPr/>
        </p:nvSpPr>
        <p:spPr bwMode="auto">
          <a:xfrm>
            <a:off x="-7961" y="281781"/>
            <a:ext cx="64881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i="0" baseline="0">
                <a:effectLst>
                  <a:outerShdw blurRad="38100" dist="38100" dir="2700000" algn="tl">
                    <a:srgbClr val="C0C0C0"/>
                  </a:outerShdw>
                </a:effectLst>
                <a:latin typeface="Times" panose="02020603050405020304" pitchFamily="18" charset="0"/>
              </a:rPr>
              <a:t>   TRANSMISSION IMPAIRMENT</a:t>
            </a:r>
          </a:p>
        </p:txBody>
      </p:sp>
      <p:sp>
        <p:nvSpPr>
          <p:cNvPr id="801796"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i="0" baseline="0"/>
          </a:p>
        </p:txBody>
      </p:sp>
      <p:sp>
        <p:nvSpPr>
          <p:cNvPr id="801797" name="Rectangle 5"/>
          <p:cNvSpPr>
            <a:spLocks noChangeArrowheads="1"/>
          </p:cNvSpPr>
          <p:nvPr/>
        </p:nvSpPr>
        <p:spPr bwMode="auto">
          <a:xfrm>
            <a:off x="76200" y="83653"/>
            <a:ext cx="86106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endParaRPr lang="en-US" sz="2400" b="0" i="0" baseline="0">
              <a:latin typeface="Arial" panose="020B0604020202020204" pitchFamily="34" charset="0"/>
            </a:endParaRPr>
          </a:p>
          <a:p>
            <a:pPr algn="just" eaLnBrk="1" hangingPunct="1"/>
            <a:endParaRPr lang="en-US" sz="2400">
              <a:latin typeface="Arial" panose="020B0604020202020204" pitchFamily="34" charset="0"/>
            </a:endParaRPr>
          </a:p>
          <a:p>
            <a:pPr marL="342900" indent="-342900" algn="just" eaLnBrk="1" hangingPunct="1">
              <a:buFont typeface="Wingdings" panose="05000000000000000000" pitchFamily="2" charset="2"/>
              <a:buChar char="Ø"/>
            </a:pPr>
            <a:r>
              <a:rPr lang="en-US" sz="2400" b="0" i="0" baseline="0">
                <a:latin typeface="Arial" panose="020B0604020202020204" pitchFamily="34" charset="0"/>
              </a:rPr>
              <a:t>Signals travel through transmission media, which are not perfect. </a:t>
            </a:r>
          </a:p>
          <a:p>
            <a:pPr marL="342900" indent="-342900" algn="just" eaLnBrk="1" hangingPunct="1">
              <a:buFont typeface="Wingdings" panose="05000000000000000000" pitchFamily="2" charset="2"/>
              <a:buChar char="Ø"/>
            </a:pPr>
            <a:endParaRPr lang="en-US" sz="2400">
              <a:latin typeface="Arial" panose="020B0604020202020204" pitchFamily="34" charset="0"/>
            </a:endParaRPr>
          </a:p>
          <a:p>
            <a:pPr marL="342900" indent="-342900" algn="just" eaLnBrk="1" hangingPunct="1">
              <a:buFont typeface="Wingdings" panose="05000000000000000000" pitchFamily="2" charset="2"/>
              <a:buChar char="Ø"/>
            </a:pPr>
            <a:r>
              <a:rPr lang="en-US" sz="2400" b="0" i="0" baseline="0">
                <a:latin typeface="Arial" panose="020B0604020202020204" pitchFamily="34" charset="0"/>
              </a:rPr>
              <a:t>The imperfection causes signal impairment. </a:t>
            </a:r>
          </a:p>
          <a:p>
            <a:pPr marL="342900" indent="-342900" algn="just" eaLnBrk="1" hangingPunct="1">
              <a:buFont typeface="Wingdings" panose="05000000000000000000" pitchFamily="2" charset="2"/>
              <a:buChar char="Ø"/>
            </a:pPr>
            <a:endParaRPr lang="en-US" sz="2400">
              <a:latin typeface="Arial" panose="020B0604020202020204" pitchFamily="34" charset="0"/>
            </a:endParaRPr>
          </a:p>
          <a:p>
            <a:pPr marL="342900" indent="-342900" algn="just" eaLnBrk="1" hangingPunct="1">
              <a:buFont typeface="Wingdings" panose="05000000000000000000" pitchFamily="2" charset="2"/>
              <a:buChar char="Ø"/>
            </a:pPr>
            <a:r>
              <a:rPr lang="en-US" sz="2400" b="0" i="0" baseline="0">
                <a:latin typeface="Arial" panose="020B0604020202020204" pitchFamily="34" charset="0"/>
              </a:rPr>
              <a:t>This means that the signal at the beginning of the medium is not the same as the signal at the end of the medium. What is sent is not what is received. </a:t>
            </a:r>
          </a:p>
          <a:p>
            <a:pPr marL="342900" indent="-342900" algn="just" eaLnBrk="1" hangingPunct="1">
              <a:buFont typeface="Wingdings" panose="05000000000000000000" pitchFamily="2" charset="2"/>
              <a:buChar char="Ø"/>
            </a:pPr>
            <a:endParaRPr lang="en-US" sz="2400">
              <a:latin typeface="Arial" panose="020B0604020202020204" pitchFamily="34" charset="0"/>
            </a:endParaRPr>
          </a:p>
          <a:p>
            <a:pPr marL="342900" indent="-342900" algn="just" eaLnBrk="1" hangingPunct="1">
              <a:buFont typeface="Wingdings" panose="05000000000000000000" pitchFamily="2" charset="2"/>
              <a:buChar char="Ø"/>
            </a:pPr>
            <a:r>
              <a:rPr lang="en-US" sz="2400" b="0" i="0" baseline="0">
                <a:latin typeface="Arial" panose="020B0604020202020204" pitchFamily="34" charset="0"/>
              </a:rPr>
              <a:t>Three causes of impairment are </a:t>
            </a:r>
            <a:r>
              <a:rPr lang="en-US" sz="2400" b="0" i="0" baseline="0">
                <a:solidFill>
                  <a:schemeClr val="hlink"/>
                </a:solidFill>
                <a:latin typeface="Arial" panose="020B0604020202020204" pitchFamily="34" charset="0"/>
              </a:rPr>
              <a:t>attenuation</a:t>
            </a:r>
            <a:r>
              <a:rPr lang="en-US" sz="2400" b="0" i="0" baseline="0">
                <a:latin typeface="Arial" panose="020B0604020202020204" pitchFamily="34" charset="0"/>
              </a:rPr>
              <a:t>, </a:t>
            </a:r>
            <a:r>
              <a:rPr lang="en-US" sz="2400" b="0" i="0" baseline="0">
                <a:solidFill>
                  <a:schemeClr val="hlink"/>
                </a:solidFill>
                <a:latin typeface="Arial" panose="020B0604020202020204" pitchFamily="34" charset="0"/>
              </a:rPr>
              <a:t>distortion</a:t>
            </a:r>
            <a:r>
              <a:rPr lang="en-US" sz="2400" b="0" i="0" baseline="0">
                <a:latin typeface="Arial" panose="020B0604020202020204" pitchFamily="34" charset="0"/>
              </a:rPr>
              <a:t>, and </a:t>
            </a:r>
            <a:r>
              <a:rPr lang="en-US" sz="2400" b="0" i="0" baseline="0">
                <a:solidFill>
                  <a:schemeClr val="hlink"/>
                </a:solidFill>
                <a:latin typeface="Arial" panose="020B0604020202020204" pitchFamily="34" charset="0"/>
              </a:rPr>
              <a:t>noise</a:t>
            </a:r>
            <a:r>
              <a:rPr lang="en-US" sz="2400" b="0" i="0" baseline="0">
                <a:latin typeface="Arial" panose="020B0604020202020204" pitchFamily="34" charset="0"/>
              </a:rPr>
              <a:t>.</a:t>
            </a:r>
          </a:p>
        </p:txBody>
      </p:sp>
    </p:spTree>
    <p:extLst>
      <p:ext uri="{BB962C8B-B14F-4D97-AF65-F5344CB8AC3E}">
        <p14:creationId xmlns:p14="http://schemas.microsoft.com/office/powerpoint/2010/main" val="24716942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4294967295"/>
          </p:nvPr>
        </p:nvSpPr>
        <p:spPr>
          <a:xfrm>
            <a:off x="8458200" y="6400800"/>
            <a:ext cx="609600" cy="457200"/>
          </a:xfrm>
          <a:prstGeom prst="rect">
            <a:avLst/>
          </a:prstGeom>
        </p:spPr>
        <p:txBody>
          <a:bodyPr/>
          <a:lstStyle/>
          <a:p>
            <a:fld id="{7E1BBFA0-7188-4872-8701-8A31F3D51A2B}" type="slidenum">
              <a:rPr lang="en-US"/>
              <a:pPr/>
              <a:t>34</a:t>
            </a:fld>
            <a:endParaRPr lang="en-US"/>
          </a:p>
        </p:txBody>
      </p:sp>
      <p:sp>
        <p:nvSpPr>
          <p:cNvPr id="702467" name="Line 3"/>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2468" name="Text Box 4"/>
          <p:cNvSpPr txBox="1">
            <a:spLocks noChangeArrowheads="1"/>
          </p:cNvSpPr>
          <p:nvPr/>
        </p:nvSpPr>
        <p:spPr bwMode="auto">
          <a:xfrm>
            <a:off x="304800" y="515938"/>
            <a:ext cx="52466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4400" baseline="0">
                <a:solidFill>
                  <a:srgbClr val="660066"/>
                </a:solidFill>
              </a:rPr>
              <a:t>Causes of impairment</a:t>
            </a:r>
          </a:p>
        </p:txBody>
      </p:sp>
      <p:pic>
        <p:nvPicPr>
          <p:cNvPr id="70247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275" y="2286000"/>
            <a:ext cx="7019925" cy="221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90923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DFCD5DA-8748-6C30-6EEF-723D78728746}"/>
              </a:ext>
            </a:extLst>
          </p:cNvPr>
          <p:cNvCxnSpPr/>
          <p:nvPr/>
        </p:nvCxnSpPr>
        <p:spPr>
          <a:xfrm>
            <a:off x="685800" y="912277"/>
            <a:ext cx="6858000" cy="1191"/>
          </a:xfrm>
          <a:prstGeom prst="line">
            <a:avLst/>
          </a:prstGeom>
        </p:spPr>
        <p:style>
          <a:lnRef idx="1">
            <a:schemeClr val="accent1"/>
          </a:lnRef>
          <a:fillRef idx="0">
            <a:schemeClr val="accent1"/>
          </a:fillRef>
          <a:effectRef idx="0">
            <a:schemeClr val="accent1"/>
          </a:effectRef>
          <a:fontRef idx="minor">
            <a:schemeClr val="tx1"/>
          </a:fontRef>
        </p:style>
      </p:cxnSp>
      <p:sp>
        <p:nvSpPr>
          <p:cNvPr id="58374" name="Rectangle 6">
            <a:extLst>
              <a:ext uri="{FF2B5EF4-FFF2-40B4-BE49-F238E27FC236}">
                <a16:creationId xmlns:a16="http://schemas.microsoft.com/office/drawing/2014/main" id="{CBE2EE13-4158-EDC9-9B19-5CD638C62425}"/>
              </a:ext>
            </a:extLst>
          </p:cNvPr>
          <p:cNvSpPr>
            <a:spLocks noChangeArrowheads="1"/>
          </p:cNvSpPr>
          <p:nvPr/>
        </p:nvSpPr>
        <p:spPr bwMode="auto">
          <a:xfrm>
            <a:off x="762000" y="342703"/>
            <a:ext cx="17588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IN" altLang="en-US" sz="2400" b="1">
                <a:solidFill>
                  <a:srgbClr val="002060"/>
                </a:solidFill>
                <a:latin typeface="Times New Roman" panose="02020603050405020304" pitchFamily="18" charset="0"/>
                <a:cs typeface="Times New Roman" panose="02020603050405020304" pitchFamily="18" charset="0"/>
              </a:rPr>
              <a:t>Attenuation</a:t>
            </a:r>
          </a:p>
        </p:txBody>
      </p:sp>
      <p:pic>
        <p:nvPicPr>
          <p:cNvPr id="58375" name="Picture 6">
            <a:extLst>
              <a:ext uri="{FF2B5EF4-FFF2-40B4-BE49-F238E27FC236}">
                <a16:creationId xmlns:a16="http://schemas.microsoft.com/office/drawing/2014/main" id="{82421A52-74F5-BEF8-BA50-9A8E76C6965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60985" y="3896240"/>
            <a:ext cx="4822031" cy="1831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6" name="Rectangle 8">
            <a:extLst>
              <a:ext uri="{FF2B5EF4-FFF2-40B4-BE49-F238E27FC236}">
                <a16:creationId xmlns:a16="http://schemas.microsoft.com/office/drawing/2014/main" id="{0A989A91-7FAE-A2E0-66BC-C18A9EE5DF0A}"/>
              </a:ext>
            </a:extLst>
          </p:cNvPr>
          <p:cNvSpPr>
            <a:spLocks noChangeArrowheads="1"/>
          </p:cNvSpPr>
          <p:nvPr/>
        </p:nvSpPr>
        <p:spPr bwMode="auto">
          <a:xfrm>
            <a:off x="762000" y="1066800"/>
            <a:ext cx="7619999" cy="2535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fontAlgn="base">
              <a:lnSpc>
                <a:spcPct val="150000"/>
              </a:lnSpc>
              <a:spcBef>
                <a:spcPct val="0"/>
              </a:spcBef>
              <a:spcAft>
                <a:spcPct val="0"/>
              </a:spcAft>
              <a:buFontTx/>
              <a:buBlip>
                <a:blip r:embed="rId4"/>
              </a:buBlip>
            </a:pPr>
            <a:r>
              <a:rPr lang="en-IN" altLang="en-US">
                <a:solidFill>
                  <a:prstClr val="black"/>
                </a:solidFill>
                <a:latin typeface="Times New Roman" panose="02020603050405020304" pitchFamily="18" charset="0"/>
                <a:cs typeface="Times New Roman" panose="02020603050405020304" pitchFamily="18" charset="0"/>
              </a:rPr>
              <a:t> Attenuation means a </a:t>
            </a:r>
            <a:r>
              <a:rPr lang="en-IN" altLang="en-US">
                <a:solidFill>
                  <a:srgbClr val="FF0000"/>
                </a:solidFill>
                <a:latin typeface="Times New Roman" panose="02020603050405020304" pitchFamily="18" charset="0"/>
                <a:cs typeface="Times New Roman" panose="02020603050405020304" pitchFamily="18" charset="0"/>
              </a:rPr>
              <a:t>loss </a:t>
            </a:r>
            <a:r>
              <a:rPr lang="en-IN" altLang="en-US">
                <a:solidFill>
                  <a:prstClr val="black"/>
                </a:solidFill>
                <a:latin typeface="Times New Roman" panose="02020603050405020304" pitchFamily="18" charset="0"/>
                <a:cs typeface="Times New Roman" panose="02020603050405020304" pitchFamily="18" charset="0"/>
              </a:rPr>
              <a:t>of energy. When a signal travels through a medium, it loses some of its energy in overcoming the resistance of the medium.</a:t>
            </a:r>
          </a:p>
          <a:p>
            <a:pPr algn="just" fontAlgn="base">
              <a:lnSpc>
                <a:spcPct val="150000"/>
              </a:lnSpc>
              <a:spcBef>
                <a:spcPct val="0"/>
              </a:spcBef>
              <a:spcAft>
                <a:spcPct val="0"/>
              </a:spcAft>
              <a:buFontTx/>
              <a:buBlip>
                <a:blip r:embed="rId4"/>
              </a:buBlip>
            </a:pPr>
            <a:r>
              <a:rPr lang="en-US" altLang="en-US">
                <a:solidFill>
                  <a:prstClr val="black"/>
                </a:solidFill>
                <a:latin typeface="Times New Roman" panose="02020603050405020304" pitchFamily="18" charset="0"/>
                <a:cs typeface="Times New Roman" panose="02020603050405020304" pitchFamily="18" charset="0"/>
              </a:rPr>
              <a:t> </a:t>
            </a:r>
            <a:r>
              <a:rPr lang="en-IN" altLang="en-US">
                <a:solidFill>
                  <a:prstClr val="black"/>
                </a:solidFill>
                <a:latin typeface="Times New Roman" panose="02020603050405020304" pitchFamily="18" charset="0"/>
                <a:cs typeface="Times New Roman" panose="02020603050405020304" pitchFamily="18" charset="0"/>
              </a:rPr>
              <a:t>That is why a wire carrying electric signals </a:t>
            </a:r>
            <a:r>
              <a:rPr lang="en-IN" altLang="en-US">
                <a:solidFill>
                  <a:srgbClr val="FF0000"/>
                </a:solidFill>
                <a:latin typeface="Times New Roman" panose="02020603050405020304" pitchFamily="18" charset="0"/>
                <a:cs typeface="Times New Roman" panose="02020603050405020304" pitchFamily="18" charset="0"/>
              </a:rPr>
              <a:t>gets warm</a:t>
            </a:r>
            <a:r>
              <a:rPr lang="en-IN" altLang="en-US">
                <a:solidFill>
                  <a:prstClr val="black"/>
                </a:solidFill>
                <a:latin typeface="Times New Roman" panose="02020603050405020304" pitchFamily="18" charset="0"/>
                <a:cs typeface="Times New Roman" panose="02020603050405020304" pitchFamily="18" charset="0"/>
              </a:rPr>
              <a:t>, if not hot, after a while.</a:t>
            </a:r>
          </a:p>
          <a:p>
            <a:pPr algn="just" fontAlgn="base">
              <a:lnSpc>
                <a:spcPct val="150000"/>
              </a:lnSpc>
              <a:spcBef>
                <a:spcPct val="0"/>
              </a:spcBef>
              <a:spcAft>
                <a:spcPct val="0"/>
              </a:spcAft>
              <a:buFontTx/>
              <a:buBlip>
                <a:blip r:embed="rId4"/>
              </a:buBlip>
            </a:pPr>
            <a:r>
              <a:rPr lang="en-IN" altLang="en-US">
                <a:solidFill>
                  <a:prstClr val="black"/>
                </a:solidFill>
                <a:latin typeface="Times New Roman" panose="02020603050405020304" pitchFamily="18" charset="0"/>
                <a:cs typeface="Times New Roman" panose="02020603050405020304" pitchFamily="18" charset="0"/>
              </a:rPr>
              <a:t>Some of the electrical energy in the signal is converted to heat. To compensate for this loss, </a:t>
            </a:r>
            <a:r>
              <a:rPr lang="en-IN" altLang="en-US">
                <a:solidFill>
                  <a:srgbClr val="FF0000"/>
                </a:solidFill>
                <a:latin typeface="Times New Roman" panose="02020603050405020304" pitchFamily="18" charset="0"/>
                <a:cs typeface="Times New Roman" panose="02020603050405020304" pitchFamily="18" charset="0"/>
              </a:rPr>
              <a:t>amplifiers</a:t>
            </a:r>
            <a:r>
              <a:rPr lang="en-IN" altLang="en-US">
                <a:solidFill>
                  <a:prstClr val="black"/>
                </a:solidFill>
                <a:latin typeface="Times New Roman" panose="02020603050405020304" pitchFamily="18" charset="0"/>
                <a:cs typeface="Times New Roman" panose="02020603050405020304" pitchFamily="18" charset="0"/>
              </a:rPr>
              <a:t> are used to amplify the signal.</a:t>
            </a:r>
          </a:p>
          <a:p>
            <a:pPr algn="just" fontAlgn="base">
              <a:lnSpc>
                <a:spcPct val="150000"/>
              </a:lnSpc>
              <a:spcBef>
                <a:spcPct val="0"/>
              </a:spcBef>
              <a:spcAft>
                <a:spcPct val="0"/>
              </a:spcAft>
              <a:buFontTx/>
              <a:buBlip>
                <a:blip r:embed="rId4"/>
              </a:buBlip>
            </a:pPr>
            <a:r>
              <a:rPr lang="en-US" altLang="en-US">
                <a:solidFill>
                  <a:prstClr val="black"/>
                </a:solidFill>
                <a:latin typeface="Times New Roman" panose="02020603050405020304" pitchFamily="18" charset="0"/>
                <a:cs typeface="Times New Roman" panose="02020603050405020304" pitchFamily="18" charset="0"/>
              </a:rPr>
              <a:t> </a:t>
            </a:r>
            <a:r>
              <a:rPr lang="en-IN" altLang="en-US">
                <a:solidFill>
                  <a:prstClr val="black"/>
                </a:solidFill>
                <a:latin typeface="Times New Roman" panose="02020603050405020304" pitchFamily="18" charset="0"/>
                <a:cs typeface="Times New Roman" panose="02020603050405020304" pitchFamily="18" charset="0"/>
              </a:rPr>
              <a:t>Figure below shows the </a:t>
            </a:r>
            <a:r>
              <a:rPr lang="en-IN" altLang="en-US">
                <a:solidFill>
                  <a:srgbClr val="FF0000"/>
                </a:solidFill>
                <a:latin typeface="Times New Roman" panose="02020603050405020304" pitchFamily="18" charset="0"/>
                <a:cs typeface="Times New Roman" panose="02020603050405020304" pitchFamily="18" charset="0"/>
              </a:rPr>
              <a:t>effect</a:t>
            </a:r>
            <a:r>
              <a:rPr lang="en-IN" altLang="en-US">
                <a:solidFill>
                  <a:prstClr val="black"/>
                </a:solidFill>
                <a:latin typeface="Times New Roman" panose="02020603050405020304" pitchFamily="18" charset="0"/>
                <a:cs typeface="Times New Roman" panose="02020603050405020304" pitchFamily="18" charset="0"/>
              </a:rPr>
              <a:t> of attenuation and amplification.</a:t>
            </a:r>
          </a:p>
        </p:txBody>
      </p:sp>
      <p:sp>
        <p:nvSpPr>
          <p:cNvPr id="58377" name="Rectangle 9">
            <a:extLst>
              <a:ext uri="{FF2B5EF4-FFF2-40B4-BE49-F238E27FC236}">
                <a16:creationId xmlns:a16="http://schemas.microsoft.com/office/drawing/2014/main" id="{7803178E-F78D-4E73-4342-A2C9A35F7514}"/>
              </a:ext>
            </a:extLst>
          </p:cNvPr>
          <p:cNvSpPr>
            <a:spLocks noChangeArrowheads="1"/>
          </p:cNvSpPr>
          <p:nvPr/>
        </p:nvSpPr>
        <p:spPr bwMode="auto">
          <a:xfrm>
            <a:off x="3958831" y="5715980"/>
            <a:ext cx="122661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900" b="1">
                <a:solidFill>
                  <a:srgbClr val="FF0000"/>
                </a:solidFill>
                <a:latin typeface="Times New Roman" panose="02020603050405020304" pitchFamily="18" charset="0"/>
                <a:cs typeface="Times New Roman" panose="02020603050405020304" pitchFamily="18" charset="0"/>
              </a:rPr>
              <a:t>Figure :</a:t>
            </a:r>
            <a:r>
              <a:rPr lang="en-US" altLang="en-US" sz="900" b="1">
                <a:solidFill>
                  <a:srgbClr val="800080"/>
                </a:solidFill>
                <a:latin typeface="Times New Roman" panose="02020603050405020304" pitchFamily="18" charset="0"/>
                <a:cs typeface="Times New Roman" panose="02020603050405020304" pitchFamily="18" charset="0"/>
              </a:rPr>
              <a:t>  </a:t>
            </a:r>
            <a:r>
              <a:rPr lang="en-US" altLang="en-US" sz="900" b="1">
                <a:solidFill>
                  <a:prstClr val="black"/>
                </a:solidFill>
                <a:latin typeface="Times New Roman" panose="02020603050405020304" pitchFamily="18" charset="0"/>
                <a:cs typeface="Times New Roman" panose="02020603050405020304" pitchFamily="18" charset="0"/>
              </a:rPr>
              <a:t>Attenuation</a:t>
            </a:r>
          </a:p>
        </p:txBody>
      </p:sp>
    </p:spTree>
    <p:extLst>
      <p:ext uri="{BB962C8B-B14F-4D97-AF65-F5344CB8AC3E}">
        <p14:creationId xmlns:p14="http://schemas.microsoft.com/office/powerpoint/2010/main" val="9284061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12113C3-7F8C-2320-FE06-970BCE13FBAB}"/>
              </a:ext>
            </a:extLst>
          </p:cNvPr>
          <p:cNvCxnSpPr/>
          <p:nvPr/>
        </p:nvCxnSpPr>
        <p:spPr>
          <a:xfrm>
            <a:off x="1017651" y="843704"/>
            <a:ext cx="6858000" cy="1191"/>
          </a:xfrm>
          <a:prstGeom prst="line">
            <a:avLst/>
          </a:prstGeom>
        </p:spPr>
        <p:style>
          <a:lnRef idx="1">
            <a:schemeClr val="accent1"/>
          </a:lnRef>
          <a:fillRef idx="0">
            <a:schemeClr val="accent1"/>
          </a:fillRef>
          <a:effectRef idx="0">
            <a:schemeClr val="accent1"/>
          </a:effectRef>
          <a:fontRef idx="minor">
            <a:schemeClr val="tx1"/>
          </a:fontRef>
        </p:style>
      </p:cxnSp>
      <p:sp>
        <p:nvSpPr>
          <p:cNvPr id="59398" name="Rectangle 6">
            <a:extLst>
              <a:ext uri="{FF2B5EF4-FFF2-40B4-BE49-F238E27FC236}">
                <a16:creationId xmlns:a16="http://schemas.microsoft.com/office/drawing/2014/main" id="{6BA0FDB7-5D70-B7EA-F7A5-260C22EFAC37}"/>
              </a:ext>
            </a:extLst>
          </p:cNvPr>
          <p:cNvSpPr>
            <a:spLocks noChangeArrowheads="1"/>
          </p:cNvSpPr>
          <p:nvPr/>
        </p:nvSpPr>
        <p:spPr bwMode="auto">
          <a:xfrm>
            <a:off x="1014239" y="369584"/>
            <a:ext cx="11576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IN" altLang="en-US" sz="2400" b="1">
                <a:solidFill>
                  <a:srgbClr val="002060"/>
                </a:solidFill>
                <a:latin typeface="Times New Roman" panose="02020603050405020304" pitchFamily="18" charset="0"/>
                <a:cs typeface="Times New Roman" panose="02020603050405020304" pitchFamily="18" charset="0"/>
              </a:rPr>
              <a:t>Decibel</a:t>
            </a:r>
          </a:p>
        </p:txBody>
      </p:sp>
      <p:sp>
        <p:nvSpPr>
          <p:cNvPr id="59399" name="Rectangle 7">
            <a:extLst>
              <a:ext uri="{FF2B5EF4-FFF2-40B4-BE49-F238E27FC236}">
                <a16:creationId xmlns:a16="http://schemas.microsoft.com/office/drawing/2014/main" id="{B7896746-9A37-C355-303B-5DE29396C7BB}"/>
              </a:ext>
            </a:extLst>
          </p:cNvPr>
          <p:cNvSpPr>
            <a:spLocks noChangeArrowheads="1"/>
          </p:cNvSpPr>
          <p:nvPr/>
        </p:nvSpPr>
        <p:spPr bwMode="auto">
          <a:xfrm>
            <a:off x="1035848" y="1383518"/>
            <a:ext cx="6697265" cy="152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fontAlgn="base">
              <a:lnSpc>
                <a:spcPct val="150000"/>
              </a:lnSpc>
              <a:spcBef>
                <a:spcPct val="0"/>
              </a:spcBef>
              <a:spcAft>
                <a:spcPct val="0"/>
              </a:spcAft>
              <a:buFontTx/>
              <a:buBlip>
                <a:blip r:embed="rId3"/>
              </a:buBlip>
            </a:pPr>
            <a:r>
              <a:rPr lang="en-IN" altLang="en-US" sz="1350">
                <a:solidFill>
                  <a:prstClr val="black"/>
                </a:solidFill>
                <a:latin typeface="Times New Roman" panose="02020603050405020304" pitchFamily="18" charset="0"/>
                <a:cs typeface="Times New Roman" panose="02020603050405020304" pitchFamily="18" charset="0"/>
              </a:rPr>
              <a:t> </a:t>
            </a:r>
            <a:r>
              <a:rPr lang="en-IN" altLang="en-US" sz="1600">
                <a:solidFill>
                  <a:prstClr val="black"/>
                </a:solidFill>
                <a:latin typeface="Times New Roman" panose="02020603050405020304" pitchFamily="18" charset="0"/>
                <a:cs typeface="Times New Roman" panose="02020603050405020304" pitchFamily="18" charset="0"/>
              </a:rPr>
              <a:t>To show that a signal has </a:t>
            </a:r>
            <a:r>
              <a:rPr lang="en-IN" altLang="en-US" sz="1600">
                <a:solidFill>
                  <a:srgbClr val="FF0000"/>
                </a:solidFill>
                <a:latin typeface="Times New Roman" panose="02020603050405020304" pitchFamily="18" charset="0"/>
                <a:cs typeface="Times New Roman" panose="02020603050405020304" pitchFamily="18" charset="0"/>
              </a:rPr>
              <a:t>lost </a:t>
            </a:r>
            <a:r>
              <a:rPr lang="en-IN" altLang="en-US" sz="1600">
                <a:solidFill>
                  <a:prstClr val="black"/>
                </a:solidFill>
                <a:latin typeface="Times New Roman" panose="02020603050405020304" pitchFamily="18" charset="0"/>
                <a:cs typeface="Times New Roman" panose="02020603050405020304" pitchFamily="18" charset="0"/>
              </a:rPr>
              <a:t>or </a:t>
            </a:r>
            <a:r>
              <a:rPr lang="en-IN" altLang="en-US" sz="1600">
                <a:solidFill>
                  <a:srgbClr val="FF0000"/>
                </a:solidFill>
                <a:latin typeface="Times New Roman" panose="02020603050405020304" pitchFamily="18" charset="0"/>
                <a:cs typeface="Times New Roman" panose="02020603050405020304" pitchFamily="18" charset="0"/>
              </a:rPr>
              <a:t>gained</a:t>
            </a:r>
            <a:r>
              <a:rPr lang="en-IN" altLang="en-US" sz="1600">
                <a:solidFill>
                  <a:prstClr val="black"/>
                </a:solidFill>
                <a:latin typeface="Times New Roman" panose="02020603050405020304" pitchFamily="18" charset="0"/>
                <a:cs typeface="Times New Roman" panose="02020603050405020304" pitchFamily="18" charset="0"/>
              </a:rPr>
              <a:t> strength, engineers use the </a:t>
            </a:r>
            <a:r>
              <a:rPr lang="en-IN" altLang="en-US" sz="1600">
                <a:solidFill>
                  <a:srgbClr val="FF0000"/>
                </a:solidFill>
                <a:latin typeface="Times New Roman" panose="02020603050405020304" pitchFamily="18" charset="0"/>
                <a:cs typeface="Times New Roman" panose="02020603050405020304" pitchFamily="18" charset="0"/>
              </a:rPr>
              <a:t>unit</a:t>
            </a:r>
            <a:r>
              <a:rPr lang="en-IN" altLang="en-US" sz="1600">
                <a:solidFill>
                  <a:prstClr val="black"/>
                </a:solidFill>
                <a:latin typeface="Times New Roman" panose="02020603050405020304" pitchFamily="18" charset="0"/>
                <a:cs typeface="Times New Roman" panose="02020603050405020304" pitchFamily="18" charset="0"/>
              </a:rPr>
              <a:t> of the decibel. The decibel (dB) measures the </a:t>
            </a:r>
            <a:r>
              <a:rPr lang="en-IN" altLang="en-US" sz="1600">
                <a:solidFill>
                  <a:srgbClr val="FF0000"/>
                </a:solidFill>
                <a:latin typeface="Times New Roman" panose="02020603050405020304" pitchFamily="18" charset="0"/>
                <a:cs typeface="Times New Roman" panose="02020603050405020304" pitchFamily="18" charset="0"/>
              </a:rPr>
              <a:t>relative strengths </a:t>
            </a:r>
            <a:r>
              <a:rPr lang="en-IN" altLang="en-US" sz="1600">
                <a:solidFill>
                  <a:prstClr val="black"/>
                </a:solidFill>
                <a:latin typeface="Times New Roman" panose="02020603050405020304" pitchFamily="18" charset="0"/>
                <a:cs typeface="Times New Roman" panose="02020603050405020304" pitchFamily="18" charset="0"/>
              </a:rPr>
              <a:t>of one signal at two different points. Note that the decibel is </a:t>
            </a:r>
            <a:r>
              <a:rPr lang="en-IN" altLang="en-US" sz="1600" b="1">
                <a:solidFill>
                  <a:srgbClr val="FF0000"/>
                </a:solidFill>
                <a:latin typeface="Times New Roman" panose="02020603050405020304" pitchFamily="18" charset="0"/>
                <a:cs typeface="Times New Roman" panose="02020603050405020304" pitchFamily="18" charset="0"/>
              </a:rPr>
              <a:t>negative if a signal is attenuated </a:t>
            </a:r>
            <a:r>
              <a:rPr lang="en-IN" altLang="en-US" sz="1600">
                <a:solidFill>
                  <a:prstClr val="black"/>
                </a:solidFill>
                <a:latin typeface="Times New Roman" panose="02020603050405020304" pitchFamily="18" charset="0"/>
                <a:cs typeface="Times New Roman" panose="02020603050405020304" pitchFamily="18" charset="0"/>
              </a:rPr>
              <a:t>and </a:t>
            </a:r>
            <a:r>
              <a:rPr lang="en-IN" altLang="en-US" sz="1600" b="1">
                <a:solidFill>
                  <a:srgbClr val="FF0000"/>
                </a:solidFill>
                <a:latin typeface="Times New Roman" panose="02020603050405020304" pitchFamily="18" charset="0"/>
                <a:cs typeface="Times New Roman" panose="02020603050405020304" pitchFamily="18" charset="0"/>
              </a:rPr>
              <a:t>positive if a signal is amplified</a:t>
            </a:r>
            <a:r>
              <a:rPr lang="en-IN" altLang="en-US" sz="1600">
                <a:solidFill>
                  <a:prstClr val="black"/>
                </a:solidFill>
                <a:latin typeface="Times New Roman" panose="02020603050405020304" pitchFamily="18" charset="0"/>
                <a:cs typeface="Times New Roman" panose="02020603050405020304" pitchFamily="18" charset="0"/>
              </a:rPr>
              <a:t>.</a:t>
            </a:r>
          </a:p>
        </p:txBody>
      </p:sp>
      <p:pic>
        <p:nvPicPr>
          <p:cNvPr id="59401" name="Picture 2">
            <a:extLst>
              <a:ext uri="{FF2B5EF4-FFF2-40B4-BE49-F238E27FC236}">
                <a16:creationId xmlns:a16="http://schemas.microsoft.com/office/drawing/2014/main" id="{6A48D02C-B25B-D809-20FD-63F801B383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7927" y="3841134"/>
            <a:ext cx="231457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2" name="Rectangle 10">
            <a:extLst>
              <a:ext uri="{FF2B5EF4-FFF2-40B4-BE49-F238E27FC236}">
                <a16:creationId xmlns:a16="http://schemas.microsoft.com/office/drawing/2014/main" id="{B8E766EC-FD5C-8E7C-9C29-EED3016FD179}"/>
              </a:ext>
            </a:extLst>
          </p:cNvPr>
          <p:cNvSpPr>
            <a:spLocks noChangeArrowheads="1"/>
          </p:cNvSpPr>
          <p:nvPr/>
        </p:nvSpPr>
        <p:spPr bwMode="auto">
          <a:xfrm>
            <a:off x="1371600" y="4957718"/>
            <a:ext cx="669726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FontTx/>
              <a:buBlip>
                <a:blip r:embed="rId5"/>
              </a:buBlip>
            </a:pPr>
            <a:r>
              <a:rPr lang="en-IN" altLang="en-US" sz="1350" b="1" i="1">
                <a:solidFill>
                  <a:prstClr val="black"/>
                </a:solidFill>
                <a:latin typeface="Times New Roman" panose="02020603050405020304" pitchFamily="18" charset="0"/>
                <a:cs typeface="Times New Roman" panose="02020603050405020304" pitchFamily="18" charset="0"/>
              </a:rPr>
              <a:t>Variables P1 and P2 are the powers of a signal at points 1 and 2, respectively.</a:t>
            </a:r>
          </a:p>
        </p:txBody>
      </p:sp>
    </p:spTree>
    <p:extLst>
      <p:ext uri="{BB962C8B-B14F-4D97-AF65-F5344CB8AC3E}">
        <p14:creationId xmlns:p14="http://schemas.microsoft.com/office/powerpoint/2010/main" val="39591930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4294967295"/>
          </p:nvPr>
        </p:nvSpPr>
        <p:spPr>
          <a:xfrm>
            <a:off x="8458200" y="6400800"/>
            <a:ext cx="609600" cy="457200"/>
          </a:xfrm>
          <a:prstGeom prst="rect">
            <a:avLst/>
          </a:prstGeom>
        </p:spPr>
        <p:txBody>
          <a:bodyPr/>
          <a:lstStyle/>
          <a:p>
            <a:fld id="{2300331D-6B62-4FA2-B922-5EE30C7F72A9}" type="slidenum">
              <a:rPr lang="en-US"/>
              <a:pPr/>
              <a:t>37</a:t>
            </a:fld>
            <a:endParaRPr lang="en-US"/>
          </a:p>
        </p:txBody>
      </p:sp>
      <p:sp>
        <p:nvSpPr>
          <p:cNvPr id="829448" name="Rectangle 8"/>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29449" name="Rectangle 9"/>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29450" name="Rectangle 10"/>
          <p:cNvSpPr>
            <a:spLocks noChangeArrowheads="1"/>
          </p:cNvSpPr>
          <p:nvPr/>
        </p:nvSpPr>
        <p:spPr bwMode="auto">
          <a:xfrm>
            <a:off x="169460" y="448776"/>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9451" name="Rectangle 11"/>
          <p:cNvSpPr>
            <a:spLocks noChangeArrowheads="1"/>
          </p:cNvSpPr>
          <p:nvPr/>
        </p:nvSpPr>
        <p:spPr bwMode="auto">
          <a:xfrm>
            <a:off x="288925" y="1383210"/>
            <a:ext cx="8534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000" baseline="0"/>
              <a:t>Suppose a signal travels through a transmission medium and its power is reduced to one-half. This means that P</a:t>
            </a:r>
            <a:r>
              <a:rPr lang="en-US" sz="2000"/>
              <a:t>2</a:t>
            </a:r>
            <a:r>
              <a:rPr lang="en-US" sz="2000" baseline="0"/>
              <a:t> is (1/2)P</a:t>
            </a:r>
            <a:r>
              <a:rPr lang="en-US" sz="2000"/>
              <a:t>1</a:t>
            </a:r>
            <a:r>
              <a:rPr lang="en-US" sz="2000" baseline="0"/>
              <a:t>. In this case, the attenuation (loss of power) can be calculated as</a:t>
            </a:r>
          </a:p>
        </p:txBody>
      </p:sp>
      <p:sp>
        <p:nvSpPr>
          <p:cNvPr id="829452" name="Text Box 12"/>
          <p:cNvSpPr txBox="1">
            <a:spLocks noChangeArrowheads="1"/>
          </p:cNvSpPr>
          <p:nvPr/>
        </p:nvSpPr>
        <p:spPr bwMode="auto">
          <a:xfrm>
            <a:off x="1143000" y="182563"/>
            <a:ext cx="1674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baseline="0">
                <a:solidFill>
                  <a:schemeClr val="hlink"/>
                </a:solidFill>
              </a:rPr>
              <a:t>Example</a:t>
            </a:r>
          </a:p>
        </p:txBody>
      </p:sp>
      <p:sp>
        <p:nvSpPr>
          <p:cNvPr id="829456" name="Rectangle 16"/>
          <p:cNvSpPr>
            <a:spLocks noChangeArrowheads="1"/>
          </p:cNvSpPr>
          <p:nvPr/>
        </p:nvSpPr>
        <p:spPr bwMode="auto">
          <a:xfrm>
            <a:off x="394009" y="4395789"/>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baseline="0"/>
              <a:t>A loss of 3 dB (–3 dB) is equivalent to losing one-half the power.</a:t>
            </a:r>
          </a:p>
        </p:txBody>
      </p:sp>
      <p:pic>
        <p:nvPicPr>
          <p:cNvPr id="829457"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913" y="2954539"/>
            <a:ext cx="7226300" cy="72866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77559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4294967295"/>
          </p:nvPr>
        </p:nvSpPr>
        <p:spPr>
          <a:xfrm>
            <a:off x="8458200" y="6400800"/>
            <a:ext cx="609600" cy="457200"/>
          </a:xfrm>
          <a:prstGeom prst="rect">
            <a:avLst/>
          </a:prstGeom>
        </p:spPr>
        <p:txBody>
          <a:bodyPr/>
          <a:lstStyle/>
          <a:p>
            <a:fld id="{944EBAF8-CCA0-4D9B-A7EB-5A7FDA871B3D}" type="slidenum">
              <a:rPr lang="en-US"/>
              <a:pPr/>
              <a:t>38</a:t>
            </a:fld>
            <a:endParaRPr lang="en-US"/>
          </a:p>
        </p:txBody>
      </p:sp>
      <p:sp>
        <p:nvSpPr>
          <p:cNvPr id="830472" name="Rectangle 8"/>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0473" name="Rectangle 9"/>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0474" name="Rectangle 10"/>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0475" name="Rectangle 11"/>
          <p:cNvSpPr>
            <a:spLocks noChangeArrowheads="1"/>
          </p:cNvSpPr>
          <p:nvPr/>
        </p:nvSpPr>
        <p:spPr bwMode="auto">
          <a:xfrm>
            <a:off x="228600" y="1447800"/>
            <a:ext cx="8534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000" baseline="0"/>
              <a:t>A signal travels through an amplifier, and its power is increased 10 times. This means that P</a:t>
            </a:r>
            <a:r>
              <a:rPr lang="en-US" sz="2000" baseline="-25000"/>
              <a:t>2</a:t>
            </a:r>
            <a:r>
              <a:rPr lang="en-US" sz="2000" baseline="0"/>
              <a:t> = 10P</a:t>
            </a:r>
            <a:r>
              <a:rPr lang="en-US" sz="2000" baseline="-25000"/>
              <a:t>1 </a:t>
            </a:r>
            <a:r>
              <a:rPr lang="en-US" sz="2000" baseline="0"/>
              <a:t>. In this case, the amplification (gain of power) can be calculated as</a:t>
            </a:r>
          </a:p>
        </p:txBody>
      </p:sp>
      <p:sp>
        <p:nvSpPr>
          <p:cNvPr id="830476" name="Text Box 12"/>
          <p:cNvSpPr txBox="1">
            <a:spLocks noChangeArrowheads="1"/>
          </p:cNvSpPr>
          <p:nvPr/>
        </p:nvSpPr>
        <p:spPr bwMode="auto">
          <a:xfrm>
            <a:off x="1143000" y="182563"/>
            <a:ext cx="1674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baseline="0">
                <a:solidFill>
                  <a:schemeClr val="hlink"/>
                </a:solidFill>
              </a:rPr>
              <a:t>Example</a:t>
            </a:r>
          </a:p>
        </p:txBody>
      </p:sp>
      <p:pic>
        <p:nvPicPr>
          <p:cNvPr id="83047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025" y="3352800"/>
            <a:ext cx="3409950" cy="819150"/>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30479"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7975" y="4398963"/>
            <a:ext cx="3446463" cy="630237"/>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90919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796B6848-4A8D-BB30-BE49-5AE8EF486659}"/>
              </a:ext>
            </a:extLst>
          </p:cNvPr>
          <p:cNvCxnSpPr/>
          <p:nvPr/>
        </p:nvCxnSpPr>
        <p:spPr>
          <a:xfrm>
            <a:off x="1089422" y="813113"/>
            <a:ext cx="6858000" cy="1191"/>
          </a:xfrm>
          <a:prstGeom prst="line">
            <a:avLst/>
          </a:prstGeom>
        </p:spPr>
        <p:style>
          <a:lnRef idx="1">
            <a:schemeClr val="accent1"/>
          </a:lnRef>
          <a:fillRef idx="0">
            <a:schemeClr val="accent1"/>
          </a:fillRef>
          <a:effectRef idx="0">
            <a:schemeClr val="accent1"/>
          </a:effectRef>
          <a:fontRef idx="minor">
            <a:schemeClr val="tx1"/>
          </a:fontRef>
        </p:style>
      </p:cxnSp>
      <p:sp>
        <p:nvSpPr>
          <p:cNvPr id="65540" name="Rectangle 6">
            <a:extLst>
              <a:ext uri="{FF2B5EF4-FFF2-40B4-BE49-F238E27FC236}">
                <a16:creationId xmlns:a16="http://schemas.microsoft.com/office/drawing/2014/main" id="{A761BFB9-69D3-5E16-1B0E-CD6183F637A9}"/>
              </a:ext>
            </a:extLst>
          </p:cNvPr>
          <p:cNvSpPr>
            <a:spLocks noChangeArrowheads="1"/>
          </p:cNvSpPr>
          <p:nvPr/>
        </p:nvSpPr>
        <p:spPr bwMode="auto">
          <a:xfrm>
            <a:off x="1143000" y="381000"/>
            <a:ext cx="17411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2800" b="1">
                <a:solidFill>
                  <a:srgbClr val="002060"/>
                </a:solidFill>
                <a:latin typeface="Times New Roman" panose="02020603050405020304" pitchFamily="18" charset="0"/>
                <a:cs typeface="Times New Roman" panose="02020603050405020304" pitchFamily="18" charset="0"/>
              </a:rPr>
              <a:t>Distortion</a:t>
            </a:r>
            <a:endParaRPr lang="en-IN" altLang="en-US" sz="2800" b="1">
              <a:solidFill>
                <a:srgbClr val="002060"/>
              </a:solidFill>
              <a:latin typeface="Times New Roman" panose="02020603050405020304" pitchFamily="18" charset="0"/>
              <a:cs typeface="Times New Roman" panose="02020603050405020304" pitchFamily="18" charset="0"/>
            </a:endParaRPr>
          </a:p>
        </p:txBody>
      </p:sp>
      <p:pic>
        <p:nvPicPr>
          <p:cNvPr id="65541" name="Picture 6">
            <a:extLst>
              <a:ext uri="{FF2B5EF4-FFF2-40B4-BE49-F238E27FC236}">
                <a16:creationId xmlns:a16="http://schemas.microsoft.com/office/drawing/2014/main" id="{486143EE-4400-C995-51BF-EA418F76FE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0805" y="3753443"/>
            <a:ext cx="5036344" cy="194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2" name="Rectangle 8">
            <a:extLst>
              <a:ext uri="{FF2B5EF4-FFF2-40B4-BE49-F238E27FC236}">
                <a16:creationId xmlns:a16="http://schemas.microsoft.com/office/drawing/2014/main" id="{83F493E5-23C7-3617-86E9-B4B80764868A}"/>
              </a:ext>
            </a:extLst>
          </p:cNvPr>
          <p:cNvSpPr>
            <a:spLocks noChangeArrowheads="1"/>
          </p:cNvSpPr>
          <p:nvPr/>
        </p:nvSpPr>
        <p:spPr bwMode="auto">
          <a:xfrm>
            <a:off x="1196578" y="1137800"/>
            <a:ext cx="6643688" cy="300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fontAlgn="base">
              <a:lnSpc>
                <a:spcPct val="150000"/>
              </a:lnSpc>
              <a:spcBef>
                <a:spcPct val="0"/>
              </a:spcBef>
              <a:spcAft>
                <a:spcPct val="0"/>
              </a:spcAft>
              <a:buFontTx/>
              <a:buBlip>
                <a:blip r:embed="rId4"/>
              </a:buBlip>
            </a:pPr>
            <a:r>
              <a:rPr lang="en-IN" altLang="en-US" sz="1600">
                <a:solidFill>
                  <a:prstClr val="black"/>
                </a:solidFill>
                <a:latin typeface="Times New Roman" panose="02020603050405020304" pitchFamily="18" charset="0"/>
                <a:cs typeface="Times New Roman" panose="02020603050405020304" pitchFamily="18" charset="0"/>
              </a:rPr>
              <a:t> Distortion means that the signal changes its </a:t>
            </a:r>
            <a:r>
              <a:rPr lang="en-IN" altLang="en-US" sz="1600">
                <a:solidFill>
                  <a:srgbClr val="FF0000"/>
                </a:solidFill>
                <a:latin typeface="Times New Roman" panose="02020603050405020304" pitchFamily="18" charset="0"/>
                <a:cs typeface="Times New Roman" panose="02020603050405020304" pitchFamily="18" charset="0"/>
              </a:rPr>
              <a:t>form or shape</a:t>
            </a:r>
            <a:r>
              <a:rPr lang="en-IN" altLang="en-US" sz="1600">
                <a:solidFill>
                  <a:prstClr val="black"/>
                </a:solidFill>
                <a:latin typeface="Times New Roman" panose="02020603050405020304" pitchFamily="18" charset="0"/>
                <a:cs typeface="Times New Roman" panose="02020603050405020304" pitchFamily="18" charset="0"/>
              </a:rPr>
              <a:t>.</a:t>
            </a:r>
          </a:p>
          <a:p>
            <a:pPr algn="just" fontAlgn="base">
              <a:lnSpc>
                <a:spcPct val="150000"/>
              </a:lnSpc>
              <a:spcBef>
                <a:spcPct val="0"/>
              </a:spcBef>
              <a:spcAft>
                <a:spcPct val="0"/>
              </a:spcAft>
              <a:buFontTx/>
              <a:buBlip>
                <a:blip r:embed="rId4"/>
              </a:buBlip>
            </a:pPr>
            <a:r>
              <a:rPr lang="en-US" altLang="en-US" sz="1600">
                <a:solidFill>
                  <a:prstClr val="black"/>
                </a:solidFill>
                <a:latin typeface="Times New Roman" panose="02020603050405020304" pitchFamily="18" charset="0"/>
                <a:cs typeface="Times New Roman" panose="02020603050405020304" pitchFamily="18" charset="0"/>
              </a:rPr>
              <a:t> </a:t>
            </a:r>
            <a:r>
              <a:rPr lang="en-IN" altLang="en-US" sz="1600">
                <a:solidFill>
                  <a:prstClr val="black"/>
                </a:solidFill>
                <a:latin typeface="Times New Roman" panose="02020603050405020304" pitchFamily="18" charset="0"/>
                <a:cs typeface="Times New Roman" panose="02020603050405020304" pitchFamily="18" charset="0"/>
              </a:rPr>
              <a:t>Distortion can occur in a composite signal made of </a:t>
            </a:r>
            <a:r>
              <a:rPr lang="en-IN" altLang="en-US" sz="1600">
                <a:solidFill>
                  <a:srgbClr val="FF0000"/>
                </a:solidFill>
                <a:latin typeface="Times New Roman" panose="02020603050405020304" pitchFamily="18" charset="0"/>
                <a:cs typeface="Times New Roman" panose="02020603050405020304" pitchFamily="18" charset="0"/>
              </a:rPr>
              <a:t>different</a:t>
            </a:r>
            <a:r>
              <a:rPr lang="en-IN" altLang="en-US" sz="1600">
                <a:solidFill>
                  <a:prstClr val="black"/>
                </a:solidFill>
                <a:latin typeface="Times New Roman" panose="02020603050405020304" pitchFamily="18" charset="0"/>
                <a:cs typeface="Times New Roman" panose="02020603050405020304" pitchFamily="18" charset="0"/>
              </a:rPr>
              <a:t> frequencies.</a:t>
            </a:r>
          </a:p>
          <a:p>
            <a:pPr algn="just" fontAlgn="base">
              <a:lnSpc>
                <a:spcPct val="150000"/>
              </a:lnSpc>
              <a:spcBef>
                <a:spcPct val="0"/>
              </a:spcBef>
              <a:spcAft>
                <a:spcPct val="0"/>
              </a:spcAft>
              <a:buFontTx/>
              <a:buBlip>
                <a:blip r:embed="rId4"/>
              </a:buBlip>
            </a:pPr>
            <a:r>
              <a:rPr lang="en-US" altLang="en-US" sz="1600">
                <a:solidFill>
                  <a:prstClr val="black"/>
                </a:solidFill>
                <a:latin typeface="Times New Roman" panose="02020603050405020304" pitchFamily="18" charset="0"/>
                <a:cs typeface="Times New Roman" panose="02020603050405020304" pitchFamily="18" charset="0"/>
              </a:rPr>
              <a:t> </a:t>
            </a:r>
            <a:r>
              <a:rPr lang="en-IN" altLang="en-US" sz="1600">
                <a:solidFill>
                  <a:prstClr val="black"/>
                </a:solidFill>
                <a:latin typeface="Times New Roman" panose="02020603050405020304" pitchFamily="18" charset="0"/>
                <a:cs typeface="Times New Roman" panose="02020603050405020304" pitchFamily="18" charset="0"/>
              </a:rPr>
              <a:t>Each signal component has its </a:t>
            </a:r>
            <a:r>
              <a:rPr lang="en-IN" altLang="en-US" sz="1600">
                <a:solidFill>
                  <a:srgbClr val="FF0000"/>
                </a:solidFill>
                <a:latin typeface="Times New Roman" panose="02020603050405020304" pitchFamily="18" charset="0"/>
                <a:cs typeface="Times New Roman" panose="02020603050405020304" pitchFamily="18" charset="0"/>
              </a:rPr>
              <a:t>own propagation speed through a medium </a:t>
            </a:r>
            <a:r>
              <a:rPr lang="en-IN" altLang="en-US" sz="1600">
                <a:solidFill>
                  <a:prstClr val="black"/>
                </a:solidFill>
                <a:latin typeface="Times New Roman" panose="02020603050405020304" pitchFamily="18" charset="0"/>
                <a:cs typeface="Times New Roman" panose="02020603050405020304" pitchFamily="18" charset="0"/>
              </a:rPr>
              <a:t>and, therefore, its own delay in arriving at the final destination.</a:t>
            </a:r>
          </a:p>
          <a:p>
            <a:pPr algn="just" fontAlgn="base">
              <a:lnSpc>
                <a:spcPct val="150000"/>
              </a:lnSpc>
              <a:spcBef>
                <a:spcPct val="0"/>
              </a:spcBef>
              <a:spcAft>
                <a:spcPct val="0"/>
              </a:spcAft>
              <a:buFontTx/>
              <a:buBlip>
                <a:blip r:embed="rId4"/>
              </a:buBlip>
            </a:pPr>
            <a:r>
              <a:rPr lang="en-US" altLang="en-US" sz="1600">
                <a:solidFill>
                  <a:prstClr val="black"/>
                </a:solidFill>
                <a:latin typeface="Times New Roman" panose="02020603050405020304" pitchFamily="18" charset="0"/>
                <a:cs typeface="Times New Roman" panose="02020603050405020304" pitchFamily="18" charset="0"/>
              </a:rPr>
              <a:t> </a:t>
            </a:r>
            <a:r>
              <a:rPr lang="en-IN" altLang="en-US" sz="1600">
                <a:solidFill>
                  <a:prstClr val="black"/>
                </a:solidFill>
                <a:latin typeface="Times New Roman" panose="02020603050405020304" pitchFamily="18" charset="0"/>
                <a:cs typeface="Times New Roman" panose="02020603050405020304" pitchFamily="18" charset="0"/>
              </a:rPr>
              <a:t>Differences in </a:t>
            </a:r>
            <a:r>
              <a:rPr lang="en-IN" altLang="en-US" sz="1600">
                <a:solidFill>
                  <a:srgbClr val="FF0000"/>
                </a:solidFill>
                <a:latin typeface="Times New Roman" panose="02020603050405020304" pitchFamily="18" charset="0"/>
                <a:cs typeface="Times New Roman" panose="02020603050405020304" pitchFamily="18" charset="0"/>
              </a:rPr>
              <a:t>delay</a:t>
            </a:r>
            <a:r>
              <a:rPr lang="en-IN" altLang="en-US" sz="1600">
                <a:solidFill>
                  <a:prstClr val="black"/>
                </a:solidFill>
                <a:latin typeface="Times New Roman" panose="02020603050405020304" pitchFamily="18" charset="0"/>
                <a:cs typeface="Times New Roman" panose="02020603050405020304" pitchFamily="18" charset="0"/>
              </a:rPr>
              <a:t> may create a difference in phase.</a:t>
            </a:r>
          </a:p>
          <a:p>
            <a:pPr algn="just" fontAlgn="base">
              <a:lnSpc>
                <a:spcPct val="150000"/>
              </a:lnSpc>
              <a:spcBef>
                <a:spcPct val="0"/>
              </a:spcBef>
              <a:spcAft>
                <a:spcPct val="0"/>
              </a:spcAft>
              <a:buFontTx/>
              <a:buBlip>
                <a:blip r:embed="rId4"/>
              </a:buBlip>
            </a:pPr>
            <a:r>
              <a:rPr lang="en-US" altLang="en-US" sz="1600">
                <a:solidFill>
                  <a:prstClr val="black"/>
                </a:solidFill>
                <a:latin typeface="Times New Roman" panose="02020603050405020304" pitchFamily="18" charset="0"/>
                <a:cs typeface="Times New Roman" panose="02020603050405020304" pitchFamily="18" charset="0"/>
              </a:rPr>
              <a:t> </a:t>
            </a:r>
            <a:r>
              <a:rPr lang="en-IN" altLang="en-US" sz="1600">
                <a:solidFill>
                  <a:prstClr val="black"/>
                </a:solidFill>
                <a:latin typeface="Times New Roman" panose="02020603050405020304" pitchFamily="18" charset="0"/>
                <a:cs typeface="Times New Roman" panose="02020603050405020304" pitchFamily="18" charset="0"/>
              </a:rPr>
              <a:t>In other words, signal components at the </a:t>
            </a:r>
            <a:r>
              <a:rPr lang="en-IN" altLang="en-US" sz="1600">
                <a:solidFill>
                  <a:srgbClr val="FF0000"/>
                </a:solidFill>
                <a:latin typeface="Times New Roman" panose="02020603050405020304" pitchFamily="18" charset="0"/>
                <a:cs typeface="Times New Roman" panose="02020603050405020304" pitchFamily="18" charset="0"/>
              </a:rPr>
              <a:t>receiver</a:t>
            </a:r>
            <a:r>
              <a:rPr lang="en-IN" altLang="en-US" sz="1600">
                <a:solidFill>
                  <a:prstClr val="black"/>
                </a:solidFill>
                <a:latin typeface="Times New Roman" panose="02020603050405020304" pitchFamily="18" charset="0"/>
                <a:cs typeface="Times New Roman" panose="02020603050405020304" pitchFamily="18" charset="0"/>
              </a:rPr>
              <a:t> have phases different from what they had at the sender. The shape of the composite signal is therefore not the same.</a:t>
            </a:r>
          </a:p>
        </p:txBody>
      </p:sp>
      <p:sp>
        <p:nvSpPr>
          <p:cNvPr id="65543" name="Rectangle 9">
            <a:extLst>
              <a:ext uri="{FF2B5EF4-FFF2-40B4-BE49-F238E27FC236}">
                <a16:creationId xmlns:a16="http://schemas.microsoft.com/office/drawing/2014/main" id="{51EA61F7-4A40-E733-74BE-02A39E805AEC}"/>
              </a:ext>
            </a:extLst>
          </p:cNvPr>
          <p:cNvSpPr>
            <a:spLocks noChangeArrowheads="1"/>
          </p:cNvSpPr>
          <p:nvPr/>
        </p:nvSpPr>
        <p:spPr bwMode="auto">
          <a:xfrm>
            <a:off x="3857629" y="5525695"/>
            <a:ext cx="113685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900" b="1">
                <a:solidFill>
                  <a:srgbClr val="FF0000"/>
                </a:solidFill>
                <a:latin typeface="Times New Roman" panose="02020603050405020304" pitchFamily="18" charset="0"/>
                <a:cs typeface="Times New Roman" panose="02020603050405020304" pitchFamily="18" charset="0"/>
              </a:rPr>
              <a:t>Figure :  </a:t>
            </a:r>
            <a:r>
              <a:rPr lang="en-US" altLang="en-US" sz="900" b="1">
                <a:solidFill>
                  <a:prstClr val="black"/>
                </a:solidFill>
                <a:latin typeface="Times New Roman" panose="02020603050405020304" pitchFamily="18" charset="0"/>
                <a:cs typeface="Times New Roman" panose="02020603050405020304" pitchFamily="18" charset="0"/>
              </a:rPr>
              <a:t>Distortion</a:t>
            </a:r>
          </a:p>
        </p:txBody>
      </p:sp>
    </p:spTree>
    <p:extLst>
      <p:ext uri="{BB962C8B-B14F-4D97-AF65-F5344CB8AC3E}">
        <p14:creationId xmlns:p14="http://schemas.microsoft.com/office/powerpoint/2010/main" val="2173090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F4E4DC2-4441-1F68-D2D7-5BF44AC47A06}"/>
              </a:ext>
            </a:extLst>
          </p:cNvPr>
          <p:cNvCxnSpPr/>
          <p:nvPr/>
        </p:nvCxnSpPr>
        <p:spPr>
          <a:xfrm>
            <a:off x="1062633" y="1049489"/>
            <a:ext cx="6858000" cy="1191"/>
          </a:xfrm>
          <a:prstGeom prst="line">
            <a:avLst/>
          </a:prstGeom>
        </p:spPr>
        <p:style>
          <a:lnRef idx="1">
            <a:schemeClr val="accent1"/>
          </a:lnRef>
          <a:fillRef idx="0">
            <a:schemeClr val="accent1"/>
          </a:fillRef>
          <a:effectRef idx="0">
            <a:schemeClr val="accent1"/>
          </a:effectRef>
          <a:fontRef idx="minor">
            <a:schemeClr val="tx1"/>
          </a:fontRef>
        </p:style>
      </p:cxnSp>
      <p:sp>
        <p:nvSpPr>
          <p:cNvPr id="66565" name="Rectangle 6">
            <a:extLst>
              <a:ext uri="{FF2B5EF4-FFF2-40B4-BE49-F238E27FC236}">
                <a16:creationId xmlns:a16="http://schemas.microsoft.com/office/drawing/2014/main" id="{6375957B-6501-9378-0B2B-0B96309968AA}"/>
              </a:ext>
            </a:extLst>
          </p:cNvPr>
          <p:cNvSpPr>
            <a:spLocks noChangeArrowheads="1"/>
          </p:cNvSpPr>
          <p:nvPr/>
        </p:nvSpPr>
        <p:spPr bwMode="auto">
          <a:xfrm>
            <a:off x="1143000" y="609600"/>
            <a:ext cx="9028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2400" b="1">
                <a:solidFill>
                  <a:srgbClr val="002060"/>
                </a:solidFill>
                <a:latin typeface="Times New Roman" panose="02020603050405020304" pitchFamily="18" charset="0"/>
                <a:cs typeface="Times New Roman" panose="02020603050405020304" pitchFamily="18" charset="0"/>
              </a:rPr>
              <a:t>Noise</a:t>
            </a:r>
            <a:endParaRPr lang="en-IN" altLang="en-US" sz="2400" b="1">
              <a:solidFill>
                <a:srgbClr val="002060"/>
              </a:solidFill>
              <a:latin typeface="Times New Roman" panose="02020603050405020304" pitchFamily="18" charset="0"/>
              <a:cs typeface="Times New Roman" panose="02020603050405020304" pitchFamily="18" charset="0"/>
            </a:endParaRPr>
          </a:p>
        </p:txBody>
      </p:sp>
      <p:sp>
        <p:nvSpPr>
          <p:cNvPr id="66566" name="Rectangle 7">
            <a:extLst>
              <a:ext uri="{FF2B5EF4-FFF2-40B4-BE49-F238E27FC236}">
                <a16:creationId xmlns:a16="http://schemas.microsoft.com/office/drawing/2014/main" id="{334F49AC-A183-A671-AC2F-41BBB32EDBD6}"/>
              </a:ext>
            </a:extLst>
          </p:cNvPr>
          <p:cNvSpPr>
            <a:spLocks noChangeArrowheads="1"/>
          </p:cNvSpPr>
          <p:nvPr/>
        </p:nvSpPr>
        <p:spPr bwMode="auto">
          <a:xfrm>
            <a:off x="1143000" y="1087876"/>
            <a:ext cx="6697266" cy="3372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fontAlgn="base">
              <a:lnSpc>
                <a:spcPct val="150000"/>
              </a:lnSpc>
              <a:spcBef>
                <a:spcPct val="0"/>
              </a:spcBef>
              <a:spcAft>
                <a:spcPct val="0"/>
              </a:spcAft>
              <a:buFontTx/>
              <a:buBlip>
                <a:blip r:embed="rId3"/>
              </a:buBlip>
            </a:pPr>
            <a:r>
              <a:rPr lang="en-IN" altLang="en-US" sz="1600">
                <a:solidFill>
                  <a:prstClr val="black"/>
                </a:solidFill>
                <a:latin typeface="Times New Roman" panose="02020603050405020304" pitchFamily="18" charset="0"/>
                <a:cs typeface="Times New Roman" panose="02020603050405020304" pitchFamily="18" charset="0"/>
              </a:rPr>
              <a:t> </a:t>
            </a:r>
            <a:r>
              <a:rPr lang="en-IN" altLang="en-US" sz="1600">
                <a:solidFill>
                  <a:srgbClr val="FF0000"/>
                </a:solidFill>
                <a:latin typeface="Times New Roman" panose="02020603050405020304" pitchFamily="18" charset="0"/>
                <a:cs typeface="Times New Roman" panose="02020603050405020304" pitchFamily="18" charset="0"/>
              </a:rPr>
              <a:t>Noise</a:t>
            </a:r>
            <a:r>
              <a:rPr lang="en-IN" altLang="en-US" sz="1600">
                <a:solidFill>
                  <a:prstClr val="black"/>
                </a:solidFill>
                <a:latin typeface="Times New Roman" panose="02020603050405020304" pitchFamily="18" charset="0"/>
                <a:cs typeface="Times New Roman" panose="02020603050405020304" pitchFamily="18" charset="0"/>
              </a:rPr>
              <a:t> is another cause of impairment. Several types of noise, such as </a:t>
            </a:r>
            <a:r>
              <a:rPr lang="en-IN" altLang="en-US" sz="1600">
                <a:solidFill>
                  <a:srgbClr val="FF0000"/>
                </a:solidFill>
                <a:latin typeface="Times New Roman" panose="02020603050405020304" pitchFamily="18" charset="0"/>
                <a:cs typeface="Times New Roman" panose="02020603050405020304" pitchFamily="18" charset="0"/>
              </a:rPr>
              <a:t>thermal noise</a:t>
            </a:r>
            <a:r>
              <a:rPr lang="en-IN" altLang="en-US" sz="1600">
                <a:solidFill>
                  <a:prstClr val="black"/>
                </a:solidFill>
                <a:latin typeface="Times New Roman" panose="02020603050405020304" pitchFamily="18" charset="0"/>
                <a:cs typeface="Times New Roman" panose="02020603050405020304" pitchFamily="18" charset="0"/>
              </a:rPr>
              <a:t>, </a:t>
            </a:r>
            <a:r>
              <a:rPr lang="en-IN" altLang="en-US" sz="1600">
                <a:solidFill>
                  <a:srgbClr val="FF0000"/>
                </a:solidFill>
                <a:latin typeface="Times New Roman" panose="02020603050405020304" pitchFamily="18" charset="0"/>
                <a:cs typeface="Times New Roman" panose="02020603050405020304" pitchFamily="18" charset="0"/>
              </a:rPr>
              <a:t>induced noise, crosstalk, and impulse noise, </a:t>
            </a:r>
            <a:r>
              <a:rPr lang="en-IN" altLang="en-US" sz="1600">
                <a:solidFill>
                  <a:prstClr val="black"/>
                </a:solidFill>
                <a:latin typeface="Times New Roman" panose="02020603050405020304" pitchFamily="18" charset="0"/>
                <a:cs typeface="Times New Roman" panose="02020603050405020304" pitchFamily="18" charset="0"/>
              </a:rPr>
              <a:t>may corrupt the signal.</a:t>
            </a:r>
          </a:p>
          <a:p>
            <a:pPr algn="just" fontAlgn="base">
              <a:lnSpc>
                <a:spcPct val="150000"/>
              </a:lnSpc>
              <a:spcBef>
                <a:spcPct val="0"/>
              </a:spcBef>
              <a:spcAft>
                <a:spcPct val="0"/>
              </a:spcAft>
              <a:buFontTx/>
              <a:buBlip>
                <a:blip r:embed="rId3"/>
              </a:buBlip>
            </a:pPr>
            <a:r>
              <a:rPr lang="en-US" altLang="en-US" sz="1600">
                <a:solidFill>
                  <a:prstClr val="black"/>
                </a:solidFill>
                <a:latin typeface="Times New Roman" panose="02020603050405020304" pitchFamily="18" charset="0"/>
                <a:cs typeface="Times New Roman" panose="02020603050405020304" pitchFamily="18" charset="0"/>
              </a:rPr>
              <a:t> </a:t>
            </a:r>
            <a:r>
              <a:rPr lang="en-IN" altLang="en-US" sz="1600">
                <a:solidFill>
                  <a:srgbClr val="FF0000"/>
                </a:solidFill>
                <a:latin typeface="Times New Roman" panose="02020603050405020304" pitchFamily="18" charset="0"/>
                <a:cs typeface="Times New Roman" panose="02020603050405020304" pitchFamily="18" charset="0"/>
              </a:rPr>
              <a:t>Thermal noise </a:t>
            </a:r>
            <a:r>
              <a:rPr lang="en-IN" altLang="en-US" sz="1600">
                <a:solidFill>
                  <a:prstClr val="black"/>
                </a:solidFill>
                <a:latin typeface="Times New Roman" panose="02020603050405020304" pitchFamily="18" charset="0"/>
                <a:cs typeface="Times New Roman" panose="02020603050405020304" pitchFamily="18" charset="0"/>
              </a:rPr>
              <a:t>is the random motion of electrons in a wire which creates an extra signal not originally sent by the transmitter.</a:t>
            </a:r>
          </a:p>
          <a:p>
            <a:pPr algn="just" fontAlgn="base">
              <a:lnSpc>
                <a:spcPct val="150000"/>
              </a:lnSpc>
              <a:spcBef>
                <a:spcPct val="0"/>
              </a:spcBef>
              <a:spcAft>
                <a:spcPct val="0"/>
              </a:spcAft>
              <a:buFontTx/>
              <a:buBlip>
                <a:blip r:embed="rId3"/>
              </a:buBlip>
            </a:pPr>
            <a:r>
              <a:rPr lang="en-US" altLang="en-US" sz="1600">
                <a:solidFill>
                  <a:srgbClr val="FF0000"/>
                </a:solidFill>
                <a:latin typeface="Times New Roman" panose="02020603050405020304" pitchFamily="18" charset="0"/>
                <a:cs typeface="Times New Roman" panose="02020603050405020304" pitchFamily="18" charset="0"/>
              </a:rPr>
              <a:t> </a:t>
            </a:r>
            <a:r>
              <a:rPr lang="en-IN" altLang="en-US" sz="1600">
                <a:solidFill>
                  <a:srgbClr val="FF0000"/>
                </a:solidFill>
                <a:latin typeface="Times New Roman" panose="02020603050405020304" pitchFamily="18" charset="0"/>
                <a:cs typeface="Times New Roman" panose="02020603050405020304" pitchFamily="18" charset="0"/>
              </a:rPr>
              <a:t>Induced noise </a:t>
            </a:r>
            <a:r>
              <a:rPr lang="en-IN" altLang="en-US" sz="1600">
                <a:solidFill>
                  <a:prstClr val="black"/>
                </a:solidFill>
                <a:latin typeface="Times New Roman" panose="02020603050405020304" pitchFamily="18" charset="0"/>
                <a:cs typeface="Times New Roman" panose="02020603050405020304" pitchFamily="18" charset="0"/>
              </a:rPr>
              <a:t>comes from sources such as motors and appliances.</a:t>
            </a:r>
          </a:p>
          <a:p>
            <a:pPr algn="just" fontAlgn="base">
              <a:lnSpc>
                <a:spcPct val="150000"/>
              </a:lnSpc>
              <a:spcBef>
                <a:spcPct val="0"/>
              </a:spcBef>
              <a:spcAft>
                <a:spcPct val="0"/>
              </a:spcAft>
              <a:buFontTx/>
              <a:buBlip>
                <a:blip r:embed="rId3"/>
              </a:buBlip>
            </a:pPr>
            <a:r>
              <a:rPr lang="en-US" altLang="en-US" sz="1600">
                <a:solidFill>
                  <a:prstClr val="black"/>
                </a:solidFill>
                <a:latin typeface="Times New Roman" panose="02020603050405020304" pitchFamily="18" charset="0"/>
                <a:cs typeface="Times New Roman" panose="02020603050405020304" pitchFamily="18" charset="0"/>
              </a:rPr>
              <a:t> </a:t>
            </a:r>
            <a:r>
              <a:rPr lang="en-IN" altLang="en-US" sz="1600">
                <a:solidFill>
                  <a:srgbClr val="FF0000"/>
                </a:solidFill>
                <a:latin typeface="Times New Roman" panose="02020603050405020304" pitchFamily="18" charset="0"/>
                <a:cs typeface="Times New Roman" panose="02020603050405020304" pitchFamily="18" charset="0"/>
              </a:rPr>
              <a:t>Crosstalk</a:t>
            </a:r>
            <a:r>
              <a:rPr lang="en-IN" altLang="en-US" sz="1600">
                <a:solidFill>
                  <a:prstClr val="black"/>
                </a:solidFill>
                <a:latin typeface="Times New Roman" panose="02020603050405020304" pitchFamily="18" charset="0"/>
                <a:cs typeface="Times New Roman" panose="02020603050405020304" pitchFamily="18" charset="0"/>
              </a:rPr>
              <a:t> is the effect of one wire on the other. One wire acts as a sending antenna and the other as the receiving antenna.</a:t>
            </a:r>
          </a:p>
          <a:p>
            <a:pPr algn="just" fontAlgn="base">
              <a:lnSpc>
                <a:spcPct val="150000"/>
              </a:lnSpc>
              <a:spcBef>
                <a:spcPct val="0"/>
              </a:spcBef>
              <a:spcAft>
                <a:spcPct val="0"/>
              </a:spcAft>
              <a:buFontTx/>
              <a:buBlip>
                <a:blip r:embed="rId3"/>
              </a:buBlip>
            </a:pPr>
            <a:r>
              <a:rPr lang="en-US" altLang="en-US" sz="1600">
                <a:solidFill>
                  <a:prstClr val="black"/>
                </a:solidFill>
                <a:latin typeface="Times New Roman" panose="02020603050405020304" pitchFamily="18" charset="0"/>
                <a:cs typeface="Times New Roman" panose="02020603050405020304" pitchFamily="18" charset="0"/>
              </a:rPr>
              <a:t> </a:t>
            </a:r>
            <a:r>
              <a:rPr lang="en-IN" altLang="en-US" sz="1600">
                <a:solidFill>
                  <a:srgbClr val="FF0000"/>
                </a:solidFill>
                <a:latin typeface="Times New Roman" panose="02020603050405020304" pitchFamily="18" charset="0"/>
                <a:cs typeface="Times New Roman" panose="02020603050405020304" pitchFamily="18" charset="0"/>
              </a:rPr>
              <a:t>Impulse noise </a:t>
            </a:r>
            <a:r>
              <a:rPr lang="en-IN" altLang="en-US" sz="1600">
                <a:solidFill>
                  <a:prstClr val="black"/>
                </a:solidFill>
                <a:latin typeface="Times New Roman" panose="02020603050405020304" pitchFamily="18" charset="0"/>
                <a:cs typeface="Times New Roman" panose="02020603050405020304" pitchFamily="18" charset="0"/>
              </a:rPr>
              <a:t>is a spike (a signal with high energy in a very short time) that comes from power lines, lightning, and so on.</a:t>
            </a:r>
          </a:p>
        </p:txBody>
      </p:sp>
      <p:pic>
        <p:nvPicPr>
          <p:cNvPr id="66567" name="Picture 7">
            <a:extLst>
              <a:ext uri="{FF2B5EF4-FFF2-40B4-BE49-F238E27FC236}">
                <a16:creationId xmlns:a16="http://schemas.microsoft.com/office/drawing/2014/main" id="{BFB3543E-86A7-8A63-F97F-1B81195C862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77985" y="4497149"/>
            <a:ext cx="367546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8" name="Rectangle 9">
            <a:extLst>
              <a:ext uri="{FF2B5EF4-FFF2-40B4-BE49-F238E27FC236}">
                <a16:creationId xmlns:a16="http://schemas.microsoft.com/office/drawing/2014/main" id="{C759894A-044B-7578-44A3-CFC8A706A53C}"/>
              </a:ext>
            </a:extLst>
          </p:cNvPr>
          <p:cNvSpPr>
            <a:spLocks noChangeArrowheads="1"/>
          </p:cNvSpPr>
          <p:nvPr/>
        </p:nvSpPr>
        <p:spPr bwMode="auto">
          <a:xfrm>
            <a:off x="5891560" y="6093768"/>
            <a:ext cx="84830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900" b="1">
                <a:solidFill>
                  <a:srgbClr val="FF0000"/>
                </a:solidFill>
                <a:latin typeface="Times New Roman" panose="02020603050405020304" pitchFamily="18" charset="0"/>
                <a:cs typeface="Times New Roman" panose="02020603050405020304" pitchFamily="18" charset="0"/>
              </a:rPr>
              <a:t>Figure: </a:t>
            </a:r>
            <a:r>
              <a:rPr lang="en-US" altLang="en-US" sz="900" b="1">
                <a:solidFill>
                  <a:prstClr val="black"/>
                </a:solidFill>
                <a:latin typeface="Times New Roman" panose="02020603050405020304" pitchFamily="18" charset="0"/>
                <a:cs typeface="Times New Roman" panose="02020603050405020304" pitchFamily="18" charset="0"/>
              </a:rPr>
              <a:t>Noise</a:t>
            </a:r>
          </a:p>
        </p:txBody>
      </p:sp>
    </p:spTree>
    <p:extLst>
      <p:ext uri="{BB962C8B-B14F-4D97-AF65-F5344CB8AC3E}">
        <p14:creationId xmlns:p14="http://schemas.microsoft.com/office/powerpoint/2010/main" val="6337594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92799A-5708-CE9C-5B4C-904E0016AC3E}"/>
              </a:ext>
            </a:extLst>
          </p:cNvPr>
          <p:cNvCxnSpPr/>
          <p:nvPr/>
        </p:nvCxnSpPr>
        <p:spPr>
          <a:xfrm>
            <a:off x="1143000" y="967995"/>
            <a:ext cx="6858000" cy="1191"/>
          </a:xfrm>
          <a:prstGeom prst="line">
            <a:avLst/>
          </a:prstGeom>
        </p:spPr>
        <p:style>
          <a:lnRef idx="1">
            <a:schemeClr val="accent1"/>
          </a:lnRef>
          <a:fillRef idx="0">
            <a:schemeClr val="accent1"/>
          </a:fillRef>
          <a:effectRef idx="0">
            <a:schemeClr val="accent1"/>
          </a:effectRef>
          <a:fontRef idx="minor">
            <a:schemeClr val="tx1"/>
          </a:fontRef>
        </p:style>
      </p:cxnSp>
      <p:sp>
        <p:nvSpPr>
          <p:cNvPr id="67589" name="Rectangle 6">
            <a:extLst>
              <a:ext uri="{FF2B5EF4-FFF2-40B4-BE49-F238E27FC236}">
                <a16:creationId xmlns:a16="http://schemas.microsoft.com/office/drawing/2014/main" id="{F38DF069-E0B0-A2B2-814F-9630F86A33BA}"/>
              </a:ext>
            </a:extLst>
          </p:cNvPr>
          <p:cNvSpPr>
            <a:spLocks noChangeArrowheads="1"/>
          </p:cNvSpPr>
          <p:nvPr/>
        </p:nvSpPr>
        <p:spPr bwMode="auto">
          <a:xfrm>
            <a:off x="1101528" y="580873"/>
            <a:ext cx="38795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IN" altLang="en-US" sz="2400" b="1">
                <a:solidFill>
                  <a:srgbClr val="002060"/>
                </a:solidFill>
                <a:latin typeface="Times New Roman" panose="02020603050405020304" pitchFamily="18" charset="0"/>
                <a:cs typeface="Times New Roman" panose="02020603050405020304" pitchFamily="18" charset="0"/>
              </a:rPr>
              <a:t>Signal-to-Noise Ratio (SNR)</a:t>
            </a:r>
          </a:p>
        </p:txBody>
      </p:sp>
      <p:sp>
        <p:nvSpPr>
          <p:cNvPr id="67590" name="Rectangle 7">
            <a:extLst>
              <a:ext uri="{FF2B5EF4-FFF2-40B4-BE49-F238E27FC236}">
                <a16:creationId xmlns:a16="http://schemas.microsoft.com/office/drawing/2014/main" id="{C047C6F5-7C8C-C806-2E12-60BB58236CCB}"/>
              </a:ext>
            </a:extLst>
          </p:cNvPr>
          <p:cNvSpPr>
            <a:spLocks noChangeArrowheads="1"/>
          </p:cNvSpPr>
          <p:nvPr/>
        </p:nvSpPr>
        <p:spPr bwMode="auto">
          <a:xfrm>
            <a:off x="1101528" y="1134986"/>
            <a:ext cx="659011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fontAlgn="base">
              <a:lnSpc>
                <a:spcPct val="150000"/>
              </a:lnSpc>
              <a:spcBef>
                <a:spcPct val="0"/>
              </a:spcBef>
              <a:spcAft>
                <a:spcPct val="0"/>
              </a:spcAft>
              <a:buFontTx/>
              <a:buBlip>
                <a:blip r:embed="rId3"/>
              </a:buBlip>
            </a:pPr>
            <a:r>
              <a:rPr lang="en-IN" altLang="en-US" sz="1600">
                <a:solidFill>
                  <a:prstClr val="black"/>
                </a:solidFill>
                <a:latin typeface="Times New Roman" panose="02020603050405020304" pitchFamily="18" charset="0"/>
                <a:cs typeface="Times New Roman" panose="02020603050405020304" pitchFamily="18" charset="0"/>
              </a:rPr>
              <a:t> To find the theoretical bit rate limit, we need to know the ratio of the signal power to the noise power. </a:t>
            </a:r>
            <a:r>
              <a:rPr lang="en-IN" altLang="en-US" sz="1600">
                <a:solidFill>
                  <a:srgbClr val="FF0000"/>
                </a:solidFill>
                <a:latin typeface="Times New Roman" panose="02020603050405020304" pitchFamily="18" charset="0"/>
                <a:cs typeface="Times New Roman" panose="02020603050405020304" pitchFamily="18" charset="0"/>
              </a:rPr>
              <a:t>The signal-to-noise ratio is defined as:</a:t>
            </a:r>
          </a:p>
        </p:txBody>
      </p:sp>
      <p:sp>
        <p:nvSpPr>
          <p:cNvPr id="67591" name="Rectangle 8">
            <a:extLst>
              <a:ext uri="{FF2B5EF4-FFF2-40B4-BE49-F238E27FC236}">
                <a16:creationId xmlns:a16="http://schemas.microsoft.com/office/drawing/2014/main" id="{4861B558-DE80-EC6B-5F0D-55F667EEEDCA}"/>
              </a:ext>
            </a:extLst>
          </p:cNvPr>
          <p:cNvSpPr>
            <a:spLocks noChangeArrowheads="1"/>
          </p:cNvSpPr>
          <p:nvPr/>
        </p:nvSpPr>
        <p:spPr bwMode="auto">
          <a:xfrm>
            <a:off x="2750344" y="2357438"/>
            <a:ext cx="385762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IN" altLang="en-US" sz="2100" b="1">
                <a:solidFill>
                  <a:prstClr val="black"/>
                </a:solidFill>
                <a:latin typeface="Times New Roman" panose="02020603050405020304" pitchFamily="18" charset="0"/>
                <a:cs typeface="Times New Roman" panose="02020603050405020304" pitchFamily="18" charset="0"/>
              </a:rPr>
              <a:t>SNR </a:t>
            </a:r>
            <a:r>
              <a:rPr lang="en-IN" altLang="en-US" sz="1350" b="1">
                <a:solidFill>
                  <a:prstClr val="black"/>
                </a:solidFill>
                <a:latin typeface="Times New Roman" panose="02020603050405020304" pitchFamily="18" charset="0"/>
                <a:cs typeface="Times New Roman" panose="02020603050405020304" pitchFamily="18" charset="0"/>
              </a:rPr>
              <a:t> =    </a:t>
            </a:r>
            <a:r>
              <a:rPr lang="en-IN" altLang="en-US" sz="1350" b="1">
                <a:solidFill>
                  <a:srgbClr val="0070C0"/>
                </a:solidFill>
                <a:latin typeface="Times New Roman" panose="02020603050405020304" pitchFamily="18" charset="0"/>
                <a:cs typeface="Times New Roman" panose="02020603050405020304" pitchFamily="18" charset="0"/>
              </a:rPr>
              <a:t>average signal power</a:t>
            </a:r>
            <a:r>
              <a:rPr lang="en-IN" altLang="en-US" sz="2100" b="1">
                <a:solidFill>
                  <a:srgbClr val="0070C0"/>
                </a:solidFill>
                <a:latin typeface="Times New Roman" panose="02020603050405020304" pitchFamily="18" charset="0"/>
                <a:cs typeface="Times New Roman" panose="02020603050405020304" pitchFamily="18" charset="0"/>
              </a:rPr>
              <a:t> </a:t>
            </a:r>
          </a:p>
          <a:p>
            <a:pPr fontAlgn="base">
              <a:spcBef>
                <a:spcPct val="0"/>
              </a:spcBef>
              <a:spcAft>
                <a:spcPct val="0"/>
              </a:spcAft>
            </a:pPr>
            <a:r>
              <a:rPr lang="en-IN" altLang="en-US" sz="2100" b="1">
                <a:solidFill>
                  <a:srgbClr val="0070C0"/>
                </a:solidFill>
                <a:latin typeface="Times New Roman" panose="02020603050405020304" pitchFamily="18" charset="0"/>
                <a:cs typeface="Times New Roman" panose="02020603050405020304" pitchFamily="18" charset="0"/>
              </a:rPr>
              <a:t>              </a:t>
            </a:r>
            <a:r>
              <a:rPr lang="en-IN" altLang="en-US" sz="1350" b="1">
                <a:solidFill>
                  <a:srgbClr val="0070C0"/>
                </a:solidFill>
                <a:latin typeface="Times New Roman" panose="02020603050405020304" pitchFamily="18" charset="0"/>
                <a:cs typeface="Times New Roman" panose="02020603050405020304" pitchFamily="18" charset="0"/>
              </a:rPr>
              <a:t>average noise power</a:t>
            </a:r>
          </a:p>
        </p:txBody>
      </p:sp>
      <p:sp>
        <p:nvSpPr>
          <p:cNvPr id="67592" name="Rectangle 9">
            <a:extLst>
              <a:ext uri="{FF2B5EF4-FFF2-40B4-BE49-F238E27FC236}">
                <a16:creationId xmlns:a16="http://schemas.microsoft.com/office/drawing/2014/main" id="{84A46B1E-69C8-9927-E63C-F710123D6692}"/>
              </a:ext>
            </a:extLst>
          </p:cNvPr>
          <p:cNvSpPr>
            <a:spLocks noChangeArrowheads="1"/>
          </p:cNvSpPr>
          <p:nvPr/>
        </p:nvSpPr>
        <p:spPr bwMode="auto">
          <a:xfrm>
            <a:off x="1143000" y="3068241"/>
            <a:ext cx="6858000" cy="1156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fontAlgn="base">
              <a:lnSpc>
                <a:spcPct val="150000"/>
              </a:lnSpc>
              <a:spcBef>
                <a:spcPct val="0"/>
              </a:spcBef>
              <a:spcAft>
                <a:spcPct val="0"/>
              </a:spcAft>
              <a:buFontTx/>
              <a:buBlip>
                <a:blip r:embed="rId4"/>
              </a:buBlip>
            </a:pPr>
            <a:r>
              <a:rPr lang="en-IN" altLang="en-US" sz="1600">
                <a:solidFill>
                  <a:prstClr val="black"/>
                </a:solidFill>
                <a:latin typeface="Times New Roman" panose="02020603050405020304" pitchFamily="18" charset="0"/>
                <a:cs typeface="Times New Roman" panose="02020603050405020304" pitchFamily="18" charset="0"/>
              </a:rPr>
              <a:t> SNR is actually the ratio of what is wanted (signal) to what is not wanted (noise). A </a:t>
            </a:r>
            <a:r>
              <a:rPr lang="en-IN" altLang="en-US" sz="1600">
                <a:solidFill>
                  <a:srgbClr val="FF0000"/>
                </a:solidFill>
                <a:latin typeface="Times New Roman" panose="02020603050405020304" pitchFamily="18" charset="0"/>
                <a:cs typeface="Times New Roman" panose="02020603050405020304" pitchFamily="18" charset="0"/>
              </a:rPr>
              <a:t>high SNR </a:t>
            </a:r>
            <a:r>
              <a:rPr lang="en-IN" altLang="en-US" sz="1600">
                <a:solidFill>
                  <a:prstClr val="black"/>
                </a:solidFill>
                <a:latin typeface="Times New Roman" panose="02020603050405020304" pitchFamily="18" charset="0"/>
                <a:cs typeface="Times New Roman" panose="02020603050405020304" pitchFamily="18" charset="0"/>
              </a:rPr>
              <a:t>means the signal is less corrupted by noise; </a:t>
            </a:r>
            <a:r>
              <a:rPr lang="en-IN" altLang="en-US" sz="1600">
                <a:solidFill>
                  <a:srgbClr val="FF0000"/>
                </a:solidFill>
                <a:latin typeface="Times New Roman" panose="02020603050405020304" pitchFamily="18" charset="0"/>
                <a:cs typeface="Times New Roman" panose="02020603050405020304" pitchFamily="18" charset="0"/>
              </a:rPr>
              <a:t>a low SNR </a:t>
            </a:r>
            <a:r>
              <a:rPr lang="en-IN" altLang="en-US" sz="1600">
                <a:solidFill>
                  <a:prstClr val="black"/>
                </a:solidFill>
                <a:latin typeface="Times New Roman" panose="02020603050405020304" pitchFamily="18" charset="0"/>
                <a:cs typeface="Times New Roman" panose="02020603050405020304" pitchFamily="18" charset="0"/>
              </a:rPr>
              <a:t>means the signal is more corrupted by noise.</a:t>
            </a:r>
          </a:p>
        </p:txBody>
      </p:sp>
      <p:sp>
        <p:nvSpPr>
          <p:cNvPr id="67593" name="Rectangle 10">
            <a:extLst>
              <a:ext uri="{FF2B5EF4-FFF2-40B4-BE49-F238E27FC236}">
                <a16:creationId xmlns:a16="http://schemas.microsoft.com/office/drawing/2014/main" id="{143B0556-6760-FB42-959B-2345CCCE5D36}"/>
              </a:ext>
            </a:extLst>
          </p:cNvPr>
          <p:cNvSpPr>
            <a:spLocks noChangeArrowheads="1"/>
          </p:cNvSpPr>
          <p:nvPr/>
        </p:nvSpPr>
        <p:spPr bwMode="auto">
          <a:xfrm>
            <a:off x="1116097" y="4290571"/>
            <a:ext cx="6590110" cy="1242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fontAlgn="base">
              <a:lnSpc>
                <a:spcPct val="150000"/>
              </a:lnSpc>
              <a:spcBef>
                <a:spcPct val="0"/>
              </a:spcBef>
              <a:spcAft>
                <a:spcPct val="0"/>
              </a:spcAft>
              <a:buFontTx/>
              <a:buBlip>
                <a:blip r:embed="rId5"/>
              </a:buBlip>
            </a:pPr>
            <a:r>
              <a:rPr lang="en-IN" altLang="en-US">
                <a:solidFill>
                  <a:prstClr val="black"/>
                </a:solidFill>
                <a:latin typeface="Times New Roman" panose="02020603050405020304" pitchFamily="18" charset="0"/>
                <a:cs typeface="Times New Roman" panose="02020603050405020304" pitchFamily="18" charset="0"/>
              </a:rPr>
              <a:t> </a:t>
            </a:r>
            <a:r>
              <a:rPr lang="en-IN" altLang="en-US" sz="1600">
                <a:solidFill>
                  <a:prstClr val="black"/>
                </a:solidFill>
                <a:latin typeface="Times New Roman" panose="02020603050405020304" pitchFamily="18" charset="0"/>
                <a:cs typeface="Times New Roman" panose="02020603050405020304" pitchFamily="18" charset="0"/>
              </a:rPr>
              <a:t>Because SNR is the ratio of two powers, it is often described in decibel units, </a:t>
            </a:r>
            <a:r>
              <a:rPr lang="en-IN" altLang="en-US" sz="1600" err="1">
                <a:solidFill>
                  <a:prstClr val="black"/>
                </a:solidFill>
                <a:latin typeface="Times New Roman" panose="02020603050405020304" pitchFamily="18" charset="0"/>
                <a:cs typeface="Times New Roman" panose="02020603050405020304" pitchFamily="18" charset="0"/>
              </a:rPr>
              <a:t>SNR</a:t>
            </a:r>
            <a:r>
              <a:rPr lang="en-IN" altLang="en-US" sz="1600" baseline="-25000" err="1">
                <a:solidFill>
                  <a:prstClr val="black"/>
                </a:solidFill>
                <a:latin typeface="Times New Roman" panose="02020603050405020304" pitchFamily="18" charset="0"/>
                <a:cs typeface="Times New Roman" panose="02020603050405020304" pitchFamily="18" charset="0"/>
              </a:rPr>
              <a:t>dB</a:t>
            </a:r>
            <a:r>
              <a:rPr lang="en-IN" altLang="en-US" sz="1600">
                <a:solidFill>
                  <a:prstClr val="black"/>
                </a:solidFill>
                <a:latin typeface="Times New Roman" panose="02020603050405020304" pitchFamily="18" charset="0"/>
                <a:cs typeface="Times New Roman" panose="02020603050405020304" pitchFamily="18" charset="0"/>
              </a:rPr>
              <a:t>, defined as</a:t>
            </a:r>
          </a:p>
          <a:p>
            <a:pPr algn="just" fontAlgn="base">
              <a:lnSpc>
                <a:spcPct val="150000"/>
              </a:lnSpc>
              <a:spcBef>
                <a:spcPct val="0"/>
              </a:spcBef>
              <a:spcAft>
                <a:spcPct val="0"/>
              </a:spcAft>
            </a:pPr>
            <a:endParaRPr lang="en-IN" altLang="en-US" sz="1600">
              <a:solidFill>
                <a:prstClr val="black"/>
              </a:solidFill>
              <a:latin typeface="Times New Roman" panose="02020603050405020304" pitchFamily="18" charset="0"/>
              <a:cs typeface="Times New Roman" panose="02020603050405020304" pitchFamily="18" charset="0"/>
            </a:endParaRPr>
          </a:p>
        </p:txBody>
      </p:sp>
      <p:sp>
        <p:nvSpPr>
          <p:cNvPr id="67594" name="TextBox 11">
            <a:extLst>
              <a:ext uri="{FF2B5EF4-FFF2-40B4-BE49-F238E27FC236}">
                <a16:creationId xmlns:a16="http://schemas.microsoft.com/office/drawing/2014/main" id="{5B83081C-8701-C482-578E-097388D97F1B}"/>
              </a:ext>
            </a:extLst>
          </p:cNvPr>
          <p:cNvSpPr txBox="1">
            <a:spLocks noChangeArrowheads="1"/>
          </p:cNvSpPr>
          <p:nvPr/>
        </p:nvSpPr>
        <p:spPr bwMode="auto">
          <a:xfrm>
            <a:off x="3331369" y="4933954"/>
            <a:ext cx="21595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b="1">
                <a:solidFill>
                  <a:srgbClr val="7030A0"/>
                </a:solidFill>
                <a:latin typeface="Times New Roman" panose="02020603050405020304" pitchFamily="18" charset="0"/>
                <a:cs typeface="Times New Roman" panose="02020603050405020304" pitchFamily="18" charset="0"/>
              </a:rPr>
              <a:t>SNR</a:t>
            </a:r>
            <a:r>
              <a:rPr lang="en-US" altLang="en-US" b="1" baseline="-25000">
                <a:solidFill>
                  <a:srgbClr val="7030A0"/>
                </a:solidFill>
                <a:latin typeface="Times New Roman" panose="02020603050405020304" pitchFamily="18" charset="0"/>
                <a:cs typeface="Times New Roman" panose="02020603050405020304" pitchFamily="18" charset="0"/>
              </a:rPr>
              <a:t>dB</a:t>
            </a:r>
            <a:r>
              <a:rPr lang="en-US" altLang="en-US" b="1" baseline="30000">
                <a:solidFill>
                  <a:srgbClr val="7030A0"/>
                </a:solidFill>
                <a:latin typeface="Times New Roman" panose="02020603050405020304" pitchFamily="18" charset="0"/>
                <a:cs typeface="Times New Roman" panose="02020603050405020304" pitchFamily="18" charset="0"/>
              </a:rPr>
              <a:t>=</a:t>
            </a:r>
            <a:r>
              <a:rPr lang="en-US" altLang="en-US" b="1">
                <a:solidFill>
                  <a:srgbClr val="7030A0"/>
                </a:solidFill>
                <a:latin typeface="Times New Roman" panose="02020603050405020304" pitchFamily="18" charset="0"/>
                <a:cs typeface="Times New Roman" panose="02020603050405020304" pitchFamily="18" charset="0"/>
              </a:rPr>
              <a:t> 10log</a:t>
            </a:r>
            <a:r>
              <a:rPr lang="en-US" altLang="en-US" b="1" baseline="-25000">
                <a:solidFill>
                  <a:srgbClr val="7030A0"/>
                </a:solidFill>
                <a:latin typeface="Times New Roman" panose="02020603050405020304" pitchFamily="18" charset="0"/>
                <a:cs typeface="Times New Roman" panose="02020603050405020304" pitchFamily="18" charset="0"/>
              </a:rPr>
              <a:t>10</a:t>
            </a:r>
            <a:r>
              <a:rPr lang="en-US" altLang="en-US" b="1" baseline="30000">
                <a:solidFill>
                  <a:srgbClr val="7030A0"/>
                </a:solidFill>
                <a:latin typeface="Times New Roman" panose="02020603050405020304" pitchFamily="18" charset="0"/>
                <a:cs typeface="Times New Roman" panose="02020603050405020304" pitchFamily="18" charset="0"/>
              </a:rPr>
              <a:t> </a:t>
            </a:r>
            <a:r>
              <a:rPr lang="en-US" altLang="en-US" b="1">
                <a:solidFill>
                  <a:srgbClr val="7030A0"/>
                </a:solidFill>
                <a:latin typeface="Times New Roman" panose="02020603050405020304" pitchFamily="18" charset="0"/>
                <a:cs typeface="Times New Roman" panose="02020603050405020304" pitchFamily="18" charset="0"/>
              </a:rPr>
              <a:t>SNR</a:t>
            </a:r>
            <a:endParaRPr lang="en-IN" altLang="en-US" b="1">
              <a:solidFill>
                <a:srgbClr val="7030A0"/>
              </a:solidFill>
              <a:latin typeface="Times New Roman" panose="02020603050405020304" pitchFamily="18" charset="0"/>
              <a:cs typeface="Times New Roman" panose="02020603050405020304" pitchFamily="18" charset="0"/>
            </a:endParaRPr>
          </a:p>
        </p:txBody>
      </p:sp>
      <p:cxnSp>
        <p:nvCxnSpPr>
          <p:cNvPr id="14" name="Straight Connector 13">
            <a:extLst>
              <a:ext uri="{FF2B5EF4-FFF2-40B4-BE49-F238E27FC236}">
                <a16:creationId xmlns:a16="http://schemas.microsoft.com/office/drawing/2014/main" id="{5B5FC981-3FDD-06F7-7CCD-95C477D9D42C}"/>
              </a:ext>
            </a:extLst>
          </p:cNvPr>
          <p:cNvCxnSpPr/>
          <p:nvPr/>
        </p:nvCxnSpPr>
        <p:spPr>
          <a:xfrm>
            <a:off x="3714754" y="2732489"/>
            <a:ext cx="1607344" cy="1190"/>
          </a:xfrm>
          <a:prstGeom prst="line">
            <a:avLst/>
          </a:prstGeom>
          <a:ln w="19050" cap="sq" cmpd="thickThi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16952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
          <p:cNvSpPr>
            <a:spLocks noGrp="1"/>
          </p:cNvSpPr>
          <p:nvPr>
            <p:ph type="sldNum" sz="quarter" idx="4294967295"/>
          </p:nvPr>
        </p:nvSpPr>
        <p:spPr>
          <a:xfrm>
            <a:off x="8458200" y="6400800"/>
            <a:ext cx="609600" cy="457200"/>
          </a:xfrm>
          <a:prstGeom prst="rect">
            <a:avLst/>
          </a:prstGeom>
        </p:spPr>
        <p:txBody>
          <a:bodyPr/>
          <a:lstStyle/>
          <a:p>
            <a:fld id="{0413A598-AAD5-4BC0-8913-847C26E48C64}" type="slidenum">
              <a:rPr lang="en-US"/>
              <a:pPr/>
              <a:t>42</a:t>
            </a:fld>
            <a:endParaRPr lang="en-US"/>
          </a:p>
        </p:txBody>
      </p:sp>
      <p:sp>
        <p:nvSpPr>
          <p:cNvPr id="834562" name="Rectangle 2"/>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4563" name="Rectangle 3"/>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grpSp>
        <p:nvGrpSpPr>
          <p:cNvPr id="834564" name="Group 4"/>
          <p:cNvGrpSpPr>
            <a:grpSpLocks/>
          </p:cNvGrpSpPr>
          <p:nvPr/>
        </p:nvGrpSpPr>
        <p:grpSpPr bwMode="auto">
          <a:xfrm>
            <a:off x="490538" y="773113"/>
            <a:ext cx="738187" cy="474662"/>
            <a:chOff x="309" y="487"/>
            <a:chExt cx="465" cy="299"/>
          </a:xfrm>
        </p:grpSpPr>
        <p:sp>
          <p:nvSpPr>
            <p:cNvPr id="834565" name="Rectangle 5"/>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4566" name="Rectangle 6"/>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grpSp>
      <p:sp>
        <p:nvSpPr>
          <p:cNvPr id="834567" name="Rectangle 7"/>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4568" name="Rectangle 8"/>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4569" name="Rectangle 9"/>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4570" name="Rectangle 10"/>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4571" name="Rectangle 11"/>
          <p:cNvSpPr>
            <a:spLocks noChangeArrowheads="1"/>
          </p:cNvSpPr>
          <p:nvPr/>
        </p:nvSpPr>
        <p:spPr bwMode="auto">
          <a:xfrm>
            <a:off x="228600" y="1447800"/>
            <a:ext cx="85344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000" baseline="0">
                <a:latin typeface="Times New Roman" panose="02020603050405020304" pitchFamily="18" charset="0"/>
                <a:cs typeface="Times New Roman" panose="02020603050405020304" pitchFamily="18" charset="0"/>
              </a:rPr>
              <a:t>The power of a signal is 10 </a:t>
            </a:r>
            <a:r>
              <a:rPr lang="en-US" sz="2000" baseline="0" err="1">
                <a:latin typeface="Times New Roman" panose="02020603050405020304" pitchFamily="18" charset="0"/>
                <a:cs typeface="Times New Roman" panose="02020603050405020304" pitchFamily="18" charset="0"/>
              </a:rPr>
              <a:t>mW</a:t>
            </a:r>
            <a:r>
              <a:rPr lang="en-US" sz="2000" baseline="0">
                <a:latin typeface="Times New Roman" panose="02020603050405020304" pitchFamily="18" charset="0"/>
                <a:cs typeface="Times New Roman" panose="02020603050405020304" pitchFamily="18" charset="0"/>
              </a:rPr>
              <a:t> and the power of the noise is 1 </a:t>
            </a:r>
            <a:r>
              <a:rPr lang="en-US" sz="2000" baseline="0" err="1">
                <a:latin typeface="Times New Roman" panose="02020603050405020304" pitchFamily="18" charset="0"/>
                <a:cs typeface="Times New Roman" panose="02020603050405020304" pitchFamily="18" charset="0"/>
              </a:rPr>
              <a:t>μW</a:t>
            </a:r>
            <a:r>
              <a:rPr lang="en-US" sz="2000" baseline="0">
                <a:latin typeface="Times New Roman" panose="02020603050405020304" pitchFamily="18" charset="0"/>
                <a:cs typeface="Times New Roman" panose="02020603050405020304" pitchFamily="18" charset="0"/>
              </a:rPr>
              <a:t>; what are the values of SNR and </a:t>
            </a:r>
            <a:r>
              <a:rPr lang="en-US" sz="2000" baseline="0" err="1">
                <a:latin typeface="Times New Roman" panose="02020603050405020304" pitchFamily="18" charset="0"/>
                <a:cs typeface="Times New Roman" panose="02020603050405020304" pitchFamily="18" charset="0"/>
              </a:rPr>
              <a:t>SNR</a:t>
            </a:r>
            <a:r>
              <a:rPr lang="en-US" sz="2000" baseline="-25000" err="1">
                <a:latin typeface="Times New Roman" panose="02020603050405020304" pitchFamily="18" charset="0"/>
                <a:cs typeface="Times New Roman" panose="02020603050405020304" pitchFamily="18" charset="0"/>
              </a:rPr>
              <a:t>dB</a:t>
            </a:r>
            <a:r>
              <a:rPr lang="en-US" sz="2000" baseline="-25000">
                <a:latin typeface="Times New Roman" panose="02020603050405020304" pitchFamily="18" charset="0"/>
                <a:cs typeface="Times New Roman" panose="02020603050405020304" pitchFamily="18" charset="0"/>
              </a:rPr>
              <a:t> </a:t>
            </a:r>
            <a:r>
              <a:rPr lang="en-US" sz="2000" baseline="0">
                <a:latin typeface="Times New Roman" panose="02020603050405020304" pitchFamily="18" charset="0"/>
                <a:cs typeface="Times New Roman" panose="02020603050405020304" pitchFamily="18" charset="0"/>
              </a:rPr>
              <a:t>?</a:t>
            </a:r>
          </a:p>
          <a:p>
            <a:pPr algn="just"/>
            <a:endParaRPr lang="en-US" sz="2000" baseline="0">
              <a:latin typeface="Times New Roman" panose="02020603050405020304" pitchFamily="18" charset="0"/>
              <a:cs typeface="Times New Roman" panose="02020603050405020304" pitchFamily="18" charset="0"/>
            </a:endParaRPr>
          </a:p>
          <a:p>
            <a:pPr algn="just"/>
            <a:r>
              <a:rPr lang="en-US" sz="2000" baseline="0">
                <a:latin typeface="Times New Roman" panose="02020603050405020304" pitchFamily="18" charset="0"/>
                <a:cs typeface="Times New Roman" panose="02020603050405020304" pitchFamily="18" charset="0"/>
              </a:rPr>
              <a:t>Solution</a:t>
            </a:r>
          </a:p>
          <a:p>
            <a:pPr algn="just"/>
            <a:r>
              <a:rPr lang="en-US" sz="2000" baseline="0">
                <a:latin typeface="Times New Roman" panose="02020603050405020304" pitchFamily="18" charset="0"/>
                <a:cs typeface="Times New Roman" panose="02020603050405020304" pitchFamily="18" charset="0"/>
              </a:rPr>
              <a:t>The values of SNR and </a:t>
            </a:r>
            <a:r>
              <a:rPr lang="en-US" sz="2000" baseline="0" err="1">
                <a:latin typeface="Times New Roman" panose="02020603050405020304" pitchFamily="18" charset="0"/>
                <a:cs typeface="Times New Roman" panose="02020603050405020304" pitchFamily="18" charset="0"/>
              </a:rPr>
              <a:t>SNR</a:t>
            </a:r>
            <a:r>
              <a:rPr lang="en-US" sz="2000" err="1">
                <a:latin typeface="Times New Roman" panose="02020603050405020304" pitchFamily="18" charset="0"/>
                <a:cs typeface="Times New Roman" panose="02020603050405020304" pitchFamily="18" charset="0"/>
              </a:rPr>
              <a:t>dB</a:t>
            </a:r>
            <a:r>
              <a:rPr lang="en-US" sz="2000" baseline="0">
                <a:latin typeface="Times New Roman" panose="02020603050405020304" pitchFamily="18" charset="0"/>
                <a:cs typeface="Times New Roman" panose="02020603050405020304" pitchFamily="18" charset="0"/>
              </a:rPr>
              <a:t> can be calculated as follows:</a:t>
            </a:r>
          </a:p>
        </p:txBody>
      </p:sp>
      <p:sp>
        <p:nvSpPr>
          <p:cNvPr id="834572" name="Text Box 12"/>
          <p:cNvSpPr txBox="1">
            <a:spLocks noChangeArrowheads="1"/>
          </p:cNvSpPr>
          <p:nvPr/>
        </p:nvSpPr>
        <p:spPr bwMode="auto">
          <a:xfrm>
            <a:off x="1143000" y="182563"/>
            <a:ext cx="1674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baseline="0">
                <a:solidFill>
                  <a:schemeClr val="hlink"/>
                </a:solidFill>
              </a:rPr>
              <a:t>Example</a:t>
            </a:r>
          </a:p>
        </p:txBody>
      </p:sp>
      <p:pic>
        <p:nvPicPr>
          <p:cNvPr id="834577"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575844"/>
            <a:ext cx="5391150" cy="1052512"/>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23866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4294967295"/>
          </p:nvPr>
        </p:nvSpPr>
        <p:spPr>
          <a:xfrm>
            <a:off x="8458200" y="6400800"/>
            <a:ext cx="609600" cy="457200"/>
          </a:xfrm>
          <a:prstGeom prst="rect">
            <a:avLst/>
          </a:prstGeom>
        </p:spPr>
        <p:txBody>
          <a:bodyPr/>
          <a:lstStyle/>
          <a:p>
            <a:fld id="{2D3373D5-7C57-4EAD-9985-24015C107FA7}" type="slidenum">
              <a:rPr lang="en-US"/>
              <a:pPr/>
              <a:t>43</a:t>
            </a:fld>
            <a:endParaRPr lang="en-US"/>
          </a:p>
        </p:txBody>
      </p:sp>
      <p:sp>
        <p:nvSpPr>
          <p:cNvPr id="835586" name="Rectangle 2"/>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5587" name="Rectangle 3"/>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grpSp>
        <p:nvGrpSpPr>
          <p:cNvPr id="835588" name="Group 4"/>
          <p:cNvGrpSpPr>
            <a:grpSpLocks/>
          </p:cNvGrpSpPr>
          <p:nvPr/>
        </p:nvGrpSpPr>
        <p:grpSpPr bwMode="auto">
          <a:xfrm>
            <a:off x="490538" y="773113"/>
            <a:ext cx="738187" cy="474662"/>
            <a:chOff x="309" y="487"/>
            <a:chExt cx="465" cy="299"/>
          </a:xfrm>
        </p:grpSpPr>
        <p:sp>
          <p:nvSpPr>
            <p:cNvPr id="835589" name="Rectangle 5"/>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5590" name="Rectangle 6"/>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grpSp>
      <p:sp>
        <p:nvSpPr>
          <p:cNvPr id="835591" name="Rectangle 7"/>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5592" name="Rectangle 8"/>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5593" name="Rectangle 9"/>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5594" name="Rectangle 10"/>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5595" name="Rectangle 11"/>
          <p:cNvSpPr>
            <a:spLocks noChangeArrowheads="1"/>
          </p:cNvSpPr>
          <p:nvPr/>
        </p:nvSpPr>
        <p:spPr bwMode="auto">
          <a:xfrm>
            <a:off x="228600" y="1447800"/>
            <a:ext cx="8534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400" baseline="0"/>
              <a:t>The values of SNR and </a:t>
            </a:r>
            <a:r>
              <a:rPr lang="en-US" sz="2400" baseline="0" err="1"/>
              <a:t>SNR</a:t>
            </a:r>
            <a:r>
              <a:rPr lang="en-US" sz="2400" err="1"/>
              <a:t>dB</a:t>
            </a:r>
            <a:r>
              <a:rPr lang="en-US" sz="2400" baseline="0"/>
              <a:t> for a noiseless channel are</a:t>
            </a:r>
          </a:p>
        </p:txBody>
      </p:sp>
      <p:sp>
        <p:nvSpPr>
          <p:cNvPr id="835596" name="Text Box 12"/>
          <p:cNvSpPr txBox="1">
            <a:spLocks noChangeArrowheads="1"/>
          </p:cNvSpPr>
          <p:nvPr/>
        </p:nvSpPr>
        <p:spPr bwMode="auto">
          <a:xfrm>
            <a:off x="1143000" y="182563"/>
            <a:ext cx="1674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baseline="0">
                <a:solidFill>
                  <a:schemeClr val="hlink"/>
                </a:solidFill>
              </a:rPr>
              <a:t>Example</a:t>
            </a:r>
          </a:p>
        </p:txBody>
      </p:sp>
      <p:pic>
        <p:nvPicPr>
          <p:cNvPr id="83559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2438" y="2811463"/>
            <a:ext cx="3159125" cy="998537"/>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5599" name="Rectangle 15"/>
          <p:cNvSpPr>
            <a:spLocks noChangeArrowheads="1"/>
          </p:cNvSpPr>
          <p:nvPr/>
        </p:nvSpPr>
        <p:spPr bwMode="auto">
          <a:xfrm>
            <a:off x="228600" y="4205288"/>
            <a:ext cx="8534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400" baseline="0"/>
              <a:t>We can never achieve this ratio in real life; it is an ideal.</a:t>
            </a:r>
          </a:p>
        </p:txBody>
      </p:sp>
    </p:spTree>
    <p:extLst>
      <p:ext uri="{BB962C8B-B14F-4D97-AF65-F5344CB8AC3E}">
        <p14:creationId xmlns:p14="http://schemas.microsoft.com/office/powerpoint/2010/main" val="22281979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4294967295"/>
          </p:nvPr>
        </p:nvSpPr>
        <p:spPr>
          <a:xfrm>
            <a:off x="8458200" y="6400800"/>
            <a:ext cx="609600" cy="457200"/>
          </a:xfrm>
          <a:prstGeom prst="rect">
            <a:avLst/>
          </a:prstGeom>
        </p:spPr>
        <p:txBody>
          <a:bodyPr/>
          <a:lstStyle/>
          <a:p>
            <a:fld id="{66A168B5-E412-42C9-9821-613A993D6324}" type="slidenum">
              <a:rPr lang="en-US"/>
              <a:pPr/>
              <a:t>44</a:t>
            </a:fld>
            <a:endParaRPr lang="en-US"/>
          </a:p>
        </p:txBody>
      </p:sp>
      <p:sp>
        <p:nvSpPr>
          <p:cNvPr id="707587" name="Line 3"/>
          <p:cNvSpPr>
            <a:spLocks noChangeShapeType="1"/>
          </p:cNvSpPr>
          <p:nvPr/>
        </p:nvSpPr>
        <p:spPr bwMode="auto">
          <a:xfrm>
            <a:off x="152400" y="10668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7588" name="Text Box 4"/>
          <p:cNvSpPr txBox="1">
            <a:spLocks noChangeArrowheads="1"/>
          </p:cNvSpPr>
          <p:nvPr/>
        </p:nvSpPr>
        <p:spPr bwMode="auto">
          <a:xfrm>
            <a:off x="304800" y="457200"/>
            <a:ext cx="618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i="0" baseline="0">
                <a:solidFill>
                  <a:schemeClr val="folHlink"/>
                </a:solidFill>
              </a:rPr>
              <a:t>Figure   </a:t>
            </a:r>
            <a:r>
              <a:rPr lang="en-US" sz="2000" baseline="0"/>
              <a:t>Two cases of SNR: a high SNR and a low SNR</a:t>
            </a:r>
          </a:p>
        </p:txBody>
      </p:sp>
      <p:pic>
        <p:nvPicPr>
          <p:cNvPr id="70759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906" y="984179"/>
            <a:ext cx="8281987" cy="476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12979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1"/>
          <p:cNvSpPr>
            <a:spLocks noGrp="1"/>
          </p:cNvSpPr>
          <p:nvPr>
            <p:ph type="sldNum" sz="quarter" idx="4294967295"/>
          </p:nvPr>
        </p:nvSpPr>
        <p:spPr>
          <a:xfrm>
            <a:off x="8458200" y="6400800"/>
            <a:ext cx="609600" cy="457200"/>
          </a:xfrm>
          <a:prstGeom prst="rect">
            <a:avLst/>
          </a:prstGeom>
        </p:spPr>
        <p:txBody>
          <a:bodyPr/>
          <a:lstStyle/>
          <a:p>
            <a:fld id="{B18A2538-3E13-472E-8858-C159B3E7A472}" type="slidenum">
              <a:rPr lang="en-US"/>
              <a:pPr/>
              <a:t>45</a:t>
            </a:fld>
            <a:endParaRPr lang="en-US"/>
          </a:p>
        </p:txBody>
      </p:sp>
      <p:sp>
        <p:nvSpPr>
          <p:cNvPr id="802819" name="Text Box 3"/>
          <p:cNvSpPr txBox="1">
            <a:spLocks noChangeArrowheads="1"/>
          </p:cNvSpPr>
          <p:nvPr/>
        </p:nvSpPr>
        <p:spPr bwMode="auto">
          <a:xfrm>
            <a:off x="228600" y="25400"/>
            <a:ext cx="4629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i="0" baseline="0">
                <a:solidFill>
                  <a:srgbClr val="660066"/>
                </a:solidFill>
                <a:effectLst>
                  <a:outerShdw blurRad="38100" dist="38100" dir="2700000" algn="tl">
                    <a:srgbClr val="C0C0C0"/>
                  </a:outerShdw>
                </a:effectLst>
                <a:latin typeface="Times" panose="02020603050405020304" pitchFamily="18" charset="0"/>
              </a:rPr>
              <a:t>DATA RATE LIMITS</a:t>
            </a:r>
          </a:p>
        </p:txBody>
      </p:sp>
      <p:sp>
        <p:nvSpPr>
          <p:cNvPr id="802820"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i="0" baseline="0"/>
          </a:p>
        </p:txBody>
      </p:sp>
      <p:sp>
        <p:nvSpPr>
          <p:cNvPr id="802821" name="Rectangle 5"/>
          <p:cNvSpPr>
            <a:spLocks noChangeArrowheads="1"/>
          </p:cNvSpPr>
          <p:nvPr/>
        </p:nvSpPr>
        <p:spPr bwMode="auto">
          <a:xfrm>
            <a:off x="135340" y="1295400"/>
            <a:ext cx="8610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400" b="0" i="0" baseline="0">
                <a:latin typeface="Times New Roman" panose="02020603050405020304" pitchFamily="18" charset="0"/>
                <a:cs typeface="Times New Roman" panose="02020603050405020304" pitchFamily="18" charset="0"/>
              </a:rPr>
              <a:t>A very important consideration in data communications is how fast we can send data, in bits per second, over a channel. Data rate depends on three factors:</a:t>
            </a:r>
          </a:p>
          <a:p>
            <a:pPr algn="just" eaLnBrk="1" hangingPunct="1"/>
            <a:endParaRPr lang="en-US" sz="2400" b="0" i="0" baseline="0">
              <a:latin typeface="Times New Roman" panose="02020603050405020304" pitchFamily="18" charset="0"/>
              <a:cs typeface="Times New Roman" panose="02020603050405020304" pitchFamily="18" charset="0"/>
            </a:endParaRPr>
          </a:p>
          <a:p>
            <a:pPr algn="just" eaLnBrk="1" hangingPunct="1"/>
            <a:r>
              <a:rPr lang="en-US" sz="2400" b="0" i="0" baseline="0">
                <a:solidFill>
                  <a:schemeClr val="hlink"/>
                </a:solidFill>
                <a:latin typeface="Times New Roman" panose="02020603050405020304" pitchFamily="18" charset="0"/>
                <a:cs typeface="Times New Roman" panose="02020603050405020304" pitchFamily="18" charset="0"/>
              </a:rPr>
              <a:t>   1.</a:t>
            </a:r>
            <a:r>
              <a:rPr lang="en-US" sz="2400" b="0" i="0" baseline="0">
                <a:latin typeface="Times New Roman" panose="02020603050405020304" pitchFamily="18" charset="0"/>
                <a:cs typeface="Times New Roman" panose="02020603050405020304" pitchFamily="18" charset="0"/>
              </a:rPr>
              <a:t> The bandwidth available</a:t>
            </a:r>
          </a:p>
          <a:p>
            <a:pPr algn="just" eaLnBrk="1" hangingPunct="1"/>
            <a:r>
              <a:rPr lang="en-US" sz="2400" b="0" i="0" baseline="0">
                <a:solidFill>
                  <a:schemeClr val="hlink"/>
                </a:solidFill>
                <a:latin typeface="Times New Roman" panose="02020603050405020304" pitchFamily="18" charset="0"/>
                <a:cs typeface="Times New Roman" panose="02020603050405020304" pitchFamily="18" charset="0"/>
              </a:rPr>
              <a:t>   2.</a:t>
            </a:r>
            <a:r>
              <a:rPr lang="en-US" sz="2400" b="0" i="0" baseline="0">
                <a:latin typeface="Times New Roman" panose="02020603050405020304" pitchFamily="18" charset="0"/>
                <a:cs typeface="Times New Roman" panose="02020603050405020304" pitchFamily="18" charset="0"/>
              </a:rPr>
              <a:t> The level of the signals we use</a:t>
            </a:r>
          </a:p>
          <a:p>
            <a:pPr algn="just" eaLnBrk="1" hangingPunct="1"/>
            <a:r>
              <a:rPr lang="en-US" sz="2400" b="0" i="0" baseline="0">
                <a:solidFill>
                  <a:schemeClr val="hlink"/>
                </a:solidFill>
                <a:latin typeface="Times New Roman" panose="02020603050405020304" pitchFamily="18" charset="0"/>
                <a:cs typeface="Times New Roman" panose="02020603050405020304" pitchFamily="18" charset="0"/>
              </a:rPr>
              <a:t>   3</a:t>
            </a:r>
            <a:r>
              <a:rPr lang="en-US" sz="2400" b="0" i="0" baseline="0">
                <a:latin typeface="Times New Roman" panose="02020603050405020304" pitchFamily="18" charset="0"/>
                <a:cs typeface="Times New Roman" panose="02020603050405020304" pitchFamily="18" charset="0"/>
              </a:rPr>
              <a:t>. The quality of the channel (the level of noise)</a:t>
            </a:r>
          </a:p>
        </p:txBody>
      </p:sp>
      <p:sp>
        <p:nvSpPr>
          <p:cNvPr id="2" name="Rectangle 1"/>
          <p:cNvSpPr/>
          <p:nvPr/>
        </p:nvSpPr>
        <p:spPr>
          <a:xfrm>
            <a:off x="457200" y="4171264"/>
            <a:ext cx="4572000" cy="1015663"/>
          </a:xfrm>
          <a:prstGeom prst="rect">
            <a:avLst/>
          </a:prstGeom>
        </p:spPr>
        <p:txBody>
          <a:bodyPr>
            <a:spAutoFit/>
          </a:bodyPr>
          <a:lstStyle/>
          <a:p>
            <a:pPr>
              <a:buClr>
                <a:schemeClr val="tx1"/>
              </a:buClr>
              <a:buSzPct val="117000"/>
            </a:pPr>
            <a:r>
              <a:rPr lang="en-US" sz="2000">
                <a:solidFill>
                  <a:srgbClr val="0033CC"/>
                </a:solidFill>
              </a:rPr>
              <a:t>  Two Categories:</a:t>
            </a:r>
          </a:p>
          <a:p>
            <a:pPr marL="342900" indent="-342900">
              <a:buClr>
                <a:schemeClr val="tx1"/>
              </a:buClr>
              <a:buSzPct val="117000"/>
              <a:buFont typeface="Arial" panose="020B0604020202020204" pitchFamily="34" charset="0"/>
              <a:buChar char="•"/>
            </a:pPr>
            <a:r>
              <a:rPr lang="en-US" sz="2000">
                <a:solidFill>
                  <a:srgbClr val="0033CC"/>
                </a:solidFill>
              </a:rPr>
              <a:t>  Noiseless Channel: </a:t>
            </a:r>
            <a:r>
              <a:rPr lang="en-US" sz="2000" err="1">
                <a:solidFill>
                  <a:srgbClr val="0033CC"/>
                </a:solidFill>
              </a:rPr>
              <a:t>Nyquist</a:t>
            </a:r>
            <a:r>
              <a:rPr lang="en-US" sz="2000">
                <a:solidFill>
                  <a:srgbClr val="0033CC"/>
                </a:solidFill>
              </a:rPr>
              <a:t> Bit Rate</a:t>
            </a:r>
            <a:endParaRPr lang="fr-FR" sz="2000">
              <a:solidFill>
                <a:srgbClr val="0033CC"/>
              </a:solidFill>
            </a:endParaRPr>
          </a:p>
          <a:p>
            <a:pPr marL="342900" indent="-342900">
              <a:buClr>
                <a:schemeClr val="tx1"/>
              </a:buClr>
              <a:buSzPct val="117000"/>
              <a:buFont typeface="Arial" panose="020B0604020202020204" pitchFamily="34" charset="0"/>
              <a:buChar char="•"/>
            </a:pPr>
            <a:r>
              <a:rPr lang="fr-FR" sz="2000">
                <a:solidFill>
                  <a:srgbClr val="0033CC"/>
                </a:solidFill>
              </a:rPr>
              <a:t>  Noisy Channel: Shannon </a:t>
            </a:r>
            <a:r>
              <a:rPr lang="fr-FR" sz="2000" err="1">
                <a:solidFill>
                  <a:srgbClr val="0033CC"/>
                </a:solidFill>
              </a:rPr>
              <a:t>Capacity</a:t>
            </a:r>
            <a:endParaRPr lang="fr-FR" sz="2000">
              <a:solidFill>
                <a:srgbClr val="0033CC"/>
              </a:solidFill>
            </a:endParaRPr>
          </a:p>
        </p:txBody>
      </p:sp>
    </p:spTree>
    <p:extLst>
      <p:ext uri="{BB962C8B-B14F-4D97-AF65-F5344CB8AC3E}">
        <p14:creationId xmlns:p14="http://schemas.microsoft.com/office/powerpoint/2010/main" val="27042417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642" name="Rectangle 2"/>
          <p:cNvSpPr>
            <a:spLocks noGrp="1" noChangeArrowheads="1"/>
          </p:cNvSpPr>
          <p:nvPr>
            <p:ph type="title"/>
          </p:nvPr>
        </p:nvSpPr>
        <p:spPr bwMode="auto">
          <a:xfrm>
            <a:off x="566058" y="685800"/>
            <a:ext cx="5829300" cy="561692"/>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spAutoFit/>
          </a:bodyPr>
          <a:lstStyle/>
          <a:p>
            <a:r>
              <a:rPr lang="en-US" sz="3200" b="1">
                <a:latin typeface="Times New Roman"/>
                <a:cs typeface="Times New Roman"/>
              </a:rPr>
              <a:t>Nyquist Theorem</a:t>
            </a:r>
          </a:p>
        </p:txBody>
      </p:sp>
      <p:sp>
        <p:nvSpPr>
          <p:cNvPr id="1008643" name="Rectangle 3"/>
          <p:cNvSpPr>
            <a:spLocks noGrp="1" noChangeArrowheads="1"/>
          </p:cNvSpPr>
          <p:nvPr>
            <p:ph type="body" idx="1"/>
          </p:nvPr>
        </p:nvSpPr>
        <p:spPr bwMode="auto">
          <a:xfrm>
            <a:off x="563089" y="1944029"/>
            <a:ext cx="8308188" cy="2977738"/>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spAutoFit/>
          </a:bodyPr>
          <a:lstStyle/>
          <a:p>
            <a:pPr algn="just">
              <a:lnSpc>
                <a:spcPct val="90000"/>
              </a:lnSpc>
            </a:pPr>
            <a:r>
              <a:rPr lang="en-US" sz="2100" err="1"/>
              <a:t>Nyquist</a:t>
            </a:r>
            <a:r>
              <a:rPr lang="en-US" sz="2100"/>
              <a:t> gives the upper bound for the bit rate of a transmission system by calculating the bit rate directly from the number of bits in a symbol (or signal levels) and the bandwidth of the system (assuming 2 symbols/per cycle and first harmonic).</a:t>
            </a:r>
          </a:p>
          <a:p>
            <a:pPr algn="just">
              <a:lnSpc>
                <a:spcPct val="90000"/>
              </a:lnSpc>
            </a:pPr>
            <a:endParaRPr lang="en-US" sz="2100"/>
          </a:p>
          <a:p>
            <a:pPr>
              <a:lnSpc>
                <a:spcPct val="90000"/>
              </a:lnSpc>
            </a:pPr>
            <a:r>
              <a:rPr lang="en-US" sz="2100" err="1"/>
              <a:t>Nyquist</a:t>
            </a:r>
            <a:r>
              <a:rPr lang="en-US" sz="2100"/>
              <a:t> theorem states that for a </a:t>
            </a:r>
            <a:r>
              <a:rPr lang="en-US" sz="2100">
                <a:solidFill>
                  <a:schemeClr val="hlink"/>
                </a:solidFill>
              </a:rPr>
              <a:t>noiseless</a:t>
            </a:r>
            <a:r>
              <a:rPr lang="en-US" sz="2100"/>
              <a:t> channel:</a:t>
            </a:r>
          </a:p>
          <a:p>
            <a:pPr algn="ctr">
              <a:lnSpc>
                <a:spcPct val="90000"/>
              </a:lnSpc>
              <a:buFont typeface="Wingdings" panose="05000000000000000000" pitchFamily="2" charset="2"/>
              <a:buNone/>
            </a:pPr>
            <a:r>
              <a:rPr lang="en-US" sz="2100"/>
              <a:t>C = 2 B log</a:t>
            </a:r>
            <a:r>
              <a:rPr lang="en-US" sz="2100" baseline="-25000"/>
              <a:t>2</a:t>
            </a:r>
            <a:r>
              <a:rPr lang="en-US" sz="2100"/>
              <a:t>L </a:t>
            </a:r>
          </a:p>
          <a:p>
            <a:pPr algn="ctr">
              <a:lnSpc>
                <a:spcPct val="90000"/>
              </a:lnSpc>
              <a:buFont typeface="Wingdings" panose="05000000000000000000" pitchFamily="2" charset="2"/>
              <a:buNone/>
            </a:pPr>
            <a:r>
              <a:rPr lang="en-US" sz="2100"/>
              <a:t>C= capacity in bps</a:t>
            </a:r>
          </a:p>
          <a:p>
            <a:pPr algn="ctr">
              <a:lnSpc>
                <a:spcPct val="90000"/>
              </a:lnSpc>
              <a:buFont typeface="Wingdings" panose="05000000000000000000" pitchFamily="2" charset="2"/>
              <a:buNone/>
            </a:pPr>
            <a:r>
              <a:rPr lang="en-US" sz="2100"/>
              <a:t>B = bandwidth in Hz</a:t>
            </a:r>
          </a:p>
          <a:p>
            <a:pPr algn="ctr">
              <a:lnSpc>
                <a:spcPct val="90000"/>
              </a:lnSpc>
              <a:buFont typeface="Wingdings" panose="05000000000000000000" pitchFamily="2" charset="2"/>
              <a:buNone/>
            </a:pPr>
            <a:r>
              <a:rPr lang="en-US" sz="2100"/>
              <a:t>L=Levels in signal</a:t>
            </a:r>
          </a:p>
        </p:txBody>
      </p:sp>
    </p:spTree>
    <p:extLst>
      <p:ext uri="{BB962C8B-B14F-4D97-AF65-F5344CB8AC3E}">
        <p14:creationId xmlns:p14="http://schemas.microsoft.com/office/powerpoint/2010/main" val="15551921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
          <p:cNvSpPr>
            <a:spLocks noGrp="1"/>
          </p:cNvSpPr>
          <p:nvPr>
            <p:ph type="sldNum" sz="quarter" idx="4294967295"/>
          </p:nvPr>
        </p:nvSpPr>
        <p:spPr>
          <a:xfrm>
            <a:off x="8458200" y="6400800"/>
            <a:ext cx="609600" cy="457200"/>
          </a:xfrm>
          <a:prstGeom prst="rect">
            <a:avLst/>
          </a:prstGeom>
        </p:spPr>
        <p:txBody>
          <a:bodyPr/>
          <a:lstStyle/>
          <a:p>
            <a:fld id="{478E2552-660B-4F44-8167-A55CF274E060}" type="slidenum">
              <a:rPr lang="en-US"/>
              <a:pPr/>
              <a:t>47</a:t>
            </a:fld>
            <a:endParaRPr lang="en-US"/>
          </a:p>
        </p:txBody>
      </p:sp>
      <p:sp>
        <p:nvSpPr>
          <p:cNvPr id="837634" name="Rectangle 2"/>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7635" name="Rectangle 3"/>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grpSp>
        <p:nvGrpSpPr>
          <p:cNvPr id="837636" name="Group 4"/>
          <p:cNvGrpSpPr>
            <a:grpSpLocks/>
          </p:cNvGrpSpPr>
          <p:nvPr/>
        </p:nvGrpSpPr>
        <p:grpSpPr bwMode="auto">
          <a:xfrm>
            <a:off x="490538" y="773113"/>
            <a:ext cx="738187" cy="474662"/>
            <a:chOff x="309" y="487"/>
            <a:chExt cx="465" cy="299"/>
          </a:xfrm>
        </p:grpSpPr>
        <p:sp>
          <p:nvSpPr>
            <p:cNvPr id="837637" name="Rectangle 5"/>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7638" name="Rectangle 6"/>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grpSp>
      <p:sp>
        <p:nvSpPr>
          <p:cNvPr id="837639" name="Rectangle 7"/>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7640" name="Rectangle 8"/>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7641" name="Rectangle 9"/>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7642" name="Rectangle 10"/>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7643" name="Rectangle 11"/>
          <p:cNvSpPr>
            <a:spLocks noChangeArrowheads="1"/>
          </p:cNvSpPr>
          <p:nvPr/>
        </p:nvSpPr>
        <p:spPr bwMode="auto">
          <a:xfrm>
            <a:off x="228600" y="1447800"/>
            <a:ext cx="8534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400" b="0" baseline="0"/>
              <a:t>Consider a noiseless channel with a bandwidth of 3000 Hz transmitting a signal with two signal levels. The maximum bit rate can be calculated as:</a:t>
            </a:r>
          </a:p>
        </p:txBody>
      </p:sp>
      <p:sp>
        <p:nvSpPr>
          <p:cNvPr id="837644" name="Text Box 12"/>
          <p:cNvSpPr txBox="1">
            <a:spLocks noChangeArrowheads="1"/>
          </p:cNvSpPr>
          <p:nvPr/>
        </p:nvSpPr>
        <p:spPr bwMode="auto">
          <a:xfrm>
            <a:off x="1143000" y="182563"/>
            <a:ext cx="1674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baseline="0">
                <a:solidFill>
                  <a:schemeClr val="hlink"/>
                </a:solidFill>
              </a:rPr>
              <a:t>Example</a:t>
            </a:r>
          </a:p>
        </p:txBody>
      </p:sp>
      <p:pic>
        <p:nvPicPr>
          <p:cNvPr id="837647"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8713" y="3252788"/>
            <a:ext cx="4992687" cy="63341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04457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4294967295"/>
          </p:nvPr>
        </p:nvSpPr>
        <p:spPr>
          <a:xfrm>
            <a:off x="8458200" y="6400800"/>
            <a:ext cx="609600" cy="457200"/>
          </a:xfrm>
          <a:prstGeom prst="rect">
            <a:avLst/>
          </a:prstGeom>
        </p:spPr>
        <p:txBody>
          <a:bodyPr/>
          <a:lstStyle/>
          <a:p>
            <a:fld id="{89BE3715-7D5D-484F-8A8B-DAA23F95BE68}" type="slidenum">
              <a:rPr lang="en-US"/>
              <a:pPr/>
              <a:t>48</a:t>
            </a:fld>
            <a:endParaRPr lang="en-US"/>
          </a:p>
        </p:txBody>
      </p:sp>
      <p:sp>
        <p:nvSpPr>
          <p:cNvPr id="839682" name="Rectangle 2"/>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9683" name="Rectangle 3"/>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grpSp>
        <p:nvGrpSpPr>
          <p:cNvPr id="839684" name="Group 4"/>
          <p:cNvGrpSpPr>
            <a:grpSpLocks/>
          </p:cNvGrpSpPr>
          <p:nvPr/>
        </p:nvGrpSpPr>
        <p:grpSpPr bwMode="auto">
          <a:xfrm>
            <a:off x="490538" y="773113"/>
            <a:ext cx="738187" cy="474662"/>
            <a:chOff x="309" y="487"/>
            <a:chExt cx="465" cy="299"/>
          </a:xfrm>
        </p:grpSpPr>
        <p:sp>
          <p:nvSpPr>
            <p:cNvPr id="839685" name="Rectangle 5"/>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9686" name="Rectangle 6"/>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grpSp>
      <p:sp>
        <p:nvSpPr>
          <p:cNvPr id="839687" name="Rectangle 7"/>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9688" name="Rectangle 8"/>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9689" name="Rectangle 9"/>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39690" name="Rectangle 10"/>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9691" name="Rectangle 11"/>
          <p:cNvSpPr>
            <a:spLocks noChangeArrowheads="1"/>
          </p:cNvSpPr>
          <p:nvPr/>
        </p:nvSpPr>
        <p:spPr bwMode="auto">
          <a:xfrm>
            <a:off x="228600" y="1447800"/>
            <a:ext cx="8534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400" baseline="0"/>
              <a:t>We need to send 265 kbps over a noiseless channel with a bandwidth of 20 kHz. How many signal levels do we need?</a:t>
            </a:r>
          </a:p>
          <a:p>
            <a:pPr algn="just"/>
            <a:r>
              <a:rPr lang="en-US" sz="2400" baseline="0">
                <a:solidFill>
                  <a:schemeClr val="hlink"/>
                </a:solidFill>
              </a:rPr>
              <a:t>Solution</a:t>
            </a:r>
          </a:p>
          <a:p>
            <a:pPr algn="just"/>
            <a:r>
              <a:rPr lang="en-US" sz="2400" b="0" baseline="0"/>
              <a:t>We can use the </a:t>
            </a:r>
            <a:r>
              <a:rPr lang="en-US" sz="2400" b="0" baseline="0" err="1"/>
              <a:t>Nyquist</a:t>
            </a:r>
            <a:r>
              <a:rPr lang="en-US" sz="2400" b="0" baseline="0"/>
              <a:t> formula as shown:</a:t>
            </a:r>
          </a:p>
        </p:txBody>
      </p:sp>
      <p:sp>
        <p:nvSpPr>
          <p:cNvPr id="839692" name="Text Box 12"/>
          <p:cNvSpPr txBox="1">
            <a:spLocks noChangeArrowheads="1"/>
          </p:cNvSpPr>
          <p:nvPr/>
        </p:nvSpPr>
        <p:spPr bwMode="auto">
          <a:xfrm>
            <a:off x="1143000" y="182563"/>
            <a:ext cx="1674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baseline="0">
                <a:solidFill>
                  <a:schemeClr val="hlink"/>
                </a:solidFill>
              </a:rPr>
              <a:t>Example</a:t>
            </a:r>
          </a:p>
        </p:txBody>
      </p:sp>
      <p:pic>
        <p:nvPicPr>
          <p:cNvPr id="839694"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2293" y="3197297"/>
            <a:ext cx="5427663" cy="7556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9695" name="Rectangle 15"/>
          <p:cNvSpPr>
            <a:spLocks noChangeArrowheads="1"/>
          </p:cNvSpPr>
          <p:nvPr/>
        </p:nvSpPr>
        <p:spPr bwMode="auto">
          <a:xfrm>
            <a:off x="228600" y="4244296"/>
            <a:ext cx="8534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000" b="0" baseline="0"/>
              <a:t>Since this result is not a power of 2, we need to either increase the number of levels or reduce the bit rate. If we have 128 levels, the bit rate is 280 kbps. If we have 64 levels, the bit rate is 240 kbps.</a:t>
            </a:r>
          </a:p>
        </p:txBody>
      </p:sp>
    </p:spTree>
    <p:extLst>
      <p:ext uri="{BB962C8B-B14F-4D97-AF65-F5344CB8AC3E}">
        <p14:creationId xmlns:p14="http://schemas.microsoft.com/office/powerpoint/2010/main" val="14561151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4294967295"/>
          </p:nvPr>
        </p:nvSpPr>
        <p:spPr>
          <a:xfrm>
            <a:off x="8458200" y="6400800"/>
            <a:ext cx="609600" cy="457200"/>
          </a:xfrm>
          <a:prstGeom prst="rect">
            <a:avLst/>
          </a:prstGeom>
        </p:spPr>
        <p:txBody>
          <a:bodyPr/>
          <a:lstStyle/>
          <a:p>
            <a:fld id="{B985AC25-15E0-4D7D-9A7D-94A09F9DA9EA}" type="slidenum">
              <a:rPr lang="en-US"/>
              <a:pPr/>
              <a:t>49</a:t>
            </a:fld>
            <a:endParaRPr lang="en-US"/>
          </a:p>
        </p:txBody>
      </p:sp>
      <p:sp>
        <p:nvSpPr>
          <p:cNvPr id="840714" name="Rectangle 10"/>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0715" name="Rectangle 11"/>
          <p:cNvSpPr>
            <a:spLocks noChangeArrowheads="1"/>
          </p:cNvSpPr>
          <p:nvPr/>
        </p:nvSpPr>
        <p:spPr bwMode="auto">
          <a:xfrm>
            <a:off x="266700" y="930295"/>
            <a:ext cx="8534400"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b="0"/>
              <a:t>Consider an extremely noisy channel in which the </a:t>
            </a:r>
            <a:r>
              <a:rPr lang="en-US" sz="2000" b="0"/>
              <a:t>value</a:t>
            </a:r>
            <a:r>
              <a:rPr lang="en-US" sz="2800" b="0"/>
              <a:t> of the signal-to-noise ratio is almost zero. </a:t>
            </a:r>
          </a:p>
          <a:p>
            <a:pPr algn="just"/>
            <a:endParaRPr lang="en-US" b="0" baseline="0"/>
          </a:p>
          <a:p>
            <a:pPr algn="just"/>
            <a:r>
              <a:rPr lang="en-US" b="0" baseline="0"/>
              <a:t>For noisy channel the capacity C (highest data rate) is calculated as:</a:t>
            </a:r>
          </a:p>
        </p:txBody>
      </p:sp>
      <p:pic>
        <p:nvPicPr>
          <p:cNvPr id="84072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429000"/>
            <a:ext cx="6723063" cy="7620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0721" name="Rectangle 17"/>
          <p:cNvSpPr>
            <a:spLocks noChangeArrowheads="1"/>
          </p:cNvSpPr>
          <p:nvPr/>
        </p:nvSpPr>
        <p:spPr bwMode="auto">
          <a:xfrm>
            <a:off x="228600" y="4572000"/>
            <a:ext cx="8534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400" baseline="0"/>
              <a:t>This means that the capacity of this channel is zero regardless of the bandwidth. In other words, we cannot receive any data through this channel.</a:t>
            </a:r>
          </a:p>
        </p:txBody>
      </p:sp>
      <p:sp>
        <p:nvSpPr>
          <p:cNvPr id="840722" name="Text Box 18"/>
          <p:cNvSpPr txBox="1">
            <a:spLocks noChangeArrowheads="1"/>
          </p:cNvSpPr>
          <p:nvPr/>
        </p:nvSpPr>
        <p:spPr bwMode="auto">
          <a:xfrm>
            <a:off x="228600" y="176565"/>
            <a:ext cx="8610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a:solidFill>
                  <a:srgbClr val="9933FF"/>
                </a:solidFill>
                <a:latin typeface="Times New Roman" panose="02020603050405020304" pitchFamily="18" charset="0"/>
                <a:cs typeface="Times New Roman" panose="02020603050405020304" pitchFamily="18" charset="0"/>
              </a:rPr>
              <a:t>Noisy Channel and Shannon Capacity</a:t>
            </a:r>
          </a:p>
        </p:txBody>
      </p:sp>
    </p:spTree>
    <p:extLst>
      <p:ext uri="{BB962C8B-B14F-4D97-AF65-F5344CB8AC3E}">
        <p14:creationId xmlns:p14="http://schemas.microsoft.com/office/powerpoint/2010/main" val="4672094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
          <p:cNvSpPr>
            <a:spLocks noGrp="1"/>
          </p:cNvSpPr>
          <p:nvPr>
            <p:ph type="sldNum" sz="quarter" idx="4294967295"/>
          </p:nvPr>
        </p:nvSpPr>
        <p:spPr>
          <a:xfrm>
            <a:off x="8458200" y="6400800"/>
            <a:ext cx="609600" cy="457200"/>
          </a:xfrm>
          <a:prstGeom prst="rect">
            <a:avLst/>
          </a:prstGeom>
        </p:spPr>
        <p:txBody>
          <a:bodyPr/>
          <a:lstStyle/>
          <a:p>
            <a:fld id="{DE60D179-4724-4B29-8FEA-B0937B5FC87A}" type="slidenum">
              <a:rPr lang="en-US"/>
              <a:pPr/>
              <a:t>50</a:t>
            </a:fld>
            <a:endParaRPr lang="en-US"/>
          </a:p>
        </p:txBody>
      </p:sp>
      <p:sp>
        <p:nvSpPr>
          <p:cNvPr id="844802" name="Rectangle 2"/>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44803" name="Rectangle 3"/>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grpSp>
        <p:nvGrpSpPr>
          <p:cNvPr id="844804" name="Group 4"/>
          <p:cNvGrpSpPr>
            <a:grpSpLocks/>
          </p:cNvGrpSpPr>
          <p:nvPr/>
        </p:nvGrpSpPr>
        <p:grpSpPr bwMode="auto">
          <a:xfrm>
            <a:off x="490538" y="773113"/>
            <a:ext cx="738187" cy="474662"/>
            <a:chOff x="309" y="487"/>
            <a:chExt cx="465" cy="299"/>
          </a:xfrm>
        </p:grpSpPr>
        <p:sp>
          <p:nvSpPr>
            <p:cNvPr id="844805" name="Rectangle 5"/>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44806" name="Rectangle 6"/>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grpSp>
      <p:sp>
        <p:nvSpPr>
          <p:cNvPr id="844807" name="Rectangle 7"/>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44808" name="Rectangle 8"/>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44809" name="Rectangle 9"/>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baseline="0">
              <a:latin typeface="Tahoma" panose="020B0604030504040204" pitchFamily="34" charset="0"/>
            </a:endParaRPr>
          </a:p>
        </p:txBody>
      </p:sp>
      <p:sp>
        <p:nvSpPr>
          <p:cNvPr id="844810" name="Rectangle 10"/>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4811" name="Rectangle 11"/>
          <p:cNvSpPr>
            <a:spLocks noChangeArrowheads="1"/>
          </p:cNvSpPr>
          <p:nvPr/>
        </p:nvSpPr>
        <p:spPr bwMode="auto">
          <a:xfrm>
            <a:off x="366713" y="1337220"/>
            <a:ext cx="85344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400" baseline="0"/>
              <a:t>We have a channel with a 1-MHz bandwidth. The SNR for this channel is 63. What are the appropriate bit rate and signal level?</a:t>
            </a:r>
          </a:p>
          <a:p>
            <a:pPr algn="just"/>
            <a:endParaRPr lang="en-US" sz="2400" baseline="0">
              <a:solidFill>
                <a:schemeClr val="hlink"/>
              </a:solidFill>
            </a:endParaRPr>
          </a:p>
          <a:p>
            <a:pPr algn="just"/>
            <a:r>
              <a:rPr lang="en-US" sz="2400" baseline="0">
                <a:solidFill>
                  <a:schemeClr val="hlink"/>
                </a:solidFill>
              </a:rPr>
              <a:t>Solution</a:t>
            </a:r>
          </a:p>
          <a:p>
            <a:pPr algn="just"/>
            <a:r>
              <a:rPr lang="en-US" sz="2400" baseline="0"/>
              <a:t>First, we use the Shannon formula to find the upper limit.</a:t>
            </a:r>
          </a:p>
        </p:txBody>
      </p:sp>
      <p:sp>
        <p:nvSpPr>
          <p:cNvPr id="844812" name="Text Box 12"/>
          <p:cNvSpPr txBox="1">
            <a:spLocks noChangeArrowheads="1"/>
          </p:cNvSpPr>
          <p:nvPr/>
        </p:nvSpPr>
        <p:spPr bwMode="auto">
          <a:xfrm>
            <a:off x="1143000" y="182563"/>
            <a:ext cx="1674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baseline="0">
                <a:solidFill>
                  <a:schemeClr val="hlink"/>
                </a:solidFill>
              </a:rPr>
              <a:t>Example</a:t>
            </a:r>
          </a:p>
        </p:txBody>
      </p:sp>
      <p:pic>
        <p:nvPicPr>
          <p:cNvPr id="844814"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927" y="3810000"/>
            <a:ext cx="7370763" cy="44132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27393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4294967295"/>
          </p:nvPr>
        </p:nvSpPr>
        <p:spPr>
          <a:xfrm>
            <a:off x="8458200" y="6400800"/>
            <a:ext cx="609600" cy="457200"/>
          </a:xfrm>
          <a:prstGeom prst="rect">
            <a:avLst/>
          </a:prstGeom>
        </p:spPr>
        <p:txBody>
          <a:bodyPr/>
          <a:lstStyle/>
          <a:p>
            <a:fld id="{3E68C995-66B5-4DE6-83CE-61D41204F668}" type="slidenum">
              <a:rPr lang="en-US"/>
              <a:pPr/>
              <a:t>51</a:t>
            </a:fld>
            <a:endParaRPr lang="en-US"/>
          </a:p>
        </p:txBody>
      </p:sp>
      <p:sp>
        <p:nvSpPr>
          <p:cNvPr id="740361" name="Line 9"/>
          <p:cNvSpPr>
            <a:spLocks noChangeShapeType="1"/>
          </p:cNvSpPr>
          <p:nvPr/>
        </p:nvSpPr>
        <p:spPr bwMode="auto">
          <a:xfrm>
            <a:off x="457200" y="2514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0362" name="Line 10"/>
          <p:cNvSpPr>
            <a:spLocks noChangeShapeType="1"/>
          </p:cNvSpPr>
          <p:nvPr/>
        </p:nvSpPr>
        <p:spPr bwMode="auto">
          <a:xfrm>
            <a:off x="458788" y="4267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0363" name="Rectangle 11"/>
          <p:cNvSpPr>
            <a:spLocks noChangeArrowheads="1"/>
          </p:cNvSpPr>
          <p:nvPr/>
        </p:nvSpPr>
        <p:spPr bwMode="auto">
          <a:xfrm>
            <a:off x="495300" y="26066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3200" i="0" baseline="0">
                <a:latin typeface="Arial" panose="020B0604020202020204" pitchFamily="34" charset="0"/>
              </a:rPr>
              <a:t>The Shannon capacity gives us the upper limit; the </a:t>
            </a:r>
            <a:r>
              <a:rPr lang="en-US" sz="3200" i="0" baseline="0" err="1">
                <a:latin typeface="Arial" panose="020B0604020202020204" pitchFamily="34" charset="0"/>
              </a:rPr>
              <a:t>Nyquist</a:t>
            </a:r>
            <a:r>
              <a:rPr lang="en-US" sz="3200" i="0" baseline="0">
                <a:latin typeface="Arial" panose="020B0604020202020204" pitchFamily="34" charset="0"/>
              </a:rPr>
              <a:t> formula tells us how many signal levels we need.</a:t>
            </a:r>
          </a:p>
        </p:txBody>
      </p:sp>
      <p:grpSp>
        <p:nvGrpSpPr>
          <p:cNvPr id="740364" name="Group 12"/>
          <p:cNvGrpSpPr>
            <a:grpSpLocks/>
          </p:cNvGrpSpPr>
          <p:nvPr/>
        </p:nvGrpSpPr>
        <p:grpSpPr bwMode="auto">
          <a:xfrm>
            <a:off x="457200" y="1871663"/>
            <a:ext cx="1143000" cy="566737"/>
            <a:chOff x="1200" y="1248"/>
            <a:chExt cx="720" cy="357"/>
          </a:xfrm>
        </p:grpSpPr>
        <p:pic>
          <p:nvPicPr>
            <p:cNvPr id="740365"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0366"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aseline="0">
                  <a:solidFill>
                    <a:schemeClr val="hlink"/>
                  </a:solidFill>
                </a:rPr>
                <a:t>Note</a:t>
              </a:r>
            </a:p>
          </p:txBody>
        </p:sp>
      </p:grpSp>
    </p:spTree>
    <p:extLst>
      <p:ext uri="{BB962C8B-B14F-4D97-AF65-F5344CB8AC3E}">
        <p14:creationId xmlns:p14="http://schemas.microsoft.com/office/powerpoint/2010/main" val="37359071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325F89-C6F1-C1BA-589A-DC6CBB353D0A}"/>
              </a:ext>
            </a:extLst>
          </p:cNvPr>
          <p:cNvSpPr/>
          <p:nvPr/>
        </p:nvSpPr>
        <p:spPr>
          <a:xfrm>
            <a:off x="990600" y="609600"/>
            <a:ext cx="2613216" cy="461665"/>
          </a:xfrm>
          <a:prstGeom prst="rect">
            <a:avLst/>
          </a:prstGeom>
        </p:spPr>
        <p:txBody>
          <a:bodyPr wrap="none">
            <a:spAutoFit/>
          </a:bodyPr>
          <a:lstStyle/>
          <a:p>
            <a:pPr>
              <a:defRPr/>
            </a:pPr>
            <a:r>
              <a:rPr lang="en-US" sz="2400" b="1">
                <a:solidFill>
                  <a:srgbClr val="002060"/>
                </a:solidFill>
                <a:effectLst>
                  <a:outerShdw blurRad="38100" dist="38100" dir="2700000" algn="tl">
                    <a:srgbClr val="C0C0C0"/>
                  </a:outerShdw>
                </a:effectLst>
                <a:latin typeface="Times New Roman" pitchFamily="18" charset="0"/>
                <a:cs typeface="Times New Roman" pitchFamily="18" charset="0"/>
              </a:rPr>
              <a:t>PERFORMANCE</a:t>
            </a:r>
            <a:endParaRPr lang="en-IN" sz="2400" b="1">
              <a:solidFill>
                <a:srgbClr val="002060"/>
              </a:solidFill>
              <a:latin typeface="Times New Roman" pitchFamily="18" charset="0"/>
              <a:cs typeface="Times New Roman" pitchFamily="18" charset="0"/>
            </a:endParaRPr>
          </a:p>
        </p:txBody>
      </p:sp>
      <p:sp>
        <p:nvSpPr>
          <p:cNvPr id="73734" name="Rectangle 7">
            <a:extLst>
              <a:ext uri="{FF2B5EF4-FFF2-40B4-BE49-F238E27FC236}">
                <a16:creationId xmlns:a16="http://schemas.microsoft.com/office/drawing/2014/main" id="{0A5251AB-F11C-FBC4-582F-C44B247A8457}"/>
              </a:ext>
            </a:extLst>
          </p:cNvPr>
          <p:cNvSpPr>
            <a:spLocks noChangeArrowheads="1"/>
          </p:cNvSpPr>
          <p:nvPr/>
        </p:nvSpPr>
        <p:spPr bwMode="auto">
          <a:xfrm>
            <a:off x="990600" y="1477620"/>
            <a:ext cx="6858000" cy="1546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fontAlgn="base">
              <a:lnSpc>
                <a:spcPct val="150000"/>
              </a:lnSpc>
              <a:spcBef>
                <a:spcPct val="0"/>
              </a:spcBef>
              <a:spcAft>
                <a:spcPct val="0"/>
              </a:spcAft>
              <a:buFontTx/>
              <a:buBlip>
                <a:blip r:embed="rId3"/>
              </a:buBlip>
            </a:pPr>
            <a:r>
              <a:rPr lang="en-US" altLang="en-US" sz="2100" b="1">
                <a:solidFill>
                  <a:prstClr val="black"/>
                </a:solidFill>
                <a:latin typeface="Times New Roman" panose="02020603050405020304" pitchFamily="18" charset="0"/>
                <a:cs typeface="Times New Roman" panose="02020603050405020304" pitchFamily="18" charset="0"/>
              </a:rPr>
              <a:t> One important issue in networking is the </a:t>
            </a:r>
            <a:r>
              <a:rPr lang="en-US" altLang="en-US" sz="2100" b="1">
                <a:solidFill>
                  <a:srgbClr val="FF0000"/>
                </a:solidFill>
                <a:latin typeface="Times New Roman" panose="02020603050405020304" pitchFamily="18" charset="0"/>
                <a:cs typeface="Times New Roman" panose="02020603050405020304" pitchFamily="18" charset="0"/>
              </a:rPr>
              <a:t>performance</a:t>
            </a:r>
            <a:r>
              <a:rPr lang="en-US" altLang="en-US" sz="2100" b="1">
                <a:solidFill>
                  <a:prstClr val="black"/>
                </a:solidFill>
                <a:latin typeface="Times New Roman" panose="02020603050405020304" pitchFamily="18" charset="0"/>
                <a:cs typeface="Times New Roman" panose="02020603050405020304" pitchFamily="18" charset="0"/>
              </a:rPr>
              <a:t> of the network—how good is it? We discuss quality of service, an overall measurement of network performance, </a:t>
            </a:r>
            <a:endParaRPr lang="en-IN" altLang="en-US" sz="2100" b="1">
              <a:solidFill>
                <a:prstClr val="black"/>
              </a:solidFill>
              <a:latin typeface="Times New Roman" panose="02020603050405020304" pitchFamily="18" charset="0"/>
              <a:cs typeface="Times New Roman" panose="02020603050405020304" pitchFamily="18" charset="0"/>
            </a:endParaRPr>
          </a:p>
        </p:txBody>
      </p:sp>
      <p:sp>
        <p:nvSpPr>
          <p:cNvPr id="9" name="Text Box 7">
            <a:extLst>
              <a:ext uri="{FF2B5EF4-FFF2-40B4-BE49-F238E27FC236}">
                <a16:creationId xmlns:a16="http://schemas.microsoft.com/office/drawing/2014/main" id="{72F6F22A-C611-1F65-68B3-B100F1A69FAE}"/>
              </a:ext>
            </a:extLst>
          </p:cNvPr>
          <p:cNvSpPr txBox="1">
            <a:spLocks noChangeArrowheads="1"/>
          </p:cNvSpPr>
          <p:nvPr/>
        </p:nvSpPr>
        <p:spPr bwMode="auto">
          <a:xfrm>
            <a:off x="2507926" y="3321847"/>
            <a:ext cx="3641190" cy="415498"/>
          </a:xfrm>
          <a:prstGeom prst="rect">
            <a:avLst/>
          </a:prstGeom>
          <a:noFill/>
          <a:ln w="76200" algn="ctr">
            <a:noFill/>
            <a:miter lim="800000"/>
            <a:headEnd/>
            <a:tailEnd/>
          </a:ln>
          <a:effectLst/>
        </p:spPr>
        <p:txBody>
          <a:bodyPr wrap="none">
            <a:spAutoFit/>
          </a:bodyPr>
          <a:lstStyle/>
          <a:p>
            <a:pPr algn="ctr">
              <a:defRPr/>
            </a:pPr>
            <a:r>
              <a:rPr lang="en-US" sz="2100" u="sng">
                <a:solidFill>
                  <a:srgbClr val="FF0000"/>
                </a:solidFill>
                <a:effectLst>
                  <a:outerShdw blurRad="38100" dist="38100" dir="2700000" algn="tl">
                    <a:srgbClr val="C0C0C0"/>
                  </a:outerShdw>
                </a:effectLst>
                <a:latin typeface="Times New Roman" pitchFamily="18" charset="0"/>
                <a:cs typeface="Times New Roman" pitchFamily="18" charset="0"/>
              </a:rPr>
              <a:t>Topics discussed in this section:</a:t>
            </a:r>
          </a:p>
        </p:txBody>
      </p:sp>
      <p:sp>
        <p:nvSpPr>
          <p:cNvPr id="73736" name="Rectangle 6">
            <a:extLst>
              <a:ext uri="{FF2B5EF4-FFF2-40B4-BE49-F238E27FC236}">
                <a16:creationId xmlns:a16="http://schemas.microsoft.com/office/drawing/2014/main" id="{F3FE7322-4282-4480-9FE5-B2792D9E89CE}"/>
              </a:ext>
            </a:extLst>
          </p:cNvPr>
          <p:cNvSpPr>
            <a:spLocks noChangeArrowheads="1"/>
          </p:cNvSpPr>
          <p:nvPr/>
        </p:nvSpPr>
        <p:spPr bwMode="auto">
          <a:xfrm>
            <a:off x="2857500" y="3857625"/>
            <a:ext cx="305395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
                <a:prstClr val="black"/>
              </a:buClr>
              <a:buSzPct val="117000"/>
              <a:buFontTx/>
              <a:buBlip>
                <a:blip r:embed="rId3"/>
              </a:buBlip>
            </a:pPr>
            <a:r>
              <a:rPr lang="en-US" altLang="en-US" b="1">
                <a:solidFill>
                  <a:prstClr val="black"/>
                </a:solidFill>
                <a:latin typeface="Times New Roman" panose="02020603050405020304" pitchFamily="18" charset="0"/>
                <a:cs typeface="Times New Roman" panose="02020603050405020304" pitchFamily="18" charset="0"/>
              </a:rPr>
              <a:t>Bandwidth</a:t>
            </a:r>
          </a:p>
          <a:p>
            <a:pPr fontAlgn="base">
              <a:spcBef>
                <a:spcPct val="0"/>
              </a:spcBef>
              <a:spcAft>
                <a:spcPct val="0"/>
              </a:spcAft>
              <a:buClr>
                <a:prstClr val="black"/>
              </a:buClr>
              <a:buSzPct val="117000"/>
              <a:buFontTx/>
              <a:buBlip>
                <a:blip r:embed="rId3"/>
              </a:buBlip>
            </a:pPr>
            <a:r>
              <a:rPr lang="fr-FR" altLang="en-US" b="1" err="1">
                <a:solidFill>
                  <a:prstClr val="black"/>
                </a:solidFill>
                <a:latin typeface="Times New Roman" panose="02020603050405020304" pitchFamily="18" charset="0"/>
                <a:cs typeface="Times New Roman" panose="02020603050405020304" pitchFamily="18" charset="0"/>
              </a:rPr>
              <a:t>Throughput</a:t>
            </a:r>
            <a:endParaRPr lang="fr-FR" altLang="en-US" b="1">
              <a:solidFill>
                <a:prstClr val="black"/>
              </a:solidFill>
              <a:latin typeface="Times New Roman" panose="02020603050405020304" pitchFamily="18" charset="0"/>
              <a:cs typeface="Times New Roman" panose="02020603050405020304" pitchFamily="18" charset="0"/>
            </a:endParaRPr>
          </a:p>
          <a:p>
            <a:pPr fontAlgn="base">
              <a:spcBef>
                <a:spcPct val="0"/>
              </a:spcBef>
              <a:spcAft>
                <a:spcPct val="0"/>
              </a:spcAft>
              <a:buClr>
                <a:prstClr val="black"/>
              </a:buClr>
              <a:buSzPct val="117000"/>
              <a:buFontTx/>
              <a:buBlip>
                <a:blip r:embed="rId3"/>
              </a:buBlip>
            </a:pPr>
            <a:r>
              <a:rPr lang="fr-FR" altLang="en-US" b="1">
                <a:solidFill>
                  <a:prstClr val="black"/>
                </a:solidFill>
                <a:latin typeface="Times New Roman" panose="02020603050405020304" pitchFamily="18" charset="0"/>
                <a:cs typeface="Times New Roman" panose="02020603050405020304" pitchFamily="18" charset="0"/>
              </a:rPr>
              <a:t> </a:t>
            </a:r>
            <a:r>
              <a:rPr lang="en-US" altLang="en-US" b="1">
                <a:solidFill>
                  <a:prstClr val="black"/>
                </a:solidFill>
                <a:latin typeface="Times New Roman" panose="02020603050405020304" pitchFamily="18" charset="0"/>
                <a:cs typeface="Times New Roman" panose="02020603050405020304" pitchFamily="18" charset="0"/>
              </a:rPr>
              <a:t>Latency (Delay)</a:t>
            </a:r>
          </a:p>
          <a:p>
            <a:pPr fontAlgn="base">
              <a:spcBef>
                <a:spcPct val="0"/>
              </a:spcBef>
              <a:spcAft>
                <a:spcPct val="0"/>
              </a:spcAft>
              <a:buClr>
                <a:prstClr val="black"/>
              </a:buClr>
              <a:buSzPct val="117000"/>
              <a:buFontTx/>
              <a:buBlip>
                <a:blip r:embed="rId3"/>
              </a:buBlip>
            </a:pPr>
            <a:r>
              <a:rPr lang="en-US" altLang="en-US" b="1">
                <a:solidFill>
                  <a:prstClr val="black"/>
                </a:solidFill>
                <a:latin typeface="Times New Roman" panose="02020603050405020304" pitchFamily="18" charset="0"/>
                <a:cs typeface="Times New Roman" panose="02020603050405020304" pitchFamily="18" charset="0"/>
              </a:rPr>
              <a:t>Bandwidth-Delay Product</a:t>
            </a:r>
          </a:p>
          <a:p>
            <a:pPr fontAlgn="base">
              <a:spcBef>
                <a:spcPct val="0"/>
              </a:spcBef>
              <a:spcAft>
                <a:spcPct val="0"/>
              </a:spcAft>
              <a:buClr>
                <a:prstClr val="black"/>
              </a:buClr>
              <a:buSzPct val="117000"/>
              <a:buFontTx/>
              <a:buBlip>
                <a:blip r:embed="rId3"/>
              </a:buBlip>
            </a:pPr>
            <a:r>
              <a:rPr lang="en-US" altLang="en-US" b="1">
                <a:solidFill>
                  <a:prstClr val="black"/>
                </a:solidFill>
                <a:latin typeface="Times New Roman" panose="02020603050405020304" pitchFamily="18" charset="0"/>
                <a:cs typeface="Times New Roman" panose="02020603050405020304" pitchFamily="18" charset="0"/>
              </a:rPr>
              <a:t>Jitter</a:t>
            </a:r>
          </a:p>
        </p:txBody>
      </p:sp>
    </p:spTree>
    <p:extLst>
      <p:ext uri="{BB962C8B-B14F-4D97-AF65-F5344CB8AC3E}">
        <p14:creationId xmlns:p14="http://schemas.microsoft.com/office/powerpoint/2010/main" val="41254564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7" name="Rectangle 6">
            <a:extLst>
              <a:ext uri="{FF2B5EF4-FFF2-40B4-BE49-F238E27FC236}">
                <a16:creationId xmlns:a16="http://schemas.microsoft.com/office/drawing/2014/main" id="{C381384E-61C1-3E97-A25C-F4B43453840A}"/>
              </a:ext>
            </a:extLst>
          </p:cNvPr>
          <p:cNvSpPr>
            <a:spLocks noChangeArrowheads="1"/>
          </p:cNvSpPr>
          <p:nvPr/>
        </p:nvSpPr>
        <p:spPr bwMode="auto">
          <a:xfrm>
            <a:off x="1143000" y="762000"/>
            <a:ext cx="18838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IN" altLang="en-US" sz="2800" b="1">
                <a:solidFill>
                  <a:srgbClr val="002060"/>
                </a:solidFill>
                <a:latin typeface="Times New Roman" panose="02020603050405020304" pitchFamily="18" charset="0"/>
                <a:cs typeface="Times New Roman" panose="02020603050405020304" pitchFamily="18" charset="0"/>
              </a:rPr>
              <a:t>Bandwidth</a:t>
            </a:r>
          </a:p>
        </p:txBody>
      </p:sp>
      <p:sp>
        <p:nvSpPr>
          <p:cNvPr id="8" name="Rectangle 7">
            <a:extLst>
              <a:ext uri="{FF2B5EF4-FFF2-40B4-BE49-F238E27FC236}">
                <a16:creationId xmlns:a16="http://schemas.microsoft.com/office/drawing/2014/main" id="{7F19D591-1714-9C46-3D6E-3496C1A4D592}"/>
              </a:ext>
            </a:extLst>
          </p:cNvPr>
          <p:cNvSpPr/>
          <p:nvPr/>
        </p:nvSpPr>
        <p:spPr>
          <a:xfrm>
            <a:off x="1143000" y="1690627"/>
            <a:ext cx="6858024" cy="3416320"/>
          </a:xfrm>
          <a:prstGeom prst="rect">
            <a:avLst/>
          </a:prstGeom>
        </p:spPr>
        <p:txBody>
          <a:bodyPr>
            <a:spAutoFit/>
          </a:bodyPr>
          <a:lstStyle/>
          <a:p>
            <a:pPr algn="just">
              <a:lnSpc>
                <a:spcPct val="150000"/>
              </a:lnSpc>
              <a:buFontTx/>
              <a:buBlip>
                <a:blip r:embed="rId3"/>
              </a:buBlip>
              <a:defRPr/>
            </a:pPr>
            <a:r>
              <a:rPr lang="en-IN" sz="2400" b="1">
                <a:solidFill>
                  <a:prstClr val="black"/>
                </a:solidFill>
                <a:latin typeface="Times New Roman" pitchFamily="18" charset="0"/>
                <a:cs typeface="Times New Roman" pitchFamily="18" charset="0"/>
              </a:rPr>
              <a:t> One characteristic that measures network performance is </a:t>
            </a:r>
            <a:r>
              <a:rPr lang="en-IN" sz="2400" b="1">
                <a:solidFill>
                  <a:srgbClr val="FF0000"/>
                </a:solidFill>
                <a:latin typeface="Times New Roman" pitchFamily="18" charset="0"/>
                <a:cs typeface="Times New Roman" pitchFamily="18" charset="0"/>
              </a:rPr>
              <a:t>bandwidth</a:t>
            </a:r>
            <a:r>
              <a:rPr lang="en-IN" sz="2400" b="1">
                <a:solidFill>
                  <a:prstClr val="black"/>
                </a:solidFill>
                <a:latin typeface="Times New Roman" pitchFamily="18" charset="0"/>
                <a:cs typeface="Times New Roman" pitchFamily="18" charset="0"/>
              </a:rPr>
              <a:t>. However, the term can be used in two different contexts with two different measuring values:</a:t>
            </a:r>
          </a:p>
          <a:p>
            <a:pPr lvl="5" algn="just">
              <a:lnSpc>
                <a:spcPct val="150000"/>
              </a:lnSpc>
              <a:buFontTx/>
              <a:buBlip>
                <a:blip r:embed="rId4"/>
              </a:buBlip>
              <a:defRPr/>
            </a:pPr>
            <a:r>
              <a:rPr lang="en-US" sz="2400">
                <a:solidFill>
                  <a:prstClr val="black"/>
                </a:solidFill>
                <a:latin typeface="Times New Roman" pitchFamily="18" charset="0"/>
                <a:cs typeface="Times New Roman" pitchFamily="18" charset="0"/>
              </a:rPr>
              <a:t> </a:t>
            </a:r>
            <a:r>
              <a:rPr lang="en-IN" sz="2400">
                <a:solidFill>
                  <a:srgbClr val="7030A0"/>
                </a:solidFill>
                <a:latin typeface="Times New Roman" pitchFamily="18" charset="0"/>
                <a:cs typeface="Times New Roman" pitchFamily="18" charset="0"/>
              </a:rPr>
              <a:t>bandwidth in hertz</a:t>
            </a:r>
          </a:p>
          <a:p>
            <a:pPr lvl="5" algn="just">
              <a:lnSpc>
                <a:spcPct val="150000"/>
              </a:lnSpc>
              <a:buFontTx/>
              <a:buBlip>
                <a:blip r:embed="rId4"/>
              </a:buBlip>
              <a:defRPr/>
            </a:pPr>
            <a:r>
              <a:rPr lang="en-IN" sz="2400">
                <a:solidFill>
                  <a:srgbClr val="7030A0"/>
                </a:solidFill>
                <a:latin typeface="Times New Roman" pitchFamily="18" charset="0"/>
                <a:cs typeface="Times New Roman" pitchFamily="18" charset="0"/>
              </a:rPr>
              <a:t> bandwidth in bits per second.</a:t>
            </a:r>
          </a:p>
        </p:txBody>
      </p:sp>
    </p:spTree>
    <p:extLst>
      <p:ext uri="{BB962C8B-B14F-4D97-AF65-F5344CB8AC3E}">
        <p14:creationId xmlns:p14="http://schemas.microsoft.com/office/powerpoint/2010/main" val="639250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1" name="Rectangle 6">
            <a:extLst>
              <a:ext uri="{FF2B5EF4-FFF2-40B4-BE49-F238E27FC236}">
                <a16:creationId xmlns:a16="http://schemas.microsoft.com/office/drawing/2014/main" id="{435D3413-BDC9-9B79-70C9-B900417EE276}"/>
              </a:ext>
            </a:extLst>
          </p:cNvPr>
          <p:cNvSpPr>
            <a:spLocks noChangeArrowheads="1"/>
          </p:cNvSpPr>
          <p:nvPr/>
        </p:nvSpPr>
        <p:spPr bwMode="auto">
          <a:xfrm>
            <a:off x="1143000" y="381000"/>
            <a:ext cx="55058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IN" altLang="en-US" sz="2400" b="1">
                <a:solidFill>
                  <a:srgbClr val="002060"/>
                </a:solidFill>
                <a:latin typeface="Times New Roman" panose="02020603050405020304" pitchFamily="18" charset="0"/>
                <a:cs typeface="Times New Roman" panose="02020603050405020304" pitchFamily="18" charset="0"/>
              </a:rPr>
              <a:t>Bandwidth in Hertz &amp; in bits per second</a:t>
            </a:r>
          </a:p>
        </p:txBody>
      </p:sp>
      <p:sp>
        <p:nvSpPr>
          <p:cNvPr id="75782" name="Rectangle 7">
            <a:extLst>
              <a:ext uri="{FF2B5EF4-FFF2-40B4-BE49-F238E27FC236}">
                <a16:creationId xmlns:a16="http://schemas.microsoft.com/office/drawing/2014/main" id="{6DDA68C3-9393-BA7D-DB25-049C2954E654}"/>
              </a:ext>
            </a:extLst>
          </p:cNvPr>
          <p:cNvSpPr>
            <a:spLocks noChangeArrowheads="1"/>
          </p:cNvSpPr>
          <p:nvPr/>
        </p:nvSpPr>
        <p:spPr bwMode="auto">
          <a:xfrm>
            <a:off x="1143000" y="990600"/>
            <a:ext cx="73152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fontAlgn="base">
              <a:lnSpc>
                <a:spcPct val="150000"/>
              </a:lnSpc>
              <a:spcBef>
                <a:spcPct val="0"/>
              </a:spcBef>
              <a:spcAft>
                <a:spcPct val="0"/>
              </a:spcAft>
              <a:buFontTx/>
              <a:buBlip>
                <a:blip r:embed="rId3"/>
              </a:buBlip>
            </a:pPr>
            <a:r>
              <a:rPr lang="en-IN" altLang="en-US">
                <a:solidFill>
                  <a:prstClr val="black"/>
                </a:solidFill>
                <a:latin typeface="Times New Roman" panose="02020603050405020304" pitchFamily="18" charset="0"/>
                <a:cs typeface="Times New Roman" panose="02020603050405020304" pitchFamily="18" charset="0"/>
              </a:rPr>
              <a:t> </a:t>
            </a:r>
            <a:r>
              <a:rPr lang="en-IN" altLang="en-US">
                <a:solidFill>
                  <a:srgbClr val="FF0000"/>
                </a:solidFill>
                <a:latin typeface="Times New Roman" panose="02020603050405020304" pitchFamily="18" charset="0"/>
                <a:cs typeface="Times New Roman" panose="02020603050405020304" pitchFamily="18" charset="0"/>
              </a:rPr>
              <a:t>Bandwidth in hertz </a:t>
            </a:r>
            <a:r>
              <a:rPr lang="en-IN" altLang="en-US">
                <a:solidFill>
                  <a:prstClr val="black"/>
                </a:solidFill>
                <a:latin typeface="Times New Roman" panose="02020603050405020304" pitchFamily="18" charset="0"/>
                <a:cs typeface="Times New Roman" panose="02020603050405020304" pitchFamily="18" charset="0"/>
              </a:rPr>
              <a:t>is the range of frequencies contained in a composite signal or the range of frequencies a channel can pass. For example, we can say the bandwidth of a subscriber telephone line is 4 kHz.</a:t>
            </a:r>
          </a:p>
          <a:p>
            <a:pPr algn="just" fontAlgn="base">
              <a:lnSpc>
                <a:spcPct val="150000"/>
              </a:lnSpc>
              <a:spcBef>
                <a:spcPct val="0"/>
              </a:spcBef>
              <a:spcAft>
                <a:spcPct val="0"/>
              </a:spcAft>
            </a:pPr>
            <a:endParaRPr lang="en-IN" altLang="en-US">
              <a:solidFill>
                <a:prstClr val="black"/>
              </a:solidFill>
              <a:latin typeface="Times New Roman" panose="02020603050405020304" pitchFamily="18" charset="0"/>
              <a:cs typeface="Times New Roman" panose="02020603050405020304" pitchFamily="18" charset="0"/>
            </a:endParaRPr>
          </a:p>
          <a:p>
            <a:pPr algn="just" fontAlgn="base">
              <a:lnSpc>
                <a:spcPct val="150000"/>
              </a:lnSpc>
              <a:spcBef>
                <a:spcPct val="0"/>
              </a:spcBef>
              <a:spcAft>
                <a:spcPct val="0"/>
              </a:spcAft>
              <a:buFontTx/>
              <a:buBlip>
                <a:blip r:embed="rId3"/>
              </a:buBlip>
            </a:pPr>
            <a:r>
              <a:rPr lang="en-US" altLang="en-US">
                <a:solidFill>
                  <a:prstClr val="black"/>
                </a:solidFill>
                <a:latin typeface="Times New Roman" panose="02020603050405020304" pitchFamily="18" charset="0"/>
                <a:cs typeface="Times New Roman" panose="02020603050405020304" pitchFamily="18" charset="0"/>
              </a:rPr>
              <a:t> </a:t>
            </a:r>
            <a:r>
              <a:rPr lang="en-IN" altLang="en-US">
                <a:solidFill>
                  <a:prstClr val="black"/>
                </a:solidFill>
                <a:latin typeface="Times New Roman" panose="02020603050405020304" pitchFamily="18" charset="0"/>
                <a:cs typeface="Times New Roman" panose="02020603050405020304" pitchFamily="18" charset="0"/>
              </a:rPr>
              <a:t>The term </a:t>
            </a:r>
            <a:r>
              <a:rPr lang="en-IN" altLang="en-US" i="1">
                <a:solidFill>
                  <a:srgbClr val="FF0000"/>
                </a:solidFill>
                <a:latin typeface="Times New Roman" panose="02020603050405020304" pitchFamily="18" charset="0"/>
                <a:cs typeface="Times New Roman" panose="02020603050405020304" pitchFamily="18" charset="0"/>
              </a:rPr>
              <a:t>bandwidth </a:t>
            </a:r>
            <a:r>
              <a:rPr lang="en-IN" altLang="en-US" i="1">
                <a:solidFill>
                  <a:prstClr val="black"/>
                </a:solidFill>
                <a:latin typeface="Times New Roman" panose="02020603050405020304" pitchFamily="18" charset="0"/>
                <a:cs typeface="Times New Roman" panose="02020603050405020304" pitchFamily="18" charset="0"/>
              </a:rPr>
              <a:t>can also refer to the number of </a:t>
            </a:r>
            <a:r>
              <a:rPr lang="en-IN" altLang="en-US" i="1">
                <a:solidFill>
                  <a:srgbClr val="FF0000"/>
                </a:solidFill>
                <a:latin typeface="Times New Roman" panose="02020603050405020304" pitchFamily="18" charset="0"/>
                <a:cs typeface="Times New Roman" panose="02020603050405020304" pitchFamily="18" charset="0"/>
              </a:rPr>
              <a:t>bits per second </a:t>
            </a:r>
            <a:r>
              <a:rPr lang="en-IN" altLang="en-US" i="1">
                <a:solidFill>
                  <a:prstClr val="black"/>
                </a:solidFill>
                <a:latin typeface="Times New Roman" panose="02020603050405020304" pitchFamily="18" charset="0"/>
                <a:cs typeface="Times New Roman" panose="02020603050405020304" pitchFamily="18" charset="0"/>
              </a:rPr>
              <a:t>that a channel, a </a:t>
            </a:r>
            <a:r>
              <a:rPr lang="en-IN" altLang="en-US">
                <a:solidFill>
                  <a:prstClr val="black"/>
                </a:solidFill>
                <a:latin typeface="Times New Roman" panose="02020603050405020304" pitchFamily="18" charset="0"/>
                <a:cs typeface="Times New Roman" panose="02020603050405020304" pitchFamily="18" charset="0"/>
              </a:rPr>
              <a:t>link, or even a network can transmit. For example, one can say the bandwidth of a Fast Ethernet network (or the links in this network) is a maximum of 100 Mbps. This means that this network can send 100 Mbps.</a:t>
            </a:r>
          </a:p>
        </p:txBody>
      </p:sp>
    </p:spTree>
    <p:extLst>
      <p:ext uri="{BB962C8B-B14F-4D97-AF65-F5344CB8AC3E}">
        <p14:creationId xmlns:p14="http://schemas.microsoft.com/office/powerpoint/2010/main" val="15583497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6">
            <a:extLst>
              <a:ext uri="{FF2B5EF4-FFF2-40B4-BE49-F238E27FC236}">
                <a16:creationId xmlns:a16="http://schemas.microsoft.com/office/drawing/2014/main" id="{0A55D6CC-B3D5-8BD6-2025-A752C1FDD4E8}"/>
              </a:ext>
            </a:extLst>
          </p:cNvPr>
          <p:cNvSpPr>
            <a:spLocks noChangeArrowheads="1"/>
          </p:cNvSpPr>
          <p:nvPr/>
        </p:nvSpPr>
        <p:spPr bwMode="auto">
          <a:xfrm>
            <a:off x="1211368" y="228600"/>
            <a:ext cx="158402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IN" altLang="en-US" sz="2100" b="1">
                <a:solidFill>
                  <a:srgbClr val="002060"/>
                </a:solidFill>
                <a:latin typeface="Times New Roman" panose="02020603050405020304" pitchFamily="18" charset="0"/>
                <a:cs typeface="Times New Roman" panose="02020603050405020304" pitchFamily="18" charset="0"/>
              </a:rPr>
              <a:t>Throughput</a:t>
            </a:r>
          </a:p>
        </p:txBody>
      </p:sp>
      <p:sp>
        <p:nvSpPr>
          <p:cNvPr id="153607" name="Rectangle 7">
            <a:extLst>
              <a:ext uri="{FF2B5EF4-FFF2-40B4-BE49-F238E27FC236}">
                <a16:creationId xmlns:a16="http://schemas.microsoft.com/office/drawing/2014/main" id="{0B110318-1C36-68DA-CD33-F947B6A7CB34}"/>
              </a:ext>
            </a:extLst>
          </p:cNvPr>
          <p:cNvSpPr>
            <a:spLocks noChangeArrowheads="1"/>
          </p:cNvSpPr>
          <p:nvPr/>
        </p:nvSpPr>
        <p:spPr bwMode="auto">
          <a:xfrm>
            <a:off x="457200" y="838200"/>
            <a:ext cx="80010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fontAlgn="base">
              <a:lnSpc>
                <a:spcPct val="150000"/>
              </a:lnSpc>
              <a:spcBef>
                <a:spcPct val="0"/>
              </a:spcBef>
              <a:spcAft>
                <a:spcPct val="0"/>
              </a:spcAft>
              <a:buFontTx/>
              <a:buBlip>
                <a:blip r:embed="rId3"/>
              </a:buBlip>
            </a:pPr>
            <a:r>
              <a:rPr lang="en-IN" altLang="en-US" sz="1600">
                <a:solidFill>
                  <a:prstClr val="black"/>
                </a:solidFill>
                <a:latin typeface="Times New Roman" panose="02020603050405020304" pitchFamily="18" charset="0"/>
                <a:cs typeface="Times New Roman" panose="02020603050405020304" pitchFamily="18" charset="0"/>
              </a:rPr>
              <a:t> The throughput is a measure of </a:t>
            </a:r>
            <a:r>
              <a:rPr lang="en-IN" altLang="en-US" sz="1600">
                <a:solidFill>
                  <a:srgbClr val="FF0000"/>
                </a:solidFill>
                <a:latin typeface="Times New Roman" panose="02020603050405020304" pitchFamily="18" charset="0"/>
                <a:cs typeface="Times New Roman" panose="02020603050405020304" pitchFamily="18" charset="0"/>
              </a:rPr>
              <a:t>how fast </a:t>
            </a:r>
            <a:r>
              <a:rPr lang="en-IN" altLang="en-US" sz="1600">
                <a:solidFill>
                  <a:prstClr val="black"/>
                </a:solidFill>
                <a:latin typeface="Times New Roman" panose="02020603050405020304" pitchFamily="18" charset="0"/>
                <a:cs typeface="Times New Roman" panose="02020603050405020304" pitchFamily="18" charset="0"/>
              </a:rPr>
              <a:t>we can actually send data through a network.</a:t>
            </a:r>
          </a:p>
          <a:p>
            <a:pPr algn="just" fontAlgn="base">
              <a:lnSpc>
                <a:spcPct val="150000"/>
              </a:lnSpc>
              <a:spcBef>
                <a:spcPct val="0"/>
              </a:spcBef>
              <a:spcAft>
                <a:spcPct val="0"/>
              </a:spcAft>
              <a:buFontTx/>
              <a:buBlip>
                <a:blip r:embed="rId3"/>
              </a:buBlip>
            </a:pPr>
            <a:r>
              <a:rPr lang="en-US" altLang="en-US" sz="1600">
                <a:solidFill>
                  <a:prstClr val="black"/>
                </a:solidFill>
                <a:latin typeface="Times New Roman" panose="02020603050405020304" pitchFamily="18" charset="0"/>
                <a:cs typeface="Times New Roman" panose="02020603050405020304" pitchFamily="18" charset="0"/>
              </a:rPr>
              <a:t> </a:t>
            </a:r>
            <a:r>
              <a:rPr lang="en-IN" altLang="en-US" sz="1600">
                <a:solidFill>
                  <a:prstClr val="black"/>
                </a:solidFill>
                <a:latin typeface="Times New Roman" panose="02020603050405020304" pitchFamily="18" charset="0"/>
                <a:cs typeface="Times New Roman" panose="02020603050405020304" pitchFamily="18" charset="0"/>
              </a:rPr>
              <a:t>Although, at first glance, </a:t>
            </a:r>
            <a:r>
              <a:rPr lang="en-IN" altLang="en-US" sz="1600">
                <a:solidFill>
                  <a:srgbClr val="FF0000"/>
                </a:solidFill>
                <a:latin typeface="Times New Roman" panose="02020603050405020304" pitchFamily="18" charset="0"/>
                <a:cs typeface="Times New Roman" panose="02020603050405020304" pitchFamily="18" charset="0"/>
              </a:rPr>
              <a:t>bandwidth</a:t>
            </a:r>
            <a:r>
              <a:rPr lang="en-IN" altLang="en-US" sz="1600">
                <a:solidFill>
                  <a:prstClr val="black"/>
                </a:solidFill>
                <a:latin typeface="Times New Roman" panose="02020603050405020304" pitchFamily="18" charset="0"/>
                <a:cs typeface="Times New Roman" panose="02020603050405020304" pitchFamily="18" charset="0"/>
              </a:rPr>
              <a:t> in bits per second and </a:t>
            </a:r>
            <a:r>
              <a:rPr lang="en-IN" altLang="en-US" sz="1600">
                <a:solidFill>
                  <a:srgbClr val="FF0000"/>
                </a:solidFill>
                <a:latin typeface="Times New Roman" panose="02020603050405020304" pitchFamily="18" charset="0"/>
                <a:cs typeface="Times New Roman" panose="02020603050405020304" pitchFamily="18" charset="0"/>
              </a:rPr>
              <a:t>throughput</a:t>
            </a:r>
            <a:r>
              <a:rPr lang="en-IN" altLang="en-US" sz="1600">
                <a:solidFill>
                  <a:prstClr val="black"/>
                </a:solidFill>
                <a:latin typeface="Times New Roman" panose="02020603050405020304" pitchFamily="18" charset="0"/>
                <a:cs typeface="Times New Roman" panose="02020603050405020304" pitchFamily="18" charset="0"/>
              </a:rPr>
              <a:t> seem the </a:t>
            </a:r>
            <a:r>
              <a:rPr lang="en-IN" altLang="en-US" sz="1600">
                <a:solidFill>
                  <a:srgbClr val="FF0000"/>
                </a:solidFill>
                <a:latin typeface="Times New Roman" panose="02020603050405020304" pitchFamily="18" charset="0"/>
                <a:cs typeface="Times New Roman" panose="02020603050405020304" pitchFamily="18" charset="0"/>
              </a:rPr>
              <a:t>same</a:t>
            </a:r>
            <a:r>
              <a:rPr lang="en-IN" altLang="en-US" sz="1600">
                <a:solidFill>
                  <a:prstClr val="black"/>
                </a:solidFill>
                <a:latin typeface="Times New Roman" panose="02020603050405020304" pitchFamily="18" charset="0"/>
                <a:cs typeface="Times New Roman" panose="02020603050405020304" pitchFamily="18" charset="0"/>
              </a:rPr>
              <a:t>, they are different. A link may have a bandwidth of </a:t>
            </a:r>
            <a:r>
              <a:rPr lang="en-IN" altLang="en-US" sz="1600" i="1">
                <a:solidFill>
                  <a:srgbClr val="FF0000"/>
                </a:solidFill>
                <a:latin typeface="Times New Roman" panose="02020603050405020304" pitchFamily="18" charset="0"/>
                <a:cs typeface="Times New Roman" panose="02020603050405020304" pitchFamily="18" charset="0"/>
              </a:rPr>
              <a:t>B bps</a:t>
            </a:r>
            <a:r>
              <a:rPr lang="en-IN" altLang="en-US" sz="1600" i="1">
                <a:solidFill>
                  <a:prstClr val="black"/>
                </a:solidFill>
                <a:latin typeface="Times New Roman" panose="02020603050405020304" pitchFamily="18" charset="0"/>
                <a:cs typeface="Times New Roman" panose="02020603050405020304" pitchFamily="18" charset="0"/>
              </a:rPr>
              <a:t>, but we can only send </a:t>
            </a:r>
            <a:r>
              <a:rPr lang="en-IN" altLang="en-US" sz="1600" i="1">
                <a:solidFill>
                  <a:srgbClr val="FF0000"/>
                </a:solidFill>
                <a:latin typeface="Times New Roman" panose="02020603050405020304" pitchFamily="18" charset="0"/>
                <a:cs typeface="Times New Roman" panose="02020603050405020304" pitchFamily="18" charset="0"/>
              </a:rPr>
              <a:t>T bps </a:t>
            </a:r>
            <a:r>
              <a:rPr lang="en-IN" altLang="en-US" sz="1600">
                <a:solidFill>
                  <a:prstClr val="black"/>
                </a:solidFill>
                <a:latin typeface="Times New Roman" panose="02020603050405020304" pitchFamily="18" charset="0"/>
                <a:cs typeface="Times New Roman" panose="02020603050405020304" pitchFamily="18" charset="0"/>
              </a:rPr>
              <a:t>through this link with ‘</a:t>
            </a:r>
            <a:r>
              <a:rPr lang="en-IN" altLang="en-US" sz="1600" i="1">
                <a:solidFill>
                  <a:prstClr val="black"/>
                </a:solidFill>
                <a:latin typeface="Times New Roman" panose="02020603050405020304" pitchFamily="18" charset="0"/>
                <a:cs typeface="Times New Roman" panose="02020603050405020304" pitchFamily="18" charset="0"/>
              </a:rPr>
              <a:t>T’ </a:t>
            </a:r>
            <a:r>
              <a:rPr lang="en-IN" altLang="en-US" sz="1600" i="1">
                <a:solidFill>
                  <a:srgbClr val="FF0000"/>
                </a:solidFill>
                <a:latin typeface="Times New Roman" panose="02020603050405020304" pitchFamily="18" charset="0"/>
                <a:cs typeface="Times New Roman" panose="02020603050405020304" pitchFamily="18" charset="0"/>
              </a:rPr>
              <a:t>always less </a:t>
            </a:r>
            <a:r>
              <a:rPr lang="en-IN" altLang="en-US" sz="1600" i="1">
                <a:solidFill>
                  <a:prstClr val="black"/>
                </a:solidFill>
                <a:latin typeface="Times New Roman" panose="02020603050405020304" pitchFamily="18" charset="0"/>
                <a:cs typeface="Times New Roman" panose="02020603050405020304" pitchFamily="18" charset="0"/>
              </a:rPr>
              <a:t>than ‘B’.</a:t>
            </a:r>
          </a:p>
          <a:p>
            <a:pPr algn="just" fontAlgn="base">
              <a:lnSpc>
                <a:spcPct val="150000"/>
              </a:lnSpc>
              <a:spcBef>
                <a:spcPct val="0"/>
              </a:spcBef>
              <a:spcAft>
                <a:spcPct val="0"/>
              </a:spcAft>
              <a:buFontTx/>
              <a:buBlip>
                <a:blip r:embed="rId3"/>
              </a:buBlip>
            </a:pPr>
            <a:r>
              <a:rPr lang="en-IN" altLang="en-US" sz="1600">
                <a:solidFill>
                  <a:prstClr val="black"/>
                </a:solidFill>
                <a:latin typeface="Times New Roman" panose="02020603050405020304" pitchFamily="18" charset="0"/>
                <a:cs typeface="Times New Roman" panose="02020603050405020304" pitchFamily="18" charset="0"/>
              </a:rPr>
              <a:t>In other words, the </a:t>
            </a:r>
            <a:r>
              <a:rPr lang="en-IN" altLang="en-US" sz="1600">
                <a:solidFill>
                  <a:srgbClr val="FF0000"/>
                </a:solidFill>
                <a:latin typeface="Times New Roman" panose="02020603050405020304" pitchFamily="18" charset="0"/>
                <a:cs typeface="Times New Roman" panose="02020603050405020304" pitchFamily="18" charset="0"/>
              </a:rPr>
              <a:t>bandwidth</a:t>
            </a:r>
            <a:r>
              <a:rPr lang="en-IN" altLang="en-US" sz="1600">
                <a:solidFill>
                  <a:prstClr val="black"/>
                </a:solidFill>
                <a:latin typeface="Times New Roman" panose="02020603050405020304" pitchFamily="18" charset="0"/>
                <a:cs typeface="Times New Roman" panose="02020603050405020304" pitchFamily="18" charset="0"/>
              </a:rPr>
              <a:t> is a potential measurement of a link; the </a:t>
            </a:r>
            <a:r>
              <a:rPr lang="en-IN" altLang="en-US" sz="1600">
                <a:solidFill>
                  <a:srgbClr val="FF0000"/>
                </a:solidFill>
                <a:latin typeface="Times New Roman" panose="02020603050405020304" pitchFamily="18" charset="0"/>
                <a:cs typeface="Times New Roman" panose="02020603050405020304" pitchFamily="18" charset="0"/>
              </a:rPr>
              <a:t>throughput</a:t>
            </a:r>
            <a:r>
              <a:rPr lang="en-IN" altLang="en-US" sz="1600">
                <a:solidFill>
                  <a:prstClr val="black"/>
                </a:solidFill>
                <a:latin typeface="Times New Roman" panose="02020603050405020304" pitchFamily="18" charset="0"/>
                <a:cs typeface="Times New Roman" panose="02020603050405020304" pitchFamily="18" charset="0"/>
              </a:rPr>
              <a:t> is an actual measurement of how fast we can send data.</a:t>
            </a:r>
          </a:p>
          <a:p>
            <a:pPr algn="just" fontAlgn="base">
              <a:lnSpc>
                <a:spcPct val="150000"/>
              </a:lnSpc>
              <a:spcBef>
                <a:spcPct val="0"/>
              </a:spcBef>
              <a:spcAft>
                <a:spcPct val="0"/>
              </a:spcAft>
              <a:buFontTx/>
              <a:buBlip>
                <a:blip r:embed="rId3"/>
              </a:buBlip>
            </a:pPr>
            <a:r>
              <a:rPr lang="en-US" altLang="en-US" sz="1600">
                <a:solidFill>
                  <a:prstClr val="black"/>
                </a:solidFill>
                <a:latin typeface="Times New Roman" panose="02020603050405020304" pitchFamily="18" charset="0"/>
                <a:cs typeface="Times New Roman" panose="02020603050405020304" pitchFamily="18" charset="0"/>
              </a:rPr>
              <a:t> </a:t>
            </a:r>
            <a:r>
              <a:rPr lang="en-IN" altLang="en-US" sz="1600">
                <a:solidFill>
                  <a:prstClr val="black"/>
                </a:solidFill>
                <a:latin typeface="Times New Roman" panose="02020603050405020304" pitchFamily="18" charset="0"/>
                <a:cs typeface="Times New Roman" panose="02020603050405020304" pitchFamily="18" charset="0"/>
              </a:rPr>
              <a:t>For example, we may have a link with a bandwidth of </a:t>
            </a:r>
            <a:r>
              <a:rPr lang="en-IN" altLang="en-US" sz="1600">
                <a:solidFill>
                  <a:srgbClr val="FF0000"/>
                </a:solidFill>
                <a:latin typeface="Times New Roman" panose="02020603050405020304" pitchFamily="18" charset="0"/>
                <a:cs typeface="Times New Roman" panose="02020603050405020304" pitchFamily="18" charset="0"/>
              </a:rPr>
              <a:t>1 Mbps</a:t>
            </a:r>
            <a:r>
              <a:rPr lang="en-IN" altLang="en-US" sz="1600">
                <a:solidFill>
                  <a:prstClr val="black"/>
                </a:solidFill>
                <a:latin typeface="Times New Roman" panose="02020603050405020304" pitchFamily="18" charset="0"/>
                <a:cs typeface="Times New Roman" panose="02020603050405020304" pitchFamily="18" charset="0"/>
              </a:rPr>
              <a:t>, but the devices connected to the end of the link may handle only </a:t>
            </a:r>
            <a:r>
              <a:rPr lang="en-IN" altLang="en-US" sz="1600">
                <a:solidFill>
                  <a:srgbClr val="FF0000"/>
                </a:solidFill>
                <a:latin typeface="Times New Roman" panose="02020603050405020304" pitchFamily="18" charset="0"/>
                <a:cs typeface="Times New Roman" panose="02020603050405020304" pitchFamily="18" charset="0"/>
              </a:rPr>
              <a:t>200 kbps</a:t>
            </a:r>
            <a:r>
              <a:rPr lang="en-IN" altLang="en-US" sz="1600">
                <a:solidFill>
                  <a:prstClr val="black"/>
                </a:solidFill>
                <a:latin typeface="Times New Roman" panose="02020603050405020304" pitchFamily="18" charset="0"/>
                <a:cs typeface="Times New Roman" panose="02020603050405020304" pitchFamily="18" charset="0"/>
              </a:rPr>
              <a:t>. This means that we </a:t>
            </a:r>
            <a:r>
              <a:rPr lang="en-IN" altLang="en-US" sz="1600">
                <a:solidFill>
                  <a:srgbClr val="FF0000"/>
                </a:solidFill>
                <a:latin typeface="Times New Roman" panose="02020603050405020304" pitchFamily="18" charset="0"/>
                <a:cs typeface="Times New Roman" panose="02020603050405020304" pitchFamily="18" charset="0"/>
              </a:rPr>
              <a:t>cannot send more than</a:t>
            </a:r>
            <a:r>
              <a:rPr lang="en-IN" altLang="en-US" sz="1600">
                <a:solidFill>
                  <a:prstClr val="black"/>
                </a:solidFill>
                <a:latin typeface="Times New Roman" panose="02020603050405020304" pitchFamily="18" charset="0"/>
                <a:cs typeface="Times New Roman" panose="02020603050405020304" pitchFamily="18" charset="0"/>
              </a:rPr>
              <a:t> 200 kbps through this link.</a:t>
            </a:r>
          </a:p>
          <a:p>
            <a:pPr algn="just" fontAlgn="base">
              <a:lnSpc>
                <a:spcPct val="150000"/>
              </a:lnSpc>
              <a:spcBef>
                <a:spcPct val="0"/>
              </a:spcBef>
              <a:spcAft>
                <a:spcPct val="0"/>
              </a:spcAft>
              <a:buFontTx/>
              <a:buBlip>
                <a:blip r:embed="rId3"/>
              </a:buBlip>
            </a:pPr>
            <a:r>
              <a:rPr lang="en-US" altLang="en-US" sz="1600">
                <a:solidFill>
                  <a:prstClr val="black"/>
                </a:solidFill>
                <a:latin typeface="Times New Roman" panose="02020603050405020304" pitchFamily="18" charset="0"/>
                <a:cs typeface="Times New Roman" panose="02020603050405020304" pitchFamily="18" charset="0"/>
              </a:rPr>
              <a:t> </a:t>
            </a:r>
            <a:r>
              <a:rPr lang="en-IN" altLang="en-US" sz="1600">
                <a:solidFill>
                  <a:prstClr val="black"/>
                </a:solidFill>
                <a:latin typeface="Times New Roman" panose="02020603050405020304" pitchFamily="18" charset="0"/>
                <a:cs typeface="Times New Roman" panose="02020603050405020304" pitchFamily="18" charset="0"/>
              </a:rPr>
              <a:t>Imagine a highway designed to transmit </a:t>
            </a:r>
            <a:r>
              <a:rPr lang="en-IN" altLang="en-US" sz="1600">
                <a:solidFill>
                  <a:srgbClr val="FF0000"/>
                </a:solidFill>
                <a:latin typeface="Times New Roman" panose="02020603050405020304" pitchFamily="18" charset="0"/>
                <a:cs typeface="Times New Roman" panose="02020603050405020304" pitchFamily="18" charset="0"/>
              </a:rPr>
              <a:t>1000 cars per minute </a:t>
            </a:r>
            <a:r>
              <a:rPr lang="en-IN" altLang="en-US" sz="1600">
                <a:solidFill>
                  <a:prstClr val="black"/>
                </a:solidFill>
                <a:latin typeface="Times New Roman" panose="02020603050405020304" pitchFamily="18" charset="0"/>
                <a:cs typeface="Times New Roman" panose="02020603050405020304" pitchFamily="18" charset="0"/>
              </a:rPr>
              <a:t>from one point to another. However, if there is </a:t>
            </a:r>
            <a:r>
              <a:rPr lang="en-IN" altLang="en-US" sz="1600">
                <a:solidFill>
                  <a:srgbClr val="FF0000"/>
                </a:solidFill>
                <a:latin typeface="Times New Roman" panose="02020603050405020304" pitchFamily="18" charset="0"/>
                <a:cs typeface="Times New Roman" panose="02020603050405020304" pitchFamily="18" charset="0"/>
              </a:rPr>
              <a:t>congestion </a:t>
            </a:r>
            <a:r>
              <a:rPr lang="en-IN" altLang="en-US" sz="1600">
                <a:solidFill>
                  <a:prstClr val="black"/>
                </a:solidFill>
                <a:latin typeface="Times New Roman" panose="02020603050405020304" pitchFamily="18" charset="0"/>
                <a:cs typeface="Times New Roman" panose="02020603050405020304" pitchFamily="18" charset="0"/>
              </a:rPr>
              <a:t>on the road, this figure may be reduced to </a:t>
            </a:r>
            <a:r>
              <a:rPr lang="en-IN" altLang="en-US" sz="1600">
                <a:solidFill>
                  <a:srgbClr val="FF0000"/>
                </a:solidFill>
                <a:latin typeface="Times New Roman" panose="02020603050405020304" pitchFamily="18" charset="0"/>
                <a:cs typeface="Times New Roman" panose="02020603050405020304" pitchFamily="18" charset="0"/>
              </a:rPr>
              <a:t>100 cars per minute</a:t>
            </a:r>
            <a:r>
              <a:rPr lang="en-IN" altLang="en-US" sz="1600">
                <a:solidFill>
                  <a:prstClr val="black"/>
                </a:solidFill>
                <a:latin typeface="Times New Roman" panose="02020603050405020304" pitchFamily="18" charset="0"/>
                <a:cs typeface="Times New Roman" panose="02020603050405020304" pitchFamily="18" charset="0"/>
              </a:rPr>
              <a:t>. The bandwidth is 1000 cars per minute; the throughput is 100 cars per minute.</a:t>
            </a:r>
          </a:p>
        </p:txBody>
      </p:sp>
    </p:spTree>
    <p:extLst>
      <p:ext uri="{BB962C8B-B14F-4D97-AF65-F5344CB8AC3E}">
        <p14:creationId xmlns:p14="http://schemas.microsoft.com/office/powerpoint/2010/main" val="31846903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53607">
                                            <p:txEl>
                                              <p:pRg st="0" end="0"/>
                                            </p:txEl>
                                          </p:spTgt>
                                        </p:tgtEl>
                                        <p:attrNameLst>
                                          <p:attrName>style.visibility</p:attrName>
                                        </p:attrNameLst>
                                      </p:cBhvr>
                                      <p:to>
                                        <p:strVal val="visible"/>
                                      </p:to>
                                    </p:set>
                                    <p:animEffect transition="in" filter="fade">
                                      <p:cBhvr>
                                        <p:cTn id="7" dur="500"/>
                                        <p:tgtEl>
                                          <p:spTgt spid="1536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53607">
                                            <p:txEl>
                                              <p:pRg st="1" end="1"/>
                                            </p:txEl>
                                          </p:spTgt>
                                        </p:tgtEl>
                                        <p:attrNameLst>
                                          <p:attrName>style.visibility</p:attrName>
                                        </p:attrNameLst>
                                      </p:cBhvr>
                                      <p:to>
                                        <p:strVal val="visible"/>
                                      </p:to>
                                    </p:set>
                                    <p:animEffect transition="in" filter="fade">
                                      <p:cBhvr>
                                        <p:cTn id="12" dur="500"/>
                                        <p:tgtEl>
                                          <p:spTgt spid="1536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53607">
                                            <p:txEl>
                                              <p:pRg st="2" end="2"/>
                                            </p:txEl>
                                          </p:spTgt>
                                        </p:tgtEl>
                                        <p:attrNameLst>
                                          <p:attrName>style.visibility</p:attrName>
                                        </p:attrNameLst>
                                      </p:cBhvr>
                                      <p:to>
                                        <p:strVal val="visible"/>
                                      </p:to>
                                    </p:set>
                                    <p:animEffect transition="in" filter="fade">
                                      <p:cBhvr>
                                        <p:cTn id="17" dur="500"/>
                                        <p:tgtEl>
                                          <p:spTgt spid="1536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53607">
                                            <p:txEl>
                                              <p:pRg st="3" end="3"/>
                                            </p:txEl>
                                          </p:spTgt>
                                        </p:tgtEl>
                                        <p:attrNameLst>
                                          <p:attrName>style.visibility</p:attrName>
                                        </p:attrNameLst>
                                      </p:cBhvr>
                                      <p:to>
                                        <p:strVal val="visible"/>
                                      </p:to>
                                    </p:set>
                                    <p:animEffect transition="in" filter="fade">
                                      <p:cBhvr>
                                        <p:cTn id="22" dur="500"/>
                                        <p:tgtEl>
                                          <p:spTgt spid="15360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153607">
                                            <p:txEl>
                                              <p:pRg st="4" end="4"/>
                                            </p:txEl>
                                          </p:spTgt>
                                        </p:tgtEl>
                                        <p:attrNameLst>
                                          <p:attrName>style.visibility</p:attrName>
                                        </p:attrNameLst>
                                      </p:cBhvr>
                                      <p:to>
                                        <p:strVal val="visible"/>
                                      </p:to>
                                    </p:set>
                                    <p:animEffect transition="in" filter="fade">
                                      <p:cBhvr>
                                        <p:cTn id="27" dur="500"/>
                                        <p:tgtEl>
                                          <p:spTgt spid="1536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6">
            <a:extLst>
              <a:ext uri="{FF2B5EF4-FFF2-40B4-BE49-F238E27FC236}">
                <a16:creationId xmlns:a16="http://schemas.microsoft.com/office/drawing/2014/main" id="{DA4C54DF-F6B5-D461-5C36-708771D6CDC2}"/>
              </a:ext>
            </a:extLst>
          </p:cNvPr>
          <p:cNvSpPr>
            <a:spLocks noChangeArrowheads="1"/>
          </p:cNvSpPr>
          <p:nvPr/>
        </p:nvSpPr>
        <p:spPr bwMode="auto">
          <a:xfrm>
            <a:off x="1143000" y="533400"/>
            <a:ext cx="26276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IN" altLang="en-US" sz="2800" b="1">
                <a:solidFill>
                  <a:srgbClr val="002060"/>
                </a:solidFill>
                <a:latin typeface="Times New Roman" panose="02020603050405020304" pitchFamily="18" charset="0"/>
                <a:cs typeface="Times New Roman" panose="02020603050405020304" pitchFamily="18" charset="0"/>
              </a:rPr>
              <a:t>Latency (Delay)</a:t>
            </a:r>
          </a:p>
        </p:txBody>
      </p:sp>
      <p:sp>
        <p:nvSpPr>
          <p:cNvPr id="78853" name="Rectangle 7">
            <a:extLst>
              <a:ext uri="{FF2B5EF4-FFF2-40B4-BE49-F238E27FC236}">
                <a16:creationId xmlns:a16="http://schemas.microsoft.com/office/drawing/2014/main" id="{0B774CA5-02CC-48DC-6E31-4CDDAAC7A28C}"/>
              </a:ext>
            </a:extLst>
          </p:cNvPr>
          <p:cNvSpPr>
            <a:spLocks noChangeArrowheads="1"/>
          </p:cNvSpPr>
          <p:nvPr/>
        </p:nvSpPr>
        <p:spPr bwMode="auto">
          <a:xfrm>
            <a:off x="1143000" y="1371600"/>
            <a:ext cx="7162800" cy="3313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fontAlgn="base">
              <a:lnSpc>
                <a:spcPct val="150000"/>
              </a:lnSpc>
              <a:spcBef>
                <a:spcPct val="0"/>
              </a:spcBef>
              <a:spcAft>
                <a:spcPct val="0"/>
              </a:spcAft>
              <a:buFontTx/>
              <a:buBlip>
                <a:blip r:embed="rId3"/>
              </a:buBlip>
            </a:pPr>
            <a:r>
              <a:rPr lang="en-IN" altLang="en-US" sz="1200">
                <a:solidFill>
                  <a:prstClr val="black"/>
                </a:solidFill>
                <a:latin typeface="Times New Roman" panose="02020603050405020304" pitchFamily="18" charset="0"/>
                <a:cs typeface="Times New Roman" panose="02020603050405020304" pitchFamily="18" charset="0"/>
              </a:rPr>
              <a:t> </a:t>
            </a:r>
            <a:r>
              <a:rPr lang="en-IN" altLang="en-US">
                <a:solidFill>
                  <a:prstClr val="black"/>
                </a:solidFill>
                <a:latin typeface="Times New Roman" panose="02020603050405020304" pitchFamily="18" charset="0"/>
                <a:cs typeface="Times New Roman" panose="02020603050405020304" pitchFamily="18" charset="0"/>
              </a:rPr>
              <a:t>The latency or delay defines </a:t>
            </a:r>
            <a:r>
              <a:rPr lang="en-IN" altLang="en-US">
                <a:solidFill>
                  <a:srgbClr val="FF0000"/>
                </a:solidFill>
                <a:latin typeface="Times New Roman" panose="02020603050405020304" pitchFamily="18" charset="0"/>
                <a:cs typeface="Times New Roman" panose="02020603050405020304" pitchFamily="18" charset="0"/>
              </a:rPr>
              <a:t>how long it takes for an entire message </a:t>
            </a:r>
            <a:r>
              <a:rPr lang="en-IN" altLang="en-US">
                <a:solidFill>
                  <a:prstClr val="black"/>
                </a:solidFill>
                <a:latin typeface="Times New Roman" panose="02020603050405020304" pitchFamily="18" charset="0"/>
                <a:cs typeface="Times New Roman" panose="02020603050405020304" pitchFamily="18" charset="0"/>
              </a:rPr>
              <a:t>to completely arrive at the destination from the time the first bit is sent out from the source.</a:t>
            </a:r>
            <a:endParaRPr lang="en-IN" altLang="en-US" sz="1200">
              <a:solidFill>
                <a:prstClr val="black"/>
              </a:solidFill>
              <a:latin typeface="Times New Roman" panose="02020603050405020304" pitchFamily="18" charset="0"/>
              <a:cs typeface="Times New Roman" panose="02020603050405020304" pitchFamily="18" charset="0"/>
            </a:endParaRPr>
          </a:p>
          <a:p>
            <a:pPr algn="just" fontAlgn="base">
              <a:lnSpc>
                <a:spcPct val="150000"/>
              </a:lnSpc>
              <a:spcBef>
                <a:spcPct val="0"/>
              </a:spcBef>
              <a:spcAft>
                <a:spcPts val="450"/>
              </a:spcAft>
              <a:buBlip>
                <a:blip r:embed="rId3"/>
              </a:buBlip>
            </a:pPr>
            <a:r>
              <a:rPr lang="en-US" altLang="en-US" sz="1200">
                <a:solidFill>
                  <a:prstClr val="black"/>
                </a:solidFill>
                <a:latin typeface="Times New Roman" panose="02020603050405020304" pitchFamily="18" charset="0"/>
                <a:cs typeface="Times New Roman" panose="02020603050405020304" pitchFamily="18" charset="0"/>
              </a:rPr>
              <a:t> </a:t>
            </a:r>
            <a:r>
              <a:rPr lang="en-IN" altLang="en-US">
                <a:solidFill>
                  <a:prstClr val="black"/>
                </a:solidFill>
                <a:latin typeface="Times New Roman" panose="02020603050405020304" pitchFamily="18" charset="0"/>
                <a:cs typeface="Times New Roman" panose="02020603050405020304" pitchFamily="18" charset="0"/>
              </a:rPr>
              <a:t>We can say that latency is made of </a:t>
            </a:r>
            <a:r>
              <a:rPr lang="en-IN" altLang="en-US">
                <a:solidFill>
                  <a:srgbClr val="FF0000"/>
                </a:solidFill>
                <a:latin typeface="Times New Roman" panose="02020603050405020304" pitchFamily="18" charset="0"/>
                <a:cs typeface="Times New Roman" panose="02020603050405020304" pitchFamily="18" charset="0"/>
              </a:rPr>
              <a:t>four</a:t>
            </a:r>
            <a:r>
              <a:rPr lang="en-IN" altLang="en-US">
                <a:solidFill>
                  <a:prstClr val="black"/>
                </a:solidFill>
                <a:latin typeface="Times New Roman" panose="02020603050405020304" pitchFamily="18" charset="0"/>
                <a:cs typeface="Times New Roman" panose="02020603050405020304" pitchFamily="18" charset="0"/>
              </a:rPr>
              <a:t> components: propagation time, transmission time, queuing time and processing delay.</a:t>
            </a:r>
          </a:p>
          <a:p>
            <a:pPr algn="just" fontAlgn="base">
              <a:lnSpc>
                <a:spcPct val="150000"/>
              </a:lnSpc>
              <a:spcBef>
                <a:spcPct val="0"/>
              </a:spcBef>
              <a:spcAft>
                <a:spcPts val="450"/>
              </a:spcAft>
            </a:pPr>
            <a:endParaRPr lang="en-IN" altLang="en-US" sz="1200">
              <a:solidFill>
                <a:prstClr val="black"/>
              </a:solidFill>
              <a:latin typeface="Times New Roman" panose="02020603050405020304" pitchFamily="18" charset="0"/>
              <a:cs typeface="Times New Roman" panose="02020603050405020304" pitchFamily="18" charset="0"/>
            </a:endParaRPr>
          </a:p>
          <a:p>
            <a:pPr fontAlgn="base">
              <a:spcBef>
                <a:spcPct val="0"/>
              </a:spcBef>
              <a:spcAft>
                <a:spcPct val="0"/>
              </a:spcAft>
            </a:pPr>
            <a:r>
              <a:rPr lang="en-IN" altLang="en-US" sz="1350" b="1">
                <a:solidFill>
                  <a:srgbClr val="7030A0"/>
                </a:solidFill>
                <a:latin typeface="Times New Roman" panose="02020603050405020304" pitchFamily="18" charset="0"/>
                <a:cs typeface="Times New Roman" panose="02020603050405020304" pitchFamily="18" charset="0"/>
              </a:rPr>
              <a:t>   </a:t>
            </a:r>
            <a:r>
              <a:rPr lang="en-IN" altLang="en-US" sz="2400" b="1">
                <a:solidFill>
                  <a:srgbClr val="7030A0"/>
                </a:solidFill>
                <a:latin typeface="Times New Roman" panose="02020603050405020304" pitchFamily="18" charset="0"/>
                <a:cs typeface="Times New Roman" panose="02020603050405020304" pitchFamily="18" charset="0"/>
              </a:rPr>
              <a:t>Latency = </a:t>
            </a:r>
            <a:r>
              <a:rPr lang="en-IN" altLang="en-US" sz="2400" b="1">
                <a:solidFill>
                  <a:srgbClr val="FF0000"/>
                </a:solidFill>
                <a:latin typeface="Times New Roman" panose="02020603050405020304" pitchFamily="18" charset="0"/>
                <a:cs typeface="Times New Roman" panose="02020603050405020304" pitchFamily="18" charset="0"/>
              </a:rPr>
              <a:t>propagation time </a:t>
            </a:r>
            <a:r>
              <a:rPr lang="en-IN" altLang="en-US" sz="2400" b="1">
                <a:solidFill>
                  <a:srgbClr val="7030A0"/>
                </a:solidFill>
                <a:latin typeface="Times New Roman" panose="02020603050405020304" pitchFamily="18" charset="0"/>
                <a:cs typeface="Times New Roman" panose="02020603050405020304" pitchFamily="18" charset="0"/>
              </a:rPr>
              <a:t>+</a:t>
            </a:r>
            <a:r>
              <a:rPr lang="en-IN" altLang="en-US" sz="2400" b="1">
                <a:solidFill>
                  <a:srgbClr val="92D050"/>
                </a:solidFill>
                <a:latin typeface="Times New Roman" panose="02020603050405020304" pitchFamily="18" charset="0"/>
                <a:cs typeface="Times New Roman" panose="02020603050405020304" pitchFamily="18" charset="0"/>
              </a:rPr>
              <a:t>transmission time</a:t>
            </a:r>
            <a:r>
              <a:rPr lang="en-IN" altLang="en-US" sz="2400" b="1">
                <a:solidFill>
                  <a:srgbClr val="7030A0"/>
                </a:solidFill>
                <a:latin typeface="Times New Roman" panose="02020603050405020304" pitchFamily="18" charset="0"/>
                <a:cs typeface="Times New Roman" panose="02020603050405020304" pitchFamily="18" charset="0"/>
              </a:rPr>
              <a:t>         		 +</a:t>
            </a:r>
            <a:r>
              <a:rPr lang="en-IN" altLang="en-US" sz="2400" b="1">
                <a:solidFill>
                  <a:srgbClr val="00B0F0"/>
                </a:solidFill>
                <a:latin typeface="Times New Roman" panose="02020603050405020304" pitchFamily="18" charset="0"/>
                <a:cs typeface="Times New Roman" panose="02020603050405020304" pitchFamily="18" charset="0"/>
              </a:rPr>
              <a:t>queuing time </a:t>
            </a:r>
            <a:r>
              <a:rPr lang="en-IN" altLang="en-US" sz="2400" b="1">
                <a:solidFill>
                  <a:srgbClr val="7030A0"/>
                </a:solidFill>
                <a:latin typeface="Times New Roman" panose="02020603050405020304" pitchFamily="18" charset="0"/>
                <a:cs typeface="Times New Roman" panose="02020603050405020304" pitchFamily="18" charset="0"/>
              </a:rPr>
              <a:t>+ </a:t>
            </a:r>
            <a:r>
              <a:rPr lang="en-IN" altLang="en-US" sz="2400" b="1">
                <a:solidFill>
                  <a:srgbClr val="C00000"/>
                </a:solidFill>
                <a:latin typeface="Times New Roman" panose="02020603050405020304" pitchFamily="18" charset="0"/>
                <a:cs typeface="Times New Roman" panose="02020603050405020304" pitchFamily="18" charset="0"/>
              </a:rPr>
              <a:t>processing delay</a:t>
            </a:r>
          </a:p>
        </p:txBody>
      </p:sp>
    </p:spTree>
    <p:extLst>
      <p:ext uri="{BB962C8B-B14F-4D97-AF65-F5344CB8AC3E}">
        <p14:creationId xmlns:p14="http://schemas.microsoft.com/office/powerpoint/2010/main" val="1783155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6">
            <a:extLst>
              <a:ext uri="{FF2B5EF4-FFF2-40B4-BE49-F238E27FC236}">
                <a16:creationId xmlns:a16="http://schemas.microsoft.com/office/drawing/2014/main" id="{A0E76913-EC3C-31FF-5CA6-5D396A27B5A1}"/>
              </a:ext>
            </a:extLst>
          </p:cNvPr>
          <p:cNvSpPr>
            <a:spLocks noChangeArrowheads="1"/>
          </p:cNvSpPr>
          <p:nvPr/>
        </p:nvSpPr>
        <p:spPr bwMode="auto">
          <a:xfrm>
            <a:off x="1196578" y="499771"/>
            <a:ext cx="42017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IN" altLang="en-US" sz="2800" b="1">
                <a:solidFill>
                  <a:srgbClr val="002060"/>
                </a:solidFill>
                <a:latin typeface="Times New Roman" panose="02020603050405020304" pitchFamily="18" charset="0"/>
                <a:cs typeface="Times New Roman" panose="02020603050405020304" pitchFamily="18" charset="0"/>
              </a:rPr>
              <a:t>Bandwidth-Delay Product</a:t>
            </a:r>
            <a:endParaRPr lang="en-IN" altLang="en-US" sz="2800">
              <a:solidFill>
                <a:srgbClr val="002060"/>
              </a:solidFill>
              <a:latin typeface="Times New Roman" panose="02020603050405020304" pitchFamily="18" charset="0"/>
              <a:cs typeface="Times New Roman" panose="02020603050405020304" pitchFamily="18" charset="0"/>
            </a:endParaRPr>
          </a:p>
        </p:txBody>
      </p:sp>
      <p:sp>
        <p:nvSpPr>
          <p:cNvPr id="86021" name="Rectangle 7">
            <a:extLst>
              <a:ext uri="{FF2B5EF4-FFF2-40B4-BE49-F238E27FC236}">
                <a16:creationId xmlns:a16="http://schemas.microsoft.com/office/drawing/2014/main" id="{7A7CD59A-889E-C43B-66A8-40900D5DD734}"/>
              </a:ext>
            </a:extLst>
          </p:cNvPr>
          <p:cNvSpPr>
            <a:spLocks noChangeArrowheads="1"/>
          </p:cNvSpPr>
          <p:nvPr/>
        </p:nvSpPr>
        <p:spPr bwMode="auto">
          <a:xfrm>
            <a:off x="608409" y="1435797"/>
            <a:ext cx="7230666"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fontAlgn="base">
              <a:lnSpc>
                <a:spcPct val="150000"/>
              </a:lnSpc>
              <a:spcBef>
                <a:spcPct val="0"/>
              </a:spcBef>
              <a:spcAft>
                <a:spcPct val="0"/>
              </a:spcAft>
              <a:buFontTx/>
              <a:buBlip>
                <a:blip r:embed="rId3"/>
              </a:buBlip>
            </a:pPr>
            <a:r>
              <a:rPr lang="en-IN" altLang="en-US">
                <a:solidFill>
                  <a:prstClr val="black"/>
                </a:solidFill>
                <a:latin typeface="Times New Roman" panose="02020603050405020304" pitchFamily="18" charset="0"/>
                <a:cs typeface="Times New Roman" panose="02020603050405020304" pitchFamily="18" charset="0"/>
              </a:rPr>
              <a:t> Bandwidth and delay are </a:t>
            </a:r>
            <a:r>
              <a:rPr lang="en-IN" altLang="en-US">
                <a:solidFill>
                  <a:srgbClr val="FF0000"/>
                </a:solidFill>
                <a:latin typeface="Times New Roman" panose="02020603050405020304" pitchFamily="18" charset="0"/>
                <a:cs typeface="Times New Roman" panose="02020603050405020304" pitchFamily="18" charset="0"/>
              </a:rPr>
              <a:t>two performance </a:t>
            </a:r>
            <a:r>
              <a:rPr lang="en-IN" altLang="en-US">
                <a:solidFill>
                  <a:prstClr val="black"/>
                </a:solidFill>
                <a:latin typeface="Times New Roman" panose="02020603050405020304" pitchFamily="18" charset="0"/>
                <a:cs typeface="Times New Roman" panose="02020603050405020304" pitchFamily="18" charset="0"/>
              </a:rPr>
              <a:t>metrics of a link. what is very important in data communications is the </a:t>
            </a:r>
            <a:r>
              <a:rPr lang="en-IN" altLang="en-US">
                <a:solidFill>
                  <a:srgbClr val="FF0000"/>
                </a:solidFill>
                <a:latin typeface="Times New Roman" panose="02020603050405020304" pitchFamily="18" charset="0"/>
                <a:cs typeface="Times New Roman" panose="02020603050405020304" pitchFamily="18" charset="0"/>
              </a:rPr>
              <a:t>product </a:t>
            </a:r>
            <a:r>
              <a:rPr lang="en-IN" altLang="en-US">
                <a:solidFill>
                  <a:prstClr val="black"/>
                </a:solidFill>
                <a:latin typeface="Times New Roman" panose="02020603050405020304" pitchFamily="18" charset="0"/>
                <a:cs typeface="Times New Roman" panose="02020603050405020304" pitchFamily="18" charset="0"/>
              </a:rPr>
              <a:t>of the two, the </a:t>
            </a:r>
            <a:r>
              <a:rPr lang="en-IN" altLang="en-US">
                <a:solidFill>
                  <a:srgbClr val="FF0000"/>
                </a:solidFill>
                <a:latin typeface="Times New Roman" panose="02020603050405020304" pitchFamily="18" charset="0"/>
                <a:cs typeface="Times New Roman" panose="02020603050405020304" pitchFamily="18" charset="0"/>
              </a:rPr>
              <a:t>bandwidth-delay</a:t>
            </a:r>
            <a:r>
              <a:rPr lang="en-IN" altLang="en-US">
                <a:solidFill>
                  <a:prstClr val="black"/>
                </a:solidFill>
                <a:latin typeface="Times New Roman" panose="02020603050405020304" pitchFamily="18" charset="0"/>
                <a:cs typeface="Times New Roman" panose="02020603050405020304" pitchFamily="18" charset="0"/>
              </a:rPr>
              <a:t> product.</a:t>
            </a:r>
          </a:p>
        </p:txBody>
      </p:sp>
      <p:pic>
        <p:nvPicPr>
          <p:cNvPr id="86022" name="Picture 6">
            <a:extLst>
              <a:ext uri="{FF2B5EF4-FFF2-40B4-BE49-F238E27FC236}">
                <a16:creationId xmlns:a16="http://schemas.microsoft.com/office/drawing/2014/main" id="{16C10A41-3A74-795A-8788-FFEE1B33DC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6153" y="3164685"/>
            <a:ext cx="5937647" cy="950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3" name="Rectangle 9">
            <a:extLst>
              <a:ext uri="{FF2B5EF4-FFF2-40B4-BE49-F238E27FC236}">
                <a16:creationId xmlns:a16="http://schemas.microsoft.com/office/drawing/2014/main" id="{CEFC8EBC-4095-B942-B902-74DF25374716}"/>
              </a:ext>
            </a:extLst>
          </p:cNvPr>
          <p:cNvSpPr>
            <a:spLocks noChangeArrowheads="1"/>
          </p:cNvSpPr>
          <p:nvPr/>
        </p:nvSpPr>
        <p:spPr bwMode="auto">
          <a:xfrm>
            <a:off x="3319466" y="3964782"/>
            <a:ext cx="2271776"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825" b="1">
                <a:solidFill>
                  <a:srgbClr val="FF0000"/>
                </a:solidFill>
                <a:latin typeface="Times New Roman" panose="02020603050405020304" pitchFamily="18" charset="0"/>
                <a:cs typeface="Times New Roman" panose="02020603050405020304" pitchFamily="18" charset="0"/>
              </a:rPr>
              <a:t>Figure :  </a:t>
            </a:r>
            <a:r>
              <a:rPr lang="en-US" altLang="en-US" sz="825" b="1">
                <a:solidFill>
                  <a:prstClr val="black"/>
                </a:solidFill>
                <a:latin typeface="Times New Roman" panose="02020603050405020304" pitchFamily="18" charset="0"/>
                <a:cs typeface="Times New Roman" panose="02020603050405020304" pitchFamily="18" charset="0"/>
              </a:rPr>
              <a:t>Concept of bandwidth-delay product</a:t>
            </a:r>
          </a:p>
        </p:txBody>
      </p:sp>
      <p:grpSp>
        <p:nvGrpSpPr>
          <p:cNvPr id="9" name="Group 6">
            <a:extLst>
              <a:ext uri="{FF2B5EF4-FFF2-40B4-BE49-F238E27FC236}">
                <a16:creationId xmlns:a16="http://schemas.microsoft.com/office/drawing/2014/main" id="{EA89A3F8-AB5B-CC4E-6501-CD83E5B47A5D}"/>
              </a:ext>
            </a:extLst>
          </p:cNvPr>
          <p:cNvGrpSpPr>
            <a:grpSpLocks/>
          </p:cNvGrpSpPr>
          <p:nvPr/>
        </p:nvGrpSpPr>
        <p:grpSpPr bwMode="auto">
          <a:xfrm>
            <a:off x="1196578" y="4164172"/>
            <a:ext cx="6116241" cy="1279273"/>
            <a:chOff x="457200" y="1871663"/>
            <a:chExt cx="8154988" cy="1938337"/>
          </a:xfrm>
        </p:grpSpPr>
        <p:sp>
          <p:nvSpPr>
            <p:cNvPr id="10" name="Line 9">
              <a:extLst>
                <a:ext uri="{FF2B5EF4-FFF2-40B4-BE49-F238E27FC236}">
                  <a16:creationId xmlns:a16="http://schemas.microsoft.com/office/drawing/2014/main" id="{D1E2E48B-927B-F199-C4CB-71AF72CF50D8}"/>
                </a:ext>
              </a:extLst>
            </p:cNvPr>
            <p:cNvSpPr>
              <a:spLocks noChangeShapeType="1"/>
            </p:cNvSpPr>
            <p:nvPr/>
          </p:nvSpPr>
          <p:spPr bwMode="auto">
            <a:xfrm>
              <a:off x="457200" y="2514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350">
                <a:solidFill>
                  <a:prstClr val="black"/>
                </a:solidFill>
                <a:latin typeface="Arial" panose="020B0604020202020204" pitchFamily="34" charset="0"/>
                <a:cs typeface="Arial" panose="020B0604020202020204" pitchFamily="34" charset="0"/>
              </a:endParaRPr>
            </a:p>
          </p:txBody>
        </p:sp>
        <p:sp>
          <p:nvSpPr>
            <p:cNvPr id="11" name="Line 10">
              <a:extLst>
                <a:ext uri="{FF2B5EF4-FFF2-40B4-BE49-F238E27FC236}">
                  <a16:creationId xmlns:a16="http://schemas.microsoft.com/office/drawing/2014/main" id="{CDB71786-55EE-4148-14FC-530D57220EED}"/>
                </a:ext>
              </a:extLst>
            </p:cNvPr>
            <p:cNvSpPr>
              <a:spLocks noChangeShapeType="1"/>
            </p:cNvSpPr>
            <p:nvPr/>
          </p:nvSpPr>
          <p:spPr bwMode="auto">
            <a:xfrm>
              <a:off x="458788" y="3810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350">
                <a:solidFill>
                  <a:prstClr val="black"/>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B21917DC-F349-42BF-3826-DF9E975A63AA}"/>
                </a:ext>
              </a:extLst>
            </p:cNvPr>
            <p:cNvSpPr>
              <a:spLocks noChangeArrowheads="1"/>
            </p:cNvSpPr>
            <p:nvPr/>
          </p:nvSpPr>
          <p:spPr bwMode="auto">
            <a:xfrm>
              <a:off x="495300" y="2606675"/>
              <a:ext cx="8077200" cy="1107996"/>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sz="2400" b="1">
                  <a:solidFill>
                    <a:prstClr val="black"/>
                  </a:solidFill>
                  <a:latin typeface="Times New Roman" panose="02020603050405020304" pitchFamily="18" charset="0"/>
                  <a:cs typeface="Times New Roman" panose="02020603050405020304" pitchFamily="18" charset="0"/>
                </a:rPr>
                <a:t>The bandwidth-delay product defines the number of bits that can fill the link.</a:t>
              </a:r>
            </a:p>
          </p:txBody>
        </p:sp>
        <p:grpSp>
          <p:nvGrpSpPr>
            <p:cNvPr id="13" name="Group 12">
              <a:extLst>
                <a:ext uri="{FF2B5EF4-FFF2-40B4-BE49-F238E27FC236}">
                  <a16:creationId xmlns:a16="http://schemas.microsoft.com/office/drawing/2014/main" id="{65BADE2B-94EF-44CB-1FED-357D17BB577B}"/>
                </a:ext>
              </a:extLst>
            </p:cNvPr>
            <p:cNvGrpSpPr>
              <a:grpSpLocks/>
            </p:cNvGrpSpPr>
            <p:nvPr/>
          </p:nvGrpSpPr>
          <p:grpSpPr bwMode="auto">
            <a:xfrm>
              <a:off x="457200" y="1871663"/>
              <a:ext cx="1143000" cy="566737"/>
              <a:chOff x="1200" y="1248"/>
              <a:chExt cx="720" cy="357"/>
            </a:xfrm>
          </p:grpSpPr>
          <p:pic>
            <p:nvPicPr>
              <p:cNvPr id="14" name="Picture 13">
                <a:extLst>
                  <a:ext uri="{FF2B5EF4-FFF2-40B4-BE49-F238E27FC236}">
                    <a16:creationId xmlns:a16="http://schemas.microsoft.com/office/drawing/2014/main" id="{5E856FF9-1392-5800-7E09-F50B8DE378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14">
                <a:extLst>
                  <a:ext uri="{FF2B5EF4-FFF2-40B4-BE49-F238E27FC236}">
                    <a16:creationId xmlns:a16="http://schemas.microsoft.com/office/drawing/2014/main" id="{A8336A4C-B038-F472-6635-B165C790DD12}"/>
                  </a:ext>
                </a:extLst>
              </p:cNvPr>
              <p:cNvSpPr txBox="1">
                <a:spLocks noChangeArrowheads="1"/>
              </p:cNvSpPr>
              <p:nvPr/>
            </p:nvSpPr>
            <p:spPr bwMode="auto">
              <a:xfrm>
                <a:off x="1284" y="1248"/>
                <a:ext cx="61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2100" b="1">
                    <a:solidFill>
                      <a:srgbClr val="FF0000"/>
                    </a:solidFill>
                    <a:latin typeface="Perpetua" panose="02020502060401020303" pitchFamily="18" charset="0"/>
                  </a:rPr>
                  <a:t>Note</a:t>
                </a:r>
              </a:p>
            </p:txBody>
          </p:sp>
        </p:grpSp>
      </p:grpSp>
    </p:spTree>
    <p:extLst>
      <p:ext uri="{BB962C8B-B14F-4D97-AF65-F5344CB8AC3E}">
        <p14:creationId xmlns:p14="http://schemas.microsoft.com/office/powerpoint/2010/main" val="27228355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3522821" cy="492443"/>
          </a:xfrm>
        </p:spPr>
        <p:txBody>
          <a:bodyPr/>
          <a:lstStyle/>
          <a:p>
            <a:r>
              <a:rPr lang="en-US" sz="3200" b="1"/>
              <a:t>Jitter</a:t>
            </a:r>
          </a:p>
        </p:txBody>
      </p:sp>
      <p:sp>
        <p:nvSpPr>
          <p:cNvPr id="3" name="Text Placeholder 2"/>
          <p:cNvSpPr>
            <a:spLocks noGrp="1"/>
          </p:cNvSpPr>
          <p:nvPr>
            <p:ph type="body" idx="1"/>
          </p:nvPr>
        </p:nvSpPr>
        <p:spPr>
          <a:xfrm>
            <a:off x="533400" y="1600200"/>
            <a:ext cx="8077200" cy="2954655"/>
          </a:xfrm>
        </p:spPr>
        <p:txBody>
          <a:bodyPr/>
          <a:lstStyle/>
          <a:p>
            <a:pPr marL="285750" indent="-285750"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Jitter is variation in packet arrival time.</a:t>
            </a:r>
          </a:p>
          <a:p>
            <a:pPr marL="285750" indent="-285750"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Jitter is a problem if different packets of data encounter different delays and the application using the data at the receiver site is time-sensitive (audio and video data, for example). </a:t>
            </a:r>
          </a:p>
          <a:p>
            <a:pPr marL="285750" indent="-285750"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If the delay for the first packet is 20 </a:t>
            </a:r>
            <a:r>
              <a:rPr lang="en-US" sz="2400" err="1">
                <a:latin typeface="Times New Roman" panose="02020603050405020304" pitchFamily="18" charset="0"/>
                <a:cs typeface="Times New Roman" panose="02020603050405020304" pitchFamily="18" charset="0"/>
              </a:rPr>
              <a:t>ms</a:t>
            </a:r>
            <a:r>
              <a:rPr lang="en-US" sz="2400">
                <a:latin typeface="Times New Roman" panose="02020603050405020304" pitchFamily="18" charset="0"/>
                <a:cs typeface="Times New Roman" panose="02020603050405020304" pitchFamily="18" charset="0"/>
              </a:rPr>
              <a:t>, for the second is 45 </a:t>
            </a:r>
            <a:r>
              <a:rPr lang="en-US" sz="2400" err="1">
                <a:latin typeface="Times New Roman" panose="02020603050405020304" pitchFamily="18" charset="0"/>
                <a:cs typeface="Times New Roman" panose="02020603050405020304" pitchFamily="18" charset="0"/>
              </a:rPr>
              <a:t>ms</a:t>
            </a:r>
            <a:r>
              <a:rPr lang="en-US" sz="2400">
                <a:latin typeface="Times New Roman" panose="02020603050405020304" pitchFamily="18" charset="0"/>
                <a:cs typeface="Times New Roman" panose="02020603050405020304" pitchFamily="18" charset="0"/>
              </a:rPr>
              <a:t>, and for the third is 40 </a:t>
            </a:r>
            <a:r>
              <a:rPr lang="en-US" sz="2400" err="1">
                <a:latin typeface="Times New Roman" panose="02020603050405020304" pitchFamily="18" charset="0"/>
                <a:cs typeface="Times New Roman" panose="02020603050405020304" pitchFamily="18" charset="0"/>
              </a:rPr>
              <a:t>ms</a:t>
            </a:r>
            <a:r>
              <a:rPr lang="en-US" sz="2400">
                <a:latin typeface="Times New Roman" panose="02020603050405020304" pitchFamily="18" charset="0"/>
                <a:cs typeface="Times New Roman" panose="02020603050405020304" pitchFamily="18" charset="0"/>
              </a:rPr>
              <a:t>, then the real-time application that uses the packets endures jitter.</a:t>
            </a:r>
          </a:p>
        </p:txBody>
      </p:sp>
    </p:spTree>
    <p:extLst>
      <p:ext uri="{BB962C8B-B14F-4D97-AF65-F5344CB8AC3E}">
        <p14:creationId xmlns:p14="http://schemas.microsoft.com/office/powerpoint/2010/main" val="23204085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4675" name="Text Box 3"/>
          <p:cNvSpPr txBox="1">
            <a:spLocks noChangeArrowheads="1"/>
          </p:cNvSpPr>
          <p:nvPr/>
        </p:nvSpPr>
        <p:spPr bwMode="auto">
          <a:xfrm>
            <a:off x="228600" y="228600"/>
            <a:ext cx="34106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b="1">
                <a:effectLst>
                  <a:outerShdw blurRad="38100" dist="38100" dir="2700000" algn="tl">
                    <a:srgbClr val="C0C0C0"/>
                  </a:outerShdw>
                </a:effectLst>
                <a:latin typeface="Times New Roman" panose="02020603050405020304" pitchFamily="18" charset="0"/>
                <a:cs typeface="Times New Roman" panose="02020603050405020304" pitchFamily="18" charset="0"/>
              </a:rPr>
              <a:t>MULTIPLEXING</a:t>
            </a:r>
          </a:p>
        </p:txBody>
      </p:sp>
      <p:sp>
        <p:nvSpPr>
          <p:cNvPr id="924676"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imes New Roman" panose="02020603050405020304" pitchFamily="18" charset="0"/>
            </a:endParaRPr>
          </a:p>
        </p:txBody>
      </p:sp>
      <p:sp>
        <p:nvSpPr>
          <p:cNvPr id="924677" name="Rectangle 5"/>
          <p:cNvSpPr>
            <a:spLocks noChangeArrowheads="1"/>
          </p:cNvSpPr>
          <p:nvPr/>
        </p:nvSpPr>
        <p:spPr bwMode="auto">
          <a:xfrm>
            <a:off x="228600" y="850906"/>
            <a:ext cx="82296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800" i="1">
                <a:effectLst>
                  <a:outerShdw blurRad="38100" dist="38100" dir="2700000" algn="tl">
                    <a:srgbClr val="C0C0C0"/>
                  </a:outerShdw>
                </a:effectLst>
                <a:latin typeface="Times New Roman" panose="02020603050405020304" pitchFamily="18" charset="0"/>
              </a:rPr>
              <a:t>Whenever the bandwidth of a medium linking two devices is greater than the bandwidth needs of the devices, the link can be shared. Multiplexing is the set of techniques that allows the simultaneous transmission of multiple signals across a single data link. As data and telecommunications use increases, so does traffic.</a:t>
            </a:r>
          </a:p>
        </p:txBody>
      </p:sp>
    </p:spTree>
    <p:extLst>
      <p:ext uri="{BB962C8B-B14F-4D97-AF65-F5344CB8AC3E}">
        <p14:creationId xmlns:p14="http://schemas.microsoft.com/office/powerpoint/2010/main" val="25550050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7" name="Line 3"/>
          <p:cNvSpPr>
            <a:spLocks noChangeShapeType="1"/>
          </p:cNvSpPr>
          <p:nvPr/>
        </p:nvSpPr>
        <p:spPr bwMode="auto">
          <a:xfrm>
            <a:off x="146050" y="957673"/>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748" name="Text Box 4"/>
          <p:cNvSpPr txBox="1">
            <a:spLocks noChangeArrowheads="1"/>
          </p:cNvSpPr>
          <p:nvPr/>
        </p:nvSpPr>
        <p:spPr bwMode="auto">
          <a:xfrm>
            <a:off x="368300" y="352426"/>
            <a:ext cx="45640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i="1">
                <a:latin typeface="Times New Roman" panose="02020603050405020304" pitchFamily="18" charset="0"/>
              </a:rPr>
              <a:t>Categories of multiplexing</a:t>
            </a:r>
          </a:p>
        </p:txBody>
      </p:sp>
      <p:pic>
        <p:nvPicPr>
          <p:cNvPr id="79975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18" y="1676400"/>
            <a:ext cx="8318500" cy="240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55834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771" name="Line 3"/>
          <p:cNvSpPr>
            <a:spLocks noChangeShapeType="1"/>
          </p:cNvSpPr>
          <p:nvPr/>
        </p:nvSpPr>
        <p:spPr bwMode="auto">
          <a:xfrm>
            <a:off x="152400" y="728034"/>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0772" name="Text Box 4"/>
          <p:cNvSpPr txBox="1">
            <a:spLocks noChangeArrowheads="1"/>
          </p:cNvSpPr>
          <p:nvPr/>
        </p:nvSpPr>
        <p:spPr bwMode="auto">
          <a:xfrm>
            <a:off x="152400" y="163731"/>
            <a:ext cx="551702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i="1">
                <a:latin typeface="Times New Roman" panose="02020603050405020304" pitchFamily="18" charset="0"/>
              </a:rPr>
              <a:t>Frequency-division multiplexing</a:t>
            </a:r>
          </a:p>
        </p:txBody>
      </p:sp>
      <p:pic>
        <p:nvPicPr>
          <p:cNvPr id="80077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617788"/>
            <a:ext cx="8793163" cy="225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11"/>
          <p:cNvSpPr>
            <a:spLocks noChangeArrowheads="1"/>
          </p:cNvSpPr>
          <p:nvPr/>
        </p:nvSpPr>
        <p:spPr bwMode="auto">
          <a:xfrm>
            <a:off x="510381" y="1303710"/>
            <a:ext cx="8077200" cy="369332"/>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t>FDM is an analog multiplexing technique that combines analog signals.</a:t>
            </a:r>
          </a:p>
        </p:txBody>
      </p:sp>
    </p:spTree>
    <p:extLst>
      <p:ext uri="{BB962C8B-B14F-4D97-AF65-F5344CB8AC3E}">
        <p14:creationId xmlns:p14="http://schemas.microsoft.com/office/powerpoint/2010/main" val="32505578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09800"/>
            <a:ext cx="8464550" cy="206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4"/>
          <p:cNvSpPr txBox="1">
            <a:spLocks noChangeArrowheads="1"/>
          </p:cNvSpPr>
          <p:nvPr/>
        </p:nvSpPr>
        <p:spPr bwMode="auto">
          <a:xfrm>
            <a:off x="158087" y="363478"/>
            <a:ext cx="5107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i="1">
                <a:solidFill>
                  <a:srgbClr val="000000"/>
                </a:solidFill>
                <a:latin typeface="Times New Roman" panose="02020603050405020304" pitchFamily="18" charset="0"/>
              </a:rPr>
              <a:t>Dividing a link into channels</a:t>
            </a:r>
          </a:p>
        </p:txBody>
      </p:sp>
    </p:spTree>
    <p:extLst>
      <p:ext uri="{BB962C8B-B14F-4D97-AF65-F5344CB8AC3E}">
        <p14:creationId xmlns:p14="http://schemas.microsoft.com/office/powerpoint/2010/main" val="19878321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771" name="Line 3"/>
          <p:cNvSpPr>
            <a:spLocks noChangeShapeType="1"/>
          </p:cNvSpPr>
          <p:nvPr/>
        </p:nvSpPr>
        <p:spPr bwMode="auto">
          <a:xfrm>
            <a:off x="152400" y="728034"/>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0772" name="Text Box 4"/>
          <p:cNvSpPr txBox="1">
            <a:spLocks noChangeArrowheads="1"/>
          </p:cNvSpPr>
          <p:nvPr/>
        </p:nvSpPr>
        <p:spPr bwMode="auto">
          <a:xfrm>
            <a:off x="152400" y="163731"/>
            <a:ext cx="567572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i="1">
                <a:latin typeface="Times New Roman" panose="02020603050405020304" pitchFamily="18" charset="0"/>
              </a:rPr>
              <a:t>Wavelength-division multiplexing</a:t>
            </a:r>
          </a:p>
        </p:txBody>
      </p:sp>
      <p:sp>
        <p:nvSpPr>
          <p:cNvPr id="9" name="Rectangle 11"/>
          <p:cNvSpPr>
            <a:spLocks noChangeArrowheads="1"/>
          </p:cNvSpPr>
          <p:nvPr/>
        </p:nvSpPr>
        <p:spPr bwMode="auto">
          <a:xfrm>
            <a:off x="510381" y="1303710"/>
            <a:ext cx="8077200" cy="369332"/>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t>WDM is an analog multiplexing technique to combine optical signals.</a:t>
            </a:r>
          </a:p>
        </p:txBody>
      </p:sp>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325" y="2670175"/>
            <a:ext cx="8016875"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61583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4294967295"/>
          </p:nvPr>
        </p:nvSpPr>
        <p:spPr>
          <a:xfrm>
            <a:off x="0" y="6400800"/>
            <a:ext cx="1905000" cy="457200"/>
          </a:xfrm>
          <a:prstGeom prst="rect">
            <a:avLst/>
          </a:prstGeom>
        </p:spPr>
        <p:txBody>
          <a:bodyPr/>
          <a:lstStyle/>
          <a:p>
            <a:r>
              <a:rPr lang="en-US"/>
              <a:t>6.</a:t>
            </a:r>
            <a:fld id="{813B1204-D7A8-444E-B5AD-2E904B08CDA3}" type="slidenum">
              <a:rPr lang="en-US"/>
              <a:pPr/>
              <a:t>64</a:t>
            </a:fld>
            <a:endParaRPr lang="en-US"/>
          </a:p>
        </p:txBody>
      </p:sp>
      <p:sp>
        <p:nvSpPr>
          <p:cNvPr id="809987" name="Line 3"/>
          <p:cNvSpPr>
            <a:spLocks noChangeShapeType="1"/>
          </p:cNvSpPr>
          <p:nvPr/>
        </p:nvSpPr>
        <p:spPr bwMode="auto">
          <a:xfrm>
            <a:off x="-76200" y="763291"/>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0999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038" y="2144713"/>
            <a:ext cx="7980362" cy="303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4"/>
          <p:cNvSpPr txBox="1">
            <a:spLocks noChangeArrowheads="1"/>
          </p:cNvSpPr>
          <p:nvPr/>
        </p:nvSpPr>
        <p:spPr bwMode="auto">
          <a:xfrm>
            <a:off x="152400" y="163731"/>
            <a:ext cx="457349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i="1">
                <a:latin typeface="Times New Roman" panose="02020603050405020304" pitchFamily="18" charset="0"/>
              </a:rPr>
              <a:t>Time-division multiplexing</a:t>
            </a:r>
          </a:p>
        </p:txBody>
      </p:sp>
      <p:sp>
        <p:nvSpPr>
          <p:cNvPr id="9" name="Rectangle 11"/>
          <p:cNvSpPr>
            <a:spLocks noChangeArrowheads="1"/>
          </p:cNvSpPr>
          <p:nvPr/>
        </p:nvSpPr>
        <p:spPr bwMode="auto">
          <a:xfrm>
            <a:off x="505619" y="911227"/>
            <a:ext cx="8077200" cy="646331"/>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t>TDM is a digital multiplexing technique for combining several low-rate </a:t>
            </a:r>
            <a:br>
              <a:rPr lang="en-US"/>
            </a:br>
            <a:r>
              <a:rPr lang="en-US"/>
              <a:t>channels into one high-rate one.</a:t>
            </a:r>
          </a:p>
        </p:txBody>
      </p:sp>
    </p:spTree>
    <p:extLst>
      <p:ext uri="{BB962C8B-B14F-4D97-AF65-F5344CB8AC3E}">
        <p14:creationId xmlns:p14="http://schemas.microsoft.com/office/powerpoint/2010/main" val="37815242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1"/>
          <p:cNvSpPr>
            <a:spLocks noGrp="1"/>
          </p:cNvSpPr>
          <p:nvPr>
            <p:ph type="sldNum" sz="quarter" idx="4294967295"/>
          </p:nvPr>
        </p:nvSpPr>
        <p:spPr>
          <a:xfrm>
            <a:off x="0" y="6400800"/>
            <a:ext cx="1905000" cy="457200"/>
          </a:xfrm>
          <a:prstGeom prst="rect">
            <a:avLst/>
          </a:prstGeom>
        </p:spPr>
        <p:txBody>
          <a:bodyPr/>
          <a:lstStyle/>
          <a:p>
            <a:r>
              <a:rPr lang="en-US"/>
              <a:t>6.</a:t>
            </a:r>
            <a:fld id="{06148602-A8C8-4B0C-8D7E-5D9F42198184}" type="slidenum">
              <a:rPr lang="en-US"/>
              <a:pPr/>
              <a:t>65</a:t>
            </a:fld>
            <a:endParaRPr lang="en-US"/>
          </a:p>
        </p:txBody>
      </p:sp>
      <p:sp>
        <p:nvSpPr>
          <p:cNvPr id="797699" name="Text Box 3"/>
          <p:cNvSpPr txBox="1">
            <a:spLocks noChangeArrowheads="1"/>
          </p:cNvSpPr>
          <p:nvPr/>
        </p:nvSpPr>
        <p:spPr bwMode="auto">
          <a:xfrm>
            <a:off x="228600" y="228600"/>
            <a:ext cx="433484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b="1">
                <a:effectLst>
                  <a:outerShdw blurRad="38100" dist="38100" dir="2700000" algn="tl">
                    <a:srgbClr val="C0C0C0"/>
                  </a:outerShdw>
                </a:effectLst>
                <a:latin typeface="Times" panose="02020603050405020304" pitchFamily="18" charset="0"/>
              </a:rPr>
              <a:t> SPREAD SPECTRUM</a:t>
            </a:r>
          </a:p>
        </p:txBody>
      </p:sp>
      <p:sp>
        <p:nvSpPr>
          <p:cNvPr id="797700"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imes New Roman" panose="02020603050405020304" pitchFamily="18" charset="0"/>
            </a:endParaRPr>
          </a:p>
        </p:txBody>
      </p:sp>
      <p:sp>
        <p:nvSpPr>
          <p:cNvPr id="797701" name="Rectangle 5"/>
          <p:cNvSpPr>
            <a:spLocks noChangeArrowheads="1"/>
          </p:cNvSpPr>
          <p:nvPr/>
        </p:nvSpPr>
        <p:spPr bwMode="auto">
          <a:xfrm>
            <a:off x="228600" y="990600"/>
            <a:ext cx="8229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800" i="1">
                <a:effectLst>
                  <a:outerShdw blurRad="38100" dist="38100" dir="2700000" algn="tl">
                    <a:srgbClr val="C0C0C0"/>
                  </a:outerShdw>
                </a:effectLst>
                <a:latin typeface="Times New Roman" panose="02020603050405020304" pitchFamily="18" charset="0"/>
              </a:rPr>
              <a:t>In spread spectrum (SS), we combine signals from different sources to fit into a larger bandwidth, but our goals are to prevent eavesdropping and jamming. To achieve these goals, spread spectrum techniques add redundancy.</a:t>
            </a:r>
          </a:p>
        </p:txBody>
      </p:sp>
      <p:sp>
        <p:nvSpPr>
          <p:cNvPr id="797702" name="Rectangle 6"/>
          <p:cNvSpPr>
            <a:spLocks noChangeArrowheads="1"/>
          </p:cNvSpPr>
          <p:nvPr/>
        </p:nvSpPr>
        <p:spPr bwMode="auto">
          <a:xfrm>
            <a:off x="201005" y="4267200"/>
            <a:ext cx="7620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sz="2400">
                <a:solidFill>
                  <a:srgbClr val="0033CC"/>
                </a:solidFill>
                <a:latin typeface="Times New Roman" panose="02020603050405020304" pitchFamily="18" charset="0"/>
              </a:rPr>
              <a:t>Frequency Hopping Spread Spectrum (FHSS)</a:t>
            </a:r>
            <a:br>
              <a:rPr lang="fr-FR" sz="2400">
                <a:solidFill>
                  <a:srgbClr val="0033CC"/>
                </a:solidFill>
                <a:latin typeface="Times New Roman" panose="02020603050405020304" pitchFamily="18" charset="0"/>
              </a:rPr>
            </a:br>
            <a:r>
              <a:rPr lang="fr-FR" sz="2400">
                <a:solidFill>
                  <a:srgbClr val="0033CC"/>
                </a:solidFill>
                <a:latin typeface="Times New Roman" panose="02020603050405020304" pitchFamily="18" charset="0"/>
              </a:rPr>
              <a:t>Direct </a:t>
            </a:r>
            <a:r>
              <a:rPr lang="fr-FR" sz="2400" err="1">
                <a:solidFill>
                  <a:srgbClr val="0033CC"/>
                </a:solidFill>
                <a:latin typeface="Times New Roman" panose="02020603050405020304" pitchFamily="18" charset="0"/>
              </a:rPr>
              <a:t>Sequence</a:t>
            </a:r>
            <a:r>
              <a:rPr lang="fr-FR" sz="2400">
                <a:solidFill>
                  <a:srgbClr val="0033CC"/>
                </a:solidFill>
                <a:latin typeface="Times New Roman" panose="02020603050405020304" pitchFamily="18" charset="0"/>
              </a:rPr>
              <a:t> </a:t>
            </a:r>
            <a:r>
              <a:rPr lang="fr-FR" sz="2400" err="1">
                <a:solidFill>
                  <a:srgbClr val="0033CC"/>
                </a:solidFill>
                <a:latin typeface="Times New Roman" panose="02020603050405020304" pitchFamily="18" charset="0"/>
              </a:rPr>
              <a:t>Spread</a:t>
            </a:r>
            <a:r>
              <a:rPr lang="fr-FR" sz="2400">
                <a:solidFill>
                  <a:srgbClr val="0033CC"/>
                </a:solidFill>
                <a:latin typeface="Times New Roman" panose="02020603050405020304" pitchFamily="18" charset="0"/>
              </a:rPr>
              <a:t> Spectrum </a:t>
            </a:r>
            <a:r>
              <a:rPr lang="fr-FR" sz="2400" err="1">
                <a:solidFill>
                  <a:srgbClr val="0033CC"/>
                </a:solidFill>
                <a:latin typeface="Times New Roman" panose="02020603050405020304" pitchFamily="18" charset="0"/>
              </a:rPr>
              <a:t>Synchronous</a:t>
            </a:r>
            <a:r>
              <a:rPr lang="fr-FR" sz="2400">
                <a:solidFill>
                  <a:srgbClr val="0033CC"/>
                </a:solidFill>
                <a:latin typeface="Times New Roman" panose="02020603050405020304" pitchFamily="18" charset="0"/>
              </a:rPr>
              <a:t> (DSSS)</a:t>
            </a:r>
            <a:endParaRPr lang="en-US" sz="2400">
              <a:solidFill>
                <a:srgbClr val="0033CC"/>
              </a:solidFill>
              <a:latin typeface="Times New Roman" panose="02020603050405020304" pitchFamily="18" charset="0"/>
            </a:endParaRPr>
          </a:p>
        </p:txBody>
      </p:sp>
      <p:sp>
        <p:nvSpPr>
          <p:cNvPr id="797703" name="Text Box 7"/>
          <p:cNvSpPr txBox="1">
            <a:spLocks noChangeArrowheads="1"/>
          </p:cNvSpPr>
          <p:nvPr/>
        </p:nvSpPr>
        <p:spPr bwMode="auto">
          <a:xfrm>
            <a:off x="228600" y="3611890"/>
            <a:ext cx="17572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800" i="1" u="sng">
                <a:solidFill>
                  <a:schemeClr val="hlink"/>
                </a:solidFill>
                <a:effectLst>
                  <a:outerShdw blurRad="38100" dist="38100" dir="2700000" algn="tl">
                    <a:srgbClr val="C0C0C0"/>
                  </a:outerShdw>
                </a:effectLst>
                <a:latin typeface="Times New Roman" panose="02020603050405020304" pitchFamily="18" charset="0"/>
              </a:rPr>
              <a:t>Categories</a:t>
            </a:r>
          </a:p>
        </p:txBody>
      </p:sp>
    </p:spTree>
    <p:extLst>
      <p:ext uri="{BB962C8B-B14F-4D97-AF65-F5344CB8AC3E}">
        <p14:creationId xmlns:p14="http://schemas.microsoft.com/office/powerpoint/2010/main" val="40968284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7" name="Line 3"/>
          <p:cNvSpPr>
            <a:spLocks noChangeShapeType="1"/>
          </p:cNvSpPr>
          <p:nvPr/>
        </p:nvSpPr>
        <p:spPr bwMode="auto">
          <a:xfrm>
            <a:off x="106362" y="877802"/>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5348" name="Text Box 4"/>
          <p:cNvSpPr txBox="1">
            <a:spLocks noChangeArrowheads="1"/>
          </p:cNvSpPr>
          <p:nvPr/>
        </p:nvSpPr>
        <p:spPr bwMode="auto">
          <a:xfrm>
            <a:off x="304800" y="354582"/>
            <a:ext cx="2942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i="1">
                <a:latin typeface="Times New Roman" panose="02020603050405020304" pitchFamily="18" charset="0"/>
              </a:rPr>
              <a:t>Spread spectrum</a:t>
            </a:r>
          </a:p>
        </p:txBody>
      </p:sp>
      <p:pic>
        <p:nvPicPr>
          <p:cNvPr id="82535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724" y="1512888"/>
            <a:ext cx="7788275" cy="305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80061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1" name="Line 3"/>
          <p:cNvSpPr>
            <a:spLocks noChangeShapeType="1"/>
          </p:cNvSpPr>
          <p:nvPr/>
        </p:nvSpPr>
        <p:spPr bwMode="auto">
          <a:xfrm>
            <a:off x="133066" y="609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72" name="Text Box 4"/>
          <p:cNvSpPr txBox="1">
            <a:spLocks noChangeArrowheads="1"/>
          </p:cNvSpPr>
          <p:nvPr/>
        </p:nvSpPr>
        <p:spPr bwMode="auto">
          <a:xfrm>
            <a:off x="133066" y="0"/>
            <a:ext cx="674954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a:solidFill>
                  <a:schemeClr val="folHlink"/>
                </a:solidFill>
                <a:latin typeface="Times New Roman" panose="02020603050405020304" pitchFamily="18" charset="0"/>
              </a:rPr>
              <a:t>  </a:t>
            </a:r>
            <a:r>
              <a:rPr lang="en-US" sz="2800" i="1">
                <a:latin typeface="Times New Roman" panose="02020603050405020304" pitchFamily="18" charset="0"/>
              </a:rPr>
              <a:t>Frequency hopping spread spectrum (FHSS)</a:t>
            </a:r>
          </a:p>
        </p:txBody>
      </p:sp>
      <p:pic>
        <p:nvPicPr>
          <p:cNvPr id="82637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766" y="912884"/>
            <a:ext cx="7277100" cy="440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14988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8" name="Text Box 4"/>
          <p:cNvSpPr txBox="1">
            <a:spLocks noChangeArrowheads="1"/>
          </p:cNvSpPr>
          <p:nvPr/>
        </p:nvSpPr>
        <p:spPr bwMode="auto">
          <a:xfrm>
            <a:off x="381000" y="89939"/>
            <a:ext cx="869962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800" b="1">
                <a:solidFill>
                  <a:srgbClr val="0033CC"/>
                </a:solidFill>
                <a:latin typeface="Times New Roman" panose="02020603050405020304" pitchFamily="18" charset="0"/>
              </a:rPr>
              <a:t>Direct </a:t>
            </a:r>
            <a:r>
              <a:rPr lang="fr-FR" sz="2800" b="1" err="1">
                <a:solidFill>
                  <a:srgbClr val="0033CC"/>
                </a:solidFill>
                <a:latin typeface="Times New Roman" panose="02020603050405020304" pitchFamily="18" charset="0"/>
              </a:rPr>
              <a:t>Sequence</a:t>
            </a:r>
            <a:r>
              <a:rPr lang="fr-FR" sz="2800" b="1">
                <a:solidFill>
                  <a:srgbClr val="0033CC"/>
                </a:solidFill>
                <a:latin typeface="Times New Roman" panose="02020603050405020304" pitchFamily="18" charset="0"/>
              </a:rPr>
              <a:t> </a:t>
            </a:r>
            <a:r>
              <a:rPr lang="fr-FR" sz="2800" b="1" err="1">
                <a:solidFill>
                  <a:srgbClr val="0033CC"/>
                </a:solidFill>
                <a:latin typeface="Times New Roman" panose="02020603050405020304" pitchFamily="18" charset="0"/>
              </a:rPr>
              <a:t>Spread</a:t>
            </a:r>
            <a:r>
              <a:rPr lang="fr-FR" sz="2800" b="1">
                <a:solidFill>
                  <a:srgbClr val="0033CC"/>
                </a:solidFill>
                <a:latin typeface="Times New Roman" panose="02020603050405020304" pitchFamily="18" charset="0"/>
              </a:rPr>
              <a:t> Spectrum </a:t>
            </a:r>
            <a:r>
              <a:rPr lang="fr-FR" sz="2800" b="1" err="1">
                <a:solidFill>
                  <a:srgbClr val="0033CC"/>
                </a:solidFill>
                <a:latin typeface="Times New Roman" panose="02020603050405020304" pitchFamily="18" charset="0"/>
              </a:rPr>
              <a:t>Synchronous</a:t>
            </a:r>
            <a:r>
              <a:rPr lang="fr-FR" sz="2800" b="1">
                <a:solidFill>
                  <a:srgbClr val="0033CC"/>
                </a:solidFill>
                <a:latin typeface="Times New Roman" panose="02020603050405020304" pitchFamily="18" charset="0"/>
              </a:rPr>
              <a:t> (DSSS)</a:t>
            </a:r>
            <a:endParaRPr lang="en-US" sz="2800" b="1">
              <a:solidFill>
                <a:srgbClr val="0033CC"/>
              </a:solidFill>
              <a:latin typeface="Times New Roman" panose="02020603050405020304" pitchFamily="18" charset="0"/>
            </a:endParaRPr>
          </a:p>
          <a:p>
            <a:endParaRPr lang="en-US" sz="2800" b="1" i="1">
              <a:latin typeface="Times New Roman" panose="02020603050405020304" pitchFamily="18" charset="0"/>
            </a:endParaRPr>
          </a:p>
        </p:txBody>
      </p:sp>
      <p:pic>
        <p:nvPicPr>
          <p:cNvPr id="83047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88" y="1184275"/>
            <a:ext cx="8126412" cy="2767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40097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11" name="Title 1"/>
          <p:cNvSpPr>
            <a:spLocks noGrp="1"/>
          </p:cNvSpPr>
          <p:nvPr>
            <p:ph type="title"/>
          </p:nvPr>
        </p:nvSpPr>
        <p:spPr>
          <a:xfrm>
            <a:off x="2895600" y="3048000"/>
            <a:ext cx="3522821" cy="415498"/>
          </a:xfrm>
        </p:spPr>
        <p:txBody>
          <a:bodyPr/>
          <a:lstStyle/>
          <a:p>
            <a:r>
              <a:rPr lang="en-US" b="1"/>
              <a:t>END OF MODULE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69</Slides>
  <Notes>47</Notes>
  <HiddenSlides>0</HiddenSlides>
  <ScaleCrop>false</ScaleCrop>
  <HeadingPairs>
    <vt:vector size="4" baseType="variant">
      <vt:variant>
        <vt:lpstr>Theme</vt:lpstr>
      </vt:variant>
      <vt:variant>
        <vt:i4>1</vt:i4>
      </vt:variant>
      <vt:variant>
        <vt:lpstr>Slide Titles</vt:lpstr>
      </vt:variant>
      <vt:variant>
        <vt:i4>69</vt:i4>
      </vt:variant>
    </vt:vector>
  </HeadingPairs>
  <TitlesOfParts>
    <vt:vector size="70" baseType="lpstr">
      <vt:lpstr>Office Theme</vt:lpstr>
      <vt:lpstr>Module-1.2</vt:lpstr>
      <vt:lpstr>Functions of Physical Layer</vt:lpstr>
      <vt:lpstr>Transmission Media</vt:lpstr>
      <vt:lpstr>Transmission Media</vt:lpstr>
      <vt:lpstr>Factors to be considered while choosing Transmission Medium </vt:lpstr>
      <vt:lpstr>PowerPoint Presentation</vt:lpstr>
      <vt:lpstr>PowerPoint Presentation</vt:lpstr>
      <vt:lpstr>Twisted Pair Cable  </vt:lpstr>
      <vt:lpstr>Unshielded Versus Shielded Twisted-Pair Cable</vt:lpstr>
      <vt:lpstr>Unshielded Twisted Pair (UTP)</vt:lpstr>
      <vt:lpstr>PowerPoint Presentation</vt:lpstr>
      <vt:lpstr>Shielded Twisted Pair (STP)</vt:lpstr>
      <vt:lpstr>Coaxial cable</vt:lpstr>
      <vt:lpstr>Guided Media – Coaxial Cable</vt:lpstr>
      <vt:lpstr>Coaxial Cable</vt:lpstr>
      <vt:lpstr>Guided Media – Coaxial Cable</vt:lpstr>
      <vt:lpstr>Optical  Fiber Cable</vt:lpstr>
      <vt:lpstr>PowerPoint Presentation</vt:lpstr>
      <vt:lpstr>Optical fiber</vt:lpstr>
      <vt:lpstr>  Guided Media –Optical Fiber Cable</vt:lpstr>
      <vt:lpstr>Unguided Media</vt:lpstr>
      <vt:lpstr>Radio Waves</vt:lpstr>
      <vt:lpstr>Microwave</vt:lpstr>
      <vt:lpstr>Infrared Waves</vt:lpstr>
      <vt:lpstr>Data and Signals</vt:lpstr>
      <vt:lpstr>Analog and Digital</vt:lpstr>
      <vt:lpstr>Analog and Digital Data</vt:lpstr>
      <vt:lpstr>Analog and Digital Signals </vt:lpstr>
      <vt:lpstr>Analog Signals</vt:lpstr>
      <vt:lpstr>Digital Signals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Nyquist Theorem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Jitter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 OF MODULE 1.2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Threads</dc:title>
  <dc:creator>Windows User</dc:creator>
  <cp:revision>1</cp:revision>
  <dcterms:created xsi:type="dcterms:W3CDTF">2021-08-17T19:33:00Z</dcterms:created>
  <dcterms:modified xsi:type="dcterms:W3CDTF">2025-09-01T17:00:54Z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2020-06-03T05:30:00Z</vt:filetime>
  </property>
  <property fmtid="{D5CDD505-2E9C-101B-9397-08002B2CF9AE}" pid="3" name="Creator">
    <vt:lpwstr>Microsoft® PowerPoint® 2013</vt:lpwstr>
  </property>
  <property fmtid="{D5CDD505-2E9C-101B-9397-08002B2CF9AE}" pid="4" name="LastSaved">
    <vt:filetime>2021-08-18T05:30:00Z</vt:filetime>
  </property>
  <property fmtid="{D5CDD505-2E9C-101B-9397-08002B2CF9AE}" pid="5" name="ICV">
    <vt:lpwstr>80b7acda91aa40b5b39a225bc4046758</vt:lpwstr>
  </property>
  <property fmtid="{D5CDD505-2E9C-101B-9397-08002B2CF9AE}" pid="6" name="KSOProductBuildVer">
    <vt:lpwstr>1033-12.2.0.17562</vt:lpwstr>
  </property>
</Properties>
</file>